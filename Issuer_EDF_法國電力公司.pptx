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4.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1"/>
  </p:sldMasterIdLst>
  <p:notesMasterIdLst>
    <p:notesMasterId r:id="rId8"/>
  </p:notesMasterIdLst>
  <p:handoutMasterIdLst>
    <p:handoutMasterId r:id="rId9"/>
  </p:handoutMasterIdLst>
  <p:sldIdLst>
    <p:sldId id="1357" r:id="rId2"/>
    <p:sldId id="1367" r:id="rId3"/>
    <p:sldId id="1361" r:id="rId4"/>
    <p:sldId id="1365" r:id="rId5"/>
    <p:sldId id="1364" r:id="rId6"/>
    <p:sldId id="1360" r:id="rId7"/>
  </p:sldIdLst>
  <p:sldSz cx="9144000" cy="6858000" type="screen4x3"/>
  <p:notesSz cx="6807200" cy="9939338"/>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預設章節" id="{A71824B8-F3CE-4E38-AD2B-803D36CA02E5}">
          <p14:sldIdLst>
            <p14:sldId id="1357"/>
            <p14:sldId id="1367"/>
            <p14:sldId id="1361"/>
            <p14:sldId id="1365"/>
            <p14:sldId id="1364"/>
            <p14:sldId id="1360"/>
          </p14:sldIdLst>
        </p14:section>
      </p14:sectionLst>
    </p:ext>
    <p:ext uri="{EFAFB233-063F-42B5-8137-9DF3F51BA10A}">
      <p15:sldGuideLst xmlns:p15="http://schemas.microsoft.com/office/powerpoint/2012/main" xmlns="">
        <p15:guide id="1" orient="horz" pos="2160" userDrawn="1">
          <p15:clr>
            <a:srgbClr val="A4A3A4"/>
          </p15:clr>
        </p15:guide>
        <p15:guide id="2" orient="horz" pos="482" userDrawn="1">
          <p15:clr>
            <a:srgbClr val="A4A3A4"/>
          </p15:clr>
        </p15:guide>
        <p15:guide id="3" orient="horz" pos="590" userDrawn="1">
          <p15:clr>
            <a:srgbClr val="A4A3A4"/>
          </p15:clr>
        </p15:guide>
        <p15:guide id="4" pos="2880" userDrawn="1">
          <p15:clr>
            <a:srgbClr val="A4A3A4"/>
          </p15:clr>
        </p15:guide>
        <p15:guide id="5" pos="295" userDrawn="1">
          <p15:clr>
            <a:srgbClr val="A4A3A4"/>
          </p15:clr>
        </p15:guide>
        <p15:guide id="6" pos="5468" userDrawn="1">
          <p15:clr>
            <a:srgbClr val="A4A3A4"/>
          </p15:clr>
        </p15:guide>
        <p15:guide id="7" orient="horz" pos="1071" userDrawn="1">
          <p15:clr>
            <a:srgbClr val="A4A3A4"/>
          </p15:clr>
        </p15:guide>
        <p15:guide id="8" pos="5465" userDrawn="1">
          <p15:clr>
            <a:srgbClr val="A4A3A4"/>
          </p15:clr>
        </p15:guide>
      </p15:sldGuideLst>
    </p:ext>
    <p:ext uri="{2D200454-40CA-4A62-9FC3-DE9A4176ACB9}">
      <p15:notesGuideLst xmlns:p15="http://schemas.microsoft.com/office/powerpoint/2012/main" xmlns="">
        <p15:guide id="1" orient="horz" pos="3126" userDrawn="1">
          <p15:clr>
            <a:srgbClr val="A4A3A4"/>
          </p15:clr>
        </p15:guide>
        <p15:guide id="2" pos="2141" userDrawn="1">
          <p15:clr>
            <a:srgbClr val="A4A3A4"/>
          </p15:clr>
        </p15:guide>
        <p15:guide id="3" orient="horz" pos="3130" userDrawn="1">
          <p15:clr>
            <a:srgbClr val="A4A3A4"/>
          </p15:clr>
        </p15:guide>
        <p15:guide id="4" pos="2144"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建宇 陳" initials="建宇" lastIdx="2" clrIdx="0"/>
  <p:cmAuthor id="2" name="芯儀 王" initials="芯儀"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E37D"/>
    <a:srgbClr val="A1E175"/>
    <a:srgbClr val="002D74"/>
    <a:srgbClr val="8BDA16"/>
    <a:srgbClr val="88D910"/>
    <a:srgbClr val="847373"/>
    <a:srgbClr val="FF861D"/>
    <a:srgbClr val="4F9E10"/>
    <a:srgbClr val="002060"/>
    <a:srgbClr val="FE5B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淺色樣式 1 - 輔色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淺色樣式 1 - 輔色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淺色樣式 1 - 輔色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9D7B26C5-4107-4FEC-AEDC-1716B250A1EF}" styleName="淺色樣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淺色樣式 1 - 輔色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301B821-A1FF-4177-AEE7-76D212191A09}" styleName="中等深淺樣式 1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淺色樣式 2 - 輔色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7292A2E-F333-43FB-9621-5CBBE7FDCDCB}" styleName="淺色樣式 2 - 輔色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12C8C85-51F0-491E-9774-3900AFEF0FD7}" styleName="淺色樣式 2 - 輔色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F2DE63D5-997A-4646-A377-4702673A728D}" styleName="淺色樣式 2 - 輔色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56" autoAdjust="0"/>
    <p:restoredTop sz="85099" autoAdjust="0"/>
  </p:normalViewPr>
  <p:slideViewPr>
    <p:cSldViewPr showGuides="1">
      <p:cViewPr varScale="1">
        <p:scale>
          <a:sx n="68" d="100"/>
          <a:sy n="68" d="100"/>
        </p:scale>
        <p:origin x="-1232" y="-72"/>
      </p:cViewPr>
      <p:guideLst>
        <p:guide orient="horz" pos="2160"/>
        <p:guide orient="horz" pos="482"/>
        <p:guide orient="horz" pos="590"/>
        <p:guide orient="horz" pos="1071"/>
        <p:guide pos="2880"/>
        <p:guide pos="295"/>
        <p:guide pos="5468"/>
        <p:guide pos="5465"/>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80" d="100"/>
          <a:sy n="80" d="100"/>
        </p:scale>
        <p:origin x="-3996" y="-96"/>
      </p:cViewPr>
      <p:guideLst>
        <p:guide orient="horz" pos="3126"/>
        <p:guide orient="horz" pos="3130"/>
        <p:guide pos="2141"/>
        <p:guide pos="214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2" Type="http://schemas.openxmlformats.org/officeDocument/2006/relationships/package" Target="../embeddings/Microsoft_Excel_Worksheet5.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TW"/>
  <c:roundedCorners val="0"/>
  <mc:AlternateContent xmlns:mc="http://schemas.openxmlformats.org/markup-compatibility/2006">
    <mc:Choice xmlns:c14="http://schemas.microsoft.com/office/drawing/2007/8/2/chart" Requires="c14">
      <c14:style val="107"/>
    </mc:Choice>
    <mc:Fallback>
      <c:style val="7"/>
    </mc:Fallback>
  </mc:AlternateContent>
  <c:chart>
    <c:autoTitleDeleted val="1"/>
    <c:plotArea>
      <c:layout>
        <c:manualLayout>
          <c:layoutTarget val="inner"/>
          <c:xMode val="edge"/>
          <c:yMode val="edge"/>
          <c:x val="0"/>
          <c:y val="6.9517553431932125E-2"/>
          <c:w val="0.64133402517154814"/>
          <c:h val="0.87967429992313229"/>
        </c:manualLayout>
      </c:layout>
      <c:doughnutChart>
        <c:varyColors val="1"/>
        <c:ser>
          <c:idx val="0"/>
          <c:order val="0"/>
          <c:tx>
            <c:strRef>
              <c:f>工作表1!$B$1</c:f>
              <c:strCache>
                <c:ptCount val="1"/>
                <c:pt idx="0">
                  <c:v>Revenues</c:v>
                </c:pt>
              </c:strCache>
            </c:strRef>
          </c:tx>
          <c:dPt>
            <c:idx val="0"/>
            <c:bubble3D val="0"/>
            <c:spPr>
              <a:solidFill>
                <a:srgbClr val="C00000"/>
              </a:solidFill>
              <a:ln>
                <a:noFill/>
              </a:ln>
              <a:effectLst/>
            </c:spPr>
            <c:extLst xmlns:c16r2="http://schemas.microsoft.com/office/drawing/2015/06/chart">
              <c:ext xmlns:c16="http://schemas.microsoft.com/office/drawing/2014/chart" uri="{C3380CC4-5D6E-409C-BE32-E72D297353CC}">
                <c16:uniqueId val="{00000001-9B6B-40D2-B8D4-FF768E32EF21}"/>
              </c:ext>
            </c:extLst>
          </c:dPt>
          <c:dPt>
            <c:idx val="1"/>
            <c:bubble3D val="0"/>
            <c:spPr>
              <a:solidFill>
                <a:srgbClr val="FF0000"/>
              </a:solidFill>
              <a:ln>
                <a:noFill/>
              </a:ln>
              <a:effectLst/>
            </c:spPr>
            <c:extLst xmlns:c16r2="http://schemas.microsoft.com/office/drawing/2015/06/chart">
              <c:ext xmlns:c16="http://schemas.microsoft.com/office/drawing/2014/chart" uri="{C3380CC4-5D6E-409C-BE32-E72D297353CC}">
                <c16:uniqueId val="{00000003-9B6B-40D2-B8D4-FF768E32EF21}"/>
              </c:ext>
            </c:extLst>
          </c:dPt>
          <c:dPt>
            <c:idx val="2"/>
            <c:bubble3D val="0"/>
            <c:spPr>
              <a:solidFill>
                <a:schemeClr val="bg2">
                  <a:lumMod val="40000"/>
                  <a:lumOff val="60000"/>
                </a:schemeClr>
              </a:solidFill>
              <a:ln>
                <a:noFill/>
              </a:ln>
              <a:effectLst/>
            </c:spPr>
            <c:extLst xmlns:c16r2="http://schemas.microsoft.com/office/drawing/2015/06/chart">
              <c:ext xmlns:c16="http://schemas.microsoft.com/office/drawing/2014/chart" uri="{C3380CC4-5D6E-409C-BE32-E72D297353CC}">
                <c16:uniqueId val="{00000005-9B6B-40D2-B8D4-FF768E32EF21}"/>
              </c:ext>
            </c:extLst>
          </c:dPt>
          <c:dPt>
            <c:idx val="3"/>
            <c:bubble3D val="0"/>
            <c:spPr>
              <a:solidFill>
                <a:schemeClr val="accent5">
                  <a:tint val="77000"/>
                </a:schemeClr>
              </a:solidFill>
              <a:ln>
                <a:noFill/>
              </a:ln>
              <a:effectLst/>
            </c:spPr>
            <c:extLst xmlns:c16r2="http://schemas.microsoft.com/office/drawing/2015/06/chart">
              <c:ext xmlns:c16="http://schemas.microsoft.com/office/drawing/2014/chart" uri="{C3380CC4-5D6E-409C-BE32-E72D297353CC}">
                <c16:uniqueId val="{00000007-9B6B-40D2-B8D4-FF768E32EF21}"/>
              </c:ext>
            </c:extLst>
          </c:dPt>
          <c:dPt>
            <c:idx val="4"/>
            <c:bubble3D val="0"/>
            <c:spPr>
              <a:solidFill>
                <a:schemeClr val="accent5">
                  <a:tint val="54000"/>
                </a:schemeClr>
              </a:solidFill>
              <a:ln>
                <a:noFill/>
              </a:ln>
              <a:effectLst/>
            </c:spPr>
            <c:extLst xmlns:c16r2="http://schemas.microsoft.com/office/drawing/2015/06/chart">
              <c:ext xmlns:c16="http://schemas.microsoft.com/office/drawing/2014/chart" uri="{C3380CC4-5D6E-409C-BE32-E72D297353CC}">
                <c16:uniqueId val="{00000008-9B6B-40D2-B8D4-FF768E32EF21}"/>
              </c:ext>
            </c:extLst>
          </c:dPt>
          <c:dLbls>
            <c:dLbl>
              <c:idx val="0"/>
              <c:layout>
                <c:manualLayout>
                  <c:x val="4.3581806826214972E-3"/>
                  <c:y val="-7.4801084747299938E-17"/>
                </c:manualLayout>
              </c:layout>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bg1"/>
                      </a:solidFill>
                      <a:latin typeface="+mn-lt"/>
                      <a:ea typeface="+mn-ea"/>
                      <a:cs typeface="+mn-cs"/>
                    </a:defRPr>
                  </a:pPr>
                  <a:endParaRPr lang="zh-TW"/>
                </a:p>
              </c:txPr>
              <c:showLegendKey val="0"/>
              <c:showVal val="0"/>
              <c:showCatName val="0"/>
              <c:showSerName val="0"/>
              <c:showPercent val="1"/>
              <c:showBubbleSize val="0"/>
              <c:extLst xmlns:c16r2="http://schemas.microsoft.com/office/drawing/2015/06/chart">
                <c:ext xmlns:c15="http://schemas.microsoft.com/office/drawing/2012/chart" uri="{CE6537A1-D6FC-4f65-9D91-7224C49458BB}"/>
                <c:ext xmlns:c16="http://schemas.microsoft.com/office/drawing/2014/chart" uri="{C3380CC4-5D6E-409C-BE32-E72D297353CC}">
                  <c16:uniqueId val="{00000001-9B6B-40D2-B8D4-FF768E32EF21}"/>
                </c:ext>
              </c:extLst>
            </c:dLbl>
            <c:dLbl>
              <c:idx val="1"/>
              <c:layout>
                <c:manualLayout>
                  <c:x val="-4.3581806826214972E-3"/>
                  <c:y val="-8.1602126024524525E-3"/>
                </c:manualLayout>
              </c:layout>
              <c:showLegendKey val="0"/>
              <c:showVal val="0"/>
              <c:showCatName val="0"/>
              <c:showSerName val="0"/>
              <c:showPercent val="1"/>
              <c:showBubbleSize val="0"/>
              <c:extLst xmlns:c16r2="http://schemas.microsoft.com/office/drawing/2015/06/chart">
                <c:ext xmlns:c15="http://schemas.microsoft.com/office/drawing/2012/chart" uri="{CE6537A1-D6FC-4f65-9D91-7224C49458BB}"/>
                <c:ext xmlns:c16="http://schemas.microsoft.com/office/drawing/2014/chart" uri="{C3380CC4-5D6E-409C-BE32-E72D297353CC}">
                  <c16:uniqueId val="{00000003-9B6B-40D2-B8D4-FF768E32EF21}"/>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solidFill>
                    <a:latin typeface="+mn-lt"/>
                    <a:ea typeface="+mn-ea"/>
                    <a:cs typeface="+mn-cs"/>
                  </a:defRPr>
                </a:pPr>
                <a:endParaRPr lang="zh-TW"/>
              </a:p>
            </c:txPr>
            <c:showLegendKey val="0"/>
            <c:showVal val="0"/>
            <c:showCatName val="0"/>
            <c:showSerName val="0"/>
            <c:showPercent val="1"/>
            <c:showBubbleSize val="0"/>
            <c:showLeaderLines val="1"/>
            <c:leaderLines>
              <c:spPr>
                <a:ln w="9525" cap="flat" cmpd="sng" algn="ctr">
                  <a:solidFill>
                    <a:schemeClr val="tx1">
                      <a:shade val="95000"/>
                      <a:satMod val="105000"/>
                    </a:schemeClr>
                  </a:solidFill>
                  <a:prstDash val="solid"/>
                  <a:round/>
                </a:ln>
                <a:effectLst/>
              </c:spPr>
            </c:leaderLines>
            <c:extLst xmlns:c16r2="http://schemas.microsoft.com/office/drawing/2015/06/chart">
              <c:ext xmlns:c15="http://schemas.microsoft.com/office/drawing/2012/chart" uri="{CE6537A1-D6FC-4f65-9D91-7224C49458BB}"/>
            </c:extLst>
          </c:dLbls>
          <c:cat>
            <c:strRef>
              <c:f>工作表1!$A$2:$A$4</c:f>
              <c:strCache>
                <c:ptCount val="3"/>
                <c:pt idx="0">
                  <c:v>發電/供應</c:v>
                </c:pt>
                <c:pt idx="1">
                  <c:v>配電</c:v>
                </c:pt>
                <c:pt idx="2">
                  <c:v>其他</c:v>
                </c:pt>
              </c:strCache>
            </c:strRef>
          </c:cat>
          <c:val>
            <c:numRef>
              <c:f>工作表1!$B$2:$B$4</c:f>
              <c:numCache>
                <c:formatCode>#,##0</c:formatCode>
                <c:ptCount val="3"/>
                <c:pt idx="0">
                  <c:v>79795</c:v>
                </c:pt>
                <c:pt idx="1">
                  <c:v>20400</c:v>
                </c:pt>
                <c:pt idx="2">
                  <c:v>13071</c:v>
                </c:pt>
              </c:numCache>
            </c:numRef>
          </c:val>
          <c:extLst xmlns:c16r2="http://schemas.microsoft.com/office/drawing/2015/06/chart">
            <c:ext xmlns:c16="http://schemas.microsoft.com/office/drawing/2014/chart" uri="{C3380CC4-5D6E-409C-BE32-E72D297353CC}">
              <c16:uniqueId val="{00000009-9B6B-40D2-B8D4-FF768E32EF21}"/>
            </c:ext>
          </c:extLst>
        </c:ser>
        <c:dLbls>
          <c:showLegendKey val="0"/>
          <c:showVal val="0"/>
          <c:showCatName val="0"/>
          <c:showSerName val="0"/>
          <c:showPercent val="1"/>
          <c:showBubbleSize val="0"/>
          <c:showLeaderLines val="1"/>
        </c:dLbls>
        <c:firstSliceAng val="0"/>
        <c:holeSize val="64"/>
      </c:doughnutChart>
      <c:spPr>
        <a:noFill/>
        <a:ln>
          <a:noFill/>
        </a:ln>
        <a:effectLst/>
      </c:spPr>
    </c:plotArea>
    <c:legend>
      <c:legendPos val="r"/>
      <c:layout>
        <c:manualLayout>
          <c:xMode val="edge"/>
          <c:yMode val="edge"/>
          <c:x val="0.61326582433189902"/>
          <c:y val="0.20389916792005167"/>
          <c:w val="0.35797611432159043"/>
          <c:h val="0.6604430213520579"/>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zh-TW"/>
        </a:p>
      </c:txPr>
    </c:legend>
    <c:plotVisOnly val="1"/>
    <c:dispBlanksAs val="gap"/>
    <c:showDLblsOverMax val="0"/>
    <c:extLst xmlns:c16r2="http://schemas.microsoft.com/office/drawing/2015/06/chart">
      <c:ext xmlns:c16r3="http://schemas.microsoft.com/office/drawing/2017/03/chart" uri="{56B9EC1D-385E-4148-901F-78D8002777C0}">
        <c16r3:dataDisplayOptions16>
          <c16r3:dispNaAsBlank val="1"/>
        </c16r3:dataDisplayOptions16>
      </c:ext>
    </c:extLst>
  </c:chart>
  <c:spPr>
    <a:noFill/>
    <a:ln w="9525" cap="flat" cmpd="sng" algn="ctr">
      <a:noFill/>
      <a:prstDash val="solid"/>
    </a:ln>
    <a:effectLst/>
  </c:spPr>
  <c:txPr>
    <a:bodyPr/>
    <a:lstStyle/>
    <a:p>
      <a:pPr>
        <a:defRPr/>
      </a:pPr>
      <a:endParaRPr lang="zh-TW"/>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layout/>
      <c:overlay val="0"/>
    </c:title>
    <c:autoTitleDeleted val="0"/>
    <c:plotArea>
      <c:layout/>
      <c:barChart>
        <c:barDir val="col"/>
        <c:grouping val="clustered"/>
        <c:varyColors val="0"/>
        <c:ser>
          <c:idx val="0"/>
          <c:order val="0"/>
          <c:tx>
            <c:strRef>
              <c:f>工作表1!$A$2</c:f>
              <c:strCache>
                <c:ptCount val="1"/>
                <c:pt idx="0">
                  <c:v>總營收(百萬 EUR)</c:v>
                </c:pt>
              </c:strCache>
            </c:strRef>
          </c:tx>
          <c:spPr>
            <a:solidFill>
              <a:schemeClr val="bg1">
                <a:lumMod val="85000"/>
              </a:schemeClr>
            </a:solidFill>
          </c:spPr>
          <c:invertIfNegative val="0"/>
          <c:dPt>
            <c:idx val="4"/>
            <c:invertIfNegative val="0"/>
            <c:bubble3D val="0"/>
            <c:spPr>
              <a:solidFill>
                <a:srgbClr val="C00000"/>
              </a:solidFill>
            </c:spPr>
            <c:extLst xmlns:c16r2="http://schemas.microsoft.com/office/drawing/2015/06/chart">
              <c:ext xmlns:c16="http://schemas.microsoft.com/office/drawing/2014/chart" uri="{C3380CC4-5D6E-409C-BE32-E72D297353CC}">
                <c16:uniqueId val="{00000001-25AA-4DFB-9AAE-28D66345635A}"/>
              </c:ext>
            </c:extLst>
          </c:dPt>
          <c:dLbls>
            <c:numFmt formatCode="#,##0_);[Red]\(#,##0\)" sourceLinked="0"/>
            <c:spPr>
              <a:noFill/>
              <a:ln>
                <a:noFill/>
              </a:ln>
              <a:effectLst/>
            </c:spPr>
            <c:txPr>
              <a:bodyPr/>
              <a:lstStyle/>
              <a:p>
                <a:pPr>
                  <a:defRPr sz="800"/>
                </a:pPr>
                <a:endParaRPr lang="zh-TW"/>
              </a:p>
            </c:txPr>
            <c:showLegendKey val="0"/>
            <c:showVal val="1"/>
            <c:showCatName val="0"/>
            <c:showSerName val="0"/>
            <c:showPercent val="0"/>
            <c:showBubbleSize val="0"/>
            <c:showLeaderLines val="0"/>
            <c:extLst xmlns:c16r2="http://schemas.microsoft.com/office/drawing/2015/06/chart">
              <c:ext xmlns:c15="http://schemas.microsoft.com/office/drawing/2012/chart" uri="{CE6537A1-D6FC-4f65-9D91-7224C49458BB}">
                <c15:showLeaderLines val="0"/>
              </c:ext>
            </c:extLst>
          </c:dLbls>
          <c:cat>
            <c:strRef>
              <c:f>工作表1!$B$1:$F$1</c:f>
              <c:strCache>
                <c:ptCount val="5"/>
                <c:pt idx="0">
                  <c:v>1H21</c:v>
                </c:pt>
                <c:pt idx="1">
                  <c:v>2H21</c:v>
                </c:pt>
                <c:pt idx="2">
                  <c:v>1H22</c:v>
                </c:pt>
                <c:pt idx="3">
                  <c:v>2H22</c:v>
                </c:pt>
                <c:pt idx="4">
                  <c:v>1H23</c:v>
                </c:pt>
              </c:strCache>
            </c:strRef>
          </c:cat>
          <c:val>
            <c:numRef>
              <c:f>工作表1!$B$2:$F$2</c:f>
              <c:numCache>
                <c:formatCode>#,##0.00</c:formatCode>
                <c:ptCount val="5"/>
                <c:pt idx="0">
                  <c:v>39621</c:v>
                </c:pt>
                <c:pt idx="1">
                  <c:v>44840</c:v>
                </c:pt>
                <c:pt idx="2">
                  <c:v>66262</c:v>
                </c:pt>
                <c:pt idx="3">
                  <c:v>77214</c:v>
                </c:pt>
                <c:pt idx="4">
                  <c:v>75499</c:v>
                </c:pt>
              </c:numCache>
            </c:numRef>
          </c:val>
          <c:extLst xmlns:c16r2="http://schemas.microsoft.com/office/drawing/2015/06/chart">
            <c:ext xmlns:c16="http://schemas.microsoft.com/office/drawing/2014/chart" uri="{C3380CC4-5D6E-409C-BE32-E72D297353CC}">
              <c16:uniqueId val="{00000002-25AA-4DFB-9AAE-28D66345635A}"/>
            </c:ext>
          </c:extLst>
        </c:ser>
        <c:dLbls>
          <c:showLegendKey val="0"/>
          <c:showVal val="0"/>
          <c:showCatName val="0"/>
          <c:showSerName val="0"/>
          <c:showPercent val="0"/>
          <c:showBubbleSize val="0"/>
        </c:dLbls>
        <c:gapWidth val="67"/>
        <c:axId val="155871104"/>
        <c:axId val="155872640"/>
      </c:barChart>
      <c:catAx>
        <c:axId val="155871104"/>
        <c:scaling>
          <c:orientation val="minMax"/>
        </c:scaling>
        <c:delete val="0"/>
        <c:axPos val="b"/>
        <c:numFmt formatCode="General" sourceLinked="0"/>
        <c:majorTickMark val="out"/>
        <c:minorTickMark val="none"/>
        <c:tickLblPos val="nextTo"/>
        <c:txPr>
          <a:bodyPr/>
          <a:lstStyle/>
          <a:p>
            <a:pPr>
              <a:defRPr sz="800"/>
            </a:pPr>
            <a:endParaRPr lang="zh-TW"/>
          </a:p>
        </c:txPr>
        <c:crossAx val="155872640"/>
        <c:crosses val="autoZero"/>
        <c:auto val="1"/>
        <c:lblAlgn val="ctr"/>
        <c:lblOffset val="100"/>
        <c:noMultiLvlLbl val="0"/>
      </c:catAx>
      <c:valAx>
        <c:axId val="155872640"/>
        <c:scaling>
          <c:orientation val="minMax"/>
        </c:scaling>
        <c:delete val="1"/>
        <c:axPos val="l"/>
        <c:numFmt formatCode="#,##0.00" sourceLinked="1"/>
        <c:majorTickMark val="out"/>
        <c:minorTickMark val="none"/>
        <c:tickLblPos val="nextTo"/>
        <c:crossAx val="155871104"/>
        <c:crosses val="autoZero"/>
        <c:crossBetween val="between"/>
      </c:valAx>
    </c:plotArea>
    <c:plotVisOnly val="1"/>
    <c:dispBlanksAs val="gap"/>
    <c:showDLblsOverMax val="0"/>
  </c:chart>
  <c:txPr>
    <a:bodyPr/>
    <a:lstStyle/>
    <a:p>
      <a:pPr>
        <a:defRPr sz="1000"/>
      </a:pPr>
      <a:endParaRPr lang="zh-TW"/>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nSpc>
                <a:spcPts val="1500"/>
              </a:lnSpc>
              <a:defRPr/>
            </a:pPr>
            <a:r>
              <a:rPr lang="zh-TW" altLang="en-US" dirty="0"/>
              <a:t>稅後損益
</a:t>
            </a:r>
            <a:r>
              <a:rPr lang="en-US" altLang="zh-TW" dirty="0"/>
              <a:t>(</a:t>
            </a:r>
            <a:r>
              <a:rPr lang="zh-TW" altLang="en-US" dirty="0"/>
              <a:t>百萬 </a:t>
            </a:r>
            <a:r>
              <a:rPr lang="en-US" altLang="zh-TW" dirty="0"/>
              <a:t>EUR)</a:t>
            </a:r>
          </a:p>
        </c:rich>
      </c:tx>
      <c:layout>
        <c:manualLayout>
          <c:xMode val="edge"/>
          <c:yMode val="edge"/>
          <c:x val="0.31609433144862981"/>
          <c:y val="5.5695565989743831E-2"/>
        </c:manualLayout>
      </c:layout>
      <c:overlay val="0"/>
    </c:title>
    <c:autoTitleDeleted val="0"/>
    <c:plotArea>
      <c:layout>
        <c:manualLayout>
          <c:layoutTarget val="inner"/>
          <c:xMode val="edge"/>
          <c:yMode val="edge"/>
          <c:x val="6.2073025782300076E-2"/>
          <c:y val="0.31560820727521505"/>
          <c:w val="0.87585394843539988"/>
          <c:h val="0.47203600184774791"/>
        </c:manualLayout>
      </c:layout>
      <c:barChart>
        <c:barDir val="col"/>
        <c:grouping val="clustered"/>
        <c:varyColors val="0"/>
        <c:ser>
          <c:idx val="0"/>
          <c:order val="0"/>
          <c:tx>
            <c:strRef>
              <c:f>工作表1!$A$2</c:f>
              <c:strCache>
                <c:ptCount val="1"/>
                <c:pt idx="0">
                  <c:v>稅後淨損益
(百萬 EUR)</c:v>
                </c:pt>
              </c:strCache>
            </c:strRef>
          </c:tx>
          <c:spPr>
            <a:solidFill>
              <a:schemeClr val="bg1">
                <a:lumMod val="85000"/>
              </a:schemeClr>
            </a:solidFill>
          </c:spPr>
          <c:invertIfNegative val="0"/>
          <c:dPt>
            <c:idx val="4"/>
            <c:invertIfNegative val="0"/>
            <c:bubble3D val="0"/>
            <c:spPr>
              <a:solidFill>
                <a:srgbClr val="C00000"/>
              </a:solidFill>
            </c:spPr>
            <c:extLst xmlns:c16r2="http://schemas.microsoft.com/office/drawing/2015/06/chart">
              <c:ext xmlns:c16="http://schemas.microsoft.com/office/drawing/2014/chart" uri="{C3380CC4-5D6E-409C-BE32-E72D297353CC}">
                <c16:uniqueId val="{00000001-7615-4605-903C-B05F70255C1C}"/>
              </c:ext>
            </c:extLst>
          </c:dPt>
          <c:dLbls>
            <c:dLbl>
              <c:idx val="3"/>
              <c:layout>
                <c:manualLayout>
                  <c:x val="-1.2123184922958115E-2"/>
                  <c:y val="2.1462464485515947E-2"/>
                </c:manualLayout>
              </c:layout>
              <c:showLegendKey val="0"/>
              <c:showVal val="1"/>
              <c:showCatName val="0"/>
              <c:showSerName val="0"/>
              <c:showPercent val="0"/>
              <c:showBubbleSize val="0"/>
              <c:extLst xmlns:c16r2="http://schemas.microsoft.com/office/drawing/2015/06/chart">
                <c:ext xmlns:c15="http://schemas.microsoft.com/office/drawing/2012/chart" uri="{CE6537A1-D6FC-4f65-9D91-7224C49458BB}"/>
                <c:ext xmlns:c16="http://schemas.microsoft.com/office/drawing/2014/chart" uri="{C3380CC4-5D6E-409C-BE32-E72D297353CC}">
                  <c16:uniqueId val="{00000002-7615-4605-903C-B05F70255C1C}"/>
                </c:ext>
              </c:extLst>
            </c:dLbl>
            <c:dLbl>
              <c:idx val="4"/>
              <c:layout>
                <c:manualLayout>
                  <c:x val="0"/>
                  <c:y val="5.0075140875058863E-2"/>
                </c:manualLayout>
              </c:layout>
              <c:showLegendKey val="0"/>
              <c:showVal val="1"/>
              <c:showCatName val="0"/>
              <c:showSerName val="0"/>
              <c:showPercent val="0"/>
              <c:showBubbleSize val="0"/>
              <c:extLst xmlns:c16r2="http://schemas.microsoft.com/office/drawing/2015/06/chart">
                <c:ext xmlns:c15="http://schemas.microsoft.com/office/drawing/2012/chart" uri="{CE6537A1-D6FC-4f65-9D91-7224C49458BB}"/>
                <c:ext xmlns:c16="http://schemas.microsoft.com/office/drawing/2014/chart" uri="{C3380CC4-5D6E-409C-BE32-E72D297353CC}">
                  <c16:uniqueId val="{00000001-7615-4605-903C-B05F70255C1C}"/>
                </c:ext>
              </c:extLst>
            </c:dLbl>
            <c:numFmt formatCode="#,##0_ ;[Red]\-#,##0\ " sourceLinked="0"/>
            <c:spPr>
              <a:noFill/>
              <a:ln>
                <a:noFill/>
              </a:ln>
              <a:effectLst/>
            </c:spPr>
            <c:txPr>
              <a:bodyPr/>
              <a:lstStyle/>
              <a:p>
                <a:pPr>
                  <a:defRPr sz="800"/>
                </a:pPr>
                <a:endParaRPr lang="zh-TW"/>
              </a:p>
            </c:txPr>
            <c:showLegendKey val="0"/>
            <c:showVal val="1"/>
            <c:showCatName val="0"/>
            <c:showSerName val="0"/>
            <c:showPercent val="0"/>
            <c:showBubbleSize val="0"/>
            <c:showLeaderLines val="0"/>
            <c:extLst xmlns:c16r2="http://schemas.microsoft.com/office/drawing/2015/06/chart">
              <c:ext xmlns:c15="http://schemas.microsoft.com/office/drawing/2012/chart" uri="{CE6537A1-D6FC-4f65-9D91-7224C49458BB}">
                <c15:showLeaderLines val="0"/>
              </c:ext>
            </c:extLst>
          </c:dLbls>
          <c:cat>
            <c:strRef>
              <c:f>工作表1!$B$1:$F$1</c:f>
              <c:strCache>
                <c:ptCount val="5"/>
                <c:pt idx="0">
                  <c:v>1H21</c:v>
                </c:pt>
                <c:pt idx="1">
                  <c:v>2H21</c:v>
                </c:pt>
                <c:pt idx="2">
                  <c:v>1H22</c:v>
                </c:pt>
                <c:pt idx="3">
                  <c:v>2H22</c:v>
                </c:pt>
                <c:pt idx="4">
                  <c:v>1H23</c:v>
                </c:pt>
              </c:strCache>
            </c:strRef>
          </c:cat>
          <c:val>
            <c:numRef>
              <c:f>工作表1!$B$2:$F$2</c:f>
              <c:numCache>
                <c:formatCode>General</c:formatCode>
                <c:ptCount val="5"/>
                <c:pt idx="0" formatCode="#,##0.00">
                  <c:v>4172</c:v>
                </c:pt>
                <c:pt idx="1">
                  <c:v>941</c:v>
                </c:pt>
                <c:pt idx="2" formatCode="#,##0.00">
                  <c:v>-5293</c:v>
                </c:pt>
                <c:pt idx="3" formatCode="#,##0.00">
                  <c:v>-12647</c:v>
                </c:pt>
                <c:pt idx="4" formatCode="#,##0.00">
                  <c:v>5808</c:v>
                </c:pt>
              </c:numCache>
            </c:numRef>
          </c:val>
          <c:extLst xmlns:c16r2="http://schemas.microsoft.com/office/drawing/2015/06/chart">
            <c:ext xmlns:c16="http://schemas.microsoft.com/office/drawing/2014/chart" uri="{C3380CC4-5D6E-409C-BE32-E72D297353CC}">
              <c16:uniqueId val="{00000003-7615-4605-903C-B05F70255C1C}"/>
            </c:ext>
          </c:extLst>
        </c:ser>
        <c:dLbls>
          <c:showLegendKey val="0"/>
          <c:showVal val="0"/>
          <c:showCatName val="0"/>
          <c:showSerName val="0"/>
          <c:showPercent val="0"/>
          <c:showBubbleSize val="0"/>
        </c:dLbls>
        <c:gapWidth val="67"/>
        <c:axId val="155751936"/>
        <c:axId val="155753472"/>
      </c:barChart>
      <c:catAx>
        <c:axId val="155751936"/>
        <c:scaling>
          <c:orientation val="minMax"/>
        </c:scaling>
        <c:delete val="0"/>
        <c:axPos val="b"/>
        <c:numFmt formatCode="General" sourceLinked="0"/>
        <c:majorTickMark val="out"/>
        <c:minorTickMark val="none"/>
        <c:tickLblPos val="low"/>
        <c:txPr>
          <a:bodyPr/>
          <a:lstStyle/>
          <a:p>
            <a:pPr>
              <a:defRPr sz="800"/>
            </a:pPr>
            <a:endParaRPr lang="zh-TW"/>
          </a:p>
        </c:txPr>
        <c:crossAx val="155753472"/>
        <c:crosses val="autoZero"/>
        <c:auto val="1"/>
        <c:lblAlgn val="ctr"/>
        <c:lblOffset val="100"/>
        <c:noMultiLvlLbl val="0"/>
      </c:catAx>
      <c:valAx>
        <c:axId val="155753472"/>
        <c:scaling>
          <c:orientation val="minMax"/>
          <c:max val="20000"/>
          <c:min val="-20000"/>
        </c:scaling>
        <c:delete val="1"/>
        <c:axPos val="l"/>
        <c:numFmt formatCode="#,##0.00" sourceLinked="1"/>
        <c:majorTickMark val="out"/>
        <c:minorTickMark val="none"/>
        <c:tickLblPos val="nextTo"/>
        <c:crossAx val="155751936"/>
        <c:crosses val="autoZero"/>
        <c:crossBetween val="between"/>
      </c:valAx>
    </c:plotArea>
    <c:plotVisOnly val="1"/>
    <c:dispBlanksAs val="gap"/>
    <c:showDLblsOverMax val="0"/>
  </c:chart>
  <c:txPr>
    <a:bodyPr/>
    <a:lstStyle/>
    <a:p>
      <a:pPr>
        <a:defRPr sz="1000"/>
      </a:pPr>
      <a:endParaRPr lang="zh-TW"/>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0622621451646985E-2"/>
          <c:y val="0.21263938645494504"/>
          <c:w val="0.89858752077655857"/>
          <c:h val="0.65433649794105719"/>
        </c:manualLayout>
      </c:layout>
      <c:barChart>
        <c:barDir val="col"/>
        <c:grouping val="clustered"/>
        <c:varyColors val="0"/>
        <c:ser>
          <c:idx val="0"/>
          <c:order val="0"/>
          <c:tx>
            <c:strRef>
              <c:f>工作表1!$A$2</c:f>
              <c:strCache>
                <c:ptCount val="1"/>
                <c:pt idx="0">
                  <c:v>EBITDA/利息費用</c:v>
                </c:pt>
              </c:strCache>
            </c:strRef>
          </c:tx>
          <c:spPr>
            <a:solidFill>
              <a:srgbClr val="FF0000"/>
            </a:solidFill>
          </c:spPr>
          <c:invertIfNegative val="0"/>
          <c:dLbls>
            <c:dLbl>
              <c:idx val="13"/>
              <c:showLegendKey val="0"/>
              <c:showVal val="1"/>
              <c:showCatName val="0"/>
              <c:showSerName val="0"/>
              <c:showPercent val="0"/>
              <c:showBubbleSize val="0"/>
              <c:extLst xmlns:c16r2="http://schemas.microsoft.com/office/drawing/2015/06/chart">
                <c:ext xmlns:c15="http://schemas.microsoft.com/office/drawing/2012/chart" uri="{CE6537A1-D6FC-4f65-9D91-7224C49458BB}"/>
                <c:ext xmlns:c16="http://schemas.microsoft.com/office/drawing/2014/chart" uri="{C3380CC4-5D6E-409C-BE32-E72D297353CC}">
                  <c16:uniqueId val="{00000000-6240-4E62-9DA9-CBEB133A112B}"/>
                </c:ext>
              </c:extLst>
            </c:dLbl>
            <c:spPr>
              <a:noFill/>
              <a:ln>
                <a:noFill/>
              </a:ln>
              <a:effectLst/>
            </c:spPr>
            <c:txPr>
              <a:bodyPr wrap="square" lIns="38100" tIns="19050" rIns="38100" bIns="19050" anchor="ctr">
                <a:spAutoFit/>
              </a:bodyPr>
              <a:lstStyle/>
              <a:p>
                <a:pPr>
                  <a:defRPr b="1">
                    <a:solidFill>
                      <a:srgbClr val="FF0000"/>
                    </a:solidFill>
                  </a:defRPr>
                </a:pPr>
                <a:endParaRPr lang="zh-TW"/>
              </a:p>
            </c:txPr>
            <c:showLegendKey val="0"/>
            <c:showVal val="0"/>
            <c:showCatName val="0"/>
            <c:showSerName val="0"/>
            <c:showPercent val="0"/>
            <c:showBubbleSize val="0"/>
            <c:extLst xmlns:c16r2="http://schemas.microsoft.com/office/drawing/2015/06/chart">
              <c:ext xmlns:c15="http://schemas.microsoft.com/office/drawing/2012/chart" uri="{CE6537A1-D6FC-4f65-9D91-7224C49458BB}">
                <c15:showLeaderLines val="1"/>
              </c:ext>
            </c:extLst>
          </c:dLbls>
          <c:cat>
            <c:strRef>
              <c:f>工作表1!$B$1:$J$1</c:f>
              <c:strCache>
                <c:ptCount val="7"/>
                <c:pt idx="0">
                  <c:v>2017</c:v>
                </c:pt>
                <c:pt idx="1">
                  <c:v>2018</c:v>
                </c:pt>
                <c:pt idx="2">
                  <c:v>2019</c:v>
                </c:pt>
                <c:pt idx="3">
                  <c:v>2020</c:v>
                </c:pt>
                <c:pt idx="4">
                  <c:v>2021</c:v>
                </c:pt>
                <c:pt idx="5">
                  <c:v>2022</c:v>
                </c:pt>
                <c:pt idx="6">
                  <c:v>Jun-23</c:v>
                </c:pt>
              </c:strCache>
            </c:strRef>
          </c:cat>
          <c:val>
            <c:numRef>
              <c:f>工作表1!$B$2:$J$2</c:f>
            </c:numRef>
          </c:val>
          <c:extLst xmlns:c16r2="http://schemas.microsoft.com/office/drawing/2015/06/chart">
            <c:ext xmlns:c16="http://schemas.microsoft.com/office/drawing/2014/chart" uri="{C3380CC4-5D6E-409C-BE32-E72D297353CC}">
              <c16:uniqueId val="{00000001-6240-4E62-9DA9-CBEB133A112B}"/>
            </c:ext>
          </c:extLst>
        </c:ser>
        <c:ser>
          <c:idx val="1"/>
          <c:order val="1"/>
          <c:tx>
            <c:strRef>
              <c:f>工作表1!$A$3</c:f>
              <c:strCache>
                <c:ptCount val="1"/>
                <c:pt idx="0">
                  <c:v>EBIT/利息費用</c:v>
                </c:pt>
              </c:strCache>
            </c:strRef>
          </c:tx>
          <c:spPr>
            <a:solidFill>
              <a:schemeClr val="bg1">
                <a:lumMod val="65000"/>
              </a:schemeClr>
            </a:solidFill>
          </c:spPr>
          <c:invertIfNegative val="0"/>
          <c:cat>
            <c:strRef>
              <c:f>工作表1!$B$1:$J$1</c:f>
              <c:strCache>
                <c:ptCount val="7"/>
                <c:pt idx="0">
                  <c:v>2017</c:v>
                </c:pt>
                <c:pt idx="1">
                  <c:v>2018</c:v>
                </c:pt>
                <c:pt idx="2">
                  <c:v>2019</c:v>
                </c:pt>
                <c:pt idx="3">
                  <c:v>2020</c:v>
                </c:pt>
                <c:pt idx="4">
                  <c:v>2021</c:v>
                </c:pt>
                <c:pt idx="5">
                  <c:v>2022</c:v>
                </c:pt>
                <c:pt idx="6">
                  <c:v>Jun-23</c:v>
                </c:pt>
              </c:strCache>
            </c:strRef>
          </c:cat>
          <c:val>
            <c:numRef>
              <c:f>工作表1!$B$3:$J$3</c:f>
            </c:numRef>
          </c:val>
          <c:extLst xmlns:c16r2="http://schemas.microsoft.com/office/drawing/2015/06/chart">
            <c:ext xmlns:c16="http://schemas.microsoft.com/office/drawing/2014/chart" uri="{C3380CC4-5D6E-409C-BE32-E72D297353CC}">
              <c16:uniqueId val="{00000002-6240-4E62-9DA9-CBEB133A112B}"/>
            </c:ext>
          </c:extLst>
        </c:ser>
        <c:dLbls>
          <c:showLegendKey val="0"/>
          <c:showVal val="0"/>
          <c:showCatName val="0"/>
          <c:showSerName val="0"/>
          <c:showPercent val="0"/>
          <c:showBubbleSize val="0"/>
        </c:dLbls>
        <c:gapWidth val="150"/>
        <c:axId val="208608640"/>
        <c:axId val="208614528"/>
      </c:barChart>
      <c:barChart>
        <c:barDir val="col"/>
        <c:grouping val="stacked"/>
        <c:varyColors val="0"/>
        <c:ser>
          <c:idx val="3"/>
          <c:order val="3"/>
          <c:tx>
            <c:strRef>
              <c:f>工作表1!$A$5</c:f>
              <c:strCache>
                <c:ptCount val="1"/>
                <c:pt idx="0">
                  <c:v>長期債務</c:v>
                </c:pt>
              </c:strCache>
            </c:strRef>
          </c:tx>
          <c:spPr>
            <a:solidFill>
              <a:srgbClr val="002D74"/>
            </a:solidFill>
          </c:spPr>
          <c:invertIfNegative val="0"/>
          <c:dLbls>
            <c:numFmt formatCode="#,##0_);[Red]\(#,##0\)" sourceLinked="0"/>
            <c:spPr>
              <a:noFill/>
              <a:ln>
                <a:noFill/>
              </a:ln>
              <a:effectLst/>
            </c:spPr>
            <c:txPr>
              <a:bodyPr wrap="square" lIns="38100" tIns="19050" rIns="38100" bIns="19050" anchor="ctr">
                <a:spAutoFit/>
              </a:bodyPr>
              <a:lstStyle/>
              <a:p>
                <a:pPr>
                  <a:defRPr sz="700">
                    <a:solidFill>
                      <a:schemeClr val="bg1"/>
                    </a:solidFill>
                  </a:defRPr>
                </a:pPr>
                <a:endParaRPr lang="zh-TW"/>
              </a:p>
            </c:txPr>
            <c:showLegendKey val="0"/>
            <c:showVal val="1"/>
            <c:showCatName val="0"/>
            <c:showSerName val="0"/>
            <c:showPercent val="0"/>
            <c:showBubbleSize val="0"/>
            <c:showLeaderLines val="0"/>
            <c:extLst xmlns:c16r2="http://schemas.microsoft.com/office/drawing/2015/06/chart">
              <c:ext xmlns:c15="http://schemas.microsoft.com/office/drawing/2012/chart" uri="{CE6537A1-D6FC-4f65-9D91-7224C49458BB}">
                <c15:showLeaderLines val="1"/>
              </c:ext>
            </c:extLst>
          </c:dLbls>
          <c:cat>
            <c:strRef>
              <c:f>工作表1!$B$1:$J$1</c:f>
              <c:strCache>
                <c:ptCount val="7"/>
                <c:pt idx="0">
                  <c:v>2017</c:v>
                </c:pt>
                <c:pt idx="1">
                  <c:v>2018</c:v>
                </c:pt>
                <c:pt idx="2">
                  <c:v>2019</c:v>
                </c:pt>
                <c:pt idx="3">
                  <c:v>2020</c:v>
                </c:pt>
                <c:pt idx="4">
                  <c:v>2021</c:v>
                </c:pt>
                <c:pt idx="5">
                  <c:v>2022</c:v>
                </c:pt>
                <c:pt idx="6">
                  <c:v>Jun-23</c:v>
                </c:pt>
              </c:strCache>
            </c:strRef>
          </c:cat>
          <c:val>
            <c:numRef>
              <c:f>工作表1!$B$5:$J$5</c:f>
              <c:numCache>
                <c:formatCode>#,##0.00</c:formatCode>
                <c:ptCount val="7"/>
                <c:pt idx="0">
                  <c:v>49734</c:v>
                </c:pt>
                <c:pt idx="1">
                  <c:v>50901</c:v>
                </c:pt>
                <c:pt idx="2">
                  <c:v>56306</c:v>
                </c:pt>
                <c:pt idx="3">
                  <c:v>54066</c:v>
                </c:pt>
                <c:pt idx="4">
                  <c:v>54335</c:v>
                </c:pt>
                <c:pt idx="5">
                  <c:v>67340</c:v>
                </c:pt>
                <c:pt idx="6">
                  <c:v>68915</c:v>
                </c:pt>
              </c:numCache>
            </c:numRef>
          </c:val>
          <c:extLst xmlns:c16r2="http://schemas.microsoft.com/office/drawing/2015/06/chart">
            <c:ext xmlns:c16="http://schemas.microsoft.com/office/drawing/2014/chart" uri="{C3380CC4-5D6E-409C-BE32-E72D297353CC}">
              <c16:uniqueId val="{00000007-6240-4E62-9DA9-CBEB133A112B}"/>
            </c:ext>
          </c:extLst>
        </c:ser>
        <c:ser>
          <c:idx val="4"/>
          <c:order val="4"/>
          <c:tx>
            <c:strRef>
              <c:f>工作表1!$A$6</c:f>
              <c:strCache>
                <c:ptCount val="1"/>
                <c:pt idx="0">
                  <c:v>短期債務</c:v>
                </c:pt>
              </c:strCache>
            </c:strRef>
          </c:tx>
          <c:spPr>
            <a:solidFill>
              <a:srgbClr val="AFCDFF"/>
            </a:solidFill>
          </c:spPr>
          <c:invertIfNegative val="0"/>
          <c:cat>
            <c:strRef>
              <c:f>工作表1!$B$1:$J$1</c:f>
              <c:strCache>
                <c:ptCount val="7"/>
                <c:pt idx="0">
                  <c:v>2017</c:v>
                </c:pt>
                <c:pt idx="1">
                  <c:v>2018</c:v>
                </c:pt>
                <c:pt idx="2">
                  <c:v>2019</c:v>
                </c:pt>
                <c:pt idx="3">
                  <c:v>2020</c:v>
                </c:pt>
                <c:pt idx="4">
                  <c:v>2021</c:v>
                </c:pt>
                <c:pt idx="5">
                  <c:v>2022</c:v>
                </c:pt>
                <c:pt idx="6">
                  <c:v>Jun-23</c:v>
                </c:pt>
              </c:strCache>
            </c:strRef>
          </c:cat>
          <c:val>
            <c:numRef>
              <c:f>工作表1!$B$6:$J$6</c:f>
              <c:numCache>
                <c:formatCode>#,##0.00</c:formatCode>
                <c:ptCount val="7"/>
                <c:pt idx="0">
                  <c:v>6039</c:v>
                </c:pt>
                <c:pt idx="1">
                  <c:v>7207</c:v>
                </c:pt>
                <c:pt idx="2">
                  <c:v>10048</c:v>
                </c:pt>
                <c:pt idx="3">
                  <c:v>10646</c:v>
                </c:pt>
                <c:pt idx="4">
                  <c:v>14281</c:v>
                </c:pt>
                <c:pt idx="5">
                  <c:v>27828</c:v>
                </c:pt>
                <c:pt idx="6">
                  <c:v>19284</c:v>
                </c:pt>
              </c:numCache>
            </c:numRef>
          </c:val>
          <c:extLst xmlns:c16r2="http://schemas.microsoft.com/office/drawing/2015/06/chart">
            <c:ext xmlns:c16="http://schemas.microsoft.com/office/drawing/2014/chart" uri="{C3380CC4-5D6E-409C-BE32-E72D297353CC}">
              <c16:uniqueId val="{00000008-6240-4E62-9DA9-CBEB133A112B}"/>
            </c:ext>
          </c:extLst>
        </c:ser>
        <c:dLbls>
          <c:showLegendKey val="0"/>
          <c:showVal val="0"/>
          <c:showCatName val="0"/>
          <c:showSerName val="0"/>
          <c:showPercent val="0"/>
          <c:showBubbleSize val="0"/>
        </c:dLbls>
        <c:gapWidth val="42"/>
        <c:overlap val="100"/>
        <c:axId val="208608640"/>
        <c:axId val="208614528"/>
      </c:barChart>
      <c:lineChart>
        <c:grouping val="standard"/>
        <c:varyColors val="0"/>
        <c:ser>
          <c:idx val="2"/>
          <c:order val="2"/>
          <c:tx>
            <c:strRef>
              <c:f>工作表1!$A$4</c:f>
              <c:strCache>
                <c:ptCount val="1"/>
                <c:pt idx="0">
                  <c:v>總債務</c:v>
                </c:pt>
              </c:strCache>
            </c:strRef>
          </c:tx>
          <c:spPr>
            <a:ln>
              <a:solidFill>
                <a:srgbClr val="E85113"/>
              </a:solidFill>
            </a:ln>
          </c:spPr>
          <c:marker>
            <c:symbol val="square"/>
            <c:size val="5"/>
            <c:spPr>
              <a:solidFill>
                <a:srgbClr val="E85113"/>
              </a:solidFill>
              <a:ln>
                <a:solidFill>
                  <a:srgbClr val="E85113"/>
                </a:solidFill>
              </a:ln>
            </c:spPr>
          </c:marker>
          <c:dLbls>
            <c:numFmt formatCode="#,##0_);[Red]\(#,##0\)" sourceLinked="0"/>
            <c:spPr>
              <a:noFill/>
              <a:ln>
                <a:noFill/>
              </a:ln>
              <a:effectLst/>
            </c:spPr>
            <c:txPr>
              <a:bodyPr wrap="square" lIns="38100" tIns="19050" rIns="38100" bIns="19050" anchor="ctr">
                <a:spAutoFit/>
              </a:bodyPr>
              <a:lstStyle/>
              <a:p>
                <a:pPr>
                  <a:defRPr sz="700"/>
                </a:pPr>
                <a:endParaRPr lang="zh-TW"/>
              </a:p>
            </c:txPr>
            <c:dLblPos val="t"/>
            <c:showLegendKey val="0"/>
            <c:showVal val="1"/>
            <c:showCatName val="0"/>
            <c:showSerName val="0"/>
            <c:showPercent val="0"/>
            <c:showBubbleSize val="0"/>
            <c:showLeaderLines val="0"/>
            <c:extLst xmlns:c16r2="http://schemas.microsoft.com/office/drawing/2015/06/chart">
              <c:ext xmlns:c15="http://schemas.microsoft.com/office/drawing/2012/chart" uri="{CE6537A1-D6FC-4f65-9D91-7224C49458BB}">
                <c15:showLeaderLines val="1"/>
              </c:ext>
            </c:extLst>
          </c:dLbls>
          <c:cat>
            <c:strRef>
              <c:f>工作表1!$B$1:$J$1</c:f>
              <c:strCache>
                <c:ptCount val="7"/>
                <c:pt idx="0">
                  <c:v>2017</c:v>
                </c:pt>
                <c:pt idx="1">
                  <c:v>2018</c:v>
                </c:pt>
                <c:pt idx="2">
                  <c:v>2019</c:v>
                </c:pt>
                <c:pt idx="3">
                  <c:v>2020</c:v>
                </c:pt>
                <c:pt idx="4">
                  <c:v>2021</c:v>
                </c:pt>
                <c:pt idx="5">
                  <c:v>2022</c:v>
                </c:pt>
                <c:pt idx="6">
                  <c:v>Jun-23</c:v>
                </c:pt>
              </c:strCache>
            </c:strRef>
          </c:cat>
          <c:val>
            <c:numRef>
              <c:f>工作表1!$B$4:$J$4</c:f>
              <c:numCache>
                <c:formatCode>#,##0.00</c:formatCode>
                <c:ptCount val="7"/>
                <c:pt idx="0">
                  <c:v>55773</c:v>
                </c:pt>
                <c:pt idx="1">
                  <c:v>58108</c:v>
                </c:pt>
                <c:pt idx="2">
                  <c:v>66354</c:v>
                </c:pt>
                <c:pt idx="3">
                  <c:v>64712</c:v>
                </c:pt>
                <c:pt idx="4">
                  <c:v>68616</c:v>
                </c:pt>
                <c:pt idx="5">
                  <c:v>95168</c:v>
                </c:pt>
                <c:pt idx="6">
                  <c:v>88199</c:v>
                </c:pt>
              </c:numCache>
            </c:numRef>
          </c:val>
          <c:smooth val="0"/>
          <c:extLst xmlns:c16r2="http://schemas.microsoft.com/office/drawing/2015/06/chart">
            <c:ext xmlns:c16="http://schemas.microsoft.com/office/drawing/2014/chart" uri="{C3380CC4-5D6E-409C-BE32-E72D297353CC}">
              <c16:uniqueId val="{00000003-6240-4E62-9DA9-CBEB133A112B}"/>
            </c:ext>
          </c:extLst>
        </c:ser>
        <c:dLbls>
          <c:showLegendKey val="0"/>
          <c:showVal val="0"/>
          <c:showCatName val="0"/>
          <c:showSerName val="0"/>
          <c:showPercent val="0"/>
          <c:showBubbleSize val="0"/>
        </c:dLbls>
        <c:marker val="1"/>
        <c:smooth val="0"/>
        <c:axId val="208617856"/>
        <c:axId val="208616064"/>
      </c:lineChart>
      <c:catAx>
        <c:axId val="208608640"/>
        <c:scaling>
          <c:orientation val="minMax"/>
        </c:scaling>
        <c:delete val="0"/>
        <c:axPos val="b"/>
        <c:numFmt formatCode="General" sourceLinked="0"/>
        <c:majorTickMark val="out"/>
        <c:minorTickMark val="none"/>
        <c:tickLblPos val="nextTo"/>
        <c:txPr>
          <a:bodyPr rot="0" vert="horz"/>
          <a:lstStyle/>
          <a:p>
            <a:pPr>
              <a:defRPr sz="800"/>
            </a:pPr>
            <a:endParaRPr lang="zh-TW"/>
          </a:p>
        </c:txPr>
        <c:crossAx val="208614528"/>
        <c:crosses val="autoZero"/>
        <c:auto val="1"/>
        <c:lblAlgn val="ctr"/>
        <c:lblOffset val="100"/>
        <c:noMultiLvlLbl val="0"/>
      </c:catAx>
      <c:valAx>
        <c:axId val="208614528"/>
        <c:scaling>
          <c:orientation val="minMax"/>
        </c:scaling>
        <c:delete val="1"/>
        <c:axPos val="l"/>
        <c:numFmt formatCode="#,##0.00" sourceLinked="1"/>
        <c:majorTickMark val="out"/>
        <c:minorTickMark val="none"/>
        <c:tickLblPos val="nextTo"/>
        <c:crossAx val="208608640"/>
        <c:crosses val="autoZero"/>
        <c:crossBetween val="between"/>
      </c:valAx>
      <c:valAx>
        <c:axId val="208616064"/>
        <c:scaling>
          <c:orientation val="minMax"/>
        </c:scaling>
        <c:delete val="1"/>
        <c:axPos val="r"/>
        <c:numFmt formatCode="#,##0.00" sourceLinked="1"/>
        <c:majorTickMark val="out"/>
        <c:minorTickMark val="none"/>
        <c:tickLblPos val="nextTo"/>
        <c:crossAx val="208617856"/>
        <c:crosses val="max"/>
        <c:crossBetween val="between"/>
      </c:valAx>
      <c:catAx>
        <c:axId val="208617856"/>
        <c:scaling>
          <c:orientation val="minMax"/>
        </c:scaling>
        <c:delete val="1"/>
        <c:axPos val="b"/>
        <c:numFmt formatCode="General" sourceLinked="1"/>
        <c:majorTickMark val="out"/>
        <c:minorTickMark val="none"/>
        <c:tickLblPos val="nextTo"/>
        <c:crossAx val="208616064"/>
        <c:crosses val="autoZero"/>
        <c:auto val="1"/>
        <c:lblAlgn val="ctr"/>
        <c:lblOffset val="100"/>
        <c:noMultiLvlLbl val="0"/>
      </c:catAx>
    </c:plotArea>
    <c:legend>
      <c:legendPos val="t"/>
      <c:layout/>
      <c:overlay val="0"/>
    </c:legend>
    <c:plotVisOnly val="1"/>
    <c:dispBlanksAs val="gap"/>
    <c:showDLblsOverMax val="0"/>
  </c:chart>
  <c:txPr>
    <a:bodyPr/>
    <a:lstStyle/>
    <a:p>
      <a:pPr>
        <a:defRPr sz="1000"/>
      </a:pPr>
      <a:endParaRPr lang="zh-TW"/>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3811817817964517"/>
          <c:y val="0.24816284215811871"/>
          <c:w val="0.83497163276098008"/>
          <c:h val="0.53999171393605216"/>
        </c:manualLayout>
      </c:layout>
      <c:barChart>
        <c:barDir val="col"/>
        <c:grouping val="stacked"/>
        <c:varyColors val="0"/>
        <c:ser>
          <c:idx val="1"/>
          <c:order val="0"/>
          <c:tx>
            <c:strRef>
              <c:f>DDIS!$C$1</c:f>
              <c:strCache>
                <c:ptCount val="1"/>
                <c:pt idx="0">
                  <c:v>債券本金</c:v>
                </c:pt>
              </c:strCache>
            </c:strRef>
          </c:tx>
          <c:spPr>
            <a:solidFill>
              <a:srgbClr val="002D74"/>
            </a:solidFill>
          </c:spPr>
          <c:invertIfNegative val="0"/>
          <c:dLbls>
            <c:delete val="1"/>
          </c:dLbls>
          <c:cat>
            <c:numRef>
              <c:f>DDIS!$E$2:$E$32</c:f>
              <c:numCache>
                <c:formatCode>0_);[Red]\(0\)</c:formatCode>
                <c:ptCount val="31"/>
                <c:pt idx="0">
                  <c:v>2023</c:v>
                </c:pt>
                <c:pt idx="1">
                  <c:v>2024</c:v>
                </c:pt>
                <c:pt idx="2">
                  <c:v>2025</c:v>
                </c:pt>
                <c:pt idx="3">
                  <c:v>2026</c:v>
                </c:pt>
                <c:pt idx="4">
                  <c:v>2027</c:v>
                </c:pt>
                <c:pt idx="5">
                  <c:v>2028</c:v>
                </c:pt>
                <c:pt idx="6">
                  <c:v>2029</c:v>
                </c:pt>
                <c:pt idx="7">
                  <c:v>2030</c:v>
                </c:pt>
                <c:pt idx="8">
                  <c:v>2031</c:v>
                </c:pt>
                <c:pt idx="9">
                  <c:v>2032</c:v>
                </c:pt>
                <c:pt idx="10">
                  <c:v>2033</c:v>
                </c:pt>
                <c:pt idx="11">
                  <c:v>2034</c:v>
                </c:pt>
                <c:pt idx="12">
                  <c:v>2035</c:v>
                </c:pt>
                <c:pt idx="13">
                  <c:v>2036</c:v>
                </c:pt>
                <c:pt idx="14">
                  <c:v>2037</c:v>
                </c:pt>
                <c:pt idx="15">
                  <c:v>2038</c:v>
                </c:pt>
                <c:pt idx="16">
                  <c:v>2039</c:v>
                </c:pt>
                <c:pt idx="17">
                  <c:v>2040</c:v>
                </c:pt>
                <c:pt idx="18">
                  <c:v>2041</c:v>
                </c:pt>
                <c:pt idx="19">
                  <c:v>2042</c:v>
                </c:pt>
                <c:pt idx="20">
                  <c:v>2043</c:v>
                </c:pt>
                <c:pt idx="21">
                  <c:v>2044</c:v>
                </c:pt>
                <c:pt idx="22">
                  <c:v>2045</c:v>
                </c:pt>
                <c:pt idx="23">
                  <c:v>2046</c:v>
                </c:pt>
                <c:pt idx="24">
                  <c:v>2047</c:v>
                </c:pt>
                <c:pt idx="25">
                  <c:v>2048</c:v>
                </c:pt>
                <c:pt idx="26">
                  <c:v>2049</c:v>
                </c:pt>
                <c:pt idx="27">
                  <c:v>2050</c:v>
                </c:pt>
                <c:pt idx="28">
                  <c:v>2051</c:v>
                </c:pt>
                <c:pt idx="29">
                  <c:v>2052</c:v>
                </c:pt>
                <c:pt idx="30">
                  <c:v>2053</c:v>
                </c:pt>
              </c:numCache>
            </c:numRef>
          </c:cat>
          <c:val>
            <c:numRef>
              <c:f>DDIS!$C$2:$C$32</c:f>
              <c:numCache>
                <c:formatCode>0_);[Red]\(0\)</c:formatCode>
                <c:ptCount val="31"/>
                <c:pt idx="0">
                  <c:v>500</c:v>
                </c:pt>
                <c:pt idx="1">
                  <c:v>3928</c:v>
                </c:pt>
                <c:pt idx="2">
                  <c:v>2918</c:v>
                </c:pt>
                <c:pt idx="3">
                  <c:v>2400</c:v>
                </c:pt>
                <c:pt idx="4">
                  <c:v>3141</c:v>
                </c:pt>
                <c:pt idx="5">
                  <c:v>4816</c:v>
                </c:pt>
                <c:pt idx="6">
                  <c:v>1724</c:v>
                </c:pt>
                <c:pt idx="7">
                  <c:v>3219</c:v>
                </c:pt>
                <c:pt idx="8">
                  <c:v>888</c:v>
                </c:pt>
                <c:pt idx="9">
                  <c:v>2760</c:v>
                </c:pt>
                <c:pt idx="10">
                  <c:v>3882</c:v>
                </c:pt>
                <c:pt idx="11">
                  <c:v>4098</c:v>
                </c:pt>
                <c:pt idx="12">
                  <c:v>1992</c:v>
                </c:pt>
                <c:pt idx="13">
                  <c:v>1450</c:v>
                </c:pt>
                <c:pt idx="14">
                  <c:v>1352</c:v>
                </c:pt>
                <c:pt idx="15">
                  <c:v>1107</c:v>
                </c:pt>
                <c:pt idx="16">
                  <c:v>1636</c:v>
                </c:pt>
                <c:pt idx="17">
                  <c:v>2294</c:v>
                </c:pt>
                <c:pt idx="18">
                  <c:v>1748</c:v>
                </c:pt>
                <c:pt idx="19">
                  <c:v>0</c:v>
                </c:pt>
                <c:pt idx="20">
                  <c:v>1007</c:v>
                </c:pt>
                <c:pt idx="21">
                  <c:v>935</c:v>
                </c:pt>
                <c:pt idx="22">
                  <c:v>2477</c:v>
                </c:pt>
                <c:pt idx="23">
                  <c:v>459</c:v>
                </c:pt>
                <c:pt idx="24">
                  <c:v>0</c:v>
                </c:pt>
                <c:pt idx="25">
                  <c:v>1215</c:v>
                </c:pt>
                <c:pt idx="26">
                  <c:v>1950</c:v>
                </c:pt>
                <c:pt idx="27">
                  <c:v>1148</c:v>
                </c:pt>
                <c:pt idx="28">
                  <c:v>0</c:v>
                </c:pt>
                <c:pt idx="29">
                  <c:v>0</c:v>
                </c:pt>
                <c:pt idx="30">
                  <c:v>1770</c:v>
                </c:pt>
              </c:numCache>
            </c:numRef>
          </c:val>
          <c:extLst xmlns:c16r2="http://schemas.microsoft.com/office/drawing/2015/06/chart">
            <c:ext xmlns:c16="http://schemas.microsoft.com/office/drawing/2014/chart" uri="{C3380CC4-5D6E-409C-BE32-E72D297353CC}">
              <c16:uniqueId val="{00000000-2817-4604-8B01-EF89C7CC47B6}"/>
            </c:ext>
          </c:extLst>
        </c:ser>
        <c:ser>
          <c:idx val="2"/>
          <c:order val="1"/>
          <c:tx>
            <c:strRef>
              <c:f>DDIS!$G$1</c:f>
              <c:strCache>
                <c:ptCount val="1"/>
                <c:pt idx="0">
                  <c:v>定期與循環貸款</c:v>
                </c:pt>
              </c:strCache>
            </c:strRef>
          </c:tx>
          <c:spPr>
            <a:solidFill>
              <a:srgbClr val="E85113"/>
            </a:solidFill>
          </c:spPr>
          <c:invertIfNegative val="0"/>
          <c:dLbls>
            <c:delete val="1"/>
          </c:dLbls>
          <c:cat>
            <c:numRef>
              <c:f>DDIS!$E$2:$E$32</c:f>
              <c:numCache>
                <c:formatCode>0_);[Red]\(0\)</c:formatCode>
                <c:ptCount val="31"/>
                <c:pt idx="0">
                  <c:v>2023</c:v>
                </c:pt>
                <c:pt idx="1">
                  <c:v>2024</c:v>
                </c:pt>
                <c:pt idx="2">
                  <c:v>2025</c:v>
                </c:pt>
                <c:pt idx="3">
                  <c:v>2026</c:v>
                </c:pt>
                <c:pt idx="4">
                  <c:v>2027</c:v>
                </c:pt>
                <c:pt idx="5">
                  <c:v>2028</c:v>
                </c:pt>
                <c:pt idx="6">
                  <c:v>2029</c:v>
                </c:pt>
                <c:pt idx="7">
                  <c:v>2030</c:v>
                </c:pt>
                <c:pt idx="8">
                  <c:v>2031</c:v>
                </c:pt>
                <c:pt idx="9">
                  <c:v>2032</c:v>
                </c:pt>
                <c:pt idx="10">
                  <c:v>2033</c:v>
                </c:pt>
                <c:pt idx="11">
                  <c:v>2034</c:v>
                </c:pt>
                <c:pt idx="12">
                  <c:v>2035</c:v>
                </c:pt>
                <c:pt idx="13">
                  <c:v>2036</c:v>
                </c:pt>
                <c:pt idx="14">
                  <c:v>2037</c:v>
                </c:pt>
                <c:pt idx="15">
                  <c:v>2038</c:v>
                </c:pt>
                <c:pt idx="16">
                  <c:v>2039</c:v>
                </c:pt>
                <c:pt idx="17">
                  <c:v>2040</c:v>
                </c:pt>
                <c:pt idx="18">
                  <c:v>2041</c:v>
                </c:pt>
                <c:pt idx="19">
                  <c:v>2042</c:v>
                </c:pt>
                <c:pt idx="20">
                  <c:v>2043</c:v>
                </c:pt>
                <c:pt idx="21">
                  <c:v>2044</c:v>
                </c:pt>
                <c:pt idx="22">
                  <c:v>2045</c:v>
                </c:pt>
                <c:pt idx="23">
                  <c:v>2046</c:v>
                </c:pt>
                <c:pt idx="24">
                  <c:v>2047</c:v>
                </c:pt>
                <c:pt idx="25">
                  <c:v>2048</c:v>
                </c:pt>
                <c:pt idx="26">
                  <c:v>2049</c:v>
                </c:pt>
                <c:pt idx="27">
                  <c:v>2050</c:v>
                </c:pt>
                <c:pt idx="28">
                  <c:v>2051</c:v>
                </c:pt>
                <c:pt idx="29">
                  <c:v>2052</c:v>
                </c:pt>
                <c:pt idx="30">
                  <c:v>2053</c:v>
                </c:pt>
              </c:numCache>
            </c:numRef>
          </c:cat>
          <c:val>
            <c:numRef>
              <c:f>DDIS!$G$2:$G$32</c:f>
              <c:numCache>
                <c:formatCode>0_);[Red]\(0\)</c:formatCode>
                <c:ptCount val="31"/>
                <c:pt idx="0">
                  <c:v>0</c:v>
                </c:pt>
                <c:pt idx="1">
                  <c:v>1159</c:v>
                </c:pt>
                <c:pt idx="2">
                  <c:v>311</c:v>
                </c:pt>
                <c:pt idx="3">
                  <c:v>0</c:v>
                </c:pt>
                <c:pt idx="4">
                  <c:v>1469</c:v>
                </c:pt>
                <c:pt idx="5">
                  <c:v>0</c:v>
                </c:pt>
                <c:pt idx="6">
                  <c:v>43</c:v>
                </c:pt>
                <c:pt idx="7">
                  <c:v>21</c:v>
                </c:pt>
                <c:pt idx="8">
                  <c:v>500</c:v>
                </c:pt>
                <c:pt idx="9">
                  <c:v>207</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numCache>
            </c:numRef>
          </c:val>
          <c:extLst xmlns:c16r2="http://schemas.microsoft.com/office/drawing/2015/06/chart">
            <c:ext xmlns:c16="http://schemas.microsoft.com/office/drawing/2014/chart" uri="{C3380CC4-5D6E-409C-BE32-E72D297353CC}">
              <c16:uniqueId val="{00000001-2817-4604-8B01-EF89C7CC47B6}"/>
            </c:ext>
          </c:extLst>
        </c:ser>
        <c:ser>
          <c:idx val="0"/>
          <c:order val="2"/>
          <c:tx>
            <c:strRef>
              <c:f>DDIS!$H$1</c:f>
              <c:strCache>
                <c:ptCount val="1"/>
                <c:pt idx="0">
                  <c:v>利息</c:v>
                </c:pt>
              </c:strCache>
            </c:strRef>
          </c:tx>
          <c:spPr>
            <a:solidFill>
              <a:srgbClr val="AFCDFF"/>
            </a:solidFill>
          </c:spPr>
          <c:invertIfNegative val="0"/>
          <c:dLbls>
            <c:delete val="1"/>
          </c:dLbls>
          <c:cat>
            <c:numRef>
              <c:f>DDIS!$E$2:$E$32</c:f>
              <c:numCache>
                <c:formatCode>0_);[Red]\(0\)</c:formatCode>
                <c:ptCount val="31"/>
                <c:pt idx="0">
                  <c:v>2023</c:v>
                </c:pt>
                <c:pt idx="1">
                  <c:v>2024</c:v>
                </c:pt>
                <c:pt idx="2">
                  <c:v>2025</c:v>
                </c:pt>
                <c:pt idx="3">
                  <c:v>2026</c:v>
                </c:pt>
                <c:pt idx="4">
                  <c:v>2027</c:v>
                </c:pt>
                <c:pt idx="5">
                  <c:v>2028</c:v>
                </c:pt>
                <c:pt idx="6">
                  <c:v>2029</c:v>
                </c:pt>
                <c:pt idx="7">
                  <c:v>2030</c:v>
                </c:pt>
                <c:pt idx="8">
                  <c:v>2031</c:v>
                </c:pt>
                <c:pt idx="9">
                  <c:v>2032</c:v>
                </c:pt>
                <c:pt idx="10">
                  <c:v>2033</c:v>
                </c:pt>
                <c:pt idx="11">
                  <c:v>2034</c:v>
                </c:pt>
                <c:pt idx="12">
                  <c:v>2035</c:v>
                </c:pt>
                <c:pt idx="13">
                  <c:v>2036</c:v>
                </c:pt>
                <c:pt idx="14">
                  <c:v>2037</c:v>
                </c:pt>
                <c:pt idx="15">
                  <c:v>2038</c:v>
                </c:pt>
                <c:pt idx="16">
                  <c:v>2039</c:v>
                </c:pt>
                <c:pt idx="17">
                  <c:v>2040</c:v>
                </c:pt>
                <c:pt idx="18">
                  <c:v>2041</c:v>
                </c:pt>
                <c:pt idx="19">
                  <c:v>2042</c:v>
                </c:pt>
                <c:pt idx="20">
                  <c:v>2043</c:v>
                </c:pt>
                <c:pt idx="21">
                  <c:v>2044</c:v>
                </c:pt>
                <c:pt idx="22">
                  <c:v>2045</c:v>
                </c:pt>
                <c:pt idx="23">
                  <c:v>2046</c:v>
                </c:pt>
                <c:pt idx="24">
                  <c:v>2047</c:v>
                </c:pt>
                <c:pt idx="25">
                  <c:v>2048</c:v>
                </c:pt>
                <c:pt idx="26">
                  <c:v>2049</c:v>
                </c:pt>
                <c:pt idx="27">
                  <c:v>2050</c:v>
                </c:pt>
                <c:pt idx="28">
                  <c:v>2051</c:v>
                </c:pt>
                <c:pt idx="29">
                  <c:v>2052</c:v>
                </c:pt>
                <c:pt idx="30">
                  <c:v>2053</c:v>
                </c:pt>
              </c:numCache>
            </c:numRef>
          </c:cat>
          <c:val>
            <c:numRef>
              <c:f>DDIS!$H$2:$H$32</c:f>
              <c:numCache>
                <c:formatCode>General</c:formatCode>
                <c:ptCount val="31"/>
                <c:pt idx="0">
                  <c:v>1177</c:v>
                </c:pt>
                <c:pt idx="1">
                  <c:v>3103</c:v>
                </c:pt>
                <c:pt idx="2">
                  <c:v>3003</c:v>
                </c:pt>
                <c:pt idx="3" formatCode="0_);[Red]\(0\)">
                  <c:v>2953</c:v>
                </c:pt>
                <c:pt idx="4" formatCode="0_);[Red]\(0\)">
                  <c:v>2956</c:v>
                </c:pt>
                <c:pt idx="5" formatCode="0_);[Red]\(0\)">
                  <c:v>2899</c:v>
                </c:pt>
                <c:pt idx="6" formatCode="0_);[Red]\(0\)">
                  <c:v>2793</c:v>
                </c:pt>
                <c:pt idx="7" formatCode="0_);[Red]\(0\)">
                  <c:v>2734</c:v>
                </c:pt>
                <c:pt idx="8" formatCode="0_);[Red]\(0\)">
                  <c:v>2679</c:v>
                </c:pt>
                <c:pt idx="9" formatCode="0_);[Red]\(0\)">
                  <c:v>2630</c:v>
                </c:pt>
                <c:pt idx="10" formatCode="0_);[Red]\(0\)">
                  <c:v>2534</c:v>
                </c:pt>
                <c:pt idx="11" formatCode="0_);[Red]\(0\)">
                  <c:v>2436</c:v>
                </c:pt>
                <c:pt idx="12" formatCode="0_);[Red]\(0\)">
                  <c:v>2256</c:v>
                </c:pt>
                <c:pt idx="13" formatCode="0_);[Red]\(0\)">
                  <c:v>2168</c:v>
                </c:pt>
                <c:pt idx="14" formatCode="0_);[Red]\(0\)">
                  <c:v>2140</c:v>
                </c:pt>
                <c:pt idx="15" formatCode="0_);[Red]\(0\)">
                  <c:v>2093</c:v>
                </c:pt>
                <c:pt idx="16" formatCode="0_);[Red]\(0\)">
                  <c:v>1996</c:v>
                </c:pt>
                <c:pt idx="17" formatCode="0_);[Red]\(0\)">
                  <c:v>1917</c:v>
                </c:pt>
                <c:pt idx="18" formatCode="0_);[Red]\(0\)">
                  <c:v>1853</c:v>
                </c:pt>
                <c:pt idx="19" formatCode="0_);[Red]\(0\)">
                  <c:v>1757</c:v>
                </c:pt>
                <c:pt idx="20" formatCode="0_);[Red]\(0\)">
                  <c:v>1756</c:v>
                </c:pt>
                <c:pt idx="21" formatCode="0_);[Red]\(0\)">
                  <c:v>1687</c:v>
                </c:pt>
                <c:pt idx="22" formatCode="0_);[Red]\(0\)">
                  <c:v>1665</c:v>
                </c:pt>
                <c:pt idx="23" formatCode="0_);[Red]\(0\)">
                  <c:v>1545</c:v>
                </c:pt>
                <c:pt idx="24" formatCode="0_);[Red]\(0\)">
                  <c:v>1523</c:v>
                </c:pt>
                <c:pt idx="25" formatCode="0_);[Red]\(0\)">
                  <c:v>1523</c:v>
                </c:pt>
                <c:pt idx="26" formatCode="0_);[Red]\(0\)">
                  <c:v>1463</c:v>
                </c:pt>
                <c:pt idx="27" formatCode="0_);[Red]\(0\)">
                  <c:v>1430</c:v>
                </c:pt>
                <c:pt idx="28" formatCode="0_);[Red]\(0\)">
                  <c:v>1371</c:v>
                </c:pt>
                <c:pt idx="29" formatCode="0_);[Red]\(0\)">
                  <c:v>1371</c:v>
                </c:pt>
                <c:pt idx="30" formatCode="0_);[Red]\(0\)">
                  <c:v>1334</c:v>
                </c:pt>
              </c:numCache>
            </c:numRef>
          </c:val>
          <c:extLst xmlns:c16r2="http://schemas.microsoft.com/office/drawing/2015/06/chart">
            <c:ext xmlns:c16="http://schemas.microsoft.com/office/drawing/2014/chart" uri="{C3380CC4-5D6E-409C-BE32-E72D297353CC}">
              <c16:uniqueId val="{00000002-2817-4604-8B01-EF89C7CC47B6}"/>
            </c:ext>
          </c:extLst>
        </c:ser>
        <c:dLbls>
          <c:showLegendKey val="0"/>
          <c:showVal val="1"/>
          <c:showCatName val="0"/>
          <c:showSerName val="0"/>
          <c:showPercent val="0"/>
          <c:showBubbleSize val="0"/>
        </c:dLbls>
        <c:gapWidth val="95"/>
        <c:overlap val="100"/>
        <c:axId val="208571008"/>
        <c:axId val="208572800"/>
      </c:barChart>
      <c:catAx>
        <c:axId val="208571008"/>
        <c:scaling>
          <c:orientation val="minMax"/>
        </c:scaling>
        <c:delete val="0"/>
        <c:axPos val="b"/>
        <c:numFmt formatCode="0_);[Red]\(0\)" sourceLinked="1"/>
        <c:majorTickMark val="none"/>
        <c:minorTickMark val="none"/>
        <c:tickLblPos val="nextTo"/>
        <c:txPr>
          <a:bodyPr/>
          <a:lstStyle/>
          <a:p>
            <a:pPr>
              <a:defRPr sz="900"/>
            </a:pPr>
            <a:endParaRPr lang="zh-TW"/>
          </a:p>
        </c:txPr>
        <c:crossAx val="208572800"/>
        <c:crosses val="autoZero"/>
        <c:auto val="1"/>
        <c:lblAlgn val="ctr"/>
        <c:lblOffset val="100"/>
        <c:noMultiLvlLbl val="1"/>
      </c:catAx>
      <c:valAx>
        <c:axId val="208572800"/>
        <c:scaling>
          <c:orientation val="minMax"/>
        </c:scaling>
        <c:delete val="0"/>
        <c:axPos val="l"/>
        <c:numFmt formatCode="#,##0_);[Red]\(#,##0\)" sourceLinked="0"/>
        <c:majorTickMark val="out"/>
        <c:minorTickMark val="none"/>
        <c:tickLblPos val="nextTo"/>
        <c:txPr>
          <a:bodyPr/>
          <a:lstStyle/>
          <a:p>
            <a:pPr>
              <a:defRPr sz="900"/>
            </a:pPr>
            <a:endParaRPr lang="zh-TW"/>
          </a:p>
        </c:txPr>
        <c:crossAx val="208571008"/>
        <c:crosses val="autoZero"/>
        <c:crossBetween val="between"/>
      </c:valAx>
      <c:spPr>
        <a:noFill/>
        <a:ln>
          <a:noFill/>
        </a:ln>
      </c:spPr>
    </c:plotArea>
    <c:legend>
      <c:legendPos val="t"/>
      <c:layout>
        <c:manualLayout>
          <c:xMode val="edge"/>
          <c:yMode val="edge"/>
          <c:x val="0.15966733337900946"/>
          <c:y val="3.9100672223682936E-2"/>
          <c:w val="0.32875787548994895"/>
          <c:h val="0.25920631344614342"/>
        </c:manualLayout>
      </c:layout>
      <c:overlay val="0"/>
      <c:txPr>
        <a:bodyPr/>
        <a:lstStyle/>
        <a:p>
          <a:pPr>
            <a:defRPr sz="1000"/>
          </a:pPr>
          <a:endParaRPr lang="zh-TW"/>
        </a:p>
      </c:txPr>
    </c:legend>
    <c:plotVisOnly val="1"/>
    <c:dispBlanksAs val="gap"/>
    <c:showDLblsOverMax val="0"/>
  </c:chart>
  <c:spPr>
    <a:noFill/>
    <a:ln>
      <a:noFill/>
    </a:ln>
  </c:spPr>
  <c:txPr>
    <a:bodyPr/>
    <a:lstStyle/>
    <a:p>
      <a:pPr>
        <a:defRPr sz="1100">
          <a:latin typeface="微軟正黑體" panose="020B0604030504040204" pitchFamily="34" charset="-120"/>
          <a:ea typeface="微軟正黑體" panose="020B0604030504040204" pitchFamily="34" charset="-120"/>
        </a:defRPr>
      </a:pPr>
      <a:endParaRPr lang="zh-TW"/>
    </a:p>
  </c:txPr>
  <c:externalData r:id="rId2">
    <c:autoUpdate val="0"/>
  </c:externalData>
</c:chartSpace>
</file>

<file path=ppt/drawings/drawing1.xml><?xml version="1.0" encoding="utf-8"?>
<c:userShapes xmlns:c="http://schemas.openxmlformats.org/drawingml/2006/chart">
  <cdr:relSizeAnchor xmlns:cdr="http://schemas.openxmlformats.org/drawingml/2006/chartDrawing">
    <cdr:from>
      <cdr:x>0.09227</cdr:x>
      <cdr:y>0.29908</cdr:y>
    </cdr:from>
    <cdr:to>
      <cdr:x>0.55834</cdr:x>
      <cdr:y>0.67479</cdr:y>
    </cdr:to>
    <cdr:sp macro="" textlink="">
      <cdr:nvSpPr>
        <cdr:cNvPr id="2" name="文字方塊 16"/>
        <cdr:cNvSpPr txBox="1"/>
      </cdr:nvSpPr>
      <cdr:spPr>
        <a:xfrm xmlns:a="http://schemas.openxmlformats.org/drawingml/2006/main">
          <a:off x="175144" y="404258"/>
          <a:ext cx="884702" cy="507831"/>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a:r>
            <a:rPr lang="en-US" altLang="zh-TW" sz="900" b="1" dirty="0" smtClean="0"/>
            <a:t>FY25</a:t>
          </a:r>
          <a:endParaRPr lang="en-US" altLang="zh-TW" sz="900" b="1" dirty="0"/>
        </a:p>
        <a:p xmlns:a="http://schemas.openxmlformats.org/drawingml/2006/main">
          <a:pPr algn="ctr"/>
          <a:r>
            <a:rPr lang="zh-TW" altLang="en-US" sz="900" b="1" dirty="0"/>
            <a:t>營收</a:t>
          </a:r>
          <a:endParaRPr lang="en-US" altLang="zh-TW" sz="900" b="1" dirty="0"/>
        </a:p>
        <a:p xmlns:a="http://schemas.openxmlformats.org/drawingml/2006/main">
          <a:pPr algn="ctr"/>
          <a:r>
            <a:rPr lang="en-US" altLang="zh-TW" sz="900" b="1" dirty="0" smtClean="0"/>
            <a:t>1,133</a:t>
          </a:r>
          <a:r>
            <a:rPr lang="zh-TW" altLang="en-US" sz="900" b="1" dirty="0" smtClean="0"/>
            <a:t>億</a:t>
          </a:r>
          <a:r>
            <a:rPr lang="zh-TW" altLang="en-US" sz="900" b="1" dirty="0"/>
            <a:t>歐元</a:t>
          </a:r>
          <a:endParaRPr lang="en-US" altLang="zh-TW" sz="900" b="1"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2"/>
            <a:ext cx="2950052" cy="497126"/>
          </a:xfrm>
          <a:prstGeom prst="rect">
            <a:avLst/>
          </a:prstGeom>
        </p:spPr>
        <p:txBody>
          <a:bodyPr vert="horz" lIns="91468" tIns="45733" rIns="91468" bIns="45733" rtlCol="0"/>
          <a:lstStyle>
            <a:lvl1pPr algn="l">
              <a:defRPr sz="1200"/>
            </a:lvl1pPr>
          </a:lstStyle>
          <a:p>
            <a:endParaRPr lang="zh-TW" altLang="en-US"/>
          </a:p>
        </p:txBody>
      </p:sp>
      <p:sp>
        <p:nvSpPr>
          <p:cNvPr id="3" name="日期版面配置區 2"/>
          <p:cNvSpPr>
            <a:spLocks noGrp="1"/>
          </p:cNvSpPr>
          <p:nvPr>
            <p:ph type="dt" sz="quarter" idx="1"/>
          </p:nvPr>
        </p:nvSpPr>
        <p:spPr>
          <a:xfrm>
            <a:off x="3855563" y="2"/>
            <a:ext cx="2950051" cy="497126"/>
          </a:xfrm>
          <a:prstGeom prst="rect">
            <a:avLst/>
          </a:prstGeom>
        </p:spPr>
        <p:txBody>
          <a:bodyPr vert="horz" lIns="91468" tIns="45733" rIns="91468" bIns="45733" rtlCol="0"/>
          <a:lstStyle>
            <a:lvl1pPr algn="r">
              <a:defRPr sz="1200"/>
            </a:lvl1pPr>
          </a:lstStyle>
          <a:p>
            <a:fld id="{DB0088FA-AB4C-4EE3-831C-E6A5D9B6A47F}" type="datetimeFigureOut">
              <a:rPr lang="zh-TW" altLang="en-US" smtClean="0"/>
              <a:t>2026/4/19</a:t>
            </a:fld>
            <a:endParaRPr lang="zh-TW" altLang="en-US"/>
          </a:p>
        </p:txBody>
      </p:sp>
      <p:sp>
        <p:nvSpPr>
          <p:cNvPr id="4" name="頁尾版面配置區 3"/>
          <p:cNvSpPr>
            <a:spLocks noGrp="1"/>
          </p:cNvSpPr>
          <p:nvPr>
            <p:ph type="ftr" sz="quarter" idx="2"/>
          </p:nvPr>
        </p:nvSpPr>
        <p:spPr>
          <a:xfrm>
            <a:off x="0" y="9440624"/>
            <a:ext cx="2950052" cy="497126"/>
          </a:xfrm>
          <a:prstGeom prst="rect">
            <a:avLst/>
          </a:prstGeom>
        </p:spPr>
        <p:txBody>
          <a:bodyPr vert="horz" lIns="91468" tIns="45733" rIns="91468" bIns="45733"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55563" y="9440624"/>
            <a:ext cx="2950051" cy="497126"/>
          </a:xfrm>
          <a:prstGeom prst="rect">
            <a:avLst/>
          </a:prstGeom>
        </p:spPr>
        <p:txBody>
          <a:bodyPr vert="horz" lIns="91468" tIns="45733" rIns="91468" bIns="45733" rtlCol="0" anchor="b"/>
          <a:lstStyle>
            <a:lvl1pPr algn="r">
              <a:defRPr sz="1200"/>
            </a:lvl1pPr>
          </a:lstStyle>
          <a:p>
            <a:fld id="{E6DE1C6A-2ED3-47EA-84F1-8271108DD2DB}" type="slidenum">
              <a:rPr lang="zh-TW" altLang="en-US" smtClean="0"/>
              <a:t>‹#›</a:t>
            </a:fld>
            <a:endParaRPr lang="zh-TW" altLang="en-US"/>
          </a:p>
        </p:txBody>
      </p:sp>
    </p:spTree>
    <p:extLst>
      <p:ext uri="{BB962C8B-B14F-4D97-AF65-F5344CB8AC3E}">
        <p14:creationId xmlns:p14="http://schemas.microsoft.com/office/powerpoint/2010/main" val="2103890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9" y="2"/>
            <a:ext cx="2949786" cy="496967"/>
          </a:xfrm>
          <a:prstGeom prst="rect">
            <a:avLst/>
          </a:prstGeom>
        </p:spPr>
        <p:txBody>
          <a:bodyPr vert="horz" lIns="91160" tIns="45572" rIns="91160" bIns="45572" rtlCol="0"/>
          <a:lstStyle>
            <a:lvl1pPr algn="l">
              <a:defRPr sz="1200"/>
            </a:lvl1pPr>
          </a:lstStyle>
          <a:p>
            <a:endParaRPr lang="zh-TW" altLang="en-US"/>
          </a:p>
        </p:txBody>
      </p:sp>
      <p:sp>
        <p:nvSpPr>
          <p:cNvPr id="3" name="日期版面配置區 2"/>
          <p:cNvSpPr>
            <a:spLocks noGrp="1"/>
          </p:cNvSpPr>
          <p:nvPr>
            <p:ph type="dt" idx="1"/>
          </p:nvPr>
        </p:nvSpPr>
        <p:spPr>
          <a:xfrm>
            <a:off x="3855839" y="2"/>
            <a:ext cx="2949786" cy="496967"/>
          </a:xfrm>
          <a:prstGeom prst="rect">
            <a:avLst/>
          </a:prstGeom>
        </p:spPr>
        <p:txBody>
          <a:bodyPr vert="horz" lIns="91160" tIns="45572" rIns="91160" bIns="45572" rtlCol="0"/>
          <a:lstStyle>
            <a:lvl1pPr algn="r">
              <a:defRPr sz="1200"/>
            </a:lvl1pPr>
          </a:lstStyle>
          <a:p>
            <a:fld id="{35708A9D-C909-4D66-A4DC-8E952B844F82}" type="datetimeFigureOut">
              <a:rPr lang="zh-TW" altLang="en-US" smtClean="0"/>
              <a:t>2026/4/19</a:t>
            </a:fld>
            <a:endParaRPr lang="zh-TW" altLang="en-US"/>
          </a:p>
        </p:txBody>
      </p:sp>
      <p:sp>
        <p:nvSpPr>
          <p:cNvPr id="4" name="投影片圖像版面配置區 3"/>
          <p:cNvSpPr>
            <a:spLocks noGrp="1" noRot="1" noChangeAspect="1"/>
          </p:cNvSpPr>
          <p:nvPr>
            <p:ph type="sldImg" idx="2"/>
          </p:nvPr>
        </p:nvSpPr>
        <p:spPr>
          <a:xfrm>
            <a:off x="919163" y="746125"/>
            <a:ext cx="4968875" cy="3725863"/>
          </a:xfrm>
          <a:prstGeom prst="rect">
            <a:avLst/>
          </a:prstGeom>
          <a:noFill/>
          <a:ln w="12700">
            <a:solidFill>
              <a:prstClr val="black"/>
            </a:solidFill>
          </a:ln>
        </p:spPr>
        <p:txBody>
          <a:bodyPr vert="horz" lIns="91160" tIns="45572" rIns="91160" bIns="45572" rtlCol="0" anchor="ctr"/>
          <a:lstStyle/>
          <a:p>
            <a:endParaRPr lang="zh-TW" altLang="en-US"/>
          </a:p>
        </p:txBody>
      </p:sp>
      <p:sp>
        <p:nvSpPr>
          <p:cNvPr id="5" name="備忘稿版面配置區 4"/>
          <p:cNvSpPr>
            <a:spLocks noGrp="1"/>
          </p:cNvSpPr>
          <p:nvPr>
            <p:ph type="body" sz="quarter" idx="3"/>
          </p:nvPr>
        </p:nvSpPr>
        <p:spPr>
          <a:xfrm>
            <a:off x="680721" y="4721186"/>
            <a:ext cx="5445760" cy="4472702"/>
          </a:xfrm>
          <a:prstGeom prst="rect">
            <a:avLst/>
          </a:prstGeom>
        </p:spPr>
        <p:txBody>
          <a:bodyPr vert="horz" lIns="91160" tIns="45572" rIns="91160" bIns="45572"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29" y="9440676"/>
            <a:ext cx="2949786" cy="496967"/>
          </a:xfrm>
          <a:prstGeom prst="rect">
            <a:avLst/>
          </a:prstGeom>
        </p:spPr>
        <p:txBody>
          <a:bodyPr vert="horz" lIns="91160" tIns="45572" rIns="91160" bIns="45572"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5839" y="9440676"/>
            <a:ext cx="2949786" cy="496967"/>
          </a:xfrm>
          <a:prstGeom prst="rect">
            <a:avLst/>
          </a:prstGeom>
        </p:spPr>
        <p:txBody>
          <a:bodyPr vert="horz" lIns="91160" tIns="45572" rIns="91160" bIns="45572" rtlCol="0" anchor="b"/>
          <a:lstStyle>
            <a:lvl1pPr algn="r">
              <a:defRPr sz="1200"/>
            </a:lvl1pPr>
          </a:lstStyle>
          <a:p>
            <a:fld id="{677EE9C5-7ACF-43E8-ABC9-16737D2E075F}" type="slidenum">
              <a:rPr lang="zh-TW" altLang="en-US" smtClean="0"/>
              <a:t>‹#›</a:t>
            </a:fld>
            <a:endParaRPr lang="zh-TW" altLang="en-US"/>
          </a:p>
        </p:txBody>
      </p:sp>
    </p:spTree>
    <p:extLst>
      <p:ext uri="{BB962C8B-B14F-4D97-AF65-F5344CB8AC3E}">
        <p14:creationId xmlns:p14="http://schemas.microsoft.com/office/powerpoint/2010/main" val="2251939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919163" y="746125"/>
            <a:ext cx="4968875" cy="3725863"/>
          </a:xfrm>
        </p:spPr>
      </p:sp>
      <p:sp>
        <p:nvSpPr>
          <p:cNvPr id="3" name="備忘稿版面配置區 2"/>
          <p:cNvSpPr>
            <a:spLocks noGrp="1"/>
          </p:cNvSpPr>
          <p:nvPr>
            <p:ph type="body" idx="1"/>
          </p:nvPr>
        </p:nvSpPr>
        <p:spPr/>
        <p:txBody>
          <a:bodyPr/>
          <a:lstStyle/>
          <a:p>
            <a:pPr defTabSz="915496">
              <a:defRPr/>
            </a:pPr>
            <a:r>
              <a:rPr lang="zh-TW" altLang="en-US" dirty="0">
                <a:latin typeface="微軟正黑體" panose="020B0604030504040204" pitchFamily="34" charset="-120"/>
                <a:ea typeface="微軟正黑體" panose="020B0604030504040204" pitchFamily="34" charset="-120"/>
              </a:rPr>
              <a:t>法院批准重新收歸國有</a:t>
            </a:r>
            <a:endParaRPr lang="en-US" altLang="zh-TW" dirty="0">
              <a:latin typeface="微軟正黑體" panose="020B0604030504040204" pitchFamily="34" charset="-120"/>
              <a:ea typeface="微軟正黑體" panose="020B0604030504040204" pitchFamily="34" charset="-120"/>
            </a:endParaRPr>
          </a:p>
          <a:p>
            <a:pPr defTabSz="915496">
              <a:defRPr/>
            </a:pPr>
            <a:r>
              <a:rPr lang="en-US" altLang="zh-TW" dirty="0">
                <a:latin typeface="微軟正黑體" panose="020B0604030504040204" pitchFamily="34" charset="-120"/>
                <a:ea typeface="微軟正黑體" panose="020B0604030504040204" pitchFamily="34" charset="-120"/>
              </a:rPr>
              <a:t>https://finance.sina.com.cn/stock/usstock/c/2023-05-02/doc-imyskrrr7840607.shtml?finpagefr=p_108</a:t>
            </a:r>
          </a:p>
          <a:p>
            <a:pPr defTabSz="915496">
              <a:defRPr/>
            </a:pPr>
            <a:r>
              <a:rPr lang="en-US" altLang="zh-TW" dirty="0">
                <a:latin typeface="微軟正黑體" panose="020B0604030504040204" pitchFamily="34" charset="-120"/>
                <a:ea typeface="微軟正黑體" panose="020B0604030504040204" pitchFamily="34" charset="-120"/>
              </a:rPr>
              <a:t>https://www.moneydj.com/kmdj/news/newsviewer.aspx?a=9f34c4a0-baa2-44cc-8d57-19dab774f2f5</a:t>
            </a:r>
          </a:p>
          <a:p>
            <a:pPr defTabSz="915496">
              <a:defRPr/>
            </a:pPr>
            <a:endParaRPr lang="en-US" altLang="zh-TW" dirty="0">
              <a:latin typeface="微軟正黑體" panose="020B0604030504040204" pitchFamily="34" charset="-120"/>
              <a:ea typeface="微軟正黑體" panose="020B0604030504040204" pitchFamily="34" charset="-120"/>
            </a:endParaRPr>
          </a:p>
          <a:p>
            <a:pPr defTabSz="915496">
              <a:defRPr/>
            </a:pPr>
            <a:r>
              <a:rPr lang="en-US" altLang="zh-TW" dirty="0">
                <a:latin typeface="微軟正黑體" panose="020B0604030504040204" pitchFamily="34" charset="-120"/>
                <a:ea typeface="微軟正黑體" panose="020B0604030504040204" pitchFamily="34" charset="-120"/>
              </a:rPr>
              <a:t>https://fund.hncb.com.tw/w/wp/wp05A.djhtm?a=%7B1383E38F-54CC-4F94-89F7-77A453FEC3B4%7D&amp;c=5</a:t>
            </a:r>
          </a:p>
          <a:p>
            <a:pPr defTabSz="915496">
              <a:defRPr/>
            </a:pPr>
            <a:endParaRPr lang="en-US" altLang="zh-TW" dirty="0">
              <a:latin typeface="微軟正黑體" panose="020B0604030504040204" pitchFamily="34" charset="-120"/>
              <a:ea typeface="微軟正黑體" panose="020B0604030504040204" pitchFamily="34" charset="-120"/>
            </a:endParaRPr>
          </a:p>
          <a:p>
            <a:pPr defTabSz="915496">
              <a:defRPr/>
            </a:pPr>
            <a:endParaRPr lang="en-US" altLang="zh-TW"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677EE9C5-7ACF-43E8-ABC9-16737D2E075F}" type="slidenum">
              <a:rPr lang="zh-TW" altLang="en-US" smtClean="0"/>
              <a:t>2</a:t>
            </a:fld>
            <a:endParaRPr lang="zh-TW" altLang="en-US"/>
          </a:p>
        </p:txBody>
      </p:sp>
    </p:spTree>
    <p:extLst>
      <p:ext uri="{BB962C8B-B14F-4D97-AF65-F5344CB8AC3E}">
        <p14:creationId xmlns:p14="http://schemas.microsoft.com/office/powerpoint/2010/main" val="2800289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2023</a:t>
            </a:r>
            <a:r>
              <a:rPr lang="zh-TW" altLang="en-US" dirty="0"/>
              <a:t>年暢銷藥物</a:t>
            </a:r>
            <a:endParaRPr lang="en-US" altLang="zh-TW" dirty="0"/>
          </a:p>
          <a:p>
            <a:r>
              <a:rPr lang="en-US" altLang="zh-TW" dirty="0"/>
              <a:t>https://www.evaluate.com/vantage/articles/analysis/biggest-selling-drugs-2023</a:t>
            </a:r>
          </a:p>
          <a:p>
            <a:endParaRPr lang="en-US" altLang="zh-TW" dirty="0"/>
          </a:p>
          <a:p>
            <a:pPr algn="l"/>
            <a:endParaRPr lang="zh-TW" altLang="en-US" dirty="0"/>
          </a:p>
        </p:txBody>
      </p:sp>
      <p:sp>
        <p:nvSpPr>
          <p:cNvPr id="4" name="投影片編號版面配置區 3"/>
          <p:cNvSpPr>
            <a:spLocks noGrp="1"/>
          </p:cNvSpPr>
          <p:nvPr>
            <p:ph type="sldNum" sz="quarter" idx="10"/>
          </p:nvPr>
        </p:nvSpPr>
        <p:spPr/>
        <p:txBody>
          <a:bodyPr/>
          <a:lstStyle/>
          <a:p>
            <a:fld id="{677EE9C5-7ACF-43E8-ABC9-16737D2E075F}" type="slidenum">
              <a:rPr lang="zh-TW" altLang="en-US" smtClean="0"/>
              <a:t>3</a:t>
            </a:fld>
            <a:endParaRPr lang="zh-TW" altLang="en-US"/>
          </a:p>
        </p:txBody>
      </p:sp>
    </p:spTree>
    <p:extLst>
      <p:ext uri="{BB962C8B-B14F-4D97-AF65-F5344CB8AC3E}">
        <p14:creationId xmlns:p14="http://schemas.microsoft.com/office/powerpoint/2010/main" val="9150904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677EE9C5-7ACF-43E8-ABC9-16737D2E075F}" type="slidenum">
              <a:rPr lang="zh-TW" altLang="en-US" smtClean="0"/>
              <a:t>4</a:t>
            </a:fld>
            <a:endParaRPr lang="zh-TW" altLang="en-US"/>
          </a:p>
        </p:txBody>
      </p:sp>
    </p:spTree>
    <p:extLst>
      <p:ext uri="{BB962C8B-B14F-4D97-AF65-F5344CB8AC3E}">
        <p14:creationId xmlns:p14="http://schemas.microsoft.com/office/powerpoint/2010/main" val="21948764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just" defTabSz="685800" rtl="0" eaLnBrk="1" fontAlgn="auto" latinLnBrk="0" hangingPunct="1">
              <a:lnSpc>
                <a:spcPts val="1300"/>
              </a:lnSpc>
              <a:spcBef>
                <a:spcPts val="300"/>
              </a:spcBef>
              <a:spcAft>
                <a:spcPts val="300"/>
              </a:spcAft>
              <a:buClrTx/>
              <a:buSzTx/>
              <a:buFontTx/>
              <a:buNone/>
              <a:tabLst/>
              <a:defRPr/>
            </a:pPr>
            <a:r>
              <a:rPr lang="zh-TW" altLang="en-US" sz="1200" b="1" dirty="0">
                <a:solidFill>
                  <a:schemeClr val="tx1"/>
                </a:solidFill>
                <a:latin typeface="微軟正黑體" panose="020B0604030504040204" pitchFamily="34" charset="-120"/>
                <a:ea typeface="微軟正黑體" panose="020B0604030504040204" pitchFamily="34" charset="-120"/>
              </a:rPr>
              <a:t>惠譽觀點</a:t>
            </a:r>
            <a:endParaRPr lang="en-US" altLang="zh-TW" sz="1200" b="1" dirty="0">
              <a:solidFill>
                <a:schemeClr val="tx1"/>
              </a:solidFill>
              <a:latin typeface="微軟正黑體" panose="020B0604030504040204" pitchFamily="34" charset="-120"/>
              <a:ea typeface="微軟正黑體" panose="020B0604030504040204" pitchFamily="34" charset="-120"/>
            </a:endParaRPr>
          </a:p>
          <a:p>
            <a:pPr algn="just">
              <a:lnSpc>
                <a:spcPts val="1300"/>
              </a:lnSpc>
              <a:spcBef>
                <a:spcPts val="300"/>
              </a:spcBef>
              <a:spcAft>
                <a:spcPts val="300"/>
              </a:spcAft>
            </a:pP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惠譽於</a:t>
            </a:r>
            <a:r>
              <a:rPr lang="en-US" altLang="zh-TW" sz="1200" b="1" kern="1200" dirty="0">
                <a:solidFill>
                  <a:srgbClr val="FF0000"/>
                </a:solidFill>
                <a:latin typeface="微軟正黑體" panose="020B0604030504040204" pitchFamily="34" charset="-120"/>
                <a:ea typeface="微軟正黑體" panose="020B0604030504040204" pitchFamily="34" charset="-120"/>
                <a:cs typeface="+mn-cs"/>
              </a:rPr>
              <a:t>2023/4/3</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重申法國電力公司發行人評等為</a:t>
            </a:r>
            <a:r>
              <a:rPr lang="en-US" altLang="zh-TW" sz="1200" b="1" kern="1200" dirty="0">
                <a:solidFill>
                  <a:srgbClr val="FF0000"/>
                </a:solidFill>
                <a:latin typeface="微軟正黑體" panose="020B0604030504040204" pitchFamily="34" charset="-120"/>
                <a:ea typeface="微軟正黑體" panose="020B0604030504040204" pitchFamily="34" charset="-120"/>
                <a:cs typeface="+mn-cs"/>
              </a:rPr>
              <a:t>BBB+</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，展望穩定。</a:t>
            </a:r>
            <a:endParaRPr lang="en-US" altLang="zh-TW" sz="1200" b="1" kern="1200" dirty="0">
              <a:solidFill>
                <a:srgbClr val="FF0000"/>
              </a:solidFill>
              <a:latin typeface="微軟正黑體" panose="020B0604030504040204" pitchFamily="34" charset="-120"/>
              <a:ea typeface="微軟正黑體" panose="020B0604030504040204" pitchFamily="34" charset="-120"/>
              <a:cs typeface="+mn-cs"/>
            </a:endParaRPr>
          </a:p>
          <a:p>
            <a:pPr algn="just">
              <a:lnSpc>
                <a:spcPts val="1300"/>
              </a:lnSpc>
              <a:spcBef>
                <a:spcPts val="300"/>
              </a:spcBef>
              <a:spcAft>
                <a:spcPts val="300"/>
              </a:spcAft>
            </a:pPr>
            <a:r>
              <a:rPr lang="zh-TW" altLang="en-US" sz="1200" b="1" kern="1200" dirty="0">
                <a:solidFill>
                  <a:schemeClr val="tx1"/>
                </a:solidFill>
                <a:latin typeface="微軟正黑體" panose="020B0604030504040204" pitchFamily="34" charset="-120"/>
                <a:ea typeface="微軟正黑體" panose="020B0604030504040204" pitchFamily="34" charset="-120"/>
                <a:cs typeface="+mn-cs"/>
              </a:rPr>
              <a:t>重申評等不變，主要反映有利的定價環境</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，緩解了因新的腐蝕問題導致產量低於預期的風險。</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另該評等亦考量了該公司完全國有化，與主權國家的聯繫更緊密，使其評等由獨立信用狀況</a:t>
            </a:r>
            <a:r>
              <a:rPr lang="en-US" altLang="zh-TW" sz="1200" b="1" kern="1200" dirty="0">
                <a:solidFill>
                  <a:srgbClr val="FF0000"/>
                </a:solidFill>
                <a:latin typeface="微軟正黑體" panose="020B0604030504040204" pitchFamily="34" charset="-120"/>
                <a:ea typeface="微軟正黑體" panose="020B0604030504040204" pitchFamily="34" charset="-120"/>
                <a:cs typeface="+mn-cs"/>
              </a:rPr>
              <a:t>(SCP)</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a:t>
            </a:r>
            <a:r>
              <a:rPr lang="en-US" altLang="zh-TW" sz="1200" b="1" kern="1200" dirty="0" err="1">
                <a:solidFill>
                  <a:srgbClr val="FF0000"/>
                </a:solidFill>
                <a:latin typeface="微軟正黑體" panose="020B0604030504040204" pitchFamily="34" charset="-120"/>
                <a:ea typeface="微軟正黑體" panose="020B0604030504040204" pitchFamily="34" charset="-120"/>
                <a:cs typeface="+mn-cs"/>
              </a:rPr>
              <a:t>bbb</a:t>
            </a:r>
            <a:r>
              <a:rPr lang="en-US" altLang="zh-TW" sz="1200" b="1" kern="1200" dirty="0">
                <a:solidFill>
                  <a:srgbClr val="FF0000"/>
                </a:solidFill>
                <a:latin typeface="微軟正黑體" panose="020B0604030504040204" pitchFamily="34" charset="-120"/>
                <a:ea typeface="微軟正黑體" panose="020B0604030504040204" pitchFamily="34" charset="-120"/>
                <a:cs typeface="+mn-cs"/>
              </a:rPr>
              <a:t>-</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」提升</a:t>
            </a:r>
            <a:r>
              <a:rPr lang="en-US" altLang="zh-TW" sz="1200" b="1" kern="1200" dirty="0">
                <a:solidFill>
                  <a:srgbClr val="FF0000"/>
                </a:solidFill>
                <a:latin typeface="微軟正黑體" panose="020B0604030504040204" pitchFamily="34" charset="-120"/>
                <a:ea typeface="微軟正黑體" panose="020B0604030504040204" pitchFamily="34" charset="-120"/>
                <a:cs typeface="+mn-cs"/>
              </a:rPr>
              <a:t>2</a:t>
            </a:r>
            <a:r>
              <a:rPr lang="zh-TW" altLang="en-US" sz="1200" b="1" kern="1200" dirty="0">
                <a:solidFill>
                  <a:srgbClr val="FF0000"/>
                </a:solidFill>
                <a:latin typeface="微軟正黑體" panose="020B0604030504040204" pitchFamily="34" charset="-120"/>
                <a:ea typeface="微軟正黑體" panose="020B0604030504040204" pitchFamily="34" charset="-120"/>
                <a:cs typeface="+mn-cs"/>
              </a:rPr>
              <a:t>個評級</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a:t>
            </a:r>
            <a:endParaRPr lang="en-US" altLang="zh-TW" sz="1200" b="0" kern="1200" dirty="0">
              <a:solidFill>
                <a:schemeClr val="tx1"/>
              </a:solidFill>
              <a:latin typeface="微軟正黑體" panose="020B0604030504040204" pitchFamily="34" charset="-120"/>
              <a:ea typeface="微軟正黑體" panose="020B0604030504040204" pitchFamily="34" charset="-120"/>
              <a:cs typeface="+mn-cs"/>
            </a:endParaRPr>
          </a:p>
          <a:p>
            <a:pPr algn="just">
              <a:lnSpc>
                <a:spcPts val="1300"/>
              </a:lnSpc>
              <a:spcBef>
                <a:spcPts val="300"/>
              </a:spcBef>
              <a:spcAft>
                <a:spcPts val="300"/>
              </a:spcAft>
            </a:pP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此外，惠譽亦預期</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健康且社會</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可持續的電</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價</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將</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支持</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該公司</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的現金流生</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成，帶來有利的中期前景；預期</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惠譽定義的</a:t>
            </a:r>
            <a:r>
              <a:rPr lang="en-US" altLang="zh-CN" sz="1200" b="0" kern="1200" dirty="0">
                <a:solidFill>
                  <a:schemeClr val="tx1"/>
                </a:solidFill>
                <a:latin typeface="微軟正黑體" panose="020B0604030504040204" pitchFamily="34" charset="-120"/>
                <a:ea typeface="微軟正黑體" panose="020B0604030504040204" pitchFamily="34" charset="-120"/>
                <a:cs typeface="+mn-cs"/>
              </a:rPr>
              <a:t>EBITDA</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在</a:t>
            </a:r>
            <a:r>
              <a:rPr lang="en-US" altLang="zh-CN" sz="1200" b="0" kern="1200" dirty="0">
                <a:solidFill>
                  <a:schemeClr val="tx1"/>
                </a:solidFill>
                <a:latin typeface="微軟正黑體" panose="020B0604030504040204" pitchFamily="34" charset="-120"/>
                <a:ea typeface="微軟正黑體" panose="020B0604030504040204" pitchFamily="34" charset="-120"/>
                <a:cs typeface="+mn-cs"/>
              </a:rPr>
              <a:t>2024</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年約</a:t>
            </a:r>
            <a:r>
              <a:rPr lang="en-US" altLang="zh-CN" sz="1200" b="0" kern="1200" dirty="0">
                <a:solidFill>
                  <a:schemeClr val="tx1"/>
                </a:solidFill>
                <a:latin typeface="微軟正黑體" panose="020B0604030504040204" pitchFamily="34" charset="-120"/>
                <a:ea typeface="微軟正黑體" panose="020B0604030504040204" pitchFamily="34" charset="-120"/>
                <a:cs typeface="+mn-cs"/>
              </a:rPr>
              <a:t>240</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億歐元，</a:t>
            </a:r>
            <a:r>
              <a:rPr lang="en-US" altLang="zh-CN" sz="1200" b="0" kern="1200" dirty="0">
                <a:solidFill>
                  <a:schemeClr val="tx1"/>
                </a:solidFill>
                <a:latin typeface="微軟正黑體" panose="020B0604030504040204" pitchFamily="34" charset="-120"/>
                <a:ea typeface="微軟正黑體" panose="020B0604030504040204" pitchFamily="34" charset="-120"/>
                <a:cs typeface="+mn-cs"/>
              </a:rPr>
              <a:t>2025</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年約</a:t>
            </a:r>
            <a:r>
              <a:rPr lang="en-US" altLang="zh-CN" sz="1200" b="0" kern="1200" dirty="0">
                <a:solidFill>
                  <a:schemeClr val="tx1"/>
                </a:solidFill>
                <a:latin typeface="微軟正黑體" panose="020B0604030504040204" pitchFamily="34" charset="-120"/>
                <a:ea typeface="微軟正黑體" panose="020B0604030504040204" pitchFamily="34" charset="-120"/>
                <a:cs typeface="+mn-cs"/>
              </a:rPr>
              <a:t>270</a:t>
            </a:r>
            <a:r>
              <a:rPr lang="zh-CN" altLang="en-US" sz="1200" b="0" kern="1200" dirty="0">
                <a:solidFill>
                  <a:schemeClr val="tx1"/>
                </a:solidFill>
                <a:latin typeface="微軟正黑體" panose="020B0604030504040204" pitchFamily="34" charset="-120"/>
                <a:ea typeface="微軟正黑體" panose="020B0604030504040204" pitchFamily="34" charset="-120"/>
                <a:cs typeface="+mn-cs"/>
              </a:rPr>
              <a:t>億歐元</a:t>
            </a:r>
            <a:r>
              <a:rPr lang="zh-TW" altLang="en-US" sz="1200" b="0" kern="1200" dirty="0">
                <a:solidFill>
                  <a:schemeClr val="tx1"/>
                </a:solidFill>
                <a:latin typeface="微軟正黑體" panose="020B0604030504040204" pitchFamily="34" charset="-120"/>
                <a:ea typeface="微軟正黑體" panose="020B0604030504040204" pitchFamily="34" charset="-120"/>
                <a:cs typeface="+mn-cs"/>
              </a:rPr>
              <a:t>。</a:t>
            </a:r>
            <a:endParaRPr lang="zh-TW" altLang="en-US" sz="1200" b="1" dirty="0">
              <a:solidFill>
                <a:srgbClr val="FF0000"/>
              </a:solidFill>
              <a:latin typeface="微軟正黑體" panose="020B0604030504040204" pitchFamily="34" charset="-120"/>
              <a:ea typeface="微軟正黑體" panose="020B0604030504040204" pitchFamily="34" charset="-120"/>
            </a:endParaRPr>
          </a:p>
          <a:p>
            <a:endParaRPr lang="zh-TW" altLang="en-US" dirty="0"/>
          </a:p>
        </p:txBody>
      </p:sp>
      <p:sp>
        <p:nvSpPr>
          <p:cNvPr id="4" name="投影片編號版面配置區 3"/>
          <p:cNvSpPr>
            <a:spLocks noGrp="1"/>
          </p:cNvSpPr>
          <p:nvPr>
            <p:ph type="sldNum" sz="quarter" idx="10"/>
          </p:nvPr>
        </p:nvSpPr>
        <p:spPr/>
        <p:txBody>
          <a:bodyPr/>
          <a:lstStyle/>
          <a:p>
            <a:fld id="{677EE9C5-7ACF-43E8-ABC9-16737D2E075F}" type="slidenum">
              <a:rPr lang="zh-TW" altLang="en-US" smtClean="0"/>
              <a:t>5</a:t>
            </a:fld>
            <a:endParaRPr lang="zh-TW" altLang="en-US"/>
          </a:p>
        </p:txBody>
      </p:sp>
    </p:spTree>
    <p:extLst>
      <p:ext uri="{BB962C8B-B14F-4D97-AF65-F5344CB8AC3E}">
        <p14:creationId xmlns:p14="http://schemas.microsoft.com/office/powerpoint/2010/main" val="14679747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標題投影片">
    <p:spTree>
      <p:nvGrpSpPr>
        <p:cNvPr id="1" name=""/>
        <p:cNvGrpSpPr/>
        <p:nvPr/>
      </p:nvGrpSpPr>
      <p:grpSpPr>
        <a:xfrm>
          <a:off x="0" y="0"/>
          <a:ext cx="0" cy="0"/>
          <a:chOff x="0" y="0"/>
          <a:chExt cx="0" cy="0"/>
        </a:xfrm>
      </p:grpSpPr>
      <p:sp>
        <p:nvSpPr>
          <p:cNvPr id="11" name="副標題 2"/>
          <p:cNvSpPr>
            <a:spLocks noGrp="1"/>
          </p:cNvSpPr>
          <p:nvPr>
            <p:ph type="subTitle" idx="1"/>
          </p:nvPr>
        </p:nvSpPr>
        <p:spPr>
          <a:xfrm>
            <a:off x="1926186" y="3501008"/>
            <a:ext cx="4320000" cy="432048"/>
          </a:xfrm>
          <a:prstGeom prst="rect">
            <a:avLst/>
          </a:prstGeom>
        </p:spPr>
        <p:txBody>
          <a:bodyPr>
            <a:noAutofit/>
          </a:bodyPr>
          <a:lstStyle>
            <a:lvl1pPr marL="0" marR="0" indent="0" algn="l" defTabSz="685800" rtl="0" eaLnBrk="1" fontAlgn="auto" latinLnBrk="0" hangingPunct="1">
              <a:lnSpc>
                <a:spcPct val="100000"/>
              </a:lnSpc>
              <a:spcBef>
                <a:spcPct val="20000"/>
              </a:spcBef>
              <a:spcAft>
                <a:spcPts val="0"/>
              </a:spcAft>
              <a:buClrTx/>
              <a:buSzTx/>
              <a:buFontTx/>
              <a:buNone/>
              <a:tabLst/>
              <a:defRPr sz="1800" b="1">
                <a:solidFill>
                  <a:schemeClr val="bg1">
                    <a:lumMod val="50000"/>
                  </a:schemeClr>
                </a:solidFill>
                <a:latin typeface="微軟正黑體" pitchFamily="34" charset="-120"/>
                <a:ea typeface="微軟正黑體" pitchFamily="34" charset="-12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zh-TW" altLang="en-US" dirty="0"/>
              <a:t>按一下以編輯母片副標題樣式</a:t>
            </a:r>
          </a:p>
        </p:txBody>
      </p:sp>
      <p:sp>
        <p:nvSpPr>
          <p:cNvPr id="17" name="標題 1"/>
          <p:cNvSpPr>
            <a:spLocks noGrp="1"/>
          </p:cNvSpPr>
          <p:nvPr>
            <p:ph type="ctrTitle"/>
          </p:nvPr>
        </p:nvSpPr>
        <p:spPr>
          <a:xfrm>
            <a:off x="1871700" y="2771403"/>
            <a:ext cx="4860000" cy="576064"/>
          </a:xfrm>
          <a:prstGeom prst="rect">
            <a:avLst/>
          </a:prstGeom>
        </p:spPr>
        <p:txBody>
          <a:bodyPr>
            <a:noAutofit/>
          </a:bodyPr>
          <a:lstStyle>
            <a:lvl1pPr algn="l">
              <a:defRPr sz="3000" b="1">
                <a:solidFill>
                  <a:schemeClr val="bg1">
                    <a:lumMod val="50000"/>
                  </a:schemeClr>
                </a:solidFill>
                <a:latin typeface="微軟正黑體" pitchFamily="34" charset="-120"/>
                <a:ea typeface="微軟正黑體" pitchFamily="34" charset="-120"/>
              </a:defRPr>
            </a:lvl1pPr>
          </a:lstStyle>
          <a:p>
            <a:r>
              <a:rPr lang="zh-TW" altLang="en-US" dirty="0"/>
              <a:t>按一下以編輯母片標題樣式</a:t>
            </a:r>
          </a:p>
        </p:txBody>
      </p:sp>
      <p:pic>
        <p:nvPicPr>
          <p:cNvPr id="3" name="图片 2">
            <a:extLst>
              <a:ext uri="{FF2B5EF4-FFF2-40B4-BE49-F238E27FC236}">
                <a16:creationId xmlns:a16="http://schemas.microsoft.com/office/drawing/2014/main" xmlns="" id="{7A7DB523-7990-4024-ADA2-E061F0DAD60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32240" y="2845174"/>
            <a:ext cx="1404156" cy="583155"/>
          </a:xfrm>
          <a:prstGeom prst="rect">
            <a:avLst/>
          </a:prstGeom>
        </p:spPr>
      </p:pic>
      <p:cxnSp>
        <p:nvCxnSpPr>
          <p:cNvPr id="9" name="直接连接符 14">
            <a:extLst>
              <a:ext uri="{FF2B5EF4-FFF2-40B4-BE49-F238E27FC236}">
                <a16:creationId xmlns:a16="http://schemas.microsoft.com/office/drawing/2014/main" xmlns="" id="{EC0A9803-A926-48F3-9681-2B42C0C06D43}"/>
              </a:ext>
            </a:extLst>
          </p:cNvPr>
          <p:cNvCxnSpPr>
            <a:cxnSpLocks/>
          </p:cNvCxnSpPr>
          <p:nvPr userDrawn="1"/>
        </p:nvCxnSpPr>
        <p:spPr>
          <a:xfrm flipH="1">
            <a:off x="0" y="3429000"/>
            <a:ext cx="8082390" cy="0"/>
          </a:xfrm>
          <a:prstGeom prst="line">
            <a:avLst/>
          </a:prstGeom>
          <a:ln w="28575">
            <a:solidFill>
              <a:srgbClr val="DE0000"/>
            </a:solidFill>
            <a:round/>
          </a:ln>
          <a:effectLst/>
          <a:scene3d>
            <a:camera prst="orthographicFront"/>
            <a:lightRig rig="threePt" dir="t"/>
          </a:scene3d>
          <a:sp3d prstMaterial="matte">
            <a:bevelB w="0" h="0"/>
          </a:sp3d>
        </p:spPr>
        <p:style>
          <a:lnRef idx="1">
            <a:schemeClr val="accent1"/>
          </a:lnRef>
          <a:fillRef idx="0">
            <a:schemeClr val="accent1"/>
          </a:fillRef>
          <a:effectRef idx="0">
            <a:schemeClr val="accent1"/>
          </a:effectRef>
          <a:fontRef idx="minor">
            <a:schemeClr val="tx1"/>
          </a:fontRef>
        </p:style>
      </p:cxnSp>
      <p:cxnSp>
        <p:nvCxnSpPr>
          <p:cNvPr id="12" name="直接连接符 14">
            <a:extLst>
              <a:ext uri="{FF2B5EF4-FFF2-40B4-BE49-F238E27FC236}">
                <a16:creationId xmlns:a16="http://schemas.microsoft.com/office/drawing/2014/main" xmlns="" id="{EC0A9803-A926-48F3-9681-2B42C0C06D43}"/>
              </a:ext>
            </a:extLst>
          </p:cNvPr>
          <p:cNvCxnSpPr>
            <a:cxnSpLocks/>
          </p:cNvCxnSpPr>
          <p:nvPr userDrawn="1"/>
        </p:nvCxnSpPr>
        <p:spPr>
          <a:xfrm>
            <a:off x="467544" y="5964485"/>
            <a:ext cx="3550109" cy="0"/>
          </a:xfrm>
          <a:prstGeom prst="line">
            <a:avLst/>
          </a:prstGeom>
          <a:ln w="28575">
            <a:gradFill flip="none" rotWithShape="1">
              <a:gsLst>
                <a:gs pos="100000">
                  <a:schemeClr val="bg1">
                    <a:lumMod val="75000"/>
                    <a:alpha val="0"/>
                  </a:schemeClr>
                </a:gs>
                <a:gs pos="0">
                  <a:schemeClr val="bg1">
                    <a:lumMod val="85000"/>
                  </a:schemeClr>
                </a:gs>
              </a:gsLst>
              <a:lin ang="0" scaled="1"/>
              <a:tileRect/>
            </a:gradFill>
            <a:round/>
          </a:ln>
          <a:effectLst/>
          <a:scene3d>
            <a:camera prst="orthographicFront"/>
            <a:lightRig rig="threePt" dir="t"/>
          </a:scene3d>
          <a:sp3d prstMaterial="matte">
            <a:bevelB w="0" h="0"/>
          </a:sp3d>
        </p:spPr>
        <p:style>
          <a:lnRef idx="1">
            <a:schemeClr val="accent1"/>
          </a:lnRef>
          <a:fillRef idx="0">
            <a:schemeClr val="accent1"/>
          </a:fillRef>
          <a:effectRef idx="0">
            <a:schemeClr val="accent1"/>
          </a:effectRef>
          <a:fontRef idx="minor">
            <a:schemeClr val="tx1"/>
          </a:fontRef>
        </p:style>
      </p:cxnSp>
      <p:sp>
        <p:nvSpPr>
          <p:cNvPr id="10" name="文字方塊 9"/>
          <p:cNvSpPr txBox="1"/>
          <p:nvPr userDrawn="1"/>
        </p:nvSpPr>
        <p:spPr>
          <a:xfrm>
            <a:off x="6246186" y="3429000"/>
            <a:ext cx="1890210" cy="300082"/>
          </a:xfrm>
          <a:prstGeom prst="rect">
            <a:avLst/>
          </a:prstGeom>
          <a:noFill/>
        </p:spPr>
        <p:txBody>
          <a:bodyPr wrap="square" rtlCol="0">
            <a:spAutoFit/>
          </a:bodyPr>
          <a:lstStyle/>
          <a:p>
            <a:pPr algn="r"/>
            <a:r>
              <a:rPr lang="en-US" altLang="zh-TW" sz="1350" dirty="0">
                <a:solidFill>
                  <a:schemeClr val="bg1">
                    <a:lumMod val="50000"/>
                  </a:schemeClr>
                </a:solidFill>
                <a:effectLst>
                  <a:outerShdw blurRad="50800" dist="38100" dir="8100000" algn="tr" rotWithShape="0">
                    <a:prstClr val="black">
                      <a:alpha val="40000"/>
                    </a:prstClr>
                  </a:outerShdw>
                </a:effectLst>
                <a:latin typeface="Calibri" panose="020F0502020204030204" pitchFamily="34" charset="0"/>
                <a:cs typeface="Calibri" panose="020F0502020204030204" pitchFamily="34" charset="0"/>
              </a:rPr>
              <a:t>B2B</a:t>
            </a:r>
            <a:r>
              <a:rPr lang="zh-TW" altLang="en-US" sz="1350" dirty="0">
                <a:solidFill>
                  <a:schemeClr val="bg1">
                    <a:lumMod val="50000"/>
                  </a:schemeClr>
                </a:solidFill>
                <a:effectLst>
                  <a:outerShdw blurRad="50800" dist="38100" dir="8100000" algn="tr" rotWithShape="0">
                    <a:prstClr val="black">
                      <a:alpha val="40000"/>
                    </a:prstClr>
                  </a:outerShdw>
                </a:effectLst>
                <a:latin typeface="Calibri" panose="020F0502020204030204" pitchFamily="34" charset="0"/>
                <a:cs typeface="Calibri" panose="020F0502020204030204" pitchFamily="34" charset="0"/>
              </a:rPr>
              <a:t> </a:t>
            </a:r>
            <a:r>
              <a:rPr lang="en-US" altLang="zh-TW" sz="1350" dirty="0">
                <a:solidFill>
                  <a:schemeClr val="bg1">
                    <a:lumMod val="50000"/>
                  </a:schemeClr>
                </a:solidFill>
                <a:effectLst>
                  <a:outerShdw blurRad="50800" dist="38100" dir="8100000" algn="tr" rotWithShape="0">
                    <a:prstClr val="black">
                      <a:alpha val="40000"/>
                    </a:prstClr>
                  </a:outerShdw>
                </a:effectLst>
                <a:latin typeface="Calibri" panose="020F0502020204030204" pitchFamily="34" charset="0"/>
                <a:cs typeface="Calibri" panose="020F0502020204030204" pitchFamily="34" charset="0"/>
              </a:rPr>
              <a:t>TEAM</a:t>
            </a:r>
            <a:endParaRPr lang="zh-TW" altLang="en-US" sz="1350" dirty="0">
              <a:solidFill>
                <a:schemeClr val="bg1">
                  <a:lumMod val="50000"/>
                </a:schemeClr>
              </a:solidFill>
              <a:effectLst>
                <a:outerShdw blurRad="50800" dist="38100" dir="8100000" algn="tr" rotWithShape="0">
                  <a:prstClr val="black">
                    <a:alpha val="40000"/>
                  </a:prstClr>
                </a:outerShdw>
              </a:effectLst>
              <a:latin typeface="Calibri" panose="020F0502020204030204" pitchFamily="34" charset="0"/>
              <a:cs typeface="Calibri" panose="020F0502020204030204" pitchFamily="34" charset="0"/>
            </a:endParaRPr>
          </a:p>
        </p:txBody>
      </p:sp>
      <p:sp>
        <p:nvSpPr>
          <p:cNvPr id="4" name="文字方塊 3"/>
          <p:cNvSpPr txBox="1"/>
          <p:nvPr userDrawn="1"/>
        </p:nvSpPr>
        <p:spPr>
          <a:xfrm>
            <a:off x="497592" y="5579948"/>
            <a:ext cx="2608406" cy="300082"/>
          </a:xfrm>
          <a:prstGeom prst="rect">
            <a:avLst/>
          </a:prstGeom>
          <a:noFill/>
        </p:spPr>
        <p:txBody>
          <a:bodyPr wrap="none" rtlCol="0">
            <a:spAutoFit/>
          </a:bodyPr>
          <a:lstStyle/>
          <a:p>
            <a:r>
              <a:rPr lang="zh-TW" altLang="en-US" sz="1350" b="1" dirty="0">
                <a:solidFill>
                  <a:schemeClr val="bg1">
                    <a:lumMod val="50000"/>
                  </a:schemeClr>
                </a:solidFill>
              </a:rPr>
              <a:t>國外固定利率債券發行機構簡介</a:t>
            </a:r>
          </a:p>
        </p:txBody>
      </p:sp>
    </p:spTree>
    <p:extLst>
      <p:ext uri="{BB962C8B-B14F-4D97-AF65-F5344CB8AC3E}">
        <p14:creationId xmlns:p14="http://schemas.microsoft.com/office/powerpoint/2010/main" val="549964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標題及物件">
    <p:spTree>
      <p:nvGrpSpPr>
        <p:cNvPr id="1" name=""/>
        <p:cNvGrpSpPr/>
        <p:nvPr/>
      </p:nvGrpSpPr>
      <p:grpSpPr>
        <a:xfrm>
          <a:off x="0" y="0"/>
          <a:ext cx="0" cy="0"/>
          <a:chOff x="0" y="0"/>
          <a:chExt cx="0" cy="0"/>
        </a:xfrm>
      </p:grpSpPr>
      <p:sp>
        <p:nvSpPr>
          <p:cNvPr id="9" name="標題 1"/>
          <p:cNvSpPr>
            <a:spLocks noGrp="1"/>
          </p:cNvSpPr>
          <p:nvPr>
            <p:ph type="title"/>
          </p:nvPr>
        </p:nvSpPr>
        <p:spPr>
          <a:xfrm>
            <a:off x="1061610" y="188640"/>
            <a:ext cx="7614475" cy="720000"/>
          </a:xfrm>
          <a:prstGeom prst="rect">
            <a:avLst/>
          </a:prstGeom>
        </p:spPr>
        <p:txBody>
          <a:bodyPr anchor="b">
            <a:noAutofit/>
          </a:bodyPr>
          <a:lstStyle>
            <a:lvl1pPr algn="l">
              <a:defRPr sz="2100" b="1">
                <a:solidFill>
                  <a:schemeClr val="tx2">
                    <a:lumMod val="75000"/>
                  </a:schemeClr>
                </a:solidFill>
                <a:latin typeface="微軟正黑體" pitchFamily="34" charset="-120"/>
                <a:ea typeface="微軟正黑體" pitchFamily="34" charset="-120"/>
              </a:defRPr>
            </a:lvl1pPr>
          </a:lstStyle>
          <a:p>
            <a:r>
              <a:rPr lang="zh-TW" altLang="en-US" dirty="0"/>
              <a:t>按一下以編輯母片標題樣式</a:t>
            </a:r>
          </a:p>
        </p:txBody>
      </p:sp>
      <p:sp>
        <p:nvSpPr>
          <p:cNvPr id="10" name="內容版面配置區 3"/>
          <p:cNvSpPr>
            <a:spLocks noGrp="1"/>
          </p:cNvSpPr>
          <p:nvPr>
            <p:ph sz="half" idx="2"/>
          </p:nvPr>
        </p:nvSpPr>
        <p:spPr>
          <a:xfrm>
            <a:off x="467545" y="980728"/>
            <a:ext cx="8213303" cy="5220000"/>
          </a:xfrm>
          <a:prstGeom prst="rect">
            <a:avLst/>
          </a:prstGeom>
        </p:spPr>
        <p:txBody>
          <a:bodyPr/>
          <a:lstStyle>
            <a:lvl1pPr marL="257175" indent="-257175">
              <a:buFont typeface="Wingdings" panose="05000000000000000000" pitchFamily="2" charset="2"/>
              <a:buChar char="n"/>
              <a:defRPr sz="1800">
                <a:latin typeface="微軟正黑體" pitchFamily="34" charset="-120"/>
                <a:ea typeface="微軟正黑體" pitchFamily="34" charset="-120"/>
              </a:defRPr>
            </a:lvl1pPr>
            <a:lvl2pPr>
              <a:defRPr sz="1500" b="0">
                <a:latin typeface="微軟正黑體" pitchFamily="34" charset="-120"/>
                <a:ea typeface="微軟正黑體" pitchFamily="34" charset="-120"/>
              </a:defRPr>
            </a:lvl2pPr>
            <a:lvl3pPr>
              <a:defRPr sz="1350">
                <a:latin typeface="微軟正黑體" pitchFamily="34" charset="-120"/>
                <a:ea typeface="微軟正黑體" pitchFamily="34" charset="-120"/>
              </a:defRPr>
            </a:lvl3pPr>
            <a:lvl4pPr>
              <a:defRPr sz="12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endParaRPr lang="en-US" altLang="zh-TW" dirty="0"/>
          </a:p>
          <a:p>
            <a:pPr lvl="0"/>
            <a:endParaRPr lang="en-US" altLang="zh-TW" dirty="0"/>
          </a:p>
          <a:p>
            <a:pPr lvl="0"/>
            <a:endParaRPr lang="en-US" altLang="zh-TW" dirty="0"/>
          </a:p>
          <a:p>
            <a:pPr lvl="0"/>
            <a:endParaRPr lang="en-US" altLang="zh-TW" dirty="0"/>
          </a:p>
          <a:p>
            <a:pPr lvl="0"/>
            <a:endParaRPr lang="en-US" altLang="zh-TW" dirty="0"/>
          </a:p>
          <a:p>
            <a:pPr lvl="0"/>
            <a:endParaRPr lang="en-US" altLang="zh-TW" dirty="0"/>
          </a:p>
          <a:p>
            <a:pPr lvl="0"/>
            <a:endParaRPr lang="en-US" altLang="zh-TW" dirty="0"/>
          </a:p>
          <a:p>
            <a:pPr lvl="0"/>
            <a:endParaRPr lang="zh-TW" altLang="en-US" dirty="0"/>
          </a:p>
        </p:txBody>
      </p:sp>
      <p:sp>
        <p:nvSpPr>
          <p:cNvPr id="11" name="投影片編號版面配置區 10"/>
          <p:cNvSpPr>
            <a:spLocks noGrp="1"/>
          </p:cNvSpPr>
          <p:nvPr>
            <p:ph type="sldNum" sz="quarter" idx="10"/>
          </p:nvPr>
        </p:nvSpPr>
        <p:spPr/>
        <p:txBody>
          <a:bodyPr/>
          <a:lstStyle/>
          <a:p>
            <a:fld id="{415482FC-CF5F-466A-B8B6-BC3733E92023}" type="slidenum">
              <a:rPr lang="zh-TW" altLang="en-US" smtClean="0"/>
              <a:pPr/>
              <a:t>‹#›</a:t>
            </a:fld>
            <a:endParaRPr lang="zh-TW" altLang="en-US" dirty="0"/>
          </a:p>
        </p:txBody>
      </p:sp>
    </p:spTree>
    <p:extLst>
      <p:ext uri="{BB962C8B-B14F-4D97-AF65-F5344CB8AC3E}">
        <p14:creationId xmlns:p14="http://schemas.microsoft.com/office/powerpoint/2010/main" val="3358115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xmlns="" id="{E073CA6E-B980-4BED-B859-79E8C0786146}"/>
              </a:ext>
            </a:extLst>
          </p:cNvPr>
          <p:cNvSpPr/>
          <p:nvPr userDrawn="1"/>
        </p:nvSpPr>
        <p:spPr>
          <a:xfrm>
            <a:off x="6732240" y="0"/>
            <a:ext cx="241176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0"/>
          </p:nvPr>
        </p:nvSpPr>
        <p:spPr/>
        <p:txBody>
          <a:bodyPr/>
          <a:lstStyle/>
          <a:p>
            <a:fld id="{415482FC-CF5F-466A-B8B6-BC3733E92023}" type="slidenum">
              <a:rPr lang="zh-TW" altLang="en-US" smtClean="0"/>
              <a:pPr/>
              <a:t>‹#›</a:t>
            </a:fld>
            <a:endParaRPr lang="zh-TW" altLang="en-US" dirty="0"/>
          </a:p>
        </p:txBody>
      </p:sp>
      <p:cxnSp>
        <p:nvCxnSpPr>
          <p:cNvPr id="4" name="直接连接符 14">
            <a:extLst>
              <a:ext uri="{FF2B5EF4-FFF2-40B4-BE49-F238E27FC236}">
                <a16:creationId xmlns:a16="http://schemas.microsoft.com/office/drawing/2014/main" xmlns="" id="{7D116BA9-9B78-42D3-9A3A-32518048A7C5}"/>
              </a:ext>
            </a:extLst>
          </p:cNvPr>
          <p:cNvCxnSpPr>
            <a:cxnSpLocks/>
          </p:cNvCxnSpPr>
          <p:nvPr userDrawn="1"/>
        </p:nvCxnSpPr>
        <p:spPr>
          <a:xfrm>
            <a:off x="467544" y="6519747"/>
            <a:ext cx="7173346" cy="0"/>
          </a:xfrm>
          <a:prstGeom prst="line">
            <a:avLst/>
          </a:prstGeom>
          <a:ln w="28575">
            <a:solidFill>
              <a:srgbClr val="DE0000"/>
            </a:solidFill>
            <a:round/>
          </a:ln>
          <a:effectLst/>
          <a:scene3d>
            <a:camera prst="orthographicFront"/>
            <a:lightRig rig="threePt" dir="t"/>
          </a:scene3d>
          <a:sp3d prstMaterial="matte">
            <a:bevelB w="0" h="0"/>
          </a:sp3d>
        </p:spPr>
        <p:style>
          <a:lnRef idx="1">
            <a:schemeClr val="accent1"/>
          </a:lnRef>
          <a:fillRef idx="0">
            <a:schemeClr val="accent1"/>
          </a:fillRef>
          <a:effectRef idx="0">
            <a:schemeClr val="accent1"/>
          </a:effectRef>
          <a:fontRef idx="minor">
            <a:schemeClr val="tx1"/>
          </a:fontRef>
        </p:style>
      </p:cxnSp>
      <p:pic>
        <p:nvPicPr>
          <p:cNvPr id="9" name="圖片 8" descr="一張含有 文字 的圖片&#10;&#10;自動產生的描述">
            <a:extLst>
              <a:ext uri="{FF2B5EF4-FFF2-40B4-BE49-F238E27FC236}">
                <a16:creationId xmlns:a16="http://schemas.microsoft.com/office/drawing/2014/main" xmlns="" id="{EDD6439E-0668-40EB-8EE8-43DD01AC00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738248" y="6497912"/>
            <a:ext cx="753090" cy="171448"/>
          </a:xfrm>
          <a:prstGeom prst="rect">
            <a:avLst/>
          </a:prstGeom>
        </p:spPr>
      </p:pic>
      <p:pic>
        <p:nvPicPr>
          <p:cNvPr id="14" name="圖片 13">
            <a:extLst>
              <a:ext uri="{FF2B5EF4-FFF2-40B4-BE49-F238E27FC236}">
                <a16:creationId xmlns:a16="http://schemas.microsoft.com/office/drawing/2014/main" xmlns="" id="{077F17E0-39B1-4EAF-8142-AA65E5998D16}"/>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r="72177" b="35515"/>
          <a:stretch/>
        </p:blipFill>
        <p:spPr>
          <a:xfrm>
            <a:off x="8483570" y="6432163"/>
            <a:ext cx="605138" cy="225344"/>
          </a:xfrm>
          <a:prstGeom prst="rect">
            <a:avLst/>
          </a:prstGeom>
        </p:spPr>
      </p:pic>
      <p:sp>
        <p:nvSpPr>
          <p:cNvPr id="5" name="矩形 4">
            <a:extLst>
              <a:ext uri="{FF2B5EF4-FFF2-40B4-BE49-F238E27FC236}">
                <a16:creationId xmlns:a16="http://schemas.microsoft.com/office/drawing/2014/main" xmlns="" id="{A3B58A0A-0CAB-FE6A-53DF-18ED3B3EFA00}"/>
              </a:ext>
            </a:extLst>
          </p:cNvPr>
          <p:cNvSpPr/>
          <p:nvPr userDrawn="1"/>
        </p:nvSpPr>
        <p:spPr>
          <a:xfrm>
            <a:off x="6732240" y="0"/>
            <a:ext cx="2412000" cy="187558"/>
          </a:xfrm>
          <a:prstGeom prst="rect">
            <a:avLst/>
          </a:prstGeom>
          <a:gradFill flip="none" rotWithShape="1">
            <a:gsLst>
              <a:gs pos="26000">
                <a:srgbClr val="ECE8E5"/>
              </a:gs>
              <a:gs pos="7000">
                <a:schemeClr val="bg1"/>
              </a:gs>
              <a:gs pos="99000">
                <a:schemeClr val="bg1">
                  <a:lumMod val="8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pic>
        <p:nvPicPr>
          <p:cNvPr id="10" name="圖片 9"/>
          <p:cNvPicPr>
            <a:picLocks noChangeAspect="1"/>
          </p:cNvPicPr>
          <p:nvPr userDrawn="1"/>
        </p:nvPicPr>
        <p:blipFill>
          <a:blip r:embed="rId4"/>
          <a:stretch>
            <a:fillRect/>
          </a:stretch>
        </p:blipFill>
        <p:spPr>
          <a:xfrm>
            <a:off x="7308304" y="-16771"/>
            <a:ext cx="1999661" cy="256054"/>
          </a:xfrm>
          <a:prstGeom prst="rect">
            <a:avLst/>
          </a:prstGeom>
        </p:spPr>
      </p:pic>
    </p:spTree>
    <p:extLst>
      <p:ext uri="{BB962C8B-B14F-4D97-AF65-F5344CB8AC3E}">
        <p14:creationId xmlns:p14="http://schemas.microsoft.com/office/powerpoint/2010/main" val="326120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0_兩項物件">
    <p:spTree>
      <p:nvGrpSpPr>
        <p:cNvPr id="1" name=""/>
        <p:cNvGrpSpPr/>
        <p:nvPr/>
      </p:nvGrpSpPr>
      <p:grpSpPr>
        <a:xfrm>
          <a:off x="0" y="0"/>
          <a:ext cx="0" cy="0"/>
          <a:chOff x="0" y="0"/>
          <a:chExt cx="0" cy="0"/>
        </a:xfrm>
      </p:grpSpPr>
      <p:sp>
        <p:nvSpPr>
          <p:cNvPr id="6" name="內容版面配置區 3"/>
          <p:cNvSpPr>
            <a:spLocks noGrp="1"/>
          </p:cNvSpPr>
          <p:nvPr>
            <p:ph sz="half" idx="2"/>
          </p:nvPr>
        </p:nvSpPr>
        <p:spPr>
          <a:xfrm>
            <a:off x="467543" y="2708920"/>
            <a:ext cx="4050000" cy="3420000"/>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內容版面配置區 3"/>
          <p:cNvSpPr>
            <a:spLocks noGrp="1"/>
          </p:cNvSpPr>
          <p:nvPr>
            <p:ph sz="half" idx="16"/>
          </p:nvPr>
        </p:nvSpPr>
        <p:spPr>
          <a:xfrm>
            <a:off x="4644008" y="2708920"/>
            <a:ext cx="4050000" cy="3420000"/>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p:txBody>
      </p:sp>
      <p:sp>
        <p:nvSpPr>
          <p:cNvPr id="8" name="文字版面配置區 2"/>
          <p:cNvSpPr>
            <a:spLocks noGrp="1"/>
          </p:cNvSpPr>
          <p:nvPr>
            <p:ph type="body" sz="quarter" idx="17"/>
          </p:nvPr>
        </p:nvSpPr>
        <p:spPr>
          <a:xfrm>
            <a:off x="467546" y="2276872"/>
            <a:ext cx="4050000" cy="360040"/>
          </a:xfrm>
          <a:prstGeom prst="rect">
            <a:avLst/>
          </a:prstGeom>
        </p:spPr>
        <p:style>
          <a:lnRef idx="1">
            <a:schemeClr val="accent4"/>
          </a:lnRef>
          <a:fillRef idx="2">
            <a:schemeClr val="accent4"/>
          </a:fillRef>
          <a:effectRef idx="1">
            <a:schemeClr val="accent4"/>
          </a:effectRef>
          <a:fontRef idx="none"/>
        </p:style>
        <p:txBody>
          <a:bodyPr>
            <a:noAutofit/>
          </a:bodyPr>
          <a:lstStyle>
            <a:lvl1pPr marL="0" indent="0" algn="l">
              <a:buFont typeface="Wingdings" panose="05000000000000000000" pitchFamily="2" charset="2"/>
              <a:buNone/>
              <a:defRPr sz="1350" b="1">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3" name="文字版面配置區 2"/>
          <p:cNvSpPr>
            <a:spLocks noGrp="1"/>
          </p:cNvSpPr>
          <p:nvPr>
            <p:ph type="body" sz="quarter" idx="18"/>
          </p:nvPr>
        </p:nvSpPr>
        <p:spPr>
          <a:xfrm>
            <a:off x="4644779" y="2276872"/>
            <a:ext cx="4050000" cy="360040"/>
          </a:xfrm>
          <a:prstGeom prst="rect">
            <a:avLst/>
          </a:prstGeom>
        </p:spPr>
        <p:style>
          <a:lnRef idx="1">
            <a:schemeClr val="accent4"/>
          </a:lnRef>
          <a:fillRef idx="2">
            <a:schemeClr val="accent4"/>
          </a:fillRef>
          <a:effectRef idx="1">
            <a:schemeClr val="accent4"/>
          </a:effectRef>
          <a:fontRef idx="none"/>
        </p:style>
        <p:txBody>
          <a:bodyPr>
            <a:noAutofit/>
          </a:bodyPr>
          <a:lstStyle>
            <a:lvl1pPr marL="0" indent="0" algn="l">
              <a:buFont typeface="Wingdings" panose="05000000000000000000" pitchFamily="2" charset="2"/>
              <a:buNone/>
              <a:defRPr sz="1350" b="1">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4" name="文字版面配置區 2"/>
          <p:cNvSpPr>
            <a:spLocks noGrp="1"/>
          </p:cNvSpPr>
          <p:nvPr>
            <p:ph type="body" sz="quarter" idx="11"/>
          </p:nvPr>
        </p:nvSpPr>
        <p:spPr>
          <a:xfrm>
            <a:off x="473493" y="980728"/>
            <a:ext cx="8208000" cy="1224136"/>
          </a:xfrm>
          <a:prstGeom prst="rect">
            <a:avLst/>
          </a:prstGeom>
        </p:spPr>
        <p:txBody>
          <a:bodyPr>
            <a:normAutofit/>
          </a:bodyPr>
          <a:lstStyle>
            <a:lvl1pPr marL="257175" indent="-257175" algn="l">
              <a:buFont typeface="Wingdings" panose="05000000000000000000" pitchFamily="2" charset="2"/>
              <a:buChar char="n"/>
              <a:defRPr sz="1200">
                <a:solidFill>
                  <a:schemeClr val="tx1">
                    <a:lumMod val="95000"/>
                    <a:lumOff val="5000"/>
                  </a:schemeClr>
                </a:solidFill>
                <a:latin typeface="微軟正黑體" pitchFamily="34" charset="-120"/>
                <a:ea typeface="微軟正黑體" pitchFamily="34" charset="-120"/>
              </a:defRPr>
            </a:lvl1pPr>
          </a:lstStyle>
          <a:p>
            <a:pPr lvl="0"/>
            <a:r>
              <a:rPr lang="zh-TW" altLang="en-US" dirty="0"/>
              <a:t>按一下以編輯母片文字樣式</a:t>
            </a:r>
          </a:p>
        </p:txBody>
      </p:sp>
      <p:sp>
        <p:nvSpPr>
          <p:cNvPr id="15" name="文字版面配置區 7"/>
          <p:cNvSpPr>
            <a:spLocks noGrp="1"/>
          </p:cNvSpPr>
          <p:nvPr>
            <p:ph type="body" sz="quarter" idx="12"/>
          </p:nvPr>
        </p:nvSpPr>
        <p:spPr>
          <a:xfrm>
            <a:off x="467544" y="6192000"/>
            <a:ext cx="7290000" cy="288032"/>
          </a:xfrm>
          <a:prstGeom prst="rect">
            <a:avLst/>
          </a:prstGeom>
        </p:spPr>
        <p:txBody>
          <a:bodyPr>
            <a:normAutofit/>
          </a:bodyPr>
          <a:lstStyle>
            <a:lvl1pPr marL="0" indent="0">
              <a:buFontTx/>
              <a:buNone/>
              <a:defRPr sz="900">
                <a:solidFill>
                  <a:schemeClr val="tx1"/>
                </a:solidFill>
                <a:latin typeface="微軟正黑體" pitchFamily="34" charset="-120"/>
                <a:ea typeface="微軟正黑體" pitchFamily="34" charset="-120"/>
              </a:defRPr>
            </a:lvl1pPr>
          </a:lstStyle>
          <a:p>
            <a:pPr lvl="0"/>
            <a:r>
              <a:rPr lang="zh-TW" altLang="en-US" dirty="0"/>
              <a:t>按一下以編輯母片文字樣式</a:t>
            </a:r>
          </a:p>
        </p:txBody>
      </p:sp>
      <p:sp>
        <p:nvSpPr>
          <p:cNvPr id="2" name="投影片編號版面配置區 1"/>
          <p:cNvSpPr>
            <a:spLocks noGrp="1"/>
          </p:cNvSpPr>
          <p:nvPr>
            <p:ph type="sldNum" sz="quarter" idx="19"/>
          </p:nvPr>
        </p:nvSpPr>
        <p:spPr/>
        <p:txBody>
          <a:bodyPr/>
          <a:lstStyle/>
          <a:p>
            <a:fld id="{415482FC-CF5F-466A-B8B6-BC3733E92023}" type="slidenum">
              <a:rPr lang="zh-TW" altLang="en-US" smtClean="0"/>
              <a:pPr/>
              <a:t>‹#›</a:t>
            </a:fld>
            <a:endParaRPr lang="zh-TW" altLang="en-US" dirty="0"/>
          </a:p>
        </p:txBody>
      </p:sp>
      <p:sp>
        <p:nvSpPr>
          <p:cNvPr id="10" name="標題 1"/>
          <p:cNvSpPr>
            <a:spLocks noGrp="1"/>
          </p:cNvSpPr>
          <p:nvPr>
            <p:ph type="title"/>
          </p:nvPr>
        </p:nvSpPr>
        <p:spPr>
          <a:xfrm>
            <a:off x="1061610" y="188640"/>
            <a:ext cx="7614475" cy="720000"/>
          </a:xfrm>
          <a:prstGeom prst="rect">
            <a:avLst/>
          </a:prstGeom>
        </p:spPr>
        <p:txBody>
          <a:bodyPr anchor="b">
            <a:noAutofit/>
          </a:bodyPr>
          <a:lstStyle>
            <a:lvl1pPr algn="l">
              <a:defRPr sz="2100" b="1">
                <a:solidFill>
                  <a:schemeClr val="tx2">
                    <a:lumMod val="75000"/>
                  </a:schemeClr>
                </a:solidFill>
                <a:latin typeface="微軟正黑體" pitchFamily="34" charset="-120"/>
                <a:ea typeface="微軟正黑體" pitchFamily="34" charset="-120"/>
              </a:defRPr>
            </a:lvl1pPr>
          </a:lstStyle>
          <a:p>
            <a:r>
              <a:rPr lang="zh-TW" altLang="en-US" dirty="0"/>
              <a:t>按一下以編輯母片標題樣式</a:t>
            </a:r>
          </a:p>
        </p:txBody>
      </p:sp>
    </p:spTree>
    <p:extLst>
      <p:ext uri="{BB962C8B-B14F-4D97-AF65-F5344CB8AC3E}">
        <p14:creationId xmlns:p14="http://schemas.microsoft.com/office/powerpoint/2010/main" val="190618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8_兩項物件">
    <p:spTree>
      <p:nvGrpSpPr>
        <p:cNvPr id="1" name=""/>
        <p:cNvGrpSpPr/>
        <p:nvPr/>
      </p:nvGrpSpPr>
      <p:grpSpPr>
        <a:xfrm>
          <a:off x="0" y="0"/>
          <a:ext cx="0" cy="0"/>
          <a:chOff x="0" y="0"/>
          <a:chExt cx="0" cy="0"/>
        </a:xfrm>
      </p:grpSpPr>
      <p:sp>
        <p:nvSpPr>
          <p:cNvPr id="6" name="內容版面配置區 3"/>
          <p:cNvSpPr>
            <a:spLocks noGrp="1"/>
          </p:cNvSpPr>
          <p:nvPr>
            <p:ph sz="half" idx="2"/>
          </p:nvPr>
        </p:nvSpPr>
        <p:spPr>
          <a:xfrm>
            <a:off x="467543" y="2708920"/>
            <a:ext cx="4050000" cy="3420000"/>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內容版面配置區 3"/>
          <p:cNvSpPr>
            <a:spLocks noGrp="1"/>
          </p:cNvSpPr>
          <p:nvPr>
            <p:ph sz="half" idx="16"/>
          </p:nvPr>
        </p:nvSpPr>
        <p:spPr>
          <a:xfrm>
            <a:off x="4644008" y="2708920"/>
            <a:ext cx="4050000" cy="3420000"/>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p:txBody>
      </p:sp>
      <p:sp>
        <p:nvSpPr>
          <p:cNvPr id="8" name="文字版面配置區 2"/>
          <p:cNvSpPr>
            <a:spLocks noGrp="1"/>
          </p:cNvSpPr>
          <p:nvPr>
            <p:ph type="body" sz="quarter" idx="17"/>
          </p:nvPr>
        </p:nvSpPr>
        <p:spPr>
          <a:xfrm>
            <a:off x="467546" y="2276872"/>
            <a:ext cx="4050000" cy="360040"/>
          </a:xfrm>
          <a:prstGeom prst="rect">
            <a:avLst/>
          </a:prstGeom>
        </p:spPr>
        <p:txBody>
          <a:bodyPr>
            <a:noAutofit/>
          </a:bodyPr>
          <a:lstStyle>
            <a:lvl1pPr marL="214313" indent="-214313" algn="l">
              <a:buFont typeface="Wingdings" panose="05000000000000000000" pitchFamily="2" charset="2"/>
              <a:buChar char="n"/>
              <a:defRPr sz="1350">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3" name="文字版面配置區 2"/>
          <p:cNvSpPr>
            <a:spLocks noGrp="1"/>
          </p:cNvSpPr>
          <p:nvPr>
            <p:ph type="body" sz="quarter" idx="18"/>
          </p:nvPr>
        </p:nvSpPr>
        <p:spPr>
          <a:xfrm>
            <a:off x="4644779" y="2276872"/>
            <a:ext cx="4050000" cy="360040"/>
          </a:xfrm>
          <a:prstGeom prst="rect">
            <a:avLst/>
          </a:prstGeom>
        </p:spPr>
        <p:txBody>
          <a:bodyPr>
            <a:noAutofit/>
          </a:bodyPr>
          <a:lstStyle>
            <a:lvl1pPr marL="257175" indent="-257175" algn="l">
              <a:buFont typeface="Wingdings" panose="05000000000000000000" pitchFamily="2" charset="2"/>
              <a:buChar char="n"/>
              <a:defRPr sz="1350">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4" name="文字版面配置區 2"/>
          <p:cNvSpPr>
            <a:spLocks noGrp="1"/>
          </p:cNvSpPr>
          <p:nvPr>
            <p:ph type="body" sz="quarter" idx="11"/>
          </p:nvPr>
        </p:nvSpPr>
        <p:spPr>
          <a:xfrm>
            <a:off x="473493" y="980728"/>
            <a:ext cx="8208000" cy="1224136"/>
          </a:xfrm>
          <a:prstGeom prst="rect">
            <a:avLst/>
          </a:prstGeom>
        </p:spPr>
        <p:txBody>
          <a:bodyPr>
            <a:normAutofit/>
          </a:bodyPr>
          <a:lstStyle>
            <a:lvl1pPr marL="257175" indent="-257175" algn="l">
              <a:buFont typeface="Wingdings" panose="05000000000000000000" pitchFamily="2" charset="2"/>
              <a:buChar char="n"/>
              <a:defRPr sz="1200">
                <a:solidFill>
                  <a:schemeClr val="tx1">
                    <a:lumMod val="95000"/>
                    <a:lumOff val="5000"/>
                  </a:schemeClr>
                </a:solidFill>
                <a:latin typeface="微軟正黑體" pitchFamily="34" charset="-120"/>
                <a:ea typeface="微軟正黑體" pitchFamily="34" charset="-120"/>
              </a:defRPr>
            </a:lvl1pPr>
          </a:lstStyle>
          <a:p>
            <a:pPr lvl="0"/>
            <a:r>
              <a:rPr lang="zh-TW" altLang="en-US" dirty="0"/>
              <a:t>按一下以編輯母片文字樣式</a:t>
            </a:r>
          </a:p>
        </p:txBody>
      </p:sp>
      <p:sp>
        <p:nvSpPr>
          <p:cNvPr id="15" name="文字版面配置區 7"/>
          <p:cNvSpPr>
            <a:spLocks noGrp="1"/>
          </p:cNvSpPr>
          <p:nvPr>
            <p:ph type="body" sz="quarter" idx="12"/>
          </p:nvPr>
        </p:nvSpPr>
        <p:spPr>
          <a:xfrm>
            <a:off x="467544" y="6192000"/>
            <a:ext cx="7290000" cy="288032"/>
          </a:xfrm>
          <a:prstGeom prst="rect">
            <a:avLst/>
          </a:prstGeom>
        </p:spPr>
        <p:txBody>
          <a:bodyPr>
            <a:normAutofit/>
          </a:bodyPr>
          <a:lstStyle>
            <a:lvl1pPr marL="0" indent="0">
              <a:buFontTx/>
              <a:buNone/>
              <a:defRPr sz="900">
                <a:solidFill>
                  <a:schemeClr val="tx1"/>
                </a:solidFill>
                <a:latin typeface="微軟正黑體" pitchFamily="34" charset="-120"/>
                <a:ea typeface="微軟正黑體" pitchFamily="34" charset="-120"/>
              </a:defRPr>
            </a:lvl1pPr>
          </a:lstStyle>
          <a:p>
            <a:pPr lvl="0"/>
            <a:r>
              <a:rPr lang="zh-TW" altLang="en-US" dirty="0"/>
              <a:t>按一下以編輯母片文字樣式</a:t>
            </a:r>
          </a:p>
        </p:txBody>
      </p:sp>
      <p:sp>
        <p:nvSpPr>
          <p:cNvPr id="2" name="投影片編號版面配置區 1"/>
          <p:cNvSpPr>
            <a:spLocks noGrp="1"/>
          </p:cNvSpPr>
          <p:nvPr>
            <p:ph type="sldNum" sz="quarter" idx="19"/>
          </p:nvPr>
        </p:nvSpPr>
        <p:spPr/>
        <p:txBody>
          <a:bodyPr/>
          <a:lstStyle/>
          <a:p>
            <a:fld id="{415482FC-CF5F-466A-B8B6-BC3733E92023}" type="slidenum">
              <a:rPr lang="zh-TW" altLang="en-US" smtClean="0"/>
              <a:pPr/>
              <a:t>‹#›</a:t>
            </a:fld>
            <a:endParaRPr lang="zh-TW" altLang="en-US" dirty="0"/>
          </a:p>
        </p:txBody>
      </p:sp>
      <p:sp>
        <p:nvSpPr>
          <p:cNvPr id="10" name="標題 1"/>
          <p:cNvSpPr>
            <a:spLocks noGrp="1"/>
          </p:cNvSpPr>
          <p:nvPr>
            <p:ph type="title"/>
          </p:nvPr>
        </p:nvSpPr>
        <p:spPr>
          <a:xfrm>
            <a:off x="1061610" y="188640"/>
            <a:ext cx="7614475" cy="720000"/>
          </a:xfrm>
          <a:prstGeom prst="rect">
            <a:avLst/>
          </a:prstGeom>
        </p:spPr>
        <p:txBody>
          <a:bodyPr anchor="b">
            <a:noAutofit/>
          </a:bodyPr>
          <a:lstStyle>
            <a:lvl1pPr algn="l">
              <a:defRPr sz="2100" b="1">
                <a:solidFill>
                  <a:schemeClr val="tx2">
                    <a:lumMod val="75000"/>
                  </a:schemeClr>
                </a:solidFill>
                <a:latin typeface="微軟正黑體" pitchFamily="34" charset="-120"/>
                <a:ea typeface="微軟正黑體" pitchFamily="34" charset="-120"/>
              </a:defRPr>
            </a:lvl1pPr>
          </a:lstStyle>
          <a:p>
            <a:r>
              <a:rPr lang="zh-TW" altLang="en-US" dirty="0"/>
              <a:t>按一下以編輯母片標題樣式</a:t>
            </a:r>
          </a:p>
        </p:txBody>
      </p:sp>
    </p:spTree>
    <p:extLst>
      <p:ext uri="{BB962C8B-B14F-4D97-AF65-F5344CB8AC3E}">
        <p14:creationId xmlns:p14="http://schemas.microsoft.com/office/powerpoint/2010/main" val="15483178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9_兩項物件">
    <p:spTree>
      <p:nvGrpSpPr>
        <p:cNvPr id="1" name=""/>
        <p:cNvGrpSpPr/>
        <p:nvPr/>
      </p:nvGrpSpPr>
      <p:grpSpPr>
        <a:xfrm>
          <a:off x="0" y="0"/>
          <a:ext cx="0" cy="0"/>
          <a:chOff x="0" y="0"/>
          <a:chExt cx="0" cy="0"/>
        </a:xfrm>
      </p:grpSpPr>
      <p:sp>
        <p:nvSpPr>
          <p:cNvPr id="15" name="文字版面配置區 7"/>
          <p:cNvSpPr>
            <a:spLocks noGrp="1"/>
          </p:cNvSpPr>
          <p:nvPr>
            <p:ph type="body" sz="quarter" idx="12"/>
          </p:nvPr>
        </p:nvSpPr>
        <p:spPr>
          <a:xfrm>
            <a:off x="467544" y="6192000"/>
            <a:ext cx="7290000" cy="288032"/>
          </a:xfrm>
          <a:prstGeom prst="rect">
            <a:avLst/>
          </a:prstGeom>
        </p:spPr>
        <p:txBody>
          <a:bodyPr>
            <a:normAutofit/>
          </a:bodyPr>
          <a:lstStyle>
            <a:lvl1pPr marL="0" indent="0">
              <a:buFontTx/>
              <a:buNone/>
              <a:defRPr sz="900">
                <a:solidFill>
                  <a:schemeClr val="tx1"/>
                </a:solidFill>
                <a:latin typeface="微軟正黑體" pitchFamily="34" charset="-120"/>
                <a:ea typeface="微軟正黑體" pitchFamily="34" charset="-120"/>
              </a:defRPr>
            </a:lvl1pPr>
          </a:lstStyle>
          <a:p>
            <a:pPr lvl="0"/>
            <a:r>
              <a:rPr lang="zh-TW" altLang="en-US" dirty="0"/>
              <a:t>按一下以編輯母片文字樣式</a:t>
            </a:r>
          </a:p>
        </p:txBody>
      </p:sp>
      <p:sp>
        <p:nvSpPr>
          <p:cNvPr id="2" name="投影片編號版面配置區 1"/>
          <p:cNvSpPr>
            <a:spLocks noGrp="1"/>
          </p:cNvSpPr>
          <p:nvPr>
            <p:ph type="sldNum" sz="quarter" idx="19"/>
          </p:nvPr>
        </p:nvSpPr>
        <p:spPr/>
        <p:txBody>
          <a:bodyPr/>
          <a:lstStyle/>
          <a:p>
            <a:fld id="{415482FC-CF5F-466A-B8B6-BC3733E92023}" type="slidenum">
              <a:rPr lang="zh-TW" altLang="en-US" smtClean="0"/>
              <a:pPr/>
              <a:t>‹#›</a:t>
            </a:fld>
            <a:endParaRPr lang="zh-TW" altLang="en-US" dirty="0"/>
          </a:p>
        </p:txBody>
      </p:sp>
      <p:sp>
        <p:nvSpPr>
          <p:cNvPr id="10" name="標題 1"/>
          <p:cNvSpPr>
            <a:spLocks noGrp="1"/>
          </p:cNvSpPr>
          <p:nvPr>
            <p:ph type="title"/>
          </p:nvPr>
        </p:nvSpPr>
        <p:spPr>
          <a:xfrm>
            <a:off x="1061610" y="188640"/>
            <a:ext cx="7614475" cy="720000"/>
          </a:xfrm>
          <a:prstGeom prst="rect">
            <a:avLst/>
          </a:prstGeom>
        </p:spPr>
        <p:txBody>
          <a:bodyPr anchor="b">
            <a:noAutofit/>
          </a:bodyPr>
          <a:lstStyle>
            <a:lvl1pPr algn="l">
              <a:defRPr sz="2100" b="1">
                <a:solidFill>
                  <a:schemeClr val="tx2">
                    <a:lumMod val="75000"/>
                  </a:schemeClr>
                </a:solidFill>
                <a:latin typeface="微軟正黑體" pitchFamily="34" charset="-120"/>
                <a:ea typeface="微軟正黑體" pitchFamily="34" charset="-120"/>
              </a:defRPr>
            </a:lvl1pPr>
          </a:lstStyle>
          <a:p>
            <a:r>
              <a:rPr lang="zh-TW" altLang="en-US" dirty="0"/>
              <a:t>按一下以編輯母片標題樣式</a:t>
            </a:r>
          </a:p>
        </p:txBody>
      </p:sp>
      <p:sp>
        <p:nvSpPr>
          <p:cNvPr id="9" name="內容版面配置區 8"/>
          <p:cNvSpPr>
            <a:spLocks noGrp="1"/>
          </p:cNvSpPr>
          <p:nvPr>
            <p:ph sz="quarter" idx="20"/>
          </p:nvPr>
        </p:nvSpPr>
        <p:spPr>
          <a:xfrm>
            <a:off x="475060" y="1017312"/>
            <a:ext cx="4050000" cy="5040000"/>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16" name="內容版面配置區 8"/>
          <p:cNvSpPr>
            <a:spLocks noGrp="1"/>
          </p:cNvSpPr>
          <p:nvPr>
            <p:ph sz="quarter" idx="21"/>
          </p:nvPr>
        </p:nvSpPr>
        <p:spPr>
          <a:xfrm>
            <a:off x="4626456" y="1053296"/>
            <a:ext cx="4050000" cy="5040000"/>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01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3_標題及物件">
    <p:spTree>
      <p:nvGrpSpPr>
        <p:cNvPr id="1" name=""/>
        <p:cNvGrpSpPr/>
        <p:nvPr/>
      </p:nvGrpSpPr>
      <p:grpSpPr>
        <a:xfrm>
          <a:off x="0" y="0"/>
          <a:ext cx="0" cy="0"/>
          <a:chOff x="0" y="0"/>
          <a:chExt cx="0" cy="0"/>
        </a:xfrm>
      </p:grpSpPr>
      <p:sp>
        <p:nvSpPr>
          <p:cNvPr id="9" name="標題 1"/>
          <p:cNvSpPr>
            <a:spLocks noGrp="1"/>
          </p:cNvSpPr>
          <p:nvPr>
            <p:ph type="title"/>
          </p:nvPr>
        </p:nvSpPr>
        <p:spPr>
          <a:xfrm>
            <a:off x="457200" y="692697"/>
            <a:ext cx="8229600" cy="504056"/>
          </a:xfrm>
          <a:prstGeom prst="rect">
            <a:avLst/>
          </a:prstGeom>
        </p:spPr>
        <p:txBody>
          <a:bodyPr>
            <a:noAutofit/>
          </a:bodyPr>
          <a:lstStyle>
            <a:lvl1pPr algn="l">
              <a:defRPr sz="2100" b="1">
                <a:latin typeface="微軟正黑體" pitchFamily="34" charset="-120"/>
                <a:ea typeface="微軟正黑體" pitchFamily="34" charset="-120"/>
              </a:defRPr>
            </a:lvl1pPr>
          </a:lstStyle>
          <a:p>
            <a:r>
              <a:rPr lang="zh-TW" altLang="en-US" dirty="0"/>
              <a:t>按一下以編輯母片標題樣式</a:t>
            </a:r>
          </a:p>
        </p:txBody>
      </p:sp>
      <p:sp>
        <p:nvSpPr>
          <p:cNvPr id="10" name="內容版面配置區 3"/>
          <p:cNvSpPr>
            <a:spLocks noGrp="1"/>
          </p:cNvSpPr>
          <p:nvPr>
            <p:ph sz="half" idx="2"/>
          </p:nvPr>
        </p:nvSpPr>
        <p:spPr>
          <a:xfrm>
            <a:off x="467544" y="1268761"/>
            <a:ext cx="8219256" cy="5040560"/>
          </a:xfrm>
          <a:prstGeom prst="rect">
            <a:avLst/>
          </a:prstGeom>
        </p:spPr>
        <p:txBody>
          <a:bodyPr/>
          <a:lstStyle>
            <a:lvl1pPr>
              <a:defRPr sz="1800">
                <a:latin typeface="微軟正黑體" pitchFamily="34" charset="-120"/>
                <a:ea typeface="微軟正黑體" pitchFamily="34" charset="-120"/>
              </a:defRPr>
            </a:lvl1pPr>
            <a:lvl2pPr marL="557213" indent="-214313">
              <a:buFont typeface="Wingdings" panose="05000000000000000000" pitchFamily="2" charset="2"/>
              <a:buChar char="Ø"/>
              <a:defRPr sz="1500" b="0">
                <a:latin typeface="微軟正黑體" pitchFamily="34" charset="-120"/>
                <a:ea typeface="微軟正黑體" pitchFamily="34" charset="-120"/>
              </a:defRPr>
            </a:lvl2pPr>
            <a:lvl3pPr marL="857250" indent="-171450">
              <a:buFont typeface="Wingdings" panose="05000000000000000000" pitchFamily="2" charset="2"/>
              <a:buChar char="ü"/>
              <a:defRPr sz="1350">
                <a:latin typeface="微軟正黑體" pitchFamily="34" charset="-120"/>
                <a:ea typeface="微軟正黑體" pitchFamily="34" charset="-120"/>
              </a:defRPr>
            </a:lvl3pPr>
            <a:lvl4pPr>
              <a:defRPr sz="12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p:txBody>
      </p:sp>
      <p:sp>
        <p:nvSpPr>
          <p:cNvPr id="11" name="投影片編號版面配置區 10"/>
          <p:cNvSpPr>
            <a:spLocks noGrp="1"/>
          </p:cNvSpPr>
          <p:nvPr>
            <p:ph type="sldNum" sz="quarter" idx="10"/>
          </p:nvPr>
        </p:nvSpPr>
        <p:spPr/>
        <p:txBody>
          <a:bodyPr/>
          <a:lstStyle/>
          <a:p>
            <a:fld id="{415482FC-CF5F-466A-B8B6-BC3733E92023}" type="slidenum">
              <a:rPr lang="zh-TW" altLang="en-US" smtClean="0"/>
              <a:pPr/>
              <a:t>‹#›</a:t>
            </a:fld>
            <a:endParaRPr lang="zh-TW" altLang="en-US" dirty="0"/>
          </a:p>
        </p:txBody>
      </p:sp>
    </p:spTree>
    <p:extLst>
      <p:ext uri="{BB962C8B-B14F-4D97-AF65-F5344CB8AC3E}">
        <p14:creationId xmlns:p14="http://schemas.microsoft.com/office/powerpoint/2010/main" val="3633048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兩項物件">
    <p:spTree>
      <p:nvGrpSpPr>
        <p:cNvPr id="1" name=""/>
        <p:cNvGrpSpPr/>
        <p:nvPr/>
      </p:nvGrpSpPr>
      <p:grpSpPr>
        <a:xfrm>
          <a:off x="0" y="0"/>
          <a:ext cx="0" cy="0"/>
          <a:chOff x="0" y="0"/>
          <a:chExt cx="0" cy="0"/>
        </a:xfrm>
      </p:grpSpPr>
      <p:sp>
        <p:nvSpPr>
          <p:cNvPr id="9" name="標題 1"/>
          <p:cNvSpPr>
            <a:spLocks noGrp="1"/>
          </p:cNvSpPr>
          <p:nvPr>
            <p:ph type="title"/>
          </p:nvPr>
        </p:nvSpPr>
        <p:spPr>
          <a:xfrm>
            <a:off x="457200" y="692697"/>
            <a:ext cx="8229600" cy="504056"/>
          </a:xfrm>
          <a:prstGeom prst="rect">
            <a:avLst/>
          </a:prstGeom>
        </p:spPr>
        <p:txBody>
          <a:bodyPr>
            <a:noAutofit/>
          </a:bodyPr>
          <a:lstStyle>
            <a:lvl1pPr algn="l">
              <a:defRPr sz="21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6" name="內容版面配置區 3"/>
          <p:cNvSpPr>
            <a:spLocks noGrp="1"/>
          </p:cNvSpPr>
          <p:nvPr>
            <p:ph sz="half" idx="2"/>
          </p:nvPr>
        </p:nvSpPr>
        <p:spPr>
          <a:xfrm>
            <a:off x="467544" y="3168000"/>
            <a:ext cx="4032448" cy="2952328"/>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內容版面配置區 3"/>
          <p:cNvSpPr>
            <a:spLocks noGrp="1"/>
          </p:cNvSpPr>
          <p:nvPr>
            <p:ph sz="half" idx="16"/>
          </p:nvPr>
        </p:nvSpPr>
        <p:spPr>
          <a:xfrm>
            <a:off x="4644009" y="3168000"/>
            <a:ext cx="4032448" cy="2952328"/>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p:txBody>
      </p:sp>
      <p:sp>
        <p:nvSpPr>
          <p:cNvPr id="8" name="文字版面配置區 2"/>
          <p:cNvSpPr>
            <a:spLocks noGrp="1"/>
          </p:cNvSpPr>
          <p:nvPr>
            <p:ph type="body" sz="quarter" idx="17"/>
          </p:nvPr>
        </p:nvSpPr>
        <p:spPr>
          <a:xfrm>
            <a:off x="467546" y="2736000"/>
            <a:ext cx="4031679" cy="360040"/>
          </a:xfrm>
          <a:prstGeom prst="rect">
            <a:avLst/>
          </a:prstGeom>
        </p:spPr>
        <p:txBody>
          <a:bodyPr>
            <a:noAutofit/>
          </a:bodyPr>
          <a:lstStyle>
            <a:lvl1pPr marL="214313" indent="-214313"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3" name="文字版面配置區 2"/>
          <p:cNvSpPr>
            <a:spLocks noGrp="1"/>
          </p:cNvSpPr>
          <p:nvPr>
            <p:ph type="body" sz="quarter" idx="18"/>
          </p:nvPr>
        </p:nvSpPr>
        <p:spPr>
          <a:xfrm>
            <a:off x="4644779" y="2736000"/>
            <a:ext cx="4031679" cy="360040"/>
          </a:xfrm>
          <a:prstGeom prst="rect">
            <a:avLst/>
          </a:prstGeom>
        </p:spPr>
        <p:txBody>
          <a:bodyPr>
            <a:noAutofit/>
          </a:bodyPr>
          <a:lstStyle>
            <a:lvl1pPr marL="257175" indent="-257175"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dirty="0"/>
              <a:t>按一下以編輯母片文字樣式</a:t>
            </a:r>
          </a:p>
        </p:txBody>
      </p:sp>
      <p:sp>
        <p:nvSpPr>
          <p:cNvPr id="14" name="文字版面配置區 2"/>
          <p:cNvSpPr>
            <a:spLocks noGrp="1"/>
          </p:cNvSpPr>
          <p:nvPr>
            <p:ph type="body" sz="quarter" idx="11"/>
          </p:nvPr>
        </p:nvSpPr>
        <p:spPr>
          <a:xfrm>
            <a:off x="468315" y="1268760"/>
            <a:ext cx="8208143" cy="1224136"/>
          </a:xfrm>
          <a:prstGeom prst="rect">
            <a:avLst/>
          </a:prstGeom>
        </p:spPr>
        <p:txBody>
          <a:bodyPr>
            <a:normAutofit/>
          </a:bodyPr>
          <a:lstStyle>
            <a:lvl1pPr marL="257175" indent="-257175" algn="l">
              <a:buFont typeface="Arial" pitchFamily="34" charset="0"/>
              <a:buChar char="•"/>
              <a:defRPr sz="1200">
                <a:solidFill>
                  <a:schemeClr val="tx1">
                    <a:lumMod val="95000"/>
                    <a:lumOff val="5000"/>
                  </a:schemeClr>
                </a:solidFill>
                <a:latin typeface="微軟正黑體" pitchFamily="34" charset="-120"/>
                <a:ea typeface="微軟正黑體" pitchFamily="34" charset="-120"/>
              </a:defRPr>
            </a:lvl1pPr>
          </a:lstStyle>
          <a:p>
            <a:pPr lvl="0"/>
            <a:r>
              <a:rPr lang="zh-TW" altLang="en-US"/>
              <a:t>按一下以編輯母片文字樣式</a:t>
            </a:r>
          </a:p>
        </p:txBody>
      </p:sp>
      <p:sp>
        <p:nvSpPr>
          <p:cNvPr id="15" name="文字版面配置區 7"/>
          <p:cNvSpPr>
            <a:spLocks noGrp="1"/>
          </p:cNvSpPr>
          <p:nvPr>
            <p:ph type="body" sz="quarter" idx="12"/>
          </p:nvPr>
        </p:nvSpPr>
        <p:spPr>
          <a:xfrm>
            <a:off x="467544" y="6192000"/>
            <a:ext cx="8208912" cy="288032"/>
          </a:xfrm>
          <a:prstGeom prst="rect">
            <a:avLst/>
          </a:prstGeom>
        </p:spPr>
        <p:txBody>
          <a:bodyPr>
            <a:normAutofit/>
          </a:bodyPr>
          <a:lstStyle>
            <a:lvl1pPr marL="0" indent="0">
              <a:buFontTx/>
              <a:buNone/>
              <a:defRPr sz="900">
                <a:latin typeface="微軟正黑體" pitchFamily="34" charset="-120"/>
                <a:ea typeface="微軟正黑體" pitchFamily="34" charset="-120"/>
              </a:defRPr>
            </a:lvl1pPr>
          </a:lstStyle>
          <a:p>
            <a:pPr lvl="0"/>
            <a:r>
              <a:rPr lang="zh-TW" altLang="en-US" dirty="0"/>
              <a:t>按一下以編輯母片文字樣式</a:t>
            </a:r>
          </a:p>
        </p:txBody>
      </p:sp>
      <p:sp>
        <p:nvSpPr>
          <p:cNvPr id="2" name="投影片編號版面配置區 1"/>
          <p:cNvSpPr>
            <a:spLocks noGrp="1"/>
          </p:cNvSpPr>
          <p:nvPr>
            <p:ph type="sldNum" sz="quarter" idx="19"/>
          </p:nvPr>
        </p:nvSpPr>
        <p:spPr/>
        <p:txBody>
          <a:bodyPr/>
          <a:lstStyle/>
          <a:p>
            <a:fld id="{415482FC-CF5F-466A-B8B6-BC3733E92023}" type="slidenum">
              <a:rPr lang="zh-TW" altLang="en-US" smtClean="0"/>
              <a:pPr/>
              <a:t>‹#›</a:t>
            </a:fld>
            <a:endParaRPr lang="zh-TW" altLang="en-US" dirty="0"/>
          </a:p>
        </p:txBody>
      </p:sp>
    </p:spTree>
    <p:extLst>
      <p:ext uri="{BB962C8B-B14F-4D97-AF65-F5344CB8AC3E}">
        <p14:creationId xmlns:p14="http://schemas.microsoft.com/office/powerpoint/2010/main" val="977986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兩項物件">
    <p:spTree>
      <p:nvGrpSpPr>
        <p:cNvPr id="1" name=""/>
        <p:cNvGrpSpPr/>
        <p:nvPr/>
      </p:nvGrpSpPr>
      <p:grpSpPr>
        <a:xfrm>
          <a:off x="0" y="0"/>
          <a:ext cx="0" cy="0"/>
          <a:chOff x="0" y="0"/>
          <a:chExt cx="0" cy="0"/>
        </a:xfrm>
      </p:grpSpPr>
      <p:sp>
        <p:nvSpPr>
          <p:cNvPr id="9" name="標題 1"/>
          <p:cNvSpPr>
            <a:spLocks noGrp="1"/>
          </p:cNvSpPr>
          <p:nvPr>
            <p:ph type="title"/>
          </p:nvPr>
        </p:nvSpPr>
        <p:spPr>
          <a:xfrm>
            <a:off x="457200" y="692697"/>
            <a:ext cx="8229600" cy="504056"/>
          </a:xfrm>
          <a:prstGeom prst="rect">
            <a:avLst/>
          </a:prstGeom>
        </p:spPr>
        <p:txBody>
          <a:bodyPr>
            <a:noAutofit/>
          </a:bodyPr>
          <a:lstStyle>
            <a:lvl1pPr algn="l">
              <a:defRPr sz="21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10" name="文字版面配置區 2"/>
          <p:cNvSpPr>
            <a:spLocks noGrp="1"/>
          </p:cNvSpPr>
          <p:nvPr>
            <p:ph type="body" sz="quarter" idx="17"/>
          </p:nvPr>
        </p:nvSpPr>
        <p:spPr>
          <a:xfrm>
            <a:off x="468314" y="4797152"/>
            <a:ext cx="4031679" cy="1152128"/>
          </a:xfrm>
          <a:prstGeom prst="rect">
            <a:avLst/>
          </a:prstGeom>
        </p:spPr>
        <p:txBody>
          <a:bodyPr>
            <a:normAutofit/>
          </a:bodyPr>
          <a:lstStyle>
            <a:lvl1pPr marL="257175" indent="-257175" algn="l">
              <a:buFont typeface="Arial" pitchFamily="34" charset="0"/>
              <a:buChar char="•"/>
              <a:defRPr sz="1200">
                <a:solidFill>
                  <a:schemeClr val="tx1">
                    <a:lumMod val="95000"/>
                    <a:lumOff val="5000"/>
                  </a:schemeClr>
                </a:solidFill>
                <a:latin typeface="微軟正黑體" pitchFamily="34" charset="-120"/>
                <a:ea typeface="微軟正黑體" pitchFamily="34" charset="-120"/>
              </a:defRPr>
            </a:lvl1pPr>
          </a:lstStyle>
          <a:p>
            <a:pPr lvl="0"/>
            <a:r>
              <a:rPr lang="zh-TW" altLang="en-US"/>
              <a:t>按一下以編輯母片文字樣式</a:t>
            </a:r>
          </a:p>
        </p:txBody>
      </p:sp>
      <p:sp>
        <p:nvSpPr>
          <p:cNvPr id="11" name="內容版面配置區 3"/>
          <p:cNvSpPr>
            <a:spLocks noGrp="1"/>
          </p:cNvSpPr>
          <p:nvPr>
            <p:ph sz="half" idx="16"/>
          </p:nvPr>
        </p:nvSpPr>
        <p:spPr>
          <a:xfrm>
            <a:off x="4644009" y="1700808"/>
            <a:ext cx="4032448" cy="3024336"/>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p:txBody>
      </p:sp>
      <p:sp>
        <p:nvSpPr>
          <p:cNvPr id="12" name="文字版面配置區 2"/>
          <p:cNvSpPr>
            <a:spLocks noGrp="1"/>
          </p:cNvSpPr>
          <p:nvPr>
            <p:ph type="body" sz="quarter" idx="18"/>
          </p:nvPr>
        </p:nvSpPr>
        <p:spPr>
          <a:xfrm>
            <a:off x="467546" y="1268760"/>
            <a:ext cx="4031679" cy="360040"/>
          </a:xfrm>
          <a:prstGeom prst="rect">
            <a:avLst/>
          </a:prstGeom>
        </p:spPr>
        <p:txBody>
          <a:bodyPr>
            <a:noAutofit/>
          </a:bodyPr>
          <a:lstStyle>
            <a:lvl1pPr marL="214313" indent="-214313"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a:t>按一下以編輯母片文字樣式</a:t>
            </a:r>
          </a:p>
        </p:txBody>
      </p:sp>
      <p:sp>
        <p:nvSpPr>
          <p:cNvPr id="13" name="文字版面配置區 2"/>
          <p:cNvSpPr>
            <a:spLocks noGrp="1"/>
          </p:cNvSpPr>
          <p:nvPr>
            <p:ph type="body" sz="quarter" idx="19"/>
          </p:nvPr>
        </p:nvSpPr>
        <p:spPr>
          <a:xfrm>
            <a:off x="4644779" y="1268760"/>
            <a:ext cx="4031679" cy="360040"/>
          </a:xfrm>
          <a:prstGeom prst="rect">
            <a:avLst/>
          </a:prstGeom>
        </p:spPr>
        <p:txBody>
          <a:bodyPr>
            <a:noAutofit/>
          </a:bodyPr>
          <a:lstStyle>
            <a:lvl1pPr marL="257175" indent="-257175"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a:t>按一下以編輯母片文字樣式</a:t>
            </a:r>
          </a:p>
        </p:txBody>
      </p:sp>
      <p:sp>
        <p:nvSpPr>
          <p:cNvPr id="16" name="文字版面配置區 2"/>
          <p:cNvSpPr>
            <a:spLocks noGrp="1"/>
          </p:cNvSpPr>
          <p:nvPr>
            <p:ph type="body" sz="quarter" idx="20"/>
          </p:nvPr>
        </p:nvSpPr>
        <p:spPr>
          <a:xfrm>
            <a:off x="4644779" y="4797152"/>
            <a:ext cx="4031679" cy="1152128"/>
          </a:xfrm>
          <a:prstGeom prst="rect">
            <a:avLst/>
          </a:prstGeom>
        </p:spPr>
        <p:txBody>
          <a:bodyPr>
            <a:normAutofit/>
          </a:bodyPr>
          <a:lstStyle>
            <a:lvl1pPr marL="257175" indent="-257175" algn="l">
              <a:buFont typeface="Arial" pitchFamily="34" charset="0"/>
              <a:buChar char="•"/>
              <a:defRPr sz="1200">
                <a:solidFill>
                  <a:schemeClr val="tx1">
                    <a:lumMod val="95000"/>
                    <a:lumOff val="5000"/>
                  </a:schemeClr>
                </a:solidFill>
                <a:latin typeface="微軟正黑體" pitchFamily="34" charset="-120"/>
                <a:ea typeface="微軟正黑體" pitchFamily="34" charset="-120"/>
              </a:defRPr>
            </a:lvl1pPr>
          </a:lstStyle>
          <a:p>
            <a:pPr lvl="0"/>
            <a:r>
              <a:rPr lang="zh-TW" altLang="en-US"/>
              <a:t>按一下以編輯母片文字樣式</a:t>
            </a:r>
          </a:p>
        </p:txBody>
      </p:sp>
      <p:sp>
        <p:nvSpPr>
          <p:cNvPr id="17" name="文字版面配置區 7"/>
          <p:cNvSpPr>
            <a:spLocks noGrp="1"/>
          </p:cNvSpPr>
          <p:nvPr>
            <p:ph type="body" sz="quarter" idx="12"/>
          </p:nvPr>
        </p:nvSpPr>
        <p:spPr>
          <a:xfrm>
            <a:off x="467544" y="6021289"/>
            <a:ext cx="8208912" cy="288032"/>
          </a:xfrm>
          <a:prstGeom prst="rect">
            <a:avLst/>
          </a:prstGeom>
        </p:spPr>
        <p:txBody>
          <a:bodyPr>
            <a:normAutofit/>
          </a:bodyPr>
          <a:lstStyle>
            <a:lvl1pPr marL="0" indent="0">
              <a:buFontTx/>
              <a:buNone/>
              <a:defRPr sz="900">
                <a:latin typeface="微軟正黑體" pitchFamily="34" charset="-120"/>
                <a:ea typeface="微軟正黑體" pitchFamily="34" charset="-120"/>
              </a:defRPr>
            </a:lvl1pPr>
          </a:lstStyle>
          <a:p>
            <a:pPr lvl="0"/>
            <a:r>
              <a:rPr lang="zh-TW" altLang="en-US"/>
              <a:t>按一下以編輯母片文字樣式</a:t>
            </a:r>
          </a:p>
        </p:txBody>
      </p:sp>
      <p:sp>
        <p:nvSpPr>
          <p:cNvPr id="18" name="內容版面配置區 3"/>
          <p:cNvSpPr>
            <a:spLocks noGrp="1"/>
          </p:cNvSpPr>
          <p:nvPr>
            <p:ph sz="half" idx="21"/>
          </p:nvPr>
        </p:nvSpPr>
        <p:spPr>
          <a:xfrm>
            <a:off x="467544" y="1700808"/>
            <a:ext cx="4032448" cy="3024336"/>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p:txBody>
      </p:sp>
    </p:spTree>
    <p:extLst>
      <p:ext uri="{BB962C8B-B14F-4D97-AF65-F5344CB8AC3E}">
        <p14:creationId xmlns:p14="http://schemas.microsoft.com/office/powerpoint/2010/main" val="36355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7_兩項物件">
    <p:spTree>
      <p:nvGrpSpPr>
        <p:cNvPr id="1" name=""/>
        <p:cNvGrpSpPr/>
        <p:nvPr/>
      </p:nvGrpSpPr>
      <p:grpSpPr>
        <a:xfrm>
          <a:off x="0" y="0"/>
          <a:ext cx="0" cy="0"/>
          <a:chOff x="0" y="0"/>
          <a:chExt cx="0" cy="0"/>
        </a:xfrm>
      </p:grpSpPr>
      <p:sp>
        <p:nvSpPr>
          <p:cNvPr id="9" name="標題 1"/>
          <p:cNvSpPr>
            <a:spLocks noGrp="1"/>
          </p:cNvSpPr>
          <p:nvPr>
            <p:ph type="title"/>
          </p:nvPr>
        </p:nvSpPr>
        <p:spPr>
          <a:xfrm>
            <a:off x="457200" y="692697"/>
            <a:ext cx="8229600" cy="504056"/>
          </a:xfrm>
          <a:prstGeom prst="rect">
            <a:avLst/>
          </a:prstGeom>
        </p:spPr>
        <p:txBody>
          <a:bodyPr>
            <a:noAutofit/>
          </a:bodyPr>
          <a:lstStyle>
            <a:lvl1pPr algn="l">
              <a:defRPr sz="21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14" name="文字版面配置區 2"/>
          <p:cNvSpPr>
            <a:spLocks noGrp="1"/>
          </p:cNvSpPr>
          <p:nvPr>
            <p:ph type="body" sz="quarter" idx="18"/>
          </p:nvPr>
        </p:nvSpPr>
        <p:spPr>
          <a:xfrm>
            <a:off x="467546" y="1268760"/>
            <a:ext cx="4031679" cy="792088"/>
          </a:xfrm>
          <a:prstGeom prst="rect">
            <a:avLst/>
          </a:prstGeom>
        </p:spPr>
        <p:txBody>
          <a:bodyPr>
            <a:noAutofit/>
          </a:bodyPr>
          <a:lstStyle>
            <a:lvl1pPr marL="214313" indent="-214313"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a:t>按一下以編輯母片文字樣式</a:t>
            </a:r>
          </a:p>
        </p:txBody>
      </p:sp>
      <p:sp>
        <p:nvSpPr>
          <p:cNvPr id="15" name="文字版面配置區 2"/>
          <p:cNvSpPr>
            <a:spLocks noGrp="1"/>
          </p:cNvSpPr>
          <p:nvPr>
            <p:ph type="body" sz="quarter" idx="19"/>
          </p:nvPr>
        </p:nvSpPr>
        <p:spPr>
          <a:xfrm>
            <a:off x="4644779" y="1268760"/>
            <a:ext cx="4031679" cy="792088"/>
          </a:xfrm>
          <a:prstGeom prst="rect">
            <a:avLst/>
          </a:prstGeom>
        </p:spPr>
        <p:txBody>
          <a:bodyPr>
            <a:noAutofit/>
          </a:bodyPr>
          <a:lstStyle>
            <a:lvl1pPr marL="257175" indent="-257175" algn="l">
              <a:buFont typeface="Arial" pitchFamily="34" charset="0"/>
              <a:buChar char="•"/>
              <a:defRPr sz="1350">
                <a:solidFill>
                  <a:srgbClr val="C00000"/>
                </a:solidFill>
                <a:latin typeface="微軟正黑體" pitchFamily="34" charset="-120"/>
                <a:ea typeface="微軟正黑體" pitchFamily="34" charset="-120"/>
              </a:defRPr>
            </a:lvl1pPr>
          </a:lstStyle>
          <a:p>
            <a:pPr lvl="0"/>
            <a:r>
              <a:rPr lang="zh-TW" altLang="en-US"/>
              <a:t>按一下以編輯母片文字樣式</a:t>
            </a:r>
          </a:p>
        </p:txBody>
      </p:sp>
      <p:sp>
        <p:nvSpPr>
          <p:cNvPr id="19" name="文字版面配置區 7"/>
          <p:cNvSpPr>
            <a:spLocks noGrp="1"/>
          </p:cNvSpPr>
          <p:nvPr>
            <p:ph type="body" sz="quarter" idx="12"/>
          </p:nvPr>
        </p:nvSpPr>
        <p:spPr>
          <a:xfrm>
            <a:off x="467544" y="5229201"/>
            <a:ext cx="8208912" cy="720080"/>
          </a:xfrm>
          <a:prstGeom prst="rect">
            <a:avLst/>
          </a:prstGeom>
        </p:spPr>
        <p:txBody>
          <a:bodyPr>
            <a:normAutofit/>
          </a:bodyPr>
          <a:lstStyle>
            <a:lvl1pPr marL="128588" indent="-128588">
              <a:buFont typeface="Arial" pitchFamily="34" charset="0"/>
              <a:buChar char="•"/>
              <a:defRPr sz="900">
                <a:latin typeface="微軟正黑體" pitchFamily="34" charset="-120"/>
                <a:ea typeface="微軟正黑體" pitchFamily="34" charset="-120"/>
              </a:defRPr>
            </a:lvl1pPr>
          </a:lstStyle>
          <a:p>
            <a:pPr lvl="0"/>
            <a:r>
              <a:rPr lang="zh-TW" altLang="en-US"/>
              <a:t>按一下以編輯母片文字樣式</a:t>
            </a:r>
          </a:p>
        </p:txBody>
      </p:sp>
      <p:sp>
        <p:nvSpPr>
          <p:cNvPr id="20" name="內容版面配置區 3"/>
          <p:cNvSpPr>
            <a:spLocks noGrp="1"/>
          </p:cNvSpPr>
          <p:nvPr>
            <p:ph sz="half" idx="20"/>
          </p:nvPr>
        </p:nvSpPr>
        <p:spPr>
          <a:xfrm>
            <a:off x="4644009" y="2132856"/>
            <a:ext cx="4032448" cy="3024336"/>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zh-TW" altLang="en-US" dirty="0"/>
          </a:p>
        </p:txBody>
      </p:sp>
      <p:sp>
        <p:nvSpPr>
          <p:cNvPr id="21" name="內容版面配置區 3"/>
          <p:cNvSpPr>
            <a:spLocks noGrp="1"/>
          </p:cNvSpPr>
          <p:nvPr>
            <p:ph sz="half" idx="2"/>
          </p:nvPr>
        </p:nvSpPr>
        <p:spPr>
          <a:xfrm>
            <a:off x="467544" y="2132856"/>
            <a:ext cx="4032448" cy="3024336"/>
          </a:xfrm>
          <a:prstGeom prst="rect">
            <a:avLst/>
          </a:prstGeom>
        </p:spPr>
        <p:txBody>
          <a:bodyPr/>
          <a:lstStyle>
            <a:lvl1pPr marL="0" indent="0">
              <a:buFontTx/>
              <a:buNone/>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05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zh-TW" altLang="en-US" dirty="0"/>
          </a:p>
        </p:txBody>
      </p:sp>
      <p:sp>
        <p:nvSpPr>
          <p:cNvPr id="2" name="投影片編號版面配置區 1"/>
          <p:cNvSpPr>
            <a:spLocks noGrp="1"/>
          </p:cNvSpPr>
          <p:nvPr>
            <p:ph type="sldNum" sz="quarter" idx="21"/>
          </p:nvPr>
        </p:nvSpPr>
        <p:spPr/>
        <p:txBody>
          <a:bodyPr/>
          <a:lstStyle/>
          <a:p>
            <a:fld id="{415482FC-CF5F-466A-B8B6-BC3733E92023}" type="slidenum">
              <a:rPr lang="zh-TW" altLang="en-US" smtClean="0"/>
              <a:pPr/>
              <a:t>‹#›</a:t>
            </a:fld>
            <a:endParaRPr lang="zh-TW" altLang="en-US" dirty="0"/>
          </a:p>
        </p:txBody>
      </p:sp>
      <p:sp>
        <p:nvSpPr>
          <p:cNvPr id="10" name="文字版面配置區 7"/>
          <p:cNvSpPr>
            <a:spLocks noGrp="1"/>
          </p:cNvSpPr>
          <p:nvPr>
            <p:ph type="body" sz="quarter" idx="22"/>
          </p:nvPr>
        </p:nvSpPr>
        <p:spPr>
          <a:xfrm>
            <a:off x="467544" y="6021289"/>
            <a:ext cx="8208912" cy="288032"/>
          </a:xfrm>
          <a:prstGeom prst="rect">
            <a:avLst/>
          </a:prstGeom>
        </p:spPr>
        <p:txBody>
          <a:bodyPr>
            <a:normAutofit/>
          </a:bodyPr>
          <a:lstStyle>
            <a:lvl1pPr marL="0" indent="0">
              <a:buFontTx/>
              <a:buNone/>
              <a:defRPr sz="900">
                <a:latin typeface="微軟正黑體" pitchFamily="34" charset="-120"/>
                <a:ea typeface="微軟正黑體" pitchFamily="34" charset="-120"/>
              </a:defRPr>
            </a:lvl1pPr>
          </a:lstStyle>
          <a:p>
            <a:pPr lvl="0"/>
            <a:r>
              <a:rPr lang="zh-TW" altLang="en-US"/>
              <a:t>按一下以編輯母片文字樣式</a:t>
            </a:r>
          </a:p>
        </p:txBody>
      </p:sp>
    </p:spTree>
    <p:extLst>
      <p:ext uri="{BB962C8B-B14F-4D97-AF65-F5344CB8AC3E}">
        <p14:creationId xmlns:p14="http://schemas.microsoft.com/office/powerpoint/2010/main" val="445683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8_標題及物件">
    <p:spTree>
      <p:nvGrpSpPr>
        <p:cNvPr id="1" name=""/>
        <p:cNvGrpSpPr/>
        <p:nvPr/>
      </p:nvGrpSpPr>
      <p:grpSpPr>
        <a:xfrm>
          <a:off x="0" y="0"/>
          <a:ext cx="0" cy="0"/>
          <a:chOff x="0" y="0"/>
          <a:chExt cx="0" cy="0"/>
        </a:xfrm>
      </p:grpSpPr>
      <p:sp>
        <p:nvSpPr>
          <p:cNvPr id="9" name="標題 1"/>
          <p:cNvSpPr>
            <a:spLocks noGrp="1"/>
          </p:cNvSpPr>
          <p:nvPr>
            <p:ph type="title"/>
          </p:nvPr>
        </p:nvSpPr>
        <p:spPr>
          <a:xfrm>
            <a:off x="457200" y="692697"/>
            <a:ext cx="8229600" cy="504056"/>
          </a:xfrm>
          <a:prstGeom prst="rect">
            <a:avLst/>
          </a:prstGeom>
        </p:spPr>
        <p:txBody>
          <a:bodyPr>
            <a:noAutofit/>
          </a:bodyPr>
          <a:lstStyle>
            <a:lvl1pPr algn="l">
              <a:defRPr sz="21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8" name="文字版面配置區 3"/>
          <p:cNvSpPr>
            <a:spLocks noGrp="1"/>
          </p:cNvSpPr>
          <p:nvPr>
            <p:ph type="body" sz="half" idx="2"/>
          </p:nvPr>
        </p:nvSpPr>
        <p:spPr>
          <a:xfrm>
            <a:off x="5597355" y="1268761"/>
            <a:ext cx="3079103" cy="4608512"/>
          </a:xfrm>
          <a:prstGeom prst="rect">
            <a:avLst/>
          </a:prstGeom>
        </p:spPr>
        <p:txBody>
          <a:bodyPr>
            <a:normAutofit/>
          </a:bodyPr>
          <a:lstStyle>
            <a:lvl1pPr marL="214313" indent="-214313">
              <a:buFont typeface="Arial" pitchFamily="34" charset="0"/>
              <a:buChar char="•"/>
              <a:defRPr sz="1200">
                <a:latin typeface="微軟正黑體" pitchFamily="34" charset="-120"/>
                <a:ea typeface="微軟正黑體" pitchFamily="34" charset="-12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TW" altLang="en-US"/>
              <a:t>按一下以編輯母片文字樣式</a:t>
            </a:r>
          </a:p>
        </p:txBody>
      </p:sp>
      <p:sp>
        <p:nvSpPr>
          <p:cNvPr id="10" name="內容版面配置區 3"/>
          <p:cNvSpPr>
            <a:spLocks noGrp="1"/>
          </p:cNvSpPr>
          <p:nvPr>
            <p:ph sz="half" idx="10"/>
          </p:nvPr>
        </p:nvSpPr>
        <p:spPr>
          <a:xfrm>
            <a:off x="467545" y="1268760"/>
            <a:ext cx="5040560" cy="4248472"/>
          </a:xfrm>
          <a:prstGeom prst="rect">
            <a:avLst/>
          </a:prstGeom>
        </p:spPr>
        <p:txBody>
          <a:bodyPr/>
          <a:lstStyle>
            <a:lvl1pPr>
              <a:defRPr sz="1350">
                <a:latin typeface="微軟正黑體" pitchFamily="34" charset="-120"/>
                <a:ea typeface="微軟正黑體" pitchFamily="34" charset="-120"/>
              </a:defRPr>
            </a:lvl1pPr>
            <a:lvl2pPr>
              <a:defRPr sz="1200">
                <a:latin typeface="微軟正黑體" pitchFamily="34" charset="-120"/>
                <a:ea typeface="微軟正黑體" pitchFamily="34" charset="-120"/>
              </a:defRPr>
            </a:lvl2pPr>
            <a:lvl3pPr>
              <a:defRPr sz="1050">
                <a:latin typeface="微軟正黑體" pitchFamily="34" charset="-120"/>
                <a:ea typeface="微軟正黑體" pitchFamily="34" charset="-120"/>
              </a:defRPr>
            </a:lvl3pPr>
            <a:lvl4pPr>
              <a:defRPr sz="900">
                <a:latin typeface="微軟正黑體" pitchFamily="34" charset="-120"/>
                <a:ea typeface="微軟正黑體" pitchFamily="34" charset="-120"/>
              </a:defRPr>
            </a:lvl4pPr>
            <a:lvl5pPr>
              <a:defRPr sz="1200">
                <a:latin typeface="微軟正黑體" pitchFamily="34" charset="-120"/>
                <a:ea typeface="微軟正黑體" pitchFamily="34" charset="-120"/>
              </a:defRPr>
            </a:lvl5pPr>
            <a:lvl6pPr>
              <a:defRPr sz="1200"/>
            </a:lvl6pPr>
            <a:lvl7pPr>
              <a:defRPr sz="1200"/>
            </a:lvl7pPr>
            <a:lvl8pPr>
              <a:defRPr sz="1200"/>
            </a:lvl8pPr>
            <a:lvl9pPr>
              <a:defRPr sz="12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p:txBody>
      </p:sp>
      <p:sp>
        <p:nvSpPr>
          <p:cNvPr id="11" name="文字版面配置區 7"/>
          <p:cNvSpPr>
            <a:spLocks noGrp="1"/>
          </p:cNvSpPr>
          <p:nvPr>
            <p:ph type="body" sz="quarter" idx="12"/>
          </p:nvPr>
        </p:nvSpPr>
        <p:spPr>
          <a:xfrm>
            <a:off x="467545" y="5589241"/>
            <a:ext cx="5040560" cy="288032"/>
          </a:xfrm>
          <a:prstGeom prst="rect">
            <a:avLst/>
          </a:prstGeom>
        </p:spPr>
        <p:txBody>
          <a:bodyPr>
            <a:normAutofit/>
          </a:bodyPr>
          <a:lstStyle>
            <a:lvl1pPr marL="0" indent="0">
              <a:buFontTx/>
              <a:buNone/>
              <a:defRPr sz="900">
                <a:latin typeface="微軟正黑體" pitchFamily="34" charset="-120"/>
                <a:ea typeface="微軟正黑體" pitchFamily="34" charset="-120"/>
              </a:defRPr>
            </a:lvl1pPr>
          </a:lstStyle>
          <a:p>
            <a:pPr lvl="0"/>
            <a:r>
              <a:rPr lang="zh-TW" altLang="en-US"/>
              <a:t>按一下以編輯母片文字樣式</a:t>
            </a:r>
          </a:p>
        </p:txBody>
      </p:sp>
      <p:sp>
        <p:nvSpPr>
          <p:cNvPr id="2" name="投影片編號版面配置區 1"/>
          <p:cNvSpPr>
            <a:spLocks noGrp="1"/>
          </p:cNvSpPr>
          <p:nvPr>
            <p:ph type="sldNum" sz="quarter" idx="13"/>
          </p:nvPr>
        </p:nvSpPr>
        <p:spPr/>
        <p:txBody>
          <a:bodyPr/>
          <a:lstStyle/>
          <a:p>
            <a:fld id="{415482FC-CF5F-466A-B8B6-BC3733E92023}" type="slidenum">
              <a:rPr lang="zh-TW" altLang="en-US" smtClean="0"/>
              <a:pPr/>
              <a:t>‹#›</a:t>
            </a:fld>
            <a:endParaRPr lang="zh-TW" altLang="en-US" dirty="0"/>
          </a:p>
        </p:txBody>
      </p:sp>
    </p:spTree>
    <p:extLst>
      <p:ext uri="{BB962C8B-B14F-4D97-AF65-F5344CB8AC3E}">
        <p14:creationId xmlns:p14="http://schemas.microsoft.com/office/powerpoint/2010/main" val="37848695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9_免責聲明">
    <p:spTree>
      <p:nvGrpSpPr>
        <p:cNvPr id="1" name=""/>
        <p:cNvGrpSpPr/>
        <p:nvPr/>
      </p:nvGrpSpPr>
      <p:grpSpPr>
        <a:xfrm>
          <a:off x="0" y="0"/>
          <a:ext cx="0" cy="0"/>
          <a:chOff x="0" y="0"/>
          <a:chExt cx="0" cy="0"/>
        </a:xfrm>
      </p:grpSpPr>
      <p:sp>
        <p:nvSpPr>
          <p:cNvPr id="2" name="投影片編號版面配置區 1"/>
          <p:cNvSpPr>
            <a:spLocks noGrp="1"/>
          </p:cNvSpPr>
          <p:nvPr>
            <p:ph type="sldNum" sz="quarter" idx="18"/>
          </p:nvPr>
        </p:nvSpPr>
        <p:spPr/>
        <p:txBody>
          <a:bodyPr/>
          <a:lstStyle/>
          <a:p>
            <a:fld id="{415482FC-CF5F-466A-B8B6-BC3733E92023}" type="slidenum">
              <a:rPr lang="zh-TW" altLang="en-US" smtClean="0"/>
              <a:pPr/>
              <a:t>‹#›</a:t>
            </a:fld>
            <a:endParaRPr lang="zh-TW" altLang="en-US" dirty="0"/>
          </a:p>
        </p:txBody>
      </p:sp>
      <p:sp>
        <p:nvSpPr>
          <p:cNvPr id="3" name="矩形 2"/>
          <p:cNvSpPr/>
          <p:nvPr/>
        </p:nvSpPr>
        <p:spPr>
          <a:xfrm>
            <a:off x="518013" y="836715"/>
            <a:ext cx="7992888" cy="507831"/>
          </a:xfrm>
          <a:prstGeom prst="rect">
            <a:avLst/>
          </a:prstGeom>
        </p:spPr>
        <p:txBody>
          <a:bodyPr wrap="square">
            <a:spAutoFit/>
          </a:bodyPr>
          <a:lstStyle/>
          <a:p>
            <a:r>
              <a:rPr lang="zh-TW" altLang="zh-TW" sz="1350" dirty="0">
                <a:solidFill>
                  <a:srgbClr val="FF0000"/>
                </a:solidFill>
                <a:latin typeface="微軟正黑體" pitchFamily="34" charset="-120"/>
                <a:ea typeface="微軟正黑體" pitchFamily="34" charset="-120"/>
              </a:rPr>
              <a:t>免責宣言說明</a:t>
            </a:r>
            <a:endParaRPr lang="en-US" altLang="zh-TW" sz="1350" dirty="0">
              <a:solidFill>
                <a:srgbClr val="FF0000"/>
              </a:solidFill>
              <a:latin typeface="微軟正黑體" pitchFamily="34" charset="-120"/>
              <a:ea typeface="微軟正黑體" pitchFamily="34" charset="-120"/>
            </a:endParaRPr>
          </a:p>
          <a:p>
            <a:endParaRPr lang="en-US" altLang="zh-TW" sz="1350" dirty="0">
              <a:latin typeface="微軟正黑體" pitchFamily="34" charset="-120"/>
              <a:ea typeface="微軟正黑體" pitchFamily="34" charset="-120"/>
            </a:endParaRPr>
          </a:p>
        </p:txBody>
      </p:sp>
      <p:sp>
        <p:nvSpPr>
          <p:cNvPr id="5" name="矩形 4"/>
          <p:cNvSpPr/>
          <p:nvPr userDrawn="1"/>
        </p:nvSpPr>
        <p:spPr>
          <a:xfrm>
            <a:off x="518013" y="836712"/>
            <a:ext cx="7992888" cy="2169825"/>
          </a:xfrm>
          <a:prstGeom prst="rect">
            <a:avLst/>
          </a:prstGeom>
        </p:spPr>
        <p:txBody>
          <a:bodyPr wrap="square">
            <a:spAutoFit/>
          </a:bodyPr>
          <a:lstStyle/>
          <a:p>
            <a:pPr algn="just"/>
            <a:r>
              <a:rPr lang="zh-TW" altLang="zh-TW" sz="1350" dirty="0">
                <a:solidFill>
                  <a:srgbClr val="FF0000"/>
                </a:solidFill>
                <a:latin typeface="微軟正黑體" pitchFamily="34" charset="-120"/>
                <a:ea typeface="微軟正黑體" pitchFamily="34" charset="-120"/>
              </a:rPr>
              <a:t>免責宣言說明</a:t>
            </a:r>
            <a:endParaRPr lang="en-US" altLang="zh-TW" sz="1350" dirty="0">
              <a:solidFill>
                <a:srgbClr val="FF0000"/>
              </a:solidFill>
              <a:latin typeface="微軟正黑體" pitchFamily="34" charset="-120"/>
              <a:ea typeface="微軟正黑體" pitchFamily="34" charset="-120"/>
            </a:endParaRPr>
          </a:p>
          <a:p>
            <a:pPr algn="just"/>
            <a:endParaRPr lang="en-US" altLang="zh-TW" sz="1350" dirty="0">
              <a:latin typeface="微軟正黑體" pitchFamily="34" charset="-120"/>
              <a:ea typeface="微軟正黑體" pitchFamily="34" charset="-120"/>
            </a:endParaRPr>
          </a:p>
          <a:p>
            <a:pPr algn="just"/>
            <a:r>
              <a:rPr lang="zh-TW" altLang="en-US" sz="1350" dirty="0">
                <a:latin typeface="微軟正黑體" pitchFamily="34" charset="-120"/>
                <a:ea typeface="微軟正黑體" pitchFamily="34" charset="-120"/>
              </a:rPr>
              <a:t>免責聲明</a:t>
            </a:r>
            <a:r>
              <a:rPr lang="en-US" altLang="zh-TW" sz="1350" dirty="0">
                <a:latin typeface="微軟正黑體" pitchFamily="34" charset="-120"/>
                <a:ea typeface="微軟正黑體" pitchFamily="34" charset="-120"/>
              </a:rPr>
              <a:t>:</a:t>
            </a:r>
          </a:p>
          <a:p>
            <a:pPr algn="just"/>
            <a:r>
              <a:rPr lang="zh-TW" altLang="en-US" sz="1350" dirty="0">
                <a:latin typeface="微軟正黑體" pitchFamily="34" charset="-120"/>
                <a:ea typeface="微軟正黑體" pitchFamily="34" charset="-120"/>
              </a:rPr>
              <a:t>台新證券投資顧問股份有限公司 </a:t>
            </a:r>
            <a:r>
              <a:rPr lang="en-US" altLang="zh-TW" sz="1350" dirty="0">
                <a:latin typeface="微軟正黑體" pitchFamily="34" charset="-120"/>
                <a:ea typeface="微軟正黑體" pitchFamily="34" charset="-120"/>
              </a:rPr>
              <a:t>(02)5589-9558  Fax:(02)3707-6769  </a:t>
            </a:r>
            <a:r>
              <a:rPr lang="zh-TW" altLang="en-US" sz="1350" dirty="0">
                <a:latin typeface="微軟正黑體" pitchFamily="34" charset="-120"/>
                <a:ea typeface="微軟正黑體" pitchFamily="34" charset="-120"/>
              </a:rPr>
              <a:t>地址</a:t>
            </a:r>
            <a:r>
              <a:rPr lang="en-US" altLang="zh-TW" sz="1350" dirty="0">
                <a:latin typeface="微軟正黑體" pitchFamily="34" charset="-120"/>
                <a:ea typeface="微軟正黑體" pitchFamily="34" charset="-120"/>
              </a:rPr>
              <a:t>:</a:t>
            </a:r>
            <a:r>
              <a:rPr lang="zh-TW" altLang="en-US" sz="1350" dirty="0">
                <a:latin typeface="微軟正黑體" pitchFamily="34" charset="-120"/>
                <a:ea typeface="微軟正黑體" pitchFamily="34" charset="-120"/>
              </a:rPr>
              <a:t>台北市仁愛路四段</a:t>
            </a:r>
            <a:r>
              <a:rPr lang="en-US" altLang="zh-TW" sz="1350" dirty="0">
                <a:latin typeface="微軟正黑體" pitchFamily="34" charset="-120"/>
                <a:ea typeface="微軟正黑體" pitchFamily="34" charset="-120"/>
              </a:rPr>
              <a:t>118</a:t>
            </a:r>
            <a:r>
              <a:rPr lang="zh-TW" altLang="en-US" sz="1350" dirty="0">
                <a:latin typeface="微軟正黑體" pitchFamily="34" charset="-120"/>
                <a:ea typeface="微軟正黑體" pitchFamily="34" charset="-120"/>
              </a:rPr>
              <a:t>號</a:t>
            </a:r>
            <a:r>
              <a:rPr lang="en-US" altLang="zh-TW" sz="1350" dirty="0">
                <a:latin typeface="微軟正黑體" pitchFamily="34" charset="-120"/>
                <a:ea typeface="微軟正黑體" pitchFamily="34" charset="-120"/>
              </a:rPr>
              <a:t>16</a:t>
            </a:r>
            <a:r>
              <a:rPr lang="zh-TW" altLang="en-US" sz="1350" dirty="0">
                <a:latin typeface="微軟正黑體" pitchFamily="34" charset="-120"/>
                <a:ea typeface="微軟正黑體" pitchFamily="34" charset="-120"/>
              </a:rPr>
              <a:t>樓  一百零八金管投顧新字第零壹柒號。本報告所載係根據各項市場資訊</a:t>
            </a:r>
            <a:r>
              <a:rPr lang="en-US" altLang="zh-TW" sz="1350" dirty="0">
                <a:latin typeface="微軟正黑體" pitchFamily="34" charset="-120"/>
                <a:ea typeface="微軟正黑體" pitchFamily="34" charset="-120"/>
              </a:rPr>
              <a:t>, </a:t>
            </a:r>
            <a:r>
              <a:rPr lang="zh-TW" altLang="en-US" sz="1350" dirty="0">
                <a:latin typeface="微軟正黑體" pitchFamily="34" charset="-120"/>
                <a:ea typeface="微軟正黑體" pitchFamily="34" charset="-120"/>
              </a:rPr>
              <a:t>加以整理、彙集及研究分析。僅供參考，本公司不保證其正確性及完整性。內容如涉及有價證券或金融商品相關記載或說明，並不構成要約、招攬、宣傳、建議或推薦買賣等任何形式之表示，投資人如參考本報告進行相關投資或交易，應自行承擔所有損益</a:t>
            </a:r>
            <a:r>
              <a:rPr lang="en-US" altLang="zh-TW" sz="1350" dirty="0">
                <a:latin typeface="微軟正黑體" pitchFamily="34" charset="-120"/>
                <a:ea typeface="微軟正黑體" pitchFamily="34" charset="-120"/>
              </a:rPr>
              <a:t>, </a:t>
            </a:r>
            <a:r>
              <a:rPr lang="zh-TW" altLang="en-US" sz="1350" dirty="0">
                <a:latin typeface="微軟正黑體" pitchFamily="34" charset="-120"/>
                <a:ea typeface="微軟正黑體" pitchFamily="34" charset="-120"/>
              </a:rPr>
              <a:t>本公司不負任何法律責任。另本公司同時擔任木星基金總代理人，惟本公司投資研究部門與招攬木星基金之業務部門，不相隸屬且予適當區隔，不致侵害客戶利益。此外，非經本公司同意，不得將本報告內容之部份或全部加以複製、轉載或散布。</a:t>
            </a:r>
            <a:endParaRPr lang="en-US" altLang="zh-TW" sz="1350" dirty="0">
              <a:latin typeface="微軟正黑體" pitchFamily="34" charset="-120"/>
              <a:ea typeface="微軟正黑體" pitchFamily="34" charset="-120"/>
            </a:endParaRPr>
          </a:p>
        </p:txBody>
      </p:sp>
    </p:spTree>
    <p:extLst>
      <p:ext uri="{BB962C8B-B14F-4D97-AF65-F5344CB8AC3E}">
        <p14:creationId xmlns:p14="http://schemas.microsoft.com/office/powerpoint/2010/main" val="12031420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投影片編號版面配置區 5"/>
          <p:cNvSpPr>
            <a:spLocks noGrp="1"/>
          </p:cNvSpPr>
          <p:nvPr>
            <p:ph type="sldNum" sz="quarter" idx="4"/>
          </p:nvPr>
        </p:nvSpPr>
        <p:spPr>
          <a:xfrm>
            <a:off x="197514" y="6381328"/>
            <a:ext cx="395064" cy="288032"/>
          </a:xfrm>
          <a:prstGeom prst="rect">
            <a:avLst/>
          </a:prstGeom>
        </p:spPr>
        <p:txBody>
          <a:bodyPr/>
          <a:lstStyle>
            <a:lvl1pPr>
              <a:defRPr sz="900">
                <a:latin typeface="Arial" pitchFamily="34" charset="0"/>
                <a:cs typeface="Arial" pitchFamily="34" charset="0"/>
              </a:defRPr>
            </a:lvl1pPr>
          </a:lstStyle>
          <a:p>
            <a:fld id="{415482FC-CF5F-466A-B8B6-BC3733E92023}" type="slidenum">
              <a:rPr lang="zh-TW" altLang="en-US" smtClean="0"/>
              <a:pPr/>
              <a:t>‹#›</a:t>
            </a:fld>
            <a:endParaRPr lang="zh-TW" altLang="en-US" dirty="0"/>
          </a:p>
        </p:txBody>
      </p:sp>
      <p:cxnSp>
        <p:nvCxnSpPr>
          <p:cNvPr id="7" name="直接连接符 14">
            <a:extLst>
              <a:ext uri="{FF2B5EF4-FFF2-40B4-BE49-F238E27FC236}">
                <a16:creationId xmlns:a16="http://schemas.microsoft.com/office/drawing/2014/main" xmlns="" id="{EC0A9803-A926-48F3-9681-2B42C0C06D43}"/>
              </a:ext>
            </a:extLst>
          </p:cNvPr>
          <p:cNvCxnSpPr>
            <a:cxnSpLocks/>
          </p:cNvCxnSpPr>
          <p:nvPr userDrawn="1"/>
        </p:nvCxnSpPr>
        <p:spPr>
          <a:xfrm>
            <a:off x="467544" y="6519747"/>
            <a:ext cx="7173346" cy="0"/>
          </a:xfrm>
          <a:prstGeom prst="line">
            <a:avLst/>
          </a:prstGeom>
          <a:ln w="28575">
            <a:solidFill>
              <a:srgbClr val="DE0000"/>
            </a:solidFill>
            <a:round/>
          </a:ln>
          <a:effectLst/>
          <a:scene3d>
            <a:camera prst="orthographicFront"/>
            <a:lightRig rig="threePt" dir="t"/>
          </a:scene3d>
          <a:sp3d prstMaterial="matte">
            <a:bevelB w="0" h="0"/>
          </a:sp3d>
        </p:spPr>
        <p:style>
          <a:lnRef idx="1">
            <a:schemeClr val="accent1"/>
          </a:lnRef>
          <a:fillRef idx="0">
            <a:schemeClr val="accent1"/>
          </a:fillRef>
          <a:effectRef idx="0">
            <a:schemeClr val="accent1"/>
          </a:effectRef>
          <a:fontRef idx="minor">
            <a:schemeClr val="tx1"/>
          </a:fontRef>
        </p:style>
      </p:cxnSp>
      <p:grpSp>
        <p:nvGrpSpPr>
          <p:cNvPr id="9" name="群組 8"/>
          <p:cNvGrpSpPr/>
          <p:nvPr userDrawn="1"/>
        </p:nvGrpSpPr>
        <p:grpSpPr>
          <a:xfrm>
            <a:off x="7758354" y="6450842"/>
            <a:ext cx="1253784" cy="233799"/>
            <a:chOff x="2747814" y="218978"/>
            <a:chExt cx="3060153" cy="491493"/>
          </a:xfrm>
        </p:grpSpPr>
        <p:pic>
          <p:nvPicPr>
            <p:cNvPr id="14" name="Picture 2" descr="台新綜合證券股份有限公司等包銷聯上實業股份有限公司國內第三次無擔保轉">
              <a:extLst>
                <a:ext uri="{FF2B5EF4-FFF2-40B4-BE49-F238E27FC236}">
                  <a16:creationId xmlns:a16="http://schemas.microsoft.com/office/drawing/2014/main" xmlns="" id="{2FD9BB75-12CC-AE4F-BABA-8091371005B8}"/>
                </a:ext>
              </a:extLst>
            </p:cNvPr>
            <p:cNvPicPr>
              <a:picLocks noChangeAspect="1" noChangeArrowheads="1"/>
            </p:cNvPicPr>
            <p:nvPr/>
          </p:nvPicPr>
          <p:blipFill>
            <a:blip r:embed="rId14" cstate="screen">
              <a:extLst>
                <a:ext uri="{28A0092B-C50C-407E-A947-70E740481C1C}">
                  <a14:useLocalDpi xmlns:a14="http://schemas.microsoft.com/office/drawing/2010/main"/>
                </a:ext>
              </a:extLst>
            </a:blip>
            <a:srcRect/>
            <a:stretch>
              <a:fillRect/>
            </a:stretch>
          </p:blipFill>
          <p:spPr bwMode="auto">
            <a:xfrm>
              <a:off x="2747814" y="350046"/>
              <a:ext cx="1583173" cy="360425"/>
            </a:xfrm>
            <a:prstGeom prst="rect">
              <a:avLst/>
            </a:prstGeom>
            <a:noFill/>
            <a:extLst>
              <a:ext uri="{909E8E84-426E-40DD-AFC4-6F175D3DCCD1}">
                <a14:hiddenFill xmlns:a14="http://schemas.microsoft.com/office/drawing/2010/main">
                  <a:solidFill>
                    <a:srgbClr val="FFFFFF"/>
                  </a:solidFill>
                </a14:hiddenFill>
              </a:ext>
            </a:extLst>
          </p:spPr>
        </p:pic>
        <p:pic>
          <p:nvPicPr>
            <p:cNvPr id="15" name="圖片 14"/>
            <p:cNvPicPr>
              <a:picLocks noChangeAspect="1"/>
            </p:cNvPicPr>
            <p:nvPr/>
          </p:nvPicPr>
          <p:blipFill rotWithShape="1">
            <a:blip r:embed="rId15" cstate="screen">
              <a:extLst>
                <a:ext uri="{28A0092B-C50C-407E-A947-70E740481C1C}">
                  <a14:useLocalDpi xmlns:a14="http://schemas.microsoft.com/office/drawing/2010/main"/>
                </a:ext>
              </a:extLst>
            </a:blip>
            <a:srcRect r="72177" b="35515"/>
            <a:stretch/>
          </p:blipFill>
          <p:spPr>
            <a:xfrm>
              <a:off x="4330987" y="218978"/>
              <a:ext cx="1476980" cy="473718"/>
            </a:xfrm>
            <a:prstGeom prst="rect">
              <a:avLst/>
            </a:prstGeom>
          </p:spPr>
        </p:pic>
      </p:grpSp>
      <p:sp>
        <p:nvSpPr>
          <p:cNvPr id="18" name="矩形 17">
            <a:extLst>
              <a:ext uri="{FF2B5EF4-FFF2-40B4-BE49-F238E27FC236}">
                <a16:creationId xmlns:a16="http://schemas.microsoft.com/office/drawing/2014/main" xmlns="" id="{A3B58A0A-0CAB-FE6A-53DF-18ED3B3EFA00}"/>
              </a:ext>
            </a:extLst>
          </p:cNvPr>
          <p:cNvSpPr/>
          <p:nvPr userDrawn="1"/>
        </p:nvSpPr>
        <p:spPr>
          <a:xfrm>
            <a:off x="6732240" y="0"/>
            <a:ext cx="2412000" cy="187558"/>
          </a:xfrm>
          <a:prstGeom prst="rect">
            <a:avLst/>
          </a:prstGeom>
          <a:gradFill flip="none" rotWithShape="1">
            <a:gsLst>
              <a:gs pos="26000">
                <a:srgbClr val="ECE8E5"/>
              </a:gs>
              <a:gs pos="7000">
                <a:schemeClr val="bg1"/>
              </a:gs>
              <a:gs pos="99000">
                <a:schemeClr val="bg1">
                  <a:lumMod val="8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sz="1350"/>
          </a:p>
        </p:txBody>
      </p:sp>
      <p:pic>
        <p:nvPicPr>
          <p:cNvPr id="19" name="圖片 18"/>
          <p:cNvPicPr>
            <a:picLocks noChangeAspect="1"/>
          </p:cNvPicPr>
          <p:nvPr userDrawn="1"/>
        </p:nvPicPr>
        <p:blipFill>
          <a:blip r:embed="rId16"/>
          <a:stretch>
            <a:fillRect/>
          </a:stretch>
        </p:blipFill>
        <p:spPr>
          <a:xfrm>
            <a:off x="7308304" y="-16771"/>
            <a:ext cx="1999661" cy="256054"/>
          </a:xfrm>
          <a:prstGeom prst="rect">
            <a:avLst/>
          </a:prstGeom>
        </p:spPr>
      </p:pic>
    </p:spTree>
    <p:extLst>
      <p:ext uri="{BB962C8B-B14F-4D97-AF65-F5344CB8AC3E}">
        <p14:creationId xmlns:p14="http://schemas.microsoft.com/office/powerpoint/2010/main" val="2055990614"/>
      </p:ext>
    </p:extLst>
  </p:cSld>
  <p:clrMap bg1="lt1" tx1="dk1" bg2="lt2" tx2="dk2" accent1="accent1" accent2="accent2" accent3="accent3" accent4="accent4" accent5="accent5" accent6="accent6" hlink="hlink" folHlink="folHlink"/>
  <p:sldLayoutIdLst>
    <p:sldLayoutId id="2147483669" r:id="rId1"/>
    <p:sldLayoutId id="2147483678" r:id="rId2"/>
    <p:sldLayoutId id="2147483682" r:id="rId3"/>
    <p:sldLayoutId id="2147483681" r:id="rId4"/>
    <p:sldLayoutId id="2147483679" r:id="rId5"/>
    <p:sldLayoutId id="2147483680" r:id="rId6"/>
    <p:sldLayoutId id="2147483671" r:id="rId7"/>
    <p:sldLayoutId id="2147483673" r:id="rId8"/>
    <p:sldLayoutId id="2147483674" r:id="rId9"/>
    <p:sldLayoutId id="2147483675" r:id="rId10"/>
    <p:sldLayoutId id="2147483676" r:id="rId11"/>
    <p:sldLayoutId id="2147483677" r:id="rId12"/>
  </p:sldLayoutIdLst>
  <p:hf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zh-TW"/>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7.png"/><Relationship Id="rId7"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1.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hyperlink" Target="https://www.edf.fr/sites/groupe/files/2026-04/2026-04-02-edf-facts-and-figures-2025.pdf" TargetMode="External"/><Relationship Id="rId11" Type="http://schemas.openxmlformats.org/officeDocument/2006/relationships/image" Target="../media/image17.png"/><Relationship Id="rId5" Type="http://schemas.openxmlformats.org/officeDocument/2006/relationships/image" Target="../media/image13.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12.png"/><Relationship Id="rId9" Type="http://schemas.openxmlformats.org/officeDocument/2006/relationships/image" Target="../media/image15.png"/><Relationship Id="rId14"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www.edf.fr/en/the-edf-group/dedicated-sections/journalists/all-press-releases/2023-half-year-results-substantially-higher-ebitda-and-stabilisation-of-net-financial-debt-gradual-return-to-better-nuclear-fleet-availability-good-overall-operational-performance" TargetMode="External"/><Relationship Id="rId7"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chart" Target="../charts/chart3.xml"/><Relationship Id="rId5" Type="http://schemas.openxmlformats.org/officeDocument/2006/relationships/chart" Target="../charts/char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chart" Target="../charts/chart4.xml"/><Relationship Id="rId5" Type="http://schemas.openxmlformats.org/officeDocument/2006/relationships/image" Target="../media/image27.png"/><Relationship Id="rId10" Type="http://schemas.openxmlformats.org/officeDocument/2006/relationships/chart" Target="../charts/chart5.xml"/><Relationship Id="rId4" Type="http://schemas.openxmlformats.org/officeDocument/2006/relationships/image" Target="../media/image26.png"/><Relationship Id="rId9"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2664328" y="3483648"/>
            <a:ext cx="4626574" cy="349749"/>
          </a:xfrm>
        </p:spPr>
        <p:txBody>
          <a:bodyPr/>
          <a:lstStyle/>
          <a:p>
            <a:r>
              <a:rPr lang="en-US" altLang="zh-TW" dirty="0" err="1"/>
              <a:t>Électricité</a:t>
            </a:r>
            <a:r>
              <a:rPr lang="en-US" altLang="zh-TW" dirty="0"/>
              <a:t> de France S.A.</a:t>
            </a:r>
          </a:p>
        </p:txBody>
      </p:sp>
      <p:sp>
        <p:nvSpPr>
          <p:cNvPr id="8" name="标题 4">
            <a:extLst>
              <a:ext uri="{FF2B5EF4-FFF2-40B4-BE49-F238E27FC236}">
                <a16:creationId xmlns:a16="http://schemas.microsoft.com/office/drawing/2014/main" xmlns="" id="{1AE4FD0B-D14F-4EEF-AFF6-9742FB255240}"/>
              </a:ext>
            </a:extLst>
          </p:cNvPr>
          <p:cNvSpPr txBox="1">
            <a:spLocks/>
          </p:cNvSpPr>
          <p:nvPr/>
        </p:nvSpPr>
        <p:spPr>
          <a:xfrm>
            <a:off x="359533" y="3429000"/>
            <a:ext cx="6048671" cy="432048"/>
          </a:xfrm>
          <a:prstGeom prst="rect">
            <a:avLst/>
          </a:prstGeom>
        </p:spPr>
        <p:txBody>
          <a:bodyPr>
            <a:noAutofit/>
          </a:bodyPr>
          <a:lstStyle>
            <a:lvl1pPr algn="l" defTabSz="914400" rtl="0" eaLnBrk="1" latinLnBrk="0" hangingPunct="1">
              <a:spcBef>
                <a:spcPct val="0"/>
              </a:spcBef>
              <a:buNone/>
              <a:defRPr sz="4000" b="1" kern="1200">
                <a:solidFill>
                  <a:schemeClr val="tx1">
                    <a:lumMod val="95000"/>
                    <a:lumOff val="5000"/>
                  </a:schemeClr>
                </a:solidFill>
                <a:latin typeface="微軟正黑體" pitchFamily="34" charset="-120"/>
                <a:ea typeface="微軟正黑體" pitchFamily="34" charset="-120"/>
                <a:cs typeface="+mj-cs"/>
              </a:defRPr>
            </a:lvl1pPr>
          </a:lstStyle>
          <a:p>
            <a:pPr>
              <a:defRPr/>
            </a:pPr>
            <a:r>
              <a:rPr lang="zh-TW" altLang="en-US" sz="3000" dirty="0">
                <a:solidFill>
                  <a:schemeClr val="tx2"/>
                </a:solidFill>
              </a:rPr>
              <a:t/>
            </a:r>
            <a:br>
              <a:rPr lang="zh-TW" altLang="en-US" sz="3000" dirty="0">
                <a:solidFill>
                  <a:schemeClr val="tx2"/>
                </a:solidFill>
              </a:rPr>
            </a:br>
            <a:endParaRPr lang="en-US" altLang="zh-TW" sz="3000" dirty="0">
              <a:solidFill>
                <a:schemeClr val="tx1">
                  <a:lumMod val="75000"/>
                  <a:lumOff val="25000"/>
                </a:schemeClr>
              </a:solidFill>
              <a:effectLst>
                <a:outerShdw blurRad="38100" dist="38100" dir="2700000" algn="tl">
                  <a:srgbClr val="000000">
                    <a:alpha val="43137"/>
                  </a:srgbClr>
                </a:outerShdw>
              </a:effectLst>
              <a:latin typeface="+mn-ea"/>
              <a:ea typeface="+mn-ea"/>
            </a:endParaRPr>
          </a:p>
        </p:txBody>
      </p:sp>
      <p:sp>
        <p:nvSpPr>
          <p:cNvPr id="4" name="標題 3"/>
          <p:cNvSpPr>
            <a:spLocks noGrp="1"/>
          </p:cNvSpPr>
          <p:nvPr>
            <p:ph type="ctrTitle"/>
          </p:nvPr>
        </p:nvSpPr>
        <p:spPr>
          <a:xfrm>
            <a:off x="2664328" y="2935160"/>
            <a:ext cx="4860000" cy="439193"/>
          </a:xfrm>
        </p:spPr>
        <p:txBody>
          <a:bodyPr/>
          <a:lstStyle/>
          <a:p>
            <a:r>
              <a:rPr lang="zh-TW" altLang="en-US" sz="2800" dirty="0"/>
              <a:t>法國電力公司</a:t>
            </a:r>
          </a:p>
        </p:txBody>
      </p:sp>
      <p:pic>
        <p:nvPicPr>
          <p:cNvPr id="7" name="圖片 6"/>
          <p:cNvPicPr>
            <a:picLocks noChangeAspect="1"/>
          </p:cNvPicPr>
          <p:nvPr/>
        </p:nvPicPr>
        <p:blipFill>
          <a:blip r:embed="rId2"/>
          <a:stretch>
            <a:fillRect/>
          </a:stretch>
        </p:blipFill>
        <p:spPr>
          <a:xfrm>
            <a:off x="467544" y="2437322"/>
            <a:ext cx="1800200" cy="907418"/>
          </a:xfrm>
          <a:prstGeom prst="rect">
            <a:avLst/>
          </a:prstGeom>
        </p:spPr>
      </p:pic>
    </p:spTree>
    <p:extLst>
      <p:ext uri="{BB962C8B-B14F-4D97-AF65-F5344CB8AC3E}">
        <p14:creationId xmlns:p14="http://schemas.microsoft.com/office/powerpoint/2010/main" val="152826726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xmlns="" id="{2699700B-649E-4B41-BD33-38C3C73BF142}"/>
              </a:ext>
            </a:extLst>
          </p:cNvPr>
          <p:cNvSpPr/>
          <p:nvPr/>
        </p:nvSpPr>
        <p:spPr>
          <a:xfrm>
            <a:off x="473084" y="4509120"/>
            <a:ext cx="5935044" cy="1928247"/>
          </a:xfrm>
          <a:prstGeom prst="rect">
            <a:avLst/>
          </a:prstGeom>
          <a:noFill/>
          <a:ln>
            <a:solidFill>
              <a:srgbClr val="E4E4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8" name="圖片 37"/>
          <p:cNvPicPr>
            <a:picLocks noChangeAspect="1"/>
          </p:cNvPicPr>
          <p:nvPr/>
        </p:nvPicPr>
        <p:blipFill>
          <a:blip r:embed="rId3"/>
          <a:stretch>
            <a:fillRect/>
          </a:stretch>
        </p:blipFill>
        <p:spPr>
          <a:xfrm>
            <a:off x="671087" y="4365104"/>
            <a:ext cx="1225403" cy="397799"/>
          </a:xfrm>
          <a:prstGeom prst="rect">
            <a:avLst/>
          </a:prstGeom>
        </p:spPr>
      </p:pic>
      <p:cxnSp>
        <p:nvCxnSpPr>
          <p:cNvPr id="18" name="直線接點 17">
            <a:extLst>
              <a:ext uri="{FF2B5EF4-FFF2-40B4-BE49-F238E27FC236}">
                <a16:creationId xmlns:a16="http://schemas.microsoft.com/office/drawing/2014/main" xmlns="" id="{A04FBD28-E6A3-4645-9422-603BD8C266EB}"/>
              </a:ext>
            </a:extLst>
          </p:cNvPr>
          <p:cNvCxnSpPr/>
          <p:nvPr/>
        </p:nvCxnSpPr>
        <p:spPr>
          <a:xfrm>
            <a:off x="7076640" y="980728"/>
            <a:ext cx="1715711" cy="0"/>
          </a:xfrm>
          <a:prstGeom prst="line">
            <a:avLst/>
          </a:prstGeom>
          <a:ln w="19050">
            <a:solidFill>
              <a:schemeClr val="bg1">
                <a:lumMod val="75000"/>
              </a:schemeClr>
            </a:solidFill>
          </a:ln>
        </p:spPr>
        <p:style>
          <a:lnRef idx="1">
            <a:schemeClr val="accent6"/>
          </a:lnRef>
          <a:fillRef idx="0">
            <a:schemeClr val="accent6"/>
          </a:fillRef>
          <a:effectRef idx="0">
            <a:schemeClr val="accent6"/>
          </a:effectRef>
          <a:fontRef idx="minor">
            <a:schemeClr val="tx1"/>
          </a:fontRef>
        </p:style>
      </p:cxnSp>
      <p:pic>
        <p:nvPicPr>
          <p:cNvPr id="27" name="圖片 26">
            <a:extLst>
              <a:ext uri="{FF2B5EF4-FFF2-40B4-BE49-F238E27FC236}">
                <a16:creationId xmlns:a16="http://schemas.microsoft.com/office/drawing/2014/main" xmlns="" id="{812C6449-9CF8-4E1F-B004-6A52F2380BE4}"/>
              </a:ext>
            </a:extLst>
          </p:cNvPr>
          <p:cNvPicPr>
            <a:picLocks noChangeAspect="1"/>
          </p:cNvPicPr>
          <p:nvPr/>
        </p:nvPicPr>
        <p:blipFill>
          <a:blip r:embed="rId4"/>
          <a:stretch>
            <a:fillRect/>
          </a:stretch>
        </p:blipFill>
        <p:spPr>
          <a:xfrm>
            <a:off x="473084" y="964791"/>
            <a:ext cx="5935044" cy="3442225"/>
          </a:xfrm>
          <a:prstGeom prst="rect">
            <a:avLst/>
          </a:prstGeom>
        </p:spPr>
      </p:pic>
      <p:sp>
        <p:nvSpPr>
          <p:cNvPr id="29" name="文字版面配置區 15">
            <a:extLst>
              <a:ext uri="{FF2B5EF4-FFF2-40B4-BE49-F238E27FC236}">
                <a16:creationId xmlns:a16="http://schemas.microsoft.com/office/drawing/2014/main" xmlns="" id="{11A04B46-DE0C-4282-BFCA-6BA92CADD11B}"/>
              </a:ext>
            </a:extLst>
          </p:cNvPr>
          <p:cNvSpPr txBox="1">
            <a:spLocks/>
          </p:cNvSpPr>
          <p:nvPr/>
        </p:nvSpPr>
        <p:spPr>
          <a:xfrm>
            <a:off x="473084" y="1052736"/>
            <a:ext cx="5935044" cy="3330255"/>
          </a:xfrm>
          <a:prstGeom prst="rect">
            <a:avLst/>
          </a:prstGeom>
        </p:spPr>
        <p:txBody>
          <a:bodyPr>
            <a:noAutofit/>
          </a:bodyPr>
          <a:lst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lgn="just">
              <a:lnSpc>
                <a:spcPts val="1500"/>
              </a:lnSpc>
              <a:spcBef>
                <a:spcPts val="300"/>
              </a:spcBef>
              <a:buNone/>
            </a:pPr>
            <a:r>
              <a:rPr lang="zh-TW" altLang="en-US" sz="1100" dirty="0">
                <a:latin typeface="微軟正黑體" pitchFamily="34" charset="-120"/>
                <a:ea typeface="微軟正黑體" pitchFamily="34" charset="-120"/>
              </a:rPr>
              <a:t>法國電力公司</a:t>
            </a:r>
            <a:r>
              <a:rPr lang="en-US" altLang="zh-TW" sz="1100" dirty="0">
                <a:latin typeface="微軟正黑體" pitchFamily="34" charset="-120"/>
                <a:ea typeface="微軟正黑體" pitchFamily="34" charset="-120"/>
              </a:rPr>
              <a:t>(</a:t>
            </a:r>
            <a:r>
              <a:rPr lang="zh-TW" altLang="en-US" sz="1100" dirty="0">
                <a:latin typeface="微軟正黑體" pitchFamily="34" charset="-120"/>
                <a:ea typeface="微軟正黑體" pitchFamily="34" charset="-120"/>
              </a:rPr>
              <a:t>法語：</a:t>
            </a:r>
            <a:r>
              <a:rPr lang="en-US" altLang="zh-TW" sz="1100" dirty="0" err="1">
                <a:latin typeface="微軟正黑體" pitchFamily="34" charset="-120"/>
                <a:ea typeface="微軟正黑體" pitchFamily="34" charset="-120"/>
              </a:rPr>
              <a:t>Électricité</a:t>
            </a:r>
            <a:r>
              <a:rPr lang="en-US" altLang="zh-TW" sz="1100" dirty="0">
                <a:latin typeface="微軟正黑體" pitchFamily="34" charset="-120"/>
                <a:ea typeface="微軟正黑體" pitchFamily="34" charset="-120"/>
              </a:rPr>
              <a:t> de France S.A.</a:t>
            </a:r>
            <a:r>
              <a:rPr lang="zh-TW" altLang="en-US" sz="1100" dirty="0">
                <a:latin typeface="微軟正黑體" pitchFamily="34" charset="-120"/>
                <a:ea typeface="微軟正黑體" pitchFamily="34" charset="-120"/>
              </a:rPr>
              <a:t>，縮寫：</a:t>
            </a:r>
            <a:r>
              <a:rPr lang="en-US" altLang="zh-TW" sz="1100" dirty="0">
                <a:latin typeface="微軟正黑體" pitchFamily="34" charset="-120"/>
                <a:ea typeface="微軟正黑體" pitchFamily="34" charset="-120"/>
              </a:rPr>
              <a:t>EDF)</a:t>
            </a:r>
            <a:r>
              <a:rPr lang="zh-TW" altLang="en-US" sz="1100" dirty="0">
                <a:latin typeface="微軟正黑體" pitchFamily="34" charset="-120"/>
                <a:ea typeface="微軟正黑體" pitchFamily="34" charset="-120"/>
              </a:rPr>
              <a:t>成立於</a:t>
            </a:r>
            <a:r>
              <a:rPr lang="en-US" altLang="zh-TW" sz="1100" dirty="0">
                <a:latin typeface="微軟正黑體" pitchFamily="34" charset="-120"/>
                <a:ea typeface="微軟正黑體" pitchFamily="34" charset="-120"/>
              </a:rPr>
              <a:t>1946</a:t>
            </a:r>
            <a:r>
              <a:rPr lang="zh-TW" altLang="en-US" sz="1100" dirty="0">
                <a:latin typeface="微軟正黑體" pitchFamily="34" charset="-120"/>
                <a:ea typeface="微軟正黑體" pitchFamily="34" charset="-120"/>
              </a:rPr>
              <a:t>年，總部設在法國巴黎，是法國的公用電力公司，法國政府於</a:t>
            </a:r>
            <a:r>
              <a:rPr lang="en-US" altLang="zh-TW" sz="1100" dirty="0">
                <a:latin typeface="微軟正黑體" pitchFamily="34" charset="-120"/>
                <a:ea typeface="微軟正黑體" pitchFamily="34" charset="-120"/>
              </a:rPr>
              <a:t>2023</a:t>
            </a:r>
            <a:r>
              <a:rPr lang="zh-TW" altLang="en-US" sz="1100" dirty="0">
                <a:latin typeface="微軟正黑體" pitchFamily="34" charset="-120"/>
                <a:ea typeface="微軟正黑體" pitchFamily="34" charset="-120"/>
              </a:rPr>
              <a:t>年</a:t>
            </a:r>
            <a:r>
              <a:rPr lang="en-US" altLang="zh-TW" sz="1100" dirty="0">
                <a:latin typeface="微軟正黑體" pitchFamily="34" charset="-120"/>
                <a:ea typeface="微軟正黑體" pitchFamily="34" charset="-120"/>
              </a:rPr>
              <a:t>5</a:t>
            </a:r>
            <a:r>
              <a:rPr lang="zh-TW" altLang="en-US" sz="1100" dirty="0">
                <a:latin typeface="微軟正黑體" pitchFamily="34" charset="-120"/>
                <a:ea typeface="微軟正黑體" pitchFamily="34" charset="-120"/>
              </a:rPr>
              <a:t>月獲法院批准收購剩餘的</a:t>
            </a:r>
            <a:r>
              <a:rPr lang="en-US" altLang="zh-TW" sz="1100" dirty="0">
                <a:latin typeface="微軟正黑體" pitchFamily="34" charset="-120"/>
                <a:ea typeface="微軟正黑體" pitchFamily="34" charset="-120"/>
              </a:rPr>
              <a:t>4%</a:t>
            </a:r>
            <a:r>
              <a:rPr lang="zh-TW" altLang="en-US" sz="1100" dirty="0">
                <a:latin typeface="微軟正黑體" pitchFamily="34" charset="-120"/>
                <a:ea typeface="微軟正黑體" pitchFamily="34" charset="-120"/>
              </a:rPr>
              <a:t>股份，將其重新收歸國有並下市。</a:t>
            </a:r>
            <a:r>
              <a:rPr lang="en-US" altLang="zh-TW" sz="1100" dirty="0">
                <a:latin typeface="微軟正黑體" pitchFamily="34" charset="-120"/>
                <a:ea typeface="微軟正黑體" pitchFamily="34" charset="-120"/>
              </a:rPr>
              <a:t>EDF</a:t>
            </a:r>
            <a:r>
              <a:rPr lang="zh-TW" altLang="en-US" sz="1100" dirty="0">
                <a:latin typeface="微軟正黑體" pitchFamily="34" charset="-120"/>
                <a:ea typeface="微軟正黑體" pitchFamily="34" charset="-120"/>
              </a:rPr>
              <a:t>是世界上最大的垂直整合公用事業之一，業務活躍於發電、輸配電、能源供應及貿易、能源服務等整個電力價值鏈，其輸配電業務於全球智慧電網發展排名第一。營運遍及歐洲、美洲、亞洲、中東和非洲，僱有逾</a:t>
            </a:r>
            <a:r>
              <a:rPr lang="en-US" altLang="zh-TW" sz="1100" dirty="0" smtClean="0">
                <a:latin typeface="微軟正黑體" pitchFamily="34" charset="-120"/>
                <a:ea typeface="微軟正黑體" pitchFamily="34" charset="-120"/>
              </a:rPr>
              <a:t>19</a:t>
            </a:r>
            <a:r>
              <a:rPr lang="zh-TW" altLang="en-US" sz="1100" dirty="0" smtClean="0">
                <a:latin typeface="微軟正黑體" pitchFamily="34" charset="-120"/>
                <a:ea typeface="微軟正黑體" pitchFamily="34" charset="-120"/>
              </a:rPr>
              <a:t>萬</a:t>
            </a:r>
            <a:r>
              <a:rPr lang="zh-TW" altLang="en-US" sz="1100" dirty="0">
                <a:latin typeface="微軟正黑體" pitchFamily="34" charset="-120"/>
                <a:ea typeface="微軟正黑體" pitchFamily="34" charset="-120"/>
              </a:rPr>
              <a:t>名員工為</a:t>
            </a:r>
            <a:r>
              <a:rPr lang="en-US" altLang="zh-TW" sz="1100" dirty="0" smtClean="0">
                <a:latin typeface="微軟正黑體" pitchFamily="34" charset="-120"/>
                <a:ea typeface="微軟正黑體" pitchFamily="34" charset="-120"/>
              </a:rPr>
              <a:t>4,110</a:t>
            </a:r>
            <a:r>
              <a:rPr lang="zh-TW" altLang="en-US" sz="1100" dirty="0" smtClean="0">
                <a:latin typeface="微軟正黑體" pitchFamily="34" charset="-120"/>
                <a:ea typeface="微軟正黑體" pitchFamily="34" charset="-120"/>
              </a:rPr>
              <a:t>萬</a:t>
            </a:r>
            <a:r>
              <a:rPr lang="zh-TW" altLang="en-US" sz="1100" dirty="0">
                <a:latin typeface="微軟正黑體" pitchFamily="34" charset="-120"/>
                <a:ea typeface="微軟正黑體" pitchFamily="34" charset="-120"/>
              </a:rPr>
              <a:t>客戶服務，在法國佔據主導地位，並於英國及義大利擁有強大市佔，且擁有全球最大的核能艦隊。</a:t>
            </a:r>
            <a:endParaRPr lang="en-US" altLang="zh-TW" sz="1100" dirty="0">
              <a:solidFill>
                <a:schemeClr val="tx1">
                  <a:lumMod val="75000"/>
                  <a:lumOff val="25000"/>
                </a:schemeClr>
              </a:solidFill>
            </a:endParaRPr>
          </a:p>
          <a:p>
            <a:pPr>
              <a:lnSpc>
                <a:spcPts val="1200"/>
              </a:lnSpc>
              <a:spcBef>
                <a:spcPts val="300"/>
              </a:spcBef>
              <a:buFont typeface="Wingdings" panose="05000000000000000000" pitchFamily="2" charset="2"/>
              <a:buChar char="ü"/>
            </a:pPr>
            <a:r>
              <a:rPr lang="en-US" altLang="zh-TW" sz="1000" b="1" dirty="0">
                <a:solidFill>
                  <a:schemeClr val="tx1">
                    <a:lumMod val="75000"/>
                    <a:lumOff val="25000"/>
                  </a:schemeClr>
                </a:solidFill>
                <a:latin typeface="+mn-ea"/>
              </a:rPr>
              <a:t>100%</a:t>
            </a:r>
            <a:r>
              <a:rPr lang="zh-TW" altLang="en-US" sz="1000" b="1" dirty="0">
                <a:solidFill>
                  <a:schemeClr val="tx1">
                    <a:lumMod val="75000"/>
                    <a:lumOff val="25000"/>
                  </a:schemeClr>
                </a:solidFill>
                <a:latin typeface="+mn-ea"/>
              </a:rPr>
              <a:t>政府持股，法國最重要的國營企業</a:t>
            </a:r>
            <a:r>
              <a:rPr lang="en-US" altLang="zh-TW" sz="1000" b="1" dirty="0">
                <a:solidFill>
                  <a:schemeClr val="tx1">
                    <a:lumMod val="75000"/>
                    <a:lumOff val="25000"/>
                  </a:schemeClr>
                </a:solidFill>
                <a:latin typeface="+mn-ea"/>
              </a:rPr>
              <a:t/>
            </a:r>
            <a:br>
              <a:rPr lang="en-US" altLang="zh-TW" sz="1000" b="1" dirty="0">
                <a:solidFill>
                  <a:schemeClr val="tx1">
                    <a:lumMod val="75000"/>
                    <a:lumOff val="25000"/>
                  </a:schemeClr>
                </a:solidFill>
                <a:latin typeface="+mn-ea"/>
              </a:rPr>
            </a:br>
            <a:r>
              <a:rPr lang="zh-TW" altLang="en-US" sz="1000" dirty="0">
                <a:solidFill>
                  <a:schemeClr val="tx1">
                    <a:lumMod val="75000"/>
                    <a:lumOff val="25000"/>
                  </a:schemeClr>
                </a:solidFill>
                <a:latin typeface="+mn-ea"/>
              </a:rPr>
              <a:t>法國政府為保障能源</a:t>
            </a:r>
            <a:r>
              <a:rPr lang="zh-TW" altLang="en-US" sz="1000" dirty="0">
                <a:latin typeface="+mn-ea"/>
              </a:rPr>
              <a:t>安全，於</a:t>
            </a:r>
            <a:r>
              <a:rPr lang="en-US" altLang="zh-TW" sz="1000" dirty="0">
                <a:latin typeface="+mn-ea"/>
              </a:rPr>
              <a:t>2023</a:t>
            </a:r>
            <a:r>
              <a:rPr lang="zh-TW" altLang="en-US" sz="1000" dirty="0">
                <a:latin typeface="+mn-ea"/>
              </a:rPr>
              <a:t>年重新將</a:t>
            </a:r>
            <a:r>
              <a:rPr lang="en-US" altLang="zh-TW" sz="1000" dirty="0">
                <a:latin typeface="+mn-ea"/>
              </a:rPr>
              <a:t>EDF</a:t>
            </a:r>
            <a:r>
              <a:rPr lang="zh-TW" altLang="en-US" sz="1000" dirty="0">
                <a:latin typeface="+mn-ea"/>
              </a:rPr>
              <a:t>收歸國有，彰顯其重要性。</a:t>
            </a:r>
            <a:r>
              <a:rPr lang="en-US" altLang="zh-TW" sz="1000" dirty="0" smtClean="0">
                <a:latin typeface="+mn-ea"/>
              </a:rPr>
              <a:t>2025</a:t>
            </a:r>
            <a:r>
              <a:rPr lang="zh-TW" altLang="en-US" sz="1000" dirty="0" smtClean="0">
                <a:latin typeface="+mn-ea"/>
              </a:rPr>
              <a:t>年</a:t>
            </a:r>
            <a:r>
              <a:rPr lang="en-US" altLang="zh-TW" sz="1000" dirty="0">
                <a:latin typeface="+mn-ea"/>
              </a:rPr>
              <a:t>EDF</a:t>
            </a:r>
            <a:r>
              <a:rPr lang="zh-TW" altLang="en-US" sz="1000" dirty="0">
                <a:latin typeface="+mn-ea"/>
              </a:rPr>
              <a:t>營收達</a:t>
            </a:r>
            <a:r>
              <a:rPr lang="en-US" altLang="zh-TW" sz="1000" dirty="0" smtClean="0">
                <a:latin typeface="+mn-ea"/>
              </a:rPr>
              <a:t>1,133</a:t>
            </a:r>
            <a:r>
              <a:rPr lang="zh-TW" altLang="en-US" sz="1000" dirty="0" smtClean="0">
                <a:latin typeface="+mn-ea"/>
              </a:rPr>
              <a:t>億</a:t>
            </a:r>
            <a:r>
              <a:rPr lang="zh-TW" altLang="en-US" sz="1000" dirty="0">
                <a:latin typeface="+mn-ea"/>
              </a:rPr>
              <a:t>歐元，僅次於民營企業的道達爾能源，為法國第二大企業。</a:t>
            </a:r>
          </a:p>
          <a:p>
            <a:pPr>
              <a:lnSpc>
                <a:spcPts val="1200"/>
              </a:lnSpc>
              <a:spcBef>
                <a:spcPts val="300"/>
              </a:spcBef>
              <a:buFont typeface="Wingdings" panose="05000000000000000000" pitchFamily="2" charset="2"/>
              <a:buChar char="ü"/>
            </a:pPr>
            <a:r>
              <a:rPr lang="zh-TW" altLang="en-US" sz="1000" b="1" dirty="0">
                <a:solidFill>
                  <a:schemeClr val="tx1">
                    <a:lumMod val="75000"/>
                    <a:lumOff val="25000"/>
                  </a:schemeClr>
                </a:solidFill>
                <a:latin typeface="+mn-ea"/>
              </a:rPr>
              <a:t>全球低碳能源領導企業，</a:t>
            </a:r>
            <a:r>
              <a:rPr lang="en-US" altLang="zh-TW" sz="1000" b="1" dirty="0">
                <a:solidFill>
                  <a:schemeClr val="tx1">
                    <a:lumMod val="75000"/>
                    <a:lumOff val="25000"/>
                  </a:schemeClr>
                </a:solidFill>
                <a:latin typeface="+mn-ea"/>
              </a:rPr>
              <a:t>90%</a:t>
            </a:r>
            <a:r>
              <a:rPr lang="zh-TW" altLang="en-US" sz="1000" b="1" dirty="0">
                <a:solidFill>
                  <a:schemeClr val="tx1">
                    <a:lumMod val="75000"/>
                    <a:lumOff val="25000"/>
                  </a:schemeClr>
                </a:solidFill>
                <a:latin typeface="+mn-ea"/>
              </a:rPr>
              <a:t>發電無二氧化碳排放</a:t>
            </a:r>
            <a:r>
              <a:rPr lang="en-US" altLang="zh-TW" sz="1000" b="1" dirty="0">
                <a:solidFill>
                  <a:schemeClr val="tx1">
                    <a:lumMod val="75000"/>
                    <a:lumOff val="25000"/>
                  </a:schemeClr>
                </a:solidFill>
                <a:latin typeface="+mn-ea"/>
              </a:rPr>
              <a:t/>
            </a:r>
            <a:br>
              <a:rPr lang="en-US" altLang="zh-TW" sz="1000" b="1" dirty="0">
                <a:solidFill>
                  <a:schemeClr val="tx1">
                    <a:lumMod val="75000"/>
                    <a:lumOff val="25000"/>
                  </a:schemeClr>
                </a:solidFill>
                <a:latin typeface="+mn-ea"/>
              </a:rPr>
            </a:br>
            <a:r>
              <a:rPr lang="en-US" altLang="zh-TW" sz="1000" dirty="0">
                <a:solidFill>
                  <a:schemeClr val="tx1">
                    <a:lumMod val="75000"/>
                    <a:lumOff val="25000"/>
                  </a:schemeClr>
                </a:solidFill>
                <a:latin typeface="+mn-ea"/>
              </a:rPr>
              <a:t>EDF</a:t>
            </a:r>
            <a:r>
              <a:rPr lang="zh-TW" altLang="en-US" sz="1000" dirty="0">
                <a:solidFill>
                  <a:schemeClr val="tx1">
                    <a:lumMod val="75000"/>
                    <a:lumOff val="25000"/>
                  </a:schemeClr>
                </a:solidFill>
                <a:latin typeface="+mn-ea"/>
              </a:rPr>
              <a:t>發展基於核能</a:t>
            </a:r>
            <a:r>
              <a:rPr lang="zh-TW" altLang="en-US" sz="1000" dirty="0" smtClean="0">
                <a:solidFill>
                  <a:schemeClr val="tx1">
                    <a:lumMod val="75000"/>
                    <a:lumOff val="25000"/>
                  </a:schemeClr>
                </a:solidFill>
                <a:latin typeface="+mn-ea"/>
              </a:rPr>
              <a:t>、可</a:t>
            </a:r>
            <a:r>
              <a:rPr lang="zh-TW" altLang="en-US" sz="1000" dirty="0">
                <a:solidFill>
                  <a:schemeClr val="tx1">
                    <a:lumMod val="75000"/>
                    <a:lumOff val="25000"/>
                  </a:schemeClr>
                </a:solidFill>
                <a:latin typeface="+mn-ea"/>
              </a:rPr>
              <a:t>再生</a:t>
            </a:r>
            <a:r>
              <a:rPr lang="zh-TW" altLang="en-US" sz="1000" dirty="0" smtClean="0">
                <a:solidFill>
                  <a:schemeClr val="tx1">
                    <a:lumMod val="75000"/>
                    <a:lumOff val="25000"/>
                  </a:schemeClr>
                </a:solidFill>
                <a:latin typeface="+mn-ea"/>
              </a:rPr>
              <a:t>能源及熱能等</a:t>
            </a:r>
            <a:r>
              <a:rPr lang="zh-TW" altLang="en-US" sz="1000" dirty="0">
                <a:solidFill>
                  <a:schemeClr val="tx1">
                    <a:lumMod val="75000"/>
                    <a:lumOff val="25000"/>
                  </a:schemeClr>
                </a:solidFill>
                <a:latin typeface="+mn-ea"/>
              </a:rPr>
              <a:t>多元發電組合。按裝置容量，核能及可再生能源</a:t>
            </a:r>
            <a:r>
              <a:rPr lang="en-US" altLang="zh-TW" sz="1000" dirty="0">
                <a:solidFill>
                  <a:schemeClr val="tx1">
                    <a:lumMod val="75000"/>
                    <a:lumOff val="25000"/>
                  </a:schemeClr>
                </a:solidFill>
                <a:latin typeface="+mn-ea"/>
              </a:rPr>
              <a:t>(</a:t>
            </a:r>
            <a:r>
              <a:rPr lang="zh-TW" altLang="en-US" sz="1000" dirty="0">
                <a:solidFill>
                  <a:schemeClr val="tx1">
                    <a:lumMod val="75000"/>
                    <a:lumOff val="25000"/>
                  </a:schemeClr>
                </a:solidFill>
                <a:latin typeface="+mn-ea"/>
              </a:rPr>
              <a:t>含水力</a:t>
            </a:r>
            <a:r>
              <a:rPr lang="en-US" altLang="zh-TW" sz="1000" dirty="0">
                <a:solidFill>
                  <a:schemeClr val="tx1">
                    <a:lumMod val="75000"/>
                    <a:lumOff val="25000"/>
                  </a:schemeClr>
                </a:solidFill>
                <a:latin typeface="+mn-ea"/>
              </a:rPr>
              <a:t>)</a:t>
            </a:r>
            <a:r>
              <a:rPr lang="zh-TW" altLang="en-US" sz="1000" dirty="0">
                <a:solidFill>
                  <a:schemeClr val="tx1">
                    <a:lumMod val="75000"/>
                    <a:lumOff val="25000"/>
                  </a:schemeClr>
                </a:solidFill>
                <a:latin typeface="+mn-ea"/>
              </a:rPr>
              <a:t>佔總裝置容量</a:t>
            </a:r>
            <a:r>
              <a:rPr lang="en-US" altLang="zh-TW" sz="1000" dirty="0">
                <a:solidFill>
                  <a:schemeClr val="tx1">
                    <a:lumMod val="75000"/>
                    <a:lumOff val="25000"/>
                  </a:schemeClr>
                </a:solidFill>
                <a:latin typeface="+mn-ea"/>
              </a:rPr>
              <a:t>58%</a:t>
            </a:r>
            <a:r>
              <a:rPr lang="zh-TW" altLang="en-US" sz="1000" dirty="0" smtClean="0">
                <a:solidFill>
                  <a:schemeClr val="tx1">
                    <a:lumMod val="75000"/>
                    <a:lumOff val="25000"/>
                  </a:schemeClr>
                </a:solidFill>
                <a:latin typeface="+mn-ea"/>
              </a:rPr>
              <a:t>及</a:t>
            </a:r>
            <a:r>
              <a:rPr lang="en-US" altLang="zh-TW" sz="1000" dirty="0" smtClean="0">
                <a:solidFill>
                  <a:schemeClr val="tx1">
                    <a:lumMod val="75000"/>
                    <a:lumOff val="25000"/>
                  </a:schemeClr>
                </a:solidFill>
                <a:latin typeface="+mn-ea"/>
              </a:rPr>
              <a:t>30</a:t>
            </a:r>
            <a:r>
              <a:rPr lang="en-US" altLang="zh-TW" sz="1000" dirty="0" smtClean="0">
                <a:solidFill>
                  <a:schemeClr val="tx1">
                    <a:lumMod val="75000"/>
                    <a:lumOff val="25000"/>
                  </a:schemeClr>
                </a:solidFill>
                <a:latin typeface="+mn-ea"/>
              </a:rPr>
              <a:t>%</a:t>
            </a:r>
            <a:r>
              <a:rPr lang="zh-TW" altLang="en-US" sz="1000" dirty="0">
                <a:solidFill>
                  <a:schemeClr val="tx1">
                    <a:lumMod val="75000"/>
                    <a:lumOff val="25000"/>
                  </a:schemeClr>
                </a:solidFill>
                <a:latin typeface="+mn-ea"/>
              </a:rPr>
              <a:t>，合計逾</a:t>
            </a:r>
            <a:r>
              <a:rPr lang="en-US" altLang="zh-TW" sz="1000" dirty="0">
                <a:solidFill>
                  <a:schemeClr val="tx1">
                    <a:lumMod val="75000"/>
                    <a:lumOff val="25000"/>
                  </a:schemeClr>
                </a:solidFill>
                <a:latin typeface="+mn-ea"/>
              </a:rPr>
              <a:t>8</a:t>
            </a:r>
            <a:r>
              <a:rPr lang="zh-TW" altLang="en-US" sz="1000" dirty="0">
                <a:solidFill>
                  <a:schemeClr val="tx1">
                    <a:lumMod val="75000"/>
                    <a:lumOff val="25000"/>
                  </a:schemeClr>
                </a:solidFill>
                <a:latin typeface="+mn-ea"/>
              </a:rPr>
              <a:t>成；按發電量</a:t>
            </a:r>
            <a:r>
              <a:rPr lang="zh-TW" altLang="en-US" sz="1000" dirty="0" smtClean="0">
                <a:solidFill>
                  <a:schemeClr val="tx1">
                    <a:lumMod val="75000"/>
                    <a:lumOff val="25000"/>
                  </a:schemeClr>
                </a:solidFill>
                <a:latin typeface="+mn-ea"/>
              </a:rPr>
              <a:t>，</a:t>
            </a:r>
            <a:r>
              <a:rPr lang="en-US" altLang="zh-TW" sz="1000" dirty="0" smtClean="0">
                <a:solidFill>
                  <a:schemeClr val="tx1">
                    <a:lumMod val="75000"/>
                    <a:lumOff val="25000"/>
                  </a:schemeClr>
                </a:solidFill>
                <a:latin typeface="+mn-ea"/>
              </a:rPr>
              <a:t>80</a:t>
            </a:r>
            <a:r>
              <a:rPr lang="en-US" altLang="zh-TW" sz="1000" dirty="0" smtClean="0">
                <a:solidFill>
                  <a:schemeClr val="tx1">
                    <a:lumMod val="75000"/>
                    <a:lumOff val="25000"/>
                  </a:schemeClr>
                </a:solidFill>
                <a:latin typeface="+mn-ea"/>
              </a:rPr>
              <a:t>%</a:t>
            </a:r>
            <a:r>
              <a:rPr lang="zh-TW" altLang="en-US" sz="1000" dirty="0">
                <a:solidFill>
                  <a:schemeClr val="tx1">
                    <a:lumMod val="75000"/>
                    <a:lumOff val="25000"/>
                  </a:schemeClr>
                </a:solidFill>
                <a:latin typeface="+mn-ea"/>
              </a:rPr>
              <a:t>來自核能，</a:t>
            </a:r>
            <a:r>
              <a:rPr lang="en-US" altLang="zh-TW" sz="1000" dirty="0" smtClean="0">
                <a:solidFill>
                  <a:schemeClr val="tx1">
                    <a:lumMod val="75000"/>
                    <a:lumOff val="25000"/>
                  </a:schemeClr>
                </a:solidFill>
                <a:latin typeface="+mn-ea"/>
              </a:rPr>
              <a:t>15%</a:t>
            </a:r>
            <a:r>
              <a:rPr lang="zh-TW" altLang="en-US" sz="1000" dirty="0">
                <a:solidFill>
                  <a:schemeClr val="tx1">
                    <a:lumMod val="75000"/>
                    <a:lumOff val="25000"/>
                  </a:schemeClr>
                </a:solidFill>
                <a:latin typeface="+mn-ea"/>
              </a:rPr>
              <a:t>來自可再生</a:t>
            </a:r>
            <a:r>
              <a:rPr lang="zh-TW" altLang="en-US" sz="1000" dirty="0" smtClean="0">
                <a:solidFill>
                  <a:schemeClr val="tx1">
                    <a:lumMod val="75000"/>
                    <a:lumOff val="25000"/>
                  </a:schemeClr>
                </a:solidFill>
                <a:latin typeface="+mn-ea"/>
              </a:rPr>
              <a:t>能源</a:t>
            </a:r>
            <a:r>
              <a:rPr lang="en-US" altLang="zh-TW" sz="1000" dirty="0">
                <a:solidFill>
                  <a:schemeClr val="tx1">
                    <a:lumMod val="75000"/>
                    <a:lumOff val="25000"/>
                  </a:schemeClr>
                </a:solidFill>
                <a:latin typeface="+mn-ea"/>
              </a:rPr>
              <a:t>(</a:t>
            </a:r>
            <a:r>
              <a:rPr lang="zh-TW" altLang="en-US" sz="1000" dirty="0">
                <a:solidFill>
                  <a:schemeClr val="tx1">
                    <a:lumMod val="75000"/>
                    <a:lumOff val="25000"/>
                  </a:schemeClr>
                </a:solidFill>
                <a:latin typeface="+mn-ea"/>
              </a:rPr>
              <a:t>含水力</a:t>
            </a:r>
            <a:r>
              <a:rPr lang="en-US" altLang="zh-TW" sz="1000" dirty="0">
                <a:solidFill>
                  <a:schemeClr val="tx1">
                    <a:lumMod val="75000"/>
                    <a:lumOff val="25000"/>
                  </a:schemeClr>
                </a:solidFill>
                <a:latin typeface="+mn-ea"/>
              </a:rPr>
              <a:t>) </a:t>
            </a:r>
            <a:r>
              <a:rPr lang="zh-TW" altLang="en-US" sz="1000" dirty="0" smtClean="0">
                <a:solidFill>
                  <a:schemeClr val="tx1">
                    <a:lumMod val="75000"/>
                    <a:lumOff val="25000"/>
                  </a:schemeClr>
                </a:solidFill>
                <a:latin typeface="+mn-ea"/>
              </a:rPr>
              <a:t>。</a:t>
            </a:r>
            <a:endParaRPr lang="zh-TW" altLang="en-US" sz="1000" dirty="0">
              <a:solidFill>
                <a:schemeClr val="tx1">
                  <a:lumMod val="75000"/>
                  <a:lumOff val="25000"/>
                </a:schemeClr>
              </a:solidFill>
              <a:latin typeface="+mn-ea"/>
            </a:endParaRPr>
          </a:p>
          <a:p>
            <a:pPr>
              <a:lnSpc>
                <a:spcPts val="1200"/>
              </a:lnSpc>
              <a:spcBef>
                <a:spcPts val="300"/>
              </a:spcBef>
              <a:buFont typeface="Wingdings" panose="05000000000000000000" pitchFamily="2" charset="2"/>
              <a:buChar char="ü"/>
            </a:pPr>
            <a:r>
              <a:rPr lang="zh-TW" altLang="en-US" sz="1000" b="1" dirty="0">
                <a:solidFill>
                  <a:schemeClr val="tx1">
                    <a:lumMod val="75000"/>
                    <a:lumOff val="25000"/>
                  </a:schemeClr>
                </a:solidFill>
                <a:latin typeface="+mn-ea"/>
              </a:rPr>
              <a:t>法國發電與供電及受監管的輸配電貢獻</a:t>
            </a:r>
            <a:r>
              <a:rPr lang="en-US" altLang="zh-TW" sz="1000" b="1" dirty="0" smtClean="0">
                <a:solidFill>
                  <a:schemeClr val="tx1">
                    <a:lumMod val="75000"/>
                    <a:lumOff val="25000"/>
                  </a:schemeClr>
                </a:solidFill>
                <a:latin typeface="+mn-ea"/>
              </a:rPr>
              <a:t>2025</a:t>
            </a:r>
            <a:r>
              <a:rPr lang="zh-TW" altLang="en-US" sz="1000" b="1" dirty="0" smtClean="0">
                <a:solidFill>
                  <a:schemeClr val="tx1">
                    <a:lumMod val="75000"/>
                    <a:lumOff val="25000"/>
                  </a:schemeClr>
                </a:solidFill>
                <a:latin typeface="+mn-ea"/>
              </a:rPr>
              <a:t>年</a:t>
            </a:r>
            <a:r>
              <a:rPr lang="en-US" altLang="zh-TW" sz="1000" b="1" dirty="0">
                <a:solidFill>
                  <a:schemeClr val="tx1">
                    <a:lumMod val="75000"/>
                    <a:lumOff val="25000"/>
                  </a:schemeClr>
                </a:solidFill>
                <a:latin typeface="+mn-ea"/>
              </a:rPr>
              <a:t>EBITDA</a:t>
            </a:r>
            <a:r>
              <a:rPr lang="zh-TW" altLang="en-US" sz="1000" b="1" dirty="0">
                <a:solidFill>
                  <a:schemeClr val="tx1">
                    <a:lumMod val="75000"/>
                    <a:lumOff val="25000"/>
                  </a:schemeClr>
                </a:solidFill>
                <a:latin typeface="+mn-ea"/>
              </a:rPr>
              <a:t>達</a:t>
            </a:r>
            <a:r>
              <a:rPr lang="en-US" altLang="zh-TW" sz="1000" b="1" dirty="0" smtClean="0">
                <a:solidFill>
                  <a:schemeClr val="tx1">
                    <a:lumMod val="75000"/>
                    <a:lumOff val="25000"/>
                  </a:schemeClr>
                </a:solidFill>
                <a:latin typeface="+mn-ea"/>
              </a:rPr>
              <a:t>75%</a:t>
            </a:r>
            <a:r>
              <a:rPr lang="en-US" altLang="zh-TW" sz="1000" b="1" dirty="0">
                <a:solidFill>
                  <a:srgbClr val="E85113"/>
                </a:solidFill>
                <a:latin typeface="+mn-ea"/>
              </a:rPr>
              <a:t/>
            </a:r>
            <a:br>
              <a:rPr lang="en-US" altLang="zh-TW" sz="1000" b="1" dirty="0">
                <a:solidFill>
                  <a:srgbClr val="E85113"/>
                </a:solidFill>
                <a:latin typeface="+mn-ea"/>
              </a:rPr>
            </a:br>
            <a:r>
              <a:rPr lang="zh-TW" altLang="en-US" sz="1000" dirty="0">
                <a:solidFill>
                  <a:schemeClr val="tx1">
                    <a:lumMod val="75000"/>
                    <a:lumOff val="25000"/>
                  </a:schemeClr>
                </a:solidFill>
                <a:latin typeface="+mn-ea"/>
              </a:rPr>
              <a:t>在法國受監管活動包括</a:t>
            </a:r>
            <a:r>
              <a:rPr lang="en-US" altLang="zh-TW" sz="1000" dirty="0">
                <a:solidFill>
                  <a:schemeClr val="tx1">
                    <a:lumMod val="75000"/>
                    <a:lumOff val="25000"/>
                  </a:schemeClr>
                </a:solidFill>
                <a:latin typeface="+mn-ea"/>
              </a:rPr>
              <a:t>2</a:t>
            </a:r>
            <a:r>
              <a:rPr lang="zh-TW" altLang="en-US" sz="1000" dirty="0">
                <a:solidFill>
                  <a:schemeClr val="tx1">
                    <a:lumMod val="75000"/>
                    <a:lumOff val="25000"/>
                  </a:schemeClr>
                </a:solidFill>
                <a:latin typeface="+mn-ea"/>
              </a:rPr>
              <a:t>家</a:t>
            </a:r>
            <a:r>
              <a:rPr lang="en-US" altLang="zh-TW" sz="1000" dirty="0">
                <a:solidFill>
                  <a:schemeClr val="tx1">
                    <a:lumMod val="75000"/>
                    <a:lumOff val="25000"/>
                  </a:schemeClr>
                </a:solidFill>
                <a:latin typeface="+mn-ea"/>
              </a:rPr>
              <a:t>EDF</a:t>
            </a:r>
            <a:r>
              <a:rPr lang="zh-TW" altLang="en-US" sz="1000" dirty="0">
                <a:solidFill>
                  <a:schemeClr val="tx1">
                    <a:lumMod val="75000"/>
                    <a:lumOff val="25000"/>
                  </a:schemeClr>
                </a:solidFill>
                <a:latin typeface="+mn-ea"/>
              </a:rPr>
              <a:t>的獨立子公司，分別為</a:t>
            </a:r>
            <a:r>
              <a:rPr lang="en-US" altLang="zh-TW" sz="1000" dirty="0">
                <a:solidFill>
                  <a:schemeClr val="tx1">
                    <a:lumMod val="75000"/>
                    <a:lumOff val="25000"/>
                  </a:schemeClr>
                </a:solidFill>
                <a:latin typeface="+mn-ea"/>
              </a:rPr>
              <a:t>RTE(</a:t>
            </a:r>
            <a:r>
              <a:rPr lang="zh-TW" altLang="en-US" sz="1000" dirty="0">
                <a:solidFill>
                  <a:schemeClr val="tx1">
                    <a:lumMod val="75000"/>
                    <a:lumOff val="25000"/>
                  </a:schemeClr>
                </a:solidFill>
                <a:latin typeface="+mn-ea"/>
              </a:rPr>
              <a:t>法國電力傳輸公司</a:t>
            </a:r>
            <a:r>
              <a:rPr lang="en-US" altLang="zh-TW" sz="1000" dirty="0">
                <a:solidFill>
                  <a:schemeClr val="tx1">
                    <a:lumMod val="75000"/>
                    <a:lumOff val="25000"/>
                  </a:schemeClr>
                </a:solidFill>
                <a:latin typeface="+mn-ea"/>
              </a:rPr>
              <a:t>)</a:t>
            </a:r>
            <a:r>
              <a:rPr lang="zh-TW" altLang="en-US" sz="1000" dirty="0">
                <a:solidFill>
                  <a:schemeClr val="tx1">
                    <a:lumMod val="75000"/>
                    <a:lumOff val="25000"/>
                  </a:schemeClr>
                </a:solidFill>
                <a:latin typeface="+mn-ea"/>
              </a:rPr>
              <a:t>、 </a:t>
            </a:r>
            <a:r>
              <a:rPr lang="en-US" altLang="zh-TW" sz="1000" dirty="0" err="1">
                <a:solidFill>
                  <a:schemeClr val="tx1">
                    <a:lumMod val="75000"/>
                    <a:lumOff val="25000"/>
                  </a:schemeClr>
                </a:solidFill>
                <a:latin typeface="+mn-ea"/>
              </a:rPr>
              <a:t>Enedis</a:t>
            </a:r>
            <a:r>
              <a:rPr lang="en-US" altLang="zh-TW" sz="1000" dirty="0">
                <a:solidFill>
                  <a:schemeClr val="tx1">
                    <a:lumMod val="75000"/>
                    <a:lumOff val="25000"/>
                  </a:schemeClr>
                </a:solidFill>
                <a:latin typeface="+mn-ea"/>
              </a:rPr>
              <a:t>(</a:t>
            </a:r>
            <a:r>
              <a:rPr lang="zh-TW" altLang="en-US" sz="1000" dirty="0">
                <a:solidFill>
                  <a:schemeClr val="tx1">
                    <a:lumMod val="75000"/>
                    <a:lumOff val="25000"/>
                  </a:schemeClr>
                </a:solidFill>
                <a:latin typeface="+mn-ea"/>
              </a:rPr>
              <a:t>法國配電公司，擁有歐洲第一大的配電網</a:t>
            </a:r>
            <a:r>
              <a:rPr lang="en-US" altLang="zh-TW" sz="1000" dirty="0">
                <a:solidFill>
                  <a:schemeClr val="tx1">
                    <a:lumMod val="75000"/>
                    <a:lumOff val="25000"/>
                  </a:schemeClr>
                </a:solidFill>
                <a:latin typeface="+mn-ea"/>
              </a:rPr>
              <a:t>)</a:t>
            </a:r>
            <a:r>
              <a:rPr lang="zh-TW" altLang="en-US" sz="1000" dirty="0" smtClean="0">
                <a:solidFill>
                  <a:schemeClr val="tx1">
                    <a:lumMod val="75000"/>
                    <a:lumOff val="25000"/>
                  </a:schemeClr>
                </a:solidFill>
                <a:latin typeface="+mn-ea"/>
              </a:rPr>
              <a:t>。</a:t>
            </a:r>
            <a:endParaRPr lang="en-US" altLang="zh-TW" sz="1000" b="1" dirty="0" smtClean="0">
              <a:solidFill>
                <a:schemeClr val="tx1">
                  <a:lumMod val="75000"/>
                  <a:lumOff val="25000"/>
                </a:schemeClr>
              </a:solidFill>
              <a:latin typeface="+mn-ea"/>
            </a:endParaRPr>
          </a:p>
          <a:p>
            <a:pPr>
              <a:lnSpc>
                <a:spcPts val="1200"/>
              </a:lnSpc>
              <a:spcBef>
                <a:spcPts val="300"/>
              </a:spcBef>
              <a:buFont typeface="Wingdings" panose="05000000000000000000" pitchFamily="2" charset="2"/>
              <a:buChar char="ü"/>
            </a:pPr>
            <a:r>
              <a:rPr lang="en-US" altLang="zh-TW" sz="1000" b="1" dirty="0">
                <a:solidFill>
                  <a:schemeClr val="tx1">
                    <a:lumMod val="75000"/>
                    <a:lumOff val="25000"/>
                  </a:schemeClr>
                </a:solidFill>
                <a:latin typeface="+mj-lt"/>
              </a:rPr>
              <a:t>2026</a:t>
            </a:r>
            <a:r>
              <a:rPr lang="zh-TW" altLang="en-US" sz="1000" b="1" dirty="0" smtClean="0">
                <a:solidFill>
                  <a:schemeClr val="tx1">
                    <a:lumMod val="75000"/>
                    <a:lumOff val="25000"/>
                  </a:schemeClr>
                </a:solidFill>
                <a:latin typeface="+mj-lt"/>
              </a:rPr>
              <a:t>年起，</a:t>
            </a:r>
            <a:r>
              <a:rPr lang="zh-TW" altLang="en-US" sz="1000" b="1" dirty="0">
                <a:solidFill>
                  <a:schemeClr val="tx1">
                    <a:lumMod val="75000"/>
                    <a:lumOff val="25000"/>
                  </a:schemeClr>
                </a:solidFill>
                <a:latin typeface="+mj-lt"/>
              </a:rPr>
              <a:t>核能回饋</a:t>
            </a:r>
            <a:r>
              <a:rPr lang="zh-TW" altLang="en-US" sz="1000" b="1" dirty="0">
                <a:solidFill>
                  <a:schemeClr val="tx1">
                    <a:lumMod val="75000"/>
                    <a:lumOff val="25000"/>
                  </a:schemeClr>
                </a:solidFill>
                <a:latin typeface="+mj-lt"/>
              </a:rPr>
              <a:t>機制</a:t>
            </a:r>
            <a:r>
              <a:rPr lang="en-US" altLang="zh-TW" sz="1000" b="1" dirty="0">
                <a:solidFill>
                  <a:schemeClr val="tx1">
                    <a:lumMod val="75000"/>
                    <a:lumOff val="25000"/>
                  </a:schemeClr>
                </a:solidFill>
                <a:latin typeface="+mj-lt"/>
              </a:rPr>
              <a:t>(VNU</a:t>
            </a:r>
            <a:r>
              <a:rPr lang="en-US" altLang="zh-TW" sz="1000" b="1" dirty="0" smtClean="0">
                <a:solidFill>
                  <a:schemeClr val="tx1">
                    <a:lumMod val="75000"/>
                    <a:lumOff val="25000"/>
                  </a:schemeClr>
                </a:solidFill>
                <a:latin typeface="+mj-lt"/>
              </a:rPr>
              <a:t>)</a:t>
            </a:r>
            <a:r>
              <a:rPr lang="zh-TW" altLang="en-US" sz="1000" b="1" dirty="0" smtClean="0">
                <a:solidFill>
                  <a:schemeClr val="tx1">
                    <a:lumMod val="75000"/>
                    <a:lumOff val="25000"/>
                  </a:schemeClr>
                </a:solidFill>
                <a:latin typeface="+mj-lt"/>
              </a:rPr>
              <a:t>全面取代</a:t>
            </a:r>
            <a:r>
              <a:rPr lang="zh-TW" altLang="en-US" sz="1000" b="1" dirty="0">
                <a:solidFill>
                  <a:schemeClr val="tx1">
                    <a:lumMod val="75000"/>
                    <a:lumOff val="25000"/>
                  </a:schemeClr>
                </a:solidFill>
                <a:latin typeface="+mj-lt"/>
              </a:rPr>
              <a:t>歷史核電優惠制度</a:t>
            </a:r>
            <a:r>
              <a:rPr lang="en-US" altLang="zh-TW" sz="1000" b="1" dirty="0">
                <a:solidFill>
                  <a:schemeClr val="tx1">
                    <a:lumMod val="75000"/>
                    <a:lumOff val="25000"/>
                  </a:schemeClr>
                </a:solidFill>
                <a:latin typeface="+mj-lt"/>
              </a:rPr>
              <a:t>(ARENH</a:t>
            </a:r>
            <a:r>
              <a:rPr lang="en-US" altLang="zh-TW" sz="1000" b="1" dirty="0" smtClean="0">
                <a:solidFill>
                  <a:schemeClr val="tx1">
                    <a:lumMod val="75000"/>
                    <a:lumOff val="25000"/>
                  </a:schemeClr>
                </a:solidFill>
                <a:latin typeface="+mn-ea"/>
              </a:rPr>
              <a:t>)</a:t>
            </a:r>
            <a:r>
              <a:rPr lang="zh-TW" altLang="en-US" sz="1000" b="1" dirty="0">
                <a:solidFill>
                  <a:srgbClr val="E85113"/>
                </a:solidFill>
                <a:latin typeface="+mn-ea"/>
              </a:rPr>
              <a:t/>
            </a:r>
            <a:br>
              <a:rPr lang="zh-TW" altLang="en-US" sz="1000" b="1" dirty="0">
                <a:solidFill>
                  <a:srgbClr val="E85113"/>
                </a:solidFill>
                <a:latin typeface="+mn-ea"/>
              </a:rPr>
            </a:br>
            <a:r>
              <a:rPr lang="en-US" altLang="zh-TW" sz="1000" dirty="0" smtClean="0">
                <a:solidFill>
                  <a:schemeClr val="tx1">
                    <a:lumMod val="75000"/>
                    <a:lumOff val="25000"/>
                  </a:schemeClr>
                </a:solidFill>
                <a:latin typeface="+mn-ea"/>
              </a:rPr>
              <a:t>VNU</a:t>
            </a:r>
            <a:r>
              <a:rPr lang="zh-TW" altLang="en-US" sz="1000" dirty="0" smtClean="0">
                <a:solidFill>
                  <a:schemeClr val="tx1">
                    <a:lumMod val="75000"/>
                    <a:lumOff val="25000"/>
                  </a:schemeClr>
                </a:solidFill>
                <a:latin typeface="+mn-ea"/>
              </a:rPr>
              <a:t>不同於</a:t>
            </a:r>
            <a:r>
              <a:rPr lang="en-US" altLang="zh-TW" sz="1000" dirty="0" smtClean="0">
                <a:solidFill>
                  <a:schemeClr val="tx1">
                    <a:lumMod val="75000"/>
                    <a:lumOff val="25000"/>
                  </a:schemeClr>
                </a:solidFill>
                <a:latin typeface="+mn-ea"/>
              </a:rPr>
              <a:t>ARENH</a:t>
            </a:r>
            <a:r>
              <a:rPr lang="zh-TW" altLang="en-US" sz="1000" dirty="0" smtClean="0">
                <a:solidFill>
                  <a:schemeClr val="tx1">
                    <a:lumMod val="75000"/>
                    <a:lumOff val="25000"/>
                  </a:schemeClr>
                </a:solidFill>
                <a:latin typeface="+mn-ea"/>
              </a:rPr>
              <a:t>硬性</a:t>
            </a:r>
            <a:r>
              <a:rPr lang="zh-TW" altLang="en-US" sz="1000" dirty="0">
                <a:solidFill>
                  <a:schemeClr val="tx1">
                    <a:lumMod val="75000"/>
                    <a:lumOff val="25000"/>
                  </a:schemeClr>
                </a:solidFill>
                <a:latin typeface="+mn-ea"/>
              </a:rPr>
              <a:t>壓低</a:t>
            </a:r>
            <a:r>
              <a:rPr lang="en-US" altLang="zh-TW" sz="1000" dirty="0">
                <a:solidFill>
                  <a:schemeClr val="tx1">
                    <a:lumMod val="75000"/>
                    <a:lumOff val="25000"/>
                  </a:schemeClr>
                </a:solidFill>
                <a:latin typeface="+mn-ea"/>
              </a:rPr>
              <a:t>EDF</a:t>
            </a:r>
            <a:r>
              <a:rPr lang="zh-TW" altLang="en-US" sz="1000" dirty="0">
                <a:solidFill>
                  <a:schemeClr val="tx1">
                    <a:lumMod val="75000"/>
                    <a:lumOff val="25000"/>
                  </a:schemeClr>
                </a:solidFill>
                <a:latin typeface="+mn-ea"/>
              </a:rPr>
              <a:t>出售核電的價格，而是在確保核電投資可回收的前提下，分享高價時期的超額利潤，允許 </a:t>
            </a:r>
            <a:r>
              <a:rPr lang="en-US" altLang="zh-TW" sz="1000" dirty="0">
                <a:solidFill>
                  <a:schemeClr val="tx1">
                    <a:lumMod val="75000"/>
                    <a:lumOff val="25000"/>
                  </a:schemeClr>
                </a:solidFill>
                <a:latin typeface="+mn-ea"/>
              </a:rPr>
              <a:t>EDF </a:t>
            </a:r>
            <a:r>
              <a:rPr lang="zh-TW" altLang="en-US" sz="1000" dirty="0">
                <a:solidFill>
                  <a:schemeClr val="tx1">
                    <a:lumMod val="75000"/>
                    <a:lumOff val="25000"/>
                  </a:schemeClr>
                </a:solidFill>
                <a:latin typeface="+mn-ea"/>
              </a:rPr>
              <a:t>獲得更高的平均</a:t>
            </a:r>
            <a:r>
              <a:rPr lang="zh-TW" altLang="en-US" sz="1000" dirty="0" smtClean="0">
                <a:solidFill>
                  <a:schemeClr val="tx1">
                    <a:lumMod val="75000"/>
                    <a:lumOff val="25000"/>
                  </a:schemeClr>
                </a:solidFill>
                <a:latin typeface="+mn-ea"/>
              </a:rPr>
              <a:t>收入，</a:t>
            </a:r>
            <a:r>
              <a:rPr lang="zh-TW" altLang="en-US" sz="1000" dirty="0">
                <a:solidFill>
                  <a:schemeClr val="tx1">
                    <a:lumMod val="75000"/>
                    <a:lumOff val="25000"/>
                  </a:schemeClr>
                </a:solidFill>
                <a:latin typeface="+mn-ea"/>
              </a:rPr>
              <a:t>兼具財務穩定與電價緩衝的</a:t>
            </a:r>
            <a:r>
              <a:rPr lang="zh-TW" altLang="en-US" sz="1000" dirty="0" smtClean="0">
                <a:solidFill>
                  <a:schemeClr val="tx1">
                    <a:lumMod val="75000"/>
                    <a:lumOff val="25000"/>
                  </a:schemeClr>
                </a:solidFill>
                <a:latin typeface="+mn-ea"/>
              </a:rPr>
              <a:t>功能。</a:t>
            </a:r>
            <a:r>
              <a:rPr lang="zh-TW" altLang="en-US" sz="1000" dirty="0" smtClean="0">
                <a:solidFill>
                  <a:schemeClr val="tx1">
                    <a:lumMod val="75000"/>
                    <a:lumOff val="25000"/>
                  </a:schemeClr>
                </a:solidFill>
                <a:latin typeface="+mn-ea"/>
              </a:rPr>
              <a:t>鑒於</a:t>
            </a:r>
            <a:r>
              <a:rPr lang="en-US" altLang="zh-TW" sz="1000" dirty="0" smtClean="0">
                <a:solidFill>
                  <a:schemeClr val="tx1">
                    <a:lumMod val="75000"/>
                    <a:lumOff val="25000"/>
                  </a:schemeClr>
                </a:solidFill>
                <a:latin typeface="+mn-ea"/>
              </a:rPr>
              <a:t>EDF</a:t>
            </a:r>
            <a:r>
              <a:rPr lang="zh-TW" altLang="en-US" sz="1000" dirty="0" smtClean="0">
                <a:solidFill>
                  <a:schemeClr val="tx1">
                    <a:lumMod val="75000"/>
                    <a:lumOff val="25000"/>
                  </a:schemeClr>
                </a:solidFill>
                <a:latin typeface="+mn-ea"/>
              </a:rPr>
              <a:t>對</a:t>
            </a:r>
            <a:r>
              <a:rPr lang="zh-TW" altLang="en-US" sz="1000" dirty="0">
                <a:solidFill>
                  <a:schemeClr val="tx1">
                    <a:lumMod val="75000"/>
                    <a:lumOff val="25000"/>
                  </a:schemeClr>
                </a:solidFill>
                <a:latin typeface="+mn-ea"/>
              </a:rPr>
              <a:t>歐洲供電地位，價格能見度對將其國有化的法國政府核電發展野心至關重要。</a:t>
            </a:r>
            <a:endParaRPr lang="en-US" altLang="zh-TW" sz="1000" dirty="0">
              <a:solidFill>
                <a:schemeClr val="tx1">
                  <a:lumMod val="75000"/>
                  <a:lumOff val="25000"/>
                </a:schemeClr>
              </a:solidFill>
              <a:latin typeface="+mn-ea"/>
            </a:endParaRPr>
          </a:p>
        </p:txBody>
      </p:sp>
      <p:sp>
        <p:nvSpPr>
          <p:cNvPr id="30" name="標題 38">
            <a:extLst>
              <a:ext uri="{FF2B5EF4-FFF2-40B4-BE49-F238E27FC236}">
                <a16:creationId xmlns:a16="http://schemas.microsoft.com/office/drawing/2014/main" xmlns="" id="{D0FCD71C-3094-47DE-B012-FBB187335D3D}"/>
              </a:ext>
            </a:extLst>
          </p:cNvPr>
          <p:cNvSpPr txBox="1">
            <a:spLocks/>
          </p:cNvSpPr>
          <p:nvPr/>
        </p:nvSpPr>
        <p:spPr>
          <a:xfrm>
            <a:off x="448054" y="189928"/>
            <a:ext cx="6068162" cy="540000"/>
          </a:xfrm>
          <a:prstGeom prst="rect">
            <a:avLst/>
          </a:prstGeom>
        </p:spPr>
        <p:txBody>
          <a:bodyPr anchor="b">
            <a:noAutofit/>
          </a:bodyPr>
          <a:lstStyle>
            <a:lvl1pPr algn="l" defTabSz="914400" rtl="0" eaLnBrk="1" latinLnBrk="0" hangingPunct="1">
              <a:spcBef>
                <a:spcPct val="0"/>
              </a:spcBef>
              <a:buNone/>
              <a:defRPr sz="2800" b="1" kern="1200">
                <a:solidFill>
                  <a:schemeClr val="tx2">
                    <a:lumMod val="75000"/>
                  </a:schemeClr>
                </a:solidFill>
                <a:latin typeface="微軟正黑體" pitchFamily="34" charset="-120"/>
                <a:ea typeface="微軟正黑體" pitchFamily="34" charset="-120"/>
                <a:cs typeface="+mj-cs"/>
              </a:defRPr>
            </a:lvl1pPr>
          </a:lstStyle>
          <a:p>
            <a:r>
              <a:rPr lang="zh-TW" altLang="en-US" sz="2400" dirty="0"/>
              <a:t>法國電力公司 </a:t>
            </a:r>
            <a:r>
              <a:rPr lang="zh-TW" altLang="en-US" sz="2000" dirty="0">
                <a:solidFill>
                  <a:srgbClr val="E85113"/>
                </a:solidFill>
              </a:rPr>
              <a:t>低碳電力全球領導者 </a:t>
            </a:r>
          </a:p>
        </p:txBody>
      </p:sp>
      <p:pic>
        <p:nvPicPr>
          <p:cNvPr id="31" name="圖片 30">
            <a:extLst>
              <a:ext uri="{FF2B5EF4-FFF2-40B4-BE49-F238E27FC236}">
                <a16:creationId xmlns:a16="http://schemas.microsoft.com/office/drawing/2014/main" xmlns="" id="{DA6EE68A-0572-4D43-A46B-756CDAED3F81}"/>
              </a:ext>
            </a:extLst>
          </p:cNvPr>
          <p:cNvPicPr>
            <a:picLocks noChangeAspect="1"/>
          </p:cNvPicPr>
          <p:nvPr/>
        </p:nvPicPr>
        <p:blipFill>
          <a:blip r:embed="rId5"/>
          <a:stretch>
            <a:fillRect/>
          </a:stretch>
        </p:blipFill>
        <p:spPr>
          <a:xfrm>
            <a:off x="638492" y="789727"/>
            <a:ext cx="1225403" cy="370364"/>
          </a:xfrm>
          <a:prstGeom prst="rect">
            <a:avLst/>
          </a:prstGeom>
        </p:spPr>
      </p:pic>
      <p:sp>
        <p:nvSpPr>
          <p:cNvPr id="36" name="矩形 35">
            <a:extLst>
              <a:ext uri="{FF2B5EF4-FFF2-40B4-BE49-F238E27FC236}">
                <a16:creationId xmlns:a16="http://schemas.microsoft.com/office/drawing/2014/main" xmlns="" id="{D4DC56DD-E210-43A3-BFD1-55FEBC81DD9B}"/>
              </a:ext>
            </a:extLst>
          </p:cNvPr>
          <p:cNvSpPr/>
          <p:nvPr/>
        </p:nvSpPr>
        <p:spPr>
          <a:xfrm>
            <a:off x="461487" y="6547585"/>
            <a:ext cx="7206857" cy="338554"/>
          </a:xfrm>
          <a:prstGeom prst="rect">
            <a:avLst/>
          </a:prstGeom>
        </p:spPr>
        <p:txBody>
          <a:bodyPr wrap="square">
            <a:spAutoFit/>
          </a:bodyPr>
          <a:lstStyle/>
          <a:p>
            <a:r>
              <a:rPr lang="zh-TW" altLang="en-US" sz="800" dirty="0">
                <a:latin typeface="微軟正黑體" panose="020B0604030504040204" pitchFamily="34" charset="-120"/>
                <a:ea typeface="微軟正黑體" panose="020B0604030504040204" pitchFamily="34" charset="-120"/>
              </a:rPr>
              <a:t>資料來源：</a:t>
            </a:r>
            <a:r>
              <a:rPr lang="en-US" altLang="zh-TW" sz="800" dirty="0">
                <a:latin typeface="微軟正黑體" panose="020B0604030504040204" pitchFamily="34" charset="-120"/>
                <a:ea typeface="微軟正黑體" panose="020B0604030504040204" pitchFamily="34" charset="-120"/>
              </a:rPr>
              <a:t>Bloomberg</a:t>
            </a:r>
            <a:r>
              <a:rPr lang="zh-TW" altLang="en-US" sz="800" dirty="0">
                <a:latin typeface="微軟正黑體" panose="020B0604030504040204" pitchFamily="34" charset="-120"/>
                <a:ea typeface="微軟正黑體" panose="020B0604030504040204" pitchFamily="34" charset="-120"/>
              </a:rPr>
              <a:t>、官網、新聞整理、季報、</a:t>
            </a:r>
            <a:r>
              <a:rPr lang="en-US" altLang="zh-TW" sz="800" dirty="0">
                <a:latin typeface="微軟正黑體" panose="020B0604030504040204" pitchFamily="34" charset="-120"/>
                <a:ea typeface="微軟正黑體" panose="020B0604030504040204" pitchFamily="34" charset="-120"/>
              </a:rPr>
              <a:t>Fortune</a:t>
            </a:r>
            <a:r>
              <a:rPr lang="zh-TW" altLang="en-US" sz="800" dirty="0">
                <a:latin typeface="微軟正黑體" panose="020B0604030504040204" pitchFamily="34" charset="-120"/>
                <a:ea typeface="微軟正黑體" panose="020B0604030504040204" pitchFamily="34" charset="-120"/>
              </a:rPr>
              <a:t>、</a:t>
            </a:r>
            <a:r>
              <a:rPr lang="en-US" altLang="zh-TW" sz="800" dirty="0">
                <a:latin typeface="微軟正黑體" panose="020B0604030504040204" pitchFamily="34" charset="-120"/>
                <a:ea typeface="微軟正黑體" panose="020B0604030504040204" pitchFamily="34" charset="-120"/>
              </a:rPr>
              <a:t>Brand Finance</a:t>
            </a:r>
            <a:r>
              <a:rPr lang="zh-TW" altLang="en-US" sz="800" dirty="0">
                <a:latin typeface="微軟正黑體" panose="020B0604030504040204" pitchFamily="34" charset="-120"/>
                <a:ea typeface="微軟正黑體" panose="020B0604030504040204" pitchFamily="34" charset="-120"/>
              </a:rPr>
              <a:t>、</a:t>
            </a:r>
            <a:r>
              <a:rPr lang="en-US" altLang="zh-TW" sz="800" dirty="0">
                <a:solidFill>
                  <a:schemeClr val="tx1">
                    <a:lumMod val="85000"/>
                    <a:lumOff val="15000"/>
                  </a:schemeClr>
                </a:solidFill>
                <a:latin typeface="+mn-ea"/>
              </a:rPr>
              <a:t>Pharm</a:t>
            </a:r>
            <a:r>
              <a:rPr lang="zh-TW" altLang="en-US" sz="800" dirty="0">
                <a:solidFill>
                  <a:schemeClr val="tx1">
                    <a:lumMod val="85000"/>
                    <a:lumOff val="15000"/>
                  </a:schemeClr>
                </a:solidFill>
                <a:latin typeface="+mn-ea"/>
              </a:rPr>
              <a:t> </a:t>
            </a:r>
            <a:r>
              <a:rPr lang="en-US" altLang="zh-TW" sz="800" dirty="0">
                <a:solidFill>
                  <a:schemeClr val="tx1">
                    <a:lumMod val="85000"/>
                    <a:lumOff val="15000"/>
                  </a:schemeClr>
                </a:solidFill>
                <a:latin typeface="+mn-ea"/>
              </a:rPr>
              <a:t>Exec</a:t>
            </a:r>
            <a:r>
              <a:rPr lang="zh-TW" altLang="en-US" sz="800" dirty="0">
                <a:solidFill>
                  <a:schemeClr val="tx1">
                    <a:lumMod val="85000"/>
                    <a:lumOff val="15000"/>
                  </a:schemeClr>
                </a:solidFill>
                <a:latin typeface="+mn-ea"/>
              </a:rPr>
              <a:t>、</a:t>
            </a:r>
            <a:r>
              <a:rPr lang="en-US" altLang="zh-TW" sz="800" dirty="0">
                <a:solidFill>
                  <a:schemeClr val="tx1">
                    <a:lumMod val="85000"/>
                    <a:lumOff val="15000"/>
                  </a:schemeClr>
                </a:solidFill>
                <a:latin typeface="+mn-ea"/>
              </a:rPr>
              <a:t>Nature </a:t>
            </a:r>
            <a:r>
              <a:rPr lang="en-US" altLang="zh-TW" sz="800" dirty="0" smtClean="0">
                <a:solidFill>
                  <a:schemeClr val="tx1">
                    <a:lumMod val="85000"/>
                    <a:lumOff val="15000"/>
                  </a:schemeClr>
                </a:solidFill>
                <a:latin typeface="+mn-ea"/>
              </a:rPr>
              <a:t>Portfolio</a:t>
            </a:r>
            <a:r>
              <a:rPr lang="zh-TW" altLang="en-US" sz="800" dirty="0" smtClean="0">
                <a:solidFill>
                  <a:schemeClr val="tx1">
                    <a:lumMod val="85000"/>
                    <a:lumOff val="15000"/>
                  </a:schemeClr>
                </a:solidFill>
                <a:latin typeface="+mn-ea"/>
              </a:rPr>
              <a:t>、</a:t>
            </a:r>
            <a:r>
              <a:rPr lang="en-US" altLang="zh-TW" sz="800" dirty="0" smtClean="0">
                <a:solidFill>
                  <a:schemeClr val="tx1">
                    <a:lumMod val="85000"/>
                    <a:lumOff val="15000"/>
                  </a:schemeClr>
                </a:solidFill>
                <a:latin typeface="+mn-ea"/>
              </a:rPr>
              <a:t>TEPA</a:t>
            </a:r>
          </a:p>
          <a:p>
            <a:endParaRPr lang="zh-TW" altLang="en-US" sz="800" dirty="0">
              <a:solidFill>
                <a:schemeClr val="tx1">
                  <a:lumMod val="85000"/>
                  <a:lumOff val="15000"/>
                </a:schemeClr>
              </a:solidFill>
              <a:latin typeface="+mn-ea"/>
            </a:endParaRPr>
          </a:p>
        </p:txBody>
      </p:sp>
      <p:pic>
        <p:nvPicPr>
          <p:cNvPr id="28" name="圖片 27"/>
          <p:cNvPicPr>
            <a:picLocks noChangeAspect="1"/>
          </p:cNvPicPr>
          <p:nvPr/>
        </p:nvPicPr>
        <p:blipFill>
          <a:blip r:embed="rId6">
            <a:clrChange>
              <a:clrFrom>
                <a:srgbClr val="FFFFFF"/>
              </a:clrFrom>
              <a:clrTo>
                <a:srgbClr val="FFFFFF">
                  <a:alpha val="0"/>
                </a:srgbClr>
              </a:clrTo>
            </a:clrChange>
          </a:blip>
          <a:stretch>
            <a:fillRect/>
          </a:stretch>
        </p:blipFill>
        <p:spPr>
          <a:xfrm>
            <a:off x="7268650" y="269257"/>
            <a:ext cx="1331690" cy="671258"/>
          </a:xfrm>
          <a:prstGeom prst="rect">
            <a:avLst/>
          </a:prstGeom>
        </p:spPr>
      </p:pic>
      <p:sp>
        <p:nvSpPr>
          <p:cNvPr id="32" name="文字方塊 31">
            <a:extLst>
              <a:ext uri="{FF2B5EF4-FFF2-40B4-BE49-F238E27FC236}">
                <a16:creationId xmlns:a16="http://schemas.microsoft.com/office/drawing/2014/main" xmlns="" id="{0300F4CF-2C94-89D3-9826-29627785A7CB}"/>
              </a:ext>
            </a:extLst>
          </p:cNvPr>
          <p:cNvSpPr txBox="1"/>
          <p:nvPr/>
        </p:nvSpPr>
        <p:spPr>
          <a:xfrm>
            <a:off x="6691676" y="1340768"/>
            <a:ext cx="2478687" cy="707886"/>
          </a:xfrm>
          <a:prstGeom prst="rect">
            <a:avLst/>
          </a:prstGeom>
          <a:noFill/>
        </p:spPr>
        <p:txBody>
          <a:bodyPr wrap="square" rtlCol="0">
            <a:spAutoFit/>
          </a:bodyPr>
          <a:lstStyle>
            <a:defPPr>
              <a:defRPr lang="zh-TW"/>
            </a:defPPr>
            <a:lvl1pPr algn="ctr">
              <a:defRPr sz="4000" b="1">
                <a:solidFill>
                  <a:srgbClr val="9D0101"/>
                </a:solidFill>
                <a:effectLst>
                  <a:outerShdw blurRad="38100" dist="38100" dir="2700000" algn="tl">
                    <a:srgbClr val="000000">
                      <a:alpha val="43137"/>
                    </a:srgbClr>
                  </a:outerShdw>
                </a:effectLst>
              </a:defRPr>
            </a:lvl1pPr>
          </a:lstStyle>
          <a:p>
            <a:r>
              <a:rPr lang="en-US" altLang="zh-TW" dirty="0"/>
              <a:t>#1</a:t>
            </a:r>
            <a:endParaRPr lang="zh-TW" altLang="en-US" dirty="0"/>
          </a:p>
        </p:txBody>
      </p:sp>
      <p:sp>
        <p:nvSpPr>
          <p:cNvPr id="33" name="矩形 32">
            <a:extLst>
              <a:ext uri="{FF2B5EF4-FFF2-40B4-BE49-F238E27FC236}">
                <a16:creationId xmlns:a16="http://schemas.microsoft.com/office/drawing/2014/main" xmlns="" id="{713D4D3F-1D8E-BC64-47DB-E84942D6B4B5}"/>
              </a:ext>
            </a:extLst>
          </p:cNvPr>
          <p:cNvSpPr/>
          <p:nvPr/>
        </p:nvSpPr>
        <p:spPr>
          <a:xfrm>
            <a:off x="6676658" y="1984917"/>
            <a:ext cx="2508723" cy="738664"/>
          </a:xfrm>
          <a:prstGeom prst="rect">
            <a:avLst/>
          </a:prstGeom>
        </p:spPr>
        <p:txBody>
          <a:bodyPr wrap="square">
            <a:spAutoFit/>
          </a:bodyPr>
          <a:lstStyle/>
          <a:p>
            <a:pPr algn="ctr"/>
            <a:r>
              <a:rPr lang="zh-TW" altLang="en-US" sz="1400" b="1" dirty="0">
                <a:solidFill>
                  <a:prstClr val="black">
                    <a:lumMod val="85000"/>
                    <a:lumOff val="15000"/>
                  </a:prstClr>
                </a:solidFill>
                <a:latin typeface="微軟正黑體" panose="020B0604030504040204" pitchFamily="34" charset="-120"/>
                <a:ea typeface="微軟正黑體" panose="020B0604030504040204" pitchFamily="34" charset="-120"/>
              </a:rPr>
              <a:t>全球電力公用事業</a:t>
            </a:r>
            <a:r>
              <a:rPr lang="en-US" altLang="zh-TW" sz="1400" b="1" dirty="0">
                <a:solidFill>
                  <a:prstClr val="black">
                    <a:lumMod val="85000"/>
                    <a:lumOff val="15000"/>
                  </a:prstClr>
                </a:solidFill>
                <a:latin typeface="微軟正黑體" panose="020B0604030504040204" pitchFamily="34" charset="-120"/>
                <a:ea typeface="微軟正黑體" panose="020B0604030504040204" pitchFamily="34" charset="-120"/>
              </a:rPr>
              <a:t>(</a:t>
            </a:r>
            <a:r>
              <a:rPr lang="zh-TW" altLang="en-US" sz="1400" b="1" dirty="0">
                <a:solidFill>
                  <a:prstClr val="black">
                    <a:lumMod val="85000"/>
                    <a:lumOff val="15000"/>
                  </a:prstClr>
                </a:solidFill>
                <a:latin typeface="微軟正黑體" panose="020B0604030504040204" pitchFamily="34" charset="-120"/>
                <a:ea typeface="微軟正黑體" panose="020B0604030504040204" pitchFamily="34" charset="-120"/>
              </a:rPr>
              <a:t>不含中國</a:t>
            </a:r>
            <a:r>
              <a:rPr lang="en-US" altLang="zh-TW" sz="1400" b="1" dirty="0">
                <a:solidFill>
                  <a:prstClr val="black">
                    <a:lumMod val="85000"/>
                    <a:lumOff val="15000"/>
                  </a:prstClr>
                </a:solidFill>
                <a:latin typeface="微軟正黑體" panose="020B0604030504040204" pitchFamily="34" charset="-120"/>
                <a:ea typeface="微軟正黑體" panose="020B0604030504040204" pitchFamily="34" charset="-120"/>
              </a:rPr>
              <a:t>)</a:t>
            </a:r>
            <a:r>
              <a:rPr lang="zh-TW" altLang="en-US" sz="1400" b="1" dirty="0">
                <a:solidFill>
                  <a:prstClr val="black">
                    <a:lumMod val="85000"/>
                    <a:lumOff val="15000"/>
                  </a:prstClr>
                </a:solidFill>
                <a:latin typeface="微軟正黑體" panose="020B0604030504040204" pitchFamily="34" charset="-120"/>
                <a:ea typeface="微軟正黑體" panose="020B0604030504040204" pitchFamily="34" charset="-120"/>
              </a:rPr>
              <a:t>按產業營收排名</a:t>
            </a:r>
            <a:endParaRPr lang="en-US" altLang="zh-TW" sz="1400" b="1" dirty="0">
              <a:solidFill>
                <a:prstClr val="black">
                  <a:lumMod val="85000"/>
                  <a:lumOff val="15000"/>
                </a:prstClr>
              </a:solidFill>
              <a:latin typeface="微軟正黑體" panose="020B0604030504040204" pitchFamily="34" charset="-120"/>
              <a:ea typeface="微軟正黑體" panose="020B0604030504040204" pitchFamily="34" charset="-120"/>
            </a:endParaRPr>
          </a:p>
          <a:p>
            <a:pPr algn="ct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a:t>
            </a:r>
            <a:r>
              <a:rPr lang="zh-TW" altLang="en-US" sz="1400" dirty="0">
                <a:solidFill>
                  <a:prstClr val="black">
                    <a:lumMod val="85000"/>
                    <a:lumOff val="15000"/>
                  </a:prstClr>
                </a:solidFill>
                <a:latin typeface="微軟正黑體" panose="020B0604030504040204" pitchFamily="34" charset="-120"/>
                <a:ea typeface="微軟正黑體" panose="020B0604030504040204" pitchFamily="34" charset="-120"/>
              </a:rPr>
              <a:t>彭博</a:t>
            </a: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BICS</a:t>
            </a:r>
            <a:r>
              <a:rPr lang="zh-TW" altLang="en-US" sz="1400" dirty="0">
                <a:solidFill>
                  <a:prstClr val="black">
                    <a:lumMod val="85000"/>
                    <a:lumOff val="15000"/>
                  </a:prstClr>
                </a:solidFill>
                <a:latin typeface="微軟正黑體" panose="020B0604030504040204" pitchFamily="34" charset="-120"/>
                <a:ea typeface="微軟正黑體" panose="020B0604030504040204" pitchFamily="34" charset="-120"/>
              </a:rPr>
              <a:t>分類</a:t>
            </a: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a:t>
            </a:r>
            <a:endParaRPr lang="zh-TW" altLang="en-US" sz="1400" dirty="0">
              <a:solidFill>
                <a:prstClr val="black">
                  <a:lumMod val="85000"/>
                  <a:lumOff val="15000"/>
                </a:prstClr>
              </a:solidFill>
              <a:latin typeface="微軟正黑體" panose="020B0604030504040204" pitchFamily="34" charset="-120"/>
              <a:ea typeface="微軟正黑體" panose="020B0604030504040204" pitchFamily="34" charset="-120"/>
            </a:endParaRPr>
          </a:p>
        </p:txBody>
      </p:sp>
      <p:sp>
        <p:nvSpPr>
          <p:cNvPr id="34" name="文字方塊 33">
            <a:extLst>
              <a:ext uri="{FF2B5EF4-FFF2-40B4-BE49-F238E27FC236}">
                <a16:creationId xmlns:a16="http://schemas.microsoft.com/office/drawing/2014/main" xmlns="" id="{F47B0D40-FD9D-AE69-AB1C-56C2BE0E7EE6}"/>
              </a:ext>
            </a:extLst>
          </p:cNvPr>
          <p:cNvSpPr txBox="1"/>
          <p:nvPr/>
        </p:nvSpPr>
        <p:spPr>
          <a:xfrm>
            <a:off x="6695767" y="3149807"/>
            <a:ext cx="2470505" cy="707886"/>
          </a:xfrm>
          <a:prstGeom prst="rect">
            <a:avLst/>
          </a:prstGeom>
          <a:noFill/>
        </p:spPr>
        <p:txBody>
          <a:bodyPr wrap="square" rtlCol="0">
            <a:spAutoFit/>
          </a:bodyPr>
          <a:lstStyle>
            <a:defPPr>
              <a:defRPr lang="zh-TW"/>
            </a:defPPr>
            <a:lvl1pPr algn="ctr">
              <a:defRPr sz="4000" b="1">
                <a:solidFill>
                  <a:srgbClr val="9D0101"/>
                </a:solidFill>
                <a:effectLst>
                  <a:outerShdw blurRad="38100" dist="38100" dir="2700000" algn="tl">
                    <a:srgbClr val="000000">
                      <a:alpha val="43137"/>
                    </a:srgbClr>
                  </a:outerShdw>
                </a:effectLst>
              </a:defRPr>
            </a:lvl1pPr>
          </a:lstStyle>
          <a:p>
            <a:pPr>
              <a:defRPr/>
            </a:pPr>
            <a:r>
              <a:rPr lang="en-US" altLang="zh-TW" dirty="0"/>
              <a:t>#1</a:t>
            </a:r>
            <a:endParaRPr lang="zh-TW" altLang="en-US" dirty="0"/>
          </a:p>
        </p:txBody>
      </p:sp>
      <p:sp>
        <p:nvSpPr>
          <p:cNvPr id="37" name="矩形 36">
            <a:extLst>
              <a:ext uri="{FF2B5EF4-FFF2-40B4-BE49-F238E27FC236}">
                <a16:creationId xmlns:a16="http://schemas.microsoft.com/office/drawing/2014/main" xmlns="" id="{227F536D-8964-AB1B-3472-D07FE3523C33}"/>
              </a:ext>
            </a:extLst>
          </p:cNvPr>
          <p:cNvSpPr/>
          <p:nvPr/>
        </p:nvSpPr>
        <p:spPr>
          <a:xfrm>
            <a:off x="6660232" y="3800942"/>
            <a:ext cx="2541575" cy="523220"/>
          </a:xfrm>
          <a:prstGeom prst="rect">
            <a:avLst/>
          </a:prstGeom>
        </p:spPr>
        <p:txBody>
          <a:bodyPr wrap="square">
            <a:spAutoFit/>
          </a:bodyPr>
          <a:lstStyle/>
          <a:p>
            <a:pPr algn="ctr"/>
            <a:r>
              <a:rPr lang="zh-TW" altLang="en-US" sz="1400" b="1" dirty="0">
                <a:solidFill>
                  <a:prstClr val="black">
                    <a:lumMod val="85000"/>
                    <a:lumOff val="15000"/>
                  </a:prstClr>
                </a:solidFill>
                <a:latin typeface="微軟正黑體" panose="020B0604030504040204" pitchFamily="34" charset="-120"/>
                <a:ea typeface="微軟正黑體" panose="020B0604030504040204" pitchFamily="34" charset="-120"/>
              </a:rPr>
              <a:t>全球智慧電網發展排名</a:t>
            </a:r>
            <a:endParaRPr lang="en-US" altLang="zh-TW" sz="1400" b="1" dirty="0">
              <a:solidFill>
                <a:prstClr val="black">
                  <a:lumMod val="85000"/>
                  <a:lumOff val="15000"/>
                </a:prstClr>
              </a:solidFill>
              <a:latin typeface="微軟正黑體" panose="020B0604030504040204" pitchFamily="34" charset="-120"/>
              <a:ea typeface="微軟正黑體" panose="020B0604030504040204" pitchFamily="34" charset="-120"/>
            </a:endParaRPr>
          </a:p>
          <a:p>
            <a:pPr algn="ct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(Smart Grid Index, </a:t>
            </a:r>
            <a:r>
              <a:rPr lang="en-US" altLang="zh-TW" sz="1400" dirty="0" smtClean="0">
                <a:solidFill>
                  <a:prstClr val="black">
                    <a:lumMod val="85000"/>
                    <a:lumOff val="15000"/>
                  </a:prstClr>
                </a:solidFill>
                <a:latin typeface="微軟正黑體" panose="020B0604030504040204" pitchFamily="34" charset="-120"/>
                <a:ea typeface="微軟正黑體" panose="020B0604030504040204" pitchFamily="34" charset="-120"/>
              </a:rPr>
              <a:t>2024)</a:t>
            </a:r>
            <a:endPar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endParaRPr>
          </a:p>
        </p:txBody>
      </p:sp>
      <p:sp>
        <p:nvSpPr>
          <p:cNvPr id="40" name="文字方塊 39"/>
          <p:cNvSpPr txBox="1"/>
          <p:nvPr/>
        </p:nvSpPr>
        <p:spPr>
          <a:xfrm>
            <a:off x="6666692" y="4993266"/>
            <a:ext cx="2528654" cy="707886"/>
          </a:xfrm>
          <a:prstGeom prst="rect">
            <a:avLst/>
          </a:prstGeom>
          <a:noFill/>
        </p:spPr>
        <p:txBody>
          <a:bodyPr wrap="square" rtlCol="0">
            <a:spAutoFit/>
          </a:bodyPr>
          <a:lstStyle>
            <a:defPPr>
              <a:defRPr lang="zh-TW"/>
            </a:defPPr>
            <a:lvl1pPr algn="ctr">
              <a:defRPr sz="4000" b="1">
                <a:solidFill>
                  <a:srgbClr val="9D0101"/>
                </a:solidFill>
                <a:effectLst>
                  <a:outerShdw blurRad="38100" dist="38100" dir="2700000" algn="tl">
                    <a:srgbClr val="000000">
                      <a:alpha val="43137"/>
                    </a:srgbClr>
                  </a:outerShdw>
                </a:effectLst>
              </a:defRPr>
            </a:lvl1pPr>
          </a:lstStyle>
          <a:p>
            <a:r>
              <a:rPr lang="en-US" altLang="zh-TW" dirty="0"/>
              <a:t>#2</a:t>
            </a:r>
          </a:p>
        </p:txBody>
      </p:sp>
      <p:sp>
        <p:nvSpPr>
          <p:cNvPr id="41" name="矩形 40">
            <a:extLst>
              <a:ext uri="{FF2B5EF4-FFF2-40B4-BE49-F238E27FC236}">
                <a16:creationId xmlns:a16="http://schemas.microsoft.com/office/drawing/2014/main" xmlns="" id="{906F3C27-6F0D-4A4E-B00D-D2FDAD7CF742}"/>
              </a:ext>
            </a:extLst>
          </p:cNvPr>
          <p:cNvSpPr/>
          <p:nvPr/>
        </p:nvSpPr>
        <p:spPr>
          <a:xfrm>
            <a:off x="6690918" y="5672687"/>
            <a:ext cx="2480203" cy="523220"/>
          </a:xfrm>
          <a:prstGeom prst="rect">
            <a:avLst/>
          </a:prstGeom>
        </p:spPr>
        <p:txBody>
          <a:bodyPr wrap="square">
            <a:spAutoFit/>
          </a:bodyPr>
          <a:lstStyle/>
          <a:p>
            <a:pPr algn="ctr"/>
            <a:r>
              <a:rPr lang="zh-TW" altLang="en-US" sz="1400" b="1" dirty="0">
                <a:solidFill>
                  <a:prstClr val="black">
                    <a:lumMod val="85000"/>
                    <a:lumOff val="15000"/>
                  </a:prstClr>
                </a:solidFill>
                <a:latin typeface="微軟正黑體" panose="020B0604030504040204" pitchFamily="34" charset="-120"/>
                <a:ea typeface="微軟正黑體" panose="020B0604030504040204" pitchFamily="34" charset="-120"/>
              </a:rPr>
              <a:t>法國第二大企業</a:t>
            </a:r>
            <a:endParaRPr lang="en-US" altLang="zh-TW" sz="1400" b="1" dirty="0">
              <a:solidFill>
                <a:prstClr val="black">
                  <a:lumMod val="85000"/>
                  <a:lumOff val="15000"/>
                </a:prstClr>
              </a:solidFill>
              <a:latin typeface="微軟正黑體" panose="020B0604030504040204" pitchFamily="34" charset="-120"/>
              <a:ea typeface="微軟正黑體" panose="020B0604030504040204" pitchFamily="34" charset="-120"/>
            </a:endParaRPr>
          </a:p>
          <a:p>
            <a:pPr algn="ct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a:t>
            </a:r>
            <a:r>
              <a:rPr lang="zh-TW" altLang="en-US" sz="1400" dirty="0">
                <a:solidFill>
                  <a:prstClr val="black">
                    <a:lumMod val="85000"/>
                    <a:lumOff val="15000"/>
                  </a:prstClr>
                </a:solidFill>
                <a:latin typeface="微軟正黑體" panose="020B0604030504040204" pitchFamily="34" charset="-120"/>
                <a:ea typeface="微軟正黑體" panose="020B0604030504040204" pitchFamily="34" charset="-120"/>
              </a:rPr>
              <a:t>按</a:t>
            </a:r>
            <a:r>
              <a:rPr lang="en-US" altLang="zh-TW" sz="1400" dirty="0" smtClean="0">
                <a:solidFill>
                  <a:prstClr val="black">
                    <a:lumMod val="85000"/>
                    <a:lumOff val="15000"/>
                  </a:prstClr>
                </a:solidFill>
                <a:latin typeface="微軟正黑體" panose="020B0604030504040204" pitchFamily="34" charset="-120"/>
                <a:ea typeface="微軟正黑體" panose="020B0604030504040204" pitchFamily="34" charset="-120"/>
              </a:rPr>
              <a:t>2025</a:t>
            </a:r>
            <a:r>
              <a:rPr lang="zh-TW" altLang="en-US" sz="1400" dirty="0" smtClean="0">
                <a:solidFill>
                  <a:prstClr val="black">
                    <a:lumMod val="85000"/>
                    <a:lumOff val="15000"/>
                  </a:prstClr>
                </a:solidFill>
                <a:latin typeface="微軟正黑體" panose="020B0604030504040204" pitchFamily="34" charset="-120"/>
                <a:ea typeface="微軟正黑體" panose="020B0604030504040204" pitchFamily="34" charset="-120"/>
              </a:rPr>
              <a:t>年營收</a:t>
            </a:r>
            <a:r>
              <a:rPr lang="zh-TW" altLang="en-US" sz="1400" dirty="0">
                <a:solidFill>
                  <a:prstClr val="black">
                    <a:lumMod val="85000"/>
                    <a:lumOff val="15000"/>
                  </a:prstClr>
                </a:solidFill>
                <a:latin typeface="微軟正黑體" panose="020B0604030504040204" pitchFamily="34" charset="-120"/>
                <a:ea typeface="微軟正黑體" panose="020B0604030504040204" pitchFamily="34" charset="-120"/>
              </a:rPr>
              <a:t>排名</a:t>
            </a:r>
            <a:r>
              <a:rPr lang="en-US" altLang="zh-TW" sz="1400" dirty="0">
                <a:solidFill>
                  <a:prstClr val="black">
                    <a:lumMod val="85000"/>
                    <a:lumOff val="15000"/>
                  </a:prstClr>
                </a:solidFill>
                <a:latin typeface="微軟正黑體" panose="020B0604030504040204" pitchFamily="34" charset="-120"/>
                <a:ea typeface="微軟正黑體" panose="020B0604030504040204" pitchFamily="34" charset="-120"/>
              </a:rPr>
              <a:t>)</a:t>
            </a:r>
          </a:p>
        </p:txBody>
      </p:sp>
      <p:graphicFrame>
        <p:nvGraphicFramePr>
          <p:cNvPr id="49" name="圖表 48">
            <a:extLst>
              <a:ext uri="{FF2B5EF4-FFF2-40B4-BE49-F238E27FC236}">
                <a16:creationId xmlns:a16="http://schemas.microsoft.com/office/drawing/2014/main" xmlns="" id="{D8FACD99-B575-499B-AC6D-052B0143069D}"/>
              </a:ext>
            </a:extLst>
          </p:cNvPr>
          <p:cNvGraphicFramePr/>
          <p:nvPr>
            <p:extLst>
              <p:ext uri="{D42A27DB-BD31-4B8C-83A1-F6EECF244321}">
                <p14:modId xmlns:p14="http://schemas.microsoft.com/office/powerpoint/2010/main" val="3132812372"/>
              </p:ext>
            </p:extLst>
          </p:nvPr>
        </p:nvGraphicFramePr>
        <p:xfrm>
          <a:off x="4397893" y="4913403"/>
          <a:ext cx="1898216" cy="1351673"/>
        </p:xfrm>
        <a:graphic>
          <a:graphicData uri="http://schemas.openxmlformats.org/drawingml/2006/chart">
            <c:chart xmlns:c="http://schemas.openxmlformats.org/drawingml/2006/chart" xmlns:r="http://schemas.openxmlformats.org/officeDocument/2006/relationships" r:id="rId7"/>
          </a:graphicData>
        </a:graphic>
      </p:graphicFrame>
      <p:sp>
        <p:nvSpPr>
          <p:cNvPr id="4" name="文字方塊 3"/>
          <p:cNvSpPr txBox="1"/>
          <p:nvPr/>
        </p:nvSpPr>
        <p:spPr>
          <a:xfrm>
            <a:off x="5354085" y="4939479"/>
            <a:ext cx="1080119" cy="276999"/>
          </a:xfrm>
          <a:prstGeom prst="rect">
            <a:avLst/>
          </a:prstGeom>
          <a:noFill/>
        </p:spPr>
        <p:txBody>
          <a:bodyPr wrap="square" rtlCol="0">
            <a:spAutoFit/>
          </a:bodyPr>
          <a:lstStyle/>
          <a:p>
            <a:pPr algn="ctr"/>
            <a:r>
              <a:rPr lang="zh-TW" altLang="en-US" sz="1200" b="1" dirty="0"/>
              <a:t>按業務別</a:t>
            </a:r>
          </a:p>
        </p:txBody>
      </p:sp>
      <p:pic>
        <p:nvPicPr>
          <p:cNvPr id="58" name="圖片 57">
            <a:extLst>
              <a:ext uri="{FF2B5EF4-FFF2-40B4-BE49-F238E27FC236}">
                <a16:creationId xmlns:a16="http://schemas.microsoft.com/office/drawing/2014/main" xmlns="" id="{045DF805-B6BD-4AF9-9962-C6DD7F9C6408}"/>
              </a:ext>
            </a:extLst>
          </p:cNvPr>
          <p:cNvPicPr>
            <a:picLocks noChangeAspect="1"/>
          </p:cNvPicPr>
          <p:nvPr/>
        </p:nvPicPr>
        <p:blipFill rotWithShape="1">
          <a:blip r:embed="rId8">
            <a:extLst>
              <a:ext uri="{28A0092B-C50C-407E-A947-70E740481C1C}">
                <a14:useLocalDpi xmlns:a14="http://schemas.microsoft.com/office/drawing/2010/main" val="0"/>
              </a:ext>
            </a:extLst>
          </a:blip>
          <a:srcRect b="9825"/>
          <a:stretch/>
        </p:blipFill>
        <p:spPr>
          <a:xfrm>
            <a:off x="755576" y="4888742"/>
            <a:ext cx="3509257" cy="1363790"/>
          </a:xfrm>
          <a:prstGeom prst="rect">
            <a:avLst/>
          </a:prstGeom>
        </p:spPr>
      </p:pic>
      <p:sp>
        <p:nvSpPr>
          <p:cNvPr id="59" name="文字方塊 58">
            <a:extLst>
              <a:ext uri="{FF2B5EF4-FFF2-40B4-BE49-F238E27FC236}">
                <a16:creationId xmlns:a16="http://schemas.microsoft.com/office/drawing/2014/main" xmlns="" id="{34655562-9451-4B94-BCAA-B955C8C2CC0D}"/>
              </a:ext>
            </a:extLst>
          </p:cNvPr>
          <p:cNvSpPr txBox="1"/>
          <p:nvPr/>
        </p:nvSpPr>
        <p:spPr>
          <a:xfrm>
            <a:off x="1096626" y="5389563"/>
            <a:ext cx="563275" cy="198891"/>
          </a:xfrm>
          <a:prstGeom prst="rect">
            <a:avLst/>
          </a:prstGeom>
          <a:solidFill>
            <a:schemeClr val="bg1"/>
          </a:solidFill>
        </p:spPr>
        <p:txBody>
          <a:bodyPr wrap="square" rtlCol="0">
            <a:spAutoFit/>
          </a:bodyPr>
          <a:lstStyle/>
          <a:p>
            <a:r>
              <a:rPr lang="en-US" altLang="zh-TW" sz="600" b="1" dirty="0">
                <a:solidFill>
                  <a:srgbClr val="002060"/>
                </a:solidFill>
              </a:rPr>
              <a:t>120GW</a:t>
            </a:r>
            <a:r>
              <a:rPr lang="en-US" altLang="zh-TW" sz="600" b="1" baseline="30000" dirty="0">
                <a:solidFill>
                  <a:srgbClr val="002060"/>
                </a:solidFill>
              </a:rPr>
              <a:t>(1)</a:t>
            </a:r>
            <a:endParaRPr lang="zh-TW" altLang="en-US" sz="600" b="1" dirty="0">
              <a:solidFill>
                <a:srgbClr val="002060"/>
              </a:solidFill>
            </a:endParaRPr>
          </a:p>
        </p:txBody>
      </p:sp>
      <p:sp>
        <p:nvSpPr>
          <p:cNvPr id="61" name="文字方塊 60">
            <a:extLst>
              <a:ext uri="{FF2B5EF4-FFF2-40B4-BE49-F238E27FC236}">
                <a16:creationId xmlns:a16="http://schemas.microsoft.com/office/drawing/2014/main" xmlns="" id="{4FD4FB27-E7BA-47E5-B936-11F96D80A420}"/>
              </a:ext>
            </a:extLst>
          </p:cNvPr>
          <p:cNvSpPr txBox="1"/>
          <p:nvPr/>
        </p:nvSpPr>
        <p:spPr>
          <a:xfrm>
            <a:off x="2408155" y="5401003"/>
            <a:ext cx="563275" cy="184666"/>
          </a:xfrm>
          <a:prstGeom prst="rect">
            <a:avLst/>
          </a:prstGeom>
          <a:solidFill>
            <a:schemeClr val="bg1"/>
          </a:solidFill>
        </p:spPr>
        <p:txBody>
          <a:bodyPr wrap="square" rtlCol="0">
            <a:spAutoFit/>
          </a:bodyPr>
          <a:lstStyle/>
          <a:p>
            <a:r>
              <a:rPr lang="en-US" altLang="zh-TW" sz="600" b="1" dirty="0">
                <a:solidFill>
                  <a:srgbClr val="002060"/>
                </a:solidFill>
              </a:rPr>
              <a:t>515TWh</a:t>
            </a:r>
            <a:r>
              <a:rPr lang="en-US" altLang="zh-TW" sz="600" b="1" baseline="30000" dirty="0">
                <a:solidFill>
                  <a:srgbClr val="002060"/>
                </a:solidFill>
              </a:rPr>
              <a:t>(1)</a:t>
            </a:r>
            <a:r>
              <a:rPr lang="en-US" altLang="zh-TW" sz="600" b="1" dirty="0">
                <a:solidFill>
                  <a:srgbClr val="002060"/>
                </a:solidFill>
              </a:rPr>
              <a:t> </a:t>
            </a:r>
            <a:endParaRPr lang="zh-TW" altLang="en-US" sz="600" b="1" dirty="0">
              <a:solidFill>
                <a:srgbClr val="002060"/>
              </a:solidFill>
            </a:endParaRPr>
          </a:p>
        </p:txBody>
      </p:sp>
      <p:sp>
        <p:nvSpPr>
          <p:cNvPr id="62" name="文字方塊 61">
            <a:extLst>
              <a:ext uri="{FF2B5EF4-FFF2-40B4-BE49-F238E27FC236}">
                <a16:creationId xmlns:a16="http://schemas.microsoft.com/office/drawing/2014/main" xmlns="" id="{868A1913-D002-447C-A653-5B65B46269CC}"/>
              </a:ext>
            </a:extLst>
          </p:cNvPr>
          <p:cNvSpPr txBox="1"/>
          <p:nvPr/>
        </p:nvSpPr>
        <p:spPr>
          <a:xfrm>
            <a:off x="2978186" y="4887053"/>
            <a:ext cx="870751" cy="184666"/>
          </a:xfrm>
          <a:prstGeom prst="rect">
            <a:avLst/>
          </a:prstGeom>
          <a:noFill/>
        </p:spPr>
        <p:txBody>
          <a:bodyPr wrap="none" rtlCol="0">
            <a:spAutoFit/>
          </a:bodyPr>
          <a:lstStyle/>
          <a:p>
            <a:r>
              <a:rPr lang="en-US" altLang="zh-TW" sz="600" b="1" dirty="0">
                <a:solidFill>
                  <a:srgbClr val="8BDA16"/>
                </a:solidFill>
              </a:rPr>
              <a:t>95% decarbonized</a:t>
            </a:r>
          </a:p>
        </p:txBody>
      </p:sp>
      <p:sp>
        <p:nvSpPr>
          <p:cNvPr id="19" name="文字方塊 18">
            <a:extLst>
              <a:ext uri="{FF2B5EF4-FFF2-40B4-BE49-F238E27FC236}">
                <a16:creationId xmlns:a16="http://schemas.microsoft.com/office/drawing/2014/main" xmlns="" id="{99EA969C-9834-4BF3-AE92-572F6E5581CD}"/>
              </a:ext>
            </a:extLst>
          </p:cNvPr>
          <p:cNvSpPr txBox="1"/>
          <p:nvPr/>
        </p:nvSpPr>
        <p:spPr>
          <a:xfrm>
            <a:off x="763320" y="4653136"/>
            <a:ext cx="1968809" cy="230832"/>
          </a:xfrm>
          <a:prstGeom prst="rect">
            <a:avLst/>
          </a:prstGeom>
          <a:noFill/>
        </p:spPr>
        <p:txBody>
          <a:bodyPr wrap="none" rtlCol="0">
            <a:spAutoFit/>
          </a:bodyPr>
          <a:lstStyle/>
          <a:p>
            <a:r>
              <a:rPr lang="en-US" altLang="zh-TW" sz="900" b="1" dirty="0"/>
              <a:t>Operational figures at end-2025</a:t>
            </a:r>
            <a:endParaRPr lang="zh-TW" altLang="en-US" sz="900" dirty="0"/>
          </a:p>
        </p:txBody>
      </p:sp>
      <p:sp>
        <p:nvSpPr>
          <p:cNvPr id="69" name="文字方塊 68">
            <a:extLst>
              <a:ext uri="{FF2B5EF4-FFF2-40B4-BE49-F238E27FC236}">
                <a16:creationId xmlns:a16="http://schemas.microsoft.com/office/drawing/2014/main" xmlns="" id="{27943FFB-ACB6-4A4B-A892-6E67F77AF5D3}"/>
              </a:ext>
            </a:extLst>
          </p:cNvPr>
          <p:cNvSpPr txBox="1"/>
          <p:nvPr/>
        </p:nvSpPr>
        <p:spPr>
          <a:xfrm>
            <a:off x="1614660" y="4869160"/>
            <a:ext cx="870751" cy="184666"/>
          </a:xfrm>
          <a:prstGeom prst="rect">
            <a:avLst/>
          </a:prstGeom>
          <a:noFill/>
        </p:spPr>
        <p:txBody>
          <a:bodyPr wrap="none" rtlCol="0">
            <a:spAutoFit/>
          </a:bodyPr>
          <a:lstStyle/>
          <a:p>
            <a:r>
              <a:rPr lang="en-US" altLang="zh-TW" sz="600" b="1" dirty="0" smtClean="0">
                <a:solidFill>
                  <a:srgbClr val="8BDA16"/>
                </a:solidFill>
              </a:rPr>
              <a:t>88% </a:t>
            </a:r>
            <a:r>
              <a:rPr lang="en-US" altLang="zh-TW" sz="600" b="1" dirty="0">
                <a:solidFill>
                  <a:srgbClr val="8BDA16"/>
                </a:solidFill>
              </a:rPr>
              <a:t>decarbonized</a:t>
            </a:r>
          </a:p>
        </p:txBody>
      </p:sp>
      <p:sp>
        <p:nvSpPr>
          <p:cNvPr id="68" name="橢圓 67">
            <a:extLst>
              <a:ext uri="{FF2B5EF4-FFF2-40B4-BE49-F238E27FC236}">
                <a16:creationId xmlns:a16="http://schemas.microsoft.com/office/drawing/2014/main" xmlns="" id="{96B0D654-DA23-474B-9F0D-ECFFD2D341C1}"/>
              </a:ext>
            </a:extLst>
          </p:cNvPr>
          <p:cNvSpPr/>
          <p:nvPr/>
        </p:nvSpPr>
        <p:spPr>
          <a:xfrm>
            <a:off x="709392" y="4910371"/>
            <a:ext cx="1285884" cy="1296023"/>
          </a:xfrm>
          <a:prstGeom prst="ellipse">
            <a:avLst/>
          </a:prstGeom>
          <a:noFill/>
          <a:ln>
            <a:solidFill>
              <a:srgbClr val="A6E37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a:extLst>
              <a:ext uri="{FF2B5EF4-FFF2-40B4-BE49-F238E27FC236}">
                <a16:creationId xmlns:a16="http://schemas.microsoft.com/office/drawing/2014/main" xmlns="" id="{289B9862-F410-4F9F-A14A-88E0256BCD6E}"/>
              </a:ext>
            </a:extLst>
          </p:cNvPr>
          <p:cNvSpPr/>
          <p:nvPr/>
        </p:nvSpPr>
        <p:spPr>
          <a:xfrm rot="3086649">
            <a:off x="1674214" y="6010194"/>
            <a:ext cx="170694" cy="22172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p:cNvSpPr/>
          <p:nvPr/>
        </p:nvSpPr>
        <p:spPr>
          <a:xfrm>
            <a:off x="638492" y="6253281"/>
            <a:ext cx="4572000" cy="200055"/>
          </a:xfrm>
          <a:prstGeom prst="rect">
            <a:avLst/>
          </a:prstGeom>
          <a:noFill/>
        </p:spPr>
        <p:txBody>
          <a:bodyPr>
            <a:spAutoFit/>
          </a:bodyPr>
          <a:lstStyle/>
          <a:p>
            <a:r>
              <a:rPr lang="en-US" altLang="zh-TW" sz="700" dirty="0"/>
              <a:t>(1) Consolidated capacities and output, including </a:t>
            </a:r>
            <a:r>
              <a:rPr lang="en-US" altLang="zh-TW" sz="700" dirty="0" err="1"/>
              <a:t>Flamanville</a:t>
            </a:r>
            <a:r>
              <a:rPr lang="en-US" altLang="zh-TW" sz="700" dirty="0"/>
              <a:t> 3 for 1.6GW. </a:t>
            </a:r>
            <a:endParaRPr lang="zh-TW" altLang="en-US" sz="700" dirty="0"/>
          </a:p>
        </p:txBody>
      </p:sp>
    </p:spTree>
    <p:extLst>
      <p:ext uri="{BB962C8B-B14F-4D97-AF65-F5344CB8AC3E}">
        <p14:creationId xmlns:p14="http://schemas.microsoft.com/office/powerpoint/2010/main" val="463729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圖片 46">
            <a:extLst>
              <a:ext uri="{FF2B5EF4-FFF2-40B4-BE49-F238E27FC236}">
                <a16:creationId xmlns:a16="http://schemas.microsoft.com/office/drawing/2014/main" xmlns="" id="{F348A89D-4E0F-4CFE-8E57-54F6609F77C2}"/>
              </a:ext>
            </a:extLst>
          </p:cNvPr>
          <p:cNvPicPr>
            <a:picLocks noChangeAspect="1"/>
          </p:cNvPicPr>
          <p:nvPr/>
        </p:nvPicPr>
        <p:blipFill rotWithShape="1">
          <a:blip r:embed="rId3">
            <a:extLst>
              <a:ext uri="{28A0092B-C50C-407E-A947-70E740481C1C}">
                <a14:useLocalDpi xmlns:a14="http://schemas.microsoft.com/office/drawing/2010/main" val="0"/>
              </a:ext>
            </a:extLst>
          </a:blip>
          <a:srcRect l="5847"/>
          <a:stretch/>
        </p:blipFill>
        <p:spPr>
          <a:xfrm>
            <a:off x="5977592" y="4145318"/>
            <a:ext cx="3004647" cy="2164002"/>
          </a:xfrm>
          <a:prstGeom prst="rect">
            <a:avLst/>
          </a:prstGeom>
        </p:spPr>
      </p:pic>
      <p:pic>
        <p:nvPicPr>
          <p:cNvPr id="43" name="圖片 42">
            <a:extLst>
              <a:ext uri="{FF2B5EF4-FFF2-40B4-BE49-F238E27FC236}">
                <a16:creationId xmlns:a16="http://schemas.microsoft.com/office/drawing/2014/main" xmlns="" id="{2E9A5752-4D5F-49F9-A663-37DDD69923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07110" y="5234511"/>
            <a:ext cx="1476581" cy="800212"/>
          </a:xfrm>
          <a:prstGeom prst="rect">
            <a:avLst/>
          </a:prstGeom>
        </p:spPr>
      </p:pic>
      <p:pic>
        <p:nvPicPr>
          <p:cNvPr id="3" name="圖片 2">
            <a:extLst>
              <a:ext uri="{FF2B5EF4-FFF2-40B4-BE49-F238E27FC236}">
                <a16:creationId xmlns:a16="http://schemas.microsoft.com/office/drawing/2014/main" xmlns="" id="{2CC96368-E50B-4F5F-8ED3-3EEDD17EAEB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514" y="960044"/>
            <a:ext cx="6190523" cy="3665536"/>
          </a:xfrm>
          <a:prstGeom prst="rect">
            <a:avLst/>
          </a:prstGeom>
        </p:spPr>
      </p:pic>
      <p:sp>
        <p:nvSpPr>
          <p:cNvPr id="4" name="投影片編號版面配置區 3">
            <a:extLst>
              <a:ext uri="{FF2B5EF4-FFF2-40B4-BE49-F238E27FC236}">
                <a16:creationId xmlns:a16="http://schemas.microsoft.com/office/drawing/2014/main" xmlns="" id="{E9BC1E29-929C-479F-B32F-4DA6711F8A91}"/>
              </a:ext>
            </a:extLst>
          </p:cNvPr>
          <p:cNvSpPr>
            <a:spLocks noGrp="1"/>
          </p:cNvSpPr>
          <p:nvPr>
            <p:ph type="sldNum" sz="quarter" idx="10"/>
          </p:nvPr>
        </p:nvSpPr>
        <p:spPr/>
        <p:txBody>
          <a:bodyPr/>
          <a:lstStyle/>
          <a:p>
            <a:fld id="{415482FC-CF5F-466A-B8B6-BC3733E92023}" type="slidenum">
              <a:rPr lang="zh-TW" altLang="en-US" smtClean="0"/>
              <a:pPr/>
              <a:t>3</a:t>
            </a:fld>
            <a:endParaRPr lang="zh-TW" altLang="en-US" dirty="0"/>
          </a:p>
        </p:txBody>
      </p:sp>
      <p:sp>
        <p:nvSpPr>
          <p:cNvPr id="5" name="標題 1">
            <a:extLst>
              <a:ext uri="{FF2B5EF4-FFF2-40B4-BE49-F238E27FC236}">
                <a16:creationId xmlns:a16="http://schemas.microsoft.com/office/drawing/2014/main" xmlns="" id="{60C28753-0A00-4E34-83C6-C4D758C2A7D2}"/>
              </a:ext>
            </a:extLst>
          </p:cNvPr>
          <p:cNvSpPr txBox="1">
            <a:spLocks/>
          </p:cNvSpPr>
          <p:nvPr/>
        </p:nvSpPr>
        <p:spPr bwMode="auto">
          <a:xfrm>
            <a:off x="229944" y="161162"/>
            <a:ext cx="776452" cy="633413"/>
          </a:xfrm>
          <a:prstGeom prst="rect">
            <a:avLst/>
          </a:prstGeom>
          <a:solidFill>
            <a:srgbClr val="C00000"/>
          </a:solidFill>
          <a:ln>
            <a:noFill/>
          </a:ln>
        </p:spPr>
        <p:txBody>
          <a:bodyPr anchor="ctr">
            <a:noAutofit/>
          </a:bodyPr>
          <a:lstStyle>
            <a:lvl1pPr algn="l" rtl="0" eaLnBrk="0" fontAlgn="base" hangingPunct="0">
              <a:spcBef>
                <a:spcPct val="0"/>
              </a:spcBef>
              <a:spcAft>
                <a:spcPct val="0"/>
              </a:spcAft>
              <a:defRPr kumimoji="1" sz="3000" b="1">
                <a:solidFill>
                  <a:schemeClr val="tx2"/>
                </a:solidFill>
                <a:latin typeface="+mj-lt"/>
                <a:ea typeface="+mj-ea"/>
                <a:cs typeface="+mj-cs"/>
              </a:defRPr>
            </a:lvl1pPr>
            <a:lvl2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2pPr>
            <a:lvl3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3pPr>
            <a:lvl4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4pPr>
            <a:lvl5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5pPr>
            <a:lvl6pPr marL="457200" algn="l" rtl="0" fontAlgn="base">
              <a:spcBef>
                <a:spcPct val="0"/>
              </a:spcBef>
              <a:spcAft>
                <a:spcPct val="0"/>
              </a:spcAft>
              <a:defRPr kumimoji="1" sz="3000" b="1">
                <a:solidFill>
                  <a:schemeClr val="tx2"/>
                </a:solidFill>
                <a:latin typeface="標楷體" pitchFamily="65" charset="-120"/>
                <a:ea typeface="標楷體" pitchFamily="65" charset="-120"/>
              </a:defRPr>
            </a:lvl6pPr>
            <a:lvl7pPr marL="914400" algn="l" rtl="0" fontAlgn="base">
              <a:spcBef>
                <a:spcPct val="0"/>
              </a:spcBef>
              <a:spcAft>
                <a:spcPct val="0"/>
              </a:spcAft>
              <a:defRPr kumimoji="1" sz="3000" b="1">
                <a:solidFill>
                  <a:schemeClr val="tx2"/>
                </a:solidFill>
                <a:latin typeface="標楷體" pitchFamily="65" charset="-120"/>
                <a:ea typeface="標楷體" pitchFamily="65" charset="-120"/>
              </a:defRPr>
            </a:lvl7pPr>
            <a:lvl8pPr marL="1371600" algn="l" rtl="0" fontAlgn="base">
              <a:spcBef>
                <a:spcPct val="0"/>
              </a:spcBef>
              <a:spcAft>
                <a:spcPct val="0"/>
              </a:spcAft>
              <a:defRPr kumimoji="1" sz="3000" b="1">
                <a:solidFill>
                  <a:schemeClr val="tx2"/>
                </a:solidFill>
                <a:latin typeface="標楷體" pitchFamily="65" charset="-120"/>
                <a:ea typeface="標楷體" pitchFamily="65" charset="-120"/>
              </a:defRPr>
            </a:lvl8pPr>
            <a:lvl9pPr marL="1828800" algn="l" rtl="0" fontAlgn="base">
              <a:spcBef>
                <a:spcPct val="0"/>
              </a:spcBef>
              <a:spcAft>
                <a:spcPct val="0"/>
              </a:spcAft>
              <a:defRPr kumimoji="1" sz="3000" b="1">
                <a:solidFill>
                  <a:schemeClr val="tx2"/>
                </a:solidFill>
                <a:latin typeface="標楷體" pitchFamily="65" charset="-120"/>
                <a:ea typeface="標楷體" pitchFamily="65" charset="-120"/>
              </a:defRPr>
            </a:lvl9pPr>
          </a:lstStyle>
          <a:p>
            <a:pPr algn="ctr">
              <a:defRPr/>
            </a:pPr>
            <a:r>
              <a:rPr lang="zh-TW" altLang="en-US" sz="2000" kern="0" dirty="0">
                <a:solidFill>
                  <a:schemeClr val="bg1"/>
                </a:solidFill>
              </a:rPr>
              <a:t>業務概況</a:t>
            </a:r>
          </a:p>
        </p:txBody>
      </p:sp>
      <p:sp>
        <p:nvSpPr>
          <p:cNvPr id="6" name="標題 1">
            <a:extLst>
              <a:ext uri="{FF2B5EF4-FFF2-40B4-BE49-F238E27FC236}">
                <a16:creationId xmlns:a16="http://schemas.microsoft.com/office/drawing/2014/main" xmlns="" id="{8A190DF9-3093-4C79-BE60-4ED0D15A2C3B}"/>
              </a:ext>
            </a:extLst>
          </p:cNvPr>
          <p:cNvSpPr txBox="1">
            <a:spLocks noChangeArrowheads="1"/>
          </p:cNvSpPr>
          <p:nvPr/>
        </p:nvSpPr>
        <p:spPr>
          <a:xfrm>
            <a:off x="1053599" y="142648"/>
            <a:ext cx="7141365" cy="633413"/>
          </a:xfrm>
          <a:prstGeom prst="rect">
            <a:avLst/>
          </a:prstGeom>
        </p:spPr>
        <p:txBody>
          <a:bodyPr anchor="ctr" anchorCtr="0">
            <a:noAutofit/>
          </a:bodyPr>
          <a:lstStyle>
            <a:lvl1pPr algn="l" defTabSz="914400" rtl="0" eaLnBrk="1" latinLnBrk="0" hangingPunct="1">
              <a:spcBef>
                <a:spcPct val="0"/>
              </a:spcBef>
              <a:buNone/>
              <a:defRPr sz="2800" b="1" kern="1200">
                <a:solidFill>
                  <a:schemeClr val="tx2">
                    <a:lumMod val="75000"/>
                  </a:schemeClr>
                </a:solidFill>
                <a:latin typeface="微軟正黑體" pitchFamily="34" charset="-120"/>
                <a:ea typeface="微軟正黑體" pitchFamily="34" charset="-120"/>
                <a:cs typeface="+mj-cs"/>
              </a:defRPr>
            </a:lvl1pPr>
          </a:lstStyle>
          <a:p>
            <a:pPr>
              <a:tabLst>
                <a:tab pos="5473700" algn="l"/>
              </a:tabLst>
              <a:defRPr/>
            </a:pPr>
            <a:r>
              <a:rPr lang="zh-TW" altLang="en-US" sz="2400" dirty="0"/>
              <a:t>能源發電業務地域多元</a:t>
            </a:r>
          </a:p>
        </p:txBody>
      </p:sp>
      <p:sp>
        <p:nvSpPr>
          <p:cNvPr id="20" name="矩形 19">
            <a:extLst>
              <a:ext uri="{FF2B5EF4-FFF2-40B4-BE49-F238E27FC236}">
                <a16:creationId xmlns:a16="http://schemas.microsoft.com/office/drawing/2014/main" xmlns="" id="{705ADE1F-E065-4EC3-B187-F821455018F2}"/>
              </a:ext>
            </a:extLst>
          </p:cNvPr>
          <p:cNvSpPr/>
          <p:nvPr/>
        </p:nvSpPr>
        <p:spPr>
          <a:xfrm>
            <a:off x="395046" y="6535367"/>
            <a:ext cx="10072673" cy="215444"/>
          </a:xfrm>
          <a:prstGeom prst="rect">
            <a:avLst/>
          </a:prstGeom>
        </p:spPr>
        <p:txBody>
          <a:bodyPr wrap="square">
            <a:spAutoFit/>
          </a:bodyPr>
          <a:lstStyle/>
          <a:p>
            <a:r>
              <a:rPr lang="zh-TW" altLang="en-US" sz="800" dirty="0">
                <a:solidFill>
                  <a:prstClr val="black"/>
                </a:solidFill>
                <a:latin typeface="+mn-ea"/>
              </a:rPr>
              <a:t>資料來源：</a:t>
            </a:r>
            <a:r>
              <a:rPr lang="en-US" altLang="zh-TW" sz="800" dirty="0">
                <a:solidFill>
                  <a:prstClr val="black"/>
                </a:solidFill>
                <a:latin typeface="+mn-ea"/>
                <a:hlinkClick r:id="rId6"/>
              </a:rPr>
              <a:t>2025 FACTS &amp; FIGURES</a:t>
            </a:r>
            <a:endParaRPr lang="en-US" altLang="zh-TW" sz="800" dirty="0">
              <a:latin typeface="+mn-ea"/>
            </a:endParaRPr>
          </a:p>
        </p:txBody>
      </p:sp>
      <p:sp>
        <p:nvSpPr>
          <p:cNvPr id="7" name="文字方塊 6"/>
          <p:cNvSpPr txBox="1"/>
          <p:nvPr/>
        </p:nvSpPr>
        <p:spPr>
          <a:xfrm>
            <a:off x="3848751" y="5200213"/>
            <a:ext cx="516551" cy="246221"/>
          </a:xfrm>
          <a:prstGeom prst="rect">
            <a:avLst/>
          </a:prstGeom>
          <a:noFill/>
        </p:spPr>
        <p:txBody>
          <a:bodyPr wrap="square" rtlCol="0">
            <a:spAutoFit/>
          </a:bodyPr>
          <a:lstStyle/>
          <a:p>
            <a:r>
              <a:rPr lang="zh-TW" altLang="en-US" sz="1000" b="1" dirty="0">
                <a:solidFill>
                  <a:srgbClr val="133B8F"/>
                </a:solidFill>
              </a:rPr>
              <a:t>核能</a:t>
            </a:r>
          </a:p>
        </p:txBody>
      </p:sp>
      <p:sp>
        <p:nvSpPr>
          <p:cNvPr id="8" name="文字方塊 7"/>
          <p:cNvSpPr txBox="1"/>
          <p:nvPr/>
        </p:nvSpPr>
        <p:spPr>
          <a:xfrm>
            <a:off x="4560610" y="5701670"/>
            <a:ext cx="745354" cy="246221"/>
          </a:xfrm>
          <a:prstGeom prst="rect">
            <a:avLst/>
          </a:prstGeom>
          <a:noFill/>
        </p:spPr>
        <p:txBody>
          <a:bodyPr wrap="square" rtlCol="0">
            <a:spAutoFit/>
          </a:bodyPr>
          <a:lstStyle/>
          <a:p>
            <a:pPr>
              <a:spcBef>
                <a:spcPts val="400"/>
              </a:spcBef>
            </a:pPr>
            <a:r>
              <a:rPr lang="zh-TW" altLang="en-US" sz="1000" b="1" dirty="0">
                <a:solidFill>
                  <a:srgbClr val="FFBF5A"/>
                </a:solidFill>
              </a:rPr>
              <a:t>天然氣</a:t>
            </a:r>
            <a:endParaRPr lang="en-US" altLang="zh-TW" sz="1000" b="1" dirty="0">
              <a:solidFill>
                <a:srgbClr val="FFBF5A"/>
              </a:solidFill>
            </a:endParaRPr>
          </a:p>
        </p:txBody>
      </p:sp>
      <p:sp>
        <p:nvSpPr>
          <p:cNvPr id="9" name="文字方塊 8"/>
          <p:cNvSpPr txBox="1"/>
          <p:nvPr/>
        </p:nvSpPr>
        <p:spPr>
          <a:xfrm>
            <a:off x="4560610" y="5517232"/>
            <a:ext cx="947494" cy="246221"/>
          </a:xfrm>
          <a:prstGeom prst="rect">
            <a:avLst/>
          </a:prstGeom>
          <a:noFill/>
        </p:spPr>
        <p:txBody>
          <a:bodyPr wrap="square" rtlCol="0">
            <a:spAutoFit/>
          </a:bodyPr>
          <a:lstStyle/>
          <a:p>
            <a:r>
              <a:rPr lang="zh-TW" altLang="en-US" sz="1000" b="1" dirty="0">
                <a:solidFill>
                  <a:srgbClr val="6CA055"/>
                </a:solidFill>
              </a:rPr>
              <a:t>可再生能源</a:t>
            </a:r>
          </a:p>
        </p:txBody>
      </p:sp>
      <p:sp>
        <p:nvSpPr>
          <p:cNvPr id="10" name="文字方塊 9"/>
          <p:cNvSpPr txBox="1"/>
          <p:nvPr/>
        </p:nvSpPr>
        <p:spPr>
          <a:xfrm>
            <a:off x="3854939" y="5357621"/>
            <a:ext cx="516551" cy="246221"/>
          </a:xfrm>
          <a:prstGeom prst="rect">
            <a:avLst/>
          </a:prstGeom>
          <a:noFill/>
        </p:spPr>
        <p:txBody>
          <a:bodyPr wrap="square" rtlCol="0">
            <a:spAutoFit/>
          </a:bodyPr>
          <a:lstStyle/>
          <a:p>
            <a:r>
              <a:rPr lang="zh-TW" altLang="en-US" sz="1000" b="1" dirty="0">
                <a:solidFill>
                  <a:srgbClr val="0E88FF"/>
                </a:solidFill>
              </a:rPr>
              <a:t>水力</a:t>
            </a:r>
          </a:p>
        </p:txBody>
      </p:sp>
      <p:sp>
        <p:nvSpPr>
          <p:cNvPr id="12" name="文字方塊 11"/>
          <p:cNvSpPr txBox="1"/>
          <p:nvPr/>
        </p:nvSpPr>
        <p:spPr>
          <a:xfrm>
            <a:off x="147804" y="2852936"/>
            <a:ext cx="1259632" cy="707886"/>
          </a:xfrm>
          <a:prstGeom prst="rect">
            <a:avLst/>
          </a:prstGeom>
          <a:solidFill>
            <a:schemeClr val="bg1"/>
          </a:solidFill>
          <a:ln>
            <a:solidFill>
              <a:schemeClr val="accent5">
                <a:lumMod val="40000"/>
                <a:lumOff val="60000"/>
              </a:schemeClr>
            </a:solidFill>
          </a:ln>
        </p:spPr>
        <p:txBody>
          <a:bodyPr wrap="square" rtlCol="0">
            <a:spAutoFit/>
          </a:bodyPr>
          <a:lstStyle/>
          <a:p>
            <a:pPr algn="just"/>
            <a:r>
              <a:rPr lang="en-US" altLang="zh-TW" sz="1000" dirty="0">
                <a:solidFill>
                  <a:srgbClr val="E85113"/>
                </a:solidFill>
              </a:rPr>
              <a:t>EDF</a:t>
            </a:r>
            <a:r>
              <a:rPr lang="zh-TW" altLang="en-US" sz="1000" dirty="0">
                <a:solidFill>
                  <a:srgbClr val="E85113"/>
                </a:solidFill>
              </a:rPr>
              <a:t>擁有全球最大的核能艦隊，單在法國就有</a:t>
            </a:r>
            <a:r>
              <a:rPr lang="en-US" altLang="zh-TW" sz="1000" dirty="0">
                <a:solidFill>
                  <a:srgbClr val="E85113"/>
                </a:solidFill>
              </a:rPr>
              <a:t>57</a:t>
            </a:r>
            <a:r>
              <a:rPr lang="zh-TW" altLang="en-US" sz="1000" dirty="0">
                <a:solidFill>
                  <a:srgbClr val="E85113"/>
                </a:solidFill>
              </a:rPr>
              <a:t>個核反應爐</a:t>
            </a:r>
            <a:r>
              <a:rPr lang="en-US" altLang="zh-TW" sz="1000" dirty="0">
                <a:solidFill>
                  <a:srgbClr val="E85113"/>
                </a:solidFill>
              </a:rPr>
              <a:t>(reactors)</a:t>
            </a:r>
          </a:p>
        </p:txBody>
      </p:sp>
      <p:pic>
        <p:nvPicPr>
          <p:cNvPr id="14" name="圖片 13"/>
          <p:cNvPicPr>
            <a:picLocks noChangeAspect="1"/>
          </p:cNvPicPr>
          <p:nvPr/>
        </p:nvPicPr>
        <p:blipFill>
          <a:blip r:embed="rId7">
            <a:clrChange>
              <a:clrFrom>
                <a:srgbClr val="FFFFFF"/>
              </a:clrFrom>
              <a:clrTo>
                <a:srgbClr val="FFFFFF">
                  <a:alpha val="0"/>
                </a:srgbClr>
              </a:clrTo>
            </a:clrChange>
          </a:blip>
          <a:stretch>
            <a:fillRect/>
          </a:stretch>
        </p:blipFill>
        <p:spPr>
          <a:xfrm>
            <a:off x="8044464" y="267537"/>
            <a:ext cx="859988" cy="433490"/>
          </a:xfrm>
          <a:prstGeom prst="rect">
            <a:avLst/>
          </a:prstGeom>
        </p:spPr>
      </p:pic>
      <p:sp>
        <p:nvSpPr>
          <p:cNvPr id="17" name="矩形: 圓角 16">
            <a:extLst>
              <a:ext uri="{FF2B5EF4-FFF2-40B4-BE49-F238E27FC236}">
                <a16:creationId xmlns:a16="http://schemas.microsoft.com/office/drawing/2014/main" xmlns="" id="{73404B03-7B1E-4A29-853E-75B99BFF8B54}"/>
              </a:ext>
            </a:extLst>
          </p:cNvPr>
          <p:cNvSpPr/>
          <p:nvPr/>
        </p:nvSpPr>
        <p:spPr>
          <a:xfrm>
            <a:off x="1582910" y="2793953"/>
            <a:ext cx="1044873" cy="792088"/>
          </a:xfrm>
          <a:prstGeom prst="roundRect">
            <a:avLst/>
          </a:prstGeom>
          <a:no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5" name="直線接點 14"/>
          <p:cNvCxnSpPr>
            <a:cxnSpLocks/>
            <a:endCxn id="17" idx="1"/>
          </p:cNvCxnSpPr>
          <p:nvPr/>
        </p:nvCxnSpPr>
        <p:spPr>
          <a:xfrm>
            <a:off x="1407436" y="3189997"/>
            <a:ext cx="175474" cy="0"/>
          </a:xfrm>
          <a:prstGeom prst="line">
            <a:avLst/>
          </a:prstGeom>
          <a:noFill/>
          <a:ln>
            <a:solidFill>
              <a:schemeClr val="accent5">
                <a:lumMod val="40000"/>
                <a:lumOff val="60000"/>
              </a:schemeClr>
            </a:solidFill>
            <a:tailEnd type="oval"/>
          </a:ln>
        </p:spPr>
      </p:cxnSp>
      <p:sp>
        <p:nvSpPr>
          <p:cNvPr id="30" name="文字方塊 29">
            <a:extLst>
              <a:ext uri="{FF2B5EF4-FFF2-40B4-BE49-F238E27FC236}">
                <a16:creationId xmlns:a16="http://schemas.microsoft.com/office/drawing/2014/main" xmlns="" id="{6B5F6822-5B2C-4E21-804D-0A2823383C15}"/>
              </a:ext>
            </a:extLst>
          </p:cNvPr>
          <p:cNvSpPr txBox="1"/>
          <p:nvPr/>
        </p:nvSpPr>
        <p:spPr>
          <a:xfrm>
            <a:off x="1672340" y="1864465"/>
            <a:ext cx="1159992" cy="400110"/>
          </a:xfrm>
          <a:prstGeom prst="rect">
            <a:avLst/>
          </a:prstGeom>
          <a:noFill/>
        </p:spPr>
        <p:txBody>
          <a:bodyPr wrap="square" rtlCol="0">
            <a:spAutoFit/>
          </a:bodyPr>
          <a:lstStyle/>
          <a:p>
            <a:r>
              <a:rPr lang="zh-TW" altLang="en-US" sz="1000" b="1" dirty="0">
                <a:solidFill>
                  <a:srgbClr val="C00000"/>
                </a:solidFill>
              </a:rPr>
              <a:t>英國最大的零碳能源電力公司</a:t>
            </a:r>
          </a:p>
        </p:txBody>
      </p:sp>
      <p:pic>
        <p:nvPicPr>
          <p:cNvPr id="31" name="圖片 30">
            <a:extLst>
              <a:ext uri="{FF2B5EF4-FFF2-40B4-BE49-F238E27FC236}">
                <a16:creationId xmlns:a16="http://schemas.microsoft.com/office/drawing/2014/main" xmlns="" id="{2A36CECB-69C9-4973-9298-6FFF0069C8B8}"/>
              </a:ext>
            </a:extLst>
          </p:cNvPr>
          <p:cNvPicPr>
            <a:picLocks noChangeAspect="1"/>
          </p:cNvPicPr>
          <p:nvPr/>
        </p:nvPicPr>
        <p:blipFill>
          <a:blip r:embed="rId8"/>
          <a:stretch>
            <a:fillRect/>
          </a:stretch>
        </p:blipFill>
        <p:spPr>
          <a:xfrm>
            <a:off x="1746293" y="1705461"/>
            <a:ext cx="718953" cy="189311"/>
          </a:xfrm>
          <a:prstGeom prst="rect">
            <a:avLst/>
          </a:prstGeom>
        </p:spPr>
      </p:pic>
      <p:sp>
        <p:nvSpPr>
          <p:cNvPr id="32" name="文字方塊 31">
            <a:extLst>
              <a:ext uri="{FF2B5EF4-FFF2-40B4-BE49-F238E27FC236}">
                <a16:creationId xmlns:a16="http://schemas.microsoft.com/office/drawing/2014/main" xmlns="" id="{6938A458-FE3A-47D1-B1A9-42E04B9DA8CD}"/>
              </a:ext>
            </a:extLst>
          </p:cNvPr>
          <p:cNvSpPr txBox="1"/>
          <p:nvPr/>
        </p:nvSpPr>
        <p:spPr>
          <a:xfrm>
            <a:off x="1728663" y="1537913"/>
            <a:ext cx="1058846" cy="240439"/>
          </a:xfrm>
          <a:prstGeom prst="rect">
            <a:avLst/>
          </a:prstGeom>
          <a:noFill/>
        </p:spPr>
        <p:txBody>
          <a:bodyPr wrap="square" rtlCol="0">
            <a:spAutoFit/>
          </a:bodyPr>
          <a:lstStyle/>
          <a:p>
            <a:r>
              <a:rPr lang="zh-TW" altLang="en-US" sz="800" dirty="0">
                <a:solidFill>
                  <a:prstClr val="white">
                    <a:lumMod val="50000"/>
                  </a:prstClr>
                </a:solidFill>
              </a:rPr>
              <a:t>主要實體</a:t>
            </a:r>
          </a:p>
        </p:txBody>
      </p:sp>
      <p:sp>
        <p:nvSpPr>
          <p:cNvPr id="34" name="文字方塊 33">
            <a:extLst>
              <a:ext uri="{FF2B5EF4-FFF2-40B4-BE49-F238E27FC236}">
                <a16:creationId xmlns:a16="http://schemas.microsoft.com/office/drawing/2014/main" xmlns="" id="{2386DC5E-84DA-4278-8FB0-FDD7DBF39A6D}"/>
              </a:ext>
            </a:extLst>
          </p:cNvPr>
          <p:cNvSpPr txBox="1"/>
          <p:nvPr/>
        </p:nvSpPr>
        <p:spPr>
          <a:xfrm>
            <a:off x="4181748" y="4632675"/>
            <a:ext cx="1592495" cy="492443"/>
          </a:xfrm>
          <a:prstGeom prst="rect">
            <a:avLst/>
          </a:prstGeom>
          <a:noFill/>
        </p:spPr>
        <p:txBody>
          <a:bodyPr wrap="square" rtlCol="0">
            <a:spAutoFit/>
          </a:bodyPr>
          <a:lstStyle/>
          <a:p>
            <a:r>
              <a:rPr lang="zh-TW" altLang="en-US" sz="1000" b="1" dirty="0">
                <a:solidFill>
                  <a:srgbClr val="C00000"/>
                </a:solidFill>
              </a:rPr>
              <a:t>義大利第三大電力公司</a:t>
            </a:r>
            <a:r>
              <a:rPr lang="zh-TW" altLang="en-US" sz="800" b="1" dirty="0">
                <a:solidFill>
                  <a:srgbClr val="C00000"/>
                </a:solidFill>
              </a:rPr>
              <a:t>，</a:t>
            </a:r>
            <a:r>
              <a:rPr lang="zh-TW" altLang="en-US" sz="800" dirty="0">
                <a:solidFill>
                  <a:srgbClr val="C00000"/>
                </a:solidFill>
              </a:rPr>
              <a:t>主要採用天然氣、可再生能源及水力發電。</a:t>
            </a:r>
          </a:p>
        </p:txBody>
      </p:sp>
      <p:pic>
        <p:nvPicPr>
          <p:cNvPr id="35" name="圖片 34">
            <a:extLst>
              <a:ext uri="{FF2B5EF4-FFF2-40B4-BE49-F238E27FC236}">
                <a16:creationId xmlns:a16="http://schemas.microsoft.com/office/drawing/2014/main" xmlns="" id="{EAAE1C01-BE00-4679-A6C6-C4125C3D028B}"/>
              </a:ext>
            </a:extLst>
          </p:cNvPr>
          <p:cNvPicPr>
            <a:picLocks noChangeAspect="1"/>
          </p:cNvPicPr>
          <p:nvPr/>
        </p:nvPicPr>
        <p:blipFill>
          <a:blip r:embed="rId9"/>
          <a:stretch>
            <a:fillRect/>
          </a:stretch>
        </p:blipFill>
        <p:spPr>
          <a:xfrm>
            <a:off x="4848337" y="4421101"/>
            <a:ext cx="570475" cy="214502"/>
          </a:xfrm>
          <a:prstGeom prst="rect">
            <a:avLst/>
          </a:prstGeom>
        </p:spPr>
      </p:pic>
      <p:pic>
        <p:nvPicPr>
          <p:cNvPr id="36" name="圖片 35">
            <a:extLst>
              <a:ext uri="{FF2B5EF4-FFF2-40B4-BE49-F238E27FC236}">
                <a16:creationId xmlns:a16="http://schemas.microsoft.com/office/drawing/2014/main" xmlns="" id="{E1A10FB0-C75E-4E13-95F5-68E8C006DF97}"/>
              </a:ext>
            </a:extLst>
          </p:cNvPr>
          <p:cNvPicPr>
            <a:picLocks noChangeAspect="1"/>
          </p:cNvPicPr>
          <p:nvPr/>
        </p:nvPicPr>
        <p:blipFill>
          <a:blip r:embed="rId10"/>
          <a:stretch>
            <a:fillRect/>
          </a:stretch>
        </p:blipFill>
        <p:spPr>
          <a:xfrm>
            <a:off x="4000534" y="1042203"/>
            <a:ext cx="592252" cy="300720"/>
          </a:xfrm>
          <a:prstGeom prst="rect">
            <a:avLst/>
          </a:prstGeom>
        </p:spPr>
      </p:pic>
      <p:sp>
        <p:nvSpPr>
          <p:cNvPr id="37" name="文字方塊 36">
            <a:extLst>
              <a:ext uri="{FF2B5EF4-FFF2-40B4-BE49-F238E27FC236}">
                <a16:creationId xmlns:a16="http://schemas.microsoft.com/office/drawing/2014/main" xmlns="" id="{95034C08-ED81-446D-ADEE-08314CD294B3}"/>
              </a:ext>
            </a:extLst>
          </p:cNvPr>
          <p:cNvSpPr txBox="1"/>
          <p:nvPr/>
        </p:nvSpPr>
        <p:spPr>
          <a:xfrm>
            <a:off x="3916211" y="1337858"/>
            <a:ext cx="1101105" cy="400110"/>
          </a:xfrm>
          <a:prstGeom prst="rect">
            <a:avLst/>
          </a:prstGeom>
          <a:noFill/>
        </p:spPr>
        <p:txBody>
          <a:bodyPr wrap="square" rtlCol="0">
            <a:spAutoFit/>
          </a:bodyPr>
          <a:lstStyle/>
          <a:p>
            <a:r>
              <a:rPr lang="zh-TW" altLang="en-US" sz="1000" b="1" dirty="0">
                <a:solidFill>
                  <a:srgbClr val="C00000"/>
                </a:solidFill>
              </a:rPr>
              <a:t>比利時能源市場第</a:t>
            </a:r>
            <a:r>
              <a:rPr lang="en-US" altLang="zh-TW" sz="1000" b="1" dirty="0">
                <a:solidFill>
                  <a:srgbClr val="C00000"/>
                </a:solidFill>
              </a:rPr>
              <a:t>2</a:t>
            </a:r>
            <a:r>
              <a:rPr lang="zh-TW" altLang="en-US" sz="1000" b="1" dirty="0">
                <a:solidFill>
                  <a:srgbClr val="C00000"/>
                </a:solidFill>
              </a:rPr>
              <a:t>大參與者</a:t>
            </a:r>
          </a:p>
        </p:txBody>
      </p:sp>
      <p:pic>
        <p:nvPicPr>
          <p:cNvPr id="26" name="圖片 25">
            <a:extLst>
              <a:ext uri="{FF2B5EF4-FFF2-40B4-BE49-F238E27FC236}">
                <a16:creationId xmlns:a16="http://schemas.microsoft.com/office/drawing/2014/main" xmlns="" id="{999410C1-1DC1-4EFC-BF0E-92A774C26377}"/>
              </a:ext>
            </a:extLst>
          </p:cNvPr>
          <p:cNvPicPr>
            <a:picLocks noChangeAspect="1"/>
          </p:cNvPicPr>
          <p:nvPr/>
        </p:nvPicPr>
        <p:blipFill rotWithShape="1">
          <a:blip r:embed="rId11">
            <a:extLst>
              <a:ext uri="{28A0092B-C50C-407E-A947-70E740481C1C}">
                <a14:useLocalDpi xmlns:a14="http://schemas.microsoft.com/office/drawing/2010/main" val="0"/>
              </a:ext>
            </a:extLst>
          </a:blip>
          <a:srcRect l="5316"/>
          <a:stretch/>
        </p:blipFill>
        <p:spPr>
          <a:xfrm>
            <a:off x="59462" y="3641537"/>
            <a:ext cx="2568322" cy="2667783"/>
          </a:xfrm>
          <a:prstGeom prst="rect">
            <a:avLst/>
          </a:prstGeom>
        </p:spPr>
      </p:pic>
      <p:pic>
        <p:nvPicPr>
          <p:cNvPr id="39" name="圖片 38">
            <a:extLst>
              <a:ext uri="{FF2B5EF4-FFF2-40B4-BE49-F238E27FC236}">
                <a16:creationId xmlns:a16="http://schemas.microsoft.com/office/drawing/2014/main" xmlns="" id="{5A38E9FC-7A7D-47C6-B20C-F1BE0659C1FF}"/>
              </a:ext>
            </a:extLst>
          </p:cNvPr>
          <p:cNvPicPr>
            <a:picLocks noChangeAspect="1"/>
          </p:cNvPicPr>
          <p:nvPr/>
        </p:nvPicPr>
        <p:blipFill rotWithShape="1">
          <a:blip r:embed="rId12">
            <a:extLst>
              <a:ext uri="{28A0092B-C50C-407E-A947-70E740481C1C}">
                <a14:useLocalDpi xmlns:a14="http://schemas.microsoft.com/office/drawing/2010/main" val="0"/>
              </a:ext>
            </a:extLst>
          </a:blip>
          <a:srcRect l="1891" r="4389" b="3585"/>
          <a:stretch/>
        </p:blipFill>
        <p:spPr>
          <a:xfrm>
            <a:off x="323527" y="3699888"/>
            <a:ext cx="1405135" cy="809232"/>
          </a:xfrm>
          <a:prstGeom prst="rect">
            <a:avLst/>
          </a:prstGeom>
        </p:spPr>
      </p:pic>
      <p:sp>
        <p:nvSpPr>
          <p:cNvPr id="45" name="文字方塊 44">
            <a:extLst>
              <a:ext uri="{FF2B5EF4-FFF2-40B4-BE49-F238E27FC236}">
                <a16:creationId xmlns:a16="http://schemas.microsoft.com/office/drawing/2014/main" xmlns="" id="{F889BCBC-E2B5-40EF-B380-E69527090AE9}"/>
              </a:ext>
            </a:extLst>
          </p:cNvPr>
          <p:cNvSpPr txBox="1"/>
          <p:nvPr/>
        </p:nvSpPr>
        <p:spPr>
          <a:xfrm>
            <a:off x="4562642" y="5847075"/>
            <a:ext cx="830708" cy="246221"/>
          </a:xfrm>
          <a:prstGeom prst="rect">
            <a:avLst/>
          </a:prstGeom>
          <a:noFill/>
        </p:spPr>
        <p:txBody>
          <a:bodyPr wrap="square">
            <a:spAutoFit/>
          </a:bodyPr>
          <a:lstStyle/>
          <a:p>
            <a:pPr>
              <a:spcBef>
                <a:spcPts val="400"/>
              </a:spcBef>
            </a:pPr>
            <a:r>
              <a:rPr lang="zh-TW" altLang="en-US" sz="1000" b="1" dirty="0">
                <a:solidFill>
                  <a:srgbClr val="FE5B22"/>
                </a:solidFill>
              </a:rPr>
              <a:t>石化燃料</a:t>
            </a:r>
            <a:endParaRPr lang="en-US" altLang="zh-TW" sz="1000" b="1" dirty="0">
              <a:solidFill>
                <a:srgbClr val="FE5B22"/>
              </a:solidFill>
            </a:endParaRPr>
          </a:p>
        </p:txBody>
      </p:sp>
      <p:pic>
        <p:nvPicPr>
          <p:cNvPr id="49" name="圖片 48">
            <a:extLst>
              <a:ext uri="{FF2B5EF4-FFF2-40B4-BE49-F238E27FC236}">
                <a16:creationId xmlns:a16="http://schemas.microsoft.com/office/drawing/2014/main" xmlns="" id="{30112D04-AB29-4E72-B9DB-52929648BA49}"/>
              </a:ext>
            </a:extLst>
          </p:cNvPr>
          <p:cNvPicPr>
            <a:picLocks noChangeAspect="1"/>
          </p:cNvPicPr>
          <p:nvPr/>
        </p:nvPicPr>
        <p:blipFill rotWithShape="1">
          <a:blip r:embed="rId13">
            <a:extLst>
              <a:ext uri="{28A0092B-C50C-407E-A947-70E740481C1C}">
                <a14:useLocalDpi xmlns:a14="http://schemas.microsoft.com/office/drawing/2010/main" val="0"/>
              </a:ext>
            </a:extLst>
          </a:blip>
          <a:srcRect l="3634" r="2458"/>
          <a:stretch/>
        </p:blipFill>
        <p:spPr>
          <a:xfrm>
            <a:off x="6311670" y="1131911"/>
            <a:ext cx="2645159" cy="2561657"/>
          </a:xfrm>
          <a:prstGeom prst="rect">
            <a:avLst/>
          </a:prstGeom>
        </p:spPr>
      </p:pic>
      <p:pic>
        <p:nvPicPr>
          <p:cNvPr id="51" name="圖片 50">
            <a:extLst>
              <a:ext uri="{FF2B5EF4-FFF2-40B4-BE49-F238E27FC236}">
                <a16:creationId xmlns:a16="http://schemas.microsoft.com/office/drawing/2014/main" xmlns="" id="{C0B6FB99-7675-49C7-AFFB-A7DE9BB9A5A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7934421" y="1810047"/>
            <a:ext cx="1203345" cy="804307"/>
          </a:xfrm>
          <a:prstGeom prst="rect">
            <a:avLst/>
          </a:prstGeom>
        </p:spPr>
      </p:pic>
      <p:pic>
        <p:nvPicPr>
          <p:cNvPr id="53" name="圖片 52">
            <a:extLst>
              <a:ext uri="{FF2B5EF4-FFF2-40B4-BE49-F238E27FC236}">
                <a16:creationId xmlns:a16="http://schemas.microsoft.com/office/drawing/2014/main" xmlns="" id="{4058C1AE-BD84-4C77-8670-46C9BA4BDBE9}"/>
              </a:ext>
            </a:extLst>
          </p:cNvPr>
          <p:cNvPicPr>
            <a:picLocks noChangeAspect="1"/>
          </p:cNvPicPr>
          <p:nvPr/>
        </p:nvPicPr>
        <p:blipFill rotWithShape="1">
          <a:blip r:embed="rId15">
            <a:extLst>
              <a:ext uri="{28A0092B-C50C-407E-A947-70E740481C1C}">
                <a14:useLocalDpi xmlns:a14="http://schemas.microsoft.com/office/drawing/2010/main" val="0"/>
              </a:ext>
            </a:extLst>
          </a:blip>
          <a:srcRect t="2437" b="-1"/>
          <a:stretch/>
        </p:blipFill>
        <p:spPr>
          <a:xfrm>
            <a:off x="5628133" y="5784381"/>
            <a:ext cx="1208886" cy="492443"/>
          </a:xfrm>
          <a:prstGeom prst="rect">
            <a:avLst/>
          </a:prstGeom>
        </p:spPr>
      </p:pic>
      <p:pic>
        <p:nvPicPr>
          <p:cNvPr id="55" name="圖片 54">
            <a:extLst>
              <a:ext uri="{FF2B5EF4-FFF2-40B4-BE49-F238E27FC236}">
                <a16:creationId xmlns:a16="http://schemas.microsoft.com/office/drawing/2014/main" xmlns="" id="{6F8E7481-1D9B-4CEF-AA39-92E98FA753AE}"/>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7647132" y="3711880"/>
            <a:ext cx="1358671" cy="489673"/>
          </a:xfrm>
          <a:prstGeom prst="rect">
            <a:avLst/>
          </a:prstGeom>
        </p:spPr>
      </p:pic>
      <p:sp>
        <p:nvSpPr>
          <p:cNvPr id="56" name="矩形 55">
            <a:extLst>
              <a:ext uri="{FF2B5EF4-FFF2-40B4-BE49-F238E27FC236}">
                <a16:creationId xmlns:a16="http://schemas.microsoft.com/office/drawing/2014/main" xmlns="" id="{488B77CE-8AE2-4555-8F4C-279BFD7734C5}"/>
              </a:ext>
            </a:extLst>
          </p:cNvPr>
          <p:cNvSpPr/>
          <p:nvPr/>
        </p:nvSpPr>
        <p:spPr>
          <a:xfrm>
            <a:off x="5868144" y="4231061"/>
            <a:ext cx="1497617" cy="30236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a:extLst>
              <a:ext uri="{FF2B5EF4-FFF2-40B4-BE49-F238E27FC236}">
                <a16:creationId xmlns:a16="http://schemas.microsoft.com/office/drawing/2014/main" xmlns="" id="{E96E3EB9-0FE5-4AAD-87BC-EC492CFCB126}"/>
              </a:ext>
            </a:extLst>
          </p:cNvPr>
          <p:cNvSpPr/>
          <p:nvPr/>
        </p:nvSpPr>
        <p:spPr>
          <a:xfrm>
            <a:off x="5940152" y="4988024"/>
            <a:ext cx="600003" cy="30236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a:extLst>
              <a:ext uri="{FF2B5EF4-FFF2-40B4-BE49-F238E27FC236}">
                <a16:creationId xmlns:a16="http://schemas.microsoft.com/office/drawing/2014/main" xmlns="" id="{EF409CC5-9504-4E79-99F4-FB395C5D0646}"/>
              </a:ext>
            </a:extLst>
          </p:cNvPr>
          <p:cNvSpPr/>
          <p:nvPr/>
        </p:nvSpPr>
        <p:spPr>
          <a:xfrm>
            <a:off x="5680892" y="5322485"/>
            <a:ext cx="600003" cy="34241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a:extLst>
              <a:ext uri="{FF2B5EF4-FFF2-40B4-BE49-F238E27FC236}">
                <a16:creationId xmlns:a16="http://schemas.microsoft.com/office/drawing/2014/main" xmlns="" id="{35B3EB9A-5C75-498F-B65B-37BF4941B23B}"/>
              </a:ext>
            </a:extLst>
          </p:cNvPr>
          <p:cNvSpPr/>
          <p:nvPr/>
        </p:nvSpPr>
        <p:spPr>
          <a:xfrm>
            <a:off x="5868144" y="5320164"/>
            <a:ext cx="506102" cy="1232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400" b="1" dirty="0">
                <a:solidFill>
                  <a:srgbClr val="002D74"/>
                </a:solidFill>
                <a:latin typeface="Times New Roman" panose="02020603050405020304" pitchFamily="18" charset="0"/>
                <a:ea typeface="Cambria" panose="02040503050406030204" pitchFamily="18" charset="0"/>
                <a:cs typeface="Times New Roman" panose="02020603050405020304" pitchFamily="18" charset="0"/>
              </a:rPr>
              <a:t>Ivory Coast</a:t>
            </a:r>
            <a:endParaRPr lang="zh-TW" altLang="en-US" sz="400" b="1" dirty="0">
              <a:solidFill>
                <a:srgbClr val="002D74"/>
              </a:solidFill>
              <a:latin typeface="Times New Roman" panose="02020603050405020304" pitchFamily="18" charset="0"/>
              <a:cs typeface="Times New Roman" panose="02020603050405020304" pitchFamily="18" charset="0"/>
            </a:endParaRPr>
          </a:p>
        </p:txBody>
      </p:sp>
      <p:sp>
        <p:nvSpPr>
          <p:cNvPr id="60" name="矩形 59">
            <a:extLst>
              <a:ext uri="{FF2B5EF4-FFF2-40B4-BE49-F238E27FC236}">
                <a16:creationId xmlns:a16="http://schemas.microsoft.com/office/drawing/2014/main" xmlns="" id="{B0801FDF-5274-43CC-AD6A-3FD97FE36261}"/>
              </a:ext>
            </a:extLst>
          </p:cNvPr>
          <p:cNvSpPr/>
          <p:nvPr/>
        </p:nvSpPr>
        <p:spPr>
          <a:xfrm>
            <a:off x="8474458" y="3429000"/>
            <a:ext cx="600003" cy="30236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a:extLst>
              <a:ext uri="{FF2B5EF4-FFF2-40B4-BE49-F238E27FC236}">
                <a16:creationId xmlns:a16="http://schemas.microsoft.com/office/drawing/2014/main" xmlns="" id="{4393C626-E7FD-4472-A0A8-BDAB95CE181A}"/>
              </a:ext>
            </a:extLst>
          </p:cNvPr>
          <p:cNvSpPr/>
          <p:nvPr/>
        </p:nvSpPr>
        <p:spPr>
          <a:xfrm>
            <a:off x="8011247" y="980728"/>
            <a:ext cx="1063214" cy="63341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文字方塊 66">
            <a:extLst>
              <a:ext uri="{FF2B5EF4-FFF2-40B4-BE49-F238E27FC236}">
                <a16:creationId xmlns:a16="http://schemas.microsoft.com/office/drawing/2014/main" xmlns="" id="{C1DAF767-1779-4641-94AF-0FCD4BBBC6C6}"/>
              </a:ext>
            </a:extLst>
          </p:cNvPr>
          <p:cNvSpPr txBox="1"/>
          <p:nvPr/>
        </p:nvSpPr>
        <p:spPr>
          <a:xfrm>
            <a:off x="377297" y="6156012"/>
            <a:ext cx="4482735" cy="369332"/>
          </a:xfrm>
          <a:prstGeom prst="rect">
            <a:avLst/>
          </a:prstGeom>
          <a:noFill/>
        </p:spPr>
        <p:txBody>
          <a:bodyPr wrap="square">
            <a:spAutoFit/>
          </a:bodyPr>
          <a:lstStyle/>
          <a:p>
            <a:r>
              <a:rPr lang="en-US" altLang="zh-TW" sz="600" dirty="0">
                <a:solidFill>
                  <a:schemeClr val="tx1">
                    <a:lumMod val="50000"/>
                    <a:lumOff val="50000"/>
                  </a:schemeClr>
                </a:solidFill>
                <a:latin typeface="Times New Roman" panose="02020603050405020304" pitchFamily="18" charset="0"/>
                <a:ea typeface="Cambria" panose="02040503050406030204" pitchFamily="18" charset="0"/>
                <a:cs typeface="Times New Roman" panose="02020603050405020304" pitchFamily="18" charset="0"/>
              </a:rPr>
              <a:t>(1) Net capacity and output according to EDF’s percentage ownership in Group companies, including associates and joint ventures.</a:t>
            </a:r>
          </a:p>
          <a:p>
            <a:r>
              <a:rPr lang="en-US" altLang="zh-TW" sz="600" dirty="0">
                <a:solidFill>
                  <a:schemeClr val="tx1">
                    <a:lumMod val="50000"/>
                    <a:lumOff val="50000"/>
                  </a:schemeClr>
                </a:solidFill>
                <a:latin typeface="Times New Roman" panose="02020603050405020304" pitchFamily="18" charset="0"/>
                <a:ea typeface="Cambria" panose="02040503050406030204" pitchFamily="18" charset="0"/>
                <a:cs typeface="Times New Roman" panose="02020603050405020304" pitchFamily="18" charset="0"/>
              </a:rPr>
              <a:t>(2) The French nuclear capacity includes </a:t>
            </a:r>
            <a:r>
              <a:rPr lang="en-US" altLang="zh-TW" sz="600" dirty="0" err="1">
                <a:solidFill>
                  <a:schemeClr val="tx1">
                    <a:lumMod val="50000"/>
                    <a:lumOff val="50000"/>
                  </a:schemeClr>
                </a:solidFill>
                <a:latin typeface="Times New Roman" panose="02020603050405020304" pitchFamily="18" charset="0"/>
                <a:ea typeface="Cambria" panose="02040503050406030204" pitchFamily="18" charset="0"/>
                <a:cs typeface="Times New Roman" panose="02020603050405020304" pitchFamily="18" charset="0"/>
              </a:rPr>
              <a:t>Flamanville</a:t>
            </a:r>
            <a:r>
              <a:rPr lang="en-US" altLang="zh-TW" sz="600" dirty="0">
                <a:solidFill>
                  <a:schemeClr val="tx1">
                    <a:lumMod val="50000"/>
                    <a:lumOff val="50000"/>
                  </a:schemeClr>
                </a:solidFill>
                <a:latin typeface="Times New Roman" panose="02020603050405020304" pitchFamily="18" charset="0"/>
                <a:ea typeface="Cambria" panose="02040503050406030204" pitchFamily="18" charset="0"/>
                <a:cs typeface="Times New Roman" panose="02020603050405020304" pitchFamily="18" charset="0"/>
              </a:rPr>
              <a:t> 3 for 1,600MW</a:t>
            </a:r>
          </a:p>
          <a:p>
            <a:r>
              <a:rPr lang="en-US" altLang="zh-TW" sz="600" dirty="0">
                <a:solidFill>
                  <a:schemeClr val="tx1">
                    <a:lumMod val="50000"/>
                    <a:lumOff val="50000"/>
                  </a:schemeClr>
                </a:solidFill>
                <a:latin typeface="Times New Roman" panose="02020603050405020304" pitchFamily="18" charset="0"/>
                <a:ea typeface="Cambria" panose="02040503050406030204" pitchFamily="18" charset="0"/>
                <a:cs typeface="Times New Roman" panose="02020603050405020304" pitchFamily="18" charset="0"/>
              </a:rPr>
              <a:t>(3) Excluding energy storage capacity and EDF Renewables biogas production capacity. </a:t>
            </a:r>
            <a:endParaRPr lang="zh-TW" altLang="en-US" sz="600" dirty="0">
              <a:solidFill>
                <a:schemeClr val="tx1">
                  <a:lumMod val="50000"/>
                  <a:lumOff val="50000"/>
                </a:schemeClr>
              </a:solidFill>
              <a:latin typeface="Times New Roman" panose="02020603050405020304" pitchFamily="18" charset="0"/>
              <a:cs typeface="Times New Roman" panose="02020603050405020304" pitchFamily="18" charset="0"/>
            </a:endParaRPr>
          </a:p>
        </p:txBody>
      </p:sp>
      <p:sp>
        <p:nvSpPr>
          <p:cNvPr id="70" name="文字方塊 69">
            <a:extLst>
              <a:ext uri="{FF2B5EF4-FFF2-40B4-BE49-F238E27FC236}">
                <a16:creationId xmlns:a16="http://schemas.microsoft.com/office/drawing/2014/main" xmlns="" id="{CA741219-8A4F-464B-9C0B-357F0F8C63CD}"/>
              </a:ext>
            </a:extLst>
          </p:cNvPr>
          <p:cNvSpPr txBox="1"/>
          <p:nvPr/>
        </p:nvSpPr>
        <p:spPr>
          <a:xfrm>
            <a:off x="1960000" y="4560161"/>
            <a:ext cx="739792" cy="184666"/>
          </a:xfrm>
          <a:prstGeom prst="rect">
            <a:avLst/>
          </a:prstGeom>
          <a:solidFill>
            <a:schemeClr val="bg1"/>
          </a:solidFill>
        </p:spPr>
        <p:txBody>
          <a:bodyPr wrap="square" rtlCol="0">
            <a:spAutoFit/>
          </a:bodyPr>
          <a:lstStyle/>
          <a:p>
            <a:r>
              <a:rPr lang="en-US" altLang="zh-TW" sz="500" b="1" dirty="0">
                <a:solidFill>
                  <a:srgbClr val="002D74"/>
                </a:solidFill>
                <a:latin typeface="Times New Roman" panose="02020603050405020304" pitchFamily="18" charset="0"/>
                <a:cs typeface="Times New Roman" panose="02020603050405020304" pitchFamily="18" charset="0"/>
              </a:rPr>
              <a:t>United States</a:t>
            </a:r>
            <a:r>
              <a:rPr lang="en-US" altLang="zh-TW" sz="600" b="1" baseline="30000" dirty="0">
                <a:solidFill>
                  <a:srgbClr val="002D74"/>
                </a:solidFill>
                <a:latin typeface="Times New Roman" panose="02020603050405020304" pitchFamily="18" charset="0"/>
                <a:cs typeface="Times New Roman" panose="02020603050405020304" pitchFamily="18" charset="0"/>
              </a:rPr>
              <a:t>(3)</a:t>
            </a:r>
            <a:endParaRPr lang="zh-TW" altLang="en-US" sz="700" b="1" dirty="0">
              <a:solidFill>
                <a:srgbClr val="002D74"/>
              </a:solidFill>
              <a:latin typeface="Times New Roman" panose="02020603050405020304" pitchFamily="18" charset="0"/>
              <a:cs typeface="Times New Roman" panose="02020603050405020304" pitchFamily="18" charset="0"/>
            </a:endParaRPr>
          </a:p>
        </p:txBody>
      </p:sp>
      <p:sp>
        <p:nvSpPr>
          <p:cNvPr id="33" name="矩形 32"/>
          <p:cNvSpPr/>
          <p:nvPr/>
        </p:nvSpPr>
        <p:spPr>
          <a:xfrm>
            <a:off x="5012833" y="692696"/>
            <a:ext cx="2439487" cy="830997"/>
          </a:xfrm>
          <a:prstGeom prst="rect">
            <a:avLst/>
          </a:prstGeom>
        </p:spPr>
        <p:txBody>
          <a:bodyPr wrap="square">
            <a:spAutoFit/>
          </a:bodyPr>
          <a:lstStyle/>
          <a:p>
            <a:r>
              <a:rPr lang="en-US" altLang="zh-TW" sz="1600" b="1" dirty="0">
                <a:solidFill>
                  <a:schemeClr val="tx1">
                    <a:lumMod val="85000"/>
                    <a:lumOff val="15000"/>
                  </a:schemeClr>
                </a:solidFill>
                <a:latin typeface="微軟正黑體" panose="020B0604030504040204" pitchFamily="34" charset="-120"/>
                <a:ea typeface="微軟正黑體" panose="020B0604030504040204" pitchFamily="34" charset="-120"/>
              </a:rPr>
              <a:t>EDF</a:t>
            </a:r>
            <a:r>
              <a:rPr lang="zh-TW" altLang="en-US" sz="1600" b="1" dirty="0">
                <a:solidFill>
                  <a:schemeClr val="tx1">
                    <a:lumMod val="85000"/>
                    <a:lumOff val="15000"/>
                  </a:schemeClr>
                </a:solidFill>
                <a:latin typeface="微軟正黑體" panose="020B0604030504040204" pitchFamily="34" charset="-120"/>
                <a:ea typeface="微軟正黑體" panose="020B0604030504040204" pitchFamily="34" charset="-120"/>
              </a:rPr>
              <a:t>除了為法國供電外，亦在全球其他</a:t>
            </a:r>
            <a:r>
              <a:rPr lang="en-US" altLang="zh-TW" sz="1600" b="1" dirty="0">
                <a:solidFill>
                  <a:schemeClr val="tx1">
                    <a:lumMod val="85000"/>
                    <a:lumOff val="15000"/>
                  </a:schemeClr>
                </a:solidFill>
                <a:latin typeface="微軟正黑體" panose="020B0604030504040204" pitchFamily="34" charset="-120"/>
                <a:ea typeface="微軟正黑體" panose="020B0604030504040204" pitchFamily="34" charset="-120"/>
              </a:rPr>
              <a:t>27</a:t>
            </a:r>
            <a:r>
              <a:rPr lang="zh-TW" altLang="en-US" sz="1600" b="1" dirty="0">
                <a:solidFill>
                  <a:schemeClr val="tx1">
                    <a:lumMod val="85000"/>
                    <a:lumOff val="15000"/>
                  </a:schemeClr>
                </a:solidFill>
                <a:latin typeface="微軟正黑體" panose="020B0604030504040204" pitchFamily="34" charset="-120"/>
                <a:ea typeface="微軟正黑體" panose="020B0604030504040204" pitchFamily="34" charset="-120"/>
              </a:rPr>
              <a:t>個國家或地區設有發電站</a:t>
            </a:r>
            <a:endParaRPr lang="zh-TW" altLang="en-US" sz="1600" b="1" dirty="0"/>
          </a:p>
        </p:txBody>
      </p:sp>
      <p:sp>
        <p:nvSpPr>
          <p:cNvPr id="71" name="矩形 70">
            <a:extLst>
              <a:ext uri="{FF2B5EF4-FFF2-40B4-BE49-F238E27FC236}">
                <a16:creationId xmlns:a16="http://schemas.microsoft.com/office/drawing/2014/main" xmlns="" id="{2C2D53E9-D74B-4F5A-905F-676A0150D7BA}"/>
              </a:ext>
            </a:extLst>
          </p:cNvPr>
          <p:cNvSpPr/>
          <p:nvPr/>
        </p:nvSpPr>
        <p:spPr>
          <a:xfrm>
            <a:off x="3166419" y="5187776"/>
            <a:ext cx="2163101" cy="905520"/>
          </a:xfrm>
          <a:prstGeom prst="rect">
            <a:avLst/>
          </a:prstGeom>
          <a:noFill/>
          <a:ln w="9525">
            <a:solidFill>
              <a:schemeClr val="bg1">
                <a:lumMod val="6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文字方塊 71">
            <a:extLst>
              <a:ext uri="{FF2B5EF4-FFF2-40B4-BE49-F238E27FC236}">
                <a16:creationId xmlns:a16="http://schemas.microsoft.com/office/drawing/2014/main" xmlns="" id="{E6A93440-81F7-41F3-A167-ED2903E1C2C1}"/>
              </a:ext>
            </a:extLst>
          </p:cNvPr>
          <p:cNvSpPr txBox="1"/>
          <p:nvPr/>
        </p:nvSpPr>
        <p:spPr>
          <a:xfrm>
            <a:off x="4817072" y="4249951"/>
            <a:ext cx="1058846" cy="240439"/>
          </a:xfrm>
          <a:prstGeom prst="rect">
            <a:avLst/>
          </a:prstGeom>
          <a:noFill/>
        </p:spPr>
        <p:txBody>
          <a:bodyPr wrap="square" rtlCol="0">
            <a:spAutoFit/>
          </a:bodyPr>
          <a:lstStyle/>
          <a:p>
            <a:r>
              <a:rPr lang="zh-TW" altLang="en-US" sz="800" dirty="0">
                <a:solidFill>
                  <a:prstClr val="white">
                    <a:lumMod val="50000"/>
                  </a:prstClr>
                </a:solidFill>
              </a:rPr>
              <a:t>主要實體</a:t>
            </a:r>
          </a:p>
        </p:txBody>
      </p:sp>
      <p:sp>
        <p:nvSpPr>
          <p:cNvPr id="73" name="文字方塊 72">
            <a:extLst>
              <a:ext uri="{FF2B5EF4-FFF2-40B4-BE49-F238E27FC236}">
                <a16:creationId xmlns:a16="http://schemas.microsoft.com/office/drawing/2014/main" xmlns="" id="{575717FB-16EE-4F82-B8C2-235C9C392570}"/>
              </a:ext>
            </a:extLst>
          </p:cNvPr>
          <p:cNvSpPr txBox="1"/>
          <p:nvPr/>
        </p:nvSpPr>
        <p:spPr>
          <a:xfrm>
            <a:off x="3977301" y="898616"/>
            <a:ext cx="1058846" cy="240439"/>
          </a:xfrm>
          <a:prstGeom prst="rect">
            <a:avLst/>
          </a:prstGeom>
          <a:noFill/>
        </p:spPr>
        <p:txBody>
          <a:bodyPr wrap="square" rtlCol="0">
            <a:spAutoFit/>
          </a:bodyPr>
          <a:lstStyle/>
          <a:p>
            <a:r>
              <a:rPr lang="zh-TW" altLang="en-US" sz="800" dirty="0">
                <a:solidFill>
                  <a:prstClr val="white">
                    <a:lumMod val="50000"/>
                  </a:prstClr>
                </a:solidFill>
              </a:rPr>
              <a:t>主要實體</a:t>
            </a:r>
          </a:p>
        </p:txBody>
      </p:sp>
    </p:spTree>
    <p:extLst>
      <p:ext uri="{BB962C8B-B14F-4D97-AF65-F5344CB8AC3E}">
        <p14:creationId xmlns:p14="http://schemas.microsoft.com/office/powerpoint/2010/main" val="41125794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圓角矩形 18">
            <a:extLst>
              <a:ext uri="{FF2B5EF4-FFF2-40B4-BE49-F238E27FC236}">
                <a16:creationId xmlns:a16="http://schemas.microsoft.com/office/drawing/2014/main" xmlns="" id="{0472C693-5DA6-4481-8734-F254EAD05C26}"/>
              </a:ext>
            </a:extLst>
          </p:cNvPr>
          <p:cNvSpPr/>
          <p:nvPr/>
        </p:nvSpPr>
        <p:spPr>
          <a:xfrm>
            <a:off x="267800" y="3097249"/>
            <a:ext cx="4232192" cy="3255236"/>
          </a:xfrm>
          <a:prstGeom prst="roundRect">
            <a:avLst>
              <a:gd name="adj"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投影片編號版面配置區 3">
            <a:extLst>
              <a:ext uri="{FF2B5EF4-FFF2-40B4-BE49-F238E27FC236}">
                <a16:creationId xmlns:a16="http://schemas.microsoft.com/office/drawing/2014/main" xmlns="" id="{E9BC1E29-929C-479F-B32F-4DA6711F8A91}"/>
              </a:ext>
            </a:extLst>
          </p:cNvPr>
          <p:cNvSpPr>
            <a:spLocks noGrp="1"/>
          </p:cNvSpPr>
          <p:nvPr>
            <p:ph type="sldNum" sz="quarter" idx="10"/>
          </p:nvPr>
        </p:nvSpPr>
        <p:spPr/>
        <p:txBody>
          <a:bodyPr/>
          <a:lstStyle/>
          <a:p>
            <a:fld id="{415482FC-CF5F-466A-B8B6-BC3733E92023}" type="slidenum">
              <a:rPr lang="zh-TW" altLang="en-US" smtClean="0"/>
              <a:pPr/>
              <a:t>4</a:t>
            </a:fld>
            <a:endParaRPr lang="zh-TW" altLang="en-US" dirty="0"/>
          </a:p>
        </p:txBody>
      </p:sp>
      <p:sp>
        <p:nvSpPr>
          <p:cNvPr id="5" name="標題 1">
            <a:extLst>
              <a:ext uri="{FF2B5EF4-FFF2-40B4-BE49-F238E27FC236}">
                <a16:creationId xmlns:a16="http://schemas.microsoft.com/office/drawing/2014/main" xmlns="" id="{60C28753-0A00-4E34-83C6-C4D758C2A7D2}"/>
              </a:ext>
            </a:extLst>
          </p:cNvPr>
          <p:cNvSpPr txBox="1">
            <a:spLocks/>
          </p:cNvSpPr>
          <p:nvPr/>
        </p:nvSpPr>
        <p:spPr bwMode="auto">
          <a:xfrm>
            <a:off x="229944" y="161162"/>
            <a:ext cx="776452" cy="633413"/>
          </a:xfrm>
          <a:prstGeom prst="rect">
            <a:avLst/>
          </a:prstGeom>
          <a:solidFill>
            <a:srgbClr val="C00000"/>
          </a:solidFill>
          <a:ln>
            <a:noFill/>
          </a:ln>
        </p:spPr>
        <p:txBody>
          <a:bodyPr anchor="ctr">
            <a:noAutofit/>
          </a:bodyPr>
          <a:lstStyle>
            <a:lvl1pPr algn="l" rtl="0" eaLnBrk="0" fontAlgn="base" hangingPunct="0">
              <a:spcBef>
                <a:spcPct val="0"/>
              </a:spcBef>
              <a:spcAft>
                <a:spcPct val="0"/>
              </a:spcAft>
              <a:defRPr kumimoji="1" sz="3000" b="1">
                <a:solidFill>
                  <a:schemeClr val="tx2"/>
                </a:solidFill>
                <a:latin typeface="+mj-lt"/>
                <a:ea typeface="+mj-ea"/>
                <a:cs typeface="+mj-cs"/>
              </a:defRPr>
            </a:lvl1pPr>
            <a:lvl2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2pPr>
            <a:lvl3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3pPr>
            <a:lvl4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4pPr>
            <a:lvl5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5pPr>
            <a:lvl6pPr marL="457200" algn="l" rtl="0" fontAlgn="base">
              <a:spcBef>
                <a:spcPct val="0"/>
              </a:spcBef>
              <a:spcAft>
                <a:spcPct val="0"/>
              </a:spcAft>
              <a:defRPr kumimoji="1" sz="3000" b="1">
                <a:solidFill>
                  <a:schemeClr val="tx2"/>
                </a:solidFill>
                <a:latin typeface="標楷體" pitchFamily="65" charset="-120"/>
                <a:ea typeface="標楷體" pitchFamily="65" charset="-120"/>
              </a:defRPr>
            </a:lvl6pPr>
            <a:lvl7pPr marL="914400" algn="l" rtl="0" fontAlgn="base">
              <a:spcBef>
                <a:spcPct val="0"/>
              </a:spcBef>
              <a:spcAft>
                <a:spcPct val="0"/>
              </a:spcAft>
              <a:defRPr kumimoji="1" sz="3000" b="1">
                <a:solidFill>
                  <a:schemeClr val="tx2"/>
                </a:solidFill>
                <a:latin typeface="標楷體" pitchFamily="65" charset="-120"/>
                <a:ea typeface="標楷體" pitchFamily="65" charset="-120"/>
              </a:defRPr>
            </a:lvl7pPr>
            <a:lvl8pPr marL="1371600" algn="l" rtl="0" fontAlgn="base">
              <a:spcBef>
                <a:spcPct val="0"/>
              </a:spcBef>
              <a:spcAft>
                <a:spcPct val="0"/>
              </a:spcAft>
              <a:defRPr kumimoji="1" sz="3000" b="1">
                <a:solidFill>
                  <a:schemeClr val="tx2"/>
                </a:solidFill>
                <a:latin typeface="標楷體" pitchFamily="65" charset="-120"/>
                <a:ea typeface="標楷體" pitchFamily="65" charset="-120"/>
              </a:defRPr>
            </a:lvl8pPr>
            <a:lvl9pPr marL="1828800" algn="l" rtl="0" fontAlgn="base">
              <a:spcBef>
                <a:spcPct val="0"/>
              </a:spcBef>
              <a:spcAft>
                <a:spcPct val="0"/>
              </a:spcAft>
              <a:defRPr kumimoji="1" sz="3000" b="1">
                <a:solidFill>
                  <a:schemeClr val="tx2"/>
                </a:solidFill>
                <a:latin typeface="標楷體" pitchFamily="65" charset="-120"/>
                <a:ea typeface="標楷體" pitchFamily="65" charset="-120"/>
              </a:defRPr>
            </a:lvl9pPr>
          </a:lstStyle>
          <a:p>
            <a:pPr algn="ctr">
              <a:defRPr/>
            </a:pPr>
            <a:r>
              <a:rPr lang="zh-TW" altLang="en-US" sz="2000" kern="0" dirty="0">
                <a:solidFill>
                  <a:schemeClr val="bg1"/>
                </a:solidFill>
              </a:rPr>
              <a:t>財務表現</a:t>
            </a:r>
          </a:p>
        </p:txBody>
      </p:sp>
      <p:sp>
        <p:nvSpPr>
          <p:cNvPr id="6" name="標題 1">
            <a:extLst>
              <a:ext uri="{FF2B5EF4-FFF2-40B4-BE49-F238E27FC236}">
                <a16:creationId xmlns:a16="http://schemas.microsoft.com/office/drawing/2014/main" xmlns="" id="{8A190DF9-3093-4C79-BE60-4ED0D15A2C3B}"/>
              </a:ext>
            </a:extLst>
          </p:cNvPr>
          <p:cNvSpPr txBox="1">
            <a:spLocks noChangeArrowheads="1"/>
          </p:cNvSpPr>
          <p:nvPr/>
        </p:nvSpPr>
        <p:spPr>
          <a:xfrm>
            <a:off x="1053599" y="142648"/>
            <a:ext cx="7141365" cy="633413"/>
          </a:xfrm>
          <a:prstGeom prst="rect">
            <a:avLst/>
          </a:prstGeom>
        </p:spPr>
        <p:txBody>
          <a:bodyPr anchor="ctr" anchorCtr="0">
            <a:noAutofit/>
          </a:bodyPr>
          <a:lstStyle>
            <a:lvl1pPr algn="l" defTabSz="914400" rtl="0" eaLnBrk="1" latinLnBrk="0" hangingPunct="1">
              <a:spcBef>
                <a:spcPct val="0"/>
              </a:spcBef>
              <a:buNone/>
              <a:defRPr sz="2800" b="1" kern="1200">
                <a:solidFill>
                  <a:schemeClr val="tx2">
                    <a:lumMod val="75000"/>
                  </a:schemeClr>
                </a:solidFill>
                <a:latin typeface="微軟正黑體" pitchFamily="34" charset="-120"/>
                <a:ea typeface="微軟正黑體" pitchFamily="34" charset="-120"/>
                <a:cs typeface="+mj-cs"/>
              </a:defRPr>
            </a:lvl1pPr>
          </a:lstStyle>
          <a:p>
            <a:pPr>
              <a:tabLst>
                <a:tab pos="5473700" algn="l"/>
              </a:tabLst>
              <a:defRPr/>
            </a:pPr>
            <a:r>
              <a:rPr lang="zh-TW" altLang="en-US" sz="2400" dirty="0"/>
              <a:t>核能發電及電價環境改善，揮別虧損重抬盈利</a:t>
            </a:r>
          </a:p>
        </p:txBody>
      </p:sp>
      <p:sp>
        <p:nvSpPr>
          <p:cNvPr id="7" name="圓角矩形 6">
            <a:extLst>
              <a:ext uri="{FF2B5EF4-FFF2-40B4-BE49-F238E27FC236}">
                <a16:creationId xmlns:a16="http://schemas.microsoft.com/office/drawing/2014/main" xmlns="" id="{0472C693-5DA6-4481-8734-F254EAD05C26}"/>
              </a:ext>
            </a:extLst>
          </p:cNvPr>
          <p:cNvSpPr/>
          <p:nvPr/>
        </p:nvSpPr>
        <p:spPr>
          <a:xfrm>
            <a:off x="267800" y="1050428"/>
            <a:ext cx="4232192" cy="1759343"/>
          </a:xfrm>
          <a:prstGeom prst="roundRect">
            <a:avLst>
              <a:gd name="adj"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圓角矩形 29">
            <a:extLst>
              <a:ext uri="{FF2B5EF4-FFF2-40B4-BE49-F238E27FC236}">
                <a16:creationId xmlns:a16="http://schemas.microsoft.com/office/drawing/2014/main" xmlns="" id="{6373E1F3-4EED-4FCA-BB27-DF4DDB91702B}"/>
              </a:ext>
            </a:extLst>
          </p:cNvPr>
          <p:cNvSpPr/>
          <p:nvPr/>
        </p:nvSpPr>
        <p:spPr>
          <a:xfrm>
            <a:off x="431543" y="875704"/>
            <a:ext cx="953143" cy="34944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latin typeface="+mn-ea"/>
              </a:rPr>
              <a:t>年度財務</a:t>
            </a:r>
          </a:p>
        </p:txBody>
      </p:sp>
      <p:sp>
        <p:nvSpPr>
          <p:cNvPr id="12" name="矩形 11">
            <a:extLst>
              <a:ext uri="{FF2B5EF4-FFF2-40B4-BE49-F238E27FC236}">
                <a16:creationId xmlns:a16="http://schemas.microsoft.com/office/drawing/2014/main" xmlns="" id="{4372BD7C-00E8-4B7F-B38B-AF95F64EABC5}"/>
              </a:ext>
            </a:extLst>
          </p:cNvPr>
          <p:cNvSpPr/>
          <p:nvPr/>
        </p:nvSpPr>
        <p:spPr>
          <a:xfrm>
            <a:off x="289063" y="1196752"/>
            <a:ext cx="4173281" cy="16244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just">
              <a:lnSpc>
                <a:spcPts val="1600"/>
              </a:lnSpc>
              <a:spcBef>
                <a:spcPts val="600"/>
              </a:spcBef>
            </a:pPr>
            <a:r>
              <a:rPr lang="zh-TW" altLang="en-US" sz="1100" b="1" dirty="0">
                <a:solidFill>
                  <a:srgbClr val="FF0000"/>
                </a:solidFill>
              </a:rPr>
              <a:t>儘管</a:t>
            </a:r>
            <a:r>
              <a:rPr lang="en-US" altLang="zh-TW" sz="1100" b="1" dirty="0">
                <a:solidFill>
                  <a:srgbClr val="FF0000"/>
                </a:solidFill>
              </a:rPr>
              <a:t>2022</a:t>
            </a:r>
            <a:r>
              <a:rPr lang="zh-TW" altLang="en-US" sz="1100" b="1" dirty="0">
                <a:solidFill>
                  <a:srgbClr val="FF0000"/>
                </a:solidFill>
              </a:rPr>
              <a:t>年營業額年增</a:t>
            </a:r>
            <a:r>
              <a:rPr lang="en-US" altLang="zh-TW" sz="1100" b="1" dirty="0">
                <a:solidFill>
                  <a:srgbClr val="FF0000"/>
                </a:solidFill>
              </a:rPr>
              <a:t>70%</a:t>
            </a:r>
            <a:r>
              <a:rPr lang="zh-TW" altLang="en-US" sz="1100" b="1" dirty="0">
                <a:solidFill>
                  <a:srgbClr val="FF0000"/>
                </a:solidFill>
              </a:rPr>
              <a:t>至</a:t>
            </a:r>
            <a:r>
              <a:rPr lang="en-US" altLang="zh-TW" sz="1100" b="1" dirty="0">
                <a:solidFill>
                  <a:srgbClr val="FF0000"/>
                </a:solidFill>
              </a:rPr>
              <a:t>1,435</a:t>
            </a:r>
            <a:r>
              <a:rPr lang="zh-TW" altLang="en-US" sz="1100" b="1" dirty="0">
                <a:solidFill>
                  <a:srgbClr val="FF0000"/>
                </a:solidFill>
              </a:rPr>
              <a:t>億歐元，但受到烏</a:t>
            </a:r>
            <a:r>
              <a:rPr lang="zh-CN" altLang="en-US" sz="1100" b="1" dirty="0">
                <a:solidFill>
                  <a:srgbClr val="FF0000"/>
                </a:solidFill>
              </a:rPr>
              <a:t>克蘭危機導致能源供應緊張</a:t>
            </a:r>
            <a:r>
              <a:rPr lang="zh-TW" altLang="en-US" sz="1100" b="1" dirty="0">
                <a:solidFill>
                  <a:srgbClr val="FF0000"/>
                </a:solidFill>
              </a:rPr>
              <a:t>，</a:t>
            </a:r>
            <a:r>
              <a:rPr lang="zh-CN" altLang="en-US" sz="1100" b="1" dirty="0">
                <a:solidFill>
                  <a:srgbClr val="FF0000"/>
                </a:solidFill>
              </a:rPr>
              <a:t>以及該公司的核電產量下降</a:t>
            </a:r>
            <a:r>
              <a:rPr lang="zh-TW" altLang="en-US" sz="1100" b="1" dirty="0">
                <a:solidFill>
                  <a:srgbClr val="FF0000"/>
                </a:solidFill>
              </a:rPr>
              <a:t>、管制電價</a:t>
            </a:r>
            <a:r>
              <a:rPr lang="zh-CN" altLang="en-US" sz="1100" b="1" dirty="0">
                <a:solidFill>
                  <a:srgbClr val="FF0000"/>
                </a:solidFill>
              </a:rPr>
              <a:t>等多重因素</a:t>
            </a:r>
            <a:r>
              <a:rPr lang="zh-TW" altLang="en-US" sz="1100" b="1" dirty="0">
                <a:solidFill>
                  <a:srgbClr val="FF0000"/>
                </a:solidFill>
              </a:rPr>
              <a:t>影響，導致</a:t>
            </a:r>
            <a:r>
              <a:rPr lang="en-US" altLang="zh-TW" sz="1100" b="1" dirty="0">
                <a:solidFill>
                  <a:srgbClr val="FF0000"/>
                </a:solidFill>
              </a:rPr>
              <a:t>2022</a:t>
            </a:r>
            <a:r>
              <a:rPr lang="zh-TW" altLang="en-US" sz="1100" b="1" dirty="0">
                <a:solidFill>
                  <a:srgbClr val="FF0000"/>
                </a:solidFill>
              </a:rPr>
              <a:t>年創紀錄虧損。</a:t>
            </a:r>
            <a:endParaRPr lang="en-US" altLang="zh-TW" sz="1100" b="1" dirty="0">
              <a:solidFill>
                <a:srgbClr val="FF0000"/>
              </a:solidFill>
            </a:endParaRPr>
          </a:p>
          <a:p>
            <a:pPr algn="just">
              <a:lnSpc>
                <a:spcPts val="1600"/>
              </a:lnSpc>
              <a:spcBef>
                <a:spcPts val="600"/>
              </a:spcBef>
            </a:pPr>
            <a:r>
              <a:rPr lang="zh-TW" altLang="en-US" sz="1100" b="1" dirty="0">
                <a:solidFill>
                  <a:srgbClr val="FF0000"/>
                </a:solidFill>
              </a:rPr>
              <a:t>稅後巨虧</a:t>
            </a:r>
            <a:r>
              <a:rPr lang="en-US" altLang="zh-TW" sz="1100" b="1" dirty="0">
                <a:solidFill>
                  <a:srgbClr val="FF0000"/>
                </a:solidFill>
              </a:rPr>
              <a:t>179</a:t>
            </a:r>
            <a:r>
              <a:rPr lang="zh-TW" altLang="en-US" sz="1100" b="1" dirty="0">
                <a:solidFill>
                  <a:srgbClr val="FF0000"/>
                </a:solidFill>
              </a:rPr>
              <a:t>億歐元</a:t>
            </a:r>
            <a:r>
              <a:rPr lang="zh-TW" altLang="en-US" sz="1100" dirty="0">
                <a:solidFill>
                  <a:schemeClr val="tx1"/>
                </a:solidFill>
              </a:rPr>
              <a:t>，係反映</a:t>
            </a:r>
            <a:r>
              <a:rPr lang="en-US" altLang="zh-TW" sz="1100" dirty="0">
                <a:solidFill>
                  <a:schemeClr val="tx1"/>
                </a:solidFill>
              </a:rPr>
              <a:t>EDF</a:t>
            </a:r>
            <a:r>
              <a:rPr lang="zh-CN" altLang="en-US" sz="1100" dirty="0">
                <a:solidFill>
                  <a:schemeClr val="tx1"/>
                </a:solidFill>
              </a:rPr>
              <a:t>多座核反應</a:t>
            </a:r>
            <a:r>
              <a:rPr lang="zh-TW" altLang="en-US" sz="1100" dirty="0">
                <a:solidFill>
                  <a:schemeClr val="tx1"/>
                </a:solidFill>
              </a:rPr>
              <a:t>爐</a:t>
            </a:r>
            <a:r>
              <a:rPr lang="zh-CN" altLang="en-US" sz="1100" dirty="0">
                <a:solidFill>
                  <a:schemeClr val="tx1"/>
                </a:solidFill>
              </a:rPr>
              <a:t>因管道腐蝕等問題而關閉檢修</a:t>
            </a:r>
            <a:r>
              <a:rPr lang="zh-TW" altLang="en-US" sz="1100" dirty="0">
                <a:solidFill>
                  <a:schemeClr val="tx1"/>
                </a:solidFill>
              </a:rPr>
              <a:t>，致該年</a:t>
            </a:r>
            <a:r>
              <a:rPr lang="zh-CN" altLang="en-US" sz="1100" dirty="0">
                <a:solidFill>
                  <a:schemeClr val="tx1"/>
                </a:solidFill>
              </a:rPr>
              <a:t>核</a:t>
            </a:r>
            <a:r>
              <a:rPr lang="zh-TW" altLang="en-US" sz="1100" dirty="0">
                <a:solidFill>
                  <a:schemeClr val="tx1"/>
                </a:solidFill>
              </a:rPr>
              <a:t>發</a:t>
            </a:r>
            <a:r>
              <a:rPr lang="zh-CN" altLang="en-US" sz="1100" dirty="0">
                <a:solidFill>
                  <a:schemeClr val="tx1"/>
                </a:solidFill>
              </a:rPr>
              <a:t>電量</a:t>
            </a:r>
            <a:r>
              <a:rPr lang="zh-TW" altLang="en-US" sz="1100" dirty="0">
                <a:solidFill>
                  <a:schemeClr val="tx1"/>
                </a:solidFill>
              </a:rPr>
              <a:t>較</a:t>
            </a:r>
            <a:r>
              <a:rPr lang="en-US" altLang="zh-TW" sz="1100" dirty="0">
                <a:solidFill>
                  <a:schemeClr val="tx1"/>
                </a:solidFill>
              </a:rPr>
              <a:t>2021</a:t>
            </a:r>
            <a:r>
              <a:rPr lang="zh-TW" altLang="en-US" sz="1100" dirty="0">
                <a:solidFill>
                  <a:schemeClr val="tx1"/>
                </a:solidFill>
              </a:rPr>
              <a:t>年下滑</a:t>
            </a:r>
            <a:r>
              <a:rPr lang="en-US" altLang="zh-TW" sz="1100" dirty="0">
                <a:solidFill>
                  <a:schemeClr val="tx1"/>
                </a:solidFill>
              </a:rPr>
              <a:t>23%</a:t>
            </a:r>
            <a:r>
              <a:rPr lang="zh-CN" altLang="en-US" sz="1100" dirty="0">
                <a:solidFill>
                  <a:schemeClr val="tx1"/>
                </a:solidFill>
              </a:rPr>
              <a:t>，</a:t>
            </a:r>
            <a:r>
              <a:rPr lang="zh-TW" altLang="en-US" sz="1100" dirty="0">
                <a:solidFill>
                  <a:schemeClr val="tx1"/>
                </a:solidFill>
              </a:rPr>
              <a:t>迫使</a:t>
            </a:r>
            <a:r>
              <a:rPr lang="en-US" altLang="zh-TW" sz="1100" dirty="0">
                <a:solidFill>
                  <a:schemeClr val="tx1"/>
                </a:solidFill>
              </a:rPr>
              <a:t>EDF</a:t>
            </a:r>
            <a:r>
              <a:rPr lang="zh-TW" altLang="en-US" sz="1100" dirty="0">
                <a:solidFill>
                  <a:schemeClr val="tx1"/>
                </a:solidFill>
              </a:rPr>
              <a:t>以</a:t>
            </a:r>
            <a:r>
              <a:rPr lang="zh-CN" altLang="en-US" sz="1100" dirty="0">
                <a:solidFill>
                  <a:schemeClr val="tx1"/>
                </a:solidFill>
              </a:rPr>
              <a:t>高價從國際市場購電以滿足其供電需</a:t>
            </a:r>
            <a:r>
              <a:rPr lang="zh-TW" altLang="en-US" sz="1100" dirty="0">
                <a:solidFill>
                  <a:schemeClr val="tx1"/>
                </a:solidFill>
              </a:rPr>
              <a:t>求，輔以</a:t>
            </a:r>
            <a:r>
              <a:rPr lang="zh-CN" altLang="en-US" sz="1100" dirty="0">
                <a:solidFill>
                  <a:schemeClr val="tx1"/>
                </a:solidFill>
              </a:rPr>
              <a:t>法國政府為應對能源危機實施的電價管制措施</a:t>
            </a:r>
            <a:r>
              <a:rPr lang="en-US" altLang="zh-CN" sz="1100" baseline="30000" dirty="0">
                <a:solidFill>
                  <a:schemeClr val="tx1"/>
                </a:solidFill>
              </a:rPr>
              <a:t>[</a:t>
            </a:r>
            <a:r>
              <a:rPr lang="zh-TW" altLang="en-US" sz="1100" baseline="30000" dirty="0">
                <a:solidFill>
                  <a:schemeClr val="tx1"/>
                </a:solidFill>
              </a:rPr>
              <a:t>註</a:t>
            </a:r>
            <a:r>
              <a:rPr lang="en-US" altLang="zh-TW" sz="1100" baseline="30000" dirty="0">
                <a:solidFill>
                  <a:schemeClr val="tx1"/>
                </a:solidFill>
              </a:rPr>
              <a:t>]</a:t>
            </a:r>
            <a:r>
              <a:rPr lang="zh-CN" altLang="en-US" sz="1100" dirty="0">
                <a:solidFill>
                  <a:schemeClr val="tx1"/>
                </a:solidFill>
              </a:rPr>
              <a:t>影響</a:t>
            </a:r>
            <a:r>
              <a:rPr lang="zh-TW" altLang="en-US" sz="1100" dirty="0">
                <a:solidFill>
                  <a:schemeClr val="tx1"/>
                </a:solidFill>
              </a:rPr>
              <a:t>所累。</a:t>
            </a:r>
            <a:endParaRPr lang="en-US" altLang="zh-TW" sz="1100" dirty="0">
              <a:solidFill>
                <a:schemeClr val="tx1"/>
              </a:solidFill>
            </a:endParaRPr>
          </a:p>
        </p:txBody>
      </p:sp>
      <p:sp>
        <p:nvSpPr>
          <p:cNvPr id="20" name="矩形 19">
            <a:extLst>
              <a:ext uri="{FF2B5EF4-FFF2-40B4-BE49-F238E27FC236}">
                <a16:creationId xmlns:a16="http://schemas.microsoft.com/office/drawing/2014/main" xmlns="" id="{705ADE1F-E065-4EC3-B187-F821455018F2}"/>
              </a:ext>
            </a:extLst>
          </p:cNvPr>
          <p:cNvSpPr/>
          <p:nvPr/>
        </p:nvSpPr>
        <p:spPr>
          <a:xfrm>
            <a:off x="395047" y="6535367"/>
            <a:ext cx="7417313" cy="338554"/>
          </a:xfrm>
          <a:prstGeom prst="rect">
            <a:avLst/>
          </a:prstGeom>
        </p:spPr>
        <p:txBody>
          <a:bodyPr wrap="square">
            <a:spAutoFit/>
          </a:bodyPr>
          <a:lstStyle/>
          <a:p>
            <a:r>
              <a:rPr lang="zh-TW" altLang="en-US" sz="800" dirty="0">
                <a:solidFill>
                  <a:prstClr val="black"/>
                </a:solidFill>
                <a:latin typeface="+mn-ea"/>
              </a:rPr>
              <a:t>資料來源：</a:t>
            </a:r>
            <a:r>
              <a:rPr lang="zh-TW" altLang="en-US" sz="800" dirty="0">
                <a:latin typeface="+mj-ea"/>
              </a:rPr>
              <a:t>年報、</a:t>
            </a:r>
            <a:r>
              <a:rPr lang="zh-TW" altLang="en-US" sz="800" dirty="0">
                <a:latin typeface="+mj-ea"/>
                <a:hlinkClick r:id="rId3"/>
              </a:rPr>
              <a:t>半年報</a:t>
            </a:r>
            <a:r>
              <a:rPr lang="zh-TW" altLang="en-US" sz="800" dirty="0">
                <a:latin typeface="+mj-ea"/>
              </a:rPr>
              <a:t>、穆迪</a:t>
            </a:r>
            <a:r>
              <a:rPr lang="zh-TW" altLang="en-US" sz="800" dirty="0">
                <a:solidFill>
                  <a:prstClr val="black"/>
                </a:solidFill>
                <a:latin typeface="+mn-ea"/>
              </a:rPr>
              <a:t> </a:t>
            </a:r>
            <a:r>
              <a:rPr lang="en-US" altLang="zh-TW" sz="800" dirty="0">
                <a:solidFill>
                  <a:prstClr val="black"/>
                </a:solidFill>
                <a:latin typeface="+mn-ea"/>
              </a:rPr>
              <a:t>| </a:t>
            </a:r>
            <a:r>
              <a:rPr lang="zh-TW" altLang="en-US" sz="800" dirty="0">
                <a:solidFill>
                  <a:prstClr val="black"/>
                </a:solidFill>
                <a:latin typeface="+mn-ea"/>
              </a:rPr>
              <a:t>註：</a:t>
            </a:r>
            <a:r>
              <a:rPr lang="en-US" altLang="zh-CN" sz="800" dirty="0">
                <a:solidFill>
                  <a:prstClr val="black"/>
                </a:solidFill>
                <a:latin typeface="+mn-ea"/>
              </a:rPr>
              <a:t>2021</a:t>
            </a:r>
            <a:r>
              <a:rPr lang="zh-CN" altLang="en-US" sz="800" dirty="0">
                <a:solidFill>
                  <a:prstClr val="black"/>
                </a:solidFill>
                <a:latin typeface="+mn-ea"/>
              </a:rPr>
              <a:t>年</a:t>
            </a:r>
            <a:r>
              <a:rPr lang="en-US" altLang="zh-CN" sz="800" dirty="0">
                <a:solidFill>
                  <a:prstClr val="black"/>
                </a:solidFill>
                <a:latin typeface="+mn-ea"/>
              </a:rPr>
              <a:t>10</a:t>
            </a:r>
            <a:r>
              <a:rPr lang="zh-CN" altLang="en-US" sz="800" dirty="0">
                <a:solidFill>
                  <a:prstClr val="black"/>
                </a:solidFill>
                <a:latin typeface="+mn-ea"/>
              </a:rPr>
              <a:t>月，</a:t>
            </a:r>
            <a:r>
              <a:rPr lang="zh-TW" altLang="en-US" sz="800" dirty="0">
                <a:solidFill>
                  <a:prstClr val="black"/>
                </a:solidFill>
                <a:latin typeface="+mn-ea"/>
              </a:rPr>
              <a:t>法國政府</a:t>
            </a:r>
            <a:r>
              <a:rPr lang="zh-CN" altLang="en-US" sz="800" dirty="0">
                <a:solidFill>
                  <a:prstClr val="black"/>
                </a:solidFill>
                <a:latin typeface="+mn-ea"/>
              </a:rPr>
              <a:t>為遏制冬季能源價格</a:t>
            </a:r>
            <a:r>
              <a:rPr lang="zh-TW" altLang="en-US" sz="800" dirty="0">
                <a:solidFill>
                  <a:prstClr val="black"/>
                </a:solidFill>
                <a:latin typeface="+mn-ea"/>
              </a:rPr>
              <a:t>飆</a:t>
            </a:r>
            <a:r>
              <a:rPr lang="zh-CN" altLang="en-US" sz="800" dirty="0">
                <a:solidFill>
                  <a:prstClr val="black"/>
                </a:solidFill>
                <a:latin typeface="+mn-ea"/>
              </a:rPr>
              <a:t>升，</a:t>
            </a:r>
            <a:r>
              <a:rPr lang="zh-TW" altLang="en-US" sz="800" dirty="0">
                <a:solidFill>
                  <a:prstClr val="black"/>
                </a:solidFill>
                <a:latin typeface="+mn-ea"/>
              </a:rPr>
              <a:t>遂</a:t>
            </a:r>
            <a:r>
              <a:rPr lang="zh-CN" altLang="en-US" sz="800" dirty="0">
                <a:solidFill>
                  <a:prstClr val="black"/>
                </a:solidFill>
                <a:latin typeface="+mn-ea"/>
              </a:rPr>
              <a:t>頒布法令凍結天然氣管制售價至</a:t>
            </a:r>
            <a:r>
              <a:rPr lang="en-US" altLang="zh-CN" sz="800" dirty="0">
                <a:solidFill>
                  <a:prstClr val="black"/>
                </a:solidFill>
                <a:latin typeface="+mn-ea"/>
              </a:rPr>
              <a:t>2022</a:t>
            </a:r>
            <a:r>
              <a:rPr lang="zh-CN" altLang="en-US" sz="800" dirty="0">
                <a:solidFill>
                  <a:prstClr val="black"/>
                </a:solidFill>
                <a:latin typeface="+mn-ea"/>
              </a:rPr>
              <a:t>年</a:t>
            </a:r>
            <a:r>
              <a:rPr lang="en-US" altLang="zh-CN" sz="800" dirty="0">
                <a:solidFill>
                  <a:prstClr val="black"/>
                </a:solidFill>
                <a:latin typeface="+mn-ea"/>
              </a:rPr>
              <a:t>6</a:t>
            </a:r>
            <a:r>
              <a:rPr lang="zh-CN" altLang="en-US" sz="800" dirty="0">
                <a:solidFill>
                  <a:prstClr val="black"/>
                </a:solidFill>
                <a:latin typeface="+mn-ea"/>
              </a:rPr>
              <a:t>月</a:t>
            </a:r>
            <a:r>
              <a:rPr lang="en-US" altLang="zh-CN" sz="800" dirty="0">
                <a:solidFill>
                  <a:prstClr val="black"/>
                </a:solidFill>
                <a:latin typeface="+mn-ea"/>
              </a:rPr>
              <a:t>30</a:t>
            </a:r>
            <a:r>
              <a:rPr lang="zh-CN" altLang="en-US" sz="800" dirty="0">
                <a:solidFill>
                  <a:prstClr val="black"/>
                </a:solidFill>
                <a:latin typeface="+mn-ea"/>
              </a:rPr>
              <a:t>日。</a:t>
            </a:r>
            <a:r>
              <a:rPr lang="zh-TW" altLang="en-US" sz="800" dirty="0">
                <a:solidFill>
                  <a:prstClr val="black"/>
                </a:solidFill>
                <a:latin typeface="+mn-ea"/>
              </a:rPr>
              <a:t>並於該年</a:t>
            </a:r>
            <a:r>
              <a:rPr lang="en-US" altLang="zh-CN" sz="800" dirty="0">
                <a:solidFill>
                  <a:prstClr val="black"/>
                </a:solidFill>
                <a:latin typeface="+mn-ea"/>
              </a:rPr>
              <a:t>6</a:t>
            </a:r>
            <a:r>
              <a:rPr lang="zh-CN" altLang="en-US" sz="800" dirty="0">
                <a:solidFill>
                  <a:prstClr val="black"/>
                </a:solidFill>
                <a:latin typeface="+mn-ea"/>
              </a:rPr>
              <a:t>月，宣佈延長實施至年底</a:t>
            </a:r>
            <a:r>
              <a:rPr lang="zh-TW" altLang="en-US" sz="800" dirty="0">
                <a:solidFill>
                  <a:prstClr val="black"/>
                </a:solidFill>
                <a:latin typeface="+mn-ea"/>
              </a:rPr>
              <a:t>；而</a:t>
            </a:r>
            <a:r>
              <a:rPr lang="zh-CN" altLang="en-US" sz="800" dirty="0">
                <a:solidFill>
                  <a:prstClr val="black"/>
                </a:solidFill>
                <a:latin typeface="+mn-ea"/>
              </a:rPr>
              <a:t>管制電價則被限定漲幅。</a:t>
            </a:r>
            <a:r>
              <a:rPr lang="en-US" altLang="zh-CN" sz="800" dirty="0">
                <a:solidFill>
                  <a:prstClr val="black"/>
                </a:solidFill>
                <a:latin typeface="+mn-ea"/>
              </a:rPr>
              <a:t>2021</a:t>
            </a:r>
            <a:r>
              <a:rPr lang="zh-CN" altLang="en-US" sz="800" dirty="0">
                <a:solidFill>
                  <a:prstClr val="black"/>
                </a:solidFill>
                <a:latin typeface="+mn-ea"/>
              </a:rPr>
              <a:t>年秋，</a:t>
            </a:r>
            <a:r>
              <a:rPr lang="zh-TW" altLang="en-US" sz="800" dirty="0">
                <a:solidFill>
                  <a:prstClr val="black"/>
                </a:solidFill>
                <a:latin typeface="+mn-ea"/>
              </a:rPr>
              <a:t>該國</a:t>
            </a:r>
            <a:r>
              <a:rPr lang="zh-CN" altLang="en-US" sz="800" dirty="0">
                <a:solidFill>
                  <a:prstClr val="black"/>
                </a:solidFill>
                <a:latin typeface="+mn-ea"/>
              </a:rPr>
              <a:t>政府宣佈，</a:t>
            </a:r>
            <a:r>
              <a:rPr lang="en-US" altLang="zh-CN" sz="800" dirty="0">
                <a:solidFill>
                  <a:prstClr val="black"/>
                </a:solidFill>
                <a:latin typeface="+mn-ea"/>
              </a:rPr>
              <a:t>2022</a:t>
            </a:r>
            <a:r>
              <a:rPr lang="zh-CN" altLang="en-US" sz="800" dirty="0">
                <a:solidFill>
                  <a:prstClr val="black"/>
                </a:solidFill>
                <a:latin typeface="+mn-ea"/>
              </a:rPr>
              <a:t>年</a:t>
            </a:r>
            <a:r>
              <a:rPr lang="en-US" altLang="zh-CN" sz="800" dirty="0">
                <a:solidFill>
                  <a:prstClr val="black"/>
                </a:solidFill>
                <a:latin typeface="+mn-ea"/>
              </a:rPr>
              <a:t>2</a:t>
            </a:r>
            <a:r>
              <a:rPr lang="zh-CN" altLang="en-US" sz="800" dirty="0">
                <a:solidFill>
                  <a:prstClr val="black"/>
                </a:solidFill>
                <a:latin typeface="+mn-ea"/>
              </a:rPr>
              <a:t>月</a:t>
            </a:r>
            <a:r>
              <a:rPr lang="en-US" altLang="zh-CN" sz="800" dirty="0">
                <a:solidFill>
                  <a:prstClr val="black"/>
                </a:solidFill>
                <a:latin typeface="+mn-ea"/>
              </a:rPr>
              <a:t>1</a:t>
            </a:r>
            <a:r>
              <a:rPr lang="zh-CN" altLang="en-US" sz="800" dirty="0">
                <a:solidFill>
                  <a:prstClr val="black"/>
                </a:solidFill>
                <a:latin typeface="+mn-ea"/>
              </a:rPr>
              <a:t>日調整後電價漲幅不超過</a:t>
            </a:r>
            <a:r>
              <a:rPr lang="en-US" altLang="zh-CN" sz="800" dirty="0">
                <a:solidFill>
                  <a:prstClr val="black"/>
                </a:solidFill>
                <a:latin typeface="+mn-ea"/>
              </a:rPr>
              <a:t>4%</a:t>
            </a:r>
            <a:r>
              <a:rPr lang="zh-CN" altLang="en-US" sz="800" dirty="0">
                <a:solidFill>
                  <a:prstClr val="black"/>
                </a:solidFill>
                <a:latin typeface="+mn-ea"/>
              </a:rPr>
              <a:t>，</a:t>
            </a:r>
            <a:r>
              <a:rPr lang="zh-TW" altLang="en-US" sz="800" dirty="0">
                <a:solidFill>
                  <a:prstClr val="black"/>
                </a:solidFill>
                <a:latin typeface="+mn-ea"/>
              </a:rPr>
              <a:t>爾</a:t>
            </a:r>
            <a:r>
              <a:rPr lang="zh-CN" altLang="en-US" sz="800" dirty="0">
                <a:solidFill>
                  <a:prstClr val="black"/>
                </a:solidFill>
                <a:latin typeface="+mn-ea"/>
              </a:rPr>
              <a:t>後又將該規定適用期延至</a:t>
            </a:r>
            <a:r>
              <a:rPr lang="en-US" altLang="zh-CN" sz="800" dirty="0">
                <a:solidFill>
                  <a:prstClr val="black"/>
                </a:solidFill>
                <a:latin typeface="+mn-ea"/>
              </a:rPr>
              <a:t>2023/2/1</a:t>
            </a:r>
            <a:r>
              <a:rPr lang="zh-CN" altLang="en-US" sz="800" dirty="0">
                <a:solidFill>
                  <a:prstClr val="black"/>
                </a:solidFill>
                <a:latin typeface="+mn-ea"/>
              </a:rPr>
              <a:t>。</a:t>
            </a:r>
            <a:endParaRPr lang="en-US" altLang="zh-TW" sz="800" dirty="0">
              <a:solidFill>
                <a:prstClr val="black"/>
              </a:solidFill>
              <a:latin typeface="+mn-ea"/>
            </a:endParaRPr>
          </a:p>
        </p:txBody>
      </p:sp>
      <p:graphicFrame>
        <p:nvGraphicFramePr>
          <p:cNvPr id="3" name="表格 2"/>
          <p:cNvGraphicFramePr>
            <a:graphicFrameLocks noGrp="1"/>
          </p:cNvGraphicFramePr>
          <p:nvPr>
            <p:extLst>
              <p:ext uri="{D42A27DB-BD31-4B8C-83A1-F6EECF244321}">
                <p14:modId xmlns:p14="http://schemas.microsoft.com/office/powerpoint/2010/main" val="1240962055"/>
              </p:ext>
            </p:extLst>
          </p:nvPr>
        </p:nvGraphicFramePr>
        <p:xfrm>
          <a:off x="4624281" y="1047067"/>
          <a:ext cx="4248471" cy="1805871"/>
        </p:xfrm>
        <a:graphic>
          <a:graphicData uri="http://schemas.openxmlformats.org/drawingml/2006/table">
            <a:tbl>
              <a:tblPr/>
              <a:tblGrid>
                <a:gridCol w="555336">
                  <a:extLst>
                    <a:ext uri="{9D8B030D-6E8A-4147-A177-3AD203B41FA5}">
                      <a16:colId xmlns:a16="http://schemas.microsoft.com/office/drawing/2014/main" xmlns="" val="20000"/>
                    </a:ext>
                  </a:extLst>
                </a:gridCol>
                <a:gridCol w="559910">
                  <a:extLst>
                    <a:ext uri="{9D8B030D-6E8A-4147-A177-3AD203B41FA5}">
                      <a16:colId xmlns:a16="http://schemas.microsoft.com/office/drawing/2014/main" xmlns="" val="20001"/>
                    </a:ext>
                  </a:extLst>
                </a:gridCol>
                <a:gridCol w="420980">
                  <a:extLst>
                    <a:ext uri="{9D8B030D-6E8A-4147-A177-3AD203B41FA5}">
                      <a16:colId xmlns:a16="http://schemas.microsoft.com/office/drawing/2014/main" xmlns="" val="20002"/>
                    </a:ext>
                  </a:extLst>
                </a:gridCol>
                <a:gridCol w="48162">
                  <a:extLst>
                    <a:ext uri="{9D8B030D-6E8A-4147-A177-3AD203B41FA5}">
                      <a16:colId xmlns:a16="http://schemas.microsoft.com/office/drawing/2014/main" xmlns="" val="20003"/>
                    </a:ext>
                  </a:extLst>
                </a:gridCol>
                <a:gridCol w="569621">
                  <a:extLst>
                    <a:ext uri="{9D8B030D-6E8A-4147-A177-3AD203B41FA5}">
                      <a16:colId xmlns:a16="http://schemas.microsoft.com/office/drawing/2014/main" xmlns="" val="20004"/>
                    </a:ext>
                  </a:extLst>
                </a:gridCol>
                <a:gridCol w="437544">
                  <a:extLst>
                    <a:ext uri="{9D8B030D-6E8A-4147-A177-3AD203B41FA5}">
                      <a16:colId xmlns:a16="http://schemas.microsoft.com/office/drawing/2014/main" xmlns="" val="20005"/>
                    </a:ext>
                  </a:extLst>
                </a:gridCol>
                <a:gridCol w="70718">
                  <a:extLst>
                    <a:ext uri="{9D8B030D-6E8A-4147-A177-3AD203B41FA5}">
                      <a16:colId xmlns:a16="http://schemas.microsoft.com/office/drawing/2014/main" xmlns="" val="20006"/>
                    </a:ext>
                  </a:extLst>
                </a:gridCol>
                <a:gridCol w="681701">
                  <a:extLst>
                    <a:ext uri="{9D8B030D-6E8A-4147-A177-3AD203B41FA5}">
                      <a16:colId xmlns:a16="http://schemas.microsoft.com/office/drawing/2014/main" xmlns="" val="20007"/>
                    </a:ext>
                  </a:extLst>
                </a:gridCol>
                <a:gridCol w="186221">
                  <a:extLst>
                    <a:ext uri="{9D8B030D-6E8A-4147-A177-3AD203B41FA5}">
                      <a16:colId xmlns:a16="http://schemas.microsoft.com/office/drawing/2014/main" xmlns="" val="20008"/>
                    </a:ext>
                  </a:extLst>
                </a:gridCol>
                <a:gridCol w="718278">
                  <a:extLst>
                    <a:ext uri="{9D8B030D-6E8A-4147-A177-3AD203B41FA5}">
                      <a16:colId xmlns:a16="http://schemas.microsoft.com/office/drawing/2014/main" xmlns="" val="20009"/>
                    </a:ext>
                  </a:extLst>
                </a:gridCol>
              </a:tblGrid>
              <a:tr h="474774">
                <a:tc>
                  <a:txBody>
                    <a:bodyPr/>
                    <a:lstStyle/>
                    <a:p>
                      <a:pPr algn="ctr" fontAlgn="ctr"/>
                      <a:r>
                        <a:rPr lang="zh-TW" altLang="en-US" sz="1000" b="1" i="0" u="none" strike="noStrike" dirty="0">
                          <a:solidFill>
                            <a:srgbClr val="000000"/>
                          </a:solidFill>
                          <a:effectLst/>
                          <a:latin typeface="微軟正黑體"/>
                        </a:rPr>
                        <a:t>年度</a:t>
                      </a:r>
                      <a:endParaRPr lang="en-US" altLang="zh-TW" sz="1000" b="1" i="0" u="none" strike="noStrike" dirty="0">
                        <a:solidFill>
                          <a:srgbClr val="000000"/>
                        </a:solidFill>
                        <a:effectLst/>
                        <a:latin typeface="微軟正黑體"/>
                      </a:endParaRPr>
                    </a:p>
                    <a:p>
                      <a:pPr algn="ctr" fontAlgn="ctr"/>
                      <a:r>
                        <a:rPr lang="en-US" altLang="zh-TW" sz="800" b="1" i="0" u="none" strike="noStrike" dirty="0">
                          <a:solidFill>
                            <a:srgbClr val="000000"/>
                          </a:solidFill>
                          <a:effectLst/>
                          <a:latin typeface="+mn-ea"/>
                          <a:ea typeface="+mn-ea"/>
                        </a:rPr>
                        <a:t>(</a:t>
                      </a:r>
                      <a:r>
                        <a:rPr lang="zh-TW" altLang="en-US" sz="800" b="1" i="0" u="none" strike="noStrike" dirty="0">
                          <a:solidFill>
                            <a:srgbClr val="000000"/>
                          </a:solidFill>
                          <a:effectLst/>
                          <a:latin typeface="+mn-ea"/>
                          <a:ea typeface="+mn-ea"/>
                        </a:rPr>
                        <a:t>百萬</a:t>
                      </a:r>
                      <a:r>
                        <a:rPr lang="en-US" altLang="zh-TW" sz="800" b="1" i="0" u="none" strike="noStrike" dirty="0">
                          <a:solidFill>
                            <a:srgbClr val="000000"/>
                          </a:solidFill>
                          <a:effectLst/>
                          <a:latin typeface="+mn-ea"/>
                          <a:ea typeface="+mn-ea"/>
                        </a:rPr>
                        <a:t>EUR</a:t>
                      </a:r>
                      <a:r>
                        <a:rPr lang="en-US" sz="800" b="1" i="0" u="none" strike="noStrike" dirty="0">
                          <a:solidFill>
                            <a:srgbClr val="000000"/>
                          </a:solidFill>
                          <a:effectLst/>
                          <a:latin typeface="+mn-ea"/>
                          <a:ea typeface="+mn-ea"/>
                        </a:rPr>
                        <a:t>)</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營收</a:t>
                      </a:r>
                    </a:p>
                  </a:txBody>
                  <a:tcPr marL="9525" marR="9525" marT="9525" marB="0" anchor="ctr">
                    <a:lnL>
                      <a:noFill/>
                    </a:lnL>
                    <a:lnR>
                      <a:noFill/>
                    </a:lnR>
                    <a:lnT>
                      <a:noFill/>
                    </a:lnT>
                    <a:lnB>
                      <a:noFill/>
                    </a:lnB>
                    <a:solidFill>
                      <a:srgbClr val="FFFFFF"/>
                    </a:solidFill>
                  </a:tcPr>
                </a:tc>
                <a:tc>
                  <a:txBody>
                    <a:bodyPr/>
                    <a:lstStyle/>
                    <a:p>
                      <a:pPr algn="r" fontAlgn="ctr"/>
                      <a:r>
                        <a:rPr lang="en-US" altLang="zh-TW" sz="1000" b="1" i="0" u="none" strike="noStrike" dirty="0">
                          <a:solidFill>
                            <a:srgbClr val="000000"/>
                          </a:solidFill>
                          <a:effectLst/>
                          <a:latin typeface="微軟正黑體"/>
                        </a:rPr>
                        <a:t>YoY</a:t>
                      </a:r>
                      <a:r>
                        <a:rPr lang="zh-TW" altLang="en-US" sz="1000" b="1" i="0" u="none" strike="noStrike" dirty="0">
                          <a:solidFill>
                            <a:srgbClr val="000000"/>
                          </a:solidFill>
                          <a:effectLst/>
                          <a:latin typeface="微軟正黑體"/>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稅後損益</a:t>
                      </a:r>
                    </a:p>
                  </a:txBody>
                  <a:tcPr marL="9525" marR="9525" marT="9525" marB="0" anchor="ctr">
                    <a:lnL>
                      <a:noFill/>
                    </a:lnL>
                    <a:lnR>
                      <a:noFill/>
                    </a:lnR>
                    <a:lnT>
                      <a:noFill/>
                    </a:lnT>
                    <a:lnB>
                      <a:noFill/>
                    </a:lnB>
                    <a:solidFill>
                      <a:srgbClr val="FFFFFF"/>
                    </a:solidFill>
                  </a:tcPr>
                </a:tc>
                <a:tc>
                  <a:txBody>
                    <a:bodyPr/>
                    <a:lstStyle/>
                    <a:p>
                      <a:pPr algn="r" fontAlgn="ctr"/>
                      <a:r>
                        <a:rPr lang="en-US" altLang="zh-TW" sz="1000" b="1" i="0" u="none" strike="noStrike" dirty="0">
                          <a:solidFill>
                            <a:srgbClr val="000000"/>
                          </a:solidFill>
                          <a:effectLst/>
                          <a:latin typeface="微軟正黑體"/>
                        </a:rPr>
                        <a:t>YoY</a:t>
                      </a:r>
                      <a:r>
                        <a:rPr lang="zh-TW" altLang="en-US" sz="1000" b="1" i="0" u="none" strike="noStrike" dirty="0">
                          <a:solidFill>
                            <a:srgbClr val="000000"/>
                          </a:solidFill>
                          <a:effectLst/>
                          <a:latin typeface="微軟正黑體"/>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資產</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a:solidFill>
                            <a:srgbClr val="000000"/>
                          </a:solidFill>
                          <a:effectLst/>
                          <a:latin typeface="微軟正黑體"/>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1000" b="1" i="0" u="none" strike="noStrike" dirty="0">
                          <a:solidFill>
                            <a:srgbClr val="000000"/>
                          </a:solidFill>
                          <a:effectLst/>
                          <a:latin typeface="微軟正黑體"/>
                        </a:rPr>
                        <a:t>總股東權益</a:t>
                      </a:r>
                    </a:p>
                  </a:txBody>
                  <a:tcPr marL="9525" marR="9525" marT="9525" marB="0" anchor="ctr">
                    <a:lnL>
                      <a:noFill/>
                    </a:lnL>
                    <a:lnR>
                      <a:noFill/>
                    </a:lnR>
                    <a:lnT>
                      <a:noFill/>
                    </a:lnT>
                    <a:lnB>
                      <a:noFill/>
                    </a:lnB>
                    <a:solidFill>
                      <a:srgbClr val="FFFFFF"/>
                    </a:solidFill>
                  </a:tcPr>
                </a:tc>
                <a:extLst>
                  <a:ext uri="{0D108BD9-81ED-4DB2-BD59-A6C34878D82A}">
                    <a16:rowId xmlns:a16="http://schemas.microsoft.com/office/drawing/2014/main" xmlns="" val="10000"/>
                  </a:ext>
                </a:extLst>
              </a:tr>
              <a:tr h="268777">
                <a:tc>
                  <a:txBody>
                    <a:bodyPr/>
                    <a:lstStyle/>
                    <a:p>
                      <a:pPr algn="ctr" fontAlgn="ctr"/>
                      <a:r>
                        <a:rPr lang="en-US" sz="800" b="0" i="0" u="none" strike="noStrike" dirty="0">
                          <a:solidFill>
                            <a:srgbClr val="000000"/>
                          </a:solidFill>
                          <a:effectLst/>
                          <a:latin typeface="微軟正黑體" panose="020B0604030504040204" pitchFamily="34" charset="-120"/>
                          <a:ea typeface="微軟正黑體" panose="020B0604030504040204" pitchFamily="34" charset="-120"/>
                        </a:rPr>
                        <a:t>FY22</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143,476 </a:t>
                      </a:r>
                    </a:p>
                  </a:txBody>
                  <a:tcPr marL="0" marR="0" marT="0" marB="0" anchor="ctr">
                    <a:lnL>
                      <a:noFill/>
                    </a:lnL>
                    <a:lnR>
                      <a:noFill/>
                    </a:lnR>
                    <a:lnT>
                      <a:noFill/>
                    </a:lnT>
                    <a:lnB>
                      <a:noFill/>
                    </a:lnB>
                    <a:solidFill>
                      <a:srgbClr val="F2F2F2"/>
                    </a:solidFill>
                  </a:tcPr>
                </a:tc>
                <a:tc>
                  <a:txBody>
                    <a:bodyPr/>
                    <a:lstStyle/>
                    <a:p>
                      <a:pPr algn="r" fontAlgn="ctr"/>
                      <a:r>
                        <a:rPr lang="en-US" altLang="zh-TW" sz="800" b="1" i="0" u="none" strike="noStrike" dirty="0">
                          <a:solidFill>
                            <a:srgbClr val="808080"/>
                          </a:solidFill>
                          <a:effectLst/>
                          <a:latin typeface="微軟正黑體" panose="020B0604030504040204" pitchFamily="34" charset="-120"/>
                          <a:ea typeface="微軟正黑體" panose="020B0604030504040204" pitchFamily="34" charset="-120"/>
                        </a:rPr>
                        <a:t>69.9%</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en-US" altLang="zh-TW" sz="800" b="0" i="0" u="none" strike="noStrike" dirty="0">
                          <a:solidFill>
                            <a:srgbClr val="FF0000"/>
                          </a:solidFill>
                          <a:effectLst/>
                          <a:latin typeface="微軟正黑體" panose="020B0604030504040204" pitchFamily="34" charset="-120"/>
                          <a:ea typeface="微軟正黑體" panose="020B0604030504040204" pitchFamily="34" charset="-120"/>
                        </a:rPr>
                        <a:t>-17,940</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dirty="0">
                          <a:solidFill>
                            <a:srgbClr val="FF0000"/>
                          </a:solidFill>
                          <a:effectLst/>
                          <a:latin typeface="微軟正黑體" panose="020B0604030504040204" pitchFamily="34" charset="-120"/>
                          <a:ea typeface="微軟正黑體" panose="020B0604030504040204" pitchFamily="34" charset="-120"/>
                        </a:rPr>
                        <a:t>--</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388,132 </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46,612 </a:t>
                      </a:r>
                    </a:p>
                  </a:txBody>
                  <a:tcPr marL="0" marR="0" marT="0" marB="0" anchor="ctr">
                    <a:lnL>
                      <a:noFill/>
                    </a:lnL>
                    <a:lnR>
                      <a:noFill/>
                    </a:lnR>
                    <a:lnT>
                      <a:noFill/>
                    </a:lnT>
                    <a:lnB>
                      <a:noFill/>
                    </a:lnB>
                    <a:solidFill>
                      <a:srgbClr val="F2F2F2"/>
                    </a:solidFill>
                  </a:tcPr>
                </a:tc>
                <a:extLst>
                  <a:ext uri="{0D108BD9-81ED-4DB2-BD59-A6C34878D82A}">
                    <a16:rowId xmlns:a16="http://schemas.microsoft.com/office/drawing/2014/main" xmlns="" val="10001"/>
                  </a:ext>
                </a:extLst>
              </a:tr>
              <a:tr h="265580">
                <a:tc>
                  <a:txBody>
                    <a:bodyPr/>
                    <a:lstStyle/>
                    <a:p>
                      <a:pPr algn="ctr" fontAlgn="ctr"/>
                      <a:r>
                        <a:rPr lang="en-US" sz="800" b="0" i="0" u="none" strike="noStrike" dirty="0">
                          <a:solidFill>
                            <a:srgbClr val="000000"/>
                          </a:solidFill>
                          <a:effectLst/>
                          <a:latin typeface="微軟正黑體" panose="020B0604030504040204" pitchFamily="34" charset="-120"/>
                          <a:ea typeface="微軟正黑體" panose="020B0604030504040204" pitchFamily="34" charset="-120"/>
                        </a:rPr>
                        <a:t>FY21</a:t>
                      </a:r>
                    </a:p>
                  </a:txBody>
                  <a:tcPr marL="0" marR="0" marT="0" marB="0" anchor="ctr">
                    <a:lnL>
                      <a:noFill/>
                    </a:lnL>
                    <a:lnR>
                      <a:noFill/>
                    </a:lnR>
                    <a:lnT>
                      <a:noFill/>
                    </a:lnT>
                    <a:lnB>
                      <a:noFill/>
                    </a:lnB>
                    <a:solidFill>
                      <a:srgbClr val="FFFFFF"/>
                    </a:solidFill>
                  </a:tcPr>
                </a:tc>
                <a:tc>
                  <a:txBody>
                    <a:bodyPr/>
                    <a:lstStyle/>
                    <a:p>
                      <a:pPr algn="r" fontAlgn="ct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84,461 </a:t>
                      </a:r>
                    </a:p>
                  </a:txBody>
                  <a:tcPr marL="0" marR="0" marT="0" marB="0" anchor="ctr">
                    <a:lnL>
                      <a:noFill/>
                    </a:lnL>
                    <a:lnR>
                      <a:noFill/>
                    </a:lnR>
                    <a:lnT>
                      <a:noFill/>
                    </a:lnT>
                    <a:lnB>
                      <a:noFill/>
                    </a:lnB>
                    <a:solidFill>
                      <a:srgbClr val="FFFFFF"/>
                    </a:solidFill>
                  </a:tcPr>
                </a:tc>
                <a:tc>
                  <a:txBody>
                    <a:bodyPr/>
                    <a:lstStyle/>
                    <a:p>
                      <a:pPr algn="r" fontAlgn="ctr"/>
                      <a:r>
                        <a:rPr lang="en-US" altLang="zh-TW" sz="800" b="1" i="0" u="none" strike="noStrike">
                          <a:solidFill>
                            <a:srgbClr val="808080"/>
                          </a:solidFill>
                          <a:effectLst/>
                          <a:latin typeface="微軟正黑體" panose="020B0604030504040204" pitchFamily="34" charset="-120"/>
                          <a:ea typeface="微軟正黑體" panose="020B0604030504040204" pitchFamily="34" charset="-120"/>
                        </a:rPr>
                        <a:t>22.4%</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5,113 </a:t>
                      </a:r>
                    </a:p>
                  </a:txBody>
                  <a:tcPr marL="0" marR="0" marT="0" marB="0" anchor="ctr">
                    <a:lnL>
                      <a:noFill/>
                    </a:lnL>
                    <a:lnR>
                      <a:noFill/>
                    </a:lnR>
                    <a:lnT>
                      <a:noFill/>
                    </a:lnT>
                    <a:lnB>
                      <a:noFill/>
                    </a:lnB>
                    <a:solidFill>
                      <a:srgbClr val="FFFFFF"/>
                    </a:solidFill>
                  </a:tcPr>
                </a:tc>
                <a:tc>
                  <a:txBody>
                    <a:bodyPr/>
                    <a:lstStyle/>
                    <a:p>
                      <a:pPr algn="r" fontAlgn="ctr"/>
                      <a:r>
                        <a:rPr lang="en-US" altLang="zh-TW" sz="800" b="1" i="0" u="none" strike="noStrike" dirty="0">
                          <a:solidFill>
                            <a:srgbClr val="808080"/>
                          </a:solidFill>
                          <a:effectLst/>
                          <a:latin typeface="微軟正黑體" panose="020B0604030504040204" pitchFamily="34" charset="-120"/>
                          <a:ea typeface="微軟正黑體" panose="020B0604030504040204" pitchFamily="34" charset="-120"/>
                        </a:rPr>
                        <a:t>686.6%</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dirty="0">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360,966 </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61,989 </a:t>
                      </a:r>
                    </a:p>
                  </a:txBody>
                  <a:tcPr marL="0" marR="0" marT="0" marB="0" anchor="ctr">
                    <a:lnL>
                      <a:noFill/>
                    </a:lnL>
                    <a:lnR>
                      <a:noFill/>
                    </a:lnR>
                    <a:lnT>
                      <a:noFill/>
                    </a:lnT>
                    <a:lnB>
                      <a:noFill/>
                    </a:lnB>
                    <a:solidFill>
                      <a:srgbClr val="FFFFFF"/>
                    </a:solidFill>
                  </a:tcPr>
                </a:tc>
                <a:extLst>
                  <a:ext uri="{0D108BD9-81ED-4DB2-BD59-A6C34878D82A}">
                    <a16:rowId xmlns:a16="http://schemas.microsoft.com/office/drawing/2014/main" xmlns="" val="10002"/>
                  </a:ext>
                </a:extLst>
              </a:tr>
              <a:tr h="265580">
                <a:tc>
                  <a:txBody>
                    <a:bodyPr/>
                    <a:lstStyle/>
                    <a:p>
                      <a:pPr algn="ctr" fontAlgn="ctr"/>
                      <a:r>
                        <a:rPr lang="en-US" sz="800" b="0" i="0" u="none" strike="noStrike" dirty="0">
                          <a:solidFill>
                            <a:srgbClr val="000000"/>
                          </a:solidFill>
                          <a:effectLst/>
                          <a:latin typeface="微軟正黑體" panose="020B0604030504040204" pitchFamily="34" charset="-120"/>
                          <a:ea typeface="微軟正黑體" panose="020B0604030504040204" pitchFamily="34" charset="-120"/>
                        </a:rPr>
                        <a:t>FY20</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69,031 </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a:solidFill>
                            <a:srgbClr val="FF0000"/>
                          </a:solidFill>
                          <a:effectLst/>
                          <a:latin typeface="微軟正黑體" panose="020B0604030504040204" pitchFamily="34" charset="-120"/>
                          <a:ea typeface="微軟正黑體" panose="020B0604030504040204" pitchFamily="34" charset="-120"/>
                        </a:rPr>
                        <a:t>-3.2%</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650 </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dirty="0">
                          <a:solidFill>
                            <a:srgbClr val="FF0000"/>
                          </a:solidFill>
                          <a:effectLst/>
                          <a:latin typeface="微軟正黑體" panose="020B0604030504040204" pitchFamily="34" charset="-120"/>
                          <a:ea typeface="微軟正黑體" panose="020B0604030504040204" pitchFamily="34" charset="-120"/>
                        </a:rPr>
                        <a:t>-87.4%</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305,891 </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55,226 </a:t>
                      </a:r>
                    </a:p>
                  </a:txBody>
                  <a:tcPr marL="0" marR="0" marT="0" marB="0" anchor="ctr">
                    <a:lnL>
                      <a:noFill/>
                    </a:lnL>
                    <a:lnR>
                      <a:noFill/>
                    </a:lnR>
                    <a:lnT>
                      <a:noFill/>
                    </a:lnT>
                    <a:lnB>
                      <a:noFill/>
                    </a:lnB>
                    <a:solidFill>
                      <a:srgbClr val="F2F2F2"/>
                    </a:solidFill>
                  </a:tcPr>
                </a:tc>
                <a:extLst>
                  <a:ext uri="{0D108BD9-81ED-4DB2-BD59-A6C34878D82A}">
                    <a16:rowId xmlns:a16="http://schemas.microsoft.com/office/drawing/2014/main" xmlns="" val="10003"/>
                  </a:ext>
                </a:extLst>
              </a:tr>
              <a:tr h="265580">
                <a:tc>
                  <a:txBody>
                    <a:bodyPr/>
                    <a:lstStyle/>
                    <a:p>
                      <a:pPr algn="ctr" fontAlgn="ctr"/>
                      <a:r>
                        <a:rPr lang="en-US" sz="800" b="0" i="0" u="none" strike="noStrike" dirty="0">
                          <a:solidFill>
                            <a:srgbClr val="000000"/>
                          </a:solidFill>
                          <a:effectLst/>
                          <a:latin typeface="微軟正黑體" panose="020B0604030504040204" pitchFamily="34" charset="-120"/>
                          <a:ea typeface="微軟正黑體" panose="020B0604030504040204" pitchFamily="34" charset="-120"/>
                        </a:rPr>
                        <a:t>FY19</a:t>
                      </a:r>
                    </a:p>
                  </a:txBody>
                  <a:tcPr marL="0" marR="0" marT="0" marB="0" anchor="ctr">
                    <a:lnL>
                      <a:noFill/>
                    </a:lnL>
                    <a:lnR>
                      <a:noFill/>
                    </a:lnR>
                    <a:lnT>
                      <a:noFill/>
                    </a:lnT>
                    <a:lnB>
                      <a:noFill/>
                    </a:lnB>
                    <a:solidFill>
                      <a:srgbClr val="FFFFFF"/>
                    </a:solidFill>
                  </a:tcPr>
                </a:tc>
                <a:tc>
                  <a:txBody>
                    <a:bodyPr/>
                    <a:lstStyle/>
                    <a:p>
                      <a:pPr algn="r" fontAlgn="ct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71,347 </a:t>
                      </a:r>
                    </a:p>
                  </a:txBody>
                  <a:tcPr marL="0" marR="0" marT="0" marB="0" anchor="ctr">
                    <a:lnL>
                      <a:noFill/>
                    </a:lnL>
                    <a:lnR>
                      <a:noFill/>
                    </a:lnR>
                    <a:lnT>
                      <a:noFill/>
                    </a:lnT>
                    <a:lnB>
                      <a:noFill/>
                    </a:lnB>
                    <a:solidFill>
                      <a:srgbClr val="FFFFFF"/>
                    </a:solidFill>
                  </a:tcPr>
                </a:tc>
                <a:tc>
                  <a:txBody>
                    <a:bodyPr/>
                    <a:lstStyle/>
                    <a:p>
                      <a:pPr algn="r" fontAlgn="ctr"/>
                      <a:r>
                        <a:rPr lang="en-US" altLang="zh-TW" sz="800" b="1" i="0" u="none" strike="noStrike">
                          <a:solidFill>
                            <a:srgbClr val="808080"/>
                          </a:solidFill>
                          <a:effectLst/>
                          <a:latin typeface="微軟正黑體" panose="020B0604030504040204" pitchFamily="34" charset="-120"/>
                          <a:ea typeface="微軟正黑體" panose="020B0604030504040204" pitchFamily="34" charset="-120"/>
                        </a:rPr>
                        <a:t>4.1%</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5,155 </a:t>
                      </a:r>
                    </a:p>
                  </a:txBody>
                  <a:tcPr marL="0" marR="0" marT="0" marB="0" anchor="ctr">
                    <a:lnL>
                      <a:noFill/>
                    </a:lnL>
                    <a:lnR>
                      <a:noFill/>
                    </a:lnR>
                    <a:lnT>
                      <a:noFill/>
                    </a:lnT>
                    <a:lnB>
                      <a:noFill/>
                    </a:lnB>
                    <a:solidFill>
                      <a:srgbClr val="FFFFFF"/>
                    </a:solidFill>
                  </a:tcPr>
                </a:tc>
                <a:tc>
                  <a:txBody>
                    <a:bodyPr/>
                    <a:lstStyle/>
                    <a:p>
                      <a:pPr algn="r" fontAlgn="ctr"/>
                      <a:r>
                        <a:rPr lang="en-US" altLang="zh-TW" sz="800" b="1" i="0" u="none" strike="noStrike" dirty="0">
                          <a:solidFill>
                            <a:srgbClr val="808080"/>
                          </a:solidFill>
                          <a:effectLst/>
                          <a:latin typeface="微軟正黑體" panose="020B0604030504040204" pitchFamily="34" charset="-120"/>
                          <a:ea typeface="微軟正黑體" panose="020B0604030504040204" pitchFamily="34" charset="-120"/>
                        </a:rPr>
                        <a:t>338.0%</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303,284 </a:t>
                      </a:r>
                    </a:p>
                  </a:txBody>
                  <a:tcPr marL="0" marR="0" marT="0" marB="0" anchor="ctr">
                    <a:lnL>
                      <a:noFill/>
                    </a:lnL>
                    <a:lnR>
                      <a:noFill/>
                    </a:lnR>
                    <a:lnT>
                      <a:noFill/>
                    </a:lnT>
                    <a:lnB>
                      <a:noFill/>
                    </a:lnB>
                    <a:solidFill>
                      <a:srgbClr val="FFFFFF"/>
                    </a:solidFill>
                  </a:tcPr>
                </a:tc>
                <a:tc>
                  <a:txBody>
                    <a:bodyPr/>
                    <a:lstStyle/>
                    <a:p>
                      <a:pPr algn="r" fontAlgn="ctr"/>
                      <a:r>
                        <a:rPr lang="zh-TW" altLang="en-US" sz="800" b="0" i="0" u="none" strike="noStrike" dirty="0">
                          <a:solidFill>
                            <a:srgbClr val="000000"/>
                          </a:solidFill>
                          <a:effectLst/>
                          <a:latin typeface="+mn-ea"/>
                          <a:ea typeface="+mn-ea"/>
                        </a:rPr>
                        <a:t>　</a:t>
                      </a:r>
                    </a:p>
                  </a:txBody>
                  <a:tcPr marL="9525" marR="9525" marT="9525" marB="0" anchor="ctr">
                    <a:lnL>
                      <a:noFill/>
                    </a:lnL>
                    <a:lnR>
                      <a:noFill/>
                    </a:lnR>
                    <a:lnT>
                      <a:noFill/>
                    </a:lnT>
                    <a:lnB>
                      <a:noFill/>
                    </a:lnB>
                    <a:solidFill>
                      <a:srgbClr val="FFFFFF"/>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55,790 </a:t>
                      </a:r>
                    </a:p>
                  </a:txBody>
                  <a:tcPr marL="0" marR="0" marT="0" marB="0" anchor="ctr">
                    <a:lnL>
                      <a:noFill/>
                    </a:lnL>
                    <a:lnR>
                      <a:noFill/>
                    </a:lnR>
                    <a:lnT>
                      <a:noFill/>
                    </a:lnT>
                    <a:lnB>
                      <a:noFill/>
                    </a:lnB>
                    <a:solidFill>
                      <a:srgbClr val="FFFFFF"/>
                    </a:solidFill>
                  </a:tcPr>
                </a:tc>
                <a:extLst>
                  <a:ext uri="{0D108BD9-81ED-4DB2-BD59-A6C34878D82A}">
                    <a16:rowId xmlns:a16="http://schemas.microsoft.com/office/drawing/2014/main" xmlns="" val="10004"/>
                  </a:ext>
                </a:extLst>
              </a:tr>
              <a:tr h="265580">
                <a:tc>
                  <a:txBody>
                    <a:bodyPr/>
                    <a:lstStyle/>
                    <a:p>
                      <a:pPr algn="ctr" fontAlgn="ctr"/>
                      <a:r>
                        <a:rPr lang="en-US" sz="800" b="0" i="0" u="none" strike="noStrike" dirty="0">
                          <a:solidFill>
                            <a:srgbClr val="000000"/>
                          </a:solidFill>
                          <a:effectLst/>
                          <a:latin typeface="微軟正黑體" panose="020B0604030504040204" pitchFamily="34" charset="-120"/>
                          <a:ea typeface="微軟正黑體" panose="020B0604030504040204" pitchFamily="34" charset="-120"/>
                        </a:rPr>
                        <a:t>FY18</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a:solidFill>
                            <a:srgbClr val="000000"/>
                          </a:solidFill>
                          <a:effectLst/>
                          <a:latin typeface="微軟正黑體" panose="020B0604030504040204" pitchFamily="34" charset="-120"/>
                          <a:ea typeface="微軟正黑體" panose="020B0604030504040204" pitchFamily="34" charset="-120"/>
                        </a:rPr>
                        <a:t>68,546 </a:t>
                      </a:r>
                    </a:p>
                  </a:txBody>
                  <a:tcPr marL="0" marR="0" marT="0" marB="0" anchor="ctr">
                    <a:lnL>
                      <a:noFill/>
                    </a:lnL>
                    <a:lnR>
                      <a:noFill/>
                    </a:lnR>
                    <a:lnT>
                      <a:noFill/>
                    </a:lnT>
                    <a:lnB>
                      <a:noFill/>
                    </a:lnB>
                    <a:solidFill>
                      <a:srgbClr val="F2F2F2"/>
                    </a:solidFill>
                  </a:tcPr>
                </a:tc>
                <a:tc>
                  <a:txBody>
                    <a:bodyPr/>
                    <a:lstStyle/>
                    <a:p>
                      <a:pPr algn="r" fontAlgn="ctr"/>
                      <a:r>
                        <a:rPr lang="en-US" altLang="zh-TW" sz="800" b="1" i="0" u="none" strike="noStrike" dirty="0">
                          <a:solidFill>
                            <a:srgbClr val="808080"/>
                          </a:solidFill>
                          <a:effectLst/>
                          <a:latin typeface="微軟正黑體" panose="020B0604030504040204" pitchFamily="34" charset="-120"/>
                          <a:ea typeface="微軟正黑體" panose="020B0604030504040204" pitchFamily="34" charset="-120"/>
                        </a:rPr>
                        <a:t>5.6%</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1,177 </a:t>
                      </a:r>
                    </a:p>
                  </a:txBody>
                  <a:tcPr marL="0" marR="0" marT="0" marB="0" anchor="ctr">
                    <a:lnL>
                      <a:noFill/>
                    </a:lnL>
                    <a:lnR>
                      <a:noFill/>
                    </a:lnR>
                    <a:lnT>
                      <a:noFill/>
                    </a:lnT>
                    <a:lnB>
                      <a:noFill/>
                    </a:lnB>
                    <a:solidFill>
                      <a:srgbClr val="F2F2F2"/>
                    </a:solidFill>
                  </a:tcPr>
                </a:tc>
                <a:tc>
                  <a:txBody>
                    <a:bodyPr/>
                    <a:lstStyle/>
                    <a:p>
                      <a:pPr algn="r" fontAlgn="ctr"/>
                      <a:r>
                        <a:rPr lang="en-US" altLang="zh-TW" sz="800" b="0" i="0" u="none" strike="noStrike" dirty="0">
                          <a:solidFill>
                            <a:srgbClr val="FF0000"/>
                          </a:solidFill>
                          <a:effectLst/>
                          <a:latin typeface="微軟正黑體" panose="020B0604030504040204" pitchFamily="34" charset="-120"/>
                          <a:ea typeface="微軟正黑體" panose="020B0604030504040204" pitchFamily="34" charset="-120"/>
                        </a:rPr>
                        <a:t>-62.9%</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283,169 </a:t>
                      </a:r>
                    </a:p>
                  </a:txBody>
                  <a:tcPr marL="0" marR="0" marT="0" marB="0" anchor="ctr">
                    <a:lnL>
                      <a:noFill/>
                    </a:lnL>
                    <a:lnR>
                      <a:noFill/>
                    </a:lnR>
                    <a:lnT>
                      <a:noFill/>
                    </a:lnT>
                    <a:lnB>
                      <a:noFill/>
                    </a:lnB>
                    <a:solidFill>
                      <a:srgbClr val="F2F2F2"/>
                    </a:solidFill>
                  </a:tcPr>
                </a:tc>
                <a:tc>
                  <a:txBody>
                    <a:bodyPr/>
                    <a:lstStyle/>
                    <a:p>
                      <a:pPr algn="r" fontAlgn="ctr"/>
                      <a:r>
                        <a:rPr lang="zh-TW" altLang="en-US" sz="800" b="0" i="0" u="none" strike="noStrike">
                          <a:solidFill>
                            <a:srgbClr val="000000"/>
                          </a:solidFill>
                          <a:effectLst/>
                          <a:latin typeface="+mn-ea"/>
                          <a:ea typeface="+mn-ea"/>
                        </a:rPr>
                        <a:t>　</a:t>
                      </a:r>
                    </a:p>
                  </a:txBody>
                  <a:tcPr marL="9525" marR="9525" marT="9525" marB="0" anchor="ctr">
                    <a:lnL>
                      <a:noFill/>
                    </a:lnL>
                    <a:lnR>
                      <a:noFill/>
                    </a:lnR>
                    <a:lnT>
                      <a:noFill/>
                    </a:lnT>
                    <a:lnB>
                      <a:noFill/>
                    </a:lnB>
                    <a:solidFill>
                      <a:srgbClr val="F2F2F2"/>
                    </a:solidFill>
                  </a:tcPr>
                </a:tc>
                <a:tc>
                  <a:txBody>
                    <a:bodyPr/>
                    <a:lstStyle/>
                    <a:p>
                      <a:pPr algn="r" fontAlgn="ctr"/>
                      <a:r>
                        <a:rPr lang="zh-TW" altLang="en-US" sz="8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800" b="0" i="0" u="none" strike="noStrike" dirty="0">
                          <a:solidFill>
                            <a:srgbClr val="000000"/>
                          </a:solidFill>
                          <a:effectLst/>
                          <a:latin typeface="微軟正黑體" panose="020B0604030504040204" pitchFamily="34" charset="-120"/>
                          <a:ea typeface="微軟正黑體" panose="020B0604030504040204" pitchFamily="34" charset="-120"/>
                        </a:rPr>
                        <a:t>52,646 </a:t>
                      </a:r>
                    </a:p>
                  </a:txBody>
                  <a:tcPr marL="0" marR="0" marT="0" marB="0" anchor="ctr">
                    <a:lnL>
                      <a:noFill/>
                    </a:lnL>
                    <a:lnR>
                      <a:noFill/>
                    </a:lnR>
                    <a:lnT>
                      <a:noFill/>
                    </a:lnT>
                    <a:lnB>
                      <a:noFill/>
                    </a:lnB>
                    <a:solidFill>
                      <a:srgbClr val="F2F2F2"/>
                    </a:solidFill>
                  </a:tcPr>
                </a:tc>
                <a:extLst>
                  <a:ext uri="{0D108BD9-81ED-4DB2-BD59-A6C34878D82A}">
                    <a16:rowId xmlns:a16="http://schemas.microsoft.com/office/drawing/2014/main" xmlns="" val="10005"/>
                  </a:ext>
                </a:extLst>
              </a:tr>
            </a:tbl>
          </a:graphicData>
        </a:graphic>
      </p:graphicFrame>
      <p:pic>
        <p:nvPicPr>
          <p:cNvPr id="15" name="圖片 14"/>
          <p:cNvPicPr>
            <a:picLocks noChangeAspect="1"/>
          </p:cNvPicPr>
          <p:nvPr/>
        </p:nvPicPr>
        <p:blipFill>
          <a:blip r:embed="rId4">
            <a:clrChange>
              <a:clrFrom>
                <a:srgbClr val="FFFFFF"/>
              </a:clrFrom>
              <a:clrTo>
                <a:srgbClr val="FFFFFF">
                  <a:alpha val="0"/>
                </a:srgbClr>
              </a:clrTo>
            </a:clrChange>
          </a:blip>
          <a:stretch>
            <a:fillRect/>
          </a:stretch>
        </p:blipFill>
        <p:spPr>
          <a:xfrm>
            <a:off x="8044464" y="267537"/>
            <a:ext cx="859988" cy="433490"/>
          </a:xfrm>
          <a:prstGeom prst="rect">
            <a:avLst/>
          </a:prstGeom>
        </p:spPr>
      </p:pic>
      <p:sp>
        <p:nvSpPr>
          <p:cNvPr id="18" name="圓角矩形 29">
            <a:extLst>
              <a:ext uri="{FF2B5EF4-FFF2-40B4-BE49-F238E27FC236}">
                <a16:creationId xmlns:a16="http://schemas.microsoft.com/office/drawing/2014/main" xmlns="" id="{6373E1F3-4EED-4FCA-BB27-DF4DDB91702B}"/>
              </a:ext>
            </a:extLst>
          </p:cNvPr>
          <p:cNvSpPr/>
          <p:nvPr/>
        </p:nvSpPr>
        <p:spPr>
          <a:xfrm>
            <a:off x="431542" y="2924944"/>
            <a:ext cx="1116122" cy="34944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latin typeface="+mn-ea"/>
              </a:rPr>
              <a:t>半年度財務</a:t>
            </a:r>
          </a:p>
        </p:txBody>
      </p:sp>
      <p:sp>
        <p:nvSpPr>
          <p:cNvPr id="21" name="文字方塊 20">
            <a:extLst>
              <a:ext uri="{FF2B5EF4-FFF2-40B4-BE49-F238E27FC236}">
                <a16:creationId xmlns:a16="http://schemas.microsoft.com/office/drawing/2014/main" xmlns="" id="{00DC9E5F-1C38-4803-A84B-47B2BA1F2825}"/>
              </a:ext>
            </a:extLst>
          </p:cNvPr>
          <p:cNvSpPr txBox="1"/>
          <p:nvPr/>
        </p:nvSpPr>
        <p:spPr>
          <a:xfrm>
            <a:off x="289063" y="3243730"/>
            <a:ext cx="4196192" cy="3099888"/>
          </a:xfrm>
          <a:prstGeom prst="rect">
            <a:avLst/>
          </a:prstGeom>
          <a:noFill/>
        </p:spPr>
        <p:txBody>
          <a:bodyPr wrap="square">
            <a:spAutoFit/>
          </a:bodyPr>
          <a:lstStyle/>
          <a:p>
            <a:pPr algn="just">
              <a:lnSpc>
                <a:spcPts val="1600"/>
              </a:lnSpc>
              <a:spcBef>
                <a:spcPts val="600"/>
              </a:spcBef>
            </a:pPr>
            <a:r>
              <a:rPr lang="en-US" altLang="zh-TW" sz="1100" b="1" dirty="0">
                <a:solidFill>
                  <a:srgbClr val="FF0000"/>
                </a:solidFill>
              </a:rPr>
              <a:t>1H23</a:t>
            </a:r>
            <a:r>
              <a:rPr lang="zh-TW" altLang="en-US" sz="1100" b="1" dirty="0">
                <a:solidFill>
                  <a:srgbClr val="FF0000"/>
                </a:solidFill>
              </a:rPr>
              <a:t>營業額年增</a:t>
            </a:r>
            <a:r>
              <a:rPr lang="en-US" altLang="zh-TW" sz="1100" b="1" dirty="0">
                <a:solidFill>
                  <a:srgbClr val="FF0000"/>
                </a:solidFill>
              </a:rPr>
              <a:t>14%</a:t>
            </a:r>
            <a:r>
              <a:rPr lang="zh-TW" altLang="en-US" sz="1100" b="1" dirty="0">
                <a:solidFill>
                  <a:srgbClr val="FF0000"/>
                </a:solidFill>
              </a:rPr>
              <a:t>至</a:t>
            </a:r>
            <a:r>
              <a:rPr lang="en-US" altLang="zh-TW" sz="1100" b="1" dirty="0">
                <a:solidFill>
                  <a:srgbClr val="FF0000"/>
                </a:solidFill>
              </a:rPr>
              <a:t>755</a:t>
            </a:r>
            <a:r>
              <a:rPr lang="zh-TW" altLang="en-US" sz="1100" b="1" dirty="0">
                <a:solidFill>
                  <a:srgbClr val="FF0000"/>
                </a:solidFill>
              </a:rPr>
              <a:t>億歐元，挹注</a:t>
            </a:r>
            <a:r>
              <a:rPr lang="en-US" altLang="zh-TW" sz="1100" b="1" dirty="0">
                <a:solidFill>
                  <a:srgbClr val="FF0000"/>
                </a:solidFill>
              </a:rPr>
              <a:t>EBITDA</a:t>
            </a:r>
            <a:r>
              <a:rPr lang="zh-TW" altLang="en-US" sz="1100" b="1" dirty="0">
                <a:solidFill>
                  <a:srgbClr val="FF0000"/>
                </a:solidFill>
              </a:rPr>
              <a:t>年增</a:t>
            </a:r>
            <a:r>
              <a:rPr lang="en-US" altLang="zh-TW" sz="1100" b="1" dirty="0">
                <a:solidFill>
                  <a:srgbClr val="FF0000"/>
                </a:solidFill>
              </a:rPr>
              <a:t>6</a:t>
            </a:r>
            <a:r>
              <a:rPr lang="zh-TW" altLang="en-US" sz="1100" b="1" dirty="0">
                <a:solidFill>
                  <a:srgbClr val="FF0000"/>
                </a:solidFill>
              </a:rPr>
              <a:t>倍至</a:t>
            </a:r>
            <a:r>
              <a:rPr lang="en-US" altLang="zh-TW" sz="1100" b="1" dirty="0">
                <a:solidFill>
                  <a:srgbClr val="FF0000"/>
                </a:solidFill>
              </a:rPr>
              <a:t>161</a:t>
            </a:r>
            <a:r>
              <a:rPr lang="zh-TW" altLang="en-US" sz="1100" b="1" dirty="0">
                <a:solidFill>
                  <a:srgbClr val="FF0000"/>
                </a:solidFill>
              </a:rPr>
              <a:t>億歐元，稅後轉虧為盈至</a:t>
            </a:r>
            <a:r>
              <a:rPr lang="en-US" altLang="zh-TW" sz="1100" b="1" dirty="0">
                <a:solidFill>
                  <a:srgbClr val="FF0000"/>
                </a:solidFill>
              </a:rPr>
              <a:t>58</a:t>
            </a:r>
            <a:r>
              <a:rPr lang="zh-TW" altLang="en-US" sz="1100" b="1" dirty="0">
                <a:solidFill>
                  <a:srgbClr val="FF0000"/>
                </a:solidFill>
              </a:rPr>
              <a:t>億歐元</a:t>
            </a:r>
            <a:r>
              <a:rPr lang="zh-TW" altLang="en-US" sz="1100" dirty="0"/>
              <a:t>，得益於電價上漲和核發電量增加，以及今年沒有特殊管制措施所支撐。</a:t>
            </a:r>
            <a:endParaRPr lang="en-US" altLang="zh-TW" sz="1100" dirty="0"/>
          </a:p>
          <a:p>
            <a:pPr algn="just">
              <a:lnSpc>
                <a:spcPts val="1600"/>
              </a:lnSpc>
              <a:spcBef>
                <a:spcPts val="600"/>
              </a:spcBef>
            </a:pPr>
            <a:r>
              <a:rPr lang="zh-TW" altLang="en-US" sz="1100" b="1" dirty="0"/>
              <a:t>亮點</a:t>
            </a:r>
            <a:r>
              <a:rPr lang="zh-TW" altLang="en-US" sz="1100" dirty="0"/>
              <a:t>：</a:t>
            </a:r>
            <a:r>
              <a:rPr lang="en-US" altLang="zh-TW" sz="1100" dirty="0"/>
              <a:t>1)</a:t>
            </a:r>
            <a:r>
              <a:rPr lang="zh-TW" altLang="en-US" sz="1100" dirty="0"/>
              <a:t>隨著部分關閉檢修的核反應爐投入營運，公司對今年冬天的低碳電力供應具信心。公司稱</a:t>
            </a:r>
            <a:r>
              <a:rPr lang="en-US" altLang="zh-CN" sz="1100" dirty="0"/>
              <a:t>16</a:t>
            </a:r>
            <a:r>
              <a:rPr lang="zh-CN" altLang="en-US" sz="1100" dirty="0"/>
              <a:t>座對腐蝕最敏感的反應</a:t>
            </a:r>
            <a:r>
              <a:rPr lang="zh-TW" altLang="en-US" sz="1100" dirty="0"/>
              <a:t>爐</a:t>
            </a:r>
            <a:r>
              <a:rPr lang="zh-CN" altLang="en-US" sz="1100" dirty="0"/>
              <a:t>中，有</a:t>
            </a:r>
            <a:r>
              <a:rPr lang="en-US" altLang="zh-CN" sz="1100" dirty="0"/>
              <a:t>11</a:t>
            </a:r>
            <a:r>
              <a:rPr lang="zh-CN" altLang="en-US" sz="1100" dirty="0"/>
              <a:t>座已修復</a:t>
            </a:r>
            <a:r>
              <a:rPr lang="zh-TW" altLang="en-US" sz="1100" dirty="0"/>
              <a:t>、</a:t>
            </a:r>
            <a:r>
              <a:rPr lang="en-US" altLang="zh-TW" sz="1100" dirty="0"/>
              <a:t>2</a:t>
            </a:r>
            <a:r>
              <a:rPr lang="zh-TW" altLang="en-US" sz="1100" dirty="0"/>
              <a:t>座正被</a:t>
            </a:r>
            <a:r>
              <a:rPr lang="zh-CN" altLang="en-US" sz="1100" dirty="0"/>
              <a:t>修</a:t>
            </a:r>
            <a:r>
              <a:rPr lang="zh-TW" altLang="en-US" sz="1100" dirty="0"/>
              <a:t>復、</a:t>
            </a:r>
            <a:r>
              <a:rPr lang="en-US" altLang="zh-TW" sz="1100" dirty="0"/>
              <a:t>2</a:t>
            </a:r>
            <a:r>
              <a:rPr lang="zh-TW" altLang="en-US" sz="1100" dirty="0"/>
              <a:t>座</a:t>
            </a:r>
            <a:r>
              <a:rPr lang="zh-CN" altLang="en-US" sz="1100" dirty="0"/>
              <a:t>將在</a:t>
            </a:r>
            <a:r>
              <a:rPr lang="en-US" altLang="zh-CN" sz="1100" dirty="0"/>
              <a:t>2023</a:t>
            </a:r>
            <a:r>
              <a:rPr lang="zh-CN" altLang="en-US" sz="1100" dirty="0"/>
              <a:t>年底前修好，剩下</a:t>
            </a:r>
            <a:r>
              <a:rPr lang="en-US" altLang="zh-CN" sz="1100" dirty="0"/>
              <a:t>1</a:t>
            </a:r>
            <a:r>
              <a:rPr lang="zh-TW" altLang="en-US" sz="1100" dirty="0"/>
              <a:t>座</a:t>
            </a:r>
            <a:r>
              <a:rPr lang="zh-CN" altLang="en-US" sz="1100" dirty="0"/>
              <a:t>將在下</a:t>
            </a:r>
            <a:r>
              <a:rPr lang="zh-TW" altLang="en-US" sz="1100" dirty="0"/>
              <a:t>個</a:t>
            </a:r>
            <a:r>
              <a:rPr lang="en-US" altLang="zh-TW" sz="1100" dirty="0"/>
              <a:t>10</a:t>
            </a:r>
            <a:r>
              <a:rPr lang="zh-CN" altLang="en-US" sz="1100" dirty="0"/>
              <a:t>年檢查</a:t>
            </a:r>
            <a:r>
              <a:rPr lang="zh-TW" altLang="en-US" sz="1100" dirty="0"/>
              <a:t>期間進行修復；</a:t>
            </a:r>
            <a:r>
              <a:rPr lang="en-US" altLang="zh-TW" sz="1100" dirty="0"/>
              <a:t>2)EDF</a:t>
            </a:r>
            <a:r>
              <a:rPr lang="zh-TW" altLang="en-US" sz="1100" dirty="0"/>
              <a:t>重申</a:t>
            </a:r>
            <a:r>
              <a:rPr lang="en-US" altLang="zh-TW" sz="1100" dirty="0"/>
              <a:t>2023</a:t>
            </a:r>
            <a:r>
              <a:rPr lang="zh-TW" altLang="en-US" sz="1100" dirty="0"/>
              <a:t>年法國核發電量目標為</a:t>
            </a:r>
            <a:r>
              <a:rPr lang="en-US" altLang="zh-TW" sz="1100" dirty="0"/>
              <a:t>300~330TWh</a:t>
            </a:r>
            <a:r>
              <a:rPr lang="zh-TW" altLang="en-US" sz="1100" dirty="0"/>
              <a:t>，並預估明後兩年發電量將逐步攀升；</a:t>
            </a:r>
            <a:r>
              <a:rPr lang="en-US" altLang="zh-TW" sz="1100" dirty="0"/>
              <a:t>3)</a:t>
            </a:r>
            <a:r>
              <a:rPr lang="zh-TW" altLang="en-US" sz="1100" dirty="0"/>
              <a:t>法</a:t>
            </a:r>
            <a:r>
              <a:rPr lang="zh-CN" altLang="en-US" sz="1100" dirty="0"/>
              <a:t>國總統馬克龍</a:t>
            </a:r>
            <a:r>
              <a:rPr lang="en-US" altLang="zh-CN" sz="1100" dirty="0"/>
              <a:t>2022</a:t>
            </a:r>
            <a:r>
              <a:rPr lang="zh-CN" altLang="en-US" sz="1100" dirty="0"/>
              <a:t>年表示</a:t>
            </a:r>
            <a:r>
              <a:rPr lang="zh-TW" altLang="en-US" sz="1100" dirty="0"/>
              <a:t>將發展核能，</a:t>
            </a:r>
            <a:r>
              <a:rPr lang="zh-CN" altLang="en-US" sz="1100" dirty="0"/>
              <a:t>到</a:t>
            </a:r>
            <a:r>
              <a:rPr lang="en-US" altLang="zh-CN" sz="1100" dirty="0"/>
              <a:t>2050</a:t>
            </a:r>
            <a:r>
              <a:rPr lang="zh-CN" altLang="en-US" sz="1100" dirty="0"/>
              <a:t>年建成</a:t>
            </a:r>
            <a:r>
              <a:rPr lang="en-US" altLang="zh-CN" sz="1100" dirty="0"/>
              <a:t>6</a:t>
            </a:r>
            <a:r>
              <a:rPr lang="zh-CN" altLang="en-US" sz="1100" dirty="0"/>
              <a:t>座新一代核反應</a:t>
            </a:r>
            <a:r>
              <a:rPr lang="zh-TW" altLang="en-US" sz="1100" dirty="0"/>
              <a:t>爐；</a:t>
            </a:r>
            <a:r>
              <a:rPr lang="en-US" altLang="zh-TW" sz="1100" dirty="0"/>
              <a:t>4)</a:t>
            </a:r>
            <a:r>
              <a:rPr lang="zh-TW" altLang="en-US" sz="1100" dirty="0"/>
              <a:t>法國政府已自</a:t>
            </a:r>
            <a:r>
              <a:rPr lang="en-US" altLang="zh-TW" sz="1100" dirty="0"/>
              <a:t>2023/</a:t>
            </a:r>
            <a:r>
              <a:rPr lang="en-US" altLang="zh-CN" sz="1100" dirty="0"/>
              <a:t>6/8</a:t>
            </a:r>
            <a:r>
              <a:rPr lang="zh-TW" altLang="en-US" sz="1100" dirty="0"/>
              <a:t>起持有</a:t>
            </a:r>
            <a:r>
              <a:rPr lang="en-US" altLang="zh-TW" sz="1100" dirty="0"/>
              <a:t>EDF </a:t>
            </a:r>
            <a:r>
              <a:rPr lang="en-US" altLang="zh-CN" sz="1100" dirty="0"/>
              <a:t>100%</a:t>
            </a:r>
            <a:r>
              <a:rPr lang="zh-TW" altLang="en-US" sz="1100" dirty="0"/>
              <a:t>股權並退市，希冀透過</a:t>
            </a:r>
            <a:r>
              <a:rPr lang="en-US" altLang="zh-TW" sz="1100" dirty="0"/>
              <a:t>EDF</a:t>
            </a:r>
            <a:r>
              <a:rPr lang="zh-TW" altLang="en-US" sz="1100" dirty="0"/>
              <a:t>完全國有化來降低該集團的融資成本。</a:t>
            </a:r>
            <a:endParaRPr lang="en-US" altLang="zh-TW" sz="1100" dirty="0"/>
          </a:p>
          <a:p>
            <a:pPr algn="just">
              <a:lnSpc>
                <a:spcPts val="1600"/>
              </a:lnSpc>
              <a:spcBef>
                <a:spcPts val="600"/>
              </a:spcBef>
            </a:pPr>
            <a:r>
              <a:rPr lang="zh-TW" altLang="en-US" sz="1100" b="1" dirty="0"/>
              <a:t>風險</a:t>
            </a:r>
            <a:r>
              <a:rPr lang="zh-TW" altLang="en-US" sz="1100" dirty="0"/>
              <a:t>：</a:t>
            </a:r>
            <a:r>
              <a:rPr lang="en-US" altLang="zh-TW" sz="1100" dirty="0"/>
              <a:t>1)</a:t>
            </a:r>
            <a:r>
              <a:rPr lang="zh-TW" altLang="en-US" sz="1100" dirty="0"/>
              <a:t>重大資本支出計劃將導致自由現金流持續為負值；</a:t>
            </a:r>
            <a:r>
              <a:rPr lang="en-US" altLang="zh-TW" sz="1100" dirty="0"/>
              <a:t>2)</a:t>
            </a:r>
            <a:r>
              <a:rPr lang="zh-TW" altLang="en-US" sz="1100" dirty="0"/>
              <a:t>當前正在進行的法國新核能機組</a:t>
            </a:r>
            <a:r>
              <a:rPr lang="en-US" altLang="zh-TW" sz="1100" dirty="0" err="1"/>
              <a:t>Flamanville</a:t>
            </a:r>
            <a:r>
              <a:rPr lang="en-US" altLang="zh-TW" sz="1100" dirty="0"/>
              <a:t> 3</a:t>
            </a:r>
            <a:r>
              <a:rPr lang="zh-TW" altLang="en-US" sz="1100" dirty="0"/>
              <a:t>號機及英國</a:t>
            </a:r>
            <a:r>
              <a:rPr lang="zh-CN" altLang="en-US" sz="1100" dirty="0"/>
              <a:t>欣克利角</a:t>
            </a:r>
            <a:r>
              <a:rPr lang="en-US" altLang="zh-CN" sz="1100" dirty="0"/>
              <a:t>C</a:t>
            </a:r>
            <a:r>
              <a:rPr lang="zh-CN" altLang="en-US" sz="1100" dirty="0"/>
              <a:t>核電</a:t>
            </a:r>
            <a:r>
              <a:rPr lang="zh-TW" altLang="en-US" sz="1100" dirty="0"/>
              <a:t>廠</a:t>
            </a:r>
            <a:r>
              <a:rPr lang="en-US" altLang="zh-TW" sz="1100" dirty="0"/>
              <a:t>(</a:t>
            </a:r>
            <a:r>
              <a:rPr lang="en-US" altLang="zh-TW" sz="1100" dirty="0" err="1"/>
              <a:t>Hinkley</a:t>
            </a:r>
            <a:r>
              <a:rPr lang="en-US" altLang="zh-TW" sz="1100" dirty="0"/>
              <a:t> Point C)</a:t>
            </a:r>
            <a:r>
              <a:rPr lang="zh-TW" altLang="en-US" sz="1100" dirty="0"/>
              <a:t>皆面臨著大規模延誤和額外成本負擔。</a:t>
            </a:r>
            <a:endParaRPr lang="en-US" altLang="zh-TW" sz="1100" dirty="0"/>
          </a:p>
        </p:txBody>
      </p:sp>
      <p:graphicFrame>
        <p:nvGraphicFramePr>
          <p:cNvPr id="22" name="圖表 21"/>
          <p:cNvGraphicFramePr/>
          <p:nvPr>
            <p:extLst>
              <p:ext uri="{D42A27DB-BD31-4B8C-83A1-F6EECF244321}">
                <p14:modId xmlns:p14="http://schemas.microsoft.com/office/powerpoint/2010/main" val="2660754156"/>
              </p:ext>
            </p:extLst>
          </p:nvPr>
        </p:nvGraphicFramePr>
        <p:xfrm>
          <a:off x="4570278" y="2996952"/>
          <a:ext cx="2186894" cy="136815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3" name="圖表 22"/>
          <p:cNvGraphicFramePr/>
          <p:nvPr>
            <p:extLst>
              <p:ext uri="{D42A27DB-BD31-4B8C-83A1-F6EECF244321}">
                <p14:modId xmlns:p14="http://schemas.microsoft.com/office/powerpoint/2010/main" val="1368005271"/>
              </p:ext>
            </p:extLst>
          </p:nvPr>
        </p:nvGraphicFramePr>
        <p:xfrm>
          <a:off x="6654948" y="2996952"/>
          <a:ext cx="2250575" cy="1368152"/>
        </p:xfrm>
        <a:graphic>
          <a:graphicData uri="http://schemas.openxmlformats.org/drawingml/2006/chart">
            <c:chart xmlns:c="http://schemas.openxmlformats.org/drawingml/2006/chart" xmlns:r="http://schemas.openxmlformats.org/officeDocument/2006/relationships" r:id="rId6"/>
          </a:graphicData>
        </a:graphic>
      </p:graphicFrame>
      <p:sp>
        <p:nvSpPr>
          <p:cNvPr id="24" name="圓角矩形 36">
            <a:extLst>
              <a:ext uri="{FF2B5EF4-FFF2-40B4-BE49-F238E27FC236}">
                <a16:creationId xmlns:a16="http://schemas.microsoft.com/office/drawing/2014/main" xmlns="" id="{5260B2CD-FEE4-47F6-BD3F-4145A777A1CE}"/>
              </a:ext>
            </a:extLst>
          </p:cNvPr>
          <p:cNvSpPr/>
          <p:nvPr/>
        </p:nvSpPr>
        <p:spPr>
          <a:xfrm>
            <a:off x="4624281" y="4365104"/>
            <a:ext cx="4248472" cy="472048"/>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200" b="1" dirty="0">
                <a:solidFill>
                  <a:schemeClr val="bg1"/>
                </a:solidFill>
                <a:latin typeface="微軟正黑體" panose="020B0604030504040204" pitchFamily="34" charset="-120"/>
                <a:ea typeface="微軟正黑體" panose="020B0604030504040204" pitchFamily="34" charset="-120"/>
              </a:rPr>
              <a:t>繼</a:t>
            </a:r>
            <a:r>
              <a:rPr lang="en-US" altLang="zh-TW" sz="1200" b="1" dirty="0">
                <a:solidFill>
                  <a:schemeClr val="bg1"/>
                </a:solidFill>
                <a:latin typeface="微軟正黑體" panose="020B0604030504040204" pitchFamily="34" charset="-120"/>
                <a:ea typeface="微軟正黑體" panose="020B0604030504040204" pitchFamily="34" charset="-120"/>
              </a:rPr>
              <a:t>2022</a:t>
            </a:r>
            <a:r>
              <a:rPr lang="zh-TW" altLang="en-US" sz="1200" b="1" dirty="0">
                <a:solidFill>
                  <a:schemeClr val="bg1"/>
                </a:solidFill>
                <a:latin typeface="微軟正黑體" panose="020B0604030504040204" pitchFamily="34" charset="-120"/>
                <a:ea typeface="微軟正黑體" panose="020B0604030504040204" pitchFamily="34" charset="-120"/>
              </a:rPr>
              <a:t>年法國發電和供電業務表現疲軟後，</a:t>
            </a:r>
            <a:endParaRPr lang="en-US" altLang="zh-TW" sz="1200" b="1" dirty="0">
              <a:solidFill>
                <a:schemeClr val="bg1"/>
              </a:solidFill>
              <a:latin typeface="微軟正黑體" panose="020B0604030504040204" pitchFamily="34" charset="-120"/>
              <a:ea typeface="微軟正黑體" panose="020B0604030504040204" pitchFamily="34" charset="-120"/>
            </a:endParaRPr>
          </a:p>
          <a:p>
            <a:pPr algn="ctr"/>
            <a:r>
              <a:rPr lang="zh-TW" altLang="en-US" sz="1200" b="1" dirty="0">
                <a:solidFill>
                  <a:schemeClr val="bg1"/>
                </a:solidFill>
                <a:latin typeface="微軟正黑體" panose="020B0604030504040204" pitchFamily="34" charset="-120"/>
                <a:ea typeface="微軟正黑體" panose="020B0604030504040204" pitchFamily="34" charset="-120"/>
              </a:rPr>
              <a:t>穆迪預期</a:t>
            </a:r>
            <a:r>
              <a:rPr lang="en-US" altLang="zh-TW" sz="1200" b="1" dirty="0">
                <a:solidFill>
                  <a:schemeClr val="bg1"/>
                </a:solidFill>
                <a:latin typeface="微軟正黑體" panose="020B0604030504040204" pitchFamily="34" charset="-120"/>
                <a:ea typeface="微軟正黑體" panose="020B0604030504040204" pitchFamily="34" charset="-120"/>
              </a:rPr>
              <a:t>EDF</a:t>
            </a:r>
            <a:r>
              <a:rPr lang="zh-TW" altLang="en-US" sz="1200" b="1" dirty="0">
                <a:solidFill>
                  <a:schemeClr val="bg1"/>
                </a:solidFill>
                <a:latin typeface="微軟正黑體" panose="020B0604030504040204" pitchFamily="34" charset="-120"/>
                <a:ea typeface="微軟正黑體" panose="020B0604030504040204" pitchFamily="34" charset="-120"/>
              </a:rPr>
              <a:t>將受益當前有利的市場條件</a:t>
            </a:r>
            <a:endParaRPr lang="en-US" altLang="zh-TW" sz="1200" b="1" dirty="0">
              <a:solidFill>
                <a:schemeClr val="bg1"/>
              </a:solidFill>
              <a:latin typeface="微軟正黑體" panose="020B0604030504040204" pitchFamily="34" charset="-120"/>
              <a:ea typeface="微軟正黑體" panose="020B0604030504040204" pitchFamily="34" charset="-120"/>
            </a:endParaRPr>
          </a:p>
        </p:txBody>
      </p:sp>
      <p:pic>
        <p:nvPicPr>
          <p:cNvPr id="2" name="圖片 1"/>
          <p:cNvPicPr>
            <a:picLocks noChangeAspect="1"/>
          </p:cNvPicPr>
          <p:nvPr/>
        </p:nvPicPr>
        <p:blipFill rotWithShape="1">
          <a:blip r:embed="rId7"/>
          <a:srcRect t="3756"/>
          <a:stretch/>
        </p:blipFill>
        <p:spPr>
          <a:xfrm>
            <a:off x="4612570" y="5040439"/>
            <a:ext cx="4260183" cy="1380055"/>
          </a:xfrm>
          <a:prstGeom prst="rect">
            <a:avLst/>
          </a:prstGeom>
        </p:spPr>
      </p:pic>
      <p:pic>
        <p:nvPicPr>
          <p:cNvPr id="9" name="圖片 8"/>
          <p:cNvPicPr>
            <a:picLocks noChangeAspect="1"/>
          </p:cNvPicPr>
          <p:nvPr/>
        </p:nvPicPr>
        <p:blipFill>
          <a:blip r:embed="rId8"/>
          <a:stretch>
            <a:fillRect/>
          </a:stretch>
        </p:blipFill>
        <p:spPr>
          <a:xfrm>
            <a:off x="5053492" y="4869160"/>
            <a:ext cx="3262924" cy="139271"/>
          </a:xfrm>
          <a:prstGeom prst="rect">
            <a:avLst/>
          </a:prstGeom>
        </p:spPr>
      </p:pic>
      <p:sp>
        <p:nvSpPr>
          <p:cNvPr id="10" name="矩形 9"/>
          <p:cNvSpPr/>
          <p:nvPr/>
        </p:nvSpPr>
        <p:spPr>
          <a:xfrm>
            <a:off x="4888908" y="5908781"/>
            <a:ext cx="2058577" cy="246221"/>
          </a:xfrm>
          <a:prstGeom prst="rect">
            <a:avLst/>
          </a:prstGeom>
        </p:spPr>
        <p:txBody>
          <a:bodyPr wrap="none">
            <a:spAutoFit/>
          </a:bodyPr>
          <a:lstStyle/>
          <a:p>
            <a:r>
              <a:rPr lang="zh-TW" altLang="en-US" sz="1000" b="1" dirty="0"/>
              <a:t>各業務部門別的</a:t>
            </a:r>
            <a:r>
              <a:rPr lang="en-US" altLang="zh-TW" sz="1000" b="1" dirty="0"/>
              <a:t>EBITDA</a:t>
            </a:r>
            <a:r>
              <a:rPr lang="zh-TW" altLang="en-US" sz="1000" b="1" dirty="0"/>
              <a:t>年度表現</a:t>
            </a:r>
          </a:p>
        </p:txBody>
      </p:sp>
    </p:spTree>
    <p:extLst>
      <p:ext uri="{BB962C8B-B14F-4D97-AF65-F5344CB8AC3E}">
        <p14:creationId xmlns:p14="http://schemas.microsoft.com/office/powerpoint/2010/main" val="115778530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投影片編號版面配置區 3">
            <a:extLst>
              <a:ext uri="{FF2B5EF4-FFF2-40B4-BE49-F238E27FC236}">
                <a16:creationId xmlns:a16="http://schemas.microsoft.com/office/drawing/2014/main" xmlns="" id="{6EF0A8B5-88FD-4B5B-A03C-4DBB95EB11C3}"/>
              </a:ext>
            </a:extLst>
          </p:cNvPr>
          <p:cNvSpPr>
            <a:spLocks noGrp="1"/>
          </p:cNvSpPr>
          <p:nvPr>
            <p:ph type="sldNum" sz="quarter" idx="10"/>
          </p:nvPr>
        </p:nvSpPr>
        <p:spPr/>
        <p:txBody>
          <a:bodyPr/>
          <a:lstStyle/>
          <a:p>
            <a:fld id="{415482FC-CF5F-466A-B8B6-BC3733E92023}" type="slidenum">
              <a:rPr lang="zh-TW" altLang="en-US" smtClean="0"/>
              <a:pPr/>
              <a:t>5</a:t>
            </a:fld>
            <a:endParaRPr lang="zh-TW" altLang="en-US" dirty="0"/>
          </a:p>
        </p:txBody>
      </p:sp>
      <p:sp>
        <p:nvSpPr>
          <p:cNvPr id="11" name="標題 1">
            <a:extLst>
              <a:ext uri="{FF2B5EF4-FFF2-40B4-BE49-F238E27FC236}">
                <a16:creationId xmlns:a16="http://schemas.microsoft.com/office/drawing/2014/main" xmlns="" id="{1F6C633C-FD3F-4225-8F6B-2A885AD6D4DE}"/>
              </a:ext>
            </a:extLst>
          </p:cNvPr>
          <p:cNvSpPr txBox="1">
            <a:spLocks/>
          </p:cNvSpPr>
          <p:nvPr/>
        </p:nvSpPr>
        <p:spPr bwMode="auto">
          <a:xfrm>
            <a:off x="229944" y="161162"/>
            <a:ext cx="776452" cy="633413"/>
          </a:xfrm>
          <a:prstGeom prst="rect">
            <a:avLst/>
          </a:prstGeom>
          <a:solidFill>
            <a:srgbClr val="C00000"/>
          </a:solidFill>
          <a:ln>
            <a:noFill/>
          </a:ln>
        </p:spPr>
        <p:txBody>
          <a:bodyPr anchor="ctr">
            <a:noAutofit/>
          </a:bodyPr>
          <a:lstStyle>
            <a:lvl1pPr algn="l" rtl="0" eaLnBrk="0" fontAlgn="base" hangingPunct="0">
              <a:spcBef>
                <a:spcPct val="0"/>
              </a:spcBef>
              <a:spcAft>
                <a:spcPct val="0"/>
              </a:spcAft>
              <a:defRPr kumimoji="1" sz="3000" b="1">
                <a:solidFill>
                  <a:schemeClr val="tx2"/>
                </a:solidFill>
                <a:latin typeface="+mj-lt"/>
                <a:ea typeface="+mj-ea"/>
                <a:cs typeface="+mj-cs"/>
              </a:defRPr>
            </a:lvl1pPr>
            <a:lvl2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2pPr>
            <a:lvl3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3pPr>
            <a:lvl4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4pPr>
            <a:lvl5pPr algn="l" rtl="0" eaLnBrk="0" fontAlgn="base" hangingPunct="0">
              <a:spcBef>
                <a:spcPct val="0"/>
              </a:spcBef>
              <a:spcAft>
                <a:spcPct val="0"/>
              </a:spcAft>
              <a:defRPr kumimoji="1" sz="3000" b="1">
                <a:solidFill>
                  <a:schemeClr val="tx2"/>
                </a:solidFill>
                <a:latin typeface="標楷體" pitchFamily="65" charset="-120"/>
                <a:ea typeface="標楷體" pitchFamily="65" charset="-120"/>
              </a:defRPr>
            </a:lvl5pPr>
            <a:lvl6pPr marL="457200" algn="l" rtl="0" fontAlgn="base">
              <a:spcBef>
                <a:spcPct val="0"/>
              </a:spcBef>
              <a:spcAft>
                <a:spcPct val="0"/>
              </a:spcAft>
              <a:defRPr kumimoji="1" sz="3000" b="1">
                <a:solidFill>
                  <a:schemeClr val="tx2"/>
                </a:solidFill>
                <a:latin typeface="標楷體" pitchFamily="65" charset="-120"/>
                <a:ea typeface="標楷體" pitchFamily="65" charset="-120"/>
              </a:defRPr>
            </a:lvl6pPr>
            <a:lvl7pPr marL="914400" algn="l" rtl="0" fontAlgn="base">
              <a:spcBef>
                <a:spcPct val="0"/>
              </a:spcBef>
              <a:spcAft>
                <a:spcPct val="0"/>
              </a:spcAft>
              <a:defRPr kumimoji="1" sz="3000" b="1">
                <a:solidFill>
                  <a:schemeClr val="tx2"/>
                </a:solidFill>
                <a:latin typeface="標楷體" pitchFamily="65" charset="-120"/>
                <a:ea typeface="標楷體" pitchFamily="65" charset="-120"/>
              </a:defRPr>
            </a:lvl7pPr>
            <a:lvl8pPr marL="1371600" algn="l" rtl="0" fontAlgn="base">
              <a:spcBef>
                <a:spcPct val="0"/>
              </a:spcBef>
              <a:spcAft>
                <a:spcPct val="0"/>
              </a:spcAft>
              <a:defRPr kumimoji="1" sz="3000" b="1">
                <a:solidFill>
                  <a:schemeClr val="tx2"/>
                </a:solidFill>
                <a:latin typeface="標楷體" pitchFamily="65" charset="-120"/>
                <a:ea typeface="標楷體" pitchFamily="65" charset="-120"/>
              </a:defRPr>
            </a:lvl8pPr>
            <a:lvl9pPr marL="1828800" algn="l" rtl="0" fontAlgn="base">
              <a:spcBef>
                <a:spcPct val="0"/>
              </a:spcBef>
              <a:spcAft>
                <a:spcPct val="0"/>
              </a:spcAft>
              <a:defRPr kumimoji="1" sz="3000" b="1">
                <a:solidFill>
                  <a:schemeClr val="tx2"/>
                </a:solidFill>
                <a:latin typeface="標楷體" pitchFamily="65" charset="-120"/>
                <a:ea typeface="標楷體" pitchFamily="65" charset="-120"/>
              </a:defRPr>
            </a:lvl9pPr>
          </a:lstStyle>
          <a:p>
            <a:pPr algn="ctr">
              <a:defRPr/>
            </a:pPr>
            <a:r>
              <a:rPr lang="zh-TW" altLang="en-US" sz="2000" kern="0" dirty="0">
                <a:solidFill>
                  <a:schemeClr val="bg1"/>
                </a:solidFill>
              </a:rPr>
              <a:t>信用表現</a:t>
            </a:r>
          </a:p>
        </p:txBody>
      </p:sp>
      <p:sp>
        <p:nvSpPr>
          <p:cNvPr id="12" name="標題 1">
            <a:extLst>
              <a:ext uri="{FF2B5EF4-FFF2-40B4-BE49-F238E27FC236}">
                <a16:creationId xmlns:a16="http://schemas.microsoft.com/office/drawing/2014/main" xmlns="" id="{EEAC3B23-009C-42B9-AD90-EBE9DCD17178}"/>
              </a:ext>
            </a:extLst>
          </p:cNvPr>
          <p:cNvSpPr txBox="1">
            <a:spLocks noChangeArrowheads="1"/>
          </p:cNvSpPr>
          <p:nvPr/>
        </p:nvSpPr>
        <p:spPr>
          <a:xfrm>
            <a:off x="1053599" y="142648"/>
            <a:ext cx="7141365" cy="633413"/>
          </a:xfrm>
          <a:prstGeom prst="rect">
            <a:avLst/>
          </a:prstGeom>
        </p:spPr>
        <p:txBody>
          <a:bodyPr anchor="ctr" anchorCtr="0">
            <a:noAutofit/>
          </a:bodyPr>
          <a:lstStyle>
            <a:lvl1pPr algn="l" defTabSz="914400" rtl="0" eaLnBrk="1" latinLnBrk="0" hangingPunct="1">
              <a:spcBef>
                <a:spcPct val="0"/>
              </a:spcBef>
              <a:buNone/>
              <a:defRPr sz="2800" b="1" kern="1200">
                <a:solidFill>
                  <a:schemeClr val="tx2">
                    <a:lumMod val="75000"/>
                  </a:schemeClr>
                </a:solidFill>
                <a:latin typeface="微軟正黑體" pitchFamily="34" charset="-120"/>
                <a:ea typeface="微軟正黑體" pitchFamily="34" charset="-120"/>
                <a:cs typeface="+mj-cs"/>
              </a:defRPr>
            </a:lvl1pPr>
          </a:lstStyle>
          <a:p>
            <a:pPr>
              <a:defRPr/>
            </a:pPr>
            <a:r>
              <a:rPr lang="zh-TW" altLang="en-US" sz="2400" dirty="0"/>
              <a:t>法國政府成為</a:t>
            </a:r>
            <a:r>
              <a:rPr lang="en-US" altLang="zh-TW" sz="2400" dirty="0"/>
              <a:t>EDF</a:t>
            </a:r>
            <a:r>
              <a:rPr lang="zh-TW" altLang="en-US" sz="2400" dirty="0"/>
              <a:t>堅實後盾</a:t>
            </a:r>
          </a:p>
        </p:txBody>
      </p:sp>
      <p:sp>
        <p:nvSpPr>
          <p:cNvPr id="16" name="文字方塊 30">
            <a:extLst>
              <a:ext uri="{FF2B5EF4-FFF2-40B4-BE49-F238E27FC236}">
                <a16:creationId xmlns:a16="http://schemas.microsoft.com/office/drawing/2014/main" xmlns="" id="{9556191C-8845-4178-962E-5B7639354AEC}"/>
              </a:ext>
            </a:extLst>
          </p:cNvPr>
          <p:cNvSpPr txBox="1">
            <a:spLocks noChangeArrowheads="1"/>
          </p:cNvSpPr>
          <p:nvPr/>
        </p:nvSpPr>
        <p:spPr bwMode="auto">
          <a:xfrm>
            <a:off x="411545" y="6530454"/>
            <a:ext cx="643413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FF3300"/>
              </a:buClr>
              <a:buFont typeface="Wingdings" panose="05000000000000000000" pitchFamily="2" charset="2"/>
              <a:buChar char="n"/>
              <a:defRPr kumimoji="1" sz="2400" b="1">
                <a:solidFill>
                  <a:schemeClr val="tx1"/>
                </a:solidFill>
                <a:latin typeface="Arial" panose="020B0604020202020204" pitchFamily="34" charset="0"/>
                <a:ea typeface="標楷體" panose="03000509000000000000" pitchFamily="65" charset="-120"/>
              </a:defRPr>
            </a:lvl1pPr>
            <a:lvl2pPr marL="742950" indent="-285750">
              <a:spcBef>
                <a:spcPct val="20000"/>
              </a:spcBef>
              <a:buClr>
                <a:srgbClr val="FF3300"/>
              </a:buClr>
              <a:buFont typeface="Wingdings" panose="05000000000000000000" pitchFamily="2" charset="2"/>
              <a:buChar char="n"/>
              <a:defRPr kumimoji="1" sz="2000" b="1">
                <a:solidFill>
                  <a:schemeClr val="tx1"/>
                </a:solidFill>
                <a:latin typeface="Arial" panose="020B0604020202020204" pitchFamily="34" charset="0"/>
                <a:ea typeface="標楷體" panose="03000509000000000000" pitchFamily="65" charset="-120"/>
              </a:defRPr>
            </a:lvl2pPr>
            <a:lvl3pPr marL="1143000" indent="-228600">
              <a:spcBef>
                <a:spcPct val="20000"/>
              </a:spcBef>
              <a:buClr>
                <a:srgbClr val="FF3300"/>
              </a:buClr>
              <a:buFont typeface="Wingdings" panose="05000000000000000000" pitchFamily="2" charset="2"/>
              <a:buChar char="n"/>
              <a:defRPr kumimoji="1" sz="2400" b="1">
                <a:solidFill>
                  <a:schemeClr val="tx1"/>
                </a:solidFill>
                <a:latin typeface="Arial" panose="020B0604020202020204" pitchFamily="34" charset="0"/>
                <a:ea typeface="標楷體" panose="03000509000000000000" pitchFamily="65" charset="-120"/>
              </a:defRPr>
            </a:lvl3pPr>
            <a:lvl4pPr marL="1600200" indent="-228600">
              <a:spcBef>
                <a:spcPct val="20000"/>
              </a:spcBef>
              <a:buChar char="–"/>
              <a:defRPr kumimoji="1" sz="2000">
                <a:solidFill>
                  <a:schemeClr val="tx1"/>
                </a:solidFill>
                <a:latin typeface="Arial" panose="020B0604020202020204" pitchFamily="34" charset="0"/>
                <a:ea typeface="新細明體" panose="02020500000000000000" pitchFamily="18" charset="-120"/>
              </a:defRPr>
            </a:lvl4pPr>
            <a:lvl5pPr marL="2057400" indent="-228600">
              <a:spcBef>
                <a:spcPct val="20000"/>
              </a:spcBef>
              <a:buChar char="»"/>
              <a:defRPr kumimoji="1" sz="2000">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ea typeface="新細明體" panose="02020500000000000000" pitchFamily="18" charset="-120"/>
              </a:defRPr>
            </a:lvl9pPr>
          </a:lstStyle>
          <a:p>
            <a:pPr>
              <a:spcBef>
                <a:spcPct val="0"/>
              </a:spcBef>
              <a:buClrTx/>
              <a:buNone/>
            </a:pPr>
            <a:r>
              <a:rPr lang="zh-TW" altLang="en-US" sz="800" b="0" dirty="0">
                <a:latin typeface="+mj-ea"/>
                <a:ea typeface="+mj-ea"/>
              </a:rPr>
              <a:t>資料來源：穆迪、惠譽、彭博 </a:t>
            </a:r>
            <a:r>
              <a:rPr lang="en-US" altLang="zh-TW" sz="800" b="0" dirty="0">
                <a:latin typeface="+mj-ea"/>
                <a:ea typeface="+mj-ea"/>
              </a:rPr>
              <a:t>| </a:t>
            </a:r>
            <a:r>
              <a:rPr lang="zh-TW" altLang="en-US" sz="800" b="0" dirty="0">
                <a:latin typeface="微軟正黑體" panose="020B0604030504040204" pitchFamily="34" charset="-120"/>
                <a:ea typeface="微軟正黑體" panose="020B0604030504040204" pitchFamily="34" charset="-120"/>
              </a:rPr>
              <a:t>註：穆迪預期圖來自穆迪</a:t>
            </a:r>
            <a:r>
              <a:rPr lang="en-US" altLang="zh-TW" sz="800" b="0" dirty="0">
                <a:latin typeface="微軟正黑體" panose="020B0604030504040204" pitchFamily="34" charset="-120"/>
                <a:ea typeface="微軟正黑體" panose="020B0604030504040204" pitchFamily="34" charset="-120"/>
              </a:rPr>
              <a:t>2023/6/6</a:t>
            </a:r>
            <a:r>
              <a:rPr lang="zh-TW" altLang="en-US" sz="800" b="0" dirty="0">
                <a:latin typeface="微軟正黑體" panose="020B0604030504040204" pitchFamily="34" charset="-120"/>
                <a:ea typeface="微軟正黑體" panose="020B0604030504040204" pitchFamily="34" charset="-120"/>
              </a:rPr>
              <a:t>信用意見報告；債務到期更新至</a:t>
            </a:r>
            <a:r>
              <a:rPr lang="en-US" altLang="zh-TW" sz="800" b="0" dirty="0">
                <a:latin typeface="微軟正黑體" panose="020B0604030504040204" pitchFamily="34" charset="-120"/>
                <a:ea typeface="微軟正黑體" panose="020B0604030504040204" pitchFamily="34" charset="-120"/>
              </a:rPr>
              <a:t>2023/9/14</a:t>
            </a:r>
            <a:endParaRPr lang="zh-TW" altLang="en-US" sz="800" b="0" dirty="0">
              <a:latin typeface="+mj-ea"/>
              <a:ea typeface="+mj-ea"/>
            </a:endParaRPr>
          </a:p>
        </p:txBody>
      </p:sp>
      <p:graphicFrame>
        <p:nvGraphicFramePr>
          <p:cNvPr id="21" name="表格 20">
            <a:extLst>
              <a:ext uri="{FF2B5EF4-FFF2-40B4-BE49-F238E27FC236}">
                <a16:creationId xmlns:a16="http://schemas.microsoft.com/office/drawing/2014/main" xmlns="" id="{9442BF18-3693-438F-888C-033744E3D115}"/>
              </a:ext>
            </a:extLst>
          </p:cNvPr>
          <p:cNvGraphicFramePr>
            <a:graphicFrameLocks noGrp="1"/>
          </p:cNvGraphicFramePr>
          <p:nvPr>
            <p:extLst>
              <p:ext uri="{D42A27DB-BD31-4B8C-83A1-F6EECF244321}">
                <p14:modId xmlns:p14="http://schemas.microsoft.com/office/powerpoint/2010/main" val="1923835514"/>
              </p:ext>
            </p:extLst>
          </p:nvPr>
        </p:nvGraphicFramePr>
        <p:xfrm>
          <a:off x="318052" y="1305997"/>
          <a:ext cx="4742435" cy="2822032"/>
        </p:xfrm>
        <a:graphic>
          <a:graphicData uri="http://schemas.openxmlformats.org/drawingml/2006/table">
            <a:tbl>
              <a:tblPr firstRow="1" bandRow="1">
                <a:tableStyleId>{F5AB1C69-6EDB-4FF4-983F-18BD219EF322}</a:tableStyleId>
              </a:tblPr>
              <a:tblGrid>
                <a:gridCol w="1054156">
                  <a:extLst>
                    <a:ext uri="{9D8B030D-6E8A-4147-A177-3AD203B41FA5}">
                      <a16:colId xmlns:a16="http://schemas.microsoft.com/office/drawing/2014/main" xmlns="" val="20000"/>
                    </a:ext>
                  </a:extLst>
                </a:gridCol>
                <a:gridCol w="1085523">
                  <a:extLst>
                    <a:ext uri="{9D8B030D-6E8A-4147-A177-3AD203B41FA5}">
                      <a16:colId xmlns:a16="http://schemas.microsoft.com/office/drawing/2014/main" xmlns="" val="20001"/>
                    </a:ext>
                  </a:extLst>
                </a:gridCol>
                <a:gridCol w="1301378">
                  <a:extLst>
                    <a:ext uri="{9D8B030D-6E8A-4147-A177-3AD203B41FA5}">
                      <a16:colId xmlns:a16="http://schemas.microsoft.com/office/drawing/2014/main" xmlns="" val="4281322441"/>
                    </a:ext>
                  </a:extLst>
                </a:gridCol>
                <a:gridCol w="1301378">
                  <a:extLst>
                    <a:ext uri="{9D8B030D-6E8A-4147-A177-3AD203B41FA5}">
                      <a16:colId xmlns:a16="http://schemas.microsoft.com/office/drawing/2014/main" xmlns="" val="3420147475"/>
                    </a:ext>
                  </a:extLst>
                </a:gridCol>
              </a:tblGrid>
              <a:tr h="0">
                <a:tc>
                  <a:txBody>
                    <a:bodyPr/>
                    <a:lstStyle/>
                    <a:p>
                      <a:r>
                        <a:rPr lang="zh-TW" altLang="en-US" sz="1200" b="1" dirty="0">
                          <a:solidFill>
                            <a:schemeClr val="tx1"/>
                          </a:solidFill>
                          <a:latin typeface="+mn-ea"/>
                          <a:ea typeface="+mn-ea"/>
                        </a:rPr>
                        <a:t>優先無擔保</a:t>
                      </a:r>
                      <a:endParaRPr lang="en-US" altLang="zh-TW" sz="1200" b="1" dirty="0">
                        <a:solidFill>
                          <a:schemeClr val="tx1"/>
                        </a:solidFill>
                        <a:latin typeface="+mn-ea"/>
                        <a:ea typeface="+mn-ea"/>
                      </a:endParaRPr>
                    </a:p>
                  </a:txBody>
                  <a:tcPr marL="91453" marR="91453" marT="45743" marB="45743" anchor="ctr" anchorCtr="1">
                    <a:noFill/>
                  </a:tcPr>
                </a:tc>
                <a:tc>
                  <a:txBody>
                    <a:bodyPr/>
                    <a:lstStyle/>
                    <a:p>
                      <a:pPr algn="ctr" fontAlgn="ctr"/>
                      <a:r>
                        <a:rPr lang="en-US" sz="1200" b="1" i="0" u="none" strike="noStrike" dirty="0">
                          <a:solidFill>
                            <a:schemeClr val="tx1"/>
                          </a:solidFill>
                          <a:effectLst/>
                          <a:latin typeface="微軟正黑體" panose="020B0604030504040204" pitchFamily="34" charset="-120"/>
                          <a:ea typeface="微軟正黑體" panose="020B0604030504040204" pitchFamily="34" charset="-120"/>
                        </a:rPr>
                        <a:t>Baa1</a:t>
                      </a:r>
                    </a:p>
                  </a:txBody>
                  <a:tcPr marL="9525" marR="9525" marT="9525" marB="0" anchor="ctr">
                    <a:noFill/>
                  </a:tcPr>
                </a:tc>
                <a:tc>
                  <a:txBody>
                    <a:bodyPr/>
                    <a:lstStyle/>
                    <a:p>
                      <a:pPr algn="ctr" fontAlgn="ctr"/>
                      <a:r>
                        <a:rPr lang="en-US" sz="1200" b="1" i="0" u="none" strike="noStrike" dirty="0">
                          <a:solidFill>
                            <a:schemeClr val="tx1"/>
                          </a:solidFill>
                          <a:effectLst/>
                          <a:latin typeface="微軟正黑體" panose="020B0604030504040204" pitchFamily="34" charset="-120"/>
                          <a:ea typeface="微軟正黑體" panose="020B0604030504040204" pitchFamily="34" charset="-120"/>
                        </a:rPr>
                        <a:t>BBB</a:t>
                      </a:r>
                    </a:p>
                  </a:txBody>
                  <a:tcPr marL="9525" marR="9525" marT="9525" marB="0" anchor="ctr">
                    <a:noFill/>
                  </a:tcPr>
                </a:tc>
                <a:tc>
                  <a:txBody>
                    <a:bodyPr/>
                    <a:lstStyle/>
                    <a:p>
                      <a:pPr algn="ctr" fontAlgn="ctr"/>
                      <a:r>
                        <a:rPr lang="en-US" sz="1200" b="1" i="0" u="none" strike="noStrike" dirty="0">
                          <a:solidFill>
                            <a:schemeClr val="tx1"/>
                          </a:solidFill>
                          <a:effectLst/>
                          <a:latin typeface="微軟正黑體" panose="020B0604030504040204" pitchFamily="34" charset="-120"/>
                          <a:ea typeface="微軟正黑體" panose="020B0604030504040204" pitchFamily="34" charset="-120"/>
                        </a:rPr>
                        <a:t>BBB+</a:t>
                      </a:r>
                    </a:p>
                  </a:txBody>
                  <a:tcPr marL="9525" marR="9525" marT="9525" marB="0" anchor="ctr">
                    <a:noFill/>
                  </a:tcPr>
                </a:tc>
                <a:extLst>
                  <a:ext uri="{0D108BD9-81ED-4DB2-BD59-A6C34878D82A}">
                    <a16:rowId xmlns:a16="http://schemas.microsoft.com/office/drawing/2014/main" xmlns="" val="10001"/>
                  </a:ext>
                </a:extLst>
              </a:tr>
              <a:tr h="0">
                <a:tc>
                  <a:txBody>
                    <a:bodyPr/>
                    <a:lstStyle/>
                    <a:p>
                      <a:pPr algn="ctr">
                        <a:lnSpc>
                          <a:spcPts val="1200"/>
                        </a:lnSpc>
                      </a:pPr>
                      <a:r>
                        <a:rPr lang="zh-TW" altLang="en-US" sz="1200" b="1" dirty="0">
                          <a:solidFill>
                            <a:schemeClr val="tx1"/>
                          </a:solidFill>
                          <a:latin typeface="+mn-ea"/>
                          <a:ea typeface="+mn-ea"/>
                        </a:rPr>
                        <a:t>評等展望</a:t>
                      </a:r>
                    </a:p>
                  </a:txBody>
                  <a:tcPr anchor="ctr">
                    <a:noFill/>
                  </a:tcPr>
                </a:tc>
                <a:tc>
                  <a:txBody>
                    <a:bodyPr/>
                    <a:lstStyle/>
                    <a:p>
                      <a:pPr algn="ctr" fontAlgn="ctr"/>
                      <a:r>
                        <a:rPr lang="zh-TW" altLang="en-US" sz="1200" b="1" i="0" u="none" strike="noStrike" dirty="0">
                          <a:solidFill>
                            <a:schemeClr val="tx1"/>
                          </a:solidFill>
                          <a:effectLst/>
                          <a:latin typeface="微軟正黑體" panose="020B0604030504040204" pitchFamily="34" charset="-120"/>
                          <a:ea typeface="微軟正黑體" panose="020B0604030504040204" pitchFamily="34" charset="-120"/>
                        </a:rPr>
                        <a:t>穩定</a:t>
                      </a:r>
                    </a:p>
                  </a:txBody>
                  <a:tcPr marL="9525" marR="9525" marT="9525" marB="0" anchor="ctr">
                    <a:noFill/>
                  </a:tcPr>
                </a:tc>
                <a:tc>
                  <a:txBody>
                    <a:bodyPr/>
                    <a:lstStyle/>
                    <a:p>
                      <a:pPr algn="ctr" fontAlgn="ctr"/>
                      <a:r>
                        <a:rPr lang="zh-TW" altLang="en-US" sz="1200" b="1" i="0" u="none" strike="noStrike" dirty="0">
                          <a:solidFill>
                            <a:schemeClr val="tx1"/>
                          </a:solidFill>
                          <a:effectLst/>
                          <a:latin typeface="微軟正黑體" panose="020B0604030504040204" pitchFamily="34" charset="-120"/>
                          <a:ea typeface="微軟正黑體" panose="020B0604030504040204" pitchFamily="34" charset="-120"/>
                        </a:rPr>
                        <a:t>穩定</a:t>
                      </a:r>
                    </a:p>
                  </a:txBody>
                  <a:tcPr marL="9525" marR="9525" marT="9525" marB="0" anchor="ctr">
                    <a:noFill/>
                  </a:tcPr>
                </a:tc>
                <a:tc>
                  <a:txBody>
                    <a:bodyPr/>
                    <a:lstStyle/>
                    <a:p>
                      <a:pPr algn="ctr" fontAlgn="ctr"/>
                      <a:r>
                        <a:rPr lang="zh-TW" altLang="en-US" sz="1200" b="1" i="0" u="none" strike="noStrike" dirty="0">
                          <a:solidFill>
                            <a:schemeClr val="tx1"/>
                          </a:solidFill>
                          <a:effectLst/>
                          <a:latin typeface="微軟正黑體" panose="020B0604030504040204" pitchFamily="34" charset="-120"/>
                          <a:ea typeface="微軟正黑體" panose="020B0604030504040204" pitchFamily="34" charset="-120"/>
                        </a:rPr>
                        <a:t>穩定</a:t>
                      </a:r>
                    </a:p>
                  </a:txBody>
                  <a:tcPr marL="9525" marR="9525" marT="9525" marB="0" anchor="ctr">
                    <a:noFill/>
                  </a:tcPr>
                </a:tc>
                <a:extLst>
                  <a:ext uri="{0D108BD9-81ED-4DB2-BD59-A6C34878D82A}">
                    <a16:rowId xmlns:a16="http://schemas.microsoft.com/office/drawing/2014/main" xmlns="" val="196673928"/>
                  </a:ext>
                </a:extLst>
              </a:tr>
              <a:tr h="0">
                <a:tc>
                  <a:txBody>
                    <a:bodyPr/>
                    <a:lstStyle/>
                    <a:p>
                      <a:pPr algn="ctr">
                        <a:lnSpc>
                          <a:spcPts val="1200"/>
                        </a:lnSpc>
                      </a:pPr>
                      <a:r>
                        <a:rPr lang="zh-TW" altLang="en-US" sz="1200" b="1" dirty="0">
                          <a:solidFill>
                            <a:schemeClr val="tx1"/>
                          </a:solidFill>
                          <a:latin typeface="+mn-ea"/>
                          <a:ea typeface="+mn-ea"/>
                        </a:rPr>
                        <a:t>展望發佈日</a:t>
                      </a:r>
                    </a:p>
                  </a:txBody>
                  <a:tcPr anchor="ctr">
                    <a:noFill/>
                  </a:tcPr>
                </a:tc>
                <a:tc>
                  <a:txBody>
                    <a:bodyPr/>
                    <a:lstStyle/>
                    <a:p>
                      <a:pPr algn="ctr" fontAlgn="ctr"/>
                      <a:r>
                        <a:rPr lang="en-US" altLang="zh-TW" sz="1200" b="1" i="0" u="none" strike="noStrike" dirty="0">
                          <a:solidFill>
                            <a:schemeClr val="tx1"/>
                          </a:solidFill>
                          <a:effectLst/>
                          <a:latin typeface="微軟正黑體" panose="020B0604030504040204" pitchFamily="34" charset="-120"/>
                          <a:ea typeface="微軟正黑體" panose="020B0604030504040204" pitchFamily="34" charset="-120"/>
                        </a:rPr>
                        <a:t>2023/6/1</a:t>
                      </a:r>
                    </a:p>
                  </a:txBody>
                  <a:tcPr marL="9525" marR="9525" marT="9525" marB="0" anchor="ctr">
                    <a:noFill/>
                  </a:tcPr>
                </a:tc>
                <a:tc>
                  <a:txBody>
                    <a:bodyPr/>
                    <a:lstStyle/>
                    <a:p>
                      <a:pPr algn="ctr" fontAlgn="ctr"/>
                      <a:r>
                        <a:rPr lang="en-US" altLang="zh-TW" sz="1200" b="1" i="0" u="none" strike="noStrike" dirty="0">
                          <a:solidFill>
                            <a:schemeClr val="tx1"/>
                          </a:solidFill>
                          <a:effectLst/>
                          <a:latin typeface="微軟正黑體" panose="020B0604030504040204" pitchFamily="34" charset="-120"/>
                          <a:ea typeface="微軟正黑體" panose="020B0604030504040204" pitchFamily="34" charset="-120"/>
                        </a:rPr>
                        <a:t>2022/12/14</a:t>
                      </a:r>
                    </a:p>
                  </a:txBody>
                  <a:tcPr marL="9525" marR="9525" marT="9525" marB="0" anchor="ctr">
                    <a:noFill/>
                  </a:tcPr>
                </a:tc>
                <a:tc>
                  <a:txBody>
                    <a:bodyPr/>
                    <a:lstStyle/>
                    <a:p>
                      <a:pPr algn="ctr" fontAlgn="ctr"/>
                      <a:r>
                        <a:rPr lang="en-US" altLang="zh-TW" sz="1200" b="1" i="0" u="none" strike="noStrike" dirty="0">
                          <a:solidFill>
                            <a:schemeClr val="tx1"/>
                          </a:solidFill>
                          <a:effectLst/>
                          <a:latin typeface="微軟正黑體" panose="020B0604030504040204" pitchFamily="34" charset="-120"/>
                          <a:ea typeface="微軟正黑體" panose="020B0604030504040204" pitchFamily="34" charset="-120"/>
                        </a:rPr>
                        <a:t>2023/4/3</a:t>
                      </a:r>
                    </a:p>
                  </a:txBody>
                  <a:tcPr marL="9525" marR="9525" marT="9525" marB="0" anchor="ctr">
                    <a:noFill/>
                  </a:tcPr>
                </a:tc>
                <a:extLst>
                  <a:ext uri="{0D108BD9-81ED-4DB2-BD59-A6C34878D82A}">
                    <a16:rowId xmlns:a16="http://schemas.microsoft.com/office/drawing/2014/main" xmlns="" val="224355770"/>
                  </a:ext>
                </a:extLst>
              </a:tr>
              <a:tr h="739418">
                <a:tc gridSpan="4">
                  <a:txBody>
                    <a:bodyPr/>
                    <a:lstStyle/>
                    <a:p>
                      <a:pPr algn="just">
                        <a:lnSpc>
                          <a:spcPts val="1300"/>
                        </a:lnSpc>
                        <a:spcBef>
                          <a:spcPts val="300"/>
                        </a:spcBef>
                        <a:spcAft>
                          <a:spcPts val="300"/>
                        </a:spcAft>
                      </a:pPr>
                      <a:r>
                        <a:rPr lang="zh-TW" altLang="en-US" sz="1100" b="1" dirty="0">
                          <a:solidFill>
                            <a:schemeClr val="tx1"/>
                          </a:solidFill>
                          <a:latin typeface="微軟正黑體" panose="020B0604030504040204" pitchFamily="34" charset="-120"/>
                          <a:ea typeface="微軟正黑體" panose="020B0604030504040204" pitchFamily="34" charset="-120"/>
                        </a:rPr>
                        <a:t>穆迪觀點</a:t>
                      </a:r>
                      <a:endParaRPr lang="en-US" altLang="zh-TW" sz="1100" b="1" dirty="0">
                        <a:solidFill>
                          <a:schemeClr val="tx1"/>
                        </a:solidFill>
                        <a:latin typeface="微軟正黑體" panose="020B0604030504040204" pitchFamily="34" charset="-120"/>
                        <a:ea typeface="微軟正黑體" panose="020B0604030504040204" pitchFamily="34" charset="-120"/>
                      </a:endParaRPr>
                    </a:p>
                    <a:p>
                      <a:pPr algn="just">
                        <a:lnSpc>
                          <a:spcPts val="1300"/>
                        </a:lnSpc>
                        <a:spcBef>
                          <a:spcPts val="0"/>
                        </a:spcBef>
                        <a:spcAft>
                          <a:spcPts val="300"/>
                        </a:spcAft>
                      </a:pPr>
                      <a:r>
                        <a:rPr lang="zh-TW" altLang="en-US" sz="1100" b="1" dirty="0">
                          <a:solidFill>
                            <a:srgbClr val="FF0000"/>
                          </a:solidFill>
                          <a:latin typeface="微軟正黑體" panose="020B0604030504040204" pitchFamily="34" charset="-120"/>
                          <a:ea typeface="微軟正黑體" panose="020B0604030504040204" pitchFamily="34" charset="-120"/>
                        </a:rPr>
                        <a:t>穆迪於</a:t>
                      </a:r>
                      <a:r>
                        <a:rPr lang="en-US" altLang="zh-TW" sz="1100" b="1" dirty="0">
                          <a:solidFill>
                            <a:srgbClr val="FF0000"/>
                          </a:solidFill>
                          <a:latin typeface="微軟正黑體" panose="020B0604030504040204" pitchFamily="34" charset="-120"/>
                          <a:ea typeface="微軟正黑體" panose="020B0604030504040204" pitchFamily="34" charset="-120"/>
                        </a:rPr>
                        <a:t>2023/6/1</a:t>
                      </a:r>
                      <a:r>
                        <a:rPr lang="zh-TW" altLang="en-US" sz="1100" b="1" dirty="0">
                          <a:solidFill>
                            <a:srgbClr val="FF0000"/>
                          </a:solidFill>
                          <a:latin typeface="微軟正黑體" panose="020B0604030504040204" pitchFamily="34" charset="-120"/>
                          <a:ea typeface="微軟正黑體" panose="020B0604030504040204" pitchFamily="34" charset="-120"/>
                        </a:rPr>
                        <a:t>將法國電力公司的基礎信用評估</a:t>
                      </a:r>
                      <a:r>
                        <a:rPr lang="en-US" altLang="zh-TW" sz="1100" b="1" dirty="0">
                          <a:solidFill>
                            <a:srgbClr val="FF0000"/>
                          </a:solidFill>
                          <a:latin typeface="微軟正黑體" panose="020B0604030504040204" pitchFamily="34" charset="-120"/>
                          <a:ea typeface="微軟正黑體" panose="020B0604030504040204" pitchFamily="34" charset="-120"/>
                        </a:rPr>
                        <a:t>(BCA)</a:t>
                      </a:r>
                      <a:r>
                        <a:rPr lang="zh-TW" altLang="en-US" sz="1100" b="1" dirty="0">
                          <a:solidFill>
                            <a:srgbClr val="FF0000"/>
                          </a:solidFill>
                          <a:latin typeface="微軟正黑體" panose="020B0604030504040204" pitchFamily="34" charset="-120"/>
                          <a:ea typeface="微軟正黑體" panose="020B0604030504040204" pitchFamily="34" charset="-120"/>
                        </a:rPr>
                        <a:t>由</a:t>
                      </a:r>
                      <a:r>
                        <a:rPr lang="en-US" altLang="zh-TW" sz="1100" b="1" dirty="0">
                          <a:solidFill>
                            <a:srgbClr val="FF0000"/>
                          </a:solidFill>
                          <a:latin typeface="微軟正黑體" panose="020B0604030504040204" pitchFamily="34" charset="-120"/>
                          <a:ea typeface="微軟正黑體" panose="020B0604030504040204" pitchFamily="34" charset="-120"/>
                        </a:rPr>
                        <a:t>baa3</a:t>
                      </a:r>
                      <a:r>
                        <a:rPr lang="zh-TW" altLang="en-US" sz="1100" b="1" dirty="0">
                          <a:solidFill>
                            <a:srgbClr val="FF0000"/>
                          </a:solidFill>
                          <a:latin typeface="微軟正黑體" panose="020B0604030504040204" pitchFamily="34" charset="-120"/>
                          <a:ea typeface="微軟正黑體" panose="020B0604030504040204" pitchFamily="34" charset="-120"/>
                        </a:rPr>
                        <a:t>下調至</a:t>
                      </a:r>
                      <a:r>
                        <a:rPr lang="en-US" altLang="zh-TW" sz="1100" b="1" dirty="0">
                          <a:solidFill>
                            <a:srgbClr val="FF0000"/>
                          </a:solidFill>
                          <a:latin typeface="微軟正黑體" panose="020B0604030504040204" pitchFamily="34" charset="-120"/>
                          <a:ea typeface="微軟正黑體" panose="020B0604030504040204" pitchFamily="34" charset="-120"/>
                        </a:rPr>
                        <a:t>ba1</a:t>
                      </a:r>
                      <a:r>
                        <a:rPr lang="zh-TW" altLang="en-US" sz="1100" b="1" dirty="0">
                          <a:solidFill>
                            <a:srgbClr val="FF0000"/>
                          </a:solidFill>
                          <a:latin typeface="微軟正黑體" panose="020B0604030504040204" pitchFamily="34" charset="-120"/>
                          <a:ea typeface="微軟正黑體" panose="020B0604030504040204" pitchFamily="34" charset="-120"/>
                        </a:rPr>
                        <a:t>，但重申發行人和優先無擔保評等為</a:t>
                      </a:r>
                      <a:r>
                        <a:rPr lang="en-US" altLang="zh-TW" sz="1100" b="1" dirty="0">
                          <a:solidFill>
                            <a:srgbClr val="FF0000"/>
                          </a:solidFill>
                          <a:latin typeface="微軟正黑體" panose="020B0604030504040204" pitchFamily="34" charset="-120"/>
                          <a:ea typeface="微軟正黑體" panose="020B0604030504040204" pitchFamily="34" charset="-120"/>
                        </a:rPr>
                        <a:t>Baa1</a:t>
                      </a:r>
                      <a:r>
                        <a:rPr lang="zh-TW" altLang="en-US" sz="1100" b="1" dirty="0">
                          <a:solidFill>
                            <a:srgbClr val="FF0000"/>
                          </a:solidFill>
                          <a:latin typeface="微軟正黑體" panose="020B0604030504040204" pitchFamily="34" charset="-120"/>
                          <a:ea typeface="微軟正黑體" panose="020B0604030504040204" pitchFamily="34" charset="-120"/>
                        </a:rPr>
                        <a:t>；展望穩定。</a:t>
                      </a:r>
                    </a:p>
                    <a:p>
                      <a:pPr algn="just">
                        <a:lnSpc>
                          <a:spcPts val="1300"/>
                        </a:lnSpc>
                        <a:spcBef>
                          <a:spcPts val="0"/>
                        </a:spcBef>
                        <a:spcAft>
                          <a:spcPts val="300"/>
                        </a:spcAft>
                      </a:pPr>
                      <a:r>
                        <a:rPr lang="en-US" altLang="zh-TW" sz="1100" b="0" dirty="0">
                          <a:solidFill>
                            <a:schemeClr val="tx1"/>
                          </a:solidFill>
                          <a:latin typeface="微軟正黑體" panose="020B0604030504040204" pitchFamily="34" charset="-120"/>
                          <a:ea typeface="微軟正黑體" panose="020B0604030504040204" pitchFamily="34" charset="-120"/>
                        </a:rPr>
                        <a:t>BCA</a:t>
                      </a:r>
                      <a:r>
                        <a:rPr lang="zh-TW" altLang="en-US" sz="1100" b="0" dirty="0">
                          <a:solidFill>
                            <a:schemeClr val="tx1"/>
                          </a:solidFill>
                          <a:latin typeface="微軟正黑體" panose="020B0604030504040204" pitchFamily="34" charset="-120"/>
                          <a:ea typeface="微軟正黑體" panose="020B0604030504040204" pitchFamily="34" charset="-120"/>
                        </a:rPr>
                        <a:t>下調反映出：</a:t>
                      </a:r>
                      <a:r>
                        <a:rPr lang="en-US" altLang="zh-TW" sz="1100" b="0" dirty="0">
                          <a:solidFill>
                            <a:schemeClr val="tx1"/>
                          </a:solidFill>
                          <a:latin typeface="微軟正黑體" panose="020B0604030504040204" pitchFamily="34" charset="-120"/>
                          <a:ea typeface="微軟正黑體" panose="020B0604030504040204" pitchFamily="34" charset="-120"/>
                        </a:rPr>
                        <a:t>1)</a:t>
                      </a:r>
                      <a:r>
                        <a:rPr lang="zh-TW" altLang="en-US" sz="1100" b="0" dirty="0">
                          <a:solidFill>
                            <a:schemeClr val="tx1"/>
                          </a:solidFill>
                          <a:latin typeface="微軟正黑體" panose="020B0604030504040204" pitchFamily="34" charset="-120"/>
                          <a:ea typeface="微軟正黑體" panose="020B0604030504040204" pitchFamily="34" charset="-120"/>
                        </a:rPr>
                        <a:t>在恢復供電方面進展緩慢；</a:t>
                      </a:r>
                      <a:r>
                        <a:rPr lang="en-US" altLang="zh-TW" sz="1100" b="0" dirty="0">
                          <a:solidFill>
                            <a:schemeClr val="tx1"/>
                          </a:solidFill>
                          <a:latin typeface="微軟正黑體" panose="020B0604030504040204" pitchFamily="34" charset="-120"/>
                          <a:ea typeface="微軟正黑體" panose="020B0604030504040204" pitchFamily="34" charset="-120"/>
                        </a:rPr>
                        <a:t>2)</a:t>
                      </a:r>
                      <a:r>
                        <a:rPr lang="zh-TW" altLang="en-US" sz="1100" b="0" dirty="0">
                          <a:solidFill>
                            <a:schemeClr val="tx1"/>
                          </a:solidFill>
                          <a:latin typeface="微軟正黑體" panose="020B0604030504040204" pitchFamily="34" charset="-120"/>
                          <a:ea typeface="微軟正黑體" panose="020B0604030504040204" pitchFamily="34" charset="-120"/>
                        </a:rPr>
                        <a:t>批發電價居高且波動較大，以及集團債務負擔沉重的背景下，獲利和財務指標對潛在發電不足的高度敏感性；</a:t>
                      </a:r>
                      <a:r>
                        <a:rPr lang="en-US" altLang="zh-TW" sz="1100" b="0" dirty="0">
                          <a:solidFill>
                            <a:schemeClr val="tx1"/>
                          </a:solidFill>
                          <a:latin typeface="微軟正黑體" panose="020B0604030504040204" pitchFamily="34" charset="-120"/>
                          <a:ea typeface="微軟正黑體" panose="020B0604030504040204" pitchFamily="34" charset="-120"/>
                        </a:rPr>
                        <a:t>3)</a:t>
                      </a:r>
                      <a:r>
                        <a:rPr lang="zh-TW" altLang="en-US" sz="1100" b="0" dirty="0">
                          <a:solidFill>
                            <a:schemeClr val="tx1"/>
                          </a:solidFill>
                          <a:latin typeface="微軟正黑體" panose="020B0604030504040204" pitchFamily="34" charset="-120"/>
                          <a:ea typeface="微軟正黑體" panose="020B0604030504040204" pitchFamily="34" charset="-120"/>
                        </a:rPr>
                        <a:t>支持信用品質的新監管進展停滯；</a:t>
                      </a:r>
                      <a:r>
                        <a:rPr lang="en-US" altLang="zh-TW" sz="1100" b="0" dirty="0">
                          <a:solidFill>
                            <a:schemeClr val="tx1"/>
                          </a:solidFill>
                          <a:latin typeface="微軟正黑體" panose="020B0604030504040204" pitchFamily="34" charset="-120"/>
                          <a:ea typeface="微軟正黑體" panose="020B0604030504040204" pitchFamily="34" charset="-120"/>
                        </a:rPr>
                        <a:t>4)</a:t>
                      </a:r>
                      <a:r>
                        <a:rPr lang="zh-TW" altLang="en-US" sz="1100" b="0" dirty="0">
                          <a:solidFill>
                            <a:schemeClr val="tx1"/>
                          </a:solidFill>
                          <a:latin typeface="微軟正黑體" panose="020B0604030504040204" pitchFamily="34" charset="-120"/>
                          <a:ea typeface="微軟正黑體" panose="020B0604030504040204" pitchFamily="34" charset="-120"/>
                        </a:rPr>
                        <a:t>曝險於新核能計畫。</a:t>
                      </a:r>
                    </a:p>
                    <a:p>
                      <a:pPr algn="just">
                        <a:lnSpc>
                          <a:spcPts val="1300"/>
                        </a:lnSpc>
                        <a:spcBef>
                          <a:spcPts val="0"/>
                        </a:spcBef>
                        <a:spcAft>
                          <a:spcPts val="300"/>
                        </a:spcAft>
                      </a:pPr>
                      <a:r>
                        <a:rPr lang="zh-TW" altLang="en-US" sz="1100" b="0" dirty="0">
                          <a:solidFill>
                            <a:schemeClr val="tx1"/>
                          </a:solidFill>
                          <a:latin typeface="微軟正黑體" panose="020B0604030504040204" pitchFamily="34" charset="-120"/>
                          <a:ea typeface="微軟正黑體" panose="020B0604030504040204" pitchFamily="34" charset="-120"/>
                        </a:rPr>
                        <a:t>在國有化後</a:t>
                      </a:r>
                      <a:r>
                        <a:rPr lang="en-US" altLang="zh-TW" sz="1100" b="0" dirty="0">
                          <a:solidFill>
                            <a:schemeClr val="tx1"/>
                          </a:solidFill>
                          <a:latin typeface="微軟正黑體" panose="020B0604030504040204" pitchFamily="34" charset="-120"/>
                          <a:ea typeface="微軟正黑體" panose="020B0604030504040204" pitchFamily="34" charset="-120"/>
                        </a:rPr>
                        <a:t>EDF</a:t>
                      </a:r>
                      <a:r>
                        <a:rPr lang="zh-TW" altLang="en-US" sz="1100" b="0" dirty="0">
                          <a:solidFill>
                            <a:schemeClr val="tx1"/>
                          </a:solidFill>
                          <a:latin typeface="微軟正黑體" panose="020B0604030504040204" pitchFamily="34" charset="-120"/>
                          <a:ea typeface="微軟正黑體" panose="020B0604030504040204" pitchFamily="34" charset="-120"/>
                        </a:rPr>
                        <a:t>較弱的基礎信用評估被唯一股東，即法國政府</a:t>
                      </a:r>
                      <a:r>
                        <a:rPr lang="en-US" altLang="zh-TW" sz="1100" b="0" dirty="0">
                          <a:solidFill>
                            <a:schemeClr val="tx1"/>
                          </a:solidFill>
                          <a:latin typeface="微軟正黑體" panose="020B0604030504040204" pitchFamily="34" charset="-120"/>
                          <a:ea typeface="微軟正黑體" panose="020B0604030504040204" pitchFamily="34" charset="-120"/>
                        </a:rPr>
                        <a:t>(Aa2</a:t>
                      </a:r>
                      <a:r>
                        <a:rPr lang="zh-TW" altLang="en-US" sz="1100" b="0" dirty="0">
                          <a:solidFill>
                            <a:schemeClr val="tx1"/>
                          </a:solidFill>
                          <a:latin typeface="微軟正黑體" panose="020B0604030504040204" pitchFamily="34" charset="-120"/>
                          <a:ea typeface="微軟正黑體" panose="020B0604030504040204" pitchFamily="34" charset="-120"/>
                        </a:rPr>
                        <a:t>穩定</a:t>
                      </a:r>
                      <a:r>
                        <a:rPr lang="en-US" altLang="zh-TW" sz="1100" b="0" dirty="0">
                          <a:solidFill>
                            <a:schemeClr val="tx1"/>
                          </a:solidFill>
                          <a:latin typeface="微軟正黑體" panose="020B0604030504040204" pitchFamily="34" charset="-120"/>
                          <a:ea typeface="微軟正黑體" panose="020B0604030504040204" pitchFamily="34" charset="-120"/>
                        </a:rPr>
                        <a:t>)</a:t>
                      </a:r>
                      <a:r>
                        <a:rPr lang="zh-TW" altLang="en-US" sz="1100" b="0" dirty="0">
                          <a:solidFill>
                            <a:schemeClr val="tx1"/>
                          </a:solidFill>
                          <a:latin typeface="微軟正黑體" panose="020B0604030504040204" pitchFamily="34" charset="-120"/>
                          <a:ea typeface="微軟正黑體" panose="020B0604030504040204" pitchFamily="34" charset="-120"/>
                        </a:rPr>
                        <a:t>的支持所抵銷。</a:t>
                      </a:r>
                      <a:r>
                        <a:rPr lang="zh-TW" altLang="en-US" sz="1100" b="1" dirty="0">
                          <a:solidFill>
                            <a:srgbClr val="FF0000"/>
                          </a:solidFill>
                          <a:latin typeface="微軟正黑體" panose="020B0604030504040204" pitchFamily="34" charset="-120"/>
                          <a:ea typeface="微軟正黑體" panose="020B0604030504040204" pitchFamily="34" charset="-120"/>
                        </a:rPr>
                        <a:t>發行人和優先無擔保評等由</a:t>
                      </a:r>
                      <a:r>
                        <a:rPr lang="en-US" altLang="zh-TW" sz="1100" b="1" dirty="0">
                          <a:solidFill>
                            <a:srgbClr val="FF0000"/>
                          </a:solidFill>
                          <a:latin typeface="微軟正黑體" panose="020B0604030504040204" pitchFamily="34" charset="-120"/>
                          <a:ea typeface="微軟正黑體" panose="020B0604030504040204" pitchFamily="34" charset="-120"/>
                        </a:rPr>
                        <a:t>BCA</a:t>
                      </a:r>
                      <a:r>
                        <a:rPr lang="zh-TW" altLang="en-US" sz="1100" b="1" dirty="0">
                          <a:solidFill>
                            <a:srgbClr val="FF0000"/>
                          </a:solidFill>
                          <a:latin typeface="微軟正黑體" panose="020B0604030504040204" pitchFamily="34" charset="-120"/>
                          <a:ea typeface="微軟正黑體" panose="020B0604030504040204" pitchFamily="34" charset="-120"/>
                        </a:rPr>
                        <a:t>的</a:t>
                      </a:r>
                      <a:r>
                        <a:rPr lang="en-US" altLang="zh-TW" sz="1100" b="1" dirty="0">
                          <a:solidFill>
                            <a:srgbClr val="FF0000"/>
                          </a:solidFill>
                          <a:latin typeface="微軟正黑體" panose="020B0604030504040204" pitchFamily="34" charset="-120"/>
                          <a:ea typeface="微軟正黑體" panose="020B0604030504040204" pitchFamily="34" charset="-120"/>
                        </a:rPr>
                        <a:t>ba1</a:t>
                      </a:r>
                      <a:r>
                        <a:rPr lang="zh-TW" altLang="en-US" sz="1100" b="1" dirty="0">
                          <a:solidFill>
                            <a:srgbClr val="FF0000"/>
                          </a:solidFill>
                          <a:latin typeface="微軟正黑體" panose="020B0604030504040204" pitchFamily="34" charset="-120"/>
                          <a:ea typeface="微軟正黑體" panose="020B0604030504040204" pitchFamily="34" charset="-120"/>
                        </a:rPr>
                        <a:t>調升</a:t>
                      </a:r>
                      <a:r>
                        <a:rPr lang="en-US" altLang="zh-TW" sz="1100" b="1" dirty="0">
                          <a:solidFill>
                            <a:srgbClr val="FF0000"/>
                          </a:solidFill>
                          <a:latin typeface="微軟正黑體" panose="020B0604030504040204" pitchFamily="34" charset="-120"/>
                          <a:ea typeface="微軟正黑體" panose="020B0604030504040204" pitchFamily="34" charset="-120"/>
                        </a:rPr>
                        <a:t>3</a:t>
                      </a:r>
                      <a:r>
                        <a:rPr lang="zh-TW" altLang="en-US" sz="1100" b="1" dirty="0">
                          <a:solidFill>
                            <a:srgbClr val="FF0000"/>
                          </a:solidFill>
                          <a:latin typeface="微軟正黑體" panose="020B0604030504040204" pitchFamily="34" charset="-120"/>
                          <a:ea typeface="微軟正黑體" panose="020B0604030504040204" pitchFamily="34" charset="-120"/>
                        </a:rPr>
                        <a:t>個評級，以反映法國政府信用品質。穆迪認為該公司在發生財務危機的情況下，政府支援的可能性和違約依賴程度很高。</a:t>
                      </a:r>
                      <a:endParaRPr lang="en-US" altLang="zh-TW" sz="1100" b="1" dirty="0">
                        <a:solidFill>
                          <a:srgbClr val="FF0000"/>
                        </a:solidFill>
                        <a:latin typeface="微軟正黑體" panose="020B0604030504040204" pitchFamily="34" charset="-120"/>
                        <a:ea typeface="微軟正黑體" panose="020B0604030504040204" pitchFamily="34" charset="-120"/>
                      </a:endParaRPr>
                    </a:p>
                    <a:p>
                      <a:pPr algn="just">
                        <a:lnSpc>
                          <a:spcPts val="1300"/>
                        </a:lnSpc>
                        <a:spcBef>
                          <a:spcPts val="0"/>
                        </a:spcBef>
                        <a:spcAft>
                          <a:spcPts val="300"/>
                        </a:spcAft>
                      </a:pPr>
                      <a:endParaRPr lang="en-US" altLang="zh-TW" sz="1100" b="1" dirty="0">
                        <a:solidFill>
                          <a:srgbClr val="FF0000"/>
                        </a:solidFill>
                        <a:latin typeface="微軟正黑體" panose="020B0604030504040204" pitchFamily="34" charset="-120"/>
                        <a:ea typeface="微軟正黑體" panose="020B0604030504040204" pitchFamily="34" charset="-120"/>
                      </a:endParaRPr>
                    </a:p>
                  </a:txBody>
                  <a:tcPr marL="91453" marR="91453" marT="45743" marB="45743" anchorCtr="1">
                    <a:noFill/>
                  </a:tcPr>
                </a:tc>
                <a:tc hMerge="1">
                  <a:txBody>
                    <a:bodyPr/>
                    <a:lstStyle/>
                    <a:p>
                      <a:pPr marL="0" algn="ctr" defTabSz="457200" rtl="0" eaLnBrk="1" fontAlgn="ctr" latinLnBrk="0" hangingPunct="1"/>
                      <a:endParaRPr lang="en-US" sz="1400" b="0" i="0" u="none" strike="noStrike" kern="1200" dirty="0">
                        <a:solidFill>
                          <a:schemeClr val="tx1"/>
                        </a:solidFill>
                        <a:effectLst/>
                        <a:latin typeface="微軟正黑體" panose="020B0604030504040204" pitchFamily="34" charset="-120"/>
                        <a:ea typeface="微軟正黑體" panose="020B0604030504040204" pitchFamily="34" charset="-120"/>
                        <a:cs typeface="Arial" panose="020B0604020202020204" pitchFamily="34" charset="0"/>
                      </a:endParaRPr>
                    </a:p>
                  </a:txBody>
                  <a:tcPr marL="9531" marR="9531" marT="9527" marB="0" anchor="ctr">
                    <a:noFill/>
                  </a:tcPr>
                </a:tc>
                <a:tc hMerge="1">
                  <a:txBody>
                    <a:bodyPr/>
                    <a:lstStyle/>
                    <a:p>
                      <a:pPr marL="0" marR="0" lvl="0" indent="0" algn="ctr" defTabSz="457200" rtl="0" eaLnBrk="1" fontAlgn="ctr"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dirty="0">
                        <a:ln>
                          <a:noFill/>
                        </a:ln>
                        <a:solidFill>
                          <a:schemeClr val="tx1"/>
                        </a:solidFill>
                        <a:effectLst/>
                        <a:uLnTx/>
                        <a:uFillTx/>
                        <a:latin typeface="微軟正黑體" panose="020B0604030504040204" pitchFamily="34" charset="-120"/>
                        <a:ea typeface="微軟正黑體" panose="020B0604030504040204" pitchFamily="34" charset="-120"/>
                        <a:cs typeface="Arial" panose="020B0604020202020204" pitchFamily="34" charset="0"/>
                      </a:endParaRPr>
                    </a:p>
                  </a:txBody>
                  <a:tcPr marL="9531" marR="9531" marT="9527" marB="0" anchor="ctr">
                    <a:noFill/>
                  </a:tcPr>
                </a:tc>
                <a:tc hMerge="1">
                  <a:txBody>
                    <a:bodyPr/>
                    <a:lstStyle/>
                    <a:p>
                      <a:pPr marL="0" marR="0" lvl="0" indent="0" algn="ctr" defTabSz="457200" rtl="0" eaLnBrk="1" fontAlgn="ctr"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dirty="0">
                        <a:ln>
                          <a:noFill/>
                        </a:ln>
                        <a:solidFill>
                          <a:schemeClr val="tx1"/>
                        </a:solidFill>
                        <a:effectLst/>
                        <a:uLnTx/>
                        <a:uFillTx/>
                        <a:latin typeface="微軟正黑體" panose="020B0604030504040204" pitchFamily="34" charset="-120"/>
                        <a:ea typeface="微軟正黑體" panose="020B0604030504040204" pitchFamily="34" charset="-120"/>
                        <a:cs typeface="Arial" panose="020B0604020202020204" pitchFamily="34" charset="0"/>
                      </a:endParaRPr>
                    </a:p>
                  </a:txBody>
                  <a:tcPr marL="91474" marR="91474" marT="45706" marB="45706" anchor="ctr">
                    <a:noFill/>
                  </a:tcPr>
                </a:tc>
                <a:extLst>
                  <a:ext uri="{0D108BD9-81ED-4DB2-BD59-A6C34878D82A}">
                    <a16:rowId xmlns:a16="http://schemas.microsoft.com/office/drawing/2014/main" xmlns="" val="10002"/>
                  </a:ext>
                </a:extLst>
              </a:tr>
            </a:tbl>
          </a:graphicData>
        </a:graphic>
      </p:graphicFrame>
      <p:sp>
        <p:nvSpPr>
          <p:cNvPr id="22" name="矩形 21">
            <a:extLst>
              <a:ext uri="{FF2B5EF4-FFF2-40B4-BE49-F238E27FC236}">
                <a16:creationId xmlns:a16="http://schemas.microsoft.com/office/drawing/2014/main" xmlns="" id="{7F32E6B1-8215-42F9-B58B-AB271DC16EC0}"/>
              </a:ext>
            </a:extLst>
          </p:cNvPr>
          <p:cNvSpPr/>
          <p:nvPr/>
        </p:nvSpPr>
        <p:spPr>
          <a:xfrm>
            <a:off x="229944" y="885382"/>
            <a:ext cx="4821704" cy="5567954"/>
          </a:xfrm>
          <a:prstGeom prst="rect">
            <a:avLst/>
          </a:prstGeom>
          <a:noFill/>
          <a:ln w="12700">
            <a:solidFill>
              <a:srgbClr val="E6E6E6"/>
            </a:solidFill>
            <a:prstDash val="sysDot"/>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xmlns="" id="{34E11A40-93D2-4384-90CB-26D23D3B612E}"/>
              </a:ext>
            </a:extLst>
          </p:cNvPr>
          <p:cNvGrpSpPr/>
          <p:nvPr/>
        </p:nvGrpSpPr>
        <p:grpSpPr>
          <a:xfrm>
            <a:off x="1438349" y="1021903"/>
            <a:ext cx="3500313" cy="320417"/>
            <a:chOff x="1870397" y="1034304"/>
            <a:chExt cx="4531296" cy="414793"/>
          </a:xfrm>
        </p:grpSpPr>
        <p:pic>
          <p:nvPicPr>
            <p:cNvPr id="24" name="圖片 52">
              <a:extLst>
                <a:ext uri="{FF2B5EF4-FFF2-40B4-BE49-F238E27FC236}">
                  <a16:creationId xmlns:a16="http://schemas.microsoft.com/office/drawing/2014/main" xmlns="" id="{62A0F7D4-CB4C-454E-9B51-F941A880BB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70397" y="1034304"/>
              <a:ext cx="1223963"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圖片 54">
              <a:extLst>
                <a:ext uri="{FF2B5EF4-FFF2-40B4-BE49-F238E27FC236}">
                  <a16:creationId xmlns:a16="http://schemas.microsoft.com/office/drawing/2014/main" xmlns="" id="{D39401C7-C41B-41E4-812C-5C1F3055EB6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47138"/>
            <a:stretch/>
          </p:blipFill>
          <p:spPr bwMode="auto">
            <a:xfrm>
              <a:off x="3410168" y="1052736"/>
              <a:ext cx="1223962" cy="333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圖片 56">
              <a:extLst>
                <a:ext uri="{FF2B5EF4-FFF2-40B4-BE49-F238E27FC236}">
                  <a16:creationId xmlns:a16="http://schemas.microsoft.com/office/drawing/2014/main" xmlns="" id="{BD08D917-B5FB-4983-A865-9B717D29B4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94862" y="1069163"/>
              <a:ext cx="1406831" cy="379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aphicFrame>
        <p:nvGraphicFramePr>
          <p:cNvPr id="13" name="圖表 12"/>
          <p:cNvGraphicFramePr/>
          <p:nvPr>
            <p:extLst>
              <p:ext uri="{D42A27DB-BD31-4B8C-83A1-F6EECF244321}">
                <p14:modId xmlns:p14="http://schemas.microsoft.com/office/powerpoint/2010/main" val="3360285399"/>
              </p:ext>
            </p:extLst>
          </p:nvPr>
        </p:nvGraphicFramePr>
        <p:xfrm>
          <a:off x="5253605" y="1305997"/>
          <a:ext cx="3650847" cy="2451069"/>
        </p:xfrm>
        <a:graphic>
          <a:graphicData uri="http://schemas.openxmlformats.org/drawingml/2006/chart">
            <c:chart xmlns:c="http://schemas.openxmlformats.org/drawingml/2006/chart" xmlns:r="http://schemas.openxmlformats.org/officeDocument/2006/relationships" r:id="rId6"/>
          </a:graphicData>
        </a:graphic>
      </p:graphicFrame>
      <p:sp>
        <p:nvSpPr>
          <p:cNvPr id="14" name="圓角矩形 24">
            <a:extLst>
              <a:ext uri="{FF2B5EF4-FFF2-40B4-BE49-F238E27FC236}">
                <a16:creationId xmlns:a16="http://schemas.microsoft.com/office/drawing/2014/main" xmlns="" id="{8348525E-6848-46E6-A933-630AB226731F}"/>
              </a:ext>
            </a:extLst>
          </p:cNvPr>
          <p:cNvSpPr/>
          <p:nvPr/>
        </p:nvSpPr>
        <p:spPr>
          <a:xfrm>
            <a:off x="5232044" y="908720"/>
            <a:ext cx="3672408" cy="406644"/>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200" b="1" dirty="0">
                <a:solidFill>
                  <a:schemeClr val="bg1"/>
                </a:solidFill>
                <a:latin typeface="微軟正黑體" panose="020B0604030504040204" pitchFamily="34" charset="-120"/>
                <a:ea typeface="微軟正黑體" panose="020B0604030504040204" pitchFamily="34" charset="-120"/>
              </a:rPr>
              <a:t>建設新核電站及年度虧損</a:t>
            </a:r>
            <a:endParaRPr lang="en-US" altLang="zh-TW" sz="1200" b="1" dirty="0">
              <a:solidFill>
                <a:schemeClr val="bg1"/>
              </a:solidFill>
              <a:latin typeface="微軟正黑體" panose="020B0604030504040204" pitchFamily="34" charset="-120"/>
              <a:ea typeface="微軟正黑體" panose="020B0604030504040204" pitchFamily="34" charset="-120"/>
            </a:endParaRPr>
          </a:p>
          <a:p>
            <a:pPr algn="ctr"/>
            <a:r>
              <a:rPr lang="zh-TW" altLang="en-US" sz="1200" b="1" dirty="0">
                <a:solidFill>
                  <a:schemeClr val="bg1"/>
                </a:solidFill>
                <a:latin typeface="微軟正黑體" panose="020B0604030504040204" pitchFamily="34" charset="-120"/>
                <a:ea typeface="微軟正黑體" panose="020B0604030504040204" pitchFamily="34" charset="-120"/>
              </a:rPr>
              <a:t>導致</a:t>
            </a:r>
            <a:r>
              <a:rPr lang="en-US" altLang="zh-TW" sz="1200" b="1" dirty="0">
                <a:solidFill>
                  <a:schemeClr val="bg1"/>
                </a:solidFill>
                <a:latin typeface="微軟正黑體" panose="020B0604030504040204" pitchFamily="34" charset="-120"/>
                <a:ea typeface="微軟正黑體" panose="020B0604030504040204" pitchFamily="34" charset="-120"/>
              </a:rPr>
              <a:t>2022</a:t>
            </a:r>
            <a:r>
              <a:rPr lang="zh-TW" altLang="en-US" sz="1200" b="1" dirty="0">
                <a:solidFill>
                  <a:schemeClr val="bg1"/>
                </a:solidFill>
                <a:latin typeface="微軟正黑體" panose="020B0604030504040204" pitchFamily="34" charset="-120"/>
                <a:ea typeface="微軟正黑體" panose="020B0604030504040204" pitchFamily="34" charset="-120"/>
              </a:rPr>
              <a:t>年度債務顯著攀升</a:t>
            </a:r>
          </a:p>
        </p:txBody>
      </p:sp>
      <p:sp>
        <p:nvSpPr>
          <p:cNvPr id="17" name="文字方塊 16"/>
          <p:cNvSpPr txBox="1"/>
          <p:nvPr/>
        </p:nvSpPr>
        <p:spPr>
          <a:xfrm>
            <a:off x="5198334" y="1356207"/>
            <a:ext cx="720080" cy="215444"/>
          </a:xfrm>
          <a:prstGeom prst="rect">
            <a:avLst/>
          </a:prstGeom>
          <a:noFill/>
        </p:spPr>
        <p:txBody>
          <a:bodyPr wrap="square" rtlCol="0">
            <a:spAutoFit/>
          </a:bodyPr>
          <a:lstStyle/>
          <a:p>
            <a:r>
              <a:rPr lang="en-US" altLang="zh-TW" sz="800" dirty="0"/>
              <a:t>(</a:t>
            </a:r>
            <a:r>
              <a:rPr lang="zh-TW" altLang="en-US" sz="800" dirty="0"/>
              <a:t>百萬歐元</a:t>
            </a:r>
            <a:r>
              <a:rPr lang="en-US" altLang="zh-TW" sz="800" dirty="0"/>
              <a:t>)</a:t>
            </a:r>
            <a:endParaRPr lang="zh-TW" altLang="en-US" sz="800" dirty="0"/>
          </a:p>
        </p:txBody>
      </p:sp>
      <p:sp>
        <p:nvSpPr>
          <p:cNvPr id="18" name="圓角矩形 24">
            <a:extLst>
              <a:ext uri="{FF2B5EF4-FFF2-40B4-BE49-F238E27FC236}">
                <a16:creationId xmlns:a16="http://schemas.microsoft.com/office/drawing/2014/main" xmlns="" id="{8348525E-6848-46E6-A933-630AB226731F}"/>
              </a:ext>
            </a:extLst>
          </p:cNvPr>
          <p:cNvSpPr/>
          <p:nvPr/>
        </p:nvSpPr>
        <p:spPr>
          <a:xfrm>
            <a:off x="5232044" y="3857173"/>
            <a:ext cx="3672408" cy="406644"/>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200" b="1" dirty="0">
                <a:solidFill>
                  <a:schemeClr val="bg1"/>
                </a:solidFill>
                <a:latin typeface="微軟正黑體" panose="020B0604030504040204" pitchFamily="34" charset="-120"/>
                <a:ea typeface="微軟正黑體" panose="020B0604030504040204" pitchFamily="34" charset="-120"/>
              </a:rPr>
              <a:t>當前帳上現金足以覆蓋</a:t>
            </a:r>
            <a:r>
              <a:rPr lang="en-US" altLang="zh-TW" sz="1200" b="1" dirty="0">
                <a:solidFill>
                  <a:schemeClr val="bg1"/>
                </a:solidFill>
                <a:latin typeface="微軟正黑體" panose="020B0604030504040204" pitchFamily="34" charset="-120"/>
                <a:ea typeface="微軟正黑體" panose="020B0604030504040204" pitchFamily="34" charset="-120"/>
              </a:rPr>
              <a:t>1</a:t>
            </a:r>
            <a:r>
              <a:rPr lang="zh-TW" altLang="en-US" sz="1200" b="1" dirty="0">
                <a:solidFill>
                  <a:schemeClr val="bg1"/>
                </a:solidFill>
                <a:latin typeface="微軟正黑體" panose="020B0604030504040204" pitchFamily="34" charset="-120"/>
                <a:ea typeface="微軟正黑體" panose="020B0604030504040204" pitchFamily="34" charset="-120"/>
              </a:rPr>
              <a:t>年內到期債務</a:t>
            </a:r>
          </a:p>
        </p:txBody>
      </p:sp>
      <p:pic>
        <p:nvPicPr>
          <p:cNvPr id="20" name="圖片 19"/>
          <p:cNvPicPr>
            <a:picLocks noChangeAspect="1"/>
          </p:cNvPicPr>
          <p:nvPr/>
        </p:nvPicPr>
        <p:blipFill>
          <a:blip r:embed="rId7">
            <a:clrChange>
              <a:clrFrom>
                <a:srgbClr val="FFFFFF"/>
              </a:clrFrom>
              <a:clrTo>
                <a:srgbClr val="FFFFFF">
                  <a:alpha val="0"/>
                </a:srgbClr>
              </a:clrTo>
            </a:clrChange>
          </a:blip>
          <a:stretch>
            <a:fillRect/>
          </a:stretch>
        </p:blipFill>
        <p:spPr>
          <a:xfrm>
            <a:off x="8044464" y="267537"/>
            <a:ext cx="859988" cy="433490"/>
          </a:xfrm>
          <a:prstGeom prst="rect">
            <a:avLst/>
          </a:prstGeom>
        </p:spPr>
      </p:pic>
      <p:sp>
        <p:nvSpPr>
          <p:cNvPr id="28" name="圓角矩形 24">
            <a:extLst>
              <a:ext uri="{FF2B5EF4-FFF2-40B4-BE49-F238E27FC236}">
                <a16:creationId xmlns:a16="http://schemas.microsoft.com/office/drawing/2014/main" xmlns="" id="{8348525E-6848-46E6-A933-630AB226731F}"/>
              </a:ext>
            </a:extLst>
          </p:cNvPr>
          <p:cNvSpPr/>
          <p:nvPr/>
        </p:nvSpPr>
        <p:spPr>
          <a:xfrm>
            <a:off x="328372" y="3936562"/>
            <a:ext cx="4610290" cy="406644"/>
          </a:xfrm>
          <a:prstGeom prst="roundRect">
            <a:avLst/>
          </a:prstGeom>
          <a:solidFill>
            <a:srgbClr val="F9CE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200" b="1" dirty="0">
                <a:solidFill>
                  <a:srgbClr val="002D74"/>
                </a:solidFill>
                <a:latin typeface="微軟正黑體" panose="020B0604030504040204" pitchFamily="34" charset="-120"/>
                <a:ea typeface="微軟正黑體" panose="020B0604030504040204" pitchFamily="34" charset="-120"/>
              </a:rPr>
              <a:t>展望穩定，反映穆迪預期在有利的市場條件、電價上漲及法國核電量逐步恢復下，該公司信用指標將自</a:t>
            </a:r>
            <a:r>
              <a:rPr lang="en-US" altLang="zh-TW" sz="1200" b="1" dirty="0">
                <a:solidFill>
                  <a:srgbClr val="002D74"/>
                </a:solidFill>
                <a:latin typeface="微軟正黑體" panose="020B0604030504040204" pitchFamily="34" charset="-120"/>
                <a:ea typeface="微軟正黑體" panose="020B0604030504040204" pitchFamily="34" charset="-120"/>
              </a:rPr>
              <a:t>2022</a:t>
            </a:r>
            <a:r>
              <a:rPr lang="zh-TW" altLang="en-US" sz="1200" b="1" dirty="0">
                <a:solidFill>
                  <a:srgbClr val="002D74"/>
                </a:solidFill>
                <a:latin typeface="微軟正黑體" panose="020B0604030504040204" pitchFamily="34" charset="-120"/>
                <a:ea typeface="微軟正黑體" panose="020B0604030504040204" pitchFamily="34" charset="-120"/>
              </a:rPr>
              <a:t>年的谷底顯著改善</a:t>
            </a:r>
          </a:p>
        </p:txBody>
      </p:sp>
      <p:pic>
        <p:nvPicPr>
          <p:cNvPr id="6" name="圖片 5"/>
          <p:cNvPicPr>
            <a:picLocks noChangeAspect="1"/>
          </p:cNvPicPr>
          <p:nvPr/>
        </p:nvPicPr>
        <p:blipFill>
          <a:blip r:embed="rId8"/>
          <a:stretch>
            <a:fillRect/>
          </a:stretch>
        </p:blipFill>
        <p:spPr>
          <a:xfrm>
            <a:off x="312640" y="4493686"/>
            <a:ext cx="4626022" cy="1981437"/>
          </a:xfrm>
          <a:prstGeom prst="rect">
            <a:avLst/>
          </a:prstGeom>
        </p:spPr>
      </p:pic>
      <p:pic>
        <p:nvPicPr>
          <p:cNvPr id="7" name="圖片 6"/>
          <p:cNvPicPr>
            <a:picLocks noChangeAspect="1"/>
          </p:cNvPicPr>
          <p:nvPr/>
        </p:nvPicPr>
        <p:blipFill>
          <a:blip r:embed="rId9"/>
          <a:stretch>
            <a:fillRect/>
          </a:stretch>
        </p:blipFill>
        <p:spPr>
          <a:xfrm>
            <a:off x="531699" y="4351889"/>
            <a:ext cx="3577779" cy="228263"/>
          </a:xfrm>
          <a:prstGeom prst="rect">
            <a:avLst/>
          </a:prstGeom>
        </p:spPr>
      </p:pic>
      <p:sp>
        <p:nvSpPr>
          <p:cNvPr id="8" name="矩形 7"/>
          <p:cNvSpPr/>
          <p:nvPr/>
        </p:nvSpPr>
        <p:spPr>
          <a:xfrm>
            <a:off x="522797" y="5702043"/>
            <a:ext cx="4060938" cy="425758"/>
          </a:xfrm>
          <a:prstGeom prst="rect">
            <a:avLst/>
          </a:prstGeom>
        </p:spPr>
        <p:txBody>
          <a:bodyPr wrap="square">
            <a:spAutoFit/>
          </a:bodyPr>
          <a:lstStyle/>
          <a:p>
            <a:pPr defTabSz="685800">
              <a:lnSpc>
                <a:spcPts val="1300"/>
              </a:lnSpc>
              <a:spcAft>
                <a:spcPts val="300"/>
              </a:spcAft>
            </a:pPr>
            <a:r>
              <a:rPr lang="zh-TW" altLang="en-US" sz="1100" b="1" dirty="0">
                <a:latin typeface="微軟正黑體" panose="020B0604030504040204" pitchFamily="34" charset="-120"/>
                <a:ea typeface="微軟正黑體" panose="020B0604030504040204" pitchFamily="34" charset="-120"/>
              </a:rPr>
              <a:t>穆迪預估今明兩年</a:t>
            </a:r>
            <a:r>
              <a:rPr lang="en-US" altLang="zh-TW" sz="1100" b="1" dirty="0">
                <a:latin typeface="微軟正黑體" panose="020B0604030504040204" pitchFamily="34" charset="-120"/>
                <a:ea typeface="微軟正黑體" panose="020B0604030504040204" pitchFamily="34" charset="-120"/>
              </a:rPr>
              <a:t>(2023~24)</a:t>
            </a:r>
            <a:br>
              <a:rPr lang="en-US" altLang="zh-TW" sz="1100" b="1" dirty="0">
                <a:latin typeface="微軟正黑體" panose="020B0604030504040204" pitchFamily="34" charset="-120"/>
                <a:ea typeface="微軟正黑體" panose="020B0604030504040204" pitchFamily="34" charset="-120"/>
              </a:rPr>
            </a:br>
            <a:r>
              <a:rPr lang="en-US" altLang="zh-TW" sz="1100" b="1" dirty="0">
                <a:latin typeface="微軟正黑體" panose="020B0604030504040204" pitchFamily="34" charset="-120"/>
                <a:ea typeface="微軟正黑體" panose="020B0604030504040204" pitchFamily="34" charset="-120"/>
              </a:rPr>
              <a:t>EDF</a:t>
            </a:r>
            <a:r>
              <a:rPr lang="zh-TW" altLang="en-US" sz="1100" b="1" dirty="0">
                <a:latin typeface="微軟正黑體" panose="020B0604030504040204" pitchFamily="34" charset="-120"/>
                <a:ea typeface="微軟正黑體" panose="020B0604030504040204" pitchFamily="34" charset="-120"/>
              </a:rPr>
              <a:t>的營運資金</a:t>
            </a:r>
            <a:r>
              <a:rPr lang="en-US" altLang="zh-TW" sz="1100" b="1" dirty="0">
                <a:latin typeface="微軟正黑體" panose="020B0604030504040204" pitchFamily="34" charset="-120"/>
                <a:ea typeface="微軟正黑體" panose="020B0604030504040204" pitchFamily="34" charset="-120"/>
              </a:rPr>
              <a:t>(FFO)</a:t>
            </a:r>
            <a:r>
              <a:rPr lang="zh-TW" altLang="en-US" sz="1100" b="1" dirty="0">
                <a:latin typeface="微軟正黑體" panose="020B0604030504040204" pitchFamily="34" charset="-120"/>
                <a:ea typeface="微軟正黑體" panose="020B0604030504040204" pitchFamily="34" charset="-120"/>
              </a:rPr>
              <a:t>佔淨債務將處於</a:t>
            </a:r>
            <a:r>
              <a:rPr lang="en-US" altLang="zh-TW" sz="1100" b="1" dirty="0">
                <a:latin typeface="微軟正黑體" panose="020B0604030504040204" pitchFamily="34" charset="-120"/>
                <a:ea typeface="微軟正黑體" panose="020B0604030504040204" pitchFamily="34" charset="-120"/>
              </a:rPr>
              <a:t>25%~28%</a:t>
            </a:r>
            <a:r>
              <a:rPr lang="zh-TW" altLang="en-US" sz="1100" b="1" dirty="0">
                <a:latin typeface="微軟正黑體" panose="020B0604030504040204" pitchFamily="34" charset="-120"/>
                <a:ea typeface="微軟正黑體" panose="020B0604030504040204" pitchFamily="34" charset="-120"/>
              </a:rPr>
              <a:t>之間</a:t>
            </a:r>
          </a:p>
        </p:txBody>
      </p:sp>
      <p:sp>
        <p:nvSpPr>
          <p:cNvPr id="29" name="文字方塊 28"/>
          <p:cNvSpPr txBox="1"/>
          <p:nvPr/>
        </p:nvSpPr>
        <p:spPr>
          <a:xfrm>
            <a:off x="5076469" y="4428898"/>
            <a:ext cx="720080" cy="215444"/>
          </a:xfrm>
          <a:prstGeom prst="rect">
            <a:avLst/>
          </a:prstGeom>
          <a:noFill/>
        </p:spPr>
        <p:txBody>
          <a:bodyPr wrap="square" rtlCol="0">
            <a:spAutoFit/>
          </a:bodyPr>
          <a:lstStyle/>
          <a:p>
            <a:r>
              <a:rPr lang="en-US" altLang="zh-TW" sz="800" dirty="0">
                <a:latin typeface="微軟正黑體" panose="020B0604030504040204" pitchFamily="34" charset="-120"/>
                <a:ea typeface="微軟正黑體" panose="020B0604030504040204" pitchFamily="34" charset="-120"/>
              </a:rPr>
              <a:t>(</a:t>
            </a:r>
            <a:r>
              <a:rPr lang="zh-TW" altLang="en-US" sz="800" dirty="0">
                <a:latin typeface="微軟正黑體" panose="020B0604030504040204" pitchFamily="34" charset="-120"/>
                <a:ea typeface="微軟正黑體" panose="020B0604030504040204" pitchFamily="34" charset="-120"/>
              </a:rPr>
              <a:t>百萬歐元</a:t>
            </a:r>
            <a:r>
              <a:rPr lang="en-US" altLang="zh-TW" sz="800" dirty="0">
                <a:latin typeface="微軟正黑體" panose="020B0604030504040204" pitchFamily="34" charset="-120"/>
                <a:ea typeface="微軟正黑體" panose="020B0604030504040204" pitchFamily="34" charset="-120"/>
              </a:rPr>
              <a:t>)</a:t>
            </a:r>
            <a:endParaRPr lang="zh-TW" altLang="en-US" sz="800" dirty="0">
              <a:latin typeface="微軟正黑體" panose="020B0604030504040204" pitchFamily="34" charset="-120"/>
              <a:ea typeface="微軟正黑體" panose="020B0604030504040204" pitchFamily="34" charset="-120"/>
            </a:endParaRPr>
          </a:p>
        </p:txBody>
      </p:sp>
      <p:graphicFrame>
        <p:nvGraphicFramePr>
          <p:cNvPr id="30" name="表格 29"/>
          <p:cNvGraphicFramePr>
            <a:graphicFrameLocks noGrp="1"/>
          </p:cNvGraphicFramePr>
          <p:nvPr>
            <p:extLst>
              <p:ext uri="{D42A27DB-BD31-4B8C-83A1-F6EECF244321}">
                <p14:modId xmlns:p14="http://schemas.microsoft.com/office/powerpoint/2010/main" val="1202130808"/>
              </p:ext>
            </p:extLst>
          </p:nvPr>
        </p:nvGraphicFramePr>
        <p:xfrm>
          <a:off x="7064240" y="4356890"/>
          <a:ext cx="1689717" cy="586740"/>
        </p:xfrm>
        <a:graphic>
          <a:graphicData uri="http://schemas.openxmlformats.org/drawingml/2006/table">
            <a:tbl>
              <a:tblPr/>
              <a:tblGrid>
                <a:gridCol w="1080120">
                  <a:extLst>
                    <a:ext uri="{9D8B030D-6E8A-4147-A177-3AD203B41FA5}">
                      <a16:colId xmlns:a16="http://schemas.microsoft.com/office/drawing/2014/main" xmlns="" val="3157368254"/>
                    </a:ext>
                  </a:extLst>
                </a:gridCol>
                <a:gridCol w="609597">
                  <a:extLst>
                    <a:ext uri="{9D8B030D-6E8A-4147-A177-3AD203B41FA5}">
                      <a16:colId xmlns:a16="http://schemas.microsoft.com/office/drawing/2014/main" xmlns="" val="2501494937"/>
                    </a:ext>
                  </a:extLst>
                </a:gridCol>
              </a:tblGrid>
              <a:tr h="0">
                <a:tc>
                  <a:txBody>
                    <a:bodyPr/>
                    <a:lstStyle/>
                    <a:p>
                      <a:pPr algn="l" fontAlgn="ctr"/>
                      <a:r>
                        <a:rPr lang="en-US" altLang="zh-TW" sz="9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900" b="0" i="0" u="none" strike="noStrike" dirty="0">
                          <a:solidFill>
                            <a:srgbClr val="000000"/>
                          </a:solidFill>
                          <a:effectLst/>
                          <a:latin typeface="微軟正黑體" panose="020B0604030504040204" pitchFamily="34" charset="-120"/>
                          <a:ea typeface="微軟正黑體" panose="020B0604030504040204" pitchFamily="34" charset="-120"/>
                        </a:rPr>
                        <a:t>年內到期債務金額</a:t>
                      </a: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r>
                        <a:rPr lang="en-US" altLang="zh-TW" sz="900" b="0" i="0" u="none" strike="noStrike">
                          <a:solidFill>
                            <a:srgbClr val="000000"/>
                          </a:solidFill>
                          <a:effectLst/>
                          <a:latin typeface="微軟正黑體" panose="020B0604030504040204" pitchFamily="34" charset="-120"/>
                          <a:ea typeface="微軟正黑體" panose="020B0604030504040204" pitchFamily="34" charset="-120"/>
                        </a:rPr>
                        <a:t>2,544 </a:t>
                      </a: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xmlns="" val="662632319"/>
                  </a:ext>
                </a:extLst>
              </a:tr>
              <a:tr h="0">
                <a:tc>
                  <a:txBody>
                    <a:bodyPr/>
                    <a:lstStyle/>
                    <a:p>
                      <a:pPr algn="l" fontAlgn="ctr"/>
                      <a:r>
                        <a:rPr lang="zh-TW" altLang="en-US" sz="900" b="0" i="0" u="none" strike="noStrike">
                          <a:solidFill>
                            <a:srgbClr val="000000"/>
                          </a:solidFill>
                          <a:effectLst/>
                          <a:latin typeface="微軟正黑體" panose="020B0604030504040204" pitchFamily="34" charset="-120"/>
                          <a:ea typeface="微軟正黑體" panose="020B0604030504040204" pitchFamily="34" charset="-120"/>
                        </a:rPr>
                        <a:t>債券及貸款未償額</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r>
                        <a:rPr lang="en-US" altLang="zh-TW" sz="900" b="0" i="0" u="none" strike="noStrike">
                          <a:solidFill>
                            <a:srgbClr val="000000"/>
                          </a:solidFill>
                          <a:effectLst/>
                          <a:latin typeface="微軟正黑體" panose="020B0604030504040204" pitchFamily="34" charset="-120"/>
                          <a:ea typeface="微軟正黑體" panose="020B0604030504040204" pitchFamily="34" charset="-120"/>
                        </a:rPr>
                        <a:t>82,696 </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xmlns="" val="1773401341"/>
                  </a:ext>
                </a:extLst>
              </a:tr>
              <a:tr h="0">
                <a:tc>
                  <a:txBody>
                    <a:bodyPr/>
                    <a:lstStyle/>
                    <a:p>
                      <a:pPr algn="l" fontAlgn="ctr"/>
                      <a:r>
                        <a:rPr lang="zh-TW" altLang="en-US" sz="900" b="0" i="0" u="none" strike="noStrike">
                          <a:solidFill>
                            <a:srgbClr val="000000"/>
                          </a:solidFill>
                          <a:effectLst/>
                          <a:latin typeface="微軟正黑體" panose="020B0604030504040204" pitchFamily="34" charset="-120"/>
                          <a:ea typeface="微軟正黑體" panose="020B0604030504040204" pitchFamily="34" charset="-120"/>
                        </a:rPr>
                        <a:t>債務平均票息</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r>
                        <a:rPr lang="en-US" altLang="zh-TW" sz="900" b="0" i="0" u="none" strike="noStrike">
                          <a:solidFill>
                            <a:srgbClr val="000000"/>
                          </a:solidFill>
                          <a:effectLst/>
                          <a:latin typeface="微軟正黑體" panose="020B0604030504040204" pitchFamily="34" charset="-120"/>
                          <a:ea typeface="微軟正黑體" panose="020B0604030504040204" pitchFamily="34" charset="-120"/>
                        </a:rPr>
                        <a:t>3.90</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xmlns="" val="1482397448"/>
                  </a:ext>
                </a:extLst>
              </a:tr>
              <a:tr h="0">
                <a:tc>
                  <a:txBody>
                    <a:bodyPr/>
                    <a:lstStyle/>
                    <a:p>
                      <a:pPr algn="l" fontAlgn="ctr"/>
                      <a:r>
                        <a:rPr lang="zh-TW" altLang="en-US" sz="900" b="0" i="0" u="none" strike="noStrike">
                          <a:solidFill>
                            <a:srgbClr val="000000"/>
                          </a:solidFill>
                          <a:effectLst/>
                          <a:latin typeface="微軟正黑體" panose="020B0604030504040204" pitchFamily="34" charset="-120"/>
                          <a:ea typeface="微軟正黑體" panose="020B0604030504040204" pitchFamily="34" charset="-120"/>
                        </a:rPr>
                        <a:t>平均債務到期年數</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r>
                        <a:rPr lang="en-US" altLang="zh-TW" sz="900" b="0" i="0" u="none" strike="noStrike" dirty="0">
                          <a:solidFill>
                            <a:srgbClr val="000000"/>
                          </a:solidFill>
                          <a:effectLst/>
                          <a:latin typeface="微軟正黑體" panose="020B0604030504040204" pitchFamily="34" charset="-120"/>
                          <a:ea typeface="微軟正黑體" panose="020B0604030504040204" pitchFamily="34" charset="-120"/>
                        </a:rPr>
                        <a:t>15.99</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xmlns="" val="3383255953"/>
                  </a:ext>
                </a:extLst>
              </a:tr>
            </a:tbl>
          </a:graphicData>
        </a:graphic>
      </p:graphicFrame>
      <p:sp>
        <p:nvSpPr>
          <p:cNvPr id="31" name="矩形 30"/>
          <p:cNvSpPr/>
          <p:nvPr/>
        </p:nvSpPr>
        <p:spPr>
          <a:xfrm>
            <a:off x="6922267" y="4981292"/>
            <a:ext cx="1960793" cy="230832"/>
          </a:xfrm>
          <a:prstGeom prst="rect">
            <a:avLst/>
          </a:prstGeom>
        </p:spPr>
        <p:txBody>
          <a:bodyPr wrap="none">
            <a:spAutoFit/>
          </a:bodyPr>
          <a:lstStyle/>
          <a:p>
            <a:r>
              <a:rPr lang="en-US" altLang="zh-TW" sz="900" b="1" dirty="0">
                <a:solidFill>
                  <a:srgbClr val="000000"/>
                </a:solidFill>
                <a:latin typeface="微軟正黑體" panose="020B0604030504040204" pitchFamily="34" charset="-120"/>
                <a:ea typeface="微軟正黑體" panose="020B0604030504040204" pitchFamily="34" charset="-120"/>
              </a:rPr>
              <a:t>2023/6/30</a:t>
            </a:r>
            <a:r>
              <a:rPr lang="zh-TW" altLang="en-US" sz="900" b="1" dirty="0">
                <a:solidFill>
                  <a:srgbClr val="000000"/>
                </a:solidFill>
                <a:latin typeface="微軟正黑體" panose="020B0604030504040204" pitchFamily="34" charset="-120"/>
                <a:ea typeface="微軟正黑體" panose="020B0604030504040204" pitchFamily="34" charset="-120"/>
              </a:rPr>
              <a:t>現金及約當現金 </a:t>
            </a:r>
            <a:r>
              <a:rPr lang="zh-TW" altLang="en-US" sz="900" dirty="0"/>
              <a:t> </a:t>
            </a:r>
            <a:r>
              <a:rPr lang="en-US" altLang="zh-TW" sz="900" dirty="0">
                <a:solidFill>
                  <a:srgbClr val="000000"/>
                </a:solidFill>
                <a:latin typeface="微軟正黑體" panose="020B0604030504040204" pitchFamily="34" charset="-120"/>
                <a:ea typeface="微軟正黑體" panose="020B0604030504040204" pitchFamily="34" charset="-120"/>
              </a:rPr>
              <a:t>8,074 </a:t>
            </a:r>
            <a:endParaRPr lang="zh-TW" altLang="en-US" sz="900" dirty="0"/>
          </a:p>
        </p:txBody>
      </p:sp>
      <p:graphicFrame>
        <p:nvGraphicFramePr>
          <p:cNvPr id="32" name="圖表 31">
            <a:extLst>
              <a:ext uri="{FF2B5EF4-FFF2-40B4-BE49-F238E27FC236}">
                <a16:creationId xmlns:a16="http://schemas.microsoft.com/office/drawing/2014/main" xmlns="" id="{00000000-0008-0000-0100-000009000000}"/>
              </a:ext>
            </a:extLst>
          </p:cNvPr>
          <p:cNvGraphicFramePr>
            <a:graphicFrameLocks/>
          </p:cNvGraphicFramePr>
          <p:nvPr>
            <p:extLst>
              <p:ext uri="{D42A27DB-BD31-4B8C-83A1-F6EECF244321}">
                <p14:modId xmlns:p14="http://schemas.microsoft.com/office/powerpoint/2010/main" val="1786077552"/>
              </p:ext>
            </p:extLst>
          </p:nvPr>
        </p:nvGraphicFramePr>
        <p:xfrm>
          <a:off x="5205946" y="4286244"/>
          <a:ext cx="3780241" cy="2095084"/>
        </p:xfrm>
        <a:graphic>
          <a:graphicData uri="http://schemas.openxmlformats.org/drawingml/2006/chart">
            <c:chart xmlns:c="http://schemas.openxmlformats.org/drawingml/2006/chart" xmlns:r="http://schemas.openxmlformats.org/officeDocument/2006/relationships" r:id="rId10"/>
          </a:graphicData>
        </a:graphic>
      </p:graphicFrame>
    </p:spTree>
    <p:extLst>
      <p:ext uri="{BB962C8B-B14F-4D97-AF65-F5344CB8AC3E}">
        <p14:creationId xmlns:p14="http://schemas.microsoft.com/office/powerpoint/2010/main" val="71877967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518013" y="1484785"/>
            <a:ext cx="7992888" cy="1338828"/>
          </a:xfrm>
          <a:prstGeom prst="rect">
            <a:avLst/>
          </a:prstGeom>
        </p:spPr>
        <p:txBody>
          <a:bodyPr wrap="square">
            <a:spAutoFit/>
          </a:bodyPr>
          <a:lstStyle/>
          <a:p>
            <a:pPr algn="just"/>
            <a:r>
              <a:rPr lang="zh-TW" altLang="zh-TW" sz="1350" b="1" dirty="0">
                <a:solidFill>
                  <a:srgbClr val="C92223"/>
                </a:solidFill>
                <a:latin typeface="微軟正黑體" pitchFamily="34" charset="-120"/>
                <a:ea typeface="微軟正黑體" pitchFamily="34" charset="-120"/>
              </a:rPr>
              <a:t>免責宣言說明</a:t>
            </a:r>
            <a:endParaRPr lang="en-US" altLang="zh-TW" sz="1350" b="1" dirty="0">
              <a:solidFill>
                <a:srgbClr val="C92223"/>
              </a:solidFill>
              <a:latin typeface="微軟正黑體" pitchFamily="34" charset="-120"/>
              <a:ea typeface="微軟正黑體" pitchFamily="34" charset="-120"/>
            </a:endParaRPr>
          </a:p>
          <a:p>
            <a:pPr algn="just"/>
            <a:endParaRPr lang="en-US" altLang="zh-TW" sz="1350" dirty="0">
              <a:latin typeface="微軟正黑體" pitchFamily="34" charset="-120"/>
              <a:ea typeface="微軟正黑體" pitchFamily="34" charset="-120"/>
            </a:endParaRPr>
          </a:p>
          <a:p>
            <a:pPr algn="just"/>
            <a:r>
              <a:rPr lang="zh-TW" altLang="en-US" sz="1350" dirty="0">
                <a:latin typeface="微軟正黑體" pitchFamily="34" charset="-120"/>
                <a:ea typeface="微軟正黑體" pitchFamily="34" charset="-120"/>
              </a:rPr>
              <a:t>本報告所載內容僅供參考，台新綜合證券</a:t>
            </a:r>
            <a:r>
              <a:rPr lang="en-US" altLang="zh-TW" sz="1350" dirty="0">
                <a:latin typeface="微軟正黑體" pitchFamily="34" charset="-120"/>
                <a:ea typeface="微軟正黑體" pitchFamily="34" charset="-120"/>
              </a:rPr>
              <a:t>(</a:t>
            </a:r>
            <a:r>
              <a:rPr lang="zh-TW" altLang="en-US" sz="1350" dirty="0">
                <a:latin typeface="微軟正黑體" pitchFamily="34" charset="-120"/>
                <a:ea typeface="微軟正黑體" pitchFamily="34" charset="-120"/>
              </a:rPr>
              <a:t>股</a:t>
            </a:r>
            <a:r>
              <a:rPr lang="en-US" altLang="zh-TW" sz="1350" dirty="0">
                <a:latin typeface="微軟正黑體" pitchFamily="34" charset="-120"/>
                <a:ea typeface="微軟正黑體" pitchFamily="34" charset="-120"/>
              </a:rPr>
              <a:t>)</a:t>
            </a:r>
            <a:r>
              <a:rPr lang="zh-TW" altLang="en-US" sz="1350" dirty="0">
                <a:latin typeface="微軟正黑體" pitchFamily="34" charset="-120"/>
                <a:ea typeface="微軟正黑體" pitchFamily="34" charset="-120"/>
              </a:rPr>
              <a:t>公司不保證其正確性及完整性。內容如涉及任何有價證券或金融市場商品相關記載或說明，並不構成要約、招攬、宣傳、建議或推薦買賣等任何形式之表示，任何人如參考本報告後，所進行相關投資行為或交易，應自行承擔所有損益，本公司並不負任何法律責任。此外，非經本公司同意，不得將本報告內容之一部或全部加以複製、轉載或散布。</a:t>
            </a:r>
          </a:p>
        </p:txBody>
      </p:sp>
    </p:spTree>
    <p:extLst>
      <p:ext uri="{BB962C8B-B14F-4D97-AF65-F5344CB8AC3E}">
        <p14:creationId xmlns:p14="http://schemas.microsoft.com/office/powerpoint/2010/main" val="2021454790"/>
      </p:ext>
    </p:extLst>
  </p:cSld>
  <p:clrMapOvr>
    <a:masterClrMapping/>
  </p:clrMapOvr>
</p:sld>
</file>

<file path=ppt/theme/theme1.xml><?xml version="1.0" encoding="utf-8"?>
<a:theme xmlns:a="http://schemas.openxmlformats.org/drawingml/2006/main" name="報告佈景主題PPT">
  <a:themeElements>
    <a:clrScheme name="複委託4">
      <a:dk1>
        <a:srgbClr val="000000"/>
      </a:dk1>
      <a:lt1>
        <a:srgbClr val="FFFFFF"/>
      </a:lt1>
      <a:dk2>
        <a:srgbClr val="7F7F7F"/>
      </a:dk2>
      <a:lt2>
        <a:srgbClr val="C00000"/>
      </a:lt2>
      <a:accent1>
        <a:srgbClr val="C95E0D"/>
      </a:accent1>
      <a:accent2>
        <a:srgbClr val="704C61"/>
      </a:accent2>
      <a:accent3>
        <a:srgbClr val="C0CBD1"/>
      </a:accent3>
      <a:accent4>
        <a:srgbClr val="8994A6"/>
      </a:accent4>
      <a:accent5>
        <a:srgbClr val="C39E64"/>
      </a:accent5>
      <a:accent6>
        <a:srgbClr val="B8B1A7"/>
      </a:accent6>
      <a:hlink>
        <a:srgbClr val="0070C0"/>
      </a:hlink>
      <a:folHlink>
        <a:srgbClr val="000000"/>
      </a:folHlink>
    </a:clrScheme>
    <a:fontScheme name="台新投顧">
      <a:majorFont>
        <a:latin typeface="微軟正黑體"/>
        <a:ea typeface="微軟正黑體"/>
        <a:cs typeface=""/>
      </a:majorFont>
      <a:minorFont>
        <a:latin typeface="微軟正黑體"/>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emplate/>
  <TotalTime>13792</TotalTime>
  <Words>1667</Words>
  <Application>Microsoft Office PowerPoint</Application>
  <PresentationFormat>如螢幕大小 (4:3)</PresentationFormat>
  <Paragraphs>186</Paragraphs>
  <Slides>6</Slides>
  <Notes>4</Notes>
  <HiddenSlides>0</HiddenSlides>
  <MMClips>0</MMClips>
  <ScaleCrop>false</ScaleCrop>
  <HeadingPairs>
    <vt:vector size="4" baseType="variant">
      <vt:variant>
        <vt:lpstr>佈景主題</vt:lpstr>
      </vt:variant>
      <vt:variant>
        <vt:i4>1</vt:i4>
      </vt:variant>
      <vt:variant>
        <vt:lpstr>投影片標題</vt:lpstr>
      </vt:variant>
      <vt:variant>
        <vt:i4>6</vt:i4>
      </vt:variant>
    </vt:vector>
  </HeadingPairs>
  <TitlesOfParts>
    <vt:vector size="7" baseType="lpstr">
      <vt:lpstr>報告佈景主題PPT</vt:lpstr>
      <vt:lpstr>法國電力公司</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台新B2B Team</dc:creator>
  <cp:lastModifiedBy>user</cp:lastModifiedBy>
  <cp:revision>11432</cp:revision>
  <cp:lastPrinted>2023-05-30T15:19:30Z</cp:lastPrinted>
  <dcterms:created xsi:type="dcterms:W3CDTF">2013-05-02T15:04:30Z</dcterms:created>
  <dcterms:modified xsi:type="dcterms:W3CDTF">2026-04-19T06:32:33Z</dcterms:modified>
</cp:coreProperties>
</file>