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4.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notesMasterIdLst>
    <p:notesMasterId r:id="rId8"/>
  </p:notesMasterIdLst>
  <p:handoutMasterIdLst>
    <p:handoutMasterId r:id="rId9"/>
  </p:handoutMasterIdLst>
  <p:sldIdLst>
    <p:sldId id="1357" r:id="rId2"/>
    <p:sldId id="1367" r:id="rId3"/>
    <p:sldId id="1361" r:id="rId4"/>
    <p:sldId id="1365" r:id="rId5"/>
    <p:sldId id="1364" r:id="rId6"/>
    <p:sldId id="1360" r:id="rId7"/>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A71824B8-F3CE-4E38-AD2B-803D36CA02E5}">
          <p14:sldIdLst>
            <p14:sldId id="1357"/>
            <p14:sldId id="1367"/>
            <p14:sldId id="1361"/>
            <p14:sldId id="1365"/>
            <p14:sldId id="1364"/>
            <p14:sldId id="1360"/>
          </p14:sldIdLst>
        </p14:section>
      </p14:sectionLst>
    </p:ext>
    <p:ext uri="{EFAFB233-063F-42B5-8137-9DF3F51BA10A}">
      <p15:sldGuideLst xmlns:p15="http://schemas.microsoft.com/office/powerpoint/2012/main">
        <p15:guide id="1" orient="horz" pos="2160" userDrawn="1">
          <p15:clr>
            <a:srgbClr val="A4A3A4"/>
          </p15:clr>
        </p15:guide>
        <p15:guide id="2" orient="horz" pos="482" userDrawn="1">
          <p15:clr>
            <a:srgbClr val="A4A3A4"/>
          </p15:clr>
        </p15:guide>
        <p15:guide id="3" orient="horz" pos="590" userDrawn="1">
          <p15:clr>
            <a:srgbClr val="A4A3A4"/>
          </p15:clr>
        </p15:guide>
        <p15:guide id="4" pos="2880" userDrawn="1">
          <p15:clr>
            <a:srgbClr val="A4A3A4"/>
          </p15:clr>
        </p15:guide>
        <p15:guide id="5" pos="295" userDrawn="1">
          <p15:clr>
            <a:srgbClr val="A4A3A4"/>
          </p15:clr>
        </p15:guide>
        <p15:guide id="6" pos="5468" userDrawn="1">
          <p15:clr>
            <a:srgbClr val="A4A3A4"/>
          </p15:clr>
        </p15:guide>
        <p15:guide id="7" orient="horz" pos="1071" userDrawn="1">
          <p15:clr>
            <a:srgbClr val="A4A3A4"/>
          </p15:clr>
        </p15:guide>
        <p15:guide id="8" pos="5465" userDrawn="1">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guide id="3" orient="horz" pos="3130" userDrawn="1">
          <p15:clr>
            <a:srgbClr val="A4A3A4"/>
          </p15:clr>
        </p15:guide>
        <p15:guide id="4"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建宇 陳" initials="建宇" lastIdx="2" clrIdx="0"/>
  <p:cmAuthor id="2" name="芯儀 王" initials="芯儀"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E37D"/>
    <a:srgbClr val="A1E175"/>
    <a:srgbClr val="002D74"/>
    <a:srgbClr val="8BDA16"/>
    <a:srgbClr val="88D910"/>
    <a:srgbClr val="847373"/>
    <a:srgbClr val="FF861D"/>
    <a:srgbClr val="4F9E10"/>
    <a:srgbClr val="002060"/>
    <a:srgbClr val="FE5B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7292A2E-F333-43FB-9621-5CBBE7FDCDCB}" styleName="淺色樣式 2 - 輔色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淺色樣式 2 - 輔色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2DE63D5-997A-4646-A377-4702673A728D}" styleName="淺色樣式 2 - 輔色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56" autoAdjust="0"/>
    <p:restoredTop sz="85099" autoAdjust="0"/>
  </p:normalViewPr>
  <p:slideViewPr>
    <p:cSldViewPr showGuides="1">
      <p:cViewPr>
        <p:scale>
          <a:sx n="125" d="100"/>
          <a:sy n="125" d="100"/>
        </p:scale>
        <p:origin x="2844" y="-438"/>
      </p:cViewPr>
      <p:guideLst>
        <p:guide orient="horz" pos="2160"/>
        <p:guide orient="horz" pos="482"/>
        <p:guide orient="horz" pos="590"/>
        <p:guide pos="2880"/>
        <p:guide pos="295"/>
        <p:guide pos="5468"/>
        <p:guide orient="horz" pos="1071"/>
        <p:guide pos="546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0" d="100"/>
          <a:sy n="80" d="100"/>
        </p:scale>
        <p:origin x="-3996" y="-96"/>
      </p:cViewPr>
      <p:guideLst>
        <p:guide orient="horz" pos="3126"/>
        <p:guide pos="2141"/>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2" Type="http://schemas.openxmlformats.org/officeDocument/2006/relationships/package" Target="../embeddings/Microsoft_Excel_Worksheet4.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manualLayout>
          <c:layoutTarget val="inner"/>
          <c:xMode val="edge"/>
          <c:yMode val="edge"/>
          <c:x val="0"/>
          <c:y val="6.9517553431932125E-2"/>
          <c:w val="0.64133402517154814"/>
          <c:h val="0.87967429992313229"/>
        </c:manualLayout>
      </c:layout>
      <c:doughnutChart>
        <c:varyColors val="1"/>
        <c:ser>
          <c:idx val="0"/>
          <c:order val="0"/>
          <c:tx>
            <c:strRef>
              <c:f>工作表1!$B$1</c:f>
              <c:strCache>
                <c:ptCount val="1"/>
                <c:pt idx="0">
                  <c:v>Revenues</c:v>
                </c:pt>
              </c:strCache>
            </c:strRef>
          </c:tx>
          <c:dPt>
            <c:idx val="0"/>
            <c:bubble3D val="0"/>
            <c:spPr>
              <a:solidFill>
                <a:srgbClr val="C00000"/>
              </a:solidFill>
              <a:ln>
                <a:noFill/>
              </a:ln>
              <a:effectLst/>
            </c:spPr>
            <c:extLst>
              <c:ext xmlns:c16="http://schemas.microsoft.com/office/drawing/2014/chart" uri="{C3380CC4-5D6E-409C-BE32-E72D297353CC}">
                <c16:uniqueId val="{00000001-9B6B-40D2-B8D4-FF768E32EF21}"/>
              </c:ext>
            </c:extLst>
          </c:dPt>
          <c:dPt>
            <c:idx val="1"/>
            <c:bubble3D val="0"/>
            <c:spPr>
              <a:solidFill>
                <a:srgbClr val="FF0000"/>
              </a:solidFill>
              <a:ln>
                <a:noFill/>
              </a:ln>
              <a:effectLst/>
            </c:spPr>
            <c:extLst>
              <c:ext xmlns:c16="http://schemas.microsoft.com/office/drawing/2014/chart" uri="{C3380CC4-5D6E-409C-BE32-E72D297353CC}">
                <c16:uniqueId val="{00000003-9B6B-40D2-B8D4-FF768E32EF21}"/>
              </c:ext>
            </c:extLst>
          </c:dPt>
          <c:dPt>
            <c:idx val="2"/>
            <c:bubble3D val="0"/>
            <c:spPr>
              <a:solidFill>
                <a:schemeClr val="bg2">
                  <a:lumMod val="40000"/>
                  <a:lumOff val="60000"/>
                </a:schemeClr>
              </a:solidFill>
              <a:ln>
                <a:noFill/>
              </a:ln>
              <a:effectLst/>
            </c:spPr>
            <c:extLst>
              <c:ext xmlns:c16="http://schemas.microsoft.com/office/drawing/2014/chart" uri="{C3380CC4-5D6E-409C-BE32-E72D297353CC}">
                <c16:uniqueId val="{00000005-9B6B-40D2-B8D4-FF768E32EF21}"/>
              </c:ext>
            </c:extLst>
          </c:dPt>
          <c:dPt>
            <c:idx val="3"/>
            <c:bubble3D val="0"/>
            <c:spPr>
              <a:solidFill>
                <a:schemeClr val="accent5">
                  <a:tint val="77000"/>
                </a:schemeClr>
              </a:solidFill>
              <a:ln>
                <a:noFill/>
              </a:ln>
              <a:effectLst/>
            </c:spPr>
            <c:extLst>
              <c:ext xmlns:c16="http://schemas.microsoft.com/office/drawing/2014/chart" uri="{C3380CC4-5D6E-409C-BE32-E72D297353CC}">
                <c16:uniqueId val="{00000007-9B6B-40D2-B8D4-FF768E32EF21}"/>
              </c:ext>
            </c:extLst>
          </c:dPt>
          <c:dPt>
            <c:idx val="4"/>
            <c:bubble3D val="0"/>
            <c:spPr>
              <a:solidFill>
                <a:schemeClr val="accent5">
                  <a:tint val="54000"/>
                </a:schemeClr>
              </a:solidFill>
              <a:ln>
                <a:noFill/>
              </a:ln>
              <a:effectLst/>
            </c:spPr>
            <c:extLst>
              <c:ext xmlns:c16="http://schemas.microsoft.com/office/drawing/2014/chart" uri="{C3380CC4-5D6E-409C-BE32-E72D297353CC}">
                <c16:uniqueId val="{00000008-9B6B-40D2-B8D4-FF768E32EF21}"/>
              </c:ext>
            </c:extLst>
          </c:dPt>
          <c:dLbls>
            <c:dLbl>
              <c:idx val="0"/>
              <c:layout>
                <c:manualLayout>
                  <c:x val="4.3581806826214972E-3"/>
                  <c:y val="-7.4801084747299938E-17"/>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zh-TW"/>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B6B-40D2-B8D4-FF768E32EF21}"/>
                </c:ext>
              </c:extLst>
            </c:dLbl>
            <c:dLbl>
              <c:idx val="1"/>
              <c:layout>
                <c:manualLayout>
                  <c:x val="-4.3581806826214972E-3"/>
                  <c:y val="-8.1602126024524525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B6B-40D2-B8D4-FF768E32EF21}"/>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zh-TW"/>
              </a:p>
            </c:txPr>
            <c:showLegendKey val="0"/>
            <c:showVal val="0"/>
            <c:showCatName val="0"/>
            <c:showSerName val="0"/>
            <c:showPercent val="1"/>
            <c:showBubbleSize val="0"/>
            <c:showLeaderLines val="1"/>
            <c:leaderLines>
              <c:spPr>
                <a:ln w="9525" cap="flat" cmpd="sng" algn="ctr">
                  <a:solidFill>
                    <a:schemeClr val="tx1">
                      <a:shade val="95000"/>
                      <a:satMod val="105000"/>
                    </a:schemeClr>
                  </a:solidFill>
                  <a:prstDash val="solid"/>
                  <a:round/>
                </a:ln>
                <a:effectLst/>
              </c:spPr>
            </c:leaderLines>
            <c:extLst>
              <c:ext xmlns:c15="http://schemas.microsoft.com/office/drawing/2012/chart" uri="{CE6537A1-D6FC-4f65-9D91-7224C49458BB}"/>
            </c:extLst>
          </c:dLbls>
          <c:cat>
            <c:strRef>
              <c:f>工作表1!$A$2:$A$4</c:f>
              <c:strCache>
                <c:ptCount val="3"/>
                <c:pt idx="0">
                  <c:v>發電供應</c:v>
                </c:pt>
                <c:pt idx="1">
                  <c:v>配電</c:v>
                </c:pt>
                <c:pt idx="2">
                  <c:v>其他</c:v>
                </c:pt>
              </c:strCache>
            </c:strRef>
          </c:cat>
          <c:val>
            <c:numRef>
              <c:f>工作表1!$B$2:$B$4</c:f>
              <c:numCache>
                <c:formatCode>#,##0</c:formatCode>
                <c:ptCount val="3"/>
                <c:pt idx="0">
                  <c:v>116173</c:v>
                </c:pt>
                <c:pt idx="1">
                  <c:v>17077</c:v>
                </c:pt>
                <c:pt idx="2">
                  <c:v>10226</c:v>
                </c:pt>
              </c:numCache>
            </c:numRef>
          </c:val>
          <c:extLst>
            <c:ext xmlns:c16="http://schemas.microsoft.com/office/drawing/2014/chart" uri="{C3380CC4-5D6E-409C-BE32-E72D297353CC}">
              <c16:uniqueId val="{00000009-9B6B-40D2-B8D4-FF768E32EF21}"/>
            </c:ext>
          </c:extLst>
        </c:ser>
        <c:dLbls>
          <c:showLegendKey val="0"/>
          <c:showVal val="0"/>
          <c:showCatName val="0"/>
          <c:showSerName val="0"/>
          <c:showPercent val="1"/>
          <c:showBubbleSize val="0"/>
          <c:showLeaderLines val="1"/>
        </c:dLbls>
        <c:firstSliceAng val="0"/>
        <c:holeSize val="64"/>
      </c:doughnutChart>
      <c:spPr>
        <a:noFill/>
        <a:ln>
          <a:noFill/>
        </a:ln>
        <a:effectLst/>
      </c:spPr>
    </c:plotArea>
    <c:legend>
      <c:legendPos val="r"/>
      <c:layout>
        <c:manualLayout>
          <c:xMode val="edge"/>
          <c:yMode val="edge"/>
          <c:x val="0.61326582433189902"/>
          <c:y val="0.20389916792005167"/>
          <c:w val="0.35797611432159043"/>
          <c:h val="0.6604430213520579"/>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zh-TW"/>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prstDash val="solid"/>
    </a:ln>
    <a:effectLst/>
  </c:spPr>
  <c:txPr>
    <a:bodyPr/>
    <a:lstStyle/>
    <a:p>
      <a:pPr>
        <a:defRPr/>
      </a:pPr>
      <a:endParaRPr lang="zh-TW"/>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barChart>
        <c:barDir val="col"/>
        <c:grouping val="clustered"/>
        <c:varyColors val="0"/>
        <c:ser>
          <c:idx val="0"/>
          <c:order val="0"/>
          <c:tx>
            <c:strRef>
              <c:f>工作表1!$A$2</c:f>
              <c:strCache>
                <c:ptCount val="1"/>
                <c:pt idx="0">
                  <c:v>總營收(百萬 EUR)</c:v>
                </c:pt>
              </c:strCache>
            </c:strRef>
          </c:tx>
          <c:spPr>
            <a:solidFill>
              <a:schemeClr val="bg1">
                <a:lumMod val="85000"/>
              </a:schemeClr>
            </a:solidFill>
          </c:spPr>
          <c:invertIfNegative val="0"/>
          <c:dPt>
            <c:idx val="4"/>
            <c:invertIfNegative val="0"/>
            <c:bubble3D val="0"/>
            <c:spPr>
              <a:solidFill>
                <a:srgbClr val="C00000"/>
              </a:solidFill>
            </c:spPr>
            <c:extLst>
              <c:ext xmlns:c16="http://schemas.microsoft.com/office/drawing/2014/chart" uri="{C3380CC4-5D6E-409C-BE32-E72D297353CC}">
                <c16:uniqueId val="{00000001-25AA-4DFB-9AAE-28D66345635A}"/>
              </c:ext>
            </c:extLst>
          </c:dPt>
          <c:dLbls>
            <c:numFmt formatCode="#,##0_);[Red]\(#,##0\)" sourceLinked="0"/>
            <c:spPr>
              <a:noFill/>
              <a:ln>
                <a:noFill/>
              </a:ln>
              <a:effectLst/>
            </c:spPr>
            <c:txPr>
              <a:bodyPr/>
              <a:lstStyle/>
              <a:p>
                <a:pPr>
                  <a:defRPr sz="800"/>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工作表1!$B$1:$F$1</c:f>
              <c:strCache>
                <c:ptCount val="5"/>
                <c:pt idx="0">
                  <c:v>1H21</c:v>
                </c:pt>
                <c:pt idx="1">
                  <c:v>2H21</c:v>
                </c:pt>
                <c:pt idx="2">
                  <c:v>1H22</c:v>
                </c:pt>
                <c:pt idx="3">
                  <c:v>2H22</c:v>
                </c:pt>
                <c:pt idx="4">
                  <c:v>1H23</c:v>
                </c:pt>
              </c:strCache>
            </c:strRef>
          </c:cat>
          <c:val>
            <c:numRef>
              <c:f>工作表1!$B$2:$F$2</c:f>
              <c:numCache>
                <c:formatCode>#,##0.00</c:formatCode>
                <c:ptCount val="5"/>
                <c:pt idx="0">
                  <c:v>39621</c:v>
                </c:pt>
                <c:pt idx="1">
                  <c:v>44840</c:v>
                </c:pt>
                <c:pt idx="2">
                  <c:v>66262</c:v>
                </c:pt>
                <c:pt idx="3">
                  <c:v>77214</c:v>
                </c:pt>
                <c:pt idx="4">
                  <c:v>75499</c:v>
                </c:pt>
              </c:numCache>
            </c:numRef>
          </c:val>
          <c:extLst>
            <c:ext xmlns:c16="http://schemas.microsoft.com/office/drawing/2014/chart" uri="{C3380CC4-5D6E-409C-BE32-E72D297353CC}">
              <c16:uniqueId val="{00000002-25AA-4DFB-9AAE-28D66345635A}"/>
            </c:ext>
          </c:extLst>
        </c:ser>
        <c:dLbls>
          <c:showLegendKey val="0"/>
          <c:showVal val="0"/>
          <c:showCatName val="0"/>
          <c:showSerName val="0"/>
          <c:showPercent val="0"/>
          <c:showBubbleSize val="0"/>
        </c:dLbls>
        <c:gapWidth val="67"/>
        <c:axId val="249049088"/>
        <c:axId val="249051008"/>
      </c:barChart>
      <c:catAx>
        <c:axId val="249049088"/>
        <c:scaling>
          <c:orientation val="minMax"/>
        </c:scaling>
        <c:delete val="0"/>
        <c:axPos val="b"/>
        <c:numFmt formatCode="General" sourceLinked="0"/>
        <c:majorTickMark val="out"/>
        <c:minorTickMark val="none"/>
        <c:tickLblPos val="nextTo"/>
        <c:txPr>
          <a:bodyPr/>
          <a:lstStyle/>
          <a:p>
            <a:pPr>
              <a:defRPr sz="800"/>
            </a:pPr>
            <a:endParaRPr lang="zh-TW"/>
          </a:p>
        </c:txPr>
        <c:crossAx val="249051008"/>
        <c:crosses val="autoZero"/>
        <c:auto val="1"/>
        <c:lblAlgn val="ctr"/>
        <c:lblOffset val="100"/>
        <c:noMultiLvlLbl val="0"/>
      </c:catAx>
      <c:valAx>
        <c:axId val="249051008"/>
        <c:scaling>
          <c:orientation val="minMax"/>
        </c:scaling>
        <c:delete val="1"/>
        <c:axPos val="l"/>
        <c:numFmt formatCode="#,##0.00" sourceLinked="1"/>
        <c:majorTickMark val="out"/>
        <c:minorTickMark val="none"/>
        <c:tickLblPos val="nextTo"/>
        <c:crossAx val="249049088"/>
        <c:crosses val="autoZero"/>
        <c:crossBetween val="between"/>
      </c:valAx>
    </c:plotArea>
    <c:plotVisOnly val="1"/>
    <c:dispBlanksAs val="gap"/>
    <c:showDLblsOverMax val="0"/>
  </c:chart>
  <c:txPr>
    <a:bodyPr/>
    <a:lstStyle/>
    <a:p>
      <a:pPr>
        <a:defRPr sz="1000"/>
      </a:pPr>
      <a:endParaRPr lang="zh-TW"/>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nSpc>
                <a:spcPts val="1500"/>
              </a:lnSpc>
              <a:defRPr/>
            </a:pPr>
            <a:r>
              <a:rPr lang="zh-TW" altLang="en-US" dirty="0"/>
              <a:t>稅後損益
</a:t>
            </a:r>
            <a:r>
              <a:rPr lang="en-US" altLang="zh-TW" dirty="0"/>
              <a:t>(</a:t>
            </a:r>
            <a:r>
              <a:rPr lang="zh-TW" altLang="en-US" dirty="0"/>
              <a:t>百萬 </a:t>
            </a:r>
            <a:r>
              <a:rPr lang="en-US" altLang="zh-TW" dirty="0"/>
              <a:t>EUR)</a:t>
            </a:r>
          </a:p>
        </c:rich>
      </c:tx>
      <c:layout>
        <c:manualLayout>
          <c:xMode val="edge"/>
          <c:yMode val="edge"/>
          <c:x val="0.31609433144862981"/>
          <c:y val="5.5695565989743831E-2"/>
        </c:manualLayout>
      </c:layout>
      <c:overlay val="0"/>
    </c:title>
    <c:autoTitleDeleted val="0"/>
    <c:plotArea>
      <c:layout>
        <c:manualLayout>
          <c:layoutTarget val="inner"/>
          <c:xMode val="edge"/>
          <c:yMode val="edge"/>
          <c:x val="6.2073025782300076E-2"/>
          <c:y val="0.31560820727521505"/>
          <c:w val="0.87585394843539988"/>
          <c:h val="0.47203600184774791"/>
        </c:manualLayout>
      </c:layout>
      <c:barChart>
        <c:barDir val="col"/>
        <c:grouping val="clustered"/>
        <c:varyColors val="0"/>
        <c:ser>
          <c:idx val="0"/>
          <c:order val="0"/>
          <c:tx>
            <c:strRef>
              <c:f>工作表1!$A$2</c:f>
              <c:strCache>
                <c:ptCount val="1"/>
                <c:pt idx="0">
                  <c:v>稅後淨損益
(百萬 EUR)</c:v>
                </c:pt>
              </c:strCache>
            </c:strRef>
          </c:tx>
          <c:spPr>
            <a:solidFill>
              <a:schemeClr val="bg1">
                <a:lumMod val="85000"/>
              </a:schemeClr>
            </a:solidFill>
          </c:spPr>
          <c:invertIfNegative val="0"/>
          <c:dPt>
            <c:idx val="4"/>
            <c:invertIfNegative val="0"/>
            <c:bubble3D val="0"/>
            <c:spPr>
              <a:solidFill>
                <a:srgbClr val="C00000"/>
              </a:solidFill>
            </c:spPr>
            <c:extLst>
              <c:ext xmlns:c16="http://schemas.microsoft.com/office/drawing/2014/chart" uri="{C3380CC4-5D6E-409C-BE32-E72D297353CC}">
                <c16:uniqueId val="{00000001-7615-4605-903C-B05F70255C1C}"/>
              </c:ext>
            </c:extLst>
          </c:dPt>
          <c:dLbls>
            <c:dLbl>
              <c:idx val="3"/>
              <c:layout>
                <c:manualLayout>
                  <c:x val="-1.2123184922958115E-2"/>
                  <c:y val="2.146246448551594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615-4605-903C-B05F70255C1C}"/>
                </c:ext>
              </c:extLst>
            </c:dLbl>
            <c:dLbl>
              <c:idx val="4"/>
              <c:layout>
                <c:manualLayout>
                  <c:x val="0"/>
                  <c:y val="5.00751408750588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615-4605-903C-B05F70255C1C}"/>
                </c:ext>
              </c:extLst>
            </c:dLbl>
            <c:numFmt formatCode="#,##0_ ;[Red]\-#,##0\ " sourceLinked="0"/>
            <c:spPr>
              <a:noFill/>
              <a:ln>
                <a:noFill/>
              </a:ln>
              <a:effectLst/>
            </c:spPr>
            <c:txPr>
              <a:bodyPr/>
              <a:lstStyle/>
              <a:p>
                <a:pPr>
                  <a:defRPr sz="800"/>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工作表1!$B$1:$F$1</c:f>
              <c:strCache>
                <c:ptCount val="5"/>
                <c:pt idx="0">
                  <c:v>1H21</c:v>
                </c:pt>
                <c:pt idx="1">
                  <c:v>2H21</c:v>
                </c:pt>
                <c:pt idx="2">
                  <c:v>1H22</c:v>
                </c:pt>
                <c:pt idx="3">
                  <c:v>2H22</c:v>
                </c:pt>
                <c:pt idx="4">
                  <c:v>1H23</c:v>
                </c:pt>
              </c:strCache>
            </c:strRef>
          </c:cat>
          <c:val>
            <c:numRef>
              <c:f>工作表1!$B$2:$F$2</c:f>
              <c:numCache>
                <c:formatCode>General</c:formatCode>
                <c:ptCount val="5"/>
                <c:pt idx="0" formatCode="#,##0.00">
                  <c:v>4172</c:v>
                </c:pt>
                <c:pt idx="1">
                  <c:v>941</c:v>
                </c:pt>
                <c:pt idx="2" formatCode="#,##0.00">
                  <c:v>-5293</c:v>
                </c:pt>
                <c:pt idx="3" formatCode="#,##0.00">
                  <c:v>-12647</c:v>
                </c:pt>
                <c:pt idx="4" formatCode="#,##0.00">
                  <c:v>5808</c:v>
                </c:pt>
              </c:numCache>
            </c:numRef>
          </c:val>
          <c:extLst>
            <c:ext xmlns:c16="http://schemas.microsoft.com/office/drawing/2014/chart" uri="{C3380CC4-5D6E-409C-BE32-E72D297353CC}">
              <c16:uniqueId val="{00000003-7615-4605-903C-B05F70255C1C}"/>
            </c:ext>
          </c:extLst>
        </c:ser>
        <c:dLbls>
          <c:showLegendKey val="0"/>
          <c:showVal val="0"/>
          <c:showCatName val="0"/>
          <c:showSerName val="0"/>
          <c:showPercent val="0"/>
          <c:showBubbleSize val="0"/>
        </c:dLbls>
        <c:gapWidth val="67"/>
        <c:axId val="282764800"/>
        <c:axId val="282766336"/>
      </c:barChart>
      <c:catAx>
        <c:axId val="282764800"/>
        <c:scaling>
          <c:orientation val="minMax"/>
        </c:scaling>
        <c:delete val="0"/>
        <c:axPos val="b"/>
        <c:numFmt formatCode="General" sourceLinked="0"/>
        <c:majorTickMark val="out"/>
        <c:minorTickMark val="none"/>
        <c:tickLblPos val="low"/>
        <c:txPr>
          <a:bodyPr/>
          <a:lstStyle/>
          <a:p>
            <a:pPr>
              <a:defRPr sz="800"/>
            </a:pPr>
            <a:endParaRPr lang="zh-TW"/>
          </a:p>
        </c:txPr>
        <c:crossAx val="282766336"/>
        <c:crosses val="autoZero"/>
        <c:auto val="1"/>
        <c:lblAlgn val="ctr"/>
        <c:lblOffset val="100"/>
        <c:noMultiLvlLbl val="0"/>
      </c:catAx>
      <c:valAx>
        <c:axId val="282766336"/>
        <c:scaling>
          <c:orientation val="minMax"/>
          <c:max val="20000"/>
          <c:min val="-20000"/>
        </c:scaling>
        <c:delete val="1"/>
        <c:axPos val="l"/>
        <c:numFmt formatCode="#,##0.00" sourceLinked="1"/>
        <c:majorTickMark val="out"/>
        <c:minorTickMark val="none"/>
        <c:tickLblPos val="nextTo"/>
        <c:crossAx val="282764800"/>
        <c:crosses val="autoZero"/>
        <c:crossBetween val="between"/>
      </c:valAx>
    </c:plotArea>
    <c:plotVisOnly val="1"/>
    <c:dispBlanksAs val="gap"/>
    <c:showDLblsOverMax val="0"/>
  </c:chart>
  <c:txPr>
    <a:bodyPr/>
    <a:lstStyle/>
    <a:p>
      <a:pPr>
        <a:defRPr sz="1000"/>
      </a:pPr>
      <a:endParaRPr lang="zh-TW"/>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0622621451646985E-2"/>
          <c:y val="0.21263938645494504"/>
          <c:w val="0.89858752077655857"/>
          <c:h val="0.65433649794105719"/>
        </c:manualLayout>
      </c:layout>
      <c:barChart>
        <c:barDir val="col"/>
        <c:grouping val="stacked"/>
        <c:varyColors val="0"/>
        <c:ser>
          <c:idx val="3"/>
          <c:order val="3"/>
          <c:tx>
            <c:strRef>
              <c:f>工作表1!$A$5</c:f>
              <c:strCache>
                <c:ptCount val="1"/>
                <c:pt idx="0">
                  <c:v>長期債務</c:v>
                </c:pt>
              </c:strCache>
            </c:strRef>
          </c:tx>
          <c:spPr>
            <a:solidFill>
              <a:srgbClr val="002D74"/>
            </a:solidFill>
          </c:spPr>
          <c:invertIfNegative val="0"/>
          <c:dLbls>
            <c:numFmt formatCode="#,##0_);[Red]\(#,##0\)" sourceLinked="0"/>
            <c:spPr>
              <a:noFill/>
              <a:ln>
                <a:noFill/>
              </a:ln>
              <a:effectLst/>
            </c:spPr>
            <c:txPr>
              <a:bodyPr wrap="square" lIns="38100" tIns="19050" rIns="38100" bIns="19050" anchor="ctr">
                <a:spAutoFit/>
              </a:bodyPr>
              <a:lstStyle/>
              <a:p>
                <a:pPr>
                  <a:defRPr sz="700">
                    <a:solidFill>
                      <a:schemeClr val="bg1"/>
                    </a:solidFill>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工作表1!$B$1:$J$1</c:f>
              <c:strCache>
                <c:ptCount val="7"/>
                <c:pt idx="0">
                  <c:v>2017</c:v>
                </c:pt>
                <c:pt idx="1">
                  <c:v>2018</c:v>
                </c:pt>
                <c:pt idx="2">
                  <c:v>2019</c:v>
                </c:pt>
                <c:pt idx="3">
                  <c:v>2020</c:v>
                </c:pt>
                <c:pt idx="4">
                  <c:v>2021</c:v>
                </c:pt>
                <c:pt idx="5">
                  <c:v>2022</c:v>
                </c:pt>
                <c:pt idx="6">
                  <c:v>Jun-23</c:v>
                </c:pt>
              </c:strCache>
            </c:strRef>
          </c:cat>
          <c:val>
            <c:numRef>
              <c:f>工作表1!$B$5:$J$5</c:f>
              <c:numCache>
                <c:formatCode>#,##0.00</c:formatCode>
                <c:ptCount val="7"/>
                <c:pt idx="0">
                  <c:v>49734</c:v>
                </c:pt>
                <c:pt idx="1">
                  <c:v>50901</c:v>
                </c:pt>
                <c:pt idx="2">
                  <c:v>56306</c:v>
                </c:pt>
                <c:pt idx="3">
                  <c:v>54066</c:v>
                </c:pt>
                <c:pt idx="4">
                  <c:v>54335</c:v>
                </c:pt>
                <c:pt idx="5">
                  <c:v>67340</c:v>
                </c:pt>
                <c:pt idx="6">
                  <c:v>68915</c:v>
                </c:pt>
              </c:numCache>
            </c:numRef>
          </c:val>
          <c:extLst>
            <c:ext xmlns:c16="http://schemas.microsoft.com/office/drawing/2014/chart" uri="{C3380CC4-5D6E-409C-BE32-E72D297353CC}">
              <c16:uniqueId val="{00000007-6240-4E62-9DA9-CBEB133A112B}"/>
            </c:ext>
          </c:extLst>
        </c:ser>
        <c:ser>
          <c:idx val="4"/>
          <c:order val="4"/>
          <c:tx>
            <c:strRef>
              <c:f>工作表1!$A$6</c:f>
              <c:strCache>
                <c:ptCount val="1"/>
                <c:pt idx="0">
                  <c:v>短期債務</c:v>
                </c:pt>
              </c:strCache>
            </c:strRef>
          </c:tx>
          <c:spPr>
            <a:solidFill>
              <a:srgbClr val="AFCDFF"/>
            </a:solidFill>
          </c:spPr>
          <c:invertIfNegative val="0"/>
          <c:cat>
            <c:strRef>
              <c:f>工作表1!$B$1:$J$1</c:f>
              <c:strCache>
                <c:ptCount val="7"/>
                <c:pt idx="0">
                  <c:v>2017</c:v>
                </c:pt>
                <c:pt idx="1">
                  <c:v>2018</c:v>
                </c:pt>
                <c:pt idx="2">
                  <c:v>2019</c:v>
                </c:pt>
                <c:pt idx="3">
                  <c:v>2020</c:v>
                </c:pt>
                <c:pt idx="4">
                  <c:v>2021</c:v>
                </c:pt>
                <c:pt idx="5">
                  <c:v>2022</c:v>
                </c:pt>
                <c:pt idx="6">
                  <c:v>Jun-23</c:v>
                </c:pt>
              </c:strCache>
            </c:strRef>
          </c:cat>
          <c:val>
            <c:numRef>
              <c:f>工作表1!$B$6:$J$6</c:f>
              <c:numCache>
                <c:formatCode>#,##0.00</c:formatCode>
                <c:ptCount val="7"/>
                <c:pt idx="0">
                  <c:v>6039</c:v>
                </c:pt>
                <c:pt idx="1">
                  <c:v>7207</c:v>
                </c:pt>
                <c:pt idx="2">
                  <c:v>10048</c:v>
                </c:pt>
                <c:pt idx="3">
                  <c:v>10646</c:v>
                </c:pt>
                <c:pt idx="4">
                  <c:v>14281</c:v>
                </c:pt>
                <c:pt idx="5">
                  <c:v>27828</c:v>
                </c:pt>
                <c:pt idx="6">
                  <c:v>19284</c:v>
                </c:pt>
              </c:numCache>
            </c:numRef>
          </c:val>
          <c:extLst>
            <c:ext xmlns:c16="http://schemas.microsoft.com/office/drawing/2014/chart" uri="{C3380CC4-5D6E-409C-BE32-E72D297353CC}">
              <c16:uniqueId val="{00000008-6240-4E62-9DA9-CBEB133A112B}"/>
            </c:ext>
          </c:extLst>
        </c:ser>
        <c:dLbls>
          <c:showLegendKey val="0"/>
          <c:showVal val="0"/>
          <c:showCatName val="0"/>
          <c:showSerName val="0"/>
          <c:showPercent val="0"/>
          <c:showBubbleSize val="0"/>
        </c:dLbls>
        <c:gapWidth val="42"/>
        <c:overlap val="100"/>
        <c:axId val="142744960"/>
        <c:axId val="142754944"/>
      </c:barChart>
      <c:barChart>
        <c:barDir val="col"/>
        <c:grouping val="clustered"/>
        <c:varyColors val="0"/>
        <c:ser>
          <c:idx val="0"/>
          <c:order val="0"/>
          <c:tx>
            <c:strRef>
              <c:f>工作表1!$A$2</c:f>
              <c:strCache>
                <c:ptCount val="1"/>
                <c:pt idx="0">
                  <c:v>EBITDA/利息費用</c:v>
                </c:pt>
              </c:strCache>
            </c:strRef>
          </c:tx>
          <c:spPr>
            <a:solidFill>
              <a:srgbClr val="FF0000"/>
            </a:solidFill>
          </c:spPr>
          <c:invertIfNegative val="0"/>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240-4E62-9DA9-CBEB133A112B}"/>
                </c:ext>
              </c:extLst>
            </c:dLbl>
            <c:spPr>
              <a:noFill/>
              <a:ln>
                <a:noFill/>
              </a:ln>
              <a:effectLst/>
            </c:spPr>
            <c:txPr>
              <a:bodyPr wrap="square" lIns="38100" tIns="19050" rIns="38100" bIns="19050" anchor="ctr">
                <a:spAutoFit/>
              </a:bodyPr>
              <a:lstStyle/>
              <a:p>
                <a:pPr>
                  <a:defRPr b="1">
                    <a:solidFill>
                      <a:srgbClr val="FF0000"/>
                    </a:solidFill>
                  </a:defRPr>
                </a:pPr>
                <a:endParaRPr lang="zh-TW"/>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工作表1!$B$1:$J$1</c:f>
              <c:strCache>
                <c:ptCount val="7"/>
                <c:pt idx="0">
                  <c:v>2017</c:v>
                </c:pt>
                <c:pt idx="1">
                  <c:v>2018</c:v>
                </c:pt>
                <c:pt idx="2">
                  <c:v>2019</c:v>
                </c:pt>
                <c:pt idx="3">
                  <c:v>2020</c:v>
                </c:pt>
                <c:pt idx="4">
                  <c:v>2021</c:v>
                </c:pt>
                <c:pt idx="5">
                  <c:v>2022</c:v>
                </c:pt>
                <c:pt idx="6">
                  <c:v>Jun-23</c:v>
                </c:pt>
              </c:strCache>
            </c:strRef>
          </c:cat>
          <c:val>
            <c:numRef>
              <c:f>工作表1!$B$2:$J$2</c:f>
            </c:numRef>
          </c:val>
          <c:extLst>
            <c:ext xmlns:c16="http://schemas.microsoft.com/office/drawing/2014/chart" uri="{C3380CC4-5D6E-409C-BE32-E72D297353CC}">
              <c16:uniqueId val="{00000001-6240-4E62-9DA9-CBEB133A112B}"/>
            </c:ext>
          </c:extLst>
        </c:ser>
        <c:ser>
          <c:idx val="1"/>
          <c:order val="1"/>
          <c:tx>
            <c:strRef>
              <c:f>工作表1!$A$3</c:f>
              <c:strCache>
                <c:ptCount val="1"/>
                <c:pt idx="0">
                  <c:v>EBIT/利息費用</c:v>
                </c:pt>
              </c:strCache>
            </c:strRef>
          </c:tx>
          <c:spPr>
            <a:solidFill>
              <a:schemeClr val="bg1">
                <a:lumMod val="65000"/>
              </a:schemeClr>
            </a:solidFill>
          </c:spPr>
          <c:invertIfNegative val="0"/>
          <c:cat>
            <c:strRef>
              <c:f>工作表1!$B$1:$J$1</c:f>
              <c:strCache>
                <c:ptCount val="7"/>
                <c:pt idx="0">
                  <c:v>2017</c:v>
                </c:pt>
                <c:pt idx="1">
                  <c:v>2018</c:v>
                </c:pt>
                <c:pt idx="2">
                  <c:v>2019</c:v>
                </c:pt>
                <c:pt idx="3">
                  <c:v>2020</c:v>
                </c:pt>
                <c:pt idx="4">
                  <c:v>2021</c:v>
                </c:pt>
                <c:pt idx="5">
                  <c:v>2022</c:v>
                </c:pt>
                <c:pt idx="6">
                  <c:v>Jun-23</c:v>
                </c:pt>
              </c:strCache>
            </c:strRef>
          </c:cat>
          <c:val>
            <c:numRef>
              <c:f>工作表1!$B$3:$J$3</c:f>
            </c:numRef>
          </c:val>
          <c:extLst>
            <c:ext xmlns:c16="http://schemas.microsoft.com/office/drawing/2014/chart" uri="{C3380CC4-5D6E-409C-BE32-E72D297353CC}">
              <c16:uniqueId val="{00000002-6240-4E62-9DA9-CBEB133A112B}"/>
            </c:ext>
          </c:extLst>
        </c:ser>
        <c:dLbls>
          <c:showLegendKey val="0"/>
          <c:showVal val="0"/>
          <c:showCatName val="0"/>
          <c:showSerName val="0"/>
          <c:showPercent val="0"/>
          <c:showBubbleSize val="0"/>
        </c:dLbls>
        <c:gapWidth val="150"/>
        <c:axId val="142744960"/>
        <c:axId val="142754944"/>
      </c:barChart>
      <c:lineChart>
        <c:grouping val="standard"/>
        <c:varyColors val="0"/>
        <c:ser>
          <c:idx val="2"/>
          <c:order val="2"/>
          <c:tx>
            <c:strRef>
              <c:f>工作表1!$A$4</c:f>
              <c:strCache>
                <c:ptCount val="1"/>
                <c:pt idx="0">
                  <c:v>總債務</c:v>
                </c:pt>
              </c:strCache>
            </c:strRef>
          </c:tx>
          <c:spPr>
            <a:ln>
              <a:solidFill>
                <a:srgbClr val="E85113"/>
              </a:solidFill>
            </a:ln>
          </c:spPr>
          <c:marker>
            <c:symbol val="square"/>
            <c:size val="5"/>
            <c:spPr>
              <a:solidFill>
                <a:srgbClr val="E85113"/>
              </a:solidFill>
              <a:ln>
                <a:solidFill>
                  <a:srgbClr val="E85113"/>
                </a:solidFill>
              </a:ln>
            </c:spPr>
          </c:marker>
          <c:dLbls>
            <c:numFmt formatCode="#,##0_);[Red]\(#,##0\)" sourceLinked="0"/>
            <c:spPr>
              <a:noFill/>
              <a:ln>
                <a:noFill/>
              </a:ln>
              <a:effectLst/>
            </c:spPr>
            <c:txPr>
              <a:bodyPr wrap="square" lIns="38100" tIns="19050" rIns="38100" bIns="19050" anchor="ctr">
                <a:spAutoFit/>
              </a:bodyPr>
              <a:lstStyle/>
              <a:p>
                <a:pPr>
                  <a:defRPr sz="700"/>
                </a:pPr>
                <a:endParaRPr lang="zh-TW"/>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工作表1!$B$1:$J$1</c:f>
              <c:strCache>
                <c:ptCount val="7"/>
                <c:pt idx="0">
                  <c:v>2017</c:v>
                </c:pt>
                <c:pt idx="1">
                  <c:v>2018</c:v>
                </c:pt>
                <c:pt idx="2">
                  <c:v>2019</c:v>
                </c:pt>
                <c:pt idx="3">
                  <c:v>2020</c:v>
                </c:pt>
                <c:pt idx="4">
                  <c:v>2021</c:v>
                </c:pt>
                <c:pt idx="5">
                  <c:v>2022</c:v>
                </c:pt>
                <c:pt idx="6">
                  <c:v>Jun-23</c:v>
                </c:pt>
              </c:strCache>
            </c:strRef>
          </c:cat>
          <c:val>
            <c:numRef>
              <c:f>工作表1!$B$4:$J$4</c:f>
              <c:numCache>
                <c:formatCode>#,##0.00</c:formatCode>
                <c:ptCount val="7"/>
                <c:pt idx="0">
                  <c:v>55773</c:v>
                </c:pt>
                <c:pt idx="1">
                  <c:v>58108</c:v>
                </c:pt>
                <c:pt idx="2">
                  <c:v>66354</c:v>
                </c:pt>
                <c:pt idx="3">
                  <c:v>64712</c:v>
                </c:pt>
                <c:pt idx="4">
                  <c:v>68616</c:v>
                </c:pt>
                <c:pt idx="5">
                  <c:v>95168</c:v>
                </c:pt>
                <c:pt idx="6">
                  <c:v>88199</c:v>
                </c:pt>
              </c:numCache>
            </c:numRef>
          </c:val>
          <c:smooth val="0"/>
          <c:extLst>
            <c:ext xmlns:c16="http://schemas.microsoft.com/office/drawing/2014/chart" uri="{C3380CC4-5D6E-409C-BE32-E72D297353CC}">
              <c16:uniqueId val="{00000003-6240-4E62-9DA9-CBEB133A112B}"/>
            </c:ext>
          </c:extLst>
        </c:ser>
        <c:dLbls>
          <c:showLegendKey val="0"/>
          <c:showVal val="0"/>
          <c:showCatName val="0"/>
          <c:showSerName val="0"/>
          <c:showPercent val="0"/>
          <c:showBubbleSize val="0"/>
        </c:dLbls>
        <c:marker val="1"/>
        <c:smooth val="0"/>
        <c:axId val="355216448"/>
        <c:axId val="355215792"/>
      </c:lineChart>
      <c:catAx>
        <c:axId val="142744960"/>
        <c:scaling>
          <c:orientation val="minMax"/>
        </c:scaling>
        <c:delete val="0"/>
        <c:axPos val="b"/>
        <c:numFmt formatCode="General" sourceLinked="0"/>
        <c:majorTickMark val="out"/>
        <c:minorTickMark val="none"/>
        <c:tickLblPos val="nextTo"/>
        <c:txPr>
          <a:bodyPr rot="0" vert="horz"/>
          <a:lstStyle/>
          <a:p>
            <a:pPr>
              <a:defRPr sz="800"/>
            </a:pPr>
            <a:endParaRPr lang="zh-TW"/>
          </a:p>
        </c:txPr>
        <c:crossAx val="142754944"/>
        <c:crosses val="autoZero"/>
        <c:auto val="1"/>
        <c:lblAlgn val="ctr"/>
        <c:lblOffset val="100"/>
        <c:noMultiLvlLbl val="0"/>
      </c:catAx>
      <c:valAx>
        <c:axId val="142754944"/>
        <c:scaling>
          <c:orientation val="minMax"/>
        </c:scaling>
        <c:delete val="1"/>
        <c:axPos val="l"/>
        <c:numFmt formatCode="#,##0.00" sourceLinked="1"/>
        <c:majorTickMark val="out"/>
        <c:minorTickMark val="none"/>
        <c:tickLblPos val="nextTo"/>
        <c:crossAx val="142744960"/>
        <c:crosses val="autoZero"/>
        <c:crossBetween val="between"/>
      </c:valAx>
      <c:valAx>
        <c:axId val="355215792"/>
        <c:scaling>
          <c:orientation val="minMax"/>
        </c:scaling>
        <c:delete val="1"/>
        <c:axPos val="r"/>
        <c:numFmt formatCode="#,##0.00" sourceLinked="1"/>
        <c:majorTickMark val="out"/>
        <c:minorTickMark val="none"/>
        <c:tickLblPos val="nextTo"/>
        <c:crossAx val="355216448"/>
        <c:crosses val="max"/>
        <c:crossBetween val="between"/>
      </c:valAx>
      <c:catAx>
        <c:axId val="355216448"/>
        <c:scaling>
          <c:orientation val="minMax"/>
        </c:scaling>
        <c:delete val="1"/>
        <c:axPos val="b"/>
        <c:numFmt formatCode="General" sourceLinked="1"/>
        <c:majorTickMark val="out"/>
        <c:minorTickMark val="none"/>
        <c:tickLblPos val="nextTo"/>
        <c:crossAx val="355215792"/>
        <c:crosses val="autoZero"/>
        <c:auto val="1"/>
        <c:lblAlgn val="ctr"/>
        <c:lblOffset val="100"/>
        <c:noMultiLvlLbl val="0"/>
      </c:catAx>
    </c:plotArea>
    <c:legend>
      <c:legendPos val="t"/>
      <c:overlay val="0"/>
    </c:legend>
    <c:plotVisOnly val="1"/>
    <c:dispBlanksAs val="gap"/>
    <c:showDLblsOverMax val="0"/>
  </c:chart>
  <c:txPr>
    <a:bodyPr/>
    <a:lstStyle/>
    <a:p>
      <a:pPr>
        <a:defRPr sz="1000"/>
      </a:pPr>
      <a:endParaRPr lang="zh-TW"/>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811817817964517"/>
          <c:y val="0.24816284215811871"/>
          <c:w val="0.83497163276098008"/>
          <c:h val="0.53999171393605216"/>
        </c:manualLayout>
      </c:layout>
      <c:barChart>
        <c:barDir val="col"/>
        <c:grouping val="stacked"/>
        <c:varyColors val="0"/>
        <c:ser>
          <c:idx val="1"/>
          <c:order val="0"/>
          <c:tx>
            <c:strRef>
              <c:f>DDIS!$C$1</c:f>
              <c:strCache>
                <c:ptCount val="1"/>
                <c:pt idx="0">
                  <c:v>債券本金</c:v>
                </c:pt>
              </c:strCache>
            </c:strRef>
          </c:tx>
          <c:spPr>
            <a:solidFill>
              <a:srgbClr val="002D74"/>
            </a:solidFill>
          </c:spPr>
          <c:invertIfNegative val="0"/>
          <c:dLbls>
            <c:delete val="1"/>
          </c:dLbls>
          <c:cat>
            <c:numRef>
              <c:f>DDIS!$E$2:$E$32</c:f>
              <c:numCache>
                <c:formatCode>0_);[Red]\(0\)</c:formatCode>
                <c:ptCount val="31"/>
                <c:pt idx="0">
                  <c:v>2023</c:v>
                </c:pt>
                <c:pt idx="1">
                  <c:v>2024</c:v>
                </c:pt>
                <c:pt idx="2">
                  <c:v>2025</c:v>
                </c:pt>
                <c:pt idx="3">
                  <c:v>2026</c:v>
                </c:pt>
                <c:pt idx="4">
                  <c:v>2027</c:v>
                </c:pt>
                <c:pt idx="5">
                  <c:v>2028</c:v>
                </c:pt>
                <c:pt idx="6">
                  <c:v>2029</c:v>
                </c:pt>
                <c:pt idx="7">
                  <c:v>2030</c:v>
                </c:pt>
                <c:pt idx="8">
                  <c:v>2031</c:v>
                </c:pt>
                <c:pt idx="9">
                  <c:v>2032</c:v>
                </c:pt>
                <c:pt idx="10">
                  <c:v>2033</c:v>
                </c:pt>
                <c:pt idx="11">
                  <c:v>2034</c:v>
                </c:pt>
                <c:pt idx="12">
                  <c:v>2035</c:v>
                </c:pt>
                <c:pt idx="13">
                  <c:v>2036</c:v>
                </c:pt>
                <c:pt idx="14">
                  <c:v>2037</c:v>
                </c:pt>
                <c:pt idx="15">
                  <c:v>2038</c:v>
                </c:pt>
                <c:pt idx="16">
                  <c:v>2039</c:v>
                </c:pt>
                <c:pt idx="17">
                  <c:v>2040</c:v>
                </c:pt>
                <c:pt idx="18">
                  <c:v>2041</c:v>
                </c:pt>
                <c:pt idx="19">
                  <c:v>2042</c:v>
                </c:pt>
                <c:pt idx="20">
                  <c:v>2043</c:v>
                </c:pt>
                <c:pt idx="21">
                  <c:v>2044</c:v>
                </c:pt>
                <c:pt idx="22">
                  <c:v>2045</c:v>
                </c:pt>
                <c:pt idx="23">
                  <c:v>2046</c:v>
                </c:pt>
                <c:pt idx="24">
                  <c:v>2047</c:v>
                </c:pt>
                <c:pt idx="25">
                  <c:v>2048</c:v>
                </c:pt>
                <c:pt idx="26">
                  <c:v>2049</c:v>
                </c:pt>
                <c:pt idx="27">
                  <c:v>2050</c:v>
                </c:pt>
                <c:pt idx="28">
                  <c:v>2051</c:v>
                </c:pt>
                <c:pt idx="29">
                  <c:v>2052</c:v>
                </c:pt>
                <c:pt idx="30">
                  <c:v>2053</c:v>
                </c:pt>
              </c:numCache>
            </c:numRef>
          </c:cat>
          <c:val>
            <c:numRef>
              <c:f>DDIS!$C$2:$C$32</c:f>
              <c:numCache>
                <c:formatCode>0_);[Red]\(0\)</c:formatCode>
                <c:ptCount val="31"/>
                <c:pt idx="0">
                  <c:v>500</c:v>
                </c:pt>
                <c:pt idx="1">
                  <c:v>3928</c:v>
                </c:pt>
                <c:pt idx="2">
                  <c:v>2918</c:v>
                </c:pt>
                <c:pt idx="3">
                  <c:v>2400</c:v>
                </c:pt>
                <c:pt idx="4">
                  <c:v>3141</c:v>
                </c:pt>
                <c:pt idx="5">
                  <c:v>4816</c:v>
                </c:pt>
                <c:pt idx="6">
                  <c:v>1724</c:v>
                </c:pt>
                <c:pt idx="7">
                  <c:v>3219</c:v>
                </c:pt>
                <c:pt idx="8">
                  <c:v>888</c:v>
                </c:pt>
                <c:pt idx="9">
                  <c:v>2760</c:v>
                </c:pt>
                <c:pt idx="10">
                  <c:v>3882</c:v>
                </c:pt>
                <c:pt idx="11">
                  <c:v>4098</c:v>
                </c:pt>
                <c:pt idx="12">
                  <c:v>1992</c:v>
                </c:pt>
                <c:pt idx="13">
                  <c:v>1450</c:v>
                </c:pt>
                <c:pt idx="14">
                  <c:v>1352</c:v>
                </c:pt>
                <c:pt idx="15">
                  <c:v>1107</c:v>
                </c:pt>
                <c:pt idx="16">
                  <c:v>1636</c:v>
                </c:pt>
                <c:pt idx="17">
                  <c:v>2294</c:v>
                </c:pt>
                <c:pt idx="18">
                  <c:v>1748</c:v>
                </c:pt>
                <c:pt idx="19">
                  <c:v>0</c:v>
                </c:pt>
                <c:pt idx="20">
                  <c:v>1007</c:v>
                </c:pt>
                <c:pt idx="21">
                  <c:v>935</c:v>
                </c:pt>
                <c:pt idx="22">
                  <c:v>2477</c:v>
                </c:pt>
                <c:pt idx="23">
                  <c:v>459</c:v>
                </c:pt>
                <c:pt idx="24">
                  <c:v>0</c:v>
                </c:pt>
                <c:pt idx="25">
                  <c:v>1215</c:v>
                </c:pt>
                <c:pt idx="26">
                  <c:v>1950</c:v>
                </c:pt>
                <c:pt idx="27">
                  <c:v>1148</c:v>
                </c:pt>
                <c:pt idx="28">
                  <c:v>0</c:v>
                </c:pt>
                <c:pt idx="29">
                  <c:v>0</c:v>
                </c:pt>
                <c:pt idx="30">
                  <c:v>1770</c:v>
                </c:pt>
              </c:numCache>
            </c:numRef>
          </c:val>
          <c:extLst>
            <c:ext xmlns:c16="http://schemas.microsoft.com/office/drawing/2014/chart" uri="{C3380CC4-5D6E-409C-BE32-E72D297353CC}">
              <c16:uniqueId val="{00000000-2817-4604-8B01-EF89C7CC47B6}"/>
            </c:ext>
          </c:extLst>
        </c:ser>
        <c:ser>
          <c:idx val="2"/>
          <c:order val="1"/>
          <c:tx>
            <c:strRef>
              <c:f>DDIS!$G$1</c:f>
              <c:strCache>
                <c:ptCount val="1"/>
                <c:pt idx="0">
                  <c:v>定期與循環貸款</c:v>
                </c:pt>
              </c:strCache>
            </c:strRef>
          </c:tx>
          <c:spPr>
            <a:solidFill>
              <a:srgbClr val="E85113"/>
            </a:solidFill>
          </c:spPr>
          <c:invertIfNegative val="0"/>
          <c:dLbls>
            <c:delete val="1"/>
          </c:dLbls>
          <c:cat>
            <c:numRef>
              <c:f>DDIS!$E$2:$E$32</c:f>
              <c:numCache>
                <c:formatCode>0_);[Red]\(0\)</c:formatCode>
                <c:ptCount val="31"/>
                <c:pt idx="0">
                  <c:v>2023</c:v>
                </c:pt>
                <c:pt idx="1">
                  <c:v>2024</c:v>
                </c:pt>
                <c:pt idx="2">
                  <c:v>2025</c:v>
                </c:pt>
                <c:pt idx="3">
                  <c:v>2026</c:v>
                </c:pt>
                <c:pt idx="4">
                  <c:v>2027</c:v>
                </c:pt>
                <c:pt idx="5">
                  <c:v>2028</c:v>
                </c:pt>
                <c:pt idx="6">
                  <c:v>2029</c:v>
                </c:pt>
                <c:pt idx="7">
                  <c:v>2030</c:v>
                </c:pt>
                <c:pt idx="8">
                  <c:v>2031</c:v>
                </c:pt>
                <c:pt idx="9">
                  <c:v>2032</c:v>
                </c:pt>
                <c:pt idx="10">
                  <c:v>2033</c:v>
                </c:pt>
                <c:pt idx="11">
                  <c:v>2034</c:v>
                </c:pt>
                <c:pt idx="12">
                  <c:v>2035</c:v>
                </c:pt>
                <c:pt idx="13">
                  <c:v>2036</c:v>
                </c:pt>
                <c:pt idx="14">
                  <c:v>2037</c:v>
                </c:pt>
                <c:pt idx="15">
                  <c:v>2038</c:v>
                </c:pt>
                <c:pt idx="16">
                  <c:v>2039</c:v>
                </c:pt>
                <c:pt idx="17">
                  <c:v>2040</c:v>
                </c:pt>
                <c:pt idx="18">
                  <c:v>2041</c:v>
                </c:pt>
                <c:pt idx="19">
                  <c:v>2042</c:v>
                </c:pt>
                <c:pt idx="20">
                  <c:v>2043</c:v>
                </c:pt>
                <c:pt idx="21">
                  <c:v>2044</c:v>
                </c:pt>
                <c:pt idx="22">
                  <c:v>2045</c:v>
                </c:pt>
                <c:pt idx="23">
                  <c:v>2046</c:v>
                </c:pt>
                <c:pt idx="24">
                  <c:v>2047</c:v>
                </c:pt>
                <c:pt idx="25">
                  <c:v>2048</c:v>
                </c:pt>
                <c:pt idx="26">
                  <c:v>2049</c:v>
                </c:pt>
                <c:pt idx="27">
                  <c:v>2050</c:v>
                </c:pt>
                <c:pt idx="28">
                  <c:v>2051</c:v>
                </c:pt>
                <c:pt idx="29">
                  <c:v>2052</c:v>
                </c:pt>
                <c:pt idx="30">
                  <c:v>2053</c:v>
                </c:pt>
              </c:numCache>
            </c:numRef>
          </c:cat>
          <c:val>
            <c:numRef>
              <c:f>DDIS!$G$2:$G$32</c:f>
              <c:numCache>
                <c:formatCode>0_);[Red]\(0\)</c:formatCode>
                <c:ptCount val="31"/>
                <c:pt idx="0">
                  <c:v>0</c:v>
                </c:pt>
                <c:pt idx="1">
                  <c:v>1159</c:v>
                </c:pt>
                <c:pt idx="2">
                  <c:v>311</c:v>
                </c:pt>
                <c:pt idx="3">
                  <c:v>0</c:v>
                </c:pt>
                <c:pt idx="4">
                  <c:v>1469</c:v>
                </c:pt>
                <c:pt idx="5">
                  <c:v>0</c:v>
                </c:pt>
                <c:pt idx="6">
                  <c:v>43</c:v>
                </c:pt>
                <c:pt idx="7">
                  <c:v>21</c:v>
                </c:pt>
                <c:pt idx="8">
                  <c:v>500</c:v>
                </c:pt>
                <c:pt idx="9">
                  <c:v>207</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val>
          <c:extLst>
            <c:ext xmlns:c16="http://schemas.microsoft.com/office/drawing/2014/chart" uri="{C3380CC4-5D6E-409C-BE32-E72D297353CC}">
              <c16:uniqueId val="{00000001-2817-4604-8B01-EF89C7CC47B6}"/>
            </c:ext>
          </c:extLst>
        </c:ser>
        <c:ser>
          <c:idx val="0"/>
          <c:order val="2"/>
          <c:tx>
            <c:strRef>
              <c:f>DDIS!$H$1</c:f>
              <c:strCache>
                <c:ptCount val="1"/>
                <c:pt idx="0">
                  <c:v>利息</c:v>
                </c:pt>
              </c:strCache>
            </c:strRef>
          </c:tx>
          <c:spPr>
            <a:solidFill>
              <a:srgbClr val="AFCDFF"/>
            </a:solidFill>
          </c:spPr>
          <c:invertIfNegative val="0"/>
          <c:dLbls>
            <c:delete val="1"/>
          </c:dLbls>
          <c:cat>
            <c:numRef>
              <c:f>DDIS!$E$2:$E$32</c:f>
              <c:numCache>
                <c:formatCode>0_);[Red]\(0\)</c:formatCode>
                <c:ptCount val="31"/>
                <c:pt idx="0">
                  <c:v>2023</c:v>
                </c:pt>
                <c:pt idx="1">
                  <c:v>2024</c:v>
                </c:pt>
                <c:pt idx="2">
                  <c:v>2025</c:v>
                </c:pt>
                <c:pt idx="3">
                  <c:v>2026</c:v>
                </c:pt>
                <c:pt idx="4">
                  <c:v>2027</c:v>
                </c:pt>
                <c:pt idx="5">
                  <c:v>2028</c:v>
                </c:pt>
                <c:pt idx="6">
                  <c:v>2029</c:v>
                </c:pt>
                <c:pt idx="7">
                  <c:v>2030</c:v>
                </c:pt>
                <c:pt idx="8">
                  <c:v>2031</c:v>
                </c:pt>
                <c:pt idx="9">
                  <c:v>2032</c:v>
                </c:pt>
                <c:pt idx="10">
                  <c:v>2033</c:v>
                </c:pt>
                <c:pt idx="11">
                  <c:v>2034</c:v>
                </c:pt>
                <c:pt idx="12">
                  <c:v>2035</c:v>
                </c:pt>
                <c:pt idx="13">
                  <c:v>2036</c:v>
                </c:pt>
                <c:pt idx="14">
                  <c:v>2037</c:v>
                </c:pt>
                <c:pt idx="15">
                  <c:v>2038</c:v>
                </c:pt>
                <c:pt idx="16">
                  <c:v>2039</c:v>
                </c:pt>
                <c:pt idx="17">
                  <c:v>2040</c:v>
                </c:pt>
                <c:pt idx="18">
                  <c:v>2041</c:v>
                </c:pt>
                <c:pt idx="19">
                  <c:v>2042</c:v>
                </c:pt>
                <c:pt idx="20">
                  <c:v>2043</c:v>
                </c:pt>
                <c:pt idx="21">
                  <c:v>2044</c:v>
                </c:pt>
                <c:pt idx="22">
                  <c:v>2045</c:v>
                </c:pt>
                <c:pt idx="23">
                  <c:v>2046</c:v>
                </c:pt>
                <c:pt idx="24">
                  <c:v>2047</c:v>
                </c:pt>
                <c:pt idx="25">
                  <c:v>2048</c:v>
                </c:pt>
                <c:pt idx="26">
                  <c:v>2049</c:v>
                </c:pt>
                <c:pt idx="27">
                  <c:v>2050</c:v>
                </c:pt>
                <c:pt idx="28">
                  <c:v>2051</c:v>
                </c:pt>
                <c:pt idx="29">
                  <c:v>2052</c:v>
                </c:pt>
                <c:pt idx="30">
                  <c:v>2053</c:v>
                </c:pt>
              </c:numCache>
            </c:numRef>
          </c:cat>
          <c:val>
            <c:numRef>
              <c:f>DDIS!$H$2:$H$32</c:f>
              <c:numCache>
                <c:formatCode>General</c:formatCode>
                <c:ptCount val="31"/>
                <c:pt idx="0">
                  <c:v>1177</c:v>
                </c:pt>
                <c:pt idx="1">
                  <c:v>3103</c:v>
                </c:pt>
                <c:pt idx="2">
                  <c:v>3003</c:v>
                </c:pt>
                <c:pt idx="3" formatCode="0_);[Red]\(0\)">
                  <c:v>2953</c:v>
                </c:pt>
                <c:pt idx="4" formatCode="0_);[Red]\(0\)">
                  <c:v>2956</c:v>
                </c:pt>
                <c:pt idx="5" formatCode="0_);[Red]\(0\)">
                  <c:v>2899</c:v>
                </c:pt>
                <c:pt idx="6" formatCode="0_);[Red]\(0\)">
                  <c:v>2793</c:v>
                </c:pt>
                <c:pt idx="7" formatCode="0_);[Red]\(0\)">
                  <c:v>2734</c:v>
                </c:pt>
                <c:pt idx="8" formatCode="0_);[Red]\(0\)">
                  <c:v>2679</c:v>
                </c:pt>
                <c:pt idx="9" formatCode="0_);[Red]\(0\)">
                  <c:v>2630</c:v>
                </c:pt>
                <c:pt idx="10" formatCode="0_);[Red]\(0\)">
                  <c:v>2534</c:v>
                </c:pt>
                <c:pt idx="11" formatCode="0_);[Red]\(0\)">
                  <c:v>2436</c:v>
                </c:pt>
                <c:pt idx="12" formatCode="0_);[Red]\(0\)">
                  <c:v>2256</c:v>
                </c:pt>
                <c:pt idx="13" formatCode="0_);[Red]\(0\)">
                  <c:v>2168</c:v>
                </c:pt>
                <c:pt idx="14" formatCode="0_);[Red]\(0\)">
                  <c:v>2140</c:v>
                </c:pt>
                <c:pt idx="15" formatCode="0_);[Red]\(0\)">
                  <c:v>2093</c:v>
                </c:pt>
                <c:pt idx="16" formatCode="0_);[Red]\(0\)">
                  <c:v>1996</c:v>
                </c:pt>
                <c:pt idx="17" formatCode="0_);[Red]\(0\)">
                  <c:v>1917</c:v>
                </c:pt>
                <c:pt idx="18" formatCode="0_);[Red]\(0\)">
                  <c:v>1853</c:v>
                </c:pt>
                <c:pt idx="19" formatCode="0_);[Red]\(0\)">
                  <c:v>1757</c:v>
                </c:pt>
                <c:pt idx="20" formatCode="0_);[Red]\(0\)">
                  <c:v>1756</c:v>
                </c:pt>
                <c:pt idx="21" formatCode="0_);[Red]\(0\)">
                  <c:v>1687</c:v>
                </c:pt>
                <c:pt idx="22" formatCode="0_);[Red]\(0\)">
                  <c:v>1665</c:v>
                </c:pt>
                <c:pt idx="23" formatCode="0_);[Red]\(0\)">
                  <c:v>1545</c:v>
                </c:pt>
                <c:pt idx="24" formatCode="0_);[Red]\(0\)">
                  <c:v>1523</c:v>
                </c:pt>
                <c:pt idx="25" formatCode="0_);[Red]\(0\)">
                  <c:v>1523</c:v>
                </c:pt>
                <c:pt idx="26" formatCode="0_);[Red]\(0\)">
                  <c:v>1463</c:v>
                </c:pt>
                <c:pt idx="27" formatCode="0_);[Red]\(0\)">
                  <c:v>1430</c:v>
                </c:pt>
                <c:pt idx="28" formatCode="0_);[Red]\(0\)">
                  <c:v>1371</c:v>
                </c:pt>
                <c:pt idx="29" formatCode="0_);[Red]\(0\)">
                  <c:v>1371</c:v>
                </c:pt>
                <c:pt idx="30" formatCode="0_);[Red]\(0\)">
                  <c:v>1334</c:v>
                </c:pt>
              </c:numCache>
            </c:numRef>
          </c:val>
          <c:extLst>
            <c:ext xmlns:c16="http://schemas.microsoft.com/office/drawing/2014/chart" uri="{C3380CC4-5D6E-409C-BE32-E72D297353CC}">
              <c16:uniqueId val="{00000002-2817-4604-8B01-EF89C7CC47B6}"/>
            </c:ext>
          </c:extLst>
        </c:ser>
        <c:dLbls>
          <c:showLegendKey val="0"/>
          <c:showVal val="1"/>
          <c:showCatName val="0"/>
          <c:showSerName val="0"/>
          <c:showPercent val="0"/>
          <c:showBubbleSize val="0"/>
        </c:dLbls>
        <c:gapWidth val="95"/>
        <c:overlap val="100"/>
        <c:axId val="433201152"/>
        <c:axId val="433202688"/>
      </c:barChart>
      <c:catAx>
        <c:axId val="433201152"/>
        <c:scaling>
          <c:orientation val="minMax"/>
        </c:scaling>
        <c:delete val="0"/>
        <c:axPos val="b"/>
        <c:numFmt formatCode="0_);[Red]\(0\)" sourceLinked="1"/>
        <c:majorTickMark val="none"/>
        <c:minorTickMark val="none"/>
        <c:tickLblPos val="nextTo"/>
        <c:txPr>
          <a:bodyPr/>
          <a:lstStyle/>
          <a:p>
            <a:pPr>
              <a:defRPr sz="900"/>
            </a:pPr>
            <a:endParaRPr lang="zh-TW"/>
          </a:p>
        </c:txPr>
        <c:crossAx val="433202688"/>
        <c:crosses val="autoZero"/>
        <c:auto val="1"/>
        <c:lblAlgn val="ctr"/>
        <c:lblOffset val="100"/>
        <c:noMultiLvlLbl val="1"/>
      </c:catAx>
      <c:valAx>
        <c:axId val="433202688"/>
        <c:scaling>
          <c:orientation val="minMax"/>
        </c:scaling>
        <c:delete val="0"/>
        <c:axPos val="l"/>
        <c:numFmt formatCode="#,##0_);[Red]\(#,##0\)" sourceLinked="0"/>
        <c:majorTickMark val="out"/>
        <c:minorTickMark val="none"/>
        <c:tickLblPos val="nextTo"/>
        <c:txPr>
          <a:bodyPr/>
          <a:lstStyle/>
          <a:p>
            <a:pPr>
              <a:defRPr sz="900"/>
            </a:pPr>
            <a:endParaRPr lang="zh-TW"/>
          </a:p>
        </c:txPr>
        <c:crossAx val="433201152"/>
        <c:crosses val="autoZero"/>
        <c:crossBetween val="between"/>
      </c:valAx>
      <c:spPr>
        <a:noFill/>
        <a:ln>
          <a:noFill/>
        </a:ln>
      </c:spPr>
    </c:plotArea>
    <c:legend>
      <c:legendPos val="t"/>
      <c:layout>
        <c:manualLayout>
          <c:xMode val="edge"/>
          <c:yMode val="edge"/>
          <c:x val="0.15966733337900946"/>
          <c:y val="3.9100672223682936E-2"/>
          <c:w val="0.32875787548994895"/>
          <c:h val="0.25920631344614342"/>
        </c:manualLayout>
      </c:layout>
      <c:overlay val="0"/>
      <c:txPr>
        <a:bodyPr/>
        <a:lstStyle/>
        <a:p>
          <a:pPr>
            <a:defRPr sz="1000"/>
          </a:pPr>
          <a:endParaRPr lang="zh-TW"/>
        </a:p>
      </c:txPr>
    </c:legend>
    <c:plotVisOnly val="1"/>
    <c:dispBlanksAs val="gap"/>
    <c:showDLblsOverMax val="0"/>
  </c:chart>
  <c:spPr>
    <a:noFill/>
    <a:ln>
      <a:noFill/>
    </a:ln>
  </c:spPr>
  <c:txPr>
    <a:bodyPr/>
    <a:lstStyle/>
    <a:p>
      <a:pPr>
        <a:defRPr sz="1100">
          <a:latin typeface="微軟正黑體" panose="020B0604030504040204" pitchFamily="34" charset="-120"/>
          <a:ea typeface="微軟正黑體" panose="020B0604030504040204" pitchFamily="34" charset="-120"/>
        </a:defRPr>
      </a:pPr>
      <a:endParaRPr lang="zh-TW"/>
    </a:p>
  </c:txPr>
  <c:externalData r:id="rId2">
    <c:autoUpdate val="0"/>
  </c:externalData>
</c:chartSpace>
</file>

<file path=ppt/drawings/drawing1.xml><?xml version="1.0" encoding="utf-8"?>
<c:userShapes xmlns:c="http://schemas.openxmlformats.org/drawingml/2006/chart">
  <cdr:relSizeAnchor xmlns:cdr="http://schemas.openxmlformats.org/drawingml/2006/chartDrawing">
    <cdr:from>
      <cdr:x>0.09227</cdr:x>
      <cdr:y>0.29908</cdr:y>
    </cdr:from>
    <cdr:to>
      <cdr:x>0.55834</cdr:x>
      <cdr:y>0.67479</cdr:y>
    </cdr:to>
    <cdr:sp macro="" textlink="">
      <cdr:nvSpPr>
        <cdr:cNvPr id="2" name="文字方塊 16"/>
        <cdr:cNvSpPr txBox="1"/>
      </cdr:nvSpPr>
      <cdr:spPr>
        <a:xfrm xmlns:a="http://schemas.openxmlformats.org/drawingml/2006/main">
          <a:off x="175144" y="404258"/>
          <a:ext cx="884702" cy="507831"/>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n-US" altLang="zh-TW" sz="900" b="1" dirty="0"/>
            <a:t>FY22</a:t>
          </a:r>
        </a:p>
        <a:p xmlns:a="http://schemas.openxmlformats.org/drawingml/2006/main">
          <a:pPr algn="ctr"/>
          <a:r>
            <a:rPr lang="zh-TW" altLang="en-US" sz="900" b="1" dirty="0"/>
            <a:t>營收</a:t>
          </a:r>
          <a:endParaRPr lang="en-US" altLang="zh-TW" sz="900" b="1" dirty="0"/>
        </a:p>
        <a:p xmlns:a="http://schemas.openxmlformats.org/drawingml/2006/main">
          <a:pPr algn="ctr"/>
          <a:r>
            <a:rPr lang="en-US" altLang="zh-TW" sz="900" b="1" dirty="0"/>
            <a:t>1,435</a:t>
          </a:r>
          <a:r>
            <a:rPr lang="zh-TW" altLang="en-US" sz="900" b="1" dirty="0"/>
            <a:t>億歐元</a:t>
          </a:r>
          <a:endParaRPr lang="en-US" altLang="zh-TW" sz="900" b="1"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2"/>
            <a:ext cx="2950052" cy="497126"/>
          </a:xfrm>
          <a:prstGeom prst="rect">
            <a:avLst/>
          </a:prstGeom>
        </p:spPr>
        <p:txBody>
          <a:bodyPr vert="horz" lIns="91468" tIns="45733" rIns="91468" bIns="45733" rtlCol="0"/>
          <a:lstStyle>
            <a:lvl1pPr algn="l">
              <a:defRPr sz="1200"/>
            </a:lvl1pPr>
          </a:lstStyle>
          <a:p>
            <a:endParaRPr lang="zh-TW" altLang="en-US"/>
          </a:p>
        </p:txBody>
      </p:sp>
      <p:sp>
        <p:nvSpPr>
          <p:cNvPr id="3" name="日期版面配置區 2"/>
          <p:cNvSpPr>
            <a:spLocks noGrp="1"/>
          </p:cNvSpPr>
          <p:nvPr>
            <p:ph type="dt" sz="quarter" idx="1"/>
          </p:nvPr>
        </p:nvSpPr>
        <p:spPr>
          <a:xfrm>
            <a:off x="3855563" y="2"/>
            <a:ext cx="2950051" cy="497126"/>
          </a:xfrm>
          <a:prstGeom prst="rect">
            <a:avLst/>
          </a:prstGeom>
        </p:spPr>
        <p:txBody>
          <a:bodyPr vert="horz" lIns="91468" tIns="45733" rIns="91468" bIns="45733" rtlCol="0"/>
          <a:lstStyle>
            <a:lvl1pPr algn="r">
              <a:defRPr sz="1200"/>
            </a:lvl1pPr>
          </a:lstStyle>
          <a:p>
            <a:fld id="{DB0088FA-AB4C-4EE3-831C-E6A5D9B6A47F}" type="datetimeFigureOut">
              <a:rPr lang="zh-TW" altLang="en-US" smtClean="0"/>
              <a:t>2026/4/17</a:t>
            </a:fld>
            <a:endParaRPr lang="zh-TW" altLang="en-US"/>
          </a:p>
        </p:txBody>
      </p:sp>
      <p:sp>
        <p:nvSpPr>
          <p:cNvPr id="4" name="頁尾版面配置區 3"/>
          <p:cNvSpPr>
            <a:spLocks noGrp="1"/>
          </p:cNvSpPr>
          <p:nvPr>
            <p:ph type="ftr" sz="quarter" idx="2"/>
          </p:nvPr>
        </p:nvSpPr>
        <p:spPr>
          <a:xfrm>
            <a:off x="0" y="9440624"/>
            <a:ext cx="2950052" cy="497126"/>
          </a:xfrm>
          <a:prstGeom prst="rect">
            <a:avLst/>
          </a:prstGeom>
        </p:spPr>
        <p:txBody>
          <a:bodyPr vert="horz" lIns="91468" tIns="45733" rIns="91468" bIns="45733"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5563" y="9440624"/>
            <a:ext cx="2950051" cy="497126"/>
          </a:xfrm>
          <a:prstGeom prst="rect">
            <a:avLst/>
          </a:prstGeom>
        </p:spPr>
        <p:txBody>
          <a:bodyPr vert="horz" lIns="91468" tIns="45733" rIns="91468" bIns="45733" rtlCol="0" anchor="b"/>
          <a:lstStyle>
            <a:lvl1pPr algn="r">
              <a:defRPr sz="1200"/>
            </a:lvl1pPr>
          </a:lstStyle>
          <a:p>
            <a:fld id="{E6DE1C6A-2ED3-47EA-84F1-8271108DD2DB}" type="slidenum">
              <a:rPr lang="zh-TW" altLang="en-US" smtClean="0"/>
              <a:t>‹#›</a:t>
            </a:fld>
            <a:endParaRPr lang="zh-TW" altLang="en-US"/>
          </a:p>
        </p:txBody>
      </p:sp>
    </p:spTree>
    <p:extLst>
      <p:ext uri="{BB962C8B-B14F-4D97-AF65-F5344CB8AC3E}">
        <p14:creationId xmlns:p14="http://schemas.microsoft.com/office/powerpoint/2010/main" val="21038906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9" y="2"/>
            <a:ext cx="2949786" cy="496967"/>
          </a:xfrm>
          <a:prstGeom prst="rect">
            <a:avLst/>
          </a:prstGeom>
        </p:spPr>
        <p:txBody>
          <a:bodyPr vert="horz" lIns="91160" tIns="45572" rIns="91160" bIns="45572" rtlCol="0"/>
          <a:lstStyle>
            <a:lvl1pPr algn="l">
              <a:defRPr sz="1200"/>
            </a:lvl1pPr>
          </a:lstStyle>
          <a:p>
            <a:endParaRPr lang="zh-TW" altLang="en-US"/>
          </a:p>
        </p:txBody>
      </p:sp>
      <p:sp>
        <p:nvSpPr>
          <p:cNvPr id="3" name="日期版面配置區 2"/>
          <p:cNvSpPr>
            <a:spLocks noGrp="1"/>
          </p:cNvSpPr>
          <p:nvPr>
            <p:ph type="dt" idx="1"/>
          </p:nvPr>
        </p:nvSpPr>
        <p:spPr>
          <a:xfrm>
            <a:off x="3855839" y="2"/>
            <a:ext cx="2949786" cy="496967"/>
          </a:xfrm>
          <a:prstGeom prst="rect">
            <a:avLst/>
          </a:prstGeom>
        </p:spPr>
        <p:txBody>
          <a:bodyPr vert="horz" lIns="91160" tIns="45572" rIns="91160" bIns="45572" rtlCol="0"/>
          <a:lstStyle>
            <a:lvl1pPr algn="r">
              <a:defRPr sz="1200"/>
            </a:lvl1pPr>
          </a:lstStyle>
          <a:p>
            <a:fld id="{35708A9D-C909-4D66-A4DC-8E952B844F82}" type="datetimeFigureOut">
              <a:rPr lang="zh-TW" altLang="en-US" smtClean="0"/>
              <a:t>2026/4/17</a:t>
            </a:fld>
            <a:endParaRPr lang="zh-TW" altLang="en-US"/>
          </a:p>
        </p:txBody>
      </p:sp>
      <p:sp>
        <p:nvSpPr>
          <p:cNvPr id="4" name="投影片圖像版面配置區 3"/>
          <p:cNvSpPr>
            <a:spLocks noGrp="1" noRot="1" noChangeAspect="1"/>
          </p:cNvSpPr>
          <p:nvPr>
            <p:ph type="sldImg" idx="2"/>
          </p:nvPr>
        </p:nvSpPr>
        <p:spPr>
          <a:xfrm>
            <a:off x="919163" y="746125"/>
            <a:ext cx="4968875" cy="3725863"/>
          </a:xfrm>
          <a:prstGeom prst="rect">
            <a:avLst/>
          </a:prstGeom>
          <a:noFill/>
          <a:ln w="12700">
            <a:solidFill>
              <a:prstClr val="black"/>
            </a:solidFill>
          </a:ln>
        </p:spPr>
        <p:txBody>
          <a:bodyPr vert="horz" lIns="91160" tIns="45572" rIns="91160" bIns="45572" rtlCol="0" anchor="ctr"/>
          <a:lstStyle/>
          <a:p>
            <a:endParaRPr lang="zh-TW" altLang="en-US"/>
          </a:p>
        </p:txBody>
      </p:sp>
      <p:sp>
        <p:nvSpPr>
          <p:cNvPr id="5" name="備忘稿版面配置區 4"/>
          <p:cNvSpPr>
            <a:spLocks noGrp="1"/>
          </p:cNvSpPr>
          <p:nvPr>
            <p:ph type="body" sz="quarter" idx="3"/>
          </p:nvPr>
        </p:nvSpPr>
        <p:spPr>
          <a:xfrm>
            <a:off x="680721" y="4721186"/>
            <a:ext cx="5445760" cy="4472702"/>
          </a:xfrm>
          <a:prstGeom prst="rect">
            <a:avLst/>
          </a:prstGeom>
        </p:spPr>
        <p:txBody>
          <a:bodyPr vert="horz" lIns="91160" tIns="45572" rIns="91160" bIns="45572"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29" y="9440676"/>
            <a:ext cx="2949786" cy="496967"/>
          </a:xfrm>
          <a:prstGeom prst="rect">
            <a:avLst/>
          </a:prstGeom>
        </p:spPr>
        <p:txBody>
          <a:bodyPr vert="horz" lIns="91160" tIns="45572" rIns="91160" bIns="45572"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39" y="9440676"/>
            <a:ext cx="2949786" cy="496967"/>
          </a:xfrm>
          <a:prstGeom prst="rect">
            <a:avLst/>
          </a:prstGeom>
        </p:spPr>
        <p:txBody>
          <a:bodyPr vert="horz" lIns="91160" tIns="45572" rIns="91160" bIns="45572" rtlCol="0" anchor="b"/>
          <a:lstStyle>
            <a:lvl1pPr algn="r">
              <a:defRPr sz="1200"/>
            </a:lvl1pPr>
          </a:lstStyle>
          <a:p>
            <a:fld id="{677EE9C5-7ACF-43E8-ABC9-16737D2E075F}" type="slidenum">
              <a:rPr lang="zh-TW" altLang="en-US" smtClean="0"/>
              <a:t>‹#›</a:t>
            </a:fld>
            <a:endParaRPr lang="zh-TW" altLang="en-US"/>
          </a:p>
        </p:txBody>
      </p:sp>
    </p:spTree>
    <p:extLst>
      <p:ext uri="{BB962C8B-B14F-4D97-AF65-F5344CB8AC3E}">
        <p14:creationId xmlns:p14="http://schemas.microsoft.com/office/powerpoint/2010/main" val="2251939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919163" y="746125"/>
            <a:ext cx="4968875" cy="3725863"/>
          </a:xfrm>
        </p:spPr>
      </p:sp>
      <p:sp>
        <p:nvSpPr>
          <p:cNvPr id="3" name="備忘稿版面配置區 2"/>
          <p:cNvSpPr>
            <a:spLocks noGrp="1"/>
          </p:cNvSpPr>
          <p:nvPr>
            <p:ph type="body" idx="1"/>
          </p:nvPr>
        </p:nvSpPr>
        <p:spPr/>
        <p:txBody>
          <a:bodyPr/>
          <a:lstStyle/>
          <a:p>
            <a:pPr defTabSz="915496">
              <a:defRPr/>
            </a:pPr>
            <a:r>
              <a:rPr lang="zh-TW" altLang="en-US" dirty="0">
                <a:latin typeface="微軟正黑體" panose="020B0604030504040204" pitchFamily="34" charset="-120"/>
                <a:ea typeface="微軟正黑體" panose="020B0604030504040204" pitchFamily="34" charset="-120"/>
              </a:rPr>
              <a:t>法院批准重新收歸國有</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https://finance.sina.com.cn/stock/usstock/c/2023-05-02/doc-imyskrrr7840607.shtml?finpagefr=p_108</a:t>
            </a:r>
          </a:p>
          <a:p>
            <a:pPr defTabSz="915496">
              <a:defRPr/>
            </a:pPr>
            <a:r>
              <a:rPr lang="en-US" altLang="zh-TW" dirty="0">
                <a:latin typeface="微軟正黑體" panose="020B0604030504040204" pitchFamily="34" charset="-120"/>
                <a:ea typeface="微軟正黑體" panose="020B0604030504040204" pitchFamily="34" charset="-120"/>
              </a:rPr>
              <a:t>https://www.moneydj.com/kmdj/news/newsviewer.aspx?a=9f34c4a0-baa2-44cc-8d57-19dab774f2f5</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https://fund.hncb.com.tw/w/wp/wp05A.djhtm?a=%7B1383E38F-54CC-4F94-89F7-77A453FEC3B4%7D&amp;c=5</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endParaRPr lang="en-US" altLang="zh-TW" dirty="0">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5"/>
          </p:nvPr>
        </p:nvSpPr>
        <p:spPr/>
        <p:txBody>
          <a:bodyPr/>
          <a:lstStyle/>
          <a:p>
            <a:fld id="{677EE9C5-7ACF-43E8-ABC9-16737D2E075F}" type="slidenum">
              <a:rPr lang="zh-TW" altLang="en-US" smtClean="0"/>
              <a:t>2</a:t>
            </a:fld>
            <a:endParaRPr lang="zh-TW" altLang="en-US"/>
          </a:p>
        </p:txBody>
      </p:sp>
    </p:spTree>
    <p:extLst>
      <p:ext uri="{BB962C8B-B14F-4D97-AF65-F5344CB8AC3E}">
        <p14:creationId xmlns:p14="http://schemas.microsoft.com/office/powerpoint/2010/main" val="2800289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2023</a:t>
            </a:r>
            <a:r>
              <a:rPr lang="zh-TW" altLang="en-US" dirty="0"/>
              <a:t>年暢銷藥物</a:t>
            </a:r>
            <a:endParaRPr lang="en-US" altLang="zh-TW" dirty="0"/>
          </a:p>
          <a:p>
            <a:r>
              <a:rPr lang="en-US" altLang="zh-TW" dirty="0"/>
              <a:t>https://www.evaluate.com/vantage/articles/analysis/biggest-selling-drugs-2023</a:t>
            </a:r>
          </a:p>
          <a:p>
            <a:endParaRPr lang="en-US" altLang="zh-TW" dirty="0"/>
          </a:p>
          <a:p>
            <a:pPr algn="l"/>
            <a:endParaRPr lang="zh-TW" altLang="en-US" dirty="0"/>
          </a:p>
        </p:txBody>
      </p:sp>
      <p:sp>
        <p:nvSpPr>
          <p:cNvPr id="4" name="投影片編號版面配置區 3"/>
          <p:cNvSpPr>
            <a:spLocks noGrp="1"/>
          </p:cNvSpPr>
          <p:nvPr>
            <p:ph type="sldNum" sz="quarter" idx="10"/>
          </p:nvPr>
        </p:nvSpPr>
        <p:spPr/>
        <p:txBody>
          <a:bodyPr/>
          <a:lstStyle/>
          <a:p>
            <a:fld id="{677EE9C5-7ACF-43E8-ABC9-16737D2E075F}" type="slidenum">
              <a:rPr lang="zh-TW" altLang="en-US" smtClean="0"/>
              <a:t>3</a:t>
            </a:fld>
            <a:endParaRPr lang="zh-TW" altLang="en-US"/>
          </a:p>
        </p:txBody>
      </p:sp>
    </p:spTree>
    <p:extLst>
      <p:ext uri="{BB962C8B-B14F-4D97-AF65-F5344CB8AC3E}">
        <p14:creationId xmlns:p14="http://schemas.microsoft.com/office/powerpoint/2010/main" val="915090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77EE9C5-7ACF-43E8-ABC9-16737D2E075F}" type="slidenum">
              <a:rPr lang="zh-TW" altLang="en-US" smtClean="0"/>
              <a:t>4</a:t>
            </a:fld>
            <a:endParaRPr lang="zh-TW" altLang="en-US"/>
          </a:p>
        </p:txBody>
      </p:sp>
    </p:spTree>
    <p:extLst>
      <p:ext uri="{BB962C8B-B14F-4D97-AF65-F5344CB8AC3E}">
        <p14:creationId xmlns:p14="http://schemas.microsoft.com/office/powerpoint/2010/main" val="2194876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just" defTabSz="685800" rtl="0" eaLnBrk="1" fontAlgn="auto" latinLnBrk="0" hangingPunct="1">
              <a:lnSpc>
                <a:spcPts val="1300"/>
              </a:lnSpc>
              <a:spcBef>
                <a:spcPts val="300"/>
              </a:spcBef>
              <a:spcAft>
                <a:spcPts val="300"/>
              </a:spcAft>
              <a:buClrTx/>
              <a:buSzTx/>
              <a:buFontTx/>
              <a:buNone/>
              <a:tabLst/>
              <a:defRPr/>
            </a:pPr>
            <a:r>
              <a:rPr lang="zh-TW" altLang="en-US" sz="1200" b="1" dirty="0">
                <a:solidFill>
                  <a:schemeClr val="tx1"/>
                </a:solidFill>
                <a:latin typeface="微軟正黑體" panose="020B0604030504040204" pitchFamily="34" charset="-120"/>
                <a:ea typeface="微軟正黑體" panose="020B0604030504040204" pitchFamily="34" charset="-120"/>
              </a:rPr>
              <a:t>惠譽觀點</a:t>
            </a:r>
            <a:endParaRPr lang="en-US" altLang="zh-TW" sz="1200" b="1" dirty="0">
              <a:solidFill>
                <a:schemeClr val="tx1"/>
              </a:solidFill>
              <a:latin typeface="微軟正黑體" panose="020B0604030504040204" pitchFamily="34" charset="-120"/>
              <a:ea typeface="微軟正黑體" panose="020B0604030504040204" pitchFamily="34" charset="-120"/>
            </a:endParaRPr>
          </a:p>
          <a:p>
            <a:pPr algn="just">
              <a:lnSpc>
                <a:spcPts val="1300"/>
              </a:lnSpc>
              <a:spcBef>
                <a:spcPts val="300"/>
              </a:spcBef>
              <a:spcAft>
                <a:spcPts val="300"/>
              </a:spcAft>
            </a:pPr>
            <a:r>
              <a:rPr lang="zh-TW" altLang="en-US" sz="1200" b="1" kern="1200" dirty="0">
                <a:solidFill>
                  <a:srgbClr val="FF0000"/>
                </a:solidFill>
                <a:latin typeface="微軟正黑體" panose="020B0604030504040204" pitchFamily="34" charset="-120"/>
                <a:ea typeface="微軟正黑體" panose="020B0604030504040204" pitchFamily="34" charset="-120"/>
                <a:cs typeface="+mn-cs"/>
              </a:rPr>
              <a:t>惠譽於</a:t>
            </a:r>
            <a:r>
              <a:rPr lang="en-US" altLang="zh-TW" sz="1200" b="1" kern="1200" dirty="0">
                <a:solidFill>
                  <a:srgbClr val="FF0000"/>
                </a:solidFill>
                <a:latin typeface="微軟正黑體" panose="020B0604030504040204" pitchFamily="34" charset="-120"/>
                <a:ea typeface="微軟正黑體" panose="020B0604030504040204" pitchFamily="34" charset="-120"/>
                <a:cs typeface="+mn-cs"/>
              </a:rPr>
              <a:t>2023/4/3</a:t>
            </a:r>
            <a:r>
              <a:rPr lang="zh-TW" altLang="en-US" sz="1200" b="1" kern="1200" dirty="0">
                <a:solidFill>
                  <a:srgbClr val="FF0000"/>
                </a:solidFill>
                <a:latin typeface="微軟正黑體" panose="020B0604030504040204" pitchFamily="34" charset="-120"/>
                <a:ea typeface="微軟正黑體" panose="020B0604030504040204" pitchFamily="34" charset="-120"/>
                <a:cs typeface="+mn-cs"/>
              </a:rPr>
              <a:t>重申法國電力公司發行人評等為</a:t>
            </a:r>
            <a:r>
              <a:rPr lang="en-US" altLang="zh-TW" sz="1200" b="1" kern="1200" dirty="0">
                <a:solidFill>
                  <a:srgbClr val="FF0000"/>
                </a:solidFill>
                <a:latin typeface="微軟正黑體" panose="020B0604030504040204" pitchFamily="34" charset="-120"/>
                <a:ea typeface="微軟正黑體" panose="020B0604030504040204" pitchFamily="34" charset="-120"/>
                <a:cs typeface="+mn-cs"/>
              </a:rPr>
              <a:t>BBB+</a:t>
            </a:r>
            <a:r>
              <a:rPr lang="zh-TW" altLang="en-US" sz="1200" b="1" kern="1200" dirty="0">
                <a:solidFill>
                  <a:srgbClr val="FF0000"/>
                </a:solidFill>
                <a:latin typeface="微軟正黑體" panose="020B0604030504040204" pitchFamily="34" charset="-120"/>
                <a:ea typeface="微軟正黑體" panose="020B0604030504040204" pitchFamily="34" charset="-120"/>
                <a:cs typeface="+mn-cs"/>
              </a:rPr>
              <a:t>，展望穩定。</a:t>
            </a:r>
            <a:endParaRPr lang="en-US" altLang="zh-TW" sz="1200" b="1" kern="1200" dirty="0">
              <a:solidFill>
                <a:srgbClr val="FF0000"/>
              </a:solidFill>
              <a:latin typeface="微軟正黑體" panose="020B0604030504040204" pitchFamily="34" charset="-120"/>
              <a:ea typeface="微軟正黑體" panose="020B0604030504040204" pitchFamily="34" charset="-120"/>
              <a:cs typeface="+mn-cs"/>
            </a:endParaRPr>
          </a:p>
          <a:p>
            <a:pPr algn="just">
              <a:lnSpc>
                <a:spcPts val="1300"/>
              </a:lnSpc>
              <a:spcBef>
                <a:spcPts val="300"/>
              </a:spcBef>
              <a:spcAft>
                <a:spcPts val="300"/>
              </a:spcAft>
            </a:pPr>
            <a:r>
              <a:rPr lang="zh-TW" altLang="en-US" sz="1200" b="1" kern="1200" dirty="0">
                <a:solidFill>
                  <a:schemeClr val="tx1"/>
                </a:solidFill>
                <a:latin typeface="微軟正黑體" panose="020B0604030504040204" pitchFamily="34" charset="-120"/>
                <a:ea typeface="微軟正黑體" panose="020B0604030504040204" pitchFamily="34" charset="-120"/>
                <a:cs typeface="+mn-cs"/>
              </a:rPr>
              <a:t>重申評等不變，主要反映有利的定價環境</a:t>
            </a:r>
            <a:r>
              <a:rPr lang="zh-TW" altLang="en-US" sz="1200" b="0" kern="1200" dirty="0">
                <a:solidFill>
                  <a:schemeClr val="tx1"/>
                </a:solidFill>
                <a:latin typeface="微軟正黑體" panose="020B0604030504040204" pitchFamily="34" charset="-120"/>
                <a:ea typeface="微軟正黑體" panose="020B0604030504040204" pitchFamily="34" charset="-120"/>
                <a:cs typeface="+mn-cs"/>
              </a:rPr>
              <a:t>，緩解了因新的腐蝕問題導致產量低於預期的風險。</a:t>
            </a:r>
            <a:r>
              <a:rPr lang="zh-TW" altLang="en-US" sz="1200" b="1" kern="1200" dirty="0">
                <a:solidFill>
                  <a:srgbClr val="FF0000"/>
                </a:solidFill>
                <a:latin typeface="微軟正黑體" panose="020B0604030504040204" pitchFamily="34" charset="-120"/>
                <a:ea typeface="微軟正黑體" panose="020B0604030504040204" pitchFamily="34" charset="-120"/>
                <a:cs typeface="+mn-cs"/>
              </a:rPr>
              <a:t>另該評等亦考量了該公司完全國有化，與主權國家的聯繫更緊密，使其評等由獨立信用狀況</a:t>
            </a:r>
            <a:r>
              <a:rPr lang="en-US" altLang="zh-TW" sz="1200" b="1" kern="1200" dirty="0">
                <a:solidFill>
                  <a:srgbClr val="FF0000"/>
                </a:solidFill>
                <a:latin typeface="微軟正黑體" panose="020B0604030504040204" pitchFamily="34" charset="-120"/>
                <a:ea typeface="微軟正黑體" panose="020B0604030504040204" pitchFamily="34" charset="-120"/>
                <a:cs typeface="+mn-cs"/>
              </a:rPr>
              <a:t>(SCP)</a:t>
            </a:r>
            <a:r>
              <a:rPr lang="zh-TW" altLang="en-US" sz="1200" b="1" kern="1200" dirty="0">
                <a:solidFill>
                  <a:srgbClr val="FF0000"/>
                </a:solidFill>
                <a:latin typeface="微軟正黑體" panose="020B0604030504040204" pitchFamily="34" charset="-120"/>
                <a:ea typeface="微軟正黑體" panose="020B0604030504040204" pitchFamily="34" charset="-120"/>
                <a:cs typeface="+mn-cs"/>
              </a:rPr>
              <a:t>「</a:t>
            </a:r>
            <a:r>
              <a:rPr lang="en-US" altLang="zh-TW" sz="1200" b="1" kern="1200" dirty="0" err="1">
                <a:solidFill>
                  <a:srgbClr val="FF0000"/>
                </a:solidFill>
                <a:latin typeface="微軟正黑體" panose="020B0604030504040204" pitchFamily="34" charset="-120"/>
                <a:ea typeface="微軟正黑體" panose="020B0604030504040204" pitchFamily="34" charset="-120"/>
                <a:cs typeface="+mn-cs"/>
              </a:rPr>
              <a:t>bbb</a:t>
            </a:r>
            <a:r>
              <a:rPr lang="en-US" altLang="zh-TW" sz="1200" b="1" kern="1200" dirty="0">
                <a:solidFill>
                  <a:srgbClr val="FF0000"/>
                </a:solidFill>
                <a:latin typeface="微軟正黑體" panose="020B0604030504040204" pitchFamily="34" charset="-120"/>
                <a:ea typeface="微軟正黑體" panose="020B0604030504040204" pitchFamily="34" charset="-120"/>
                <a:cs typeface="+mn-cs"/>
              </a:rPr>
              <a:t>-</a:t>
            </a:r>
            <a:r>
              <a:rPr lang="zh-TW" altLang="en-US" sz="1200" b="1" kern="1200" dirty="0">
                <a:solidFill>
                  <a:srgbClr val="FF0000"/>
                </a:solidFill>
                <a:latin typeface="微軟正黑體" panose="020B0604030504040204" pitchFamily="34" charset="-120"/>
                <a:ea typeface="微軟正黑體" panose="020B0604030504040204" pitchFamily="34" charset="-120"/>
                <a:cs typeface="+mn-cs"/>
              </a:rPr>
              <a:t>」提升</a:t>
            </a:r>
            <a:r>
              <a:rPr lang="en-US" altLang="zh-TW" sz="1200" b="1" kern="1200" dirty="0">
                <a:solidFill>
                  <a:srgbClr val="FF0000"/>
                </a:solidFill>
                <a:latin typeface="微軟正黑體" panose="020B0604030504040204" pitchFamily="34" charset="-120"/>
                <a:ea typeface="微軟正黑體" panose="020B0604030504040204" pitchFamily="34" charset="-120"/>
                <a:cs typeface="+mn-cs"/>
              </a:rPr>
              <a:t>2</a:t>
            </a:r>
            <a:r>
              <a:rPr lang="zh-TW" altLang="en-US" sz="1200" b="1" kern="1200" dirty="0">
                <a:solidFill>
                  <a:srgbClr val="FF0000"/>
                </a:solidFill>
                <a:latin typeface="微軟正黑體" panose="020B0604030504040204" pitchFamily="34" charset="-120"/>
                <a:ea typeface="微軟正黑體" panose="020B0604030504040204" pitchFamily="34" charset="-120"/>
                <a:cs typeface="+mn-cs"/>
              </a:rPr>
              <a:t>個評級</a:t>
            </a:r>
            <a:r>
              <a:rPr lang="zh-TW" altLang="en-US" sz="1200" b="0" kern="1200" dirty="0">
                <a:solidFill>
                  <a:schemeClr val="tx1"/>
                </a:solidFill>
                <a:latin typeface="微軟正黑體" panose="020B0604030504040204" pitchFamily="34" charset="-120"/>
                <a:ea typeface="微軟正黑體" panose="020B0604030504040204" pitchFamily="34" charset="-120"/>
                <a:cs typeface="+mn-cs"/>
              </a:rPr>
              <a:t>。</a:t>
            </a:r>
            <a:endParaRPr lang="en-US" altLang="zh-TW" sz="1200" b="0" kern="1200" dirty="0">
              <a:solidFill>
                <a:schemeClr val="tx1"/>
              </a:solidFill>
              <a:latin typeface="微軟正黑體" panose="020B0604030504040204" pitchFamily="34" charset="-120"/>
              <a:ea typeface="微軟正黑體" panose="020B0604030504040204" pitchFamily="34" charset="-120"/>
              <a:cs typeface="+mn-cs"/>
            </a:endParaRPr>
          </a:p>
          <a:p>
            <a:pPr algn="just">
              <a:lnSpc>
                <a:spcPts val="1300"/>
              </a:lnSpc>
              <a:spcBef>
                <a:spcPts val="300"/>
              </a:spcBef>
              <a:spcAft>
                <a:spcPts val="300"/>
              </a:spcAft>
            </a:pPr>
            <a:r>
              <a:rPr lang="zh-TW" altLang="en-US" sz="1200" b="0" kern="1200" dirty="0">
                <a:solidFill>
                  <a:schemeClr val="tx1"/>
                </a:solidFill>
                <a:latin typeface="微軟正黑體" panose="020B0604030504040204" pitchFamily="34" charset="-120"/>
                <a:ea typeface="微軟正黑體" panose="020B0604030504040204" pitchFamily="34" charset="-120"/>
                <a:cs typeface="+mn-cs"/>
              </a:rPr>
              <a:t>此外，惠譽亦預期</a:t>
            </a:r>
            <a:r>
              <a:rPr lang="zh-CN" altLang="en-US" sz="1200" b="0" kern="1200" dirty="0">
                <a:solidFill>
                  <a:schemeClr val="tx1"/>
                </a:solidFill>
                <a:latin typeface="微軟正黑體" panose="020B0604030504040204" pitchFamily="34" charset="-120"/>
                <a:ea typeface="微軟正黑體" panose="020B0604030504040204" pitchFamily="34" charset="-120"/>
                <a:cs typeface="+mn-cs"/>
              </a:rPr>
              <a:t>健康且社會</a:t>
            </a:r>
            <a:r>
              <a:rPr lang="zh-TW" altLang="en-US" sz="1200" b="0" kern="1200" dirty="0">
                <a:solidFill>
                  <a:schemeClr val="tx1"/>
                </a:solidFill>
                <a:latin typeface="微軟正黑體" panose="020B0604030504040204" pitchFamily="34" charset="-120"/>
                <a:ea typeface="微軟正黑體" panose="020B0604030504040204" pitchFamily="34" charset="-120"/>
                <a:cs typeface="+mn-cs"/>
              </a:rPr>
              <a:t>可持續的電</a:t>
            </a:r>
            <a:r>
              <a:rPr lang="zh-CN" altLang="en-US" sz="1200" b="0" kern="1200" dirty="0">
                <a:solidFill>
                  <a:schemeClr val="tx1"/>
                </a:solidFill>
                <a:latin typeface="微軟正黑體" panose="020B0604030504040204" pitchFamily="34" charset="-120"/>
                <a:ea typeface="微軟正黑體" panose="020B0604030504040204" pitchFamily="34" charset="-120"/>
                <a:cs typeface="+mn-cs"/>
              </a:rPr>
              <a:t>價</a:t>
            </a:r>
            <a:r>
              <a:rPr lang="zh-TW" altLang="en-US" sz="1200" b="0" kern="1200" dirty="0">
                <a:solidFill>
                  <a:schemeClr val="tx1"/>
                </a:solidFill>
                <a:latin typeface="微軟正黑體" panose="020B0604030504040204" pitchFamily="34" charset="-120"/>
                <a:ea typeface="微軟正黑體" panose="020B0604030504040204" pitchFamily="34" charset="-120"/>
                <a:cs typeface="+mn-cs"/>
              </a:rPr>
              <a:t>將</a:t>
            </a:r>
            <a:r>
              <a:rPr lang="zh-CN" altLang="en-US" sz="1200" b="0" kern="1200" dirty="0">
                <a:solidFill>
                  <a:schemeClr val="tx1"/>
                </a:solidFill>
                <a:latin typeface="微軟正黑體" panose="020B0604030504040204" pitchFamily="34" charset="-120"/>
                <a:ea typeface="微軟正黑體" panose="020B0604030504040204" pitchFamily="34" charset="-120"/>
                <a:cs typeface="+mn-cs"/>
              </a:rPr>
              <a:t>支持</a:t>
            </a:r>
            <a:r>
              <a:rPr lang="zh-TW" altLang="en-US" sz="1200" b="0" kern="1200" dirty="0">
                <a:solidFill>
                  <a:schemeClr val="tx1"/>
                </a:solidFill>
                <a:latin typeface="微軟正黑體" panose="020B0604030504040204" pitchFamily="34" charset="-120"/>
                <a:ea typeface="微軟正黑體" panose="020B0604030504040204" pitchFamily="34" charset="-120"/>
                <a:cs typeface="+mn-cs"/>
              </a:rPr>
              <a:t>該公司</a:t>
            </a:r>
            <a:r>
              <a:rPr lang="zh-CN" altLang="en-US" sz="1200" b="0" kern="1200" dirty="0">
                <a:solidFill>
                  <a:schemeClr val="tx1"/>
                </a:solidFill>
                <a:latin typeface="微軟正黑體" panose="020B0604030504040204" pitchFamily="34" charset="-120"/>
                <a:ea typeface="微軟正黑體" panose="020B0604030504040204" pitchFamily="34" charset="-120"/>
                <a:cs typeface="+mn-cs"/>
              </a:rPr>
              <a:t>的現金流生</a:t>
            </a:r>
            <a:r>
              <a:rPr lang="zh-TW" altLang="en-US" sz="1200" b="0" kern="1200" dirty="0">
                <a:solidFill>
                  <a:schemeClr val="tx1"/>
                </a:solidFill>
                <a:latin typeface="微軟正黑體" panose="020B0604030504040204" pitchFamily="34" charset="-120"/>
                <a:ea typeface="微軟正黑體" panose="020B0604030504040204" pitchFamily="34" charset="-120"/>
                <a:cs typeface="+mn-cs"/>
              </a:rPr>
              <a:t>成，帶來有利的中期前景；預期</a:t>
            </a:r>
            <a:r>
              <a:rPr lang="zh-CN" altLang="en-US" sz="1200" b="0" kern="1200" dirty="0">
                <a:solidFill>
                  <a:schemeClr val="tx1"/>
                </a:solidFill>
                <a:latin typeface="微軟正黑體" panose="020B0604030504040204" pitchFamily="34" charset="-120"/>
                <a:ea typeface="微軟正黑體" panose="020B0604030504040204" pitchFamily="34" charset="-120"/>
                <a:cs typeface="+mn-cs"/>
              </a:rPr>
              <a:t>惠譽定義的</a:t>
            </a:r>
            <a:r>
              <a:rPr lang="en-US" altLang="zh-CN" sz="1200" b="0" kern="1200" dirty="0">
                <a:solidFill>
                  <a:schemeClr val="tx1"/>
                </a:solidFill>
                <a:latin typeface="微軟正黑體" panose="020B0604030504040204" pitchFamily="34" charset="-120"/>
                <a:ea typeface="微軟正黑體" panose="020B0604030504040204" pitchFamily="34" charset="-120"/>
                <a:cs typeface="+mn-cs"/>
              </a:rPr>
              <a:t>EBITDA</a:t>
            </a:r>
            <a:r>
              <a:rPr lang="zh-CN" altLang="en-US" sz="1200" b="0" kern="1200" dirty="0">
                <a:solidFill>
                  <a:schemeClr val="tx1"/>
                </a:solidFill>
                <a:latin typeface="微軟正黑體" panose="020B0604030504040204" pitchFamily="34" charset="-120"/>
                <a:ea typeface="微軟正黑體" panose="020B0604030504040204" pitchFamily="34" charset="-120"/>
                <a:cs typeface="+mn-cs"/>
              </a:rPr>
              <a:t>在</a:t>
            </a:r>
            <a:r>
              <a:rPr lang="en-US" altLang="zh-CN" sz="1200" b="0" kern="1200" dirty="0">
                <a:solidFill>
                  <a:schemeClr val="tx1"/>
                </a:solidFill>
                <a:latin typeface="微軟正黑體" panose="020B0604030504040204" pitchFamily="34" charset="-120"/>
                <a:ea typeface="微軟正黑體" panose="020B0604030504040204" pitchFamily="34" charset="-120"/>
                <a:cs typeface="+mn-cs"/>
              </a:rPr>
              <a:t>2024</a:t>
            </a:r>
            <a:r>
              <a:rPr lang="zh-CN" altLang="en-US" sz="1200" b="0" kern="1200" dirty="0">
                <a:solidFill>
                  <a:schemeClr val="tx1"/>
                </a:solidFill>
                <a:latin typeface="微軟正黑體" panose="020B0604030504040204" pitchFamily="34" charset="-120"/>
                <a:ea typeface="微軟正黑體" panose="020B0604030504040204" pitchFamily="34" charset="-120"/>
                <a:cs typeface="+mn-cs"/>
              </a:rPr>
              <a:t>年約</a:t>
            </a:r>
            <a:r>
              <a:rPr lang="en-US" altLang="zh-CN" sz="1200" b="0" kern="1200" dirty="0">
                <a:solidFill>
                  <a:schemeClr val="tx1"/>
                </a:solidFill>
                <a:latin typeface="微軟正黑體" panose="020B0604030504040204" pitchFamily="34" charset="-120"/>
                <a:ea typeface="微軟正黑體" panose="020B0604030504040204" pitchFamily="34" charset="-120"/>
                <a:cs typeface="+mn-cs"/>
              </a:rPr>
              <a:t>240</a:t>
            </a:r>
            <a:r>
              <a:rPr lang="zh-CN" altLang="en-US" sz="1200" b="0" kern="1200" dirty="0">
                <a:solidFill>
                  <a:schemeClr val="tx1"/>
                </a:solidFill>
                <a:latin typeface="微軟正黑體" panose="020B0604030504040204" pitchFamily="34" charset="-120"/>
                <a:ea typeface="微軟正黑體" panose="020B0604030504040204" pitchFamily="34" charset="-120"/>
                <a:cs typeface="+mn-cs"/>
              </a:rPr>
              <a:t>億歐元，</a:t>
            </a:r>
            <a:r>
              <a:rPr lang="en-US" altLang="zh-CN" sz="1200" b="0" kern="1200" dirty="0">
                <a:solidFill>
                  <a:schemeClr val="tx1"/>
                </a:solidFill>
                <a:latin typeface="微軟正黑體" panose="020B0604030504040204" pitchFamily="34" charset="-120"/>
                <a:ea typeface="微軟正黑體" panose="020B0604030504040204" pitchFamily="34" charset="-120"/>
                <a:cs typeface="+mn-cs"/>
              </a:rPr>
              <a:t>2025</a:t>
            </a:r>
            <a:r>
              <a:rPr lang="zh-CN" altLang="en-US" sz="1200" b="0" kern="1200" dirty="0">
                <a:solidFill>
                  <a:schemeClr val="tx1"/>
                </a:solidFill>
                <a:latin typeface="微軟正黑體" panose="020B0604030504040204" pitchFamily="34" charset="-120"/>
                <a:ea typeface="微軟正黑體" panose="020B0604030504040204" pitchFamily="34" charset="-120"/>
                <a:cs typeface="+mn-cs"/>
              </a:rPr>
              <a:t>年約</a:t>
            </a:r>
            <a:r>
              <a:rPr lang="en-US" altLang="zh-CN" sz="1200" b="0" kern="1200" dirty="0">
                <a:solidFill>
                  <a:schemeClr val="tx1"/>
                </a:solidFill>
                <a:latin typeface="微軟正黑體" panose="020B0604030504040204" pitchFamily="34" charset="-120"/>
                <a:ea typeface="微軟正黑體" panose="020B0604030504040204" pitchFamily="34" charset="-120"/>
                <a:cs typeface="+mn-cs"/>
              </a:rPr>
              <a:t>270</a:t>
            </a:r>
            <a:r>
              <a:rPr lang="zh-CN" altLang="en-US" sz="1200" b="0" kern="1200" dirty="0">
                <a:solidFill>
                  <a:schemeClr val="tx1"/>
                </a:solidFill>
                <a:latin typeface="微軟正黑體" panose="020B0604030504040204" pitchFamily="34" charset="-120"/>
                <a:ea typeface="微軟正黑體" panose="020B0604030504040204" pitchFamily="34" charset="-120"/>
                <a:cs typeface="+mn-cs"/>
              </a:rPr>
              <a:t>億歐元</a:t>
            </a:r>
            <a:r>
              <a:rPr lang="zh-TW" altLang="en-US" sz="1200" b="0" kern="1200" dirty="0">
                <a:solidFill>
                  <a:schemeClr val="tx1"/>
                </a:solidFill>
                <a:latin typeface="微軟正黑體" panose="020B0604030504040204" pitchFamily="34" charset="-120"/>
                <a:ea typeface="微軟正黑體" panose="020B0604030504040204" pitchFamily="34" charset="-120"/>
                <a:cs typeface="+mn-cs"/>
              </a:rPr>
              <a:t>。</a:t>
            </a:r>
            <a:endParaRPr lang="zh-TW" altLang="en-US" sz="1200" b="1" dirty="0">
              <a:solidFill>
                <a:srgbClr val="FF0000"/>
              </a:solidFill>
              <a:latin typeface="微軟正黑體" panose="020B0604030504040204" pitchFamily="34" charset="-120"/>
              <a:ea typeface="微軟正黑體" panose="020B0604030504040204" pitchFamily="34" charset="-120"/>
            </a:endParaRPr>
          </a:p>
          <a:p>
            <a:endParaRPr lang="zh-TW" altLang="en-US" dirty="0"/>
          </a:p>
        </p:txBody>
      </p:sp>
      <p:sp>
        <p:nvSpPr>
          <p:cNvPr id="4" name="投影片編號版面配置區 3"/>
          <p:cNvSpPr>
            <a:spLocks noGrp="1"/>
          </p:cNvSpPr>
          <p:nvPr>
            <p:ph type="sldNum" sz="quarter" idx="10"/>
          </p:nvPr>
        </p:nvSpPr>
        <p:spPr/>
        <p:txBody>
          <a:bodyPr/>
          <a:lstStyle/>
          <a:p>
            <a:fld id="{677EE9C5-7ACF-43E8-ABC9-16737D2E075F}" type="slidenum">
              <a:rPr lang="zh-TW" altLang="en-US" smtClean="0"/>
              <a:t>5</a:t>
            </a:fld>
            <a:endParaRPr lang="zh-TW" altLang="en-US"/>
          </a:p>
        </p:txBody>
      </p:sp>
    </p:spTree>
    <p:extLst>
      <p:ext uri="{BB962C8B-B14F-4D97-AF65-F5344CB8AC3E}">
        <p14:creationId xmlns:p14="http://schemas.microsoft.com/office/powerpoint/2010/main" val="14679747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標題投影片">
    <p:spTree>
      <p:nvGrpSpPr>
        <p:cNvPr id="1" name=""/>
        <p:cNvGrpSpPr/>
        <p:nvPr/>
      </p:nvGrpSpPr>
      <p:grpSpPr>
        <a:xfrm>
          <a:off x="0" y="0"/>
          <a:ext cx="0" cy="0"/>
          <a:chOff x="0" y="0"/>
          <a:chExt cx="0" cy="0"/>
        </a:xfrm>
      </p:grpSpPr>
      <p:sp>
        <p:nvSpPr>
          <p:cNvPr id="11" name="副標題 2"/>
          <p:cNvSpPr>
            <a:spLocks noGrp="1"/>
          </p:cNvSpPr>
          <p:nvPr>
            <p:ph type="subTitle" idx="1"/>
          </p:nvPr>
        </p:nvSpPr>
        <p:spPr>
          <a:xfrm>
            <a:off x="1926186" y="3501008"/>
            <a:ext cx="4320000" cy="432048"/>
          </a:xfrm>
          <a:prstGeom prst="rect">
            <a:avLst/>
          </a:prstGeom>
        </p:spPr>
        <p:txBody>
          <a:bodyPr>
            <a:noAutofit/>
          </a:bodyPr>
          <a:lstStyle>
            <a:lvl1pPr marL="0" marR="0" indent="0" algn="l" defTabSz="685800" rtl="0" eaLnBrk="1" fontAlgn="auto" latinLnBrk="0" hangingPunct="1">
              <a:lnSpc>
                <a:spcPct val="100000"/>
              </a:lnSpc>
              <a:spcBef>
                <a:spcPct val="20000"/>
              </a:spcBef>
              <a:spcAft>
                <a:spcPts val="0"/>
              </a:spcAft>
              <a:buClrTx/>
              <a:buSzTx/>
              <a:buFontTx/>
              <a:buNone/>
              <a:tabLst/>
              <a:defRPr sz="1800" b="1">
                <a:solidFill>
                  <a:schemeClr val="bg1">
                    <a:lumMod val="50000"/>
                  </a:schemeClr>
                </a:solidFill>
                <a:latin typeface="微軟正黑體" pitchFamily="34" charset="-120"/>
                <a:ea typeface="微軟正黑體" pitchFamily="34" charset="-12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TW" altLang="en-US" dirty="0"/>
              <a:t>按一下以編輯母片副標題樣式</a:t>
            </a:r>
          </a:p>
        </p:txBody>
      </p:sp>
      <p:sp>
        <p:nvSpPr>
          <p:cNvPr id="17" name="標題 1"/>
          <p:cNvSpPr>
            <a:spLocks noGrp="1"/>
          </p:cNvSpPr>
          <p:nvPr>
            <p:ph type="ctrTitle"/>
          </p:nvPr>
        </p:nvSpPr>
        <p:spPr>
          <a:xfrm>
            <a:off x="1871700" y="2771403"/>
            <a:ext cx="4860000" cy="576064"/>
          </a:xfrm>
          <a:prstGeom prst="rect">
            <a:avLst/>
          </a:prstGeom>
        </p:spPr>
        <p:txBody>
          <a:bodyPr>
            <a:noAutofit/>
          </a:bodyPr>
          <a:lstStyle>
            <a:lvl1pPr algn="l">
              <a:defRPr sz="3000" b="1">
                <a:solidFill>
                  <a:schemeClr val="bg1">
                    <a:lumMod val="50000"/>
                  </a:schemeClr>
                </a:solidFill>
                <a:latin typeface="微軟正黑體" pitchFamily="34" charset="-120"/>
                <a:ea typeface="微軟正黑體" pitchFamily="34" charset="-120"/>
              </a:defRPr>
            </a:lvl1pPr>
          </a:lstStyle>
          <a:p>
            <a:r>
              <a:rPr lang="zh-TW" altLang="en-US" dirty="0"/>
              <a:t>按一下以編輯母片標題樣式</a:t>
            </a:r>
          </a:p>
        </p:txBody>
      </p:sp>
      <p:pic>
        <p:nvPicPr>
          <p:cNvPr id="3" name="图片 2">
            <a:extLst>
              <a:ext uri="{FF2B5EF4-FFF2-40B4-BE49-F238E27FC236}">
                <a16:creationId xmlns:a16="http://schemas.microsoft.com/office/drawing/2014/main" id="{7A7DB523-7990-4024-ADA2-E061F0DAD6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32240" y="2845174"/>
            <a:ext cx="1404156" cy="583155"/>
          </a:xfrm>
          <a:prstGeom prst="rect">
            <a:avLst/>
          </a:prstGeom>
        </p:spPr>
      </p:pic>
      <p:cxnSp>
        <p:nvCxnSpPr>
          <p:cNvPr id="9" name="直接连接符 14">
            <a:extLst>
              <a:ext uri="{FF2B5EF4-FFF2-40B4-BE49-F238E27FC236}">
                <a16:creationId xmlns:a16="http://schemas.microsoft.com/office/drawing/2014/main" id="{EC0A9803-A926-48F3-9681-2B42C0C06D43}"/>
              </a:ext>
            </a:extLst>
          </p:cNvPr>
          <p:cNvCxnSpPr>
            <a:cxnSpLocks/>
          </p:cNvCxnSpPr>
          <p:nvPr userDrawn="1"/>
        </p:nvCxnSpPr>
        <p:spPr>
          <a:xfrm flipH="1">
            <a:off x="0" y="3429000"/>
            <a:ext cx="8082390"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cxnSp>
        <p:nvCxnSpPr>
          <p:cNvPr id="12" name="直接连接符 14">
            <a:extLst>
              <a:ext uri="{FF2B5EF4-FFF2-40B4-BE49-F238E27FC236}">
                <a16:creationId xmlns:a16="http://schemas.microsoft.com/office/drawing/2014/main" id="{EC0A9803-A926-48F3-9681-2B42C0C06D43}"/>
              </a:ext>
            </a:extLst>
          </p:cNvPr>
          <p:cNvCxnSpPr>
            <a:cxnSpLocks/>
          </p:cNvCxnSpPr>
          <p:nvPr userDrawn="1"/>
        </p:nvCxnSpPr>
        <p:spPr>
          <a:xfrm>
            <a:off x="467544" y="5964485"/>
            <a:ext cx="3550109" cy="0"/>
          </a:xfrm>
          <a:prstGeom prst="line">
            <a:avLst/>
          </a:prstGeom>
          <a:ln w="28575">
            <a:gradFill flip="none" rotWithShape="1">
              <a:gsLst>
                <a:gs pos="100000">
                  <a:schemeClr val="bg1">
                    <a:lumMod val="75000"/>
                    <a:alpha val="0"/>
                  </a:schemeClr>
                </a:gs>
                <a:gs pos="0">
                  <a:schemeClr val="bg1">
                    <a:lumMod val="85000"/>
                  </a:schemeClr>
                </a:gs>
              </a:gsLst>
              <a:lin ang="0" scaled="1"/>
              <a:tileRect/>
            </a:gra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sp>
        <p:nvSpPr>
          <p:cNvPr id="10" name="文字方塊 9"/>
          <p:cNvSpPr txBox="1"/>
          <p:nvPr userDrawn="1"/>
        </p:nvSpPr>
        <p:spPr>
          <a:xfrm>
            <a:off x="6246186" y="3429000"/>
            <a:ext cx="1890210" cy="300082"/>
          </a:xfrm>
          <a:prstGeom prst="rect">
            <a:avLst/>
          </a:prstGeom>
          <a:noFill/>
        </p:spPr>
        <p:txBody>
          <a:bodyPr wrap="square" rtlCol="0">
            <a:spAutoFit/>
          </a:bodyPr>
          <a:lstStyle/>
          <a:p>
            <a:pPr algn="r"/>
            <a:r>
              <a:rPr lang="en-US" altLang="zh-TW"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B2B</a:t>
            </a:r>
            <a:r>
              <a:rPr lang="zh-TW" altLang="en-US"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 </a:t>
            </a:r>
            <a:r>
              <a:rPr lang="en-US" altLang="zh-TW"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TEAM</a:t>
            </a:r>
            <a:endParaRPr lang="zh-TW" altLang="en-US"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endParaRPr>
          </a:p>
        </p:txBody>
      </p:sp>
      <p:sp>
        <p:nvSpPr>
          <p:cNvPr id="4" name="文字方塊 3"/>
          <p:cNvSpPr txBox="1"/>
          <p:nvPr userDrawn="1"/>
        </p:nvSpPr>
        <p:spPr>
          <a:xfrm>
            <a:off x="497592" y="5579948"/>
            <a:ext cx="2608406" cy="300082"/>
          </a:xfrm>
          <a:prstGeom prst="rect">
            <a:avLst/>
          </a:prstGeom>
          <a:noFill/>
        </p:spPr>
        <p:txBody>
          <a:bodyPr wrap="none" rtlCol="0">
            <a:spAutoFit/>
          </a:bodyPr>
          <a:lstStyle/>
          <a:p>
            <a:r>
              <a:rPr lang="zh-TW" altLang="en-US" sz="1350" b="1" dirty="0">
                <a:solidFill>
                  <a:schemeClr val="bg1">
                    <a:lumMod val="50000"/>
                  </a:schemeClr>
                </a:solidFill>
              </a:rPr>
              <a:t>國外固定利率債券發行機構簡介</a:t>
            </a:r>
          </a:p>
        </p:txBody>
      </p:sp>
    </p:spTree>
    <p:extLst>
      <p:ext uri="{BB962C8B-B14F-4D97-AF65-F5344CB8AC3E}">
        <p14:creationId xmlns:p14="http://schemas.microsoft.com/office/powerpoint/2010/main" val="549964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
        <p:nvSpPr>
          <p:cNvPr id="10" name="內容版面配置區 3"/>
          <p:cNvSpPr>
            <a:spLocks noGrp="1"/>
          </p:cNvSpPr>
          <p:nvPr>
            <p:ph sz="half" idx="2"/>
          </p:nvPr>
        </p:nvSpPr>
        <p:spPr>
          <a:xfrm>
            <a:off x="467545" y="980728"/>
            <a:ext cx="8213303" cy="5220000"/>
          </a:xfrm>
          <a:prstGeom prst="rect">
            <a:avLst/>
          </a:prstGeom>
        </p:spPr>
        <p:txBody>
          <a:bodyPr/>
          <a:lstStyle>
            <a:lvl1pPr marL="257175" indent="-257175">
              <a:buFont typeface="Wingdings" panose="05000000000000000000" pitchFamily="2" charset="2"/>
              <a:buChar char="n"/>
              <a:defRPr sz="1800">
                <a:latin typeface="微軟正黑體" pitchFamily="34" charset="-120"/>
                <a:ea typeface="微軟正黑體" pitchFamily="34" charset="-120"/>
              </a:defRPr>
            </a:lvl1pPr>
            <a:lvl2pPr>
              <a:defRPr sz="1500" b="0">
                <a:latin typeface="微軟正黑體" pitchFamily="34" charset="-120"/>
                <a:ea typeface="微軟正黑體" pitchFamily="34" charset="-120"/>
              </a:defRPr>
            </a:lvl2pPr>
            <a:lvl3pPr>
              <a:defRPr sz="1350">
                <a:latin typeface="微軟正黑體" pitchFamily="34" charset="-120"/>
                <a:ea typeface="微軟正黑體" pitchFamily="34" charset="-120"/>
              </a:defRPr>
            </a:lvl3pPr>
            <a:lvl4pPr>
              <a:defRPr sz="12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zh-TW" altLang="en-US" dirty="0"/>
          </a:p>
        </p:txBody>
      </p:sp>
      <p:sp>
        <p:nvSpPr>
          <p:cNvPr id="11" name="投影片編號版面配置區 10"/>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358115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073CA6E-B980-4BED-B859-79E8C0786146}"/>
              </a:ext>
            </a:extLst>
          </p:cNvPr>
          <p:cNvSpPr/>
          <p:nvPr userDrawn="1"/>
        </p:nvSpPr>
        <p:spPr>
          <a:xfrm>
            <a:off x="6732240" y="0"/>
            <a:ext cx="241176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投影片編號版面配置區 2"/>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cxnSp>
        <p:nvCxnSpPr>
          <p:cNvPr id="4" name="直接连接符 14">
            <a:extLst>
              <a:ext uri="{FF2B5EF4-FFF2-40B4-BE49-F238E27FC236}">
                <a16:creationId xmlns:a16="http://schemas.microsoft.com/office/drawing/2014/main" id="{7D116BA9-9B78-42D3-9A3A-32518048A7C5}"/>
              </a:ext>
            </a:extLst>
          </p:cNvPr>
          <p:cNvCxnSpPr>
            <a:cxnSpLocks/>
          </p:cNvCxnSpPr>
          <p:nvPr userDrawn="1"/>
        </p:nvCxnSpPr>
        <p:spPr>
          <a:xfrm>
            <a:off x="467544" y="6519747"/>
            <a:ext cx="7173346"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pic>
        <p:nvPicPr>
          <p:cNvPr id="9" name="圖片 8" descr="一張含有 文字 的圖片&#10;&#10;自動產生的描述">
            <a:extLst>
              <a:ext uri="{FF2B5EF4-FFF2-40B4-BE49-F238E27FC236}">
                <a16:creationId xmlns:a16="http://schemas.microsoft.com/office/drawing/2014/main" id="{EDD6439E-0668-40EB-8EE8-43DD01AC00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8248" y="6497912"/>
            <a:ext cx="753090" cy="171448"/>
          </a:xfrm>
          <a:prstGeom prst="rect">
            <a:avLst/>
          </a:prstGeom>
        </p:spPr>
      </p:pic>
      <p:pic>
        <p:nvPicPr>
          <p:cNvPr id="14" name="圖片 13">
            <a:extLst>
              <a:ext uri="{FF2B5EF4-FFF2-40B4-BE49-F238E27FC236}">
                <a16:creationId xmlns:a16="http://schemas.microsoft.com/office/drawing/2014/main" id="{077F17E0-39B1-4EAF-8142-AA65E5998D1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72177" b="35515"/>
          <a:stretch/>
        </p:blipFill>
        <p:spPr>
          <a:xfrm>
            <a:off x="8483570" y="6432163"/>
            <a:ext cx="605138" cy="225344"/>
          </a:xfrm>
          <a:prstGeom prst="rect">
            <a:avLst/>
          </a:prstGeom>
        </p:spPr>
      </p:pic>
      <p:sp>
        <p:nvSpPr>
          <p:cNvPr id="5" name="矩形 4">
            <a:extLst>
              <a:ext uri="{FF2B5EF4-FFF2-40B4-BE49-F238E27FC236}">
                <a16:creationId xmlns:a16="http://schemas.microsoft.com/office/drawing/2014/main" id="{A3B58A0A-0CAB-FE6A-53DF-18ED3B3EFA00}"/>
              </a:ext>
            </a:extLst>
          </p:cNvPr>
          <p:cNvSpPr/>
          <p:nvPr userDrawn="1"/>
        </p:nvSpPr>
        <p:spPr>
          <a:xfrm>
            <a:off x="6732240" y="0"/>
            <a:ext cx="2412000" cy="187558"/>
          </a:xfrm>
          <a:prstGeom prst="rect">
            <a:avLst/>
          </a:prstGeom>
          <a:gradFill flip="none" rotWithShape="1">
            <a:gsLst>
              <a:gs pos="26000">
                <a:srgbClr val="ECE8E5"/>
              </a:gs>
              <a:gs pos="7000">
                <a:schemeClr val="bg1"/>
              </a:gs>
              <a:gs pos="99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pic>
        <p:nvPicPr>
          <p:cNvPr id="10" name="圖片 9"/>
          <p:cNvPicPr>
            <a:picLocks noChangeAspect="1"/>
          </p:cNvPicPr>
          <p:nvPr userDrawn="1"/>
        </p:nvPicPr>
        <p:blipFill>
          <a:blip r:embed="rId4"/>
          <a:stretch>
            <a:fillRect/>
          </a:stretch>
        </p:blipFill>
        <p:spPr>
          <a:xfrm>
            <a:off x="7308304" y="-16771"/>
            <a:ext cx="1999661" cy="256054"/>
          </a:xfrm>
          <a:prstGeom prst="rect">
            <a:avLst/>
          </a:prstGeom>
        </p:spPr>
      </p:pic>
    </p:spTree>
    <p:extLst>
      <p:ext uri="{BB962C8B-B14F-4D97-AF65-F5344CB8AC3E}">
        <p14:creationId xmlns:p14="http://schemas.microsoft.com/office/powerpoint/2010/main" val="326120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兩項物件">
    <p:spTree>
      <p:nvGrpSpPr>
        <p:cNvPr id="1" name=""/>
        <p:cNvGrpSpPr/>
        <p:nvPr/>
      </p:nvGrpSpPr>
      <p:grpSpPr>
        <a:xfrm>
          <a:off x="0" y="0"/>
          <a:ext cx="0" cy="0"/>
          <a:chOff x="0" y="0"/>
          <a:chExt cx="0" cy="0"/>
        </a:xfrm>
      </p:grpSpPr>
      <p:sp>
        <p:nvSpPr>
          <p:cNvPr id="6" name="內容版面配置區 3"/>
          <p:cNvSpPr>
            <a:spLocks noGrp="1"/>
          </p:cNvSpPr>
          <p:nvPr>
            <p:ph sz="half" idx="2"/>
          </p:nvPr>
        </p:nvSpPr>
        <p:spPr>
          <a:xfrm>
            <a:off x="467543"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8"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276872"/>
            <a:ext cx="4050000" cy="360040"/>
          </a:xfrm>
          <a:prstGeom prst="rect">
            <a:avLst/>
          </a:prstGeom>
        </p:spPr>
        <p:style>
          <a:lnRef idx="1">
            <a:schemeClr val="accent4"/>
          </a:lnRef>
          <a:fillRef idx="2">
            <a:schemeClr val="accent4"/>
          </a:fillRef>
          <a:effectRef idx="1">
            <a:schemeClr val="accent4"/>
          </a:effectRef>
          <a:fontRef idx="none"/>
        </p:style>
        <p:txBody>
          <a:bodyPr>
            <a:noAutofit/>
          </a:bodyPr>
          <a:lstStyle>
            <a:lvl1pPr marL="0" indent="0" algn="l">
              <a:buFont typeface="Wingdings" panose="05000000000000000000" pitchFamily="2" charset="2"/>
              <a:buNone/>
              <a:defRPr sz="1350" b="1">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276872"/>
            <a:ext cx="4050000" cy="360040"/>
          </a:xfrm>
          <a:prstGeom prst="rect">
            <a:avLst/>
          </a:prstGeom>
        </p:spPr>
        <p:style>
          <a:lnRef idx="1">
            <a:schemeClr val="accent4"/>
          </a:lnRef>
          <a:fillRef idx="2">
            <a:schemeClr val="accent4"/>
          </a:fillRef>
          <a:effectRef idx="1">
            <a:schemeClr val="accent4"/>
          </a:effectRef>
          <a:fontRef idx="none"/>
        </p:style>
        <p:txBody>
          <a:bodyPr>
            <a:noAutofit/>
          </a:bodyPr>
          <a:lstStyle>
            <a:lvl1pPr marL="0" indent="0" algn="l">
              <a:buFont typeface="Wingdings" panose="05000000000000000000" pitchFamily="2" charset="2"/>
              <a:buNone/>
              <a:defRPr sz="1350" b="1">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73493" y="980728"/>
            <a:ext cx="8208000" cy="1224136"/>
          </a:xfrm>
          <a:prstGeom prst="rect">
            <a:avLst/>
          </a:prstGeom>
        </p:spPr>
        <p:txBody>
          <a:bodyPr>
            <a:normAutofit/>
          </a:bodyPr>
          <a:lstStyle>
            <a:lvl1pPr marL="257175" indent="-257175" algn="l">
              <a:buFont typeface="Wingdings" panose="05000000000000000000" pitchFamily="2" charset="2"/>
              <a:buChar char="n"/>
              <a:defRPr sz="1200">
                <a:solidFill>
                  <a:schemeClr val="tx1">
                    <a:lumMod val="95000"/>
                    <a:lumOff val="5000"/>
                  </a:schemeClr>
                </a:solidFill>
                <a:latin typeface="微軟正黑體" pitchFamily="34" charset="-120"/>
                <a:ea typeface="微軟正黑體" pitchFamily="34" charset="-120"/>
              </a:defRPr>
            </a:lvl1pPr>
          </a:lstStyle>
          <a:p>
            <a:pPr lvl="0"/>
            <a:r>
              <a:rPr lang="zh-TW" altLang="en-US" dirty="0"/>
              <a:t>按一下以編輯母片文字樣式</a:t>
            </a:r>
          </a:p>
        </p:txBody>
      </p:sp>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190618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兩項物件">
    <p:spTree>
      <p:nvGrpSpPr>
        <p:cNvPr id="1" name=""/>
        <p:cNvGrpSpPr/>
        <p:nvPr/>
      </p:nvGrpSpPr>
      <p:grpSpPr>
        <a:xfrm>
          <a:off x="0" y="0"/>
          <a:ext cx="0" cy="0"/>
          <a:chOff x="0" y="0"/>
          <a:chExt cx="0" cy="0"/>
        </a:xfrm>
      </p:grpSpPr>
      <p:sp>
        <p:nvSpPr>
          <p:cNvPr id="6" name="內容版面配置區 3"/>
          <p:cNvSpPr>
            <a:spLocks noGrp="1"/>
          </p:cNvSpPr>
          <p:nvPr>
            <p:ph sz="half" idx="2"/>
          </p:nvPr>
        </p:nvSpPr>
        <p:spPr>
          <a:xfrm>
            <a:off x="467543"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8"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276872"/>
            <a:ext cx="4050000" cy="360040"/>
          </a:xfrm>
          <a:prstGeom prst="rect">
            <a:avLst/>
          </a:prstGeom>
        </p:spPr>
        <p:txBody>
          <a:bodyPr>
            <a:noAutofit/>
          </a:bodyPr>
          <a:lstStyle>
            <a:lvl1pPr marL="214313" indent="-214313" algn="l">
              <a:buFont typeface="Wingdings" panose="05000000000000000000" pitchFamily="2" charset="2"/>
              <a:buChar char="n"/>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276872"/>
            <a:ext cx="4050000" cy="360040"/>
          </a:xfrm>
          <a:prstGeom prst="rect">
            <a:avLst/>
          </a:prstGeom>
        </p:spPr>
        <p:txBody>
          <a:bodyPr>
            <a:noAutofit/>
          </a:bodyPr>
          <a:lstStyle>
            <a:lvl1pPr marL="257175" indent="-257175" algn="l">
              <a:buFont typeface="Wingdings" panose="05000000000000000000" pitchFamily="2" charset="2"/>
              <a:buChar char="n"/>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73493" y="980728"/>
            <a:ext cx="8208000" cy="1224136"/>
          </a:xfrm>
          <a:prstGeom prst="rect">
            <a:avLst/>
          </a:prstGeom>
        </p:spPr>
        <p:txBody>
          <a:bodyPr>
            <a:normAutofit/>
          </a:bodyPr>
          <a:lstStyle>
            <a:lvl1pPr marL="257175" indent="-257175" algn="l">
              <a:buFont typeface="Wingdings" panose="05000000000000000000" pitchFamily="2" charset="2"/>
              <a:buChar char="n"/>
              <a:defRPr sz="1200">
                <a:solidFill>
                  <a:schemeClr val="tx1">
                    <a:lumMod val="95000"/>
                    <a:lumOff val="5000"/>
                  </a:schemeClr>
                </a:solidFill>
                <a:latin typeface="微軟正黑體" pitchFamily="34" charset="-120"/>
                <a:ea typeface="微軟正黑體" pitchFamily="34" charset="-120"/>
              </a:defRPr>
            </a:lvl1pPr>
          </a:lstStyle>
          <a:p>
            <a:pPr lvl="0"/>
            <a:r>
              <a:rPr lang="zh-TW" altLang="en-US" dirty="0"/>
              <a:t>按一下以編輯母片文字樣式</a:t>
            </a:r>
          </a:p>
        </p:txBody>
      </p:sp>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1548317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兩項物件">
    <p:spTree>
      <p:nvGrpSpPr>
        <p:cNvPr id="1" name=""/>
        <p:cNvGrpSpPr/>
        <p:nvPr/>
      </p:nvGrpSpPr>
      <p:grpSpPr>
        <a:xfrm>
          <a:off x="0" y="0"/>
          <a:ext cx="0" cy="0"/>
          <a:chOff x="0" y="0"/>
          <a:chExt cx="0" cy="0"/>
        </a:xfrm>
      </p:grpSpPr>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
        <p:nvSpPr>
          <p:cNvPr id="9" name="內容版面配置區 8"/>
          <p:cNvSpPr>
            <a:spLocks noGrp="1"/>
          </p:cNvSpPr>
          <p:nvPr>
            <p:ph sz="quarter" idx="20"/>
          </p:nvPr>
        </p:nvSpPr>
        <p:spPr>
          <a:xfrm>
            <a:off x="475060" y="1017312"/>
            <a:ext cx="4050000" cy="504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6" name="內容版面配置區 8"/>
          <p:cNvSpPr>
            <a:spLocks noGrp="1"/>
          </p:cNvSpPr>
          <p:nvPr>
            <p:ph sz="quarter" idx="21"/>
          </p:nvPr>
        </p:nvSpPr>
        <p:spPr>
          <a:xfrm>
            <a:off x="4626456" y="1053296"/>
            <a:ext cx="4050000" cy="504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01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b="1">
                <a:latin typeface="微軟正黑體" pitchFamily="34" charset="-120"/>
                <a:ea typeface="微軟正黑體" pitchFamily="34" charset="-120"/>
              </a:defRPr>
            </a:lvl1pPr>
          </a:lstStyle>
          <a:p>
            <a:r>
              <a:rPr lang="zh-TW" altLang="en-US" dirty="0"/>
              <a:t>按一下以編輯母片標題樣式</a:t>
            </a:r>
          </a:p>
        </p:txBody>
      </p:sp>
      <p:sp>
        <p:nvSpPr>
          <p:cNvPr id="10" name="內容版面配置區 3"/>
          <p:cNvSpPr>
            <a:spLocks noGrp="1"/>
          </p:cNvSpPr>
          <p:nvPr>
            <p:ph sz="half" idx="2"/>
          </p:nvPr>
        </p:nvSpPr>
        <p:spPr>
          <a:xfrm>
            <a:off x="467544" y="1268761"/>
            <a:ext cx="8219256" cy="5040560"/>
          </a:xfrm>
          <a:prstGeom prst="rect">
            <a:avLst/>
          </a:prstGeom>
        </p:spPr>
        <p:txBody>
          <a:bodyPr/>
          <a:lstStyle>
            <a:lvl1pPr>
              <a:defRPr sz="1800">
                <a:latin typeface="微軟正黑體" pitchFamily="34" charset="-120"/>
                <a:ea typeface="微軟正黑體" pitchFamily="34" charset="-120"/>
              </a:defRPr>
            </a:lvl1pPr>
            <a:lvl2pPr marL="557213" indent="-214313">
              <a:buFont typeface="Wingdings" panose="05000000000000000000" pitchFamily="2" charset="2"/>
              <a:buChar char="Ø"/>
              <a:defRPr sz="1500" b="0">
                <a:latin typeface="微軟正黑體" pitchFamily="34" charset="-120"/>
                <a:ea typeface="微軟正黑體" pitchFamily="34" charset="-120"/>
              </a:defRPr>
            </a:lvl2pPr>
            <a:lvl3pPr marL="857250" indent="-171450">
              <a:buFont typeface="Wingdings" panose="05000000000000000000" pitchFamily="2" charset="2"/>
              <a:buChar char="ü"/>
              <a:defRPr sz="1350">
                <a:latin typeface="微軟正黑體" pitchFamily="34" charset="-120"/>
                <a:ea typeface="微軟正黑體" pitchFamily="34" charset="-120"/>
              </a:defRPr>
            </a:lvl3pPr>
            <a:lvl4pPr>
              <a:defRPr sz="12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11" name="投影片編號版面配置區 10"/>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633048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6" name="內容版面配置區 3"/>
          <p:cNvSpPr>
            <a:spLocks noGrp="1"/>
          </p:cNvSpPr>
          <p:nvPr>
            <p:ph sz="half" idx="2"/>
          </p:nvPr>
        </p:nvSpPr>
        <p:spPr>
          <a:xfrm>
            <a:off x="467544" y="3168000"/>
            <a:ext cx="4032448" cy="2952328"/>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9" y="3168000"/>
            <a:ext cx="4032448" cy="2952328"/>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736000"/>
            <a:ext cx="4031679" cy="360040"/>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736000"/>
            <a:ext cx="4031679" cy="360040"/>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68315" y="1268760"/>
            <a:ext cx="8208143" cy="1224136"/>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5" name="文字版面配置區 7"/>
          <p:cNvSpPr>
            <a:spLocks noGrp="1"/>
          </p:cNvSpPr>
          <p:nvPr>
            <p:ph type="body" sz="quarter" idx="12"/>
          </p:nvPr>
        </p:nvSpPr>
        <p:spPr>
          <a:xfrm>
            <a:off x="467544" y="6192000"/>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977986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10" name="文字版面配置區 2"/>
          <p:cNvSpPr>
            <a:spLocks noGrp="1"/>
          </p:cNvSpPr>
          <p:nvPr>
            <p:ph type="body" sz="quarter" idx="17"/>
          </p:nvPr>
        </p:nvSpPr>
        <p:spPr>
          <a:xfrm>
            <a:off x="468314" y="4797152"/>
            <a:ext cx="4031679" cy="1152128"/>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1" name="內容版面配置區 3"/>
          <p:cNvSpPr>
            <a:spLocks noGrp="1"/>
          </p:cNvSpPr>
          <p:nvPr>
            <p:ph sz="half" idx="16"/>
          </p:nvPr>
        </p:nvSpPr>
        <p:spPr>
          <a:xfrm>
            <a:off x="4644009" y="1700808"/>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
        <p:nvSpPr>
          <p:cNvPr id="12" name="文字版面配置區 2"/>
          <p:cNvSpPr>
            <a:spLocks noGrp="1"/>
          </p:cNvSpPr>
          <p:nvPr>
            <p:ph type="body" sz="quarter" idx="18"/>
          </p:nvPr>
        </p:nvSpPr>
        <p:spPr>
          <a:xfrm>
            <a:off x="467546" y="1268760"/>
            <a:ext cx="4031679" cy="360040"/>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3" name="文字版面配置區 2"/>
          <p:cNvSpPr>
            <a:spLocks noGrp="1"/>
          </p:cNvSpPr>
          <p:nvPr>
            <p:ph type="body" sz="quarter" idx="19"/>
          </p:nvPr>
        </p:nvSpPr>
        <p:spPr>
          <a:xfrm>
            <a:off x="4644779" y="1268760"/>
            <a:ext cx="4031679" cy="360040"/>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6" name="文字版面配置區 2"/>
          <p:cNvSpPr>
            <a:spLocks noGrp="1"/>
          </p:cNvSpPr>
          <p:nvPr>
            <p:ph type="body" sz="quarter" idx="20"/>
          </p:nvPr>
        </p:nvSpPr>
        <p:spPr>
          <a:xfrm>
            <a:off x="4644779" y="4797152"/>
            <a:ext cx="4031679" cy="1152128"/>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7" name="文字版面配置區 7"/>
          <p:cNvSpPr>
            <a:spLocks noGrp="1"/>
          </p:cNvSpPr>
          <p:nvPr>
            <p:ph type="body" sz="quarter" idx="12"/>
          </p:nvPr>
        </p:nvSpPr>
        <p:spPr>
          <a:xfrm>
            <a:off x="467544" y="6021289"/>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
        <p:nvSpPr>
          <p:cNvPr id="18" name="內容版面配置區 3"/>
          <p:cNvSpPr>
            <a:spLocks noGrp="1"/>
          </p:cNvSpPr>
          <p:nvPr>
            <p:ph sz="half" idx="21"/>
          </p:nvPr>
        </p:nvSpPr>
        <p:spPr>
          <a:xfrm>
            <a:off x="467544" y="1700808"/>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Tree>
    <p:extLst>
      <p:ext uri="{BB962C8B-B14F-4D97-AF65-F5344CB8AC3E}">
        <p14:creationId xmlns:p14="http://schemas.microsoft.com/office/powerpoint/2010/main" val="363557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7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14" name="文字版面配置區 2"/>
          <p:cNvSpPr>
            <a:spLocks noGrp="1"/>
          </p:cNvSpPr>
          <p:nvPr>
            <p:ph type="body" sz="quarter" idx="18"/>
          </p:nvPr>
        </p:nvSpPr>
        <p:spPr>
          <a:xfrm>
            <a:off x="467546" y="1268760"/>
            <a:ext cx="4031679" cy="792088"/>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5" name="文字版面配置區 2"/>
          <p:cNvSpPr>
            <a:spLocks noGrp="1"/>
          </p:cNvSpPr>
          <p:nvPr>
            <p:ph type="body" sz="quarter" idx="19"/>
          </p:nvPr>
        </p:nvSpPr>
        <p:spPr>
          <a:xfrm>
            <a:off x="4644779" y="1268760"/>
            <a:ext cx="4031679" cy="792088"/>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9" name="文字版面配置區 7"/>
          <p:cNvSpPr>
            <a:spLocks noGrp="1"/>
          </p:cNvSpPr>
          <p:nvPr>
            <p:ph type="body" sz="quarter" idx="12"/>
          </p:nvPr>
        </p:nvSpPr>
        <p:spPr>
          <a:xfrm>
            <a:off x="467544" y="5229201"/>
            <a:ext cx="8208912" cy="720080"/>
          </a:xfrm>
          <a:prstGeom prst="rect">
            <a:avLst/>
          </a:prstGeom>
        </p:spPr>
        <p:txBody>
          <a:bodyPr>
            <a:normAutofit/>
          </a:bodyPr>
          <a:lstStyle>
            <a:lvl1pPr marL="128588" indent="-128588">
              <a:buFont typeface="Arial" pitchFamily="34" charset="0"/>
              <a:buChar char="•"/>
              <a:defRPr sz="900">
                <a:latin typeface="微軟正黑體" pitchFamily="34" charset="-120"/>
                <a:ea typeface="微軟正黑體" pitchFamily="34" charset="-120"/>
              </a:defRPr>
            </a:lvl1pPr>
          </a:lstStyle>
          <a:p>
            <a:pPr lvl="0"/>
            <a:r>
              <a:rPr lang="zh-TW" altLang="en-US"/>
              <a:t>按一下以編輯母片文字樣式</a:t>
            </a:r>
          </a:p>
        </p:txBody>
      </p:sp>
      <p:sp>
        <p:nvSpPr>
          <p:cNvPr id="20" name="內容版面配置區 3"/>
          <p:cNvSpPr>
            <a:spLocks noGrp="1"/>
          </p:cNvSpPr>
          <p:nvPr>
            <p:ph sz="half" idx="20"/>
          </p:nvPr>
        </p:nvSpPr>
        <p:spPr>
          <a:xfrm>
            <a:off x="4644009" y="2132856"/>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21" name="內容版面配置區 3"/>
          <p:cNvSpPr>
            <a:spLocks noGrp="1"/>
          </p:cNvSpPr>
          <p:nvPr>
            <p:ph sz="half" idx="2"/>
          </p:nvPr>
        </p:nvSpPr>
        <p:spPr>
          <a:xfrm>
            <a:off x="467544" y="2132856"/>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2" name="投影片編號版面配置區 1"/>
          <p:cNvSpPr>
            <a:spLocks noGrp="1"/>
          </p:cNvSpPr>
          <p:nvPr>
            <p:ph type="sldNum" sz="quarter" idx="21"/>
          </p:nvPr>
        </p:nvSpPr>
        <p:spPr/>
        <p:txBody>
          <a:bodyPr/>
          <a:lstStyle/>
          <a:p>
            <a:fld id="{415482FC-CF5F-466A-B8B6-BC3733E92023}" type="slidenum">
              <a:rPr lang="zh-TW" altLang="en-US" smtClean="0"/>
              <a:pPr/>
              <a:t>‹#›</a:t>
            </a:fld>
            <a:endParaRPr lang="zh-TW" altLang="en-US" dirty="0"/>
          </a:p>
        </p:txBody>
      </p:sp>
      <p:sp>
        <p:nvSpPr>
          <p:cNvPr id="10" name="文字版面配置區 7"/>
          <p:cNvSpPr>
            <a:spLocks noGrp="1"/>
          </p:cNvSpPr>
          <p:nvPr>
            <p:ph type="body" sz="quarter" idx="22"/>
          </p:nvPr>
        </p:nvSpPr>
        <p:spPr>
          <a:xfrm>
            <a:off x="467544" y="6021289"/>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Tree>
    <p:extLst>
      <p:ext uri="{BB962C8B-B14F-4D97-AF65-F5344CB8AC3E}">
        <p14:creationId xmlns:p14="http://schemas.microsoft.com/office/powerpoint/2010/main" val="445683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8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8" name="文字版面配置區 3"/>
          <p:cNvSpPr>
            <a:spLocks noGrp="1"/>
          </p:cNvSpPr>
          <p:nvPr>
            <p:ph type="body" sz="half" idx="2"/>
          </p:nvPr>
        </p:nvSpPr>
        <p:spPr>
          <a:xfrm>
            <a:off x="5597355" y="1268761"/>
            <a:ext cx="3079103" cy="4608512"/>
          </a:xfrm>
          <a:prstGeom prst="rect">
            <a:avLst/>
          </a:prstGeom>
        </p:spPr>
        <p:txBody>
          <a:bodyPr>
            <a:normAutofit/>
          </a:bodyPr>
          <a:lstStyle>
            <a:lvl1pPr marL="214313" indent="-214313">
              <a:buFont typeface="Arial" pitchFamily="34" charset="0"/>
              <a:buChar char="•"/>
              <a:defRPr sz="1200">
                <a:latin typeface="微軟正黑體" pitchFamily="34" charset="-120"/>
                <a:ea typeface="微軟正黑體" pitchFamily="34" charset="-12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按一下以編輯母片文字樣式</a:t>
            </a:r>
          </a:p>
        </p:txBody>
      </p:sp>
      <p:sp>
        <p:nvSpPr>
          <p:cNvPr id="10" name="內容版面配置區 3"/>
          <p:cNvSpPr>
            <a:spLocks noGrp="1"/>
          </p:cNvSpPr>
          <p:nvPr>
            <p:ph sz="half" idx="10"/>
          </p:nvPr>
        </p:nvSpPr>
        <p:spPr>
          <a:xfrm>
            <a:off x="467545" y="1268760"/>
            <a:ext cx="5040560" cy="4248472"/>
          </a:xfrm>
          <a:prstGeom prst="rect">
            <a:avLst/>
          </a:prstGeom>
        </p:spPr>
        <p:txBody>
          <a:bodyPr/>
          <a:lstStyle>
            <a:lvl1pPr>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20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
        <p:nvSpPr>
          <p:cNvPr id="11" name="文字版面配置區 7"/>
          <p:cNvSpPr>
            <a:spLocks noGrp="1"/>
          </p:cNvSpPr>
          <p:nvPr>
            <p:ph type="body" sz="quarter" idx="12"/>
          </p:nvPr>
        </p:nvSpPr>
        <p:spPr>
          <a:xfrm>
            <a:off x="467545" y="5589241"/>
            <a:ext cx="5040560"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
        <p:nvSpPr>
          <p:cNvPr id="2" name="投影片編號版面配置區 1"/>
          <p:cNvSpPr>
            <a:spLocks noGrp="1"/>
          </p:cNvSpPr>
          <p:nvPr>
            <p:ph type="sldNum" sz="quarter" idx="13"/>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784869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9_免責聲明">
    <p:spTree>
      <p:nvGrpSpPr>
        <p:cNvPr id="1" name=""/>
        <p:cNvGrpSpPr/>
        <p:nvPr/>
      </p:nvGrpSpPr>
      <p:grpSpPr>
        <a:xfrm>
          <a:off x="0" y="0"/>
          <a:ext cx="0" cy="0"/>
          <a:chOff x="0" y="0"/>
          <a:chExt cx="0" cy="0"/>
        </a:xfrm>
      </p:grpSpPr>
      <p:sp>
        <p:nvSpPr>
          <p:cNvPr id="2" name="投影片編號版面配置區 1"/>
          <p:cNvSpPr>
            <a:spLocks noGrp="1"/>
          </p:cNvSpPr>
          <p:nvPr>
            <p:ph type="sldNum" sz="quarter" idx="18"/>
          </p:nvPr>
        </p:nvSpPr>
        <p:spPr/>
        <p:txBody>
          <a:bodyPr/>
          <a:lstStyle/>
          <a:p>
            <a:fld id="{415482FC-CF5F-466A-B8B6-BC3733E92023}" type="slidenum">
              <a:rPr lang="zh-TW" altLang="en-US" smtClean="0"/>
              <a:pPr/>
              <a:t>‹#›</a:t>
            </a:fld>
            <a:endParaRPr lang="zh-TW" altLang="en-US" dirty="0"/>
          </a:p>
        </p:txBody>
      </p:sp>
      <p:sp>
        <p:nvSpPr>
          <p:cNvPr id="3" name="矩形 2"/>
          <p:cNvSpPr/>
          <p:nvPr/>
        </p:nvSpPr>
        <p:spPr>
          <a:xfrm>
            <a:off x="518013" y="836715"/>
            <a:ext cx="7992888" cy="507831"/>
          </a:xfrm>
          <a:prstGeom prst="rect">
            <a:avLst/>
          </a:prstGeom>
        </p:spPr>
        <p:txBody>
          <a:bodyPr wrap="square">
            <a:spAutoFit/>
          </a:bodyPr>
          <a:lstStyle/>
          <a:p>
            <a:r>
              <a:rPr lang="zh-TW" altLang="zh-TW" sz="1350" dirty="0">
                <a:solidFill>
                  <a:srgbClr val="FF0000"/>
                </a:solidFill>
                <a:latin typeface="微軟正黑體" pitchFamily="34" charset="-120"/>
                <a:ea typeface="微軟正黑體" pitchFamily="34" charset="-120"/>
              </a:rPr>
              <a:t>免責宣言說明</a:t>
            </a:r>
            <a:endParaRPr lang="en-US" altLang="zh-TW" sz="1350" dirty="0">
              <a:solidFill>
                <a:srgbClr val="FF0000"/>
              </a:solidFill>
              <a:latin typeface="微軟正黑體" pitchFamily="34" charset="-120"/>
              <a:ea typeface="微軟正黑體" pitchFamily="34" charset="-120"/>
            </a:endParaRPr>
          </a:p>
          <a:p>
            <a:endParaRPr lang="en-US" altLang="zh-TW" sz="1350" dirty="0">
              <a:latin typeface="微軟正黑體" pitchFamily="34" charset="-120"/>
              <a:ea typeface="微軟正黑體" pitchFamily="34" charset="-120"/>
            </a:endParaRPr>
          </a:p>
        </p:txBody>
      </p:sp>
      <p:sp>
        <p:nvSpPr>
          <p:cNvPr id="5" name="矩形 4"/>
          <p:cNvSpPr/>
          <p:nvPr userDrawn="1"/>
        </p:nvSpPr>
        <p:spPr>
          <a:xfrm>
            <a:off x="518013" y="836712"/>
            <a:ext cx="7992888" cy="2169825"/>
          </a:xfrm>
          <a:prstGeom prst="rect">
            <a:avLst/>
          </a:prstGeom>
        </p:spPr>
        <p:txBody>
          <a:bodyPr wrap="square">
            <a:spAutoFit/>
          </a:bodyPr>
          <a:lstStyle/>
          <a:p>
            <a:pPr algn="just"/>
            <a:r>
              <a:rPr lang="zh-TW" altLang="zh-TW" sz="1350" dirty="0">
                <a:solidFill>
                  <a:srgbClr val="FF0000"/>
                </a:solidFill>
                <a:latin typeface="微軟正黑體" pitchFamily="34" charset="-120"/>
                <a:ea typeface="微軟正黑體" pitchFamily="34" charset="-120"/>
              </a:rPr>
              <a:t>免責宣言說明</a:t>
            </a:r>
            <a:endParaRPr lang="en-US" altLang="zh-TW" sz="1350" dirty="0">
              <a:solidFill>
                <a:srgbClr val="FF0000"/>
              </a:solidFill>
              <a:latin typeface="微軟正黑體" pitchFamily="34" charset="-120"/>
              <a:ea typeface="微軟正黑體" pitchFamily="34" charset="-120"/>
            </a:endParaRPr>
          </a:p>
          <a:p>
            <a:pPr algn="just"/>
            <a:endParaRPr lang="en-US" altLang="zh-TW" sz="1350" dirty="0">
              <a:latin typeface="微軟正黑體" pitchFamily="34" charset="-120"/>
              <a:ea typeface="微軟正黑體" pitchFamily="34" charset="-120"/>
            </a:endParaRPr>
          </a:p>
          <a:p>
            <a:pPr algn="just"/>
            <a:r>
              <a:rPr lang="zh-TW" altLang="en-US" sz="1350" dirty="0">
                <a:latin typeface="微軟正黑體" pitchFamily="34" charset="-120"/>
                <a:ea typeface="微軟正黑體" pitchFamily="34" charset="-120"/>
              </a:rPr>
              <a:t>免責聲明</a:t>
            </a:r>
            <a:r>
              <a:rPr lang="en-US" altLang="zh-TW" sz="1350" dirty="0">
                <a:latin typeface="微軟正黑體" pitchFamily="34" charset="-120"/>
                <a:ea typeface="微軟正黑體" pitchFamily="34" charset="-120"/>
              </a:rPr>
              <a:t>:</a:t>
            </a:r>
          </a:p>
          <a:p>
            <a:pPr algn="just"/>
            <a:r>
              <a:rPr lang="zh-TW" altLang="en-US" sz="1350" dirty="0">
                <a:latin typeface="微軟正黑體" pitchFamily="34" charset="-120"/>
                <a:ea typeface="微軟正黑體" pitchFamily="34" charset="-120"/>
              </a:rPr>
              <a:t>台新證券投資顧問股份有限公司 </a:t>
            </a:r>
            <a:r>
              <a:rPr lang="en-US" altLang="zh-TW" sz="1350" dirty="0">
                <a:latin typeface="微軟正黑體" pitchFamily="34" charset="-120"/>
                <a:ea typeface="微軟正黑體" pitchFamily="34" charset="-120"/>
              </a:rPr>
              <a:t>(02)5589-9558  Fax:(02)3707-6769  </a:t>
            </a:r>
            <a:r>
              <a:rPr lang="zh-TW" altLang="en-US" sz="1350" dirty="0">
                <a:latin typeface="微軟正黑體" pitchFamily="34" charset="-120"/>
                <a:ea typeface="微軟正黑體" pitchFamily="34" charset="-120"/>
              </a:rPr>
              <a:t>地址</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台北市仁愛路四段</a:t>
            </a:r>
            <a:r>
              <a:rPr lang="en-US" altLang="zh-TW" sz="1350" dirty="0">
                <a:latin typeface="微軟正黑體" pitchFamily="34" charset="-120"/>
                <a:ea typeface="微軟正黑體" pitchFamily="34" charset="-120"/>
              </a:rPr>
              <a:t>118</a:t>
            </a:r>
            <a:r>
              <a:rPr lang="zh-TW" altLang="en-US" sz="1350" dirty="0">
                <a:latin typeface="微軟正黑體" pitchFamily="34" charset="-120"/>
                <a:ea typeface="微軟正黑體" pitchFamily="34" charset="-120"/>
              </a:rPr>
              <a:t>號</a:t>
            </a:r>
            <a:r>
              <a:rPr lang="en-US" altLang="zh-TW" sz="1350" dirty="0">
                <a:latin typeface="微軟正黑體" pitchFamily="34" charset="-120"/>
                <a:ea typeface="微軟正黑體" pitchFamily="34" charset="-120"/>
              </a:rPr>
              <a:t>16</a:t>
            </a:r>
            <a:r>
              <a:rPr lang="zh-TW" altLang="en-US" sz="1350" dirty="0">
                <a:latin typeface="微軟正黑體" pitchFamily="34" charset="-120"/>
                <a:ea typeface="微軟正黑體" pitchFamily="34" charset="-120"/>
              </a:rPr>
              <a:t>樓  一百零八金管投顧新字第零壹柒號。本報告所載係根據各項市場資訊</a:t>
            </a:r>
            <a:r>
              <a:rPr lang="en-US" altLang="zh-TW" sz="1350" dirty="0">
                <a:latin typeface="微軟正黑體" pitchFamily="34" charset="-120"/>
                <a:ea typeface="微軟正黑體" pitchFamily="34" charset="-120"/>
              </a:rPr>
              <a:t>, </a:t>
            </a:r>
            <a:r>
              <a:rPr lang="zh-TW" altLang="en-US" sz="1350" dirty="0">
                <a:latin typeface="微軟正黑體" pitchFamily="34" charset="-120"/>
                <a:ea typeface="微軟正黑體" pitchFamily="34" charset="-120"/>
              </a:rPr>
              <a:t>加以整理、彙集及研究分析。僅供參考，本公司不保證其正確性及完整性。內容如涉及有價證券或金融商品相關記載或說明，並不構成要約、招攬、宣傳、建議或推薦買賣等任何形式之表示，投資人如參考本報告進行相關投資或交易，應自行承擔所有損益</a:t>
            </a:r>
            <a:r>
              <a:rPr lang="en-US" altLang="zh-TW" sz="1350" dirty="0">
                <a:latin typeface="微軟正黑體" pitchFamily="34" charset="-120"/>
                <a:ea typeface="微軟正黑體" pitchFamily="34" charset="-120"/>
              </a:rPr>
              <a:t>, </a:t>
            </a:r>
            <a:r>
              <a:rPr lang="zh-TW" altLang="en-US" sz="1350" dirty="0">
                <a:latin typeface="微軟正黑體" pitchFamily="34" charset="-120"/>
                <a:ea typeface="微軟正黑體" pitchFamily="34" charset="-120"/>
              </a:rPr>
              <a:t>本公司不負任何法律責任。另本公司同時擔任木星基金總代理人，惟本公司投資研究部門與招攬木星基金之業務部門，不相隸屬且予適當區隔，不致侵害客戶利益。此外，非經本公司同意，不得將本報告內容之部份或全部加以複製、轉載或散布。</a:t>
            </a:r>
            <a:endParaRPr lang="en-US" altLang="zh-TW" sz="1350" dirty="0">
              <a:latin typeface="微軟正黑體" pitchFamily="34" charset="-120"/>
              <a:ea typeface="微軟正黑體" pitchFamily="34" charset="-120"/>
            </a:endParaRPr>
          </a:p>
        </p:txBody>
      </p:sp>
    </p:spTree>
    <p:extLst>
      <p:ext uri="{BB962C8B-B14F-4D97-AF65-F5344CB8AC3E}">
        <p14:creationId xmlns:p14="http://schemas.microsoft.com/office/powerpoint/2010/main" val="1203142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投影片編號版面配置區 5"/>
          <p:cNvSpPr>
            <a:spLocks noGrp="1"/>
          </p:cNvSpPr>
          <p:nvPr>
            <p:ph type="sldNum" sz="quarter" idx="4"/>
          </p:nvPr>
        </p:nvSpPr>
        <p:spPr>
          <a:xfrm>
            <a:off x="197514" y="6381328"/>
            <a:ext cx="395064" cy="288032"/>
          </a:xfrm>
          <a:prstGeom prst="rect">
            <a:avLst/>
          </a:prstGeom>
        </p:spPr>
        <p:txBody>
          <a:bodyPr/>
          <a:lstStyle>
            <a:lvl1pPr>
              <a:defRPr sz="900">
                <a:latin typeface="Arial" pitchFamily="34" charset="0"/>
                <a:cs typeface="Arial" pitchFamily="34" charset="0"/>
              </a:defRPr>
            </a:lvl1pPr>
          </a:lstStyle>
          <a:p>
            <a:fld id="{415482FC-CF5F-466A-B8B6-BC3733E92023}" type="slidenum">
              <a:rPr lang="zh-TW" altLang="en-US" smtClean="0"/>
              <a:pPr/>
              <a:t>‹#›</a:t>
            </a:fld>
            <a:endParaRPr lang="zh-TW" altLang="en-US" dirty="0"/>
          </a:p>
        </p:txBody>
      </p:sp>
      <p:cxnSp>
        <p:nvCxnSpPr>
          <p:cNvPr id="7" name="直接连接符 14">
            <a:extLst>
              <a:ext uri="{FF2B5EF4-FFF2-40B4-BE49-F238E27FC236}">
                <a16:creationId xmlns:a16="http://schemas.microsoft.com/office/drawing/2014/main" id="{EC0A9803-A926-48F3-9681-2B42C0C06D43}"/>
              </a:ext>
            </a:extLst>
          </p:cNvPr>
          <p:cNvCxnSpPr>
            <a:cxnSpLocks/>
          </p:cNvCxnSpPr>
          <p:nvPr userDrawn="1"/>
        </p:nvCxnSpPr>
        <p:spPr>
          <a:xfrm>
            <a:off x="467544" y="6519747"/>
            <a:ext cx="7173346"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grpSp>
        <p:nvGrpSpPr>
          <p:cNvPr id="9" name="群組 8"/>
          <p:cNvGrpSpPr/>
          <p:nvPr userDrawn="1"/>
        </p:nvGrpSpPr>
        <p:grpSpPr>
          <a:xfrm>
            <a:off x="7758354" y="6450842"/>
            <a:ext cx="1253784" cy="233799"/>
            <a:chOff x="2747814" y="218978"/>
            <a:chExt cx="3060153" cy="491493"/>
          </a:xfrm>
        </p:grpSpPr>
        <p:pic>
          <p:nvPicPr>
            <p:cNvPr id="14" name="Picture 2" descr="台新綜合證券股份有限公司等包銷聯上實業股份有限公司國內第三次無擔保轉">
              <a:extLst>
                <a:ext uri="{FF2B5EF4-FFF2-40B4-BE49-F238E27FC236}">
                  <a16:creationId xmlns:a16="http://schemas.microsoft.com/office/drawing/2014/main" id="{2FD9BB75-12CC-AE4F-BABA-8091371005B8}"/>
                </a:ext>
              </a:extLst>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2747814" y="350046"/>
              <a:ext cx="1583173" cy="360425"/>
            </a:xfrm>
            <a:prstGeom prst="rect">
              <a:avLst/>
            </a:prstGeom>
            <a:noFill/>
            <a:extLst>
              <a:ext uri="{909E8E84-426E-40DD-AFC4-6F175D3DCCD1}">
                <a14:hiddenFill xmlns:a14="http://schemas.microsoft.com/office/drawing/2010/main">
                  <a:solidFill>
                    <a:srgbClr val="FFFFFF"/>
                  </a:solidFill>
                </a14:hiddenFill>
              </a:ext>
            </a:extLst>
          </p:spPr>
        </p:pic>
        <p:pic>
          <p:nvPicPr>
            <p:cNvPr id="15" name="圖片 14"/>
            <p:cNvPicPr>
              <a:picLocks noChangeAspect="1"/>
            </p:cNvPicPr>
            <p:nvPr/>
          </p:nvPicPr>
          <p:blipFill rotWithShape="1">
            <a:blip r:embed="rId15" cstate="screen">
              <a:extLst>
                <a:ext uri="{28A0092B-C50C-407E-A947-70E740481C1C}">
                  <a14:useLocalDpi xmlns:a14="http://schemas.microsoft.com/office/drawing/2010/main"/>
                </a:ext>
              </a:extLst>
            </a:blip>
            <a:srcRect r="72177" b="35515"/>
            <a:stretch/>
          </p:blipFill>
          <p:spPr>
            <a:xfrm>
              <a:off x="4330987" y="218978"/>
              <a:ext cx="1476980" cy="473718"/>
            </a:xfrm>
            <a:prstGeom prst="rect">
              <a:avLst/>
            </a:prstGeom>
          </p:spPr>
        </p:pic>
      </p:grpSp>
      <p:sp>
        <p:nvSpPr>
          <p:cNvPr id="18" name="矩形 17">
            <a:extLst>
              <a:ext uri="{FF2B5EF4-FFF2-40B4-BE49-F238E27FC236}">
                <a16:creationId xmlns:a16="http://schemas.microsoft.com/office/drawing/2014/main" id="{A3B58A0A-0CAB-FE6A-53DF-18ED3B3EFA00}"/>
              </a:ext>
            </a:extLst>
          </p:cNvPr>
          <p:cNvSpPr/>
          <p:nvPr userDrawn="1"/>
        </p:nvSpPr>
        <p:spPr>
          <a:xfrm>
            <a:off x="6732240" y="0"/>
            <a:ext cx="2412000" cy="187558"/>
          </a:xfrm>
          <a:prstGeom prst="rect">
            <a:avLst/>
          </a:prstGeom>
          <a:gradFill flip="none" rotWithShape="1">
            <a:gsLst>
              <a:gs pos="26000">
                <a:srgbClr val="ECE8E5"/>
              </a:gs>
              <a:gs pos="7000">
                <a:schemeClr val="bg1"/>
              </a:gs>
              <a:gs pos="99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pic>
        <p:nvPicPr>
          <p:cNvPr id="19" name="圖片 18"/>
          <p:cNvPicPr>
            <a:picLocks noChangeAspect="1"/>
          </p:cNvPicPr>
          <p:nvPr userDrawn="1"/>
        </p:nvPicPr>
        <p:blipFill>
          <a:blip r:embed="rId16"/>
          <a:stretch>
            <a:fillRect/>
          </a:stretch>
        </p:blipFill>
        <p:spPr>
          <a:xfrm>
            <a:off x="7308304" y="-16771"/>
            <a:ext cx="1999661" cy="256054"/>
          </a:xfrm>
          <a:prstGeom prst="rect">
            <a:avLst/>
          </a:prstGeom>
        </p:spPr>
      </p:pic>
    </p:spTree>
    <p:extLst>
      <p:ext uri="{BB962C8B-B14F-4D97-AF65-F5344CB8AC3E}">
        <p14:creationId xmlns:p14="http://schemas.microsoft.com/office/powerpoint/2010/main" val="2055990614"/>
      </p:ext>
    </p:extLst>
  </p:cSld>
  <p:clrMap bg1="lt1" tx1="dk1" bg2="lt2" tx2="dk2" accent1="accent1" accent2="accent2" accent3="accent3" accent4="accent4" accent5="accent5" accent6="accent6" hlink="hlink" folHlink="folHlink"/>
  <p:sldLayoutIdLst>
    <p:sldLayoutId id="2147483669" r:id="rId1"/>
    <p:sldLayoutId id="2147483678" r:id="rId2"/>
    <p:sldLayoutId id="2147483682" r:id="rId3"/>
    <p:sldLayoutId id="2147483681" r:id="rId4"/>
    <p:sldLayoutId id="2147483679" r:id="rId5"/>
    <p:sldLayoutId id="2147483680" r:id="rId6"/>
    <p:sldLayoutId id="2147483671" r:id="rId7"/>
    <p:sldLayoutId id="2147483673" r:id="rId8"/>
    <p:sldLayoutId id="2147483674" r:id="rId9"/>
    <p:sldLayoutId id="2147483675" r:id="rId10"/>
    <p:sldLayoutId id="2147483676" r:id="rId11"/>
    <p:sldLayoutId id="2147483677" r:id="rId12"/>
  </p:sldLayoutIdLst>
  <p:hf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11.png"/><Relationship Id="rId7" Type="http://schemas.openxmlformats.org/officeDocument/2006/relationships/image" Target="../media/image6.png"/><Relationship Id="rId12" Type="http://schemas.openxmlformats.org/officeDocument/2006/relationships/image" Target="../media/image18.png"/><Relationship Id="rId2" Type="http://schemas.openxmlformats.org/officeDocument/2006/relationships/notesSlide" Target="../notesSlides/notesSlide2.xml"/><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hyperlink" Target="https://www.edf.fr/sites/groupe/files/2026-04/2026-04-02-edf-facts-and-figures-2025.pdf" TargetMode="External"/><Relationship Id="rId11" Type="http://schemas.openxmlformats.org/officeDocument/2006/relationships/image" Target="../media/image17.png"/><Relationship Id="rId5" Type="http://schemas.openxmlformats.org/officeDocument/2006/relationships/image" Target="../media/image13.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2.png"/><Relationship Id="rId9" Type="http://schemas.openxmlformats.org/officeDocument/2006/relationships/image" Target="../media/image15.png"/><Relationship Id="rId14"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s://www.edf.fr/en/the-edf-group/dedicated-sections/journalists/all-press-releases/2023-half-year-results-substantially-higher-ebitda-and-stabilisation-of-net-financial-debt-gradual-return-to-better-nuclear-fleet-availability-good-overall-operational-performance" TargetMode="External"/><Relationship Id="rId7"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5.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chart" Target="../charts/chart4.xml"/><Relationship Id="rId5" Type="http://schemas.openxmlformats.org/officeDocument/2006/relationships/image" Target="../media/image27.png"/><Relationship Id="rId10" Type="http://schemas.openxmlformats.org/officeDocument/2006/relationships/chart" Target="../charts/chart5.xml"/><Relationship Id="rId4" Type="http://schemas.openxmlformats.org/officeDocument/2006/relationships/image" Target="../media/image26.png"/><Relationship Id="rId9"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標題 2"/>
          <p:cNvSpPr>
            <a:spLocks noGrp="1"/>
          </p:cNvSpPr>
          <p:nvPr>
            <p:ph type="subTitle" idx="1"/>
          </p:nvPr>
        </p:nvSpPr>
        <p:spPr>
          <a:xfrm>
            <a:off x="2664328" y="3483648"/>
            <a:ext cx="4626574" cy="349749"/>
          </a:xfrm>
        </p:spPr>
        <p:txBody>
          <a:bodyPr/>
          <a:lstStyle/>
          <a:p>
            <a:r>
              <a:rPr lang="en-US" altLang="zh-TW" dirty="0" err="1"/>
              <a:t>Électricité</a:t>
            </a:r>
            <a:r>
              <a:rPr lang="en-US" altLang="zh-TW" dirty="0"/>
              <a:t> de France S.A.</a:t>
            </a:r>
          </a:p>
        </p:txBody>
      </p:sp>
      <p:sp>
        <p:nvSpPr>
          <p:cNvPr id="8" name="标题 4">
            <a:extLst>
              <a:ext uri="{FF2B5EF4-FFF2-40B4-BE49-F238E27FC236}">
                <a16:creationId xmlns:a16="http://schemas.microsoft.com/office/drawing/2014/main" id="{1AE4FD0B-D14F-4EEF-AFF6-9742FB255240}"/>
              </a:ext>
            </a:extLst>
          </p:cNvPr>
          <p:cNvSpPr txBox="1">
            <a:spLocks/>
          </p:cNvSpPr>
          <p:nvPr/>
        </p:nvSpPr>
        <p:spPr>
          <a:xfrm>
            <a:off x="359533" y="3429000"/>
            <a:ext cx="6048671" cy="432048"/>
          </a:xfrm>
          <a:prstGeom prst="rect">
            <a:avLst/>
          </a:prstGeom>
        </p:spPr>
        <p:txBody>
          <a:bodyPr>
            <a:noAutofit/>
          </a:bodyPr>
          <a:lstStyle>
            <a:lvl1pPr algn="l" defTabSz="914400" rtl="0" eaLnBrk="1" latinLnBrk="0" hangingPunct="1">
              <a:spcBef>
                <a:spcPct val="0"/>
              </a:spcBef>
              <a:buNone/>
              <a:defRPr sz="4000" b="1" kern="1200">
                <a:solidFill>
                  <a:schemeClr val="tx1">
                    <a:lumMod val="95000"/>
                    <a:lumOff val="5000"/>
                  </a:schemeClr>
                </a:solidFill>
                <a:latin typeface="微軟正黑體" pitchFamily="34" charset="-120"/>
                <a:ea typeface="微軟正黑體" pitchFamily="34" charset="-120"/>
                <a:cs typeface="+mj-cs"/>
              </a:defRPr>
            </a:lvl1pPr>
          </a:lstStyle>
          <a:p>
            <a:pPr>
              <a:defRPr/>
            </a:pPr>
            <a:br>
              <a:rPr lang="zh-TW" altLang="en-US" sz="3000" dirty="0">
                <a:solidFill>
                  <a:schemeClr val="tx2"/>
                </a:solidFill>
              </a:rPr>
            </a:br>
            <a:endParaRPr lang="en-US" altLang="zh-TW" sz="3000" dirty="0">
              <a:solidFill>
                <a:schemeClr val="tx1">
                  <a:lumMod val="75000"/>
                  <a:lumOff val="25000"/>
                </a:schemeClr>
              </a:solidFill>
              <a:effectLst>
                <a:outerShdw blurRad="38100" dist="38100" dir="2700000" algn="tl">
                  <a:srgbClr val="000000">
                    <a:alpha val="43137"/>
                  </a:srgbClr>
                </a:outerShdw>
              </a:effectLst>
              <a:latin typeface="+mn-ea"/>
              <a:ea typeface="+mn-ea"/>
            </a:endParaRPr>
          </a:p>
        </p:txBody>
      </p:sp>
      <p:sp>
        <p:nvSpPr>
          <p:cNvPr id="4" name="標題 3"/>
          <p:cNvSpPr>
            <a:spLocks noGrp="1"/>
          </p:cNvSpPr>
          <p:nvPr>
            <p:ph type="ctrTitle"/>
          </p:nvPr>
        </p:nvSpPr>
        <p:spPr>
          <a:xfrm>
            <a:off x="2664328" y="2935160"/>
            <a:ext cx="4860000" cy="439193"/>
          </a:xfrm>
        </p:spPr>
        <p:txBody>
          <a:bodyPr/>
          <a:lstStyle/>
          <a:p>
            <a:r>
              <a:rPr lang="zh-TW" altLang="en-US" sz="2800" dirty="0"/>
              <a:t>法國電力公司</a:t>
            </a:r>
          </a:p>
        </p:txBody>
      </p:sp>
      <p:pic>
        <p:nvPicPr>
          <p:cNvPr id="7" name="圖片 6"/>
          <p:cNvPicPr>
            <a:picLocks noChangeAspect="1"/>
          </p:cNvPicPr>
          <p:nvPr/>
        </p:nvPicPr>
        <p:blipFill>
          <a:blip r:embed="rId2"/>
          <a:stretch>
            <a:fillRect/>
          </a:stretch>
        </p:blipFill>
        <p:spPr>
          <a:xfrm>
            <a:off x="467544" y="2437322"/>
            <a:ext cx="1800200" cy="907418"/>
          </a:xfrm>
          <a:prstGeom prst="rect">
            <a:avLst/>
          </a:prstGeom>
        </p:spPr>
      </p:pic>
    </p:spTree>
    <p:extLst>
      <p:ext uri="{BB962C8B-B14F-4D97-AF65-F5344CB8AC3E}">
        <p14:creationId xmlns:p14="http://schemas.microsoft.com/office/powerpoint/2010/main" val="1528267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699700B-649E-4B41-BD33-38C3C73BF142}"/>
              </a:ext>
            </a:extLst>
          </p:cNvPr>
          <p:cNvSpPr/>
          <p:nvPr/>
        </p:nvSpPr>
        <p:spPr>
          <a:xfrm>
            <a:off x="473084" y="4572415"/>
            <a:ext cx="5935044" cy="1864952"/>
          </a:xfrm>
          <a:prstGeom prst="rect">
            <a:avLst/>
          </a:prstGeom>
          <a:noFill/>
          <a:ln>
            <a:solidFill>
              <a:srgbClr val="E4E4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8" name="圖片 37"/>
          <p:cNvPicPr>
            <a:picLocks noChangeAspect="1"/>
          </p:cNvPicPr>
          <p:nvPr/>
        </p:nvPicPr>
        <p:blipFill>
          <a:blip r:embed="rId3"/>
          <a:stretch>
            <a:fillRect/>
          </a:stretch>
        </p:blipFill>
        <p:spPr>
          <a:xfrm>
            <a:off x="671087" y="4437112"/>
            <a:ext cx="1225403" cy="397799"/>
          </a:xfrm>
          <a:prstGeom prst="rect">
            <a:avLst/>
          </a:prstGeom>
        </p:spPr>
      </p:pic>
      <p:cxnSp>
        <p:nvCxnSpPr>
          <p:cNvPr id="18" name="直線接點 17">
            <a:extLst>
              <a:ext uri="{FF2B5EF4-FFF2-40B4-BE49-F238E27FC236}">
                <a16:creationId xmlns:a16="http://schemas.microsoft.com/office/drawing/2014/main" id="{A04FBD28-E6A3-4645-9422-603BD8C266EB}"/>
              </a:ext>
            </a:extLst>
          </p:cNvPr>
          <p:cNvCxnSpPr/>
          <p:nvPr/>
        </p:nvCxnSpPr>
        <p:spPr>
          <a:xfrm>
            <a:off x="7076640" y="980728"/>
            <a:ext cx="1715711" cy="0"/>
          </a:xfrm>
          <a:prstGeom prst="line">
            <a:avLst/>
          </a:prstGeom>
          <a:ln w="19050">
            <a:solidFill>
              <a:schemeClr val="bg1">
                <a:lumMod val="75000"/>
              </a:schemeClr>
            </a:solidFill>
          </a:ln>
        </p:spPr>
        <p:style>
          <a:lnRef idx="1">
            <a:schemeClr val="accent6"/>
          </a:lnRef>
          <a:fillRef idx="0">
            <a:schemeClr val="accent6"/>
          </a:fillRef>
          <a:effectRef idx="0">
            <a:schemeClr val="accent6"/>
          </a:effectRef>
          <a:fontRef idx="minor">
            <a:schemeClr val="tx1"/>
          </a:fontRef>
        </p:style>
      </p:cxnSp>
      <p:pic>
        <p:nvPicPr>
          <p:cNvPr id="27" name="圖片 26">
            <a:extLst>
              <a:ext uri="{FF2B5EF4-FFF2-40B4-BE49-F238E27FC236}">
                <a16:creationId xmlns:a16="http://schemas.microsoft.com/office/drawing/2014/main" id="{812C6449-9CF8-4E1F-B004-6A52F2380BE4}"/>
              </a:ext>
            </a:extLst>
          </p:cNvPr>
          <p:cNvPicPr>
            <a:picLocks noChangeAspect="1"/>
          </p:cNvPicPr>
          <p:nvPr/>
        </p:nvPicPr>
        <p:blipFill>
          <a:blip r:embed="rId4"/>
          <a:stretch>
            <a:fillRect/>
          </a:stretch>
        </p:blipFill>
        <p:spPr>
          <a:xfrm>
            <a:off x="473084" y="964791"/>
            <a:ext cx="5935044" cy="3442225"/>
          </a:xfrm>
          <a:prstGeom prst="rect">
            <a:avLst/>
          </a:prstGeom>
        </p:spPr>
      </p:pic>
      <p:sp>
        <p:nvSpPr>
          <p:cNvPr id="29" name="文字版面配置區 15">
            <a:extLst>
              <a:ext uri="{FF2B5EF4-FFF2-40B4-BE49-F238E27FC236}">
                <a16:creationId xmlns:a16="http://schemas.microsoft.com/office/drawing/2014/main" id="{11A04B46-DE0C-4282-BFCA-6BA92CADD11B}"/>
              </a:ext>
            </a:extLst>
          </p:cNvPr>
          <p:cNvSpPr txBox="1">
            <a:spLocks/>
          </p:cNvSpPr>
          <p:nvPr/>
        </p:nvSpPr>
        <p:spPr>
          <a:xfrm>
            <a:off x="473084" y="1052736"/>
            <a:ext cx="5935044" cy="3330255"/>
          </a:xfrm>
          <a:prstGeom prst="rect">
            <a:avLst/>
          </a:prstGeom>
        </p:spPr>
        <p:txBody>
          <a:bodyPr>
            <a:noAutofit/>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just">
              <a:lnSpc>
                <a:spcPts val="1500"/>
              </a:lnSpc>
              <a:spcBef>
                <a:spcPts val="300"/>
              </a:spcBef>
              <a:buNone/>
            </a:pPr>
            <a:r>
              <a:rPr lang="zh-TW" altLang="en-US" sz="1100" dirty="0">
                <a:latin typeface="微軟正黑體" pitchFamily="34" charset="-120"/>
                <a:ea typeface="微軟正黑體" pitchFamily="34" charset="-120"/>
              </a:rPr>
              <a:t>法國電力公司</a:t>
            </a:r>
            <a:r>
              <a:rPr lang="en-US" altLang="zh-TW" sz="1100" dirty="0">
                <a:latin typeface="微軟正黑體" pitchFamily="34" charset="-120"/>
                <a:ea typeface="微軟正黑體" pitchFamily="34" charset="-120"/>
              </a:rPr>
              <a:t>(</a:t>
            </a:r>
            <a:r>
              <a:rPr lang="zh-TW" altLang="en-US" sz="1100" dirty="0">
                <a:latin typeface="微軟正黑體" pitchFamily="34" charset="-120"/>
                <a:ea typeface="微軟正黑體" pitchFamily="34" charset="-120"/>
              </a:rPr>
              <a:t>法語：</a:t>
            </a:r>
            <a:r>
              <a:rPr lang="en-US" altLang="zh-TW" sz="1100" dirty="0" err="1">
                <a:latin typeface="微軟正黑體" pitchFamily="34" charset="-120"/>
                <a:ea typeface="微軟正黑體" pitchFamily="34" charset="-120"/>
              </a:rPr>
              <a:t>Électricité</a:t>
            </a:r>
            <a:r>
              <a:rPr lang="en-US" altLang="zh-TW" sz="1100" dirty="0">
                <a:latin typeface="微軟正黑體" pitchFamily="34" charset="-120"/>
                <a:ea typeface="微軟正黑體" pitchFamily="34" charset="-120"/>
              </a:rPr>
              <a:t> de France S.A.</a:t>
            </a:r>
            <a:r>
              <a:rPr lang="zh-TW" altLang="en-US" sz="1100" dirty="0">
                <a:latin typeface="微軟正黑體" pitchFamily="34" charset="-120"/>
                <a:ea typeface="微軟正黑體" pitchFamily="34" charset="-120"/>
              </a:rPr>
              <a:t>，縮寫：</a:t>
            </a:r>
            <a:r>
              <a:rPr lang="en-US" altLang="zh-TW" sz="1100" dirty="0">
                <a:latin typeface="微軟正黑體" pitchFamily="34" charset="-120"/>
                <a:ea typeface="微軟正黑體" pitchFamily="34" charset="-120"/>
              </a:rPr>
              <a:t>EDF)</a:t>
            </a:r>
            <a:r>
              <a:rPr lang="zh-TW" altLang="en-US" sz="1100" dirty="0">
                <a:latin typeface="微軟正黑體" pitchFamily="34" charset="-120"/>
                <a:ea typeface="微軟正黑體" pitchFamily="34" charset="-120"/>
              </a:rPr>
              <a:t>成立於</a:t>
            </a:r>
            <a:r>
              <a:rPr lang="en-US" altLang="zh-TW" sz="1100" dirty="0">
                <a:latin typeface="微軟正黑體" pitchFamily="34" charset="-120"/>
                <a:ea typeface="微軟正黑體" pitchFamily="34" charset="-120"/>
              </a:rPr>
              <a:t>1946</a:t>
            </a:r>
            <a:r>
              <a:rPr lang="zh-TW" altLang="en-US" sz="1100" dirty="0">
                <a:latin typeface="微軟正黑體" pitchFamily="34" charset="-120"/>
                <a:ea typeface="微軟正黑體" pitchFamily="34" charset="-120"/>
              </a:rPr>
              <a:t>年，總部設在法國巴黎，是法國的公用電力公司，法國政府於</a:t>
            </a:r>
            <a:r>
              <a:rPr lang="en-US" altLang="zh-TW" sz="1100" dirty="0">
                <a:latin typeface="微軟正黑體" pitchFamily="34" charset="-120"/>
                <a:ea typeface="微軟正黑體" pitchFamily="34" charset="-120"/>
              </a:rPr>
              <a:t>2023</a:t>
            </a:r>
            <a:r>
              <a:rPr lang="zh-TW" altLang="en-US" sz="1100" dirty="0">
                <a:latin typeface="微軟正黑體" pitchFamily="34" charset="-120"/>
                <a:ea typeface="微軟正黑體" pitchFamily="34" charset="-120"/>
              </a:rPr>
              <a:t>年</a:t>
            </a:r>
            <a:r>
              <a:rPr lang="en-US" altLang="zh-TW" sz="1100" dirty="0">
                <a:latin typeface="微軟正黑體" pitchFamily="34" charset="-120"/>
                <a:ea typeface="微軟正黑體" pitchFamily="34" charset="-120"/>
              </a:rPr>
              <a:t>5</a:t>
            </a:r>
            <a:r>
              <a:rPr lang="zh-TW" altLang="en-US" sz="1100" dirty="0">
                <a:latin typeface="微軟正黑體" pitchFamily="34" charset="-120"/>
                <a:ea typeface="微軟正黑體" pitchFamily="34" charset="-120"/>
              </a:rPr>
              <a:t>月獲法院批准收購剩餘的</a:t>
            </a:r>
            <a:r>
              <a:rPr lang="en-US" altLang="zh-TW" sz="1100" dirty="0">
                <a:latin typeface="微軟正黑體" pitchFamily="34" charset="-120"/>
                <a:ea typeface="微軟正黑體" pitchFamily="34" charset="-120"/>
              </a:rPr>
              <a:t>4%</a:t>
            </a:r>
            <a:r>
              <a:rPr lang="zh-TW" altLang="en-US" sz="1100" dirty="0">
                <a:latin typeface="微軟正黑體" pitchFamily="34" charset="-120"/>
                <a:ea typeface="微軟正黑體" pitchFamily="34" charset="-120"/>
              </a:rPr>
              <a:t>股份，將其重新收歸國有並下市。</a:t>
            </a:r>
            <a:r>
              <a:rPr lang="en-US" altLang="zh-TW" sz="1100" dirty="0">
                <a:latin typeface="微軟正黑體" pitchFamily="34" charset="-120"/>
                <a:ea typeface="微軟正黑體" pitchFamily="34" charset="-120"/>
              </a:rPr>
              <a:t>EDF</a:t>
            </a:r>
            <a:r>
              <a:rPr lang="zh-TW" altLang="en-US" sz="1100" dirty="0">
                <a:latin typeface="微軟正黑體" pitchFamily="34" charset="-120"/>
                <a:ea typeface="微軟正黑體" pitchFamily="34" charset="-120"/>
              </a:rPr>
              <a:t>是世界上最大的垂直整合公用事業之一，業務活躍於發電、輸配電、能源供應及貿易、能源服務等整個電力價值鏈，其輸配電業務於全球智慧電網發展排名第一。營運遍及歐洲、美洲、亞洲、中東和非洲，僱有逾</a:t>
            </a:r>
            <a:r>
              <a:rPr lang="en-US" altLang="zh-TW" sz="1100" dirty="0">
                <a:latin typeface="微軟正黑體" pitchFamily="34" charset="-120"/>
                <a:ea typeface="微軟正黑體" pitchFamily="34" charset="-120"/>
              </a:rPr>
              <a:t>17</a:t>
            </a:r>
            <a:r>
              <a:rPr lang="zh-TW" altLang="en-US" sz="1100" dirty="0">
                <a:latin typeface="微軟正黑體" pitchFamily="34" charset="-120"/>
                <a:ea typeface="微軟正黑體" pitchFamily="34" charset="-120"/>
              </a:rPr>
              <a:t>萬名員工為</a:t>
            </a:r>
            <a:r>
              <a:rPr lang="en-US" altLang="zh-TW" sz="1100" dirty="0">
                <a:latin typeface="微軟正黑體" pitchFamily="34" charset="-120"/>
                <a:ea typeface="微軟正黑體" pitchFamily="34" charset="-120"/>
              </a:rPr>
              <a:t>4,030</a:t>
            </a:r>
            <a:r>
              <a:rPr lang="zh-TW" altLang="en-US" sz="1100" dirty="0">
                <a:latin typeface="微軟正黑體" pitchFamily="34" charset="-120"/>
                <a:ea typeface="微軟正黑體" pitchFamily="34" charset="-120"/>
              </a:rPr>
              <a:t>萬客戶服務，在法國佔據主導地位，並於英國及義大利擁有強大市佔，且擁有全球最大的核能艦隊。</a:t>
            </a:r>
            <a:endParaRPr lang="en-US" altLang="zh-TW" sz="1100" dirty="0">
              <a:solidFill>
                <a:schemeClr val="tx1">
                  <a:lumMod val="75000"/>
                  <a:lumOff val="25000"/>
                </a:schemeClr>
              </a:solidFill>
            </a:endParaRPr>
          </a:p>
          <a:p>
            <a:pPr>
              <a:lnSpc>
                <a:spcPts val="1200"/>
              </a:lnSpc>
              <a:spcBef>
                <a:spcPts val="300"/>
              </a:spcBef>
              <a:buFont typeface="Wingdings" panose="05000000000000000000" pitchFamily="2" charset="2"/>
              <a:buChar char="ü"/>
            </a:pPr>
            <a:r>
              <a:rPr lang="en-US" altLang="zh-TW" sz="1000" b="1" dirty="0">
                <a:solidFill>
                  <a:schemeClr val="tx1">
                    <a:lumMod val="75000"/>
                    <a:lumOff val="25000"/>
                  </a:schemeClr>
                </a:solidFill>
                <a:latin typeface="+mn-ea"/>
              </a:rPr>
              <a:t>100%</a:t>
            </a:r>
            <a:r>
              <a:rPr lang="zh-TW" altLang="en-US" sz="1000" b="1" dirty="0">
                <a:solidFill>
                  <a:schemeClr val="tx1">
                    <a:lumMod val="75000"/>
                    <a:lumOff val="25000"/>
                  </a:schemeClr>
                </a:solidFill>
                <a:latin typeface="+mn-ea"/>
              </a:rPr>
              <a:t>政府持股，法國最重要的國營企業</a:t>
            </a:r>
            <a:br>
              <a:rPr lang="en-US" altLang="zh-TW" sz="1000" b="1" dirty="0">
                <a:solidFill>
                  <a:schemeClr val="tx1">
                    <a:lumMod val="75000"/>
                    <a:lumOff val="25000"/>
                  </a:schemeClr>
                </a:solidFill>
                <a:latin typeface="+mn-ea"/>
              </a:rPr>
            </a:br>
            <a:r>
              <a:rPr lang="zh-TW" altLang="en-US" sz="1000" dirty="0">
                <a:solidFill>
                  <a:schemeClr val="tx1">
                    <a:lumMod val="75000"/>
                    <a:lumOff val="25000"/>
                  </a:schemeClr>
                </a:solidFill>
                <a:latin typeface="+mn-ea"/>
              </a:rPr>
              <a:t>法國政府為保障能源安全，於</a:t>
            </a:r>
            <a:r>
              <a:rPr lang="en-US" altLang="zh-TW" sz="1000" dirty="0">
                <a:solidFill>
                  <a:schemeClr val="tx1">
                    <a:lumMod val="75000"/>
                    <a:lumOff val="25000"/>
                  </a:schemeClr>
                </a:solidFill>
                <a:latin typeface="+mn-ea"/>
              </a:rPr>
              <a:t>2023</a:t>
            </a:r>
            <a:r>
              <a:rPr lang="zh-TW" altLang="en-US" sz="1000" dirty="0">
                <a:solidFill>
                  <a:schemeClr val="tx1">
                    <a:lumMod val="75000"/>
                    <a:lumOff val="25000"/>
                  </a:schemeClr>
                </a:solidFill>
                <a:latin typeface="+mn-ea"/>
              </a:rPr>
              <a:t>年重新將</a:t>
            </a:r>
            <a:r>
              <a:rPr lang="en-US" altLang="zh-TW" sz="1000" dirty="0">
                <a:solidFill>
                  <a:schemeClr val="tx1">
                    <a:lumMod val="75000"/>
                    <a:lumOff val="25000"/>
                  </a:schemeClr>
                </a:solidFill>
                <a:latin typeface="+mn-ea"/>
              </a:rPr>
              <a:t>EDF</a:t>
            </a:r>
            <a:r>
              <a:rPr lang="zh-TW" altLang="en-US" sz="1000" dirty="0">
                <a:solidFill>
                  <a:schemeClr val="tx1">
                    <a:lumMod val="75000"/>
                    <a:lumOff val="25000"/>
                  </a:schemeClr>
                </a:solidFill>
                <a:latin typeface="+mn-ea"/>
              </a:rPr>
              <a:t>收歸國有，彰顯其重要性。</a:t>
            </a:r>
            <a:r>
              <a:rPr lang="en-US" altLang="zh-TW" sz="1000" dirty="0">
                <a:solidFill>
                  <a:schemeClr val="tx1">
                    <a:lumMod val="75000"/>
                    <a:lumOff val="25000"/>
                  </a:schemeClr>
                </a:solidFill>
                <a:latin typeface="+mn-ea"/>
              </a:rPr>
              <a:t>2022</a:t>
            </a:r>
            <a:r>
              <a:rPr lang="zh-TW" altLang="en-US" sz="1000" dirty="0">
                <a:solidFill>
                  <a:schemeClr val="tx1">
                    <a:lumMod val="75000"/>
                    <a:lumOff val="25000"/>
                  </a:schemeClr>
                </a:solidFill>
                <a:latin typeface="+mn-ea"/>
              </a:rPr>
              <a:t>年</a:t>
            </a:r>
            <a:r>
              <a:rPr lang="en-US" altLang="zh-TW" sz="1000" dirty="0">
                <a:solidFill>
                  <a:schemeClr val="tx1">
                    <a:lumMod val="75000"/>
                    <a:lumOff val="25000"/>
                  </a:schemeClr>
                </a:solidFill>
                <a:latin typeface="+mn-ea"/>
              </a:rPr>
              <a:t>EDF</a:t>
            </a:r>
            <a:r>
              <a:rPr lang="zh-TW" altLang="en-US" sz="1000" dirty="0">
                <a:solidFill>
                  <a:schemeClr val="tx1">
                    <a:lumMod val="75000"/>
                    <a:lumOff val="25000"/>
                  </a:schemeClr>
                </a:solidFill>
                <a:latin typeface="+mn-ea"/>
              </a:rPr>
              <a:t>營收達</a:t>
            </a:r>
            <a:r>
              <a:rPr lang="en-US" altLang="zh-TW" sz="1000" dirty="0">
                <a:solidFill>
                  <a:schemeClr val="tx1">
                    <a:lumMod val="75000"/>
                    <a:lumOff val="25000"/>
                  </a:schemeClr>
                </a:solidFill>
                <a:latin typeface="+mn-ea"/>
              </a:rPr>
              <a:t>1,435</a:t>
            </a:r>
            <a:r>
              <a:rPr lang="zh-TW" altLang="en-US" sz="1000" dirty="0">
                <a:solidFill>
                  <a:schemeClr val="tx1">
                    <a:lumMod val="75000"/>
                    <a:lumOff val="25000"/>
                  </a:schemeClr>
                </a:solidFill>
                <a:latin typeface="+mn-ea"/>
              </a:rPr>
              <a:t>億歐元，僅次於民營企業的道達爾能源，為法國第二大企業。</a:t>
            </a:r>
          </a:p>
          <a:p>
            <a:pPr>
              <a:lnSpc>
                <a:spcPts val="1200"/>
              </a:lnSpc>
              <a:spcBef>
                <a:spcPts val="300"/>
              </a:spcBef>
              <a:buFont typeface="Wingdings" panose="05000000000000000000" pitchFamily="2" charset="2"/>
              <a:buChar char="ü"/>
            </a:pPr>
            <a:r>
              <a:rPr lang="zh-TW" altLang="en-US" sz="1000" b="1" dirty="0">
                <a:solidFill>
                  <a:schemeClr val="tx1">
                    <a:lumMod val="75000"/>
                    <a:lumOff val="25000"/>
                  </a:schemeClr>
                </a:solidFill>
                <a:latin typeface="+mn-ea"/>
              </a:rPr>
              <a:t>全球低碳能源領導企業，</a:t>
            </a:r>
            <a:r>
              <a:rPr lang="en-US" altLang="zh-TW" sz="1000" b="1" dirty="0">
                <a:solidFill>
                  <a:schemeClr val="tx1">
                    <a:lumMod val="75000"/>
                    <a:lumOff val="25000"/>
                  </a:schemeClr>
                </a:solidFill>
                <a:latin typeface="+mn-ea"/>
              </a:rPr>
              <a:t>90%</a:t>
            </a:r>
            <a:r>
              <a:rPr lang="zh-TW" altLang="en-US" sz="1000" b="1" dirty="0">
                <a:solidFill>
                  <a:schemeClr val="tx1">
                    <a:lumMod val="75000"/>
                    <a:lumOff val="25000"/>
                  </a:schemeClr>
                </a:solidFill>
                <a:latin typeface="+mn-ea"/>
              </a:rPr>
              <a:t>發電無二氧化碳排放</a:t>
            </a:r>
            <a:br>
              <a:rPr lang="en-US" altLang="zh-TW" sz="1000" b="1" dirty="0">
                <a:solidFill>
                  <a:schemeClr val="tx1">
                    <a:lumMod val="75000"/>
                    <a:lumOff val="25000"/>
                  </a:schemeClr>
                </a:solidFill>
                <a:latin typeface="+mn-ea"/>
              </a:rPr>
            </a:br>
            <a:r>
              <a:rPr lang="en-US" altLang="zh-TW" sz="1000" dirty="0">
                <a:solidFill>
                  <a:schemeClr val="tx1">
                    <a:lumMod val="75000"/>
                    <a:lumOff val="25000"/>
                  </a:schemeClr>
                </a:solidFill>
                <a:latin typeface="+mn-ea"/>
              </a:rPr>
              <a:t>EDF</a:t>
            </a:r>
            <a:r>
              <a:rPr lang="zh-TW" altLang="en-US" sz="1000" dirty="0">
                <a:solidFill>
                  <a:schemeClr val="tx1">
                    <a:lumMod val="75000"/>
                    <a:lumOff val="25000"/>
                  </a:schemeClr>
                </a:solidFill>
                <a:latin typeface="+mn-ea"/>
              </a:rPr>
              <a:t>發展基於核能、水力、可再生能源及熱能等多元發電組合。按裝置容量，核能及可再生能源</a:t>
            </a:r>
            <a:r>
              <a:rPr lang="en-US" altLang="zh-TW" sz="1000" dirty="0">
                <a:solidFill>
                  <a:schemeClr val="tx1">
                    <a:lumMod val="75000"/>
                    <a:lumOff val="25000"/>
                  </a:schemeClr>
                </a:solidFill>
                <a:latin typeface="+mn-ea"/>
              </a:rPr>
              <a:t>(</a:t>
            </a:r>
            <a:r>
              <a:rPr lang="zh-TW" altLang="en-US" sz="1000" dirty="0">
                <a:solidFill>
                  <a:schemeClr val="tx1">
                    <a:lumMod val="75000"/>
                    <a:lumOff val="25000"/>
                  </a:schemeClr>
                </a:solidFill>
                <a:latin typeface="+mn-ea"/>
              </a:rPr>
              <a:t>含水力</a:t>
            </a:r>
            <a:r>
              <a:rPr lang="en-US" altLang="zh-TW" sz="1000" dirty="0">
                <a:solidFill>
                  <a:schemeClr val="tx1">
                    <a:lumMod val="75000"/>
                    <a:lumOff val="25000"/>
                  </a:schemeClr>
                </a:solidFill>
                <a:latin typeface="+mn-ea"/>
              </a:rPr>
              <a:t>)</a:t>
            </a:r>
            <a:r>
              <a:rPr lang="zh-TW" altLang="en-US" sz="1000" dirty="0">
                <a:solidFill>
                  <a:schemeClr val="tx1">
                    <a:lumMod val="75000"/>
                    <a:lumOff val="25000"/>
                  </a:schemeClr>
                </a:solidFill>
                <a:latin typeface="+mn-ea"/>
              </a:rPr>
              <a:t>佔總裝置容量</a:t>
            </a:r>
            <a:r>
              <a:rPr lang="en-US" altLang="zh-TW" sz="1000" dirty="0">
                <a:solidFill>
                  <a:schemeClr val="tx1">
                    <a:lumMod val="75000"/>
                    <a:lumOff val="25000"/>
                  </a:schemeClr>
                </a:solidFill>
                <a:latin typeface="+mn-ea"/>
              </a:rPr>
              <a:t>58%</a:t>
            </a:r>
            <a:r>
              <a:rPr lang="zh-TW" altLang="en-US" sz="1000" dirty="0">
                <a:solidFill>
                  <a:schemeClr val="tx1">
                    <a:lumMod val="75000"/>
                    <a:lumOff val="25000"/>
                  </a:schemeClr>
                </a:solidFill>
                <a:latin typeface="+mn-ea"/>
              </a:rPr>
              <a:t>及</a:t>
            </a:r>
            <a:r>
              <a:rPr lang="en-US" altLang="zh-TW" sz="1000" dirty="0">
                <a:solidFill>
                  <a:schemeClr val="tx1">
                    <a:lumMod val="75000"/>
                    <a:lumOff val="25000"/>
                  </a:schemeClr>
                </a:solidFill>
                <a:latin typeface="+mn-ea"/>
              </a:rPr>
              <a:t>27%</a:t>
            </a:r>
            <a:r>
              <a:rPr lang="zh-TW" altLang="en-US" sz="1000" dirty="0">
                <a:solidFill>
                  <a:schemeClr val="tx1">
                    <a:lumMod val="75000"/>
                    <a:lumOff val="25000"/>
                  </a:schemeClr>
                </a:solidFill>
                <a:latin typeface="+mn-ea"/>
              </a:rPr>
              <a:t>，合計逾</a:t>
            </a:r>
            <a:r>
              <a:rPr lang="en-US" altLang="zh-TW" sz="1000" dirty="0">
                <a:solidFill>
                  <a:schemeClr val="tx1">
                    <a:lumMod val="75000"/>
                    <a:lumOff val="25000"/>
                  </a:schemeClr>
                </a:solidFill>
                <a:latin typeface="+mn-ea"/>
              </a:rPr>
              <a:t>8</a:t>
            </a:r>
            <a:r>
              <a:rPr lang="zh-TW" altLang="en-US" sz="1000" dirty="0">
                <a:solidFill>
                  <a:schemeClr val="tx1">
                    <a:lumMod val="75000"/>
                    <a:lumOff val="25000"/>
                  </a:schemeClr>
                </a:solidFill>
                <a:latin typeface="+mn-ea"/>
              </a:rPr>
              <a:t>成；按發電量，</a:t>
            </a:r>
            <a:r>
              <a:rPr lang="en-US" altLang="zh-TW" sz="1000" dirty="0">
                <a:solidFill>
                  <a:schemeClr val="tx1">
                    <a:lumMod val="75000"/>
                    <a:lumOff val="25000"/>
                  </a:schemeClr>
                </a:solidFill>
                <a:latin typeface="+mn-ea"/>
              </a:rPr>
              <a:t>76%</a:t>
            </a:r>
            <a:r>
              <a:rPr lang="zh-TW" altLang="en-US" sz="1000" dirty="0">
                <a:solidFill>
                  <a:schemeClr val="tx1">
                    <a:lumMod val="75000"/>
                    <a:lumOff val="25000"/>
                  </a:schemeClr>
                </a:solidFill>
                <a:latin typeface="+mn-ea"/>
              </a:rPr>
              <a:t>來自核能，</a:t>
            </a:r>
            <a:r>
              <a:rPr lang="en-US" altLang="zh-TW" sz="1000" dirty="0">
                <a:solidFill>
                  <a:schemeClr val="tx1">
                    <a:lumMod val="75000"/>
                    <a:lumOff val="25000"/>
                  </a:schemeClr>
                </a:solidFill>
                <a:latin typeface="+mn-ea"/>
              </a:rPr>
              <a:t>14%</a:t>
            </a:r>
            <a:r>
              <a:rPr lang="zh-TW" altLang="en-US" sz="1000" dirty="0">
                <a:solidFill>
                  <a:schemeClr val="tx1">
                    <a:lumMod val="75000"/>
                    <a:lumOff val="25000"/>
                  </a:schemeClr>
                </a:solidFill>
                <a:latin typeface="+mn-ea"/>
              </a:rPr>
              <a:t>來自可再生能源。</a:t>
            </a:r>
          </a:p>
          <a:p>
            <a:pPr>
              <a:lnSpc>
                <a:spcPts val="1200"/>
              </a:lnSpc>
              <a:spcBef>
                <a:spcPts val="300"/>
              </a:spcBef>
              <a:buFont typeface="Wingdings" panose="05000000000000000000" pitchFamily="2" charset="2"/>
              <a:buChar char="ü"/>
            </a:pPr>
            <a:r>
              <a:rPr lang="zh-TW" altLang="en-US" sz="1000" b="1" dirty="0">
                <a:solidFill>
                  <a:schemeClr val="tx1">
                    <a:lumMod val="75000"/>
                    <a:lumOff val="25000"/>
                  </a:schemeClr>
                </a:solidFill>
                <a:latin typeface="+mn-ea"/>
              </a:rPr>
              <a:t>法國發電與供電及受監管的輸配電貢獻</a:t>
            </a:r>
            <a:r>
              <a:rPr lang="en-US" altLang="zh-TW" sz="1000" b="1" dirty="0">
                <a:solidFill>
                  <a:schemeClr val="tx1">
                    <a:lumMod val="75000"/>
                    <a:lumOff val="25000"/>
                  </a:schemeClr>
                </a:solidFill>
                <a:latin typeface="+mn-ea"/>
              </a:rPr>
              <a:t>2021</a:t>
            </a:r>
            <a:r>
              <a:rPr lang="zh-TW" altLang="en-US" sz="1000" b="1" dirty="0">
                <a:solidFill>
                  <a:schemeClr val="tx1">
                    <a:lumMod val="75000"/>
                    <a:lumOff val="25000"/>
                  </a:schemeClr>
                </a:solidFill>
                <a:latin typeface="+mn-ea"/>
              </a:rPr>
              <a:t>年</a:t>
            </a:r>
            <a:r>
              <a:rPr lang="en-US" altLang="zh-TW" sz="1000" b="1" dirty="0">
                <a:solidFill>
                  <a:schemeClr val="tx1">
                    <a:lumMod val="75000"/>
                    <a:lumOff val="25000"/>
                  </a:schemeClr>
                </a:solidFill>
                <a:latin typeface="+mn-ea"/>
              </a:rPr>
              <a:t>EBITDA</a:t>
            </a:r>
            <a:r>
              <a:rPr lang="zh-TW" altLang="en-US" sz="1000" b="1" dirty="0">
                <a:solidFill>
                  <a:schemeClr val="tx1">
                    <a:lumMod val="75000"/>
                    <a:lumOff val="25000"/>
                  </a:schemeClr>
                </a:solidFill>
                <a:latin typeface="+mn-ea"/>
              </a:rPr>
              <a:t>達</a:t>
            </a:r>
            <a:r>
              <a:rPr lang="en-US" altLang="zh-TW" sz="1000" b="1" dirty="0">
                <a:solidFill>
                  <a:schemeClr val="tx1">
                    <a:lumMod val="75000"/>
                    <a:lumOff val="25000"/>
                  </a:schemeClr>
                </a:solidFill>
                <a:latin typeface="+mn-ea"/>
              </a:rPr>
              <a:t>74%</a:t>
            </a:r>
            <a:br>
              <a:rPr lang="en-US" altLang="zh-TW" sz="1000" b="1" dirty="0">
                <a:solidFill>
                  <a:srgbClr val="E85113"/>
                </a:solidFill>
                <a:latin typeface="+mn-ea"/>
              </a:rPr>
            </a:br>
            <a:r>
              <a:rPr lang="zh-TW" altLang="en-US" sz="1000" dirty="0">
                <a:solidFill>
                  <a:schemeClr val="tx1">
                    <a:lumMod val="75000"/>
                    <a:lumOff val="25000"/>
                  </a:schemeClr>
                </a:solidFill>
                <a:latin typeface="+mn-ea"/>
              </a:rPr>
              <a:t>在法國受監管活動包括</a:t>
            </a:r>
            <a:r>
              <a:rPr lang="en-US" altLang="zh-TW" sz="1000" dirty="0">
                <a:solidFill>
                  <a:schemeClr val="tx1">
                    <a:lumMod val="75000"/>
                    <a:lumOff val="25000"/>
                  </a:schemeClr>
                </a:solidFill>
                <a:latin typeface="+mn-ea"/>
              </a:rPr>
              <a:t>2</a:t>
            </a:r>
            <a:r>
              <a:rPr lang="zh-TW" altLang="en-US" sz="1000" dirty="0">
                <a:solidFill>
                  <a:schemeClr val="tx1">
                    <a:lumMod val="75000"/>
                    <a:lumOff val="25000"/>
                  </a:schemeClr>
                </a:solidFill>
                <a:latin typeface="+mn-ea"/>
              </a:rPr>
              <a:t>家</a:t>
            </a:r>
            <a:r>
              <a:rPr lang="en-US" altLang="zh-TW" sz="1000" dirty="0">
                <a:solidFill>
                  <a:schemeClr val="tx1">
                    <a:lumMod val="75000"/>
                    <a:lumOff val="25000"/>
                  </a:schemeClr>
                </a:solidFill>
                <a:latin typeface="+mn-ea"/>
              </a:rPr>
              <a:t>EDF</a:t>
            </a:r>
            <a:r>
              <a:rPr lang="zh-TW" altLang="en-US" sz="1000" dirty="0">
                <a:solidFill>
                  <a:schemeClr val="tx1">
                    <a:lumMod val="75000"/>
                    <a:lumOff val="25000"/>
                  </a:schemeClr>
                </a:solidFill>
                <a:latin typeface="+mn-ea"/>
              </a:rPr>
              <a:t>的獨立子公司，分別為</a:t>
            </a:r>
            <a:r>
              <a:rPr lang="en-US" altLang="zh-TW" sz="1000" dirty="0">
                <a:solidFill>
                  <a:schemeClr val="tx1">
                    <a:lumMod val="75000"/>
                    <a:lumOff val="25000"/>
                  </a:schemeClr>
                </a:solidFill>
                <a:latin typeface="+mn-ea"/>
              </a:rPr>
              <a:t>RTE(</a:t>
            </a:r>
            <a:r>
              <a:rPr lang="zh-TW" altLang="en-US" sz="1000" dirty="0">
                <a:solidFill>
                  <a:schemeClr val="tx1">
                    <a:lumMod val="75000"/>
                    <a:lumOff val="25000"/>
                  </a:schemeClr>
                </a:solidFill>
                <a:latin typeface="+mn-ea"/>
              </a:rPr>
              <a:t>法國電力傳輸公司</a:t>
            </a:r>
            <a:r>
              <a:rPr lang="en-US" altLang="zh-TW" sz="1000" dirty="0">
                <a:solidFill>
                  <a:schemeClr val="tx1">
                    <a:lumMod val="75000"/>
                    <a:lumOff val="25000"/>
                  </a:schemeClr>
                </a:solidFill>
                <a:latin typeface="+mn-ea"/>
              </a:rPr>
              <a:t>)</a:t>
            </a:r>
            <a:r>
              <a:rPr lang="zh-TW" altLang="en-US" sz="1000" dirty="0">
                <a:solidFill>
                  <a:schemeClr val="tx1">
                    <a:lumMod val="75000"/>
                    <a:lumOff val="25000"/>
                  </a:schemeClr>
                </a:solidFill>
                <a:latin typeface="+mn-ea"/>
              </a:rPr>
              <a:t>、 </a:t>
            </a:r>
            <a:r>
              <a:rPr lang="en-US" altLang="zh-TW" sz="1000" dirty="0" err="1">
                <a:solidFill>
                  <a:schemeClr val="tx1">
                    <a:lumMod val="75000"/>
                    <a:lumOff val="25000"/>
                  </a:schemeClr>
                </a:solidFill>
                <a:latin typeface="+mn-ea"/>
              </a:rPr>
              <a:t>Enedis</a:t>
            </a:r>
            <a:r>
              <a:rPr lang="en-US" altLang="zh-TW" sz="1000" dirty="0">
                <a:solidFill>
                  <a:schemeClr val="tx1">
                    <a:lumMod val="75000"/>
                    <a:lumOff val="25000"/>
                  </a:schemeClr>
                </a:solidFill>
                <a:latin typeface="+mn-ea"/>
              </a:rPr>
              <a:t>(</a:t>
            </a:r>
            <a:r>
              <a:rPr lang="zh-TW" altLang="en-US" sz="1000" dirty="0">
                <a:solidFill>
                  <a:schemeClr val="tx1">
                    <a:lumMod val="75000"/>
                    <a:lumOff val="25000"/>
                  </a:schemeClr>
                </a:solidFill>
                <a:latin typeface="+mn-ea"/>
              </a:rPr>
              <a:t>法國配電公司，擁有歐洲第一大的配電網</a:t>
            </a:r>
            <a:r>
              <a:rPr lang="en-US" altLang="zh-TW" sz="1000" dirty="0">
                <a:solidFill>
                  <a:schemeClr val="tx1">
                    <a:lumMod val="75000"/>
                    <a:lumOff val="25000"/>
                  </a:schemeClr>
                </a:solidFill>
                <a:latin typeface="+mn-ea"/>
              </a:rPr>
              <a:t>)</a:t>
            </a:r>
            <a:r>
              <a:rPr lang="zh-TW" altLang="en-US" sz="1000" dirty="0">
                <a:solidFill>
                  <a:schemeClr val="tx1">
                    <a:lumMod val="75000"/>
                    <a:lumOff val="25000"/>
                  </a:schemeClr>
                </a:solidFill>
                <a:latin typeface="+mn-ea"/>
              </a:rPr>
              <a:t>。</a:t>
            </a:r>
          </a:p>
          <a:p>
            <a:pPr>
              <a:lnSpc>
                <a:spcPts val="1200"/>
              </a:lnSpc>
              <a:spcBef>
                <a:spcPts val="300"/>
              </a:spcBef>
              <a:buFont typeface="Wingdings" panose="05000000000000000000" pitchFamily="2" charset="2"/>
              <a:buChar char="ü"/>
            </a:pPr>
            <a:r>
              <a:rPr lang="zh-TW" altLang="en-US" sz="1000" b="1" dirty="0">
                <a:solidFill>
                  <a:schemeClr val="tx1">
                    <a:lumMod val="75000"/>
                    <a:lumOff val="25000"/>
                  </a:schemeClr>
                </a:solidFill>
                <a:latin typeface="+mn-ea"/>
              </a:rPr>
              <a:t>歷史核電優惠制度</a:t>
            </a:r>
            <a:r>
              <a:rPr lang="en-US" altLang="zh-TW" sz="1000" b="1" dirty="0">
                <a:solidFill>
                  <a:schemeClr val="tx1">
                    <a:lumMod val="75000"/>
                    <a:lumOff val="25000"/>
                  </a:schemeClr>
                </a:solidFill>
                <a:latin typeface="+mn-ea"/>
              </a:rPr>
              <a:t>(ARENH)</a:t>
            </a:r>
            <a:r>
              <a:rPr lang="zh-TW" altLang="en-US" sz="1000" b="1" dirty="0">
                <a:solidFill>
                  <a:schemeClr val="tx1">
                    <a:lumMod val="75000"/>
                    <a:lumOff val="25000"/>
                  </a:schemeClr>
                </a:solidFill>
                <a:latin typeface="+mn-ea"/>
              </a:rPr>
              <a:t>框架將於</a:t>
            </a:r>
            <a:r>
              <a:rPr lang="en-US" altLang="zh-TW" sz="1000" b="1" dirty="0">
                <a:solidFill>
                  <a:schemeClr val="tx1">
                    <a:lumMod val="75000"/>
                    <a:lumOff val="25000"/>
                  </a:schemeClr>
                </a:solidFill>
                <a:latin typeface="+mn-ea"/>
              </a:rPr>
              <a:t>2025</a:t>
            </a:r>
            <a:r>
              <a:rPr lang="zh-TW" altLang="en-US" sz="1000" b="1" dirty="0">
                <a:solidFill>
                  <a:schemeClr val="tx1">
                    <a:lumMod val="75000"/>
                    <a:lumOff val="25000"/>
                  </a:schemeClr>
                </a:solidFill>
                <a:latin typeface="+mn-ea"/>
              </a:rPr>
              <a:t>年底結束</a:t>
            </a:r>
            <a:br>
              <a:rPr lang="zh-TW" altLang="en-US" sz="1000" b="1" dirty="0">
                <a:solidFill>
                  <a:srgbClr val="E85113"/>
                </a:solidFill>
                <a:latin typeface="+mn-ea"/>
              </a:rPr>
            </a:br>
            <a:r>
              <a:rPr lang="en-US" altLang="zh-TW" sz="1000" dirty="0">
                <a:solidFill>
                  <a:schemeClr val="tx1">
                    <a:lumMod val="75000"/>
                    <a:lumOff val="25000"/>
                  </a:schemeClr>
                </a:solidFill>
                <a:latin typeface="+mn-ea"/>
              </a:rPr>
              <a:t>ARENH</a:t>
            </a:r>
            <a:r>
              <a:rPr lang="zh-TW" altLang="en-US" sz="1000" dirty="0">
                <a:solidFill>
                  <a:schemeClr val="tx1">
                    <a:lumMod val="75000"/>
                    <a:lumOff val="25000"/>
                  </a:schemeClr>
                </a:solidFill>
                <a:latin typeface="+mn-ea"/>
              </a:rPr>
              <a:t>規定</a:t>
            </a:r>
            <a:r>
              <a:rPr lang="en-US" altLang="zh-TW" sz="1000" dirty="0">
                <a:solidFill>
                  <a:schemeClr val="tx1">
                    <a:lumMod val="75000"/>
                    <a:lumOff val="25000"/>
                  </a:schemeClr>
                </a:solidFill>
                <a:latin typeface="+mn-ea"/>
              </a:rPr>
              <a:t>EDF</a:t>
            </a:r>
            <a:r>
              <a:rPr lang="zh-TW" altLang="en-US" sz="1000" dirty="0">
                <a:solidFill>
                  <a:schemeClr val="tx1">
                    <a:lumMod val="75000"/>
                    <a:lumOff val="25000"/>
                  </a:schemeClr>
                </a:solidFill>
                <a:latin typeface="+mn-ea"/>
              </a:rPr>
              <a:t>須以優惠價格銷售電力給其競爭對手，若此框架如期於</a:t>
            </a:r>
            <a:r>
              <a:rPr lang="en-US" altLang="zh-TW" sz="1000" dirty="0">
                <a:solidFill>
                  <a:schemeClr val="tx1">
                    <a:lumMod val="75000"/>
                    <a:lumOff val="25000"/>
                  </a:schemeClr>
                </a:solidFill>
                <a:latin typeface="+mn-ea"/>
              </a:rPr>
              <a:t>2025</a:t>
            </a:r>
            <a:r>
              <a:rPr lang="zh-TW" altLang="en-US" sz="1000" dirty="0">
                <a:solidFill>
                  <a:schemeClr val="tx1">
                    <a:lumMod val="75000"/>
                    <a:lumOff val="25000"/>
                  </a:schemeClr>
                </a:solidFill>
                <a:latin typeface="+mn-ea"/>
              </a:rPr>
              <a:t>年底前結束，信評機構惠譽認為，該公司將從</a:t>
            </a:r>
            <a:r>
              <a:rPr lang="en-US" altLang="zh-TW" sz="1000" dirty="0">
                <a:solidFill>
                  <a:schemeClr val="tx1">
                    <a:lumMod val="75000"/>
                    <a:lumOff val="25000"/>
                  </a:schemeClr>
                </a:solidFill>
                <a:latin typeface="+mn-ea"/>
              </a:rPr>
              <a:t>2026</a:t>
            </a:r>
            <a:r>
              <a:rPr lang="zh-TW" altLang="en-US" sz="1000" dirty="0">
                <a:solidFill>
                  <a:schemeClr val="tx1">
                    <a:lumMod val="75000"/>
                    <a:lumOff val="25000"/>
                  </a:schemeClr>
                </a:solidFill>
                <a:latin typeface="+mn-ea"/>
              </a:rPr>
              <a:t>年起將出現重大的漲價空間，且鑒於該公司對歐洲供電地位，價格能見度對將其國有化的法國政府核電發展野心至關重要。</a:t>
            </a:r>
            <a:endParaRPr lang="en-US" altLang="zh-TW" sz="1000" dirty="0">
              <a:solidFill>
                <a:schemeClr val="tx1">
                  <a:lumMod val="75000"/>
                  <a:lumOff val="25000"/>
                </a:schemeClr>
              </a:solidFill>
              <a:latin typeface="+mn-ea"/>
            </a:endParaRPr>
          </a:p>
        </p:txBody>
      </p:sp>
      <p:sp>
        <p:nvSpPr>
          <p:cNvPr id="30" name="標題 38">
            <a:extLst>
              <a:ext uri="{FF2B5EF4-FFF2-40B4-BE49-F238E27FC236}">
                <a16:creationId xmlns:a16="http://schemas.microsoft.com/office/drawing/2014/main" id="{D0FCD71C-3094-47DE-B012-FBB187335D3D}"/>
              </a:ext>
            </a:extLst>
          </p:cNvPr>
          <p:cNvSpPr txBox="1">
            <a:spLocks/>
          </p:cNvSpPr>
          <p:nvPr/>
        </p:nvSpPr>
        <p:spPr>
          <a:xfrm>
            <a:off x="448054" y="189928"/>
            <a:ext cx="6068162" cy="540000"/>
          </a:xfrm>
          <a:prstGeom prst="rect">
            <a:avLst/>
          </a:prstGeom>
        </p:spPr>
        <p:txBody>
          <a:bodyPr anchor="b">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r>
              <a:rPr lang="zh-TW" altLang="en-US" sz="2400" dirty="0"/>
              <a:t>法國電力公司 </a:t>
            </a:r>
            <a:r>
              <a:rPr lang="zh-TW" altLang="en-US" sz="2000" dirty="0">
                <a:solidFill>
                  <a:srgbClr val="E85113"/>
                </a:solidFill>
              </a:rPr>
              <a:t>低碳電力全球領導者 </a:t>
            </a:r>
          </a:p>
        </p:txBody>
      </p:sp>
      <p:pic>
        <p:nvPicPr>
          <p:cNvPr id="31" name="圖片 30">
            <a:extLst>
              <a:ext uri="{FF2B5EF4-FFF2-40B4-BE49-F238E27FC236}">
                <a16:creationId xmlns:a16="http://schemas.microsoft.com/office/drawing/2014/main" id="{DA6EE68A-0572-4D43-A46B-756CDAED3F81}"/>
              </a:ext>
            </a:extLst>
          </p:cNvPr>
          <p:cNvPicPr>
            <a:picLocks noChangeAspect="1"/>
          </p:cNvPicPr>
          <p:nvPr/>
        </p:nvPicPr>
        <p:blipFill>
          <a:blip r:embed="rId5"/>
          <a:stretch>
            <a:fillRect/>
          </a:stretch>
        </p:blipFill>
        <p:spPr>
          <a:xfrm>
            <a:off x="638492" y="789727"/>
            <a:ext cx="1225403" cy="370364"/>
          </a:xfrm>
          <a:prstGeom prst="rect">
            <a:avLst/>
          </a:prstGeom>
        </p:spPr>
      </p:pic>
      <p:sp>
        <p:nvSpPr>
          <p:cNvPr id="36" name="矩形 35">
            <a:extLst>
              <a:ext uri="{FF2B5EF4-FFF2-40B4-BE49-F238E27FC236}">
                <a16:creationId xmlns:a16="http://schemas.microsoft.com/office/drawing/2014/main" id="{D4DC56DD-E210-43A3-BFD1-55FEBC81DD9B}"/>
              </a:ext>
            </a:extLst>
          </p:cNvPr>
          <p:cNvSpPr/>
          <p:nvPr/>
        </p:nvSpPr>
        <p:spPr>
          <a:xfrm>
            <a:off x="461487" y="6547585"/>
            <a:ext cx="7206857" cy="215444"/>
          </a:xfrm>
          <a:prstGeom prst="rect">
            <a:avLst/>
          </a:prstGeom>
        </p:spPr>
        <p:txBody>
          <a:bodyPr wrap="square">
            <a:spAutoFit/>
          </a:bodyPr>
          <a:lstStyle/>
          <a:p>
            <a:r>
              <a:rPr lang="zh-TW" altLang="en-US" sz="800" dirty="0">
                <a:latin typeface="微軟正黑體" panose="020B0604030504040204" pitchFamily="34" charset="-120"/>
                <a:ea typeface="微軟正黑體" panose="020B0604030504040204" pitchFamily="34" charset="-120"/>
              </a:rPr>
              <a:t>資料來源：</a:t>
            </a:r>
            <a:r>
              <a:rPr lang="en-US" altLang="zh-TW" sz="800" dirty="0">
                <a:latin typeface="微軟正黑體" panose="020B0604030504040204" pitchFamily="34" charset="-120"/>
                <a:ea typeface="微軟正黑體" panose="020B0604030504040204" pitchFamily="34" charset="-120"/>
              </a:rPr>
              <a:t>Bloomberg</a:t>
            </a:r>
            <a:r>
              <a:rPr lang="zh-TW" altLang="en-US" sz="800" dirty="0">
                <a:latin typeface="微軟正黑體" panose="020B0604030504040204" pitchFamily="34" charset="-120"/>
                <a:ea typeface="微軟正黑體" panose="020B0604030504040204" pitchFamily="34" charset="-120"/>
              </a:rPr>
              <a:t>、官網、新聞整理、季報、</a:t>
            </a:r>
            <a:r>
              <a:rPr lang="en-US" altLang="zh-TW" sz="800" dirty="0">
                <a:latin typeface="微軟正黑體" panose="020B0604030504040204" pitchFamily="34" charset="-120"/>
                <a:ea typeface="微軟正黑體" panose="020B0604030504040204" pitchFamily="34" charset="-120"/>
              </a:rPr>
              <a:t>Fortune</a:t>
            </a:r>
            <a:r>
              <a:rPr lang="zh-TW" altLang="en-US" sz="800" dirty="0">
                <a:latin typeface="微軟正黑體" panose="020B0604030504040204" pitchFamily="34" charset="-120"/>
                <a:ea typeface="微軟正黑體" panose="020B0604030504040204" pitchFamily="34" charset="-120"/>
              </a:rPr>
              <a:t>、</a:t>
            </a:r>
            <a:r>
              <a:rPr lang="en-US" altLang="zh-TW" sz="800" dirty="0">
                <a:latin typeface="微軟正黑體" panose="020B0604030504040204" pitchFamily="34" charset="-120"/>
                <a:ea typeface="微軟正黑體" panose="020B0604030504040204" pitchFamily="34" charset="-120"/>
              </a:rPr>
              <a:t>Brand Finance</a:t>
            </a:r>
            <a:r>
              <a:rPr lang="zh-TW" altLang="en-US" sz="800" dirty="0">
                <a:latin typeface="微軟正黑體" panose="020B0604030504040204" pitchFamily="34" charset="-120"/>
                <a:ea typeface="微軟正黑體" panose="020B0604030504040204" pitchFamily="34" charset="-120"/>
              </a:rPr>
              <a:t>、</a:t>
            </a:r>
            <a:r>
              <a:rPr lang="en-US" altLang="zh-TW" sz="800" dirty="0">
                <a:solidFill>
                  <a:schemeClr val="tx1">
                    <a:lumMod val="85000"/>
                    <a:lumOff val="15000"/>
                  </a:schemeClr>
                </a:solidFill>
                <a:latin typeface="+mn-ea"/>
              </a:rPr>
              <a:t>Pharm</a:t>
            </a:r>
            <a:r>
              <a:rPr lang="zh-TW" altLang="en-US" sz="800" dirty="0">
                <a:solidFill>
                  <a:schemeClr val="tx1">
                    <a:lumMod val="85000"/>
                    <a:lumOff val="15000"/>
                  </a:schemeClr>
                </a:solidFill>
                <a:latin typeface="+mn-ea"/>
              </a:rPr>
              <a:t> </a:t>
            </a:r>
            <a:r>
              <a:rPr lang="en-US" altLang="zh-TW" sz="800" dirty="0">
                <a:solidFill>
                  <a:schemeClr val="tx1">
                    <a:lumMod val="85000"/>
                    <a:lumOff val="15000"/>
                  </a:schemeClr>
                </a:solidFill>
                <a:latin typeface="+mn-ea"/>
              </a:rPr>
              <a:t>Exec</a:t>
            </a:r>
            <a:r>
              <a:rPr lang="zh-TW" altLang="en-US" sz="800" dirty="0">
                <a:solidFill>
                  <a:schemeClr val="tx1">
                    <a:lumMod val="85000"/>
                    <a:lumOff val="15000"/>
                  </a:schemeClr>
                </a:solidFill>
                <a:latin typeface="+mn-ea"/>
              </a:rPr>
              <a:t>、</a:t>
            </a:r>
            <a:r>
              <a:rPr lang="en-US" altLang="zh-TW" sz="800" dirty="0">
                <a:solidFill>
                  <a:schemeClr val="tx1">
                    <a:lumMod val="85000"/>
                    <a:lumOff val="15000"/>
                  </a:schemeClr>
                </a:solidFill>
                <a:latin typeface="+mn-ea"/>
              </a:rPr>
              <a:t>Nature Portfolio</a:t>
            </a:r>
            <a:endParaRPr lang="zh-TW" altLang="en-US" sz="800" dirty="0">
              <a:solidFill>
                <a:schemeClr val="tx1">
                  <a:lumMod val="85000"/>
                  <a:lumOff val="15000"/>
                </a:schemeClr>
              </a:solidFill>
              <a:latin typeface="+mn-ea"/>
            </a:endParaRPr>
          </a:p>
        </p:txBody>
      </p:sp>
      <p:sp>
        <p:nvSpPr>
          <p:cNvPr id="44" name="圓角矩形 36">
            <a:extLst>
              <a:ext uri="{FF2B5EF4-FFF2-40B4-BE49-F238E27FC236}">
                <a16:creationId xmlns:a16="http://schemas.microsoft.com/office/drawing/2014/main" id="{5260B2CD-FEE4-47F6-BD3F-4145A777A1CE}"/>
              </a:ext>
            </a:extLst>
          </p:cNvPr>
          <p:cNvSpPr/>
          <p:nvPr/>
        </p:nvSpPr>
        <p:spPr>
          <a:xfrm>
            <a:off x="1907704" y="4454242"/>
            <a:ext cx="4248472" cy="34291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chemeClr val="bg1"/>
                </a:solidFill>
                <a:latin typeface="微軟正黑體" panose="020B0604030504040204" pitchFamily="34" charset="-120"/>
                <a:ea typeface="微軟正黑體" panose="020B0604030504040204" pitchFamily="34" charset="-120"/>
              </a:rPr>
              <a:t>透過核能及再生能源發電，</a:t>
            </a:r>
            <a:r>
              <a:rPr lang="en-US" altLang="zh-TW" sz="1400" b="1" dirty="0">
                <a:solidFill>
                  <a:schemeClr val="bg1"/>
                </a:solidFill>
                <a:latin typeface="微軟正黑體" panose="020B0604030504040204" pitchFamily="34" charset="-120"/>
                <a:ea typeface="微軟正黑體" panose="020B0604030504040204" pitchFamily="34" charset="-120"/>
              </a:rPr>
              <a:t>95%</a:t>
            </a:r>
            <a:r>
              <a:rPr lang="zh-TW" altLang="en-US" sz="1400" b="1" dirty="0">
                <a:solidFill>
                  <a:schemeClr val="bg1"/>
                </a:solidFill>
                <a:latin typeface="微軟正黑體" panose="020B0604030504040204" pitchFamily="34" charset="-120"/>
                <a:ea typeface="微軟正黑體" panose="020B0604030504040204" pitchFamily="34" charset="-120"/>
              </a:rPr>
              <a:t>的發電無排放</a:t>
            </a:r>
            <a:r>
              <a:rPr lang="en-US" altLang="zh-TW" sz="1400" b="1" dirty="0">
                <a:solidFill>
                  <a:schemeClr val="bg1"/>
                </a:solidFill>
                <a:latin typeface="微軟正黑體" panose="020B0604030504040204" pitchFamily="34" charset="-120"/>
                <a:ea typeface="微軟正黑體" panose="020B0604030504040204" pitchFamily="34" charset="-120"/>
              </a:rPr>
              <a:t>CO</a:t>
            </a:r>
            <a:r>
              <a:rPr lang="en-US" altLang="zh-TW" sz="1400" b="1" baseline="-25000" dirty="0">
                <a:solidFill>
                  <a:schemeClr val="bg1"/>
                </a:solidFill>
                <a:latin typeface="微軟正黑體" panose="020B0604030504040204" pitchFamily="34" charset="-120"/>
                <a:ea typeface="微軟正黑體" panose="020B0604030504040204" pitchFamily="34" charset="-120"/>
              </a:rPr>
              <a:t>2</a:t>
            </a:r>
          </a:p>
        </p:txBody>
      </p:sp>
      <p:pic>
        <p:nvPicPr>
          <p:cNvPr id="28" name="圖片 27"/>
          <p:cNvPicPr>
            <a:picLocks noChangeAspect="1"/>
          </p:cNvPicPr>
          <p:nvPr/>
        </p:nvPicPr>
        <p:blipFill>
          <a:blip r:embed="rId6">
            <a:clrChange>
              <a:clrFrom>
                <a:srgbClr val="FFFFFF"/>
              </a:clrFrom>
              <a:clrTo>
                <a:srgbClr val="FFFFFF">
                  <a:alpha val="0"/>
                </a:srgbClr>
              </a:clrTo>
            </a:clrChange>
          </a:blip>
          <a:stretch>
            <a:fillRect/>
          </a:stretch>
        </p:blipFill>
        <p:spPr>
          <a:xfrm>
            <a:off x="7268650" y="269257"/>
            <a:ext cx="1331690" cy="671258"/>
          </a:xfrm>
          <a:prstGeom prst="rect">
            <a:avLst/>
          </a:prstGeom>
        </p:spPr>
      </p:pic>
      <p:sp>
        <p:nvSpPr>
          <p:cNvPr id="32" name="文字方塊 31">
            <a:extLst>
              <a:ext uri="{FF2B5EF4-FFF2-40B4-BE49-F238E27FC236}">
                <a16:creationId xmlns:a16="http://schemas.microsoft.com/office/drawing/2014/main" id="{0300F4CF-2C94-89D3-9826-29627785A7CB}"/>
              </a:ext>
            </a:extLst>
          </p:cNvPr>
          <p:cNvSpPr txBox="1"/>
          <p:nvPr/>
        </p:nvSpPr>
        <p:spPr>
          <a:xfrm>
            <a:off x="6691676" y="1340768"/>
            <a:ext cx="2478687" cy="707886"/>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dirty="0"/>
              <a:t>#1</a:t>
            </a:r>
            <a:endParaRPr lang="zh-TW" altLang="en-US" dirty="0"/>
          </a:p>
        </p:txBody>
      </p:sp>
      <p:sp>
        <p:nvSpPr>
          <p:cNvPr id="33" name="矩形 32">
            <a:extLst>
              <a:ext uri="{FF2B5EF4-FFF2-40B4-BE49-F238E27FC236}">
                <a16:creationId xmlns:a16="http://schemas.microsoft.com/office/drawing/2014/main" id="{713D4D3F-1D8E-BC64-47DB-E84942D6B4B5}"/>
              </a:ext>
            </a:extLst>
          </p:cNvPr>
          <p:cNvSpPr/>
          <p:nvPr/>
        </p:nvSpPr>
        <p:spPr>
          <a:xfrm>
            <a:off x="6676658" y="1984917"/>
            <a:ext cx="2508723" cy="738664"/>
          </a:xfrm>
          <a:prstGeom prst="rect">
            <a:avLst/>
          </a:prstGeom>
        </p:spPr>
        <p:txBody>
          <a:bodyPr wrap="square">
            <a:spAutoFit/>
          </a:bodyPr>
          <a:lstStyle/>
          <a:p>
            <a:pPr algn="ctr"/>
            <a:r>
              <a:rPr lang="zh-TW" altLang="en-US" sz="1400" b="1" dirty="0">
                <a:solidFill>
                  <a:prstClr val="black">
                    <a:lumMod val="85000"/>
                    <a:lumOff val="15000"/>
                  </a:prstClr>
                </a:solidFill>
                <a:latin typeface="微軟正黑體" panose="020B0604030504040204" pitchFamily="34" charset="-120"/>
                <a:ea typeface="微軟正黑體" panose="020B0604030504040204" pitchFamily="34" charset="-120"/>
              </a:rPr>
              <a:t>全球電力公用事業</a:t>
            </a:r>
            <a:r>
              <a:rPr lang="en-US" altLang="zh-TW" sz="1400" b="1" dirty="0">
                <a:solidFill>
                  <a:prstClr val="black">
                    <a:lumMod val="85000"/>
                    <a:lumOff val="15000"/>
                  </a:prstClr>
                </a:solidFill>
                <a:latin typeface="微軟正黑體" panose="020B0604030504040204" pitchFamily="34" charset="-120"/>
                <a:ea typeface="微軟正黑體" panose="020B0604030504040204" pitchFamily="34" charset="-120"/>
              </a:rPr>
              <a:t>(</a:t>
            </a:r>
            <a:r>
              <a:rPr lang="zh-TW" altLang="en-US" sz="1400" b="1" dirty="0">
                <a:solidFill>
                  <a:prstClr val="black">
                    <a:lumMod val="85000"/>
                    <a:lumOff val="15000"/>
                  </a:prstClr>
                </a:solidFill>
                <a:latin typeface="微軟正黑體" panose="020B0604030504040204" pitchFamily="34" charset="-120"/>
                <a:ea typeface="微軟正黑體" panose="020B0604030504040204" pitchFamily="34" charset="-120"/>
              </a:rPr>
              <a:t>不含中國</a:t>
            </a:r>
            <a:r>
              <a:rPr lang="en-US" altLang="zh-TW" sz="1400" b="1" dirty="0">
                <a:solidFill>
                  <a:prstClr val="black">
                    <a:lumMod val="85000"/>
                    <a:lumOff val="15000"/>
                  </a:prstClr>
                </a:solidFill>
                <a:latin typeface="微軟正黑體" panose="020B0604030504040204" pitchFamily="34" charset="-120"/>
                <a:ea typeface="微軟正黑體" panose="020B0604030504040204" pitchFamily="34" charset="-120"/>
              </a:rPr>
              <a:t>)</a:t>
            </a:r>
            <a:r>
              <a:rPr lang="zh-TW" altLang="en-US" sz="1400" b="1" dirty="0">
                <a:solidFill>
                  <a:prstClr val="black">
                    <a:lumMod val="85000"/>
                    <a:lumOff val="15000"/>
                  </a:prstClr>
                </a:solidFill>
                <a:latin typeface="微軟正黑體" panose="020B0604030504040204" pitchFamily="34" charset="-120"/>
                <a:ea typeface="微軟正黑體" panose="020B0604030504040204" pitchFamily="34" charset="-120"/>
              </a:rPr>
              <a:t>按產業營收排名</a:t>
            </a:r>
            <a:endParaRPr lang="en-US" altLang="zh-TW" sz="1400" b="1" dirty="0">
              <a:solidFill>
                <a:prstClr val="black">
                  <a:lumMod val="85000"/>
                  <a:lumOff val="15000"/>
                </a:prstClr>
              </a:solidFill>
              <a:latin typeface="微軟正黑體" panose="020B0604030504040204" pitchFamily="34" charset="-120"/>
              <a:ea typeface="微軟正黑體" panose="020B0604030504040204" pitchFamily="34" charset="-120"/>
            </a:endParaRPr>
          </a:p>
          <a:p>
            <a:pPr algn="ctr"/>
            <a:r>
              <a:rPr lang="en-US" altLang="zh-TW" sz="1400" dirty="0">
                <a:solidFill>
                  <a:prstClr val="black">
                    <a:lumMod val="85000"/>
                    <a:lumOff val="15000"/>
                  </a:prstClr>
                </a:solidFill>
                <a:latin typeface="微軟正黑體" panose="020B0604030504040204" pitchFamily="34" charset="-120"/>
                <a:ea typeface="微軟正黑體" panose="020B0604030504040204" pitchFamily="34" charset="-120"/>
              </a:rPr>
              <a:t>(</a:t>
            </a:r>
            <a:r>
              <a:rPr lang="zh-TW" altLang="en-US" sz="1400" dirty="0">
                <a:solidFill>
                  <a:prstClr val="black">
                    <a:lumMod val="85000"/>
                    <a:lumOff val="15000"/>
                  </a:prstClr>
                </a:solidFill>
                <a:latin typeface="微軟正黑體" panose="020B0604030504040204" pitchFamily="34" charset="-120"/>
                <a:ea typeface="微軟正黑體" panose="020B0604030504040204" pitchFamily="34" charset="-120"/>
              </a:rPr>
              <a:t>彭博</a:t>
            </a:r>
            <a:r>
              <a:rPr lang="en-US" altLang="zh-TW" sz="1400" dirty="0">
                <a:solidFill>
                  <a:prstClr val="black">
                    <a:lumMod val="85000"/>
                    <a:lumOff val="15000"/>
                  </a:prstClr>
                </a:solidFill>
                <a:latin typeface="微軟正黑體" panose="020B0604030504040204" pitchFamily="34" charset="-120"/>
                <a:ea typeface="微軟正黑體" panose="020B0604030504040204" pitchFamily="34" charset="-120"/>
              </a:rPr>
              <a:t>BICS</a:t>
            </a:r>
            <a:r>
              <a:rPr lang="zh-TW" altLang="en-US" sz="1400" dirty="0">
                <a:solidFill>
                  <a:prstClr val="black">
                    <a:lumMod val="85000"/>
                    <a:lumOff val="15000"/>
                  </a:prstClr>
                </a:solidFill>
                <a:latin typeface="微軟正黑體" panose="020B0604030504040204" pitchFamily="34" charset="-120"/>
                <a:ea typeface="微軟正黑體" panose="020B0604030504040204" pitchFamily="34" charset="-120"/>
              </a:rPr>
              <a:t>分類</a:t>
            </a:r>
            <a:r>
              <a:rPr lang="en-US" altLang="zh-TW" sz="1400" dirty="0">
                <a:solidFill>
                  <a:prstClr val="black">
                    <a:lumMod val="85000"/>
                    <a:lumOff val="15000"/>
                  </a:prstClr>
                </a:solidFill>
                <a:latin typeface="微軟正黑體" panose="020B0604030504040204" pitchFamily="34" charset="-120"/>
                <a:ea typeface="微軟正黑體" panose="020B0604030504040204" pitchFamily="34" charset="-120"/>
              </a:rPr>
              <a:t>)</a:t>
            </a:r>
            <a:endParaRPr lang="zh-TW" altLang="en-US" sz="1400" dirty="0">
              <a:solidFill>
                <a:prstClr val="black">
                  <a:lumMod val="85000"/>
                  <a:lumOff val="15000"/>
                </a:prstClr>
              </a:solidFill>
              <a:latin typeface="微軟正黑體" panose="020B0604030504040204" pitchFamily="34" charset="-120"/>
              <a:ea typeface="微軟正黑體" panose="020B0604030504040204" pitchFamily="34" charset="-120"/>
            </a:endParaRPr>
          </a:p>
        </p:txBody>
      </p:sp>
      <p:sp>
        <p:nvSpPr>
          <p:cNvPr id="34" name="文字方塊 33">
            <a:extLst>
              <a:ext uri="{FF2B5EF4-FFF2-40B4-BE49-F238E27FC236}">
                <a16:creationId xmlns:a16="http://schemas.microsoft.com/office/drawing/2014/main" id="{F47B0D40-FD9D-AE69-AB1C-56C2BE0E7EE6}"/>
              </a:ext>
            </a:extLst>
          </p:cNvPr>
          <p:cNvSpPr txBox="1"/>
          <p:nvPr/>
        </p:nvSpPr>
        <p:spPr>
          <a:xfrm>
            <a:off x="6695767" y="3149807"/>
            <a:ext cx="2470505" cy="707886"/>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pPr>
              <a:defRPr/>
            </a:pPr>
            <a:r>
              <a:rPr lang="en-US" altLang="zh-TW" dirty="0"/>
              <a:t>#1</a:t>
            </a:r>
            <a:endParaRPr lang="zh-TW" altLang="en-US" dirty="0"/>
          </a:p>
        </p:txBody>
      </p:sp>
      <p:sp>
        <p:nvSpPr>
          <p:cNvPr id="37" name="矩形 36">
            <a:extLst>
              <a:ext uri="{FF2B5EF4-FFF2-40B4-BE49-F238E27FC236}">
                <a16:creationId xmlns:a16="http://schemas.microsoft.com/office/drawing/2014/main" id="{227F536D-8964-AB1B-3472-D07FE3523C33}"/>
              </a:ext>
            </a:extLst>
          </p:cNvPr>
          <p:cNvSpPr/>
          <p:nvPr/>
        </p:nvSpPr>
        <p:spPr>
          <a:xfrm>
            <a:off x="6660232" y="3800942"/>
            <a:ext cx="2541575" cy="523220"/>
          </a:xfrm>
          <a:prstGeom prst="rect">
            <a:avLst/>
          </a:prstGeom>
        </p:spPr>
        <p:txBody>
          <a:bodyPr wrap="square">
            <a:spAutoFit/>
          </a:bodyPr>
          <a:lstStyle/>
          <a:p>
            <a:pPr algn="ctr"/>
            <a:r>
              <a:rPr lang="zh-TW" altLang="en-US" sz="1400" b="1" dirty="0">
                <a:solidFill>
                  <a:prstClr val="black">
                    <a:lumMod val="85000"/>
                    <a:lumOff val="15000"/>
                  </a:prstClr>
                </a:solidFill>
                <a:latin typeface="微軟正黑體" panose="020B0604030504040204" pitchFamily="34" charset="-120"/>
                <a:ea typeface="微軟正黑體" panose="020B0604030504040204" pitchFamily="34" charset="-120"/>
              </a:rPr>
              <a:t>全球智慧電網發展排名</a:t>
            </a:r>
            <a:endParaRPr lang="en-US" altLang="zh-TW" sz="1400" b="1" dirty="0">
              <a:solidFill>
                <a:prstClr val="black">
                  <a:lumMod val="85000"/>
                  <a:lumOff val="15000"/>
                </a:prstClr>
              </a:solidFill>
              <a:latin typeface="微軟正黑體" panose="020B0604030504040204" pitchFamily="34" charset="-120"/>
              <a:ea typeface="微軟正黑體" panose="020B0604030504040204" pitchFamily="34" charset="-120"/>
            </a:endParaRPr>
          </a:p>
          <a:p>
            <a:pPr algn="ctr"/>
            <a:r>
              <a:rPr lang="en-US" altLang="zh-TW" sz="1400" dirty="0">
                <a:solidFill>
                  <a:prstClr val="black">
                    <a:lumMod val="85000"/>
                    <a:lumOff val="15000"/>
                  </a:prstClr>
                </a:solidFill>
                <a:latin typeface="微軟正黑體" panose="020B0604030504040204" pitchFamily="34" charset="-120"/>
                <a:ea typeface="微軟正黑體" panose="020B0604030504040204" pitchFamily="34" charset="-120"/>
              </a:rPr>
              <a:t>(Smart Grid Index, 2022)</a:t>
            </a:r>
          </a:p>
        </p:txBody>
      </p:sp>
      <p:sp>
        <p:nvSpPr>
          <p:cNvPr id="40" name="文字方塊 39"/>
          <p:cNvSpPr txBox="1"/>
          <p:nvPr/>
        </p:nvSpPr>
        <p:spPr>
          <a:xfrm>
            <a:off x="6666692" y="4993266"/>
            <a:ext cx="2528654" cy="707886"/>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dirty="0"/>
              <a:t>#2</a:t>
            </a:r>
          </a:p>
        </p:txBody>
      </p:sp>
      <p:sp>
        <p:nvSpPr>
          <p:cNvPr id="41" name="矩形 40">
            <a:extLst>
              <a:ext uri="{FF2B5EF4-FFF2-40B4-BE49-F238E27FC236}">
                <a16:creationId xmlns:a16="http://schemas.microsoft.com/office/drawing/2014/main" id="{906F3C27-6F0D-4A4E-B00D-D2FDAD7CF742}"/>
              </a:ext>
            </a:extLst>
          </p:cNvPr>
          <p:cNvSpPr/>
          <p:nvPr/>
        </p:nvSpPr>
        <p:spPr>
          <a:xfrm>
            <a:off x="6690918" y="5672687"/>
            <a:ext cx="2480203" cy="523220"/>
          </a:xfrm>
          <a:prstGeom prst="rect">
            <a:avLst/>
          </a:prstGeom>
        </p:spPr>
        <p:txBody>
          <a:bodyPr wrap="square">
            <a:spAutoFit/>
          </a:bodyPr>
          <a:lstStyle/>
          <a:p>
            <a:pPr algn="ctr"/>
            <a:r>
              <a:rPr lang="zh-TW" altLang="en-US" sz="1400" b="1" dirty="0">
                <a:solidFill>
                  <a:prstClr val="black">
                    <a:lumMod val="85000"/>
                    <a:lumOff val="15000"/>
                  </a:prstClr>
                </a:solidFill>
                <a:latin typeface="微軟正黑體" panose="020B0604030504040204" pitchFamily="34" charset="-120"/>
                <a:ea typeface="微軟正黑體" panose="020B0604030504040204" pitchFamily="34" charset="-120"/>
              </a:rPr>
              <a:t>法國第二大企業</a:t>
            </a:r>
            <a:endParaRPr lang="en-US" altLang="zh-TW" sz="1400" b="1" dirty="0">
              <a:solidFill>
                <a:prstClr val="black">
                  <a:lumMod val="85000"/>
                  <a:lumOff val="15000"/>
                </a:prstClr>
              </a:solidFill>
              <a:latin typeface="微軟正黑體" panose="020B0604030504040204" pitchFamily="34" charset="-120"/>
              <a:ea typeface="微軟正黑體" panose="020B0604030504040204" pitchFamily="34" charset="-120"/>
            </a:endParaRPr>
          </a:p>
          <a:p>
            <a:pPr algn="ctr"/>
            <a:r>
              <a:rPr lang="en-US" altLang="zh-TW" sz="1400" dirty="0">
                <a:solidFill>
                  <a:prstClr val="black">
                    <a:lumMod val="85000"/>
                    <a:lumOff val="15000"/>
                  </a:prstClr>
                </a:solidFill>
                <a:latin typeface="微軟正黑體" panose="020B0604030504040204" pitchFamily="34" charset="-120"/>
                <a:ea typeface="微軟正黑體" panose="020B0604030504040204" pitchFamily="34" charset="-120"/>
              </a:rPr>
              <a:t>(</a:t>
            </a:r>
            <a:r>
              <a:rPr lang="zh-TW" altLang="en-US" sz="1400" dirty="0">
                <a:solidFill>
                  <a:prstClr val="black">
                    <a:lumMod val="85000"/>
                    <a:lumOff val="15000"/>
                  </a:prstClr>
                </a:solidFill>
                <a:latin typeface="微軟正黑體" panose="020B0604030504040204" pitchFamily="34" charset="-120"/>
                <a:ea typeface="微軟正黑體" panose="020B0604030504040204" pitchFamily="34" charset="-120"/>
              </a:rPr>
              <a:t>按</a:t>
            </a:r>
            <a:r>
              <a:rPr lang="en-US" altLang="zh-TW" sz="1400" dirty="0">
                <a:solidFill>
                  <a:prstClr val="black">
                    <a:lumMod val="85000"/>
                    <a:lumOff val="15000"/>
                  </a:prstClr>
                </a:solidFill>
                <a:latin typeface="微軟正黑體" panose="020B0604030504040204" pitchFamily="34" charset="-120"/>
                <a:ea typeface="微軟正黑體" panose="020B0604030504040204" pitchFamily="34" charset="-120"/>
              </a:rPr>
              <a:t>2022</a:t>
            </a:r>
            <a:r>
              <a:rPr lang="zh-TW" altLang="en-US" sz="1400" dirty="0">
                <a:solidFill>
                  <a:prstClr val="black">
                    <a:lumMod val="85000"/>
                    <a:lumOff val="15000"/>
                  </a:prstClr>
                </a:solidFill>
                <a:latin typeface="微軟正黑體" panose="020B0604030504040204" pitchFamily="34" charset="-120"/>
                <a:ea typeface="微軟正黑體" panose="020B0604030504040204" pitchFamily="34" charset="-120"/>
              </a:rPr>
              <a:t>年營收排名</a:t>
            </a:r>
            <a:r>
              <a:rPr lang="en-US" altLang="zh-TW" sz="1400" dirty="0">
                <a:solidFill>
                  <a:prstClr val="black">
                    <a:lumMod val="85000"/>
                    <a:lumOff val="15000"/>
                  </a:prstClr>
                </a:solidFill>
                <a:latin typeface="微軟正黑體" panose="020B0604030504040204" pitchFamily="34" charset="-120"/>
                <a:ea typeface="微軟正黑體" panose="020B0604030504040204" pitchFamily="34" charset="-120"/>
              </a:rPr>
              <a:t>)</a:t>
            </a:r>
          </a:p>
        </p:txBody>
      </p:sp>
      <p:graphicFrame>
        <p:nvGraphicFramePr>
          <p:cNvPr id="49" name="圖表 48">
            <a:extLst>
              <a:ext uri="{FF2B5EF4-FFF2-40B4-BE49-F238E27FC236}">
                <a16:creationId xmlns:a16="http://schemas.microsoft.com/office/drawing/2014/main" id="{D8FACD99-B575-499B-AC6D-052B0143069D}"/>
              </a:ext>
            </a:extLst>
          </p:cNvPr>
          <p:cNvGraphicFramePr/>
          <p:nvPr>
            <p:extLst>
              <p:ext uri="{D42A27DB-BD31-4B8C-83A1-F6EECF244321}">
                <p14:modId xmlns:p14="http://schemas.microsoft.com/office/powerpoint/2010/main" val="3053224226"/>
              </p:ext>
            </p:extLst>
          </p:nvPr>
        </p:nvGraphicFramePr>
        <p:xfrm>
          <a:off x="4397893" y="4985411"/>
          <a:ext cx="1898216" cy="1351673"/>
        </p:xfrm>
        <a:graphic>
          <a:graphicData uri="http://schemas.openxmlformats.org/drawingml/2006/chart">
            <c:chart xmlns:c="http://schemas.openxmlformats.org/drawingml/2006/chart" xmlns:r="http://schemas.openxmlformats.org/officeDocument/2006/relationships" r:id="rId7"/>
          </a:graphicData>
        </a:graphic>
      </p:graphicFrame>
      <p:sp>
        <p:nvSpPr>
          <p:cNvPr id="4" name="文字方塊 3"/>
          <p:cNvSpPr txBox="1"/>
          <p:nvPr/>
        </p:nvSpPr>
        <p:spPr>
          <a:xfrm>
            <a:off x="5354085" y="4939479"/>
            <a:ext cx="1080119" cy="276999"/>
          </a:xfrm>
          <a:prstGeom prst="rect">
            <a:avLst/>
          </a:prstGeom>
          <a:noFill/>
        </p:spPr>
        <p:txBody>
          <a:bodyPr wrap="square" rtlCol="0">
            <a:spAutoFit/>
          </a:bodyPr>
          <a:lstStyle/>
          <a:p>
            <a:pPr algn="ctr"/>
            <a:r>
              <a:rPr lang="zh-TW" altLang="en-US" sz="1200" b="1" dirty="0"/>
              <a:t>按業務別</a:t>
            </a:r>
          </a:p>
        </p:txBody>
      </p:sp>
      <p:pic>
        <p:nvPicPr>
          <p:cNvPr id="58" name="圖片 57">
            <a:extLst>
              <a:ext uri="{FF2B5EF4-FFF2-40B4-BE49-F238E27FC236}">
                <a16:creationId xmlns:a16="http://schemas.microsoft.com/office/drawing/2014/main" id="{045DF805-B6BD-4AF9-9962-C6DD7F9C6408}"/>
              </a:ext>
            </a:extLst>
          </p:cNvPr>
          <p:cNvPicPr>
            <a:picLocks noChangeAspect="1"/>
          </p:cNvPicPr>
          <p:nvPr/>
        </p:nvPicPr>
        <p:blipFill rotWithShape="1">
          <a:blip r:embed="rId8">
            <a:extLst>
              <a:ext uri="{28A0092B-C50C-407E-A947-70E740481C1C}">
                <a14:useLocalDpi xmlns:a14="http://schemas.microsoft.com/office/drawing/2010/main" val="0"/>
              </a:ext>
            </a:extLst>
          </a:blip>
          <a:srcRect b="9825"/>
          <a:stretch/>
        </p:blipFill>
        <p:spPr>
          <a:xfrm>
            <a:off x="755576" y="4960750"/>
            <a:ext cx="3509257" cy="1363790"/>
          </a:xfrm>
          <a:prstGeom prst="rect">
            <a:avLst/>
          </a:prstGeom>
        </p:spPr>
      </p:pic>
      <p:sp>
        <p:nvSpPr>
          <p:cNvPr id="59" name="文字方塊 58">
            <a:extLst>
              <a:ext uri="{FF2B5EF4-FFF2-40B4-BE49-F238E27FC236}">
                <a16:creationId xmlns:a16="http://schemas.microsoft.com/office/drawing/2014/main" id="{34655562-9451-4B94-BCAA-B955C8C2CC0D}"/>
              </a:ext>
            </a:extLst>
          </p:cNvPr>
          <p:cNvSpPr txBox="1"/>
          <p:nvPr/>
        </p:nvSpPr>
        <p:spPr>
          <a:xfrm>
            <a:off x="1096626" y="5461571"/>
            <a:ext cx="563275" cy="198891"/>
          </a:xfrm>
          <a:prstGeom prst="rect">
            <a:avLst/>
          </a:prstGeom>
          <a:solidFill>
            <a:schemeClr val="bg1"/>
          </a:solidFill>
        </p:spPr>
        <p:txBody>
          <a:bodyPr wrap="square" rtlCol="0">
            <a:spAutoFit/>
          </a:bodyPr>
          <a:lstStyle/>
          <a:p>
            <a:r>
              <a:rPr lang="en-US" altLang="zh-TW" sz="600" b="1" dirty="0">
                <a:solidFill>
                  <a:srgbClr val="002060"/>
                </a:solidFill>
              </a:rPr>
              <a:t>120GW</a:t>
            </a:r>
            <a:r>
              <a:rPr lang="en-US" altLang="zh-TW" sz="600" b="1" baseline="30000" dirty="0">
                <a:solidFill>
                  <a:srgbClr val="002060"/>
                </a:solidFill>
              </a:rPr>
              <a:t>(1)</a:t>
            </a:r>
            <a:endParaRPr lang="zh-TW" altLang="en-US" sz="600" b="1" dirty="0">
              <a:solidFill>
                <a:srgbClr val="002060"/>
              </a:solidFill>
            </a:endParaRPr>
          </a:p>
        </p:txBody>
      </p:sp>
      <p:sp>
        <p:nvSpPr>
          <p:cNvPr id="61" name="文字方塊 60">
            <a:extLst>
              <a:ext uri="{FF2B5EF4-FFF2-40B4-BE49-F238E27FC236}">
                <a16:creationId xmlns:a16="http://schemas.microsoft.com/office/drawing/2014/main" id="{4FD4FB27-E7BA-47E5-B936-11F96D80A420}"/>
              </a:ext>
            </a:extLst>
          </p:cNvPr>
          <p:cNvSpPr txBox="1"/>
          <p:nvPr/>
        </p:nvSpPr>
        <p:spPr>
          <a:xfrm>
            <a:off x="2408155" y="5473011"/>
            <a:ext cx="563275" cy="184666"/>
          </a:xfrm>
          <a:prstGeom prst="rect">
            <a:avLst/>
          </a:prstGeom>
          <a:solidFill>
            <a:schemeClr val="bg1"/>
          </a:solidFill>
        </p:spPr>
        <p:txBody>
          <a:bodyPr wrap="square" rtlCol="0">
            <a:spAutoFit/>
          </a:bodyPr>
          <a:lstStyle/>
          <a:p>
            <a:r>
              <a:rPr lang="en-US" altLang="zh-TW" sz="600" b="1" dirty="0">
                <a:solidFill>
                  <a:srgbClr val="002060"/>
                </a:solidFill>
              </a:rPr>
              <a:t>515TWh</a:t>
            </a:r>
            <a:r>
              <a:rPr lang="en-US" altLang="zh-TW" sz="600" b="1" baseline="30000" dirty="0">
                <a:solidFill>
                  <a:srgbClr val="002060"/>
                </a:solidFill>
              </a:rPr>
              <a:t>(1)</a:t>
            </a:r>
            <a:r>
              <a:rPr lang="en-US" altLang="zh-TW" sz="600" b="1" dirty="0">
                <a:solidFill>
                  <a:srgbClr val="002060"/>
                </a:solidFill>
              </a:rPr>
              <a:t> </a:t>
            </a:r>
            <a:endParaRPr lang="zh-TW" altLang="en-US" sz="600" b="1" dirty="0">
              <a:solidFill>
                <a:srgbClr val="002060"/>
              </a:solidFill>
            </a:endParaRPr>
          </a:p>
        </p:txBody>
      </p:sp>
      <p:sp>
        <p:nvSpPr>
          <p:cNvPr id="62" name="文字方塊 61">
            <a:extLst>
              <a:ext uri="{FF2B5EF4-FFF2-40B4-BE49-F238E27FC236}">
                <a16:creationId xmlns:a16="http://schemas.microsoft.com/office/drawing/2014/main" id="{868A1913-D002-447C-A653-5B65B46269CC}"/>
              </a:ext>
            </a:extLst>
          </p:cNvPr>
          <p:cNvSpPr txBox="1"/>
          <p:nvPr/>
        </p:nvSpPr>
        <p:spPr>
          <a:xfrm>
            <a:off x="2978186" y="4959061"/>
            <a:ext cx="870751" cy="184666"/>
          </a:xfrm>
          <a:prstGeom prst="rect">
            <a:avLst/>
          </a:prstGeom>
          <a:noFill/>
        </p:spPr>
        <p:txBody>
          <a:bodyPr wrap="none" rtlCol="0">
            <a:spAutoFit/>
          </a:bodyPr>
          <a:lstStyle/>
          <a:p>
            <a:r>
              <a:rPr lang="en-US" altLang="zh-TW" sz="600" b="1" dirty="0">
                <a:solidFill>
                  <a:srgbClr val="8BDA16"/>
                </a:solidFill>
              </a:rPr>
              <a:t>95% decarbonized</a:t>
            </a:r>
          </a:p>
        </p:txBody>
      </p:sp>
      <p:sp>
        <p:nvSpPr>
          <p:cNvPr id="19" name="文字方塊 18">
            <a:extLst>
              <a:ext uri="{FF2B5EF4-FFF2-40B4-BE49-F238E27FC236}">
                <a16:creationId xmlns:a16="http://schemas.microsoft.com/office/drawing/2014/main" id="{99EA969C-9834-4BF3-AE92-572F6E5581CD}"/>
              </a:ext>
            </a:extLst>
          </p:cNvPr>
          <p:cNvSpPr txBox="1"/>
          <p:nvPr/>
        </p:nvSpPr>
        <p:spPr>
          <a:xfrm>
            <a:off x="763320" y="4763483"/>
            <a:ext cx="1771639" cy="215444"/>
          </a:xfrm>
          <a:prstGeom prst="rect">
            <a:avLst/>
          </a:prstGeom>
          <a:noFill/>
        </p:spPr>
        <p:txBody>
          <a:bodyPr wrap="none" rtlCol="0">
            <a:spAutoFit/>
          </a:bodyPr>
          <a:lstStyle/>
          <a:p>
            <a:r>
              <a:rPr lang="en-US" altLang="zh-TW" sz="800" b="1" dirty="0">
                <a:solidFill>
                  <a:srgbClr val="002D74"/>
                </a:solidFill>
              </a:rPr>
              <a:t>Operational figures at end-2025</a:t>
            </a:r>
            <a:endParaRPr lang="zh-TW" altLang="en-US" sz="800" dirty="0"/>
          </a:p>
        </p:txBody>
      </p:sp>
      <p:sp>
        <p:nvSpPr>
          <p:cNvPr id="69" name="文字方塊 68">
            <a:extLst>
              <a:ext uri="{FF2B5EF4-FFF2-40B4-BE49-F238E27FC236}">
                <a16:creationId xmlns:a16="http://schemas.microsoft.com/office/drawing/2014/main" id="{27943FFB-ACB6-4A4B-A892-6E67F77AF5D3}"/>
              </a:ext>
            </a:extLst>
          </p:cNvPr>
          <p:cNvSpPr txBox="1"/>
          <p:nvPr/>
        </p:nvSpPr>
        <p:spPr>
          <a:xfrm>
            <a:off x="1614660" y="4941168"/>
            <a:ext cx="870751" cy="184666"/>
          </a:xfrm>
          <a:prstGeom prst="rect">
            <a:avLst/>
          </a:prstGeom>
          <a:noFill/>
        </p:spPr>
        <p:txBody>
          <a:bodyPr wrap="none" rtlCol="0">
            <a:spAutoFit/>
          </a:bodyPr>
          <a:lstStyle/>
          <a:p>
            <a:r>
              <a:rPr lang="en-US" altLang="zh-TW" sz="600" b="1" dirty="0">
                <a:solidFill>
                  <a:srgbClr val="8BDA16"/>
                </a:solidFill>
              </a:rPr>
              <a:t>87% decarbonized</a:t>
            </a:r>
          </a:p>
        </p:txBody>
      </p:sp>
      <p:sp>
        <p:nvSpPr>
          <p:cNvPr id="68" name="橢圓 67">
            <a:extLst>
              <a:ext uri="{FF2B5EF4-FFF2-40B4-BE49-F238E27FC236}">
                <a16:creationId xmlns:a16="http://schemas.microsoft.com/office/drawing/2014/main" id="{96B0D654-DA23-474B-9F0D-ECFFD2D341C1}"/>
              </a:ext>
            </a:extLst>
          </p:cNvPr>
          <p:cNvSpPr/>
          <p:nvPr/>
        </p:nvSpPr>
        <p:spPr>
          <a:xfrm>
            <a:off x="709392" y="4982379"/>
            <a:ext cx="1285884" cy="1296023"/>
          </a:xfrm>
          <a:prstGeom prst="ellipse">
            <a:avLst/>
          </a:prstGeom>
          <a:noFill/>
          <a:ln>
            <a:solidFill>
              <a:srgbClr val="A6E3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矩形 69">
            <a:extLst>
              <a:ext uri="{FF2B5EF4-FFF2-40B4-BE49-F238E27FC236}">
                <a16:creationId xmlns:a16="http://schemas.microsoft.com/office/drawing/2014/main" id="{289B9862-F410-4F9F-A14A-88E0256BCD6E}"/>
              </a:ext>
            </a:extLst>
          </p:cNvPr>
          <p:cNvSpPr/>
          <p:nvPr/>
        </p:nvSpPr>
        <p:spPr>
          <a:xfrm rot="3086649">
            <a:off x="1674214" y="6082202"/>
            <a:ext cx="170694" cy="2217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638492" y="6288315"/>
            <a:ext cx="4572000" cy="200055"/>
          </a:xfrm>
          <a:prstGeom prst="rect">
            <a:avLst/>
          </a:prstGeom>
          <a:noFill/>
        </p:spPr>
        <p:txBody>
          <a:bodyPr>
            <a:spAutoFit/>
          </a:bodyPr>
          <a:lstStyle/>
          <a:p>
            <a:r>
              <a:rPr lang="en-US" altLang="zh-TW" sz="700" dirty="0"/>
              <a:t>(1) Consolidated capacities and output, including </a:t>
            </a:r>
            <a:r>
              <a:rPr lang="en-US" altLang="zh-TW" sz="700" dirty="0" err="1"/>
              <a:t>Flamanville</a:t>
            </a:r>
            <a:r>
              <a:rPr lang="en-US" altLang="zh-TW" sz="700" dirty="0"/>
              <a:t> 3 for 1.6GW. </a:t>
            </a:r>
            <a:endParaRPr lang="zh-TW" altLang="en-US" sz="700" dirty="0"/>
          </a:p>
        </p:txBody>
      </p:sp>
    </p:spTree>
    <p:extLst>
      <p:ext uri="{BB962C8B-B14F-4D97-AF65-F5344CB8AC3E}">
        <p14:creationId xmlns:p14="http://schemas.microsoft.com/office/powerpoint/2010/main" val="46372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圖片 46">
            <a:extLst>
              <a:ext uri="{FF2B5EF4-FFF2-40B4-BE49-F238E27FC236}">
                <a16:creationId xmlns:a16="http://schemas.microsoft.com/office/drawing/2014/main" id="{F348A89D-4E0F-4CFE-8E57-54F6609F77C2}"/>
              </a:ext>
            </a:extLst>
          </p:cNvPr>
          <p:cNvPicPr>
            <a:picLocks noChangeAspect="1"/>
          </p:cNvPicPr>
          <p:nvPr/>
        </p:nvPicPr>
        <p:blipFill rotWithShape="1">
          <a:blip r:embed="rId3">
            <a:extLst>
              <a:ext uri="{28A0092B-C50C-407E-A947-70E740481C1C}">
                <a14:useLocalDpi xmlns:a14="http://schemas.microsoft.com/office/drawing/2010/main" val="0"/>
              </a:ext>
            </a:extLst>
          </a:blip>
          <a:srcRect l="5847"/>
          <a:stretch/>
        </p:blipFill>
        <p:spPr>
          <a:xfrm>
            <a:off x="5977592" y="4145318"/>
            <a:ext cx="3004647" cy="2164002"/>
          </a:xfrm>
          <a:prstGeom prst="rect">
            <a:avLst/>
          </a:prstGeom>
        </p:spPr>
      </p:pic>
      <p:pic>
        <p:nvPicPr>
          <p:cNvPr id="43" name="圖片 42">
            <a:extLst>
              <a:ext uri="{FF2B5EF4-FFF2-40B4-BE49-F238E27FC236}">
                <a16:creationId xmlns:a16="http://schemas.microsoft.com/office/drawing/2014/main" id="{2E9A5752-4D5F-49F9-A663-37DDD69923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7110" y="5234511"/>
            <a:ext cx="1476581" cy="800212"/>
          </a:xfrm>
          <a:prstGeom prst="rect">
            <a:avLst/>
          </a:prstGeom>
        </p:spPr>
      </p:pic>
      <p:pic>
        <p:nvPicPr>
          <p:cNvPr id="3" name="圖片 2">
            <a:extLst>
              <a:ext uri="{FF2B5EF4-FFF2-40B4-BE49-F238E27FC236}">
                <a16:creationId xmlns:a16="http://schemas.microsoft.com/office/drawing/2014/main" id="{2CC96368-E50B-4F5F-8ED3-3EEDD17EAE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7514" y="960044"/>
            <a:ext cx="6190523" cy="3665536"/>
          </a:xfrm>
          <a:prstGeom prst="rect">
            <a:avLst/>
          </a:prstGeom>
        </p:spPr>
      </p:pic>
      <p:sp>
        <p:nvSpPr>
          <p:cNvPr id="4" name="投影片編號版面配置區 3">
            <a:extLst>
              <a:ext uri="{FF2B5EF4-FFF2-40B4-BE49-F238E27FC236}">
                <a16:creationId xmlns:a16="http://schemas.microsoft.com/office/drawing/2014/main" id="{E9BC1E29-929C-479F-B32F-4DA6711F8A91}"/>
              </a:ext>
            </a:extLst>
          </p:cNvPr>
          <p:cNvSpPr>
            <a:spLocks noGrp="1"/>
          </p:cNvSpPr>
          <p:nvPr>
            <p:ph type="sldNum" sz="quarter" idx="10"/>
          </p:nvPr>
        </p:nvSpPr>
        <p:spPr/>
        <p:txBody>
          <a:bodyPr/>
          <a:lstStyle/>
          <a:p>
            <a:fld id="{415482FC-CF5F-466A-B8B6-BC3733E92023}" type="slidenum">
              <a:rPr lang="zh-TW" altLang="en-US" smtClean="0"/>
              <a:pPr/>
              <a:t>3</a:t>
            </a:fld>
            <a:endParaRPr lang="zh-TW" altLang="en-US" dirty="0"/>
          </a:p>
        </p:txBody>
      </p:sp>
      <p:sp>
        <p:nvSpPr>
          <p:cNvPr id="5" name="標題 1">
            <a:extLst>
              <a:ext uri="{FF2B5EF4-FFF2-40B4-BE49-F238E27FC236}">
                <a16:creationId xmlns:a16="http://schemas.microsoft.com/office/drawing/2014/main" id="{60C28753-0A00-4E34-83C6-C4D758C2A7D2}"/>
              </a:ext>
            </a:extLst>
          </p:cNvPr>
          <p:cNvSpPr txBox="1">
            <a:spLocks/>
          </p:cNvSpPr>
          <p:nvPr/>
        </p:nvSpPr>
        <p:spPr bwMode="auto">
          <a:xfrm>
            <a:off x="229944" y="161162"/>
            <a:ext cx="776452" cy="633413"/>
          </a:xfrm>
          <a:prstGeom prst="rect">
            <a:avLst/>
          </a:prstGeom>
          <a:solidFill>
            <a:srgbClr val="C00000"/>
          </a:solidFill>
          <a:ln>
            <a:noFill/>
          </a:ln>
        </p:spPr>
        <p:txBody>
          <a:bodyPr anchor="ctr">
            <a:noAutofit/>
          </a:bodyPr>
          <a:lstStyle>
            <a:lvl1pPr algn="l" rtl="0" eaLnBrk="0" fontAlgn="base" hangingPunct="0">
              <a:spcBef>
                <a:spcPct val="0"/>
              </a:spcBef>
              <a:spcAft>
                <a:spcPct val="0"/>
              </a:spcAft>
              <a:defRPr kumimoji="1" sz="3000" b="1">
                <a:solidFill>
                  <a:schemeClr val="tx2"/>
                </a:solidFill>
                <a:latin typeface="+mj-lt"/>
                <a:ea typeface="+mj-ea"/>
                <a:cs typeface="+mj-cs"/>
              </a:defRPr>
            </a:lvl1pPr>
            <a:lvl2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algn="l" rtl="0" fontAlgn="base">
              <a:spcBef>
                <a:spcPct val="0"/>
              </a:spcBef>
              <a:spcAft>
                <a:spcPct val="0"/>
              </a:spcAft>
              <a:defRPr kumimoji="1" sz="3000" b="1">
                <a:solidFill>
                  <a:schemeClr val="tx2"/>
                </a:solidFill>
                <a:latin typeface="標楷體" pitchFamily="65" charset="-120"/>
                <a:ea typeface="標楷體" pitchFamily="65" charset="-120"/>
              </a:defRPr>
            </a:lvl6pPr>
            <a:lvl7pPr marL="914400" algn="l" rtl="0" fontAlgn="base">
              <a:spcBef>
                <a:spcPct val="0"/>
              </a:spcBef>
              <a:spcAft>
                <a:spcPct val="0"/>
              </a:spcAft>
              <a:defRPr kumimoji="1" sz="3000" b="1">
                <a:solidFill>
                  <a:schemeClr val="tx2"/>
                </a:solidFill>
                <a:latin typeface="標楷體" pitchFamily="65" charset="-120"/>
                <a:ea typeface="標楷體" pitchFamily="65" charset="-120"/>
              </a:defRPr>
            </a:lvl7pPr>
            <a:lvl8pPr marL="1371600" algn="l" rtl="0" fontAlgn="base">
              <a:spcBef>
                <a:spcPct val="0"/>
              </a:spcBef>
              <a:spcAft>
                <a:spcPct val="0"/>
              </a:spcAft>
              <a:defRPr kumimoji="1" sz="3000" b="1">
                <a:solidFill>
                  <a:schemeClr val="tx2"/>
                </a:solidFill>
                <a:latin typeface="標楷體" pitchFamily="65" charset="-120"/>
                <a:ea typeface="標楷體" pitchFamily="65" charset="-120"/>
              </a:defRPr>
            </a:lvl8pPr>
            <a:lvl9pPr marL="1828800" algn="l" rtl="0" fontAlgn="base">
              <a:spcBef>
                <a:spcPct val="0"/>
              </a:spcBef>
              <a:spcAft>
                <a:spcPct val="0"/>
              </a:spcAft>
              <a:defRPr kumimoji="1" sz="3000" b="1">
                <a:solidFill>
                  <a:schemeClr val="tx2"/>
                </a:solidFill>
                <a:latin typeface="標楷體" pitchFamily="65" charset="-120"/>
                <a:ea typeface="標楷體" pitchFamily="65" charset="-120"/>
              </a:defRPr>
            </a:lvl9pPr>
          </a:lstStyle>
          <a:p>
            <a:pPr algn="ctr">
              <a:defRPr/>
            </a:pPr>
            <a:r>
              <a:rPr lang="zh-TW" altLang="en-US" sz="2000" kern="0" dirty="0">
                <a:solidFill>
                  <a:schemeClr val="bg1"/>
                </a:solidFill>
              </a:rPr>
              <a:t>業務概況</a:t>
            </a:r>
          </a:p>
        </p:txBody>
      </p:sp>
      <p:sp>
        <p:nvSpPr>
          <p:cNvPr id="6" name="標題 1">
            <a:extLst>
              <a:ext uri="{FF2B5EF4-FFF2-40B4-BE49-F238E27FC236}">
                <a16:creationId xmlns:a16="http://schemas.microsoft.com/office/drawing/2014/main" id="{8A190DF9-3093-4C79-BE60-4ED0D15A2C3B}"/>
              </a:ext>
            </a:extLst>
          </p:cNvPr>
          <p:cNvSpPr txBox="1">
            <a:spLocks noChangeArrowheads="1"/>
          </p:cNvSpPr>
          <p:nvPr/>
        </p:nvSpPr>
        <p:spPr>
          <a:xfrm>
            <a:off x="1053599" y="142648"/>
            <a:ext cx="7141365" cy="633413"/>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tabLst>
                <a:tab pos="5473700" algn="l"/>
              </a:tabLst>
              <a:defRPr/>
            </a:pPr>
            <a:r>
              <a:rPr lang="zh-TW" altLang="en-US" sz="2400" dirty="0"/>
              <a:t>能源發電業務地域多元</a:t>
            </a:r>
          </a:p>
        </p:txBody>
      </p:sp>
      <p:sp>
        <p:nvSpPr>
          <p:cNvPr id="20" name="矩形 19">
            <a:extLst>
              <a:ext uri="{FF2B5EF4-FFF2-40B4-BE49-F238E27FC236}">
                <a16:creationId xmlns:a16="http://schemas.microsoft.com/office/drawing/2014/main" id="{705ADE1F-E065-4EC3-B187-F821455018F2}"/>
              </a:ext>
            </a:extLst>
          </p:cNvPr>
          <p:cNvSpPr/>
          <p:nvPr/>
        </p:nvSpPr>
        <p:spPr>
          <a:xfrm>
            <a:off x="395046" y="6535367"/>
            <a:ext cx="10072673" cy="215444"/>
          </a:xfrm>
          <a:prstGeom prst="rect">
            <a:avLst/>
          </a:prstGeom>
        </p:spPr>
        <p:txBody>
          <a:bodyPr wrap="square">
            <a:spAutoFit/>
          </a:bodyPr>
          <a:lstStyle/>
          <a:p>
            <a:r>
              <a:rPr lang="zh-TW" altLang="en-US" sz="800" dirty="0">
                <a:solidFill>
                  <a:prstClr val="black"/>
                </a:solidFill>
                <a:latin typeface="+mn-ea"/>
              </a:rPr>
              <a:t>資料來源：</a:t>
            </a:r>
            <a:r>
              <a:rPr lang="en-US" altLang="zh-TW" sz="800" dirty="0">
                <a:solidFill>
                  <a:prstClr val="black"/>
                </a:solidFill>
                <a:latin typeface="+mn-ea"/>
                <a:hlinkClick r:id="rId6"/>
              </a:rPr>
              <a:t>2025 FACTS &amp; FIGURES</a:t>
            </a:r>
            <a:endParaRPr lang="en-US" altLang="zh-TW" sz="800" dirty="0">
              <a:latin typeface="+mn-ea"/>
            </a:endParaRPr>
          </a:p>
        </p:txBody>
      </p:sp>
      <p:sp>
        <p:nvSpPr>
          <p:cNvPr id="7" name="文字方塊 6"/>
          <p:cNvSpPr txBox="1"/>
          <p:nvPr/>
        </p:nvSpPr>
        <p:spPr>
          <a:xfrm>
            <a:off x="3848751" y="5200213"/>
            <a:ext cx="516551" cy="246221"/>
          </a:xfrm>
          <a:prstGeom prst="rect">
            <a:avLst/>
          </a:prstGeom>
          <a:noFill/>
        </p:spPr>
        <p:txBody>
          <a:bodyPr wrap="square" rtlCol="0">
            <a:spAutoFit/>
          </a:bodyPr>
          <a:lstStyle/>
          <a:p>
            <a:r>
              <a:rPr lang="zh-TW" altLang="en-US" sz="1000" b="1" dirty="0">
                <a:solidFill>
                  <a:srgbClr val="133B8F"/>
                </a:solidFill>
              </a:rPr>
              <a:t>核能</a:t>
            </a:r>
          </a:p>
        </p:txBody>
      </p:sp>
      <p:sp>
        <p:nvSpPr>
          <p:cNvPr id="8" name="文字方塊 7"/>
          <p:cNvSpPr txBox="1"/>
          <p:nvPr/>
        </p:nvSpPr>
        <p:spPr>
          <a:xfrm>
            <a:off x="4560610" y="5701670"/>
            <a:ext cx="745354" cy="246221"/>
          </a:xfrm>
          <a:prstGeom prst="rect">
            <a:avLst/>
          </a:prstGeom>
          <a:noFill/>
        </p:spPr>
        <p:txBody>
          <a:bodyPr wrap="square" rtlCol="0">
            <a:spAutoFit/>
          </a:bodyPr>
          <a:lstStyle/>
          <a:p>
            <a:pPr>
              <a:spcBef>
                <a:spcPts val="400"/>
              </a:spcBef>
            </a:pPr>
            <a:r>
              <a:rPr lang="zh-TW" altLang="en-US" sz="1000" b="1" dirty="0">
                <a:solidFill>
                  <a:srgbClr val="FFBF5A"/>
                </a:solidFill>
              </a:rPr>
              <a:t>天然氣</a:t>
            </a:r>
            <a:endParaRPr lang="en-US" altLang="zh-TW" sz="1000" b="1" dirty="0">
              <a:solidFill>
                <a:srgbClr val="FFBF5A"/>
              </a:solidFill>
            </a:endParaRPr>
          </a:p>
        </p:txBody>
      </p:sp>
      <p:sp>
        <p:nvSpPr>
          <p:cNvPr id="9" name="文字方塊 8"/>
          <p:cNvSpPr txBox="1"/>
          <p:nvPr/>
        </p:nvSpPr>
        <p:spPr>
          <a:xfrm>
            <a:off x="4560610" y="5640596"/>
            <a:ext cx="947494" cy="246221"/>
          </a:xfrm>
          <a:prstGeom prst="rect">
            <a:avLst/>
          </a:prstGeom>
          <a:noFill/>
        </p:spPr>
        <p:txBody>
          <a:bodyPr wrap="square" rtlCol="0">
            <a:spAutoFit/>
          </a:bodyPr>
          <a:lstStyle/>
          <a:p>
            <a:r>
              <a:rPr lang="zh-TW" altLang="en-US" sz="1000" b="1" dirty="0">
                <a:solidFill>
                  <a:srgbClr val="6CA055"/>
                </a:solidFill>
              </a:rPr>
              <a:t>可再生能源</a:t>
            </a:r>
          </a:p>
        </p:txBody>
      </p:sp>
      <p:sp>
        <p:nvSpPr>
          <p:cNvPr id="10" name="文字方塊 9"/>
          <p:cNvSpPr txBox="1"/>
          <p:nvPr/>
        </p:nvSpPr>
        <p:spPr>
          <a:xfrm>
            <a:off x="3854939" y="5357621"/>
            <a:ext cx="516551" cy="246221"/>
          </a:xfrm>
          <a:prstGeom prst="rect">
            <a:avLst/>
          </a:prstGeom>
          <a:noFill/>
        </p:spPr>
        <p:txBody>
          <a:bodyPr wrap="square" rtlCol="0">
            <a:spAutoFit/>
          </a:bodyPr>
          <a:lstStyle/>
          <a:p>
            <a:r>
              <a:rPr lang="zh-TW" altLang="en-US" sz="1000" b="1" dirty="0">
                <a:solidFill>
                  <a:srgbClr val="0E88FF"/>
                </a:solidFill>
              </a:rPr>
              <a:t>水力</a:t>
            </a:r>
          </a:p>
        </p:txBody>
      </p:sp>
      <p:sp>
        <p:nvSpPr>
          <p:cNvPr id="12" name="文字方塊 11"/>
          <p:cNvSpPr txBox="1"/>
          <p:nvPr/>
        </p:nvSpPr>
        <p:spPr>
          <a:xfrm>
            <a:off x="147804" y="2852936"/>
            <a:ext cx="1259632" cy="707886"/>
          </a:xfrm>
          <a:prstGeom prst="rect">
            <a:avLst/>
          </a:prstGeom>
          <a:solidFill>
            <a:schemeClr val="bg1"/>
          </a:solidFill>
          <a:ln>
            <a:solidFill>
              <a:schemeClr val="accent5">
                <a:lumMod val="40000"/>
                <a:lumOff val="60000"/>
              </a:schemeClr>
            </a:solidFill>
          </a:ln>
        </p:spPr>
        <p:txBody>
          <a:bodyPr wrap="square" rtlCol="0">
            <a:spAutoFit/>
          </a:bodyPr>
          <a:lstStyle/>
          <a:p>
            <a:pPr algn="just"/>
            <a:r>
              <a:rPr lang="en-US" altLang="zh-TW" sz="1000" dirty="0">
                <a:solidFill>
                  <a:srgbClr val="E85113"/>
                </a:solidFill>
              </a:rPr>
              <a:t>EDF</a:t>
            </a:r>
            <a:r>
              <a:rPr lang="zh-TW" altLang="en-US" sz="1000" dirty="0">
                <a:solidFill>
                  <a:srgbClr val="E85113"/>
                </a:solidFill>
              </a:rPr>
              <a:t>擁有全球最大的核能艦隊，單在法國就有</a:t>
            </a:r>
            <a:r>
              <a:rPr lang="en-US" altLang="zh-TW" sz="1000" dirty="0">
                <a:solidFill>
                  <a:srgbClr val="E85113"/>
                </a:solidFill>
              </a:rPr>
              <a:t>57</a:t>
            </a:r>
            <a:r>
              <a:rPr lang="zh-TW" altLang="en-US" sz="1000" dirty="0">
                <a:solidFill>
                  <a:srgbClr val="E85113"/>
                </a:solidFill>
              </a:rPr>
              <a:t>個核反應爐</a:t>
            </a:r>
            <a:r>
              <a:rPr lang="en-US" altLang="zh-TW" sz="1000" dirty="0">
                <a:solidFill>
                  <a:srgbClr val="E85113"/>
                </a:solidFill>
              </a:rPr>
              <a:t>(reactors)</a:t>
            </a:r>
          </a:p>
        </p:txBody>
      </p:sp>
      <p:pic>
        <p:nvPicPr>
          <p:cNvPr id="14" name="圖片 13"/>
          <p:cNvPicPr>
            <a:picLocks noChangeAspect="1"/>
          </p:cNvPicPr>
          <p:nvPr/>
        </p:nvPicPr>
        <p:blipFill>
          <a:blip r:embed="rId7">
            <a:clrChange>
              <a:clrFrom>
                <a:srgbClr val="FFFFFF"/>
              </a:clrFrom>
              <a:clrTo>
                <a:srgbClr val="FFFFFF">
                  <a:alpha val="0"/>
                </a:srgbClr>
              </a:clrTo>
            </a:clrChange>
          </a:blip>
          <a:stretch>
            <a:fillRect/>
          </a:stretch>
        </p:blipFill>
        <p:spPr>
          <a:xfrm>
            <a:off x="8044464" y="267537"/>
            <a:ext cx="859988" cy="433490"/>
          </a:xfrm>
          <a:prstGeom prst="rect">
            <a:avLst/>
          </a:prstGeom>
        </p:spPr>
      </p:pic>
      <p:sp>
        <p:nvSpPr>
          <p:cNvPr id="17" name="矩形: 圓角 16">
            <a:extLst>
              <a:ext uri="{FF2B5EF4-FFF2-40B4-BE49-F238E27FC236}">
                <a16:creationId xmlns:a16="http://schemas.microsoft.com/office/drawing/2014/main" id="{73404B03-7B1E-4A29-853E-75B99BFF8B54}"/>
              </a:ext>
            </a:extLst>
          </p:cNvPr>
          <p:cNvSpPr/>
          <p:nvPr/>
        </p:nvSpPr>
        <p:spPr>
          <a:xfrm>
            <a:off x="1582910" y="2793953"/>
            <a:ext cx="1044873" cy="792088"/>
          </a:xfrm>
          <a:prstGeom prst="roundRect">
            <a:avLst/>
          </a:prstGeom>
          <a:no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5" name="直線接點 14"/>
          <p:cNvCxnSpPr>
            <a:cxnSpLocks/>
            <a:endCxn id="17" idx="1"/>
          </p:cNvCxnSpPr>
          <p:nvPr/>
        </p:nvCxnSpPr>
        <p:spPr>
          <a:xfrm>
            <a:off x="1407436" y="3189997"/>
            <a:ext cx="175474" cy="0"/>
          </a:xfrm>
          <a:prstGeom prst="line">
            <a:avLst/>
          </a:prstGeom>
          <a:noFill/>
          <a:ln>
            <a:solidFill>
              <a:schemeClr val="accent5">
                <a:lumMod val="40000"/>
                <a:lumOff val="60000"/>
              </a:schemeClr>
            </a:solidFill>
            <a:tailEnd type="oval"/>
          </a:ln>
        </p:spPr>
      </p:cxnSp>
      <p:sp>
        <p:nvSpPr>
          <p:cNvPr id="30" name="文字方塊 29">
            <a:extLst>
              <a:ext uri="{FF2B5EF4-FFF2-40B4-BE49-F238E27FC236}">
                <a16:creationId xmlns:a16="http://schemas.microsoft.com/office/drawing/2014/main" id="{6B5F6822-5B2C-4E21-804D-0A2823383C15}"/>
              </a:ext>
            </a:extLst>
          </p:cNvPr>
          <p:cNvSpPr txBox="1"/>
          <p:nvPr/>
        </p:nvSpPr>
        <p:spPr>
          <a:xfrm>
            <a:off x="1672340" y="1864465"/>
            <a:ext cx="1159992" cy="400110"/>
          </a:xfrm>
          <a:prstGeom prst="rect">
            <a:avLst/>
          </a:prstGeom>
          <a:noFill/>
        </p:spPr>
        <p:txBody>
          <a:bodyPr wrap="square" rtlCol="0">
            <a:spAutoFit/>
          </a:bodyPr>
          <a:lstStyle/>
          <a:p>
            <a:r>
              <a:rPr lang="zh-TW" altLang="en-US" sz="1000" b="1" dirty="0">
                <a:solidFill>
                  <a:srgbClr val="C00000"/>
                </a:solidFill>
              </a:rPr>
              <a:t>英國最大的零碳能源電力公司</a:t>
            </a:r>
          </a:p>
        </p:txBody>
      </p:sp>
      <p:pic>
        <p:nvPicPr>
          <p:cNvPr id="31" name="圖片 30">
            <a:extLst>
              <a:ext uri="{FF2B5EF4-FFF2-40B4-BE49-F238E27FC236}">
                <a16:creationId xmlns:a16="http://schemas.microsoft.com/office/drawing/2014/main" id="{2A36CECB-69C9-4973-9298-6FFF0069C8B8}"/>
              </a:ext>
            </a:extLst>
          </p:cNvPr>
          <p:cNvPicPr>
            <a:picLocks noChangeAspect="1"/>
          </p:cNvPicPr>
          <p:nvPr/>
        </p:nvPicPr>
        <p:blipFill>
          <a:blip r:embed="rId8"/>
          <a:stretch>
            <a:fillRect/>
          </a:stretch>
        </p:blipFill>
        <p:spPr>
          <a:xfrm>
            <a:off x="1746293" y="1705461"/>
            <a:ext cx="718953" cy="189311"/>
          </a:xfrm>
          <a:prstGeom prst="rect">
            <a:avLst/>
          </a:prstGeom>
        </p:spPr>
      </p:pic>
      <p:sp>
        <p:nvSpPr>
          <p:cNvPr id="32" name="文字方塊 31">
            <a:extLst>
              <a:ext uri="{FF2B5EF4-FFF2-40B4-BE49-F238E27FC236}">
                <a16:creationId xmlns:a16="http://schemas.microsoft.com/office/drawing/2014/main" id="{6938A458-FE3A-47D1-B1A9-42E04B9DA8CD}"/>
              </a:ext>
            </a:extLst>
          </p:cNvPr>
          <p:cNvSpPr txBox="1"/>
          <p:nvPr/>
        </p:nvSpPr>
        <p:spPr>
          <a:xfrm>
            <a:off x="1728663" y="1537913"/>
            <a:ext cx="1058846" cy="240439"/>
          </a:xfrm>
          <a:prstGeom prst="rect">
            <a:avLst/>
          </a:prstGeom>
          <a:noFill/>
        </p:spPr>
        <p:txBody>
          <a:bodyPr wrap="square" rtlCol="0">
            <a:spAutoFit/>
          </a:bodyPr>
          <a:lstStyle/>
          <a:p>
            <a:r>
              <a:rPr lang="zh-TW" altLang="en-US" sz="800" dirty="0">
                <a:solidFill>
                  <a:prstClr val="white">
                    <a:lumMod val="50000"/>
                  </a:prstClr>
                </a:solidFill>
              </a:rPr>
              <a:t>主要實體</a:t>
            </a:r>
          </a:p>
        </p:txBody>
      </p:sp>
      <p:sp>
        <p:nvSpPr>
          <p:cNvPr id="34" name="文字方塊 33">
            <a:extLst>
              <a:ext uri="{FF2B5EF4-FFF2-40B4-BE49-F238E27FC236}">
                <a16:creationId xmlns:a16="http://schemas.microsoft.com/office/drawing/2014/main" id="{2386DC5E-84DA-4278-8FB0-FDD7DBF39A6D}"/>
              </a:ext>
            </a:extLst>
          </p:cNvPr>
          <p:cNvSpPr txBox="1"/>
          <p:nvPr/>
        </p:nvSpPr>
        <p:spPr>
          <a:xfrm>
            <a:off x="4181748" y="4632675"/>
            <a:ext cx="1592495" cy="492443"/>
          </a:xfrm>
          <a:prstGeom prst="rect">
            <a:avLst/>
          </a:prstGeom>
          <a:noFill/>
        </p:spPr>
        <p:txBody>
          <a:bodyPr wrap="square" rtlCol="0">
            <a:spAutoFit/>
          </a:bodyPr>
          <a:lstStyle/>
          <a:p>
            <a:r>
              <a:rPr lang="zh-TW" altLang="en-US" sz="1000" b="1" dirty="0">
                <a:solidFill>
                  <a:srgbClr val="C00000"/>
                </a:solidFill>
              </a:rPr>
              <a:t>義大利第三大電力公司</a:t>
            </a:r>
            <a:r>
              <a:rPr lang="zh-TW" altLang="en-US" sz="800" b="1" dirty="0">
                <a:solidFill>
                  <a:srgbClr val="C00000"/>
                </a:solidFill>
              </a:rPr>
              <a:t>，</a:t>
            </a:r>
            <a:r>
              <a:rPr lang="zh-TW" altLang="en-US" sz="800" dirty="0">
                <a:solidFill>
                  <a:srgbClr val="C00000"/>
                </a:solidFill>
              </a:rPr>
              <a:t>主要採用天然氣、可再生能源及水力發電。</a:t>
            </a:r>
          </a:p>
        </p:txBody>
      </p:sp>
      <p:pic>
        <p:nvPicPr>
          <p:cNvPr id="35" name="圖片 34">
            <a:extLst>
              <a:ext uri="{FF2B5EF4-FFF2-40B4-BE49-F238E27FC236}">
                <a16:creationId xmlns:a16="http://schemas.microsoft.com/office/drawing/2014/main" id="{EAAE1C01-BE00-4679-A6C6-C4125C3D028B}"/>
              </a:ext>
            </a:extLst>
          </p:cNvPr>
          <p:cNvPicPr>
            <a:picLocks noChangeAspect="1"/>
          </p:cNvPicPr>
          <p:nvPr/>
        </p:nvPicPr>
        <p:blipFill>
          <a:blip r:embed="rId9"/>
          <a:stretch>
            <a:fillRect/>
          </a:stretch>
        </p:blipFill>
        <p:spPr>
          <a:xfrm>
            <a:off x="4848337" y="4421101"/>
            <a:ext cx="570475" cy="214502"/>
          </a:xfrm>
          <a:prstGeom prst="rect">
            <a:avLst/>
          </a:prstGeom>
        </p:spPr>
      </p:pic>
      <p:pic>
        <p:nvPicPr>
          <p:cNvPr id="36" name="圖片 35">
            <a:extLst>
              <a:ext uri="{FF2B5EF4-FFF2-40B4-BE49-F238E27FC236}">
                <a16:creationId xmlns:a16="http://schemas.microsoft.com/office/drawing/2014/main" id="{E1A10FB0-C75E-4E13-95F5-68E8C006DF97}"/>
              </a:ext>
            </a:extLst>
          </p:cNvPr>
          <p:cNvPicPr>
            <a:picLocks noChangeAspect="1"/>
          </p:cNvPicPr>
          <p:nvPr/>
        </p:nvPicPr>
        <p:blipFill>
          <a:blip r:embed="rId10"/>
          <a:stretch>
            <a:fillRect/>
          </a:stretch>
        </p:blipFill>
        <p:spPr>
          <a:xfrm>
            <a:off x="4000534" y="1042203"/>
            <a:ext cx="592252" cy="300720"/>
          </a:xfrm>
          <a:prstGeom prst="rect">
            <a:avLst/>
          </a:prstGeom>
        </p:spPr>
      </p:pic>
      <p:sp>
        <p:nvSpPr>
          <p:cNvPr id="37" name="文字方塊 36">
            <a:extLst>
              <a:ext uri="{FF2B5EF4-FFF2-40B4-BE49-F238E27FC236}">
                <a16:creationId xmlns:a16="http://schemas.microsoft.com/office/drawing/2014/main" id="{95034C08-ED81-446D-ADEE-08314CD294B3}"/>
              </a:ext>
            </a:extLst>
          </p:cNvPr>
          <p:cNvSpPr txBox="1"/>
          <p:nvPr/>
        </p:nvSpPr>
        <p:spPr>
          <a:xfrm>
            <a:off x="3916211" y="1337858"/>
            <a:ext cx="1101105" cy="400110"/>
          </a:xfrm>
          <a:prstGeom prst="rect">
            <a:avLst/>
          </a:prstGeom>
          <a:noFill/>
        </p:spPr>
        <p:txBody>
          <a:bodyPr wrap="square" rtlCol="0">
            <a:spAutoFit/>
          </a:bodyPr>
          <a:lstStyle/>
          <a:p>
            <a:r>
              <a:rPr lang="zh-TW" altLang="en-US" sz="1000" b="1" dirty="0">
                <a:solidFill>
                  <a:srgbClr val="C00000"/>
                </a:solidFill>
              </a:rPr>
              <a:t>比利時能源市場第</a:t>
            </a:r>
            <a:r>
              <a:rPr lang="en-US" altLang="zh-TW" sz="1000" b="1" dirty="0">
                <a:solidFill>
                  <a:srgbClr val="C00000"/>
                </a:solidFill>
              </a:rPr>
              <a:t>2</a:t>
            </a:r>
            <a:r>
              <a:rPr lang="zh-TW" altLang="en-US" sz="1000" b="1" dirty="0">
                <a:solidFill>
                  <a:srgbClr val="C00000"/>
                </a:solidFill>
              </a:rPr>
              <a:t>大參與者</a:t>
            </a:r>
          </a:p>
        </p:txBody>
      </p:sp>
      <p:pic>
        <p:nvPicPr>
          <p:cNvPr id="26" name="圖片 25">
            <a:extLst>
              <a:ext uri="{FF2B5EF4-FFF2-40B4-BE49-F238E27FC236}">
                <a16:creationId xmlns:a16="http://schemas.microsoft.com/office/drawing/2014/main" id="{999410C1-1DC1-4EFC-BF0E-92A774C26377}"/>
              </a:ext>
            </a:extLst>
          </p:cNvPr>
          <p:cNvPicPr>
            <a:picLocks noChangeAspect="1"/>
          </p:cNvPicPr>
          <p:nvPr/>
        </p:nvPicPr>
        <p:blipFill rotWithShape="1">
          <a:blip r:embed="rId11">
            <a:extLst>
              <a:ext uri="{28A0092B-C50C-407E-A947-70E740481C1C}">
                <a14:useLocalDpi xmlns:a14="http://schemas.microsoft.com/office/drawing/2010/main" val="0"/>
              </a:ext>
            </a:extLst>
          </a:blip>
          <a:srcRect l="5316"/>
          <a:stretch/>
        </p:blipFill>
        <p:spPr>
          <a:xfrm>
            <a:off x="59462" y="3641537"/>
            <a:ext cx="2568322" cy="2667783"/>
          </a:xfrm>
          <a:prstGeom prst="rect">
            <a:avLst/>
          </a:prstGeom>
        </p:spPr>
      </p:pic>
      <p:pic>
        <p:nvPicPr>
          <p:cNvPr id="39" name="圖片 38">
            <a:extLst>
              <a:ext uri="{FF2B5EF4-FFF2-40B4-BE49-F238E27FC236}">
                <a16:creationId xmlns:a16="http://schemas.microsoft.com/office/drawing/2014/main" id="{5A38E9FC-7A7D-47C6-B20C-F1BE0659C1FF}"/>
              </a:ext>
            </a:extLst>
          </p:cNvPr>
          <p:cNvPicPr>
            <a:picLocks noChangeAspect="1"/>
          </p:cNvPicPr>
          <p:nvPr/>
        </p:nvPicPr>
        <p:blipFill rotWithShape="1">
          <a:blip r:embed="rId12">
            <a:extLst>
              <a:ext uri="{28A0092B-C50C-407E-A947-70E740481C1C}">
                <a14:useLocalDpi xmlns:a14="http://schemas.microsoft.com/office/drawing/2010/main" val="0"/>
              </a:ext>
            </a:extLst>
          </a:blip>
          <a:srcRect l="1891" r="4389" b="3585"/>
          <a:stretch/>
        </p:blipFill>
        <p:spPr>
          <a:xfrm>
            <a:off x="323527" y="3699888"/>
            <a:ext cx="1405135" cy="809232"/>
          </a:xfrm>
          <a:prstGeom prst="rect">
            <a:avLst/>
          </a:prstGeom>
        </p:spPr>
      </p:pic>
      <p:sp>
        <p:nvSpPr>
          <p:cNvPr id="45" name="文字方塊 44">
            <a:extLst>
              <a:ext uri="{FF2B5EF4-FFF2-40B4-BE49-F238E27FC236}">
                <a16:creationId xmlns:a16="http://schemas.microsoft.com/office/drawing/2014/main" id="{F889BCBC-E2B5-40EF-B380-E69527090AE9}"/>
              </a:ext>
            </a:extLst>
          </p:cNvPr>
          <p:cNvSpPr txBox="1"/>
          <p:nvPr/>
        </p:nvSpPr>
        <p:spPr>
          <a:xfrm>
            <a:off x="4562642" y="5847075"/>
            <a:ext cx="830708" cy="246221"/>
          </a:xfrm>
          <a:prstGeom prst="rect">
            <a:avLst/>
          </a:prstGeom>
          <a:noFill/>
        </p:spPr>
        <p:txBody>
          <a:bodyPr wrap="square">
            <a:spAutoFit/>
          </a:bodyPr>
          <a:lstStyle/>
          <a:p>
            <a:pPr>
              <a:spcBef>
                <a:spcPts val="400"/>
              </a:spcBef>
            </a:pPr>
            <a:r>
              <a:rPr lang="zh-TW" altLang="en-US" sz="1000" b="1" dirty="0">
                <a:solidFill>
                  <a:srgbClr val="FE5B22"/>
                </a:solidFill>
              </a:rPr>
              <a:t>石化燃料</a:t>
            </a:r>
            <a:endParaRPr lang="en-US" altLang="zh-TW" sz="1000" b="1" dirty="0">
              <a:solidFill>
                <a:srgbClr val="FE5B22"/>
              </a:solidFill>
            </a:endParaRPr>
          </a:p>
        </p:txBody>
      </p:sp>
      <p:pic>
        <p:nvPicPr>
          <p:cNvPr id="49" name="圖片 48">
            <a:extLst>
              <a:ext uri="{FF2B5EF4-FFF2-40B4-BE49-F238E27FC236}">
                <a16:creationId xmlns:a16="http://schemas.microsoft.com/office/drawing/2014/main" id="{30112D04-AB29-4E72-B9DB-52929648BA49}"/>
              </a:ext>
            </a:extLst>
          </p:cNvPr>
          <p:cNvPicPr>
            <a:picLocks noChangeAspect="1"/>
          </p:cNvPicPr>
          <p:nvPr/>
        </p:nvPicPr>
        <p:blipFill rotWithShape="1">
          <a:blip r:embed="rId13">
            <a:extLst>
              <a:ext uri="{28A0092B-C50C-407E-A947-70E740481C1C}">
                <a14:useLocalDpi xmlns:a14="http://schemas.microsoft.com/office/drawing/2010/main" val="0"/>
              </a:ext>
            </a:extLst>
          </a:blip>
          <a:srcRect l="3634" r="2458"/>
          <a:stretch/>
        </p:blipFill>
        <p:spPr>
          <a:xfrm>
            <a:off x="6311670" y="1131911"/>
            <a:ext cx="2645159" cy="2561657"/>
          </a:xfrm>
          <a:prstGeom prst="rect">
            <a:avLst/>
          </a:prstGeom>
        </p:spPr>
      </p:pic>
      <p:pic>
        <p:nvPicPr>
          <p:cNvPr id="51" name="圖片 50">
            <a:extLst>
              <a:ext uri="{FF2B5EF4-FFF2-40B4-BE49-F238E27FC236}">
                <a16:creationId xmlns:a16="http://schemas.microsoft.com/office/drawing/2014/main" id="{C0B6FB99-7675-49C7-AFFB-A7DE9BB9A5A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934421" y="1810047"/>
            <a:ext cx="1203345" cy="804307"/>
          </a:xfrm>
          <a:prstGeom prst="rect">
            <a:avLst/>
          </a:prstGeom>
        </p:spPr>
      </p:pic>
      <p:pic>
        <p:nvPicPr>
          <p:cNvPr id="53" name="圖片 52">
            <a:extLst>
              <a:ext uri="{FF2B5EF4-FFF2-40B4-BE49-F238E27FC236}">
                <a16:creationId xmlns:a16="http://schemas.microsoft.com/office/drawing/2014/main" id="{4058C1AE-BD84-4C77-8670-46C9BA4BDBE9}"/>
              </a:ext>
            </a:extLst>
          </p:cNvPr>
          <p:cNvPicPr>
            <a:picLocks noChangeAspect="1"/>
          </p:cNvPicPr>
          <p:nvPr/>
        </p:nvPicPr>
        <p:blipFill rotWithShape="1">
          <a:blip r:embed="rId15">
            <a:extLst>
              <a:ext uri="{28A0092B-C50C-407E-A947-70E740481C1C}">
                <a14:useLocalDpi xmlns:a14="http://schemas.microsoft.com/office/drawing/2010/main" val="0"/>
              </a:ext>
            </a:extLst>
          </a:blip>
          <a:srcRect t="2437" b="-1"/>
          <a:stretch/>
        </p:blipFill>
        <p:spPr>
          <a:xfrm>
            <a:off x="5628133" y="5784381"/>
            <a:ext cx="1208886" cy="492443"/>
          </a:xfrm>
          <a:prstGeom prst="rect">
            <a:avLst/>
          </a:prstGeom>
        </p:spPr>
      </p:pic>
      <p:pic>
        <p:nvPicPr>
          <p:cNvPr id="55" name="圖片 54">
            <a:extLst>
              <a:ext uri="{FF2B5EF4-FFF2-40B4-BE49-F238E27FC236}">
                <a16:creationId xmlns:a16="http://schemas.microsoft.com/office/drawing/2014/main" id="{6F8E7481-1D9B-4CEF-AA39-92E98FA753AE}"/>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7647132" y="3711880"/>
            <a:ext cx="1358671" cy="489673"/>
          </a:xfrm>
          <a:prstGeom prst="rect">
            <a:avLst/>
          </a:prstGeom>
        </p:spPr>
      </p:pic>
      <p:sp>
        <p:nvSpPr>
          <p:cNvPr id="56" name="矩形 55">
            <a:extLst>
              <a:ext uri="{FF2B5EF4-FFF2-40B4-BE49-F238E27FC236}">
                <a16:creationId xmlns:a16="http://schemas.microsoft.com/office/drawing/2014/main" id="{488B77CE-8AE2-4555-8F4C-279BFD7734C5}"/>
              </a:ext>
            </a:extLst>
          </p:cNvPr>
          <p:cNvSpPr/>
          <p:nvPr/>
        </p:nvSpPr>
        <p:spPr>
          <a:xfrm>
            <a:off x="5868144" y="4231061"/>
            <a:ext cx="1497617" cy="3023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56">
            <a:extLst>
              <a:ext uri="{FF2B5EF4-FFF2-40B4-BE49-F238E27FC236}">
                <a16:creationId xmlns:a16="http://schemas.microsoft.com/office/drawing/2014/main" id="{E96E3EB9-0FE5-4AAD-87BC-EC492CFCB126}"/>
              </a:ext>
            </a:extLst>
          </p:cNvPr>
          <p:cNvSpPr/>
          <p:nvPr/>
        </p:nvSpPr>
        <p:spPr>
          <a:xfrm>
            <a:off x="6011668" y="4988024"/>
            <a:ext cx="600003" cy="3023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58">
            <a:extLst>
              <a:ext uri="{FF2B5EF4-FFF2-40B4-BE49-F238E27FC236}">
                <a16:creationId xmlns:a16="http://schemas.microsoft.com/office/drawing/2014/main" id="{EF409CC5-9504-4E79-99F4-FB395C5D0646}"/>
              </a:ext>
            </a:extLst>
          </p:cNvPr>
          <p:cNvSpPr/>
          <p:nvPr/>
        </p:nvSpPr>
        <p:spPr>
          <a:xfrm>
            <a:off x="5680892" y="5322485"/>
            <a:ext cx="600003" cy="3424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57">
            <a:extLst>
              <a:ext uri="{FF2B5EF4-FFF2-40B4-BE49-F238E27FC236}">
                <a16:creationId xmlns:a16="http://schemas.microsoft.com/office/drawing/2014/main" id="{35B3EB9A-5C75-498F-B65B-37BF4941B23B}"/>
              </a:ext>
            </a:extLst>
          </p:cNvPr>
          <p:cNvSpPr/>
          <p:nvPr/>
        </p:nvSpPr>
        <p:spPr>
          <a:xfrm>
            <a:off x="5753392" y="5227700"/>
            <a:ext cx="600003" cy="123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500" b="1" dirty="0">
                <a:solidFill>
                  <a:srgbClr val="002D74"/>
                </a:solidFill>
                <a:latin typeface="Times New Roman" panose="02020603050405020304" pitchFamily="18" charset="0"/>
                <a:ea typeface="Cambria" panose="02040503050406030204" pitchFamily="18" charset="0"/>
                <a:cs typeface="Times New Roman" panose="02020603050405020304" pitchFamily="18" charset="0"/>
              </a:rPr>
              <a:t>Ivory Coast</a:t>
            </a:r>
            <a:endParaRPr lang="zh-TW" altLang="en-US" sz="500" b="1" dirty="0">
              <a:solidFill>
                <a:srgbClr val="002D74"/>
              </a:solidFill>
              <a:latin typeface="Times New Roman" panose="02020603050405020304" pitchFamily="18" charset="0"/>
              <a:cs typeface="Times New Roman" panose="02020603050405020304" pitchFamily="18" charset="0"/>
            </a:endParaRPr>
          </a:p>
        </p:txBody>
      </p:sp>
      <p:sp>
        <p:nvSpPr>
          <p:cNvPr id="60" name="矩形 59">
            <a:extLst>
              <a:ext uri="{FF2B5EF4-FFF2-40B4-BE49-F238E27FC236}">
                <a16:creationId xmlns:a16="http://schemas.microsoft.com/office/drawing/2014/main" id="{B0801FDF-5274-43CC-AD6A-3FD97FE36261}"/>
              </a:ext>
            </a:extLst>
          </p:cNvPr>
          <p:cNvSpPr/>
          <p:nvPr/>
        </p:nvSpPr>
        <p:spPr>
          <a:xfrm>
            <a:off x="8474458" y="3429000"/>
            <a:ext cx="600003" cy="3023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矩形 64">
            <a:extLst>
              <a:ext uri="{FF2B5EF4-FFF2-40B4-BE49-F238E27FC236}">
                <a16:creationId xmlns:a16="http://schemas.microsoft.com/office/drawing/2014/main" id="{4393C626-E7FD-4472-A0A8-BDAB95CE181A}"/>
              </a:ext>
            </a:extLst>
          </p:cNvPr>
          <p:cNvSpPr/>
          <p:nvPr/>
        </p:nvSpPr>
        <p:spPr>
          <a:xfrm>
            <a:off x="8011247" y="980728"/>
            <a:ext cx="1063214" cy="6334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文字方塊 66">
            <a:extLst>
              <a:ext uri="{FF2B5EF4-FFF2-40B4-BE49-F238E27FC236}">
                <a16:creationId xmlns:a16="http://schemas.microsoft.com/office/drawing/2014/main" id="{C1DAF767-1779-4641-94AF-0FCD4BBBC6C6}"/>
              </a:ext>
            </a:extLst>
          </p:cNvPr>
          <p:cNvSpPr txBox="1"/>
          <p:nvPr/>
        </p:nvSpPr>
        <p:spPr>
          <a:xfrm>
            <a:off x="377297" y="6156012"/>
            <a:ext cx="4482735" cy="369332"/>
          </a:xfrm>
          <a:prstGeom prst="rect">
            <a:avLst/>
          </a:prstGeom>
          <a:noFill/>
        </p:spPr>
        <p:txBody>
          <a:bodyPr wrap="square">
            <a:spAutoFit/>
          </a:bodyPr>
          <a:lstStyle/>
          <a:p>
            <a:r>
              <a:rPr lang="en-US" altLang="zh-TW" sz="600" dirty="0">
                <a:solidFill>
                  <a:schemeClr val="tx1">
                    <a:lumMod val="50000"/>
                    <a:lumOff val="50000"/>
                  </a:schemeClr>
                </a:solidFill>
                <a:latin typeface="Times New Roman" panose="02020603050405020304" pitchFamily="18" charset="0"/>
                <a:ea typeface="Cambria" panose="02040503050406030204" pitchFamily="18" charset="0"/>
                <a:cs typeface="Times New Roman" panose="02020603050405020304" pitchFamily="18" charset="0"/>
              </a:rPr>
              <a:t>(1) Net capacity and output according to EDF’s percentage ownership in Group companies, including associates and joint ventures.</a:t>
            </a:r>
          </a:p>
          <a:p>
            <a:r>
              <a:rPr lang="en-US" altLang="zh-TW" sz="600" dirty="0">
                <a:solidFill>
                  <a:schemeClr val="tx1">
                    <a:lumMod val="50000"/>
                    <a:lumOff val="50000"/>
                  </a:schemeClr>
                </a:solidFill>
                <a:latin typeface="Times New Roman" panose="02020603050405020304" pitchFamily="18" charset="0"/>
                <a:ea typeface="Cambria" panose="02040503050406030204" pitchFamily="18" charset="0"/>
                <a:cs typeface="Times New Roman" panose="02020603050405020304" pitchFamily="18" charset="0"/>
              </a:rPr>
              <a:t>(2) The French nuclear capacity includes </a:t>
            </a:r>
            <a:r>
              <a:rPr lang="en-US" altLang="zh-TW" sz="600" dirty="0" err="1">
                <a:solidFill>
                  <a:schemeClr val="tx1">
                    <a:lumMod val="50000"/>
                    <a:lumOff val="50000"/>
                  </a:schemeClr>
                </a:solidFill>
                <a:latin typeface="Times New Roman" panose="02020603050405020304" pitchFamily="18" charset="0"/>
                <a:ea typeface="Cambria" panose="02040503050406030204" pitchFamily="18" charset="0"/>
                <a:cs typeface="Times New Roman" panose="02020603050405020304" pitchFamily="18" charset="0"/>
              </a:rPr>
              <a:t>Flamanville</a:t>
            </a:r>
            <a:r>
              <a:rPr lang="en-US" altLang="zh-TW" sz="600" dirty="0">
                <a:solidFill>
                  <a:schemeClr val="tx1">
                    <a:lumMod val="50000"/>
                    <a:lumOff val="50000"/>
                  </a:schemeClr>
                </a:solidFill>
                <a:latin typeface="Times New Roman" panose="02020603050405020304" pitchFamily="18" charset="0"/>
                <a:ea typeface="Cambria" panose="02040503050406030204" pitchFamily="18" charset="0"/>
                <a:cs typeface="Times New Roman" panose="02020603050405020304" pitchFamily="18" charset="0"/>
              </a:rPr>
              <a:t> 3 for 1,600MW</a:t>
            </a:r>
          </a:p>
          <a:p>
            <a:r>
              <a:rPr lang="en-US" altLang="zh-TW" sz="600" dirty="0">
                <a:solidFill>
                  <a:schemeClr val="tx1">
                    <a:lumMod val="50000"/>
                    <a:lumOff val="50000"/>
                  </a:schemeClr>
                </a:solidFill>
                <a:latin typeface="Times New Roman" panose="02020603050405020304" pitchFamily="18" charset="0"/>
                <a:ea typeface="Cambria" panose="02040503050406030204" pitchFamily="18" charset="0"/>
                <a:cs typeface="Times New Roman" panose="02020603050405020304" pitchFamily="18" charset="0"/>
              </a:rPr>
              <a:t>(3) Excluding energy storage capacity and EDF Renewables biogas production capacity. </a:t>
            </a:r>
            <a:endParaRPr lang="zh-TW" altLang="en-US" sz="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70" name="文字方塊 69">
            <a:extLst>
              <a:ext uri="{FF2B5EF4-FFF2-40B4-BE49-F238E27FC236}">
                <a16:creationId xmlns:a16="http://schemas.microsoft.com/office/drawing/2014/main" id="{CA741219-8A4F-464B-9C0B-357F0F8C63CD}"/>
              </a:ext>
            </a:extLst>
          </p:cNvPr>
          <p:cNvSpPr txBox="1"/>
          <p:nvPr/>
        </p:nvSpPr>
        <p:spPr>
          <a:xfrm>
            <a:off x="1960000" y="4560161"/>
            <a:ext cx="584672" cy="169277"/>
          </a:xfrm>
          <a:prstGeom prst="rect">
            <a:avLst/>
          </a:prstGeom>
          <a:solidFill>
            <a:schemeClr val="bg1"/>
          </a:solidFill>
        </p:spPr>
        <p:txBody>
          <a:bodyPr wrap="square" rtlCol="0">
            <a:spAutoFit/>
          </a:bodyPr>
          <a:lstStyle/>
          <a:p>
            <a:r>
              <a:rPr lang="en-US" altLang="zh-TW" sz="500" b="1" dirty="0">
                <a:solidFill>
                  <a:srgbClr val="002D74"/>
                </a:solidFill>
                <a:latin typeface="Times New Roman" panose="02020603050405020304" pitchFamily="18" charset="0"/>
                <a:cs typeface="Times New Roman" panose="02020603050405020304" pitchFamily="18" charset="0"/>
              </a:rPr>
              <a:t>United States</a:t>
            </a:r>
            <a:r>
              <a:rPr lang="en-US" altLang="zh-TW" sz="500" b="1" baseline="30000" dirty="0">
                <a:solidFill>
                  <a:srgbClr val="002D74"/>
                </a:solidFill>
                <a:latin typeface="Times New Roman" panose="02020603050405020304" pitchFamily="18" charset="0"/>
                <a:cs typeface="Times New Roman" panose="02020603050405020304" pitchFamily="18" charset="0"/>
              </a:rPr>
              <a:t>(3)</a:t>
            </a:r>
            <a:endParaRPr lang="zh-TW" altLang="en-US" sz="500" b="1" dirty="0">
              <a:solidFill>
                <a:srgbClr val="002D74"/>
              </a:solidFill>
              <a:latin typeface="Times New Roman" panose="02020603050405020304" pitchFamily="18" charset="0"/>
              <a:cs typeface="Times New Roman" panose="02020603050405020304" pitchFamily="18" charset="0"/>
            </a:endParaRPr>
          </a:p>
        </p:txBody>
      </p:sp>
      <p:sp>
        <p:nvSpPr>
          <p:cNvPr id="33" name="矩形 32"/>
          <p:cNvSpPr/>
          <p:nvPr/>
        </p:nvSpPr>
        <p:spPr>
          <a:xfrm>
            <a:off x="5012833" y="692696"/>
            <a:ext cx="2439487" cy="830997"/>
          </a:xfrm>
          <a:prstGeom prst="rect">
            <a:avLst/>
          </a:prstGeom>
        </p:spPr>
        <p:txBody>
          <a:bodyPr wrap="square">
            <a:spAutoFit/>
          </a:bodyPr>
          <a:lstStyle/>
          <a:p>
            <a:r>
              <a:rPr lang="en-US" altLang="zh-TW" sz="1600" b="1" dirty="0">
                <a:solidFill>
                  <a:schemeClr val="tx1">
                    <a:lumMod val="85000"/>
                    <a:lumOff val="15000"/>
                  </a:schemeClr>
                </a:solidFill>
                <a:latin typeface="微軟正黑體" panose="020B0604030504040204" pitchFamily="34" charset="-120"/>
                <a:ea typeface="微軟正黑體" panose="020B0604030504040204" pitchFamily="34" charset="-120"/>
              </a:rPr>
              <a:t>EDF</a:t>
            </a:r>
            <a:r>
              <a:rPr lang="zh-TW" altLang="en-US" sz="1600" b="1" dirty="0">
                <a:solidFill>
                  <a:schemeClr val="tx1">
                    <a:lumMod val="85000"/>
                    <a:lumOff val="15000"/>
                  </a:schemeClr>
                </a:solidFill>
                <a:latin typeface="微軟正黑體" panose="020B0604030504040204" pitchFamily="34" charset="-120"/>
                <a:ea typeface="微軟正黑體" panose="020B0604030504040204" pitchFamily="34" charset="-120"/>
              </a:rPr>
              <a:t>除了為法國供電外，亦在全球其他</a:t>
            </a:r>
            <a:r>
              <a:rPr lang="en-US" altLang="zh-TW" sz="1600" b="1" dirty="0">
                <a:solidFill>
                  <a:schemeClr val="tx1">
                    <a:lumMod val="85000"/>
                    <a:lumOff val="15000"/>
                  </a:schemeClr>
                </a:solidFill>
                <a:latin typeface="微軟正黑體" panose="020B0604030504040204" pitchFamily="34" charset="-120"/>
                <a:ea typeface="微軟正黑體" panose="020B0604030504040204" pitchFamily="34" charset="-120"/>
              </a:rPr>
              <a:t>27</a:t>
            </a:r>
            <a:r>
              <a:rPr lang="zh-TW" altLang="en-US" sz="1600" b="1" dirty="0">
                <a:solidFill>
                  <a:schemeClr val="tx1">
                    <a:lumMod val="85000"/>
                    <a:lumOff val="15000"/>
                  </a:schemeClr>
                </a:solidFill>
                <a:latin typeface="微軟正黑體" panose="020B0604030504040204" pitchFamily="34" charset="-120"/>
                <a:ea typeface="微軟正黑體" panose="020B0604030504040204" pitchFamily="34" charset="-120"/>
              </a:rPr>
              <a:t>個國家或地區設有發電站</a:t>
            </a:r>
            <a:endParaRPr lang="zh-TW" altLang="en-US" sz="1600" b="1" dirty="0"/>
          </a:p>
        </p:txBody>
      </p:sp>
      <p:sp>
        <p:nvSpPr>
          <p:cNvPr id="71" name="矩形 70">
            <a:extLst>
              <a:ext uri="{FF2B5EF4-FFF2-40B4-BE49-F238E27FC236}">
                <a16:creationId xmlns:a16="http://schemas.microsoft.com/office/drawing/2014/main" id="{2C2D53E9-D74B-4F5A-905F-676A0150D7BA}"/>
              </a:ext>
            </a:extLst>
          </p:cNvPr>
          <p:cNvSpPr/>
          <p:nvPr/>
        </p:nvSpPr>
        <p:spPr>
          <a:xfrm>
            <a:off x="3166419" y="5187776"/>
            <a:ext cx="2163101" cy="905520"/>
          </a:xfrm>
          <a:prstGeom prst="rect">
            <a:avLst/>
          </a:prstGeom>
          <a:no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文字方塊 71">
            <a:extLst>
              <a:ext uri="{FF2B5EF4-FFF2-40B4-BE49-F238E27FC236}">
                <a16:creationId xmlns:a16="http://schemas.microsoft.com/office/drawing/2014/main" id="{E6A93440-81F7-41F3-A167-ED2903E1C2C1}"/>
              </a:ext>
            </a:extLst>
          </p:cNvPr>
          <p:cNvSpPr txBox="1"/>
          <p:nvPr/>
        </p:nvSpPr>
        <p:spPr>
          <a:xfrm>
            <a:off x="4817072" y="4249951"/>
            <a:ext cx="1058846" cy="240439"/>
          </a:xfrm>
          <a:prstGeom prst="rect">
            <a:avLst/>
          </a:prstGeom>
          <a:noFill/>
        </p:spPr>
        <p:txBody>
          <a:bodyPr wrap="square" rtlCol="0">
            <a:spAutoFit/>
          </a:bodyPr>
          <a:lstStyle/>
          <a:p>
            <a:r>
              <a:rPr lang="zh-TW" altLang="en-US" sz="800" dirty="0">
                <a:solidFill>
                  <a:prstClr val="white">
                    <a:lumMod val="50000"/>
                  </a:prstClr>
                </a:solidFill>
              </a:rPr>
              <a:t>主要實體</a:t>
            </a:r>
          </a:p>
        </p:txBody>
      </p:sp>
      <p:sp>
        <p:nvSpPr>
          <p:cNvPr id="73" name="文字方塊 72">
            <a:extLst>
              <a:ext uri="{FF2B5EF4-FFF2-40B4-BE49-F238E27FC236}">
                <a16:creationId xmlns:a16="http://schemas.microsoft.com/office/drawing/2014/main" id="{575717FB-16EE-4F82-B8C2-235C9C392570}"/>
              </a:ext>
            </a:extLst>
          </p:cNvPr>
          <p:cNvSpPr txBox="1"/>
          <p:nvPr/>
        </p:nvSpPr>
        <p:spPr>
          <a:xfrm>
            <a:off x="3977301" y="898616"/>
            <a:ext cx="1058846" cy="240439"/>
          </a:xfrm>
          <a:prstGeom prst="rect">
            <a:avLst/>
          </a:prstGeom>
          <a:noFill/>
        </p:spPr>
        <p:txBody>
          <a:bodyPr wrap="square" rtlCol="0">
            <a:spAutoFit/>
          </a:bodyPr>
          <a:lstStyle/>
          <a:p>
            <a:r>
              <a:rPr lang="zh-TW" altLang="en-US" sz="800" dirty="0">
                <a:solidFill>
                  <a:prstClr val="white">
                    <a:lumMod val="50000"/>
                  </a:prstClr>
                </a:solidFill>
              </a:rPr>
              <a:t>主要實體</a:t>
            </a:r>
          </a:p>
        </p:txBody>
      </p:sp>
    </p:spTree>
    <p:extLst>
      <p:ext uri="{BB962C8B-B14F-4D97-AF65-F5344CB8AC3E}">
        <p14:creationId xmlns:p14="http://schemas.microsoft.com/office/powerpoint/2010/main" val="4112579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圓角矩形 18">
            <a:extLst>
              <a:ext uri="{FF2B5EF4-FFF2-40B4-BE49-F238E27FC236}">
                <a16:creationId xmlns:a16="http://schemas.microsoft.com/office/drawing/2014/main" id="{0472C693-5DA6-4481-8734-F254EAD05C26}"/>
              </a:ext>
            </a:extLst>
          </p:cNvPr>
          <p:cNvSpPr/>
          <p:nvPr/>
        </p:nvSpPr>
        <p:spPr>
          <a:xfrm>
            <a:off x="267800" y="3097249"/>
            <a:ext cx="4232192" cy="3255236"/>
          </a:xfrm>
          <a:prstGeom prst="roundRect">
            <a:avLst>
              <a:gd name="adj" fmla="val 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投影片編號版面配置區 3">
            <a:extLst>
              <a:ext uri="{FF2B5EF4-FFF2-40B4-BE49-F238E27FC236}">
                <a16:creationId xmlns:a16="http://schemas.microsoft.com/office/drawing/2014/main" id="{E9BC1E29-929C-479F-B32F-4DA6711F8A91}"/>
              </a:ext>
            </a:extLst>
          </p:cNvPr>
          <p:cNvSpPr>
            <a:spLocks noGrp="1"/>
          </p:cNvSpPr>
          <p:nvPr>
            <p:ph type="sldNum" sz="quarter" idx="10"/>
          </p:nvPr>
        </p:nvSpPr>
        <p:spPr/>
        <p:txBody>
          <a:bodyPr/>
          <a:lstStyle/>
          <a:p>
            <a:fld id="{415482FC-CF5F-466A-B8B6-BC3733E92023}" type="slidenum">
              <a:rPr lang="zh-TW" altLang="en-US" smtClean="0"/>
              <a:pPr/>
              <a:t>4</a:t>
            </a:fld>
            <a:endParaRPr lang="zh-TW" altLang="en-US" dirty="0"/>
          </a:p>
        </p:txBody>
      </p:sp>
      <p:sp>
        <p:nvSpPr>
          <p:cNvPr id="5" name="標題 1">
            <a:extLst>
              <a:ext uri="{FF2B5EF4-FFF2-40B4-BE49-F238E27FC236}">
                <a16:creationId xmlns:a16="http://schemas.microsoft.com/office/drawing/2014/main" id="{60C28753-0A00-4E34-83C6-C4D758C2A7D2}"/>
              </a:ext>
            </a:extLst>
          </p:cNvPr>
          <p:cNvSpPr txBox="1">
            <a:spLocks/>
          </p:cNvSpPr>
          <p:nvPr/>
        </p:nvSpPr>
        <p:spPr bwMode="auto">
          <a:xfrm>
            <a:off x="229944" y="161162"/>
            <a:ext cx="776452" cy="633413"/>
          </a:xfrm>
          <a:prstGeom prst="rect">
            <a:avLst/>
          </a:prstGeom>
          <a:solidFill>
            <a:srgbClr val="C00000"/>
          </a:solidFill>
          <a:ln>
            <a:noFill/>
          </a:ln>
        </p:spPr>
        <p:txBody>
          <a:bodyPr anchor="ctr">
            <a:noAutofit/>
          </a:bodyPr>
          <a:lstStyle>
            <a:lvl1pPr algn="l" rtl="0" eaLnBrk="0" fontAlgn="base" hangingPunct="0">
              <a:spcBef>
                <a:spcPct val="0"/>
              </a:spcBef>
              <a:spcAft>
                <a:spcPct val="0"/>
              </a:spcAft>
              <a:defRPr kumimoji="1" sz="3000" b="1">
                <a:solidFill>
                  <a:schemeClr val="tx2"/>
                </a:solidFill>
                <a:latin typeface="+mj-lt"/>
                <a:ea typeface="+mj-ea"/>
                <a:cs typeface="+mj-cs"/>
              </a:defRPr>
            </a:lvl1pPr>
            <a:lvl2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algn="l" rtl="0" fontAlgn="base">
              <a:spcBef>
                <a:spcPct val="0"/>
              </a:spcBef>
              <a:spcAft>
                <a:spcPct val="0"/>
              </a:spcAft>
              <a:defRPr kumimoji="1" sz="3000" b="1">
                <a:solidFill>
                  <a:schemeClr val="tx2"/>
                </a:solidFill>
                <a:latin typeface="標楷體" pitchFamily="65" charset="-120"/>
                <a:ea typeface="標楷體" pitchFamily="65" charset="-120"/>
              </a:defRPr>
            </a:lvl6pPr>
            <a:lvl7pPr marL="914400" algn="l" rtl="0" fontAlgn="base">
              <a:spcBef>
                <a:spcPct val="0"/>
              </a:spcBef>
              <a:spcAft>
                <a:spcPct val="0"/>
              </a:spcAft>
              <a:defRPr kumimoji="1" sz="3000" b="1">
                <a:solidFill>
                  <a:schemeClr val="tx2"/>
                </a:solidFill>
                <a:latin typeface="標楷體" pitchFamily="65" charset="-120"/>
                <a:ea typeface="標楷體" pitchFamily="65" charset="-120"/>
              </a:defRPr>
            </a:lvl7pPr>
            <a:lvl8pPr marL="1371600" algn="l" rtl="0" fontAlgn="base">
              <a:spcBef>
                <a:spcPct val="0"/>
              </a:spcBef>
              <a:spcAft>
                <a:spcPct val="0"/>
              </a:spcAft>
              <a:defRPr kumimoji="1" sz="3000" b="1">
                <a:solidFill>
                  <a:schemeClr val="tx2"/>
                </a:solidFill>
                <a:latin typeface="標楷體" pitchFamily="65" charset="-120"/>
                <a:ea typeface="標楷體" pitchFamily="65" charset="-120"/>
              </a:defRPr>
            </a:lvl8pPr>
            <a:lvl9pPr marL="1828800" algn="l" rtl="0" fontAlgn="base">
              <a:spcBef>
                <a:spcPct val="0"/>
              </a:spcBef>
              <a:spcAft>
                <a:spcPct val="0"/>
              </a:spcAft>
              <a:defRPr kumimoji="1" sz="3000" b="1">
                <a:solidFill>
                  <a:schemeClr val="tx2"/>
                </a:solidFill>
                <a:latin typeface="標楷體" pitchFamily="65" charset="-120"/>
                <a:ea typeface="標楷體" pitchFamily="65" charset="-120"/>
              </a:defRPr>
            </a:lvl9pPr>
          </a:lstStyle>
          <a:p>
            <a:pPr algn="ctr">
              <a:defRPr/>
            </a:pPr>
            <a:r>
              <a:rPr lang="zh-TW" altLang="en-US" sz="2000" kern="0" dirty="0">
                <a:solidFill>
                  <a:schemeClr val="bg1"/>
                </a:solidFill>
              </a:rPr>
              <a:t>財務表現</a:t>
            </a:r>
          </a:p>
        </p:txBody>
      </p:sp>
      <p:sp>
        <p:nvSpPr>
          <p:cNvPr id="6" name="標題 1">
            <a:extLst>
              <a:ext uri="{FF2B5EF4-FFF2-40B4-BE49-F238E27FC236}">
                <a16:creationId xmlns:a16="http://schemas.microsoft.com/office/drawing/2014/main" id="{8A190DF9-3093-4C79-BE60-4ED0D15A2C3B}"/>
              </a:ext>
            </a:extLst>
          </p:cNvPr>
          <p:cNvSpPr txBox="1">
            <a:spLocks noChangeArrowheads="1"/>
          </p:cNvSpPr>
          <p:nvPr/>
        </p:nvSpPr>
        <p:spPr>
          <a:xfrm>
            <a:off x="1053599" y="142648"/>
            <a:ext cx="7141365" cy="633413"/>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tabLst>
                <a:tab pos="5473700" algn="l"/>
              </a:tabLst>
              <a:defRPr/>
            </a:pPr>
            <a:r>
              <a:rPr lang="zh-TW" altLang="en-US" sz="2400" dirty="0"/>
              <a:t>核能發電及電價環境改善，揮別虧損重抬盈利</a:t>
            </a:r>
          </a:p>
        </p:txBody>
      </p:sp>
      <p:sp>
        <p:nvSpPr>
          <p:cNvPr id="7" name="圓角矩形 6">
            <a:extLst>
              <a:ext uri="{FF2B5EF4-FFF2-40B4-BE49-F238E27FC236}">
                <a16:creationId xmlns:a16="http://schemas.microsoft.com/office/drawing/2014/main" id="{0472C693-5DA6-4481-8734-F254EAD05C26}"/>
              </a:ext>
            </a:extLst>
          </p:cNvPr>
          <p:cNvSpPr/>
          <p:nvPr/>
        </p:nvSpPr>
        <p:spPr>
          <a:xfrm>
            <a:off x="267800" y="1050428"/>
            <a:ext cx="4232192" cy="1759343"/>
          </a:xfrm>
          <a:prstGeom prst="roundRect">
            <a:avLst>
              <a:gd name="adj" fmla="val 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圓角矩形 29">
            <a:extLst>
              <a:ext uri="{FF2B5EF4-FFF2-40B4-BE49-F238E27FC236}">
                <a16:creationId xmlns:a16="http://schemas.microsoft.com/office/drawing/2014/main" id="{6373E1F3-4EED-4FCA-BB27-DF4DDB91702B}"/>
              </a:ext>
            </a:extLst>
          </p:cNvPr>
          <p:cNvSpPr/>
          <p:nvPr/>
        </p:nvSpPr>
        <p:spPr>
          <a:xfrm>
            <a:off x="431543" y="875704"/>
            <a:ext cx="953143"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mn-ea"/>
              </a:rPr>
              <a:t>年度財務</a:t>
            </a:r>
          </a:p>
        </p:txBody>
      </p:sp>
      <p:sp>
        <p:nvSpPr>
          <p:cNvPr id="12" name="矩形 11">
            <a:extLst>
              <a:ext uri="{FF2B5EF4-FFF2-40B4-BE49-F238E27FC236}">
                <a16:creationId xmlns:a16="http://schemas.microsoft.com/office/drawing/2014/main" id="{4372BD7C-00E8-4B7F-B38B-AF95F64EABC5}"/>
              </a:ext>
            </a:extLst>
          </p:cNvPr>
          <p:cNvSpPr/>
          <p:nvPr/>
        </p:nvSpPr>
        <p:spPr>
          <a:xfrm>
            <a:off x="289063" y="1196752"/>
            <a:ext cx="4173281" cy="16244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lnSpc>
                <a:spcPts val="1600"/>
              </a:lnSpc>
              <a:spcBef>
                <a:spcPts val="600"/>
              </a:spcBef>
            </a:pPr>
            <a:r>
              <a:rPr lang="zh-TW" altLang="en-US" sz="1100" b="1" dirty="0">
                <a:solidFill>
                  <a:srgbClr val="FF0000"/>
                </a:solidFill>
              </a:rPr>
              <a:t>儘管</a:t>
            </a:r>
            <a:r>
              <a:rPr lang="en-US" altLang="zh-TW" sz="1100" b="1" dirty="0">
                <a:solidFill>
                  <a:srgbClr val="FF0000"/>
                </a:solidFill>
              </a:rPr>
              <a:t>2022</a:t>
            </a:r>
            <a:r>
              <a:rPr lang="zh-TW" altLang="en-US" sz="1100" b="1" dirty="0">
                <a:solidFill>
                  <a:srgbClr val="FF0000"/>
                </a:solidFill>
              </a:rPr>
              <a:t>年營業額年增</a:t>
            </a:r>
            <a:r>
              <a:rPr lang="en-US" altLang="zh-TW" sz="1100" b="1" dirty="0">
                <a:solidFill>
                  <a:srgbClr val="FF0000"/>
                </a:solidFill>
              </a:rPr>
              <a:t>70%</a:t>
            </a:r>
            <a:r>
              <a:rPr lang="zh-TW" altLang="en-US" sz="1100" b="1" dirty="0">
                <a:solidFill>
                  <a:srgbClr val="FF0000"/>
                </a:solidFill>
              </a:rPr>
              <a:t>至</a:t>
            </a:r>
            <a:r>
              <a:rPr lang="en-US" altLang="zh-TW" sz="1100" b="1" dirty="0">
                <a:solidFill>
                  <a:srgbClr val="FF0000"/>
                </a:solidFill>
              </a:rPr>
              <a:t>1,435</a:t>
            </a:r>
            <a:r>
              <a:rPr lang="zh-TW" altLang="en-US" sz="1100" b="1" dirty="0">
                <a:solidFill>
                  <a:srgbClr val="FF0000"/>
                </a:solidFill>
              </a:rPr>
              <a:t>億歐元，但受到烏</a:t>
            </a:r>
            <a:r>
              <a:rPr lang="zh-CN" altLang="en-US" sz="1100" b="1" dirty="0">
                <a:solidFill>
                  <a:srgbClr val="FF0000"/>
                </a:solidFill>
              </a:rPr>
              <a:t>克蘭危機導致能源供應緊張</a:t>
            </a:r>
            <a:r>
              <a:rPr lang="zh-TW" altLang="en-US" sz="1100" b="1" dirty="0">
                <a:solidFill>
                  <a:srgbClr val="FF0000"/>
                </a:solidFill>
              </a:rPr>
              <a:t>，</a:t>
            </a:r>
            <a:r>
              <a:rPr lang="zh-CN" altLang="en-US" sz="1100" b="1" dirty="0">
                <a:solidFill>
                  <a:srgbClr val="FF0000"/>
                </a:solidFill>
              </a:rPr>
              <a:t>以及該公司的核電產量下降</a:t>
            </a:r>
            <a:r>
              <a:rPr lang="zh-TW" altLang="en-US" sz="1100" b="1" dirty="0">
                <a:solidFill>
                  <a:srgbClr val="FF0000"/>
                </a:solidFill>
              </a:rPr>
              <a:t>、管制電價</a:t>
            </a:r>
            <a:r>
              <a:rPr lang="zh-CN" altLang="en-US" sz="1100" b="1" dirty="0">
                <a:solidFill>
                  <a:srgbClr val="FF0000"/>
                </a:solidFill>
              </a:rPr>
              <a:t>等多重因素</a:t>
            </a:r>
            <a:r>
              <a:rPr lang="zh-TW" altLang="en-US" sz="1100" b="1" dirty="0">
                <a:solidFill>
                  <a:srgbClr val="FF0000"/>
                </a:solidFill>
              </a:rPr>
              <a:t>影響，導致</a:t>
            </a:r>
            <a:r>
              <a:rPr lang="en-US" altLang="zh-TW" sz="1100" b="1" dirty="0">
                <a:solidFill>
                  <a:srgbClr val="FF0000"/>
                </a:solidFill>
              </a:rPr>
              <a:t>2022</a:t>
            </a:r>
            <a:r>
              <a:rPr lang="zh-TW" altLang="en-US" sz="1100" b="1" dirty="0">
                <a:solidFill>
                  <a:srgbClr val="FF0000"/>
                </a:solidFill>
              </a:rPr>
              <a:t>年創紀錄虧損。</a:t>
            </a:r>
            <a:endParaRPr lang="en-US" altLang="zh-TW" sz="1100" b="1" dirty="0">
              <a:solidFill>
                <a:srgbClr val="FF0000"/>
              </a:solidFill>
            </a:endParaRPr>
          </a:p>
          <a:p>
            <a:pPr algn="just">
              <a:lnSpc>
                <a:spcPts val="1600"/>
              </a:lnSpc>
              <a:spcBef>
                <a:spcPts val="600"/>
              </a:spcBef>
            </a:pPr>
            <a:r>
              <a:rPr lang="zh-TW" altLang="en-US" sz="1100" b="1" dirty="0">
                <a:solidFill>
                  <a:srgbClr val="FF0000"/>
                </a:solidFill>
              </a:rPr>
              <a:t>稅後巨虧</a:t>
            </a:r>
            <a:r>
              <a:rPr lang="en-US" altLang="zh-TW" sz="1100" b="1" dirty="0">
                <a:solidFill>
                  <a:srgbClr val="FF0000"/>
                </a:solidFill>
              </a:rPr>
              <a:t>179</a:t>
            </a:r>
            <a:r>
              <a:rPr lang="zh-TW" altLang="en-US" sz="1100" b="1" dirty="0">
                <a:solidFill>
                  <a:srgbClr val="FF0000"/>
                </a:solidFill>
              </a:rPr>
              <a:t>億歐元</a:t>
            </a:r>
            <a:r>
              <a:rPr lang="zh-TW" altLang="en-US" sz="1100" dirty="0">
                <a:solidFill>
                  <a:schemeClr val="tx1"/>
                </a:solidFill>
              </a:rPr>
              <a:t>，係反映</a:t>
            </a:r>
            <a:r>
              <a:rPr lang="en-US" altLang="zh-TW" sz="1100" dirty="0">
                <a:solidFill>
                  <a:schemeClr val="tx1"/>
                </a:solidFill>
              </a:rPr>
              <a:t>EDF</a:t>
            </a:r>
            <a:r>
              <a:rPr lang="zh-CN" altLang="en-US" sz="1100" dirty="0">
                <a:solidFill>
                  <a:schemeClr val="tx1"/>
                </a:solidFill>
              </a:rPr>
              <a:t>多座核反應</a:t>
            </a:r>
            <a:r>
              <a:rPr lang="zh-TW" altLang="en-US" sz="1100" dirty="0">
                <a:solidFill>
                  <a:schemeClr val="tx1"/>
                </a:solidFill>
              </a:rPr>
              <a:t>爐</a:t>
            </a:r>
            <a:r>
              <a:rPr lang="zh-CN" altLang="en-US" sz="1100" dirty="0">
                <a:solidFill>
                  <a:schemeClr val="tx1"/>
                </a:solidFill>
              </a:rPr>
              <a:t>因管道腐蝕等問題而關閉檢修</a:t>
            </a:r>
            <a:r>
              <a:rPr lang="zh-TW" altLang="en-US" sz="1100" dirty="0">
                <a:solidFill>
                  <a:schemeClr val="tx1"/>
                </a:solidFill>
              </a:rPr>
              <a:t>，致該年</a:t>
            </a:r>
            <a:r>
              <a:rPr lang="zh-CN" altLang="en-US" sz="1100" dirty="0">
                <a:solidFill>
                  <a:schemeClr val="tx1"/>
                </a:solidFill>
              </a:rPr>
              <a:t>核</a:t>
            </a:r>
            <a:r>
              <a:rPr lang="zh-TW" altLang="en-US" sz="1100" dirty="0">
                <a:solidFill>
                  <a:schemeClr val="tx1"/>
                </a:solidFill>
              </a:rPr>
              <a:t>發</a:t>
            </a:r>
            <a:r>
              <a:rPr lang="zh-CN" altLang="en-US" sz="1100" dirty="0">
                <a:solidFill>
                  <a:schemeClr val="tx1"/>
                </a:solidFill>
              </a:rPr>
              <a:t>電量</a:t>
            </a:r>
            <a:r>
              <a:rPr lang="zh-TW" altLang="en-US" sz="1100" dirty="0">
                <a:solidFill>
                  <a:schemeClr val="tx1"/>
                </a:solidFill>
              </a:rPr>
              <a:t>較</a:t>
            </a:r>
            <a:r>
              <a:rPr lang="en-US" altLang="zh-TW" sz="1100" dirty="0">
                <a:solidFill>
                  <a:schemeClr val="tx1"/>
                </a:solidFill>
              </a:rPr>
              <a:t>2021</a:t>
            </a:r>
            <a:r>
              <a:rPr lang="zh-TW" altLang="en-US" sz="1100" dirty="0">
                <a:solidFill>
                  <a:schemeClr val="tx1"/>
                </a:solidFill>
              </a:rPr>
              <a:t>年下滑</a:t>
            </a:r>
            <a:r>
              <a:rPr lang="en-US" altLang="zh-TW" sz="1100" dirty="0">
                <a:solidFill>
                  <a:schemeClr val="tx1"/>
                </a:solidFill>
              </a:rPr>
              <a:t>23%</a:t>
            </a:r>
            <a:r>
              <a:rPr lang="zh-CN" altLang="en-US" sz="1100" dirty="0">
                <a:solidFill>
                  <a:schemeClr val="tx1"/>
                </a:solidFill>
              </a:rPr>
              <a:t>，</a:t>
            </a:r>
            <a:r>
              <a:rPr lang="zh-TW" altLang="en-US" sz="1100" dirty="0">
                <a:solidFill>
                  <a:schemeClr val="tx1"/>
                </a:solidFill>
              </a:rPr>
              <a:t>迫使</a:t>
            </a:r>
            <a:r>
              <a:rPr lang="en-US" altLang="zh-TW" sz="1100" dirty="0">
                <a:solidFill>
                  <a:schemeClr val="tx1"/>
                </a:solidFill>
              </a:rPr>
              <a:t>EDF</a:t>
            </a:r>
            <a:r>
              <a:rPr lang="zh-TW" altLang="en-US" sz="1100" dirty="0">
                <a:solidFill>
                  <a:schemeClr val="tx1"/>
                </a:solidFill>
              </a:rPr>
              <a:t>以</a:t>
            </a:r>
            <a:r>
              <a:rPr lang="zh-CN" altLang="en-US" sz="1100" dirty="0">
                <a:solidFill>
                  <a:schemeClr val="tx1"/>
                </a:solidFill>
              </a:rPr>
              <a:t>高價從國際市場購電以滿足其供電需</a:t>
            </a:r>
            <a:r>
              <a:rPr lang="zh-TW" altLang="en-US" sz="1100" dirty="0">
                <a:solidFill>
                  <a:schemeClr val="tx1"/>
                </a:solidFill>
              </a:rPr>
              <a:t>求，輔以</a:t>
            </a:r>
            <a:r>
              <a:rPr lang="zh-CN" altLang="en-US" sz="1100" dirty="0">
                <a:solidFill>
                  <a:schemeClr val="tx1"/>
                </a:solidFill>
              </a:rPr>
              <a:t>法國政府為應對能源危機實施的電價管制措施</a:t>
            </a:r>
            <a:r>
              <a:rPr lang="en-US" altLang="zh-CN" sz="1100" baseline="30000" dirty="0">
                <a:solidFill>
                  <a:schemeClr val="tx1"/>
                </a:solidFill>
              </a:rPr>
              <a:t>[</a:t>
            </a:r>
            <a:r>
              <a:rPr lang="zh-TW" altLang="en-US" sz="1100" baseline="30000" dirty="0">
                <a:solidFill>
                  <a:schemeClr val="tx1"/>
                </a:solidFill>
              </a:rPr>
              <a:t>註</a:t>
            </a:r>
            <a:r>
              <a:rPr lang="en-US" altLang="zh-TW" sz="1100" baseline="30000" dirty="0">
                <a:solidFill>
                  <a:schemeClr val="tx1"/>
                </a:solidFill>
              </a:rPr>
              <a:t>]</a:t>
            </a:r>
            <a:r>
              <a:rPr lang="zh-CN" altLang="en-US" sz="1100" dirty="0">
                <a:solidFill>
                  <a:schemeClr val="tx1"/>
                </a:solidFill>
              </a:rPr>
              <a:t>影響</a:t>
            </a:r>
            <a:r>
              <a:rPr lang="zh-TW" altLang="en-US" sz="1100" dirty="0">
                <a:solidFill>
                  <a:schemeClr val="tx1"/>
                </a:solidFill>
              </a:rPr>
              <a:t>所累。</a:t>
            </a:r>
            <a:endParaRPr lang="en-US" altLang="zh-TW" sz="1100" dirty="0">
              <a:solidFill>
                <a:schemeClr val="tx1"/>
              </a:solidFill>
            </a:endParaRPr>
          </a:p>
        </p:txBody>
      </p:sp>
      <p:sp>
        <p:nvSpPr>
          <p:cNvPr id="20" name="矩形 19">
            <a:extLst>
              <a:ext uri="{FF2B5EF4-FFF2-40B4-BE49-F238E27FC236}">
                <a16:creationId xmlns:a16="http://schemas.microsoft.com/office/drawing/2014/main" id="{705ADE1F-E065-4EC3-B187-F821455018F2}"/>
              </a:ext>
            </a:extLst>
          </p:cNvPr>
          <p:cNvSpPr/>
          <p:nvPr/>
        </p:nvSpPr>
        <p:spPr>
          <a:xfrm>
            <a:off x="395047" y="6535367"/>
            <a:ext cx="7417313" cy="338554"/>
          </a:xfrm>
          <a:prstGeom prst="rect">
            <a:avLst/>
          </a:prstGeom>
        </p:spPr>
        <p:txBody>
          <a:bodyPr wrap="square">
            <a:spAutoFit/>
          </a:bodyPr>
          <a:lstStyle/>
          <a:p>
            <a:r>
              <a:rPr lang="zh-TW" altLang="en-US" sz="800" dirty="0">
                <a:solidFill>
                  <a:prstClr val="black"/>
                </a:solidFill>
                <a:latin typeface="+mn-ea"/>
              </a:rPr>
              <a:t>資料來源：</a:t>
            </a:r>
            <a:r>
              <a:rPr lang="zh-TW" altLang="en-US" sz="800" dirty="0">
                <a:latin typeface="+mj-ea"/>
              </a:rPr>
              <a:t>年報、</a:t>
            </a:r>
            <a:r>
              <a:rPr lang="zh-TW" altLang="en-US" sz="800" dirty="0">
                <a:latin typeface="+mj-ea"/>
                <a:hlinkClick r:id="rId3"/>
              </a:rPr>
              <a:t>半年報</a:t>
            </a:r>
            <a:r>
              <a:rPr lang="zh-TW" altLang="en-US" sz="800" dirty="0">
                <a:latin typeface="+mj-ea"/>
              </a:rPr>
              <a:t>、穆迪</a:t>
            </a:r>
            <a:r>
              <a:rPr lang="zh-TW" altLang="en-US" sz="800" dirty="0">
                <a:solidFill>
                  <a:prstClr val="black"/>
                </a:solidFill>
                <a:latin typeface="+mn-ea"/>
              </a:rPr>
              <a:t> </a:t>
            </a:r>
            <a:r>
              <a:rPr lang="en-US" altLang="zh-TW" sz="800" dirty="0">
                <a:solidFill>
                  <a:prstClr val="black"/>
                </a:solidFill>
                <a:latin typeface="+mn-ea"/>
              </a:rPr>
              <a:t>| </a:t>
            </a:r>
            <a:r>
              <a:rPr lang="zh-TW" altLang="en-US" sz="800" dirty="0">
                <a:solidFill>
                  <a:prstClr val="black"/>
                </a:solidFill>
                <a:latin typeface="+mn-ea"/>
              </a:rPr>
              <a:t>註：</a:t>
            </a:r>
            <a:r>
              <a:rPr lang="en-US" altLang="zh-CN" sz="800" dirty="0">
                <a:solidFill>
                  <a:prstClr val="black"/>
                </a:solidFill>
                <a:latin typeface="+mn-ea"/>
              </a:rPr>
              <a:t>2021</a:t>
            </a:r>
            <a:r>
              <a:rPr lang="zh-CN" altLang="en-US" sz="800" dirty="0">
                <a:solidFill>
                  <a:prstClr val="black"/>
                </a:solidFill>
                <a:latin typeface="+mn-ea"/>
              </a:rPr>
              <a:t>年</a:t>
            </a:r>
            <a:r>
              <a:rPr lang="en-US" altLang="zh-CN" sz="800" dirty="0">
                <a:solidFill>
                  <a:prstClr val="black"/>
                </a:solidFill>
                <a:latin typeface="+mn-ea"/>
              </a:rPr>
              <a:t>10</a:t>
            </a:r>
            <a:r>
              <a:rPr lang="zh-CN" altLang="en-US" sz="800" dirty="0">
                <a:solidFill>
                  <a:prstClr val="black"/>
                </a:solidFill>
                <a:latin typeface="+mn-ea"/>
              </a:rPr>
              <a:t>月，</a:t>
            </a:r>
            <a:r>
              <a:rPr lang="zh-TW" altLang="en-US" sz="800" dirty="0">
                <a:solidFill>
                  <a:prstClr val="black"/>
                </a:solidFill>
                <a:latin typeface="+mn-ea"/>
              </a:rPr>
              <a:t>法國政府</a:t>
            </a:r>
            <a:r>
              <a:rPr lang="zh-CN" altLang="en-US" sz="800" dirty="0">
                <a:solidFill>
                  <a:prstClr val="black"/>
                </a:solidFill>
                <a:latin typeface="+mn-ea"/>
              </a:rPr>
              <a:t>為遏制冬季能源價格</a:t>
            </a:r>
            <a:r>
              <a:rPr lang="zh-TW" altLang="en-US" sz="800" dirty="0">
                <a:solidFill>
                  <a:prstClr val="black"/>
                </a:solidFill>
                <a:latin typeface="+mn-ea"/>
              </a:rPr>
              <a:t>飆</a:t>
            </a:r>
            <a:r>
              <a:rPr lang="zh-CN" altLang="en-US" sz="800" dirty="0">
                <a:solidFill>
                  <a:prstClr val="black"/>
                </a:solidFill>
                <a:latin typeface="+mn-ea"/>
              </a:rPr>
              <a:t>升，</a:t>
            </a:r>
            <a:r>
              <a:rPr lang="zh-TW" altLang="en-US" sz="800" dirty="0">
                <a:solidFill>
                  <a:prstClr val="black"/>
                </a:solidFill>
                <a:latin typeface="+mn-ea"/>
              </a:rPr>
              <a:t>遂</a:t>
            </a:r>
            <a:r>
              <a:rPr lang="zh-CN" altLang="en-US" sz="800" dirty="0">
                <a:solidFill>
                  <a:prstClr val="black"/>
                </a:solidFill>
                <a:latin typeface="+mn-ea"/>
              </a:rPr>
              <a:t>頒布法令凍結天然氣管制售價至</a:t>
            </a:r>
            <a:r>
              <a:rPr lang="en-US" altLang="zh-CN" sz="800" dirty="0">
                <a:solidFill>
                  <a:prstClr val="black"/>
                </a:solidFill>
                <a:latin typeface="+mn-ea"/>
              </a:rPr>
              <a:t>2022</a:t>
            </a:r>
            <a:r>
              <a:rPr lang="zh-CN" altLang="en-US" sz="800" dirty="0">
                <a:solidFill>
                  <a:prstClr val="black"/>
                </a:solidFill>
                <a:latin typeface="+mn-ea"/>
              </a:rPr>
              <a:t>年</a:t>
            </a:r>
            <a:r>
              <a:rPr lang="en-US" altLang="zh-CN" sz="800" dirty="0">
                <a:solidFill>
                  <a:prstClr val="black"/>
                </a:solidFill>
                <a:latin typeface="+mn-ea"/>
              </a:rPr>
              <a:t>6</a:t>
            </a:r>
            <a:r>
              <a:rPr lang="zh-CN" altLang="en-US" sz="800" dirty="0">
                <a:solidFill>
                  <a:prstClr val="black"/>
                </a:solidFill>
                <a:latin typeface="+mn-ea"/>
              </a:rPr>
              <a:t>月</a:t>
            </a:r>
            <a:r>
              <a:rPr lang="en-US" altLang="zh-CN" sz="800" dirty="0">
                <a:solidFill>
                  <a:prstClr val="black"/>
                </a:solidFill>
                <a:latin typeface="+mn-ea"/>
              </a:rPr>
              <a:t>30</a:t>
            </a:r>
            <a:r>
              <a:rPr lang="zh-CN" altLang="en-US" sz="800" dirty="0">
                <a:solidFill>
                  <a:prstClr val="black"/>
                </a:solidFill>
                <a:latin typeface="+mn-ea"/>
              </a:rPr>
              <a:t>日。</a:t>
            </a:r>
            <a:r>
              <a:rPr lang="zh-TW" altLang="en-US" sz="800" dirty="0">
                <a:solidFill>
                  <a:prstClr val="black"/>
                </a:solidFill>
                <a:latin typeface="+mn-ea"/>
              </a:rPr>
              <a:t>並於該年</a:t>
            </a:r>
            <a:r>
              <a:rPr lang="en-US" altLang="zh-CN" sz="800" dirty="0">
                <a:solidFill>
                  <a:prstClr val="black"/>
                </a:solidFill>
                <a:latin typeface="+mn-ea"/>
              </a:rPr>
              <a:t>6</a:t>
            </a:r>
            <a:r>
              <a:rPr lang="zh-CN" altLang="en-US" sz="800" dirty="0">
                <a:solidFill>
                  <a:prstClr val="black"/>
                </a:solidFill>
                <a:latin typeface="+mn-ea"/>
              </a:rPr>
              <a:t>月，宣佈延長實施至年底</a:t>
            </a:r>
            <a:r>
              <a:rPr lang="zh-TW" altLang="en-US" sz="800" dirty="0">
                <a:solidFill>
                  <a:prstClr val="black"/>
                </a:solidFill>
                <a:latin typeface="+mn-ea"/>
              </a:rPr>
              <a:t>；而</a:t>
            </a:r>
            <a:r>
              <a:rPr lang="zh-CN" altLang="en-US" sz="800" dirty="0">
                <a:solidFill>
                  <a:prstClr val="black"/>
                </a:solidFill>
                <a:latin typeface="+mn-ea"/>
              </a:rPr>
              <a:t>管制電價則被限定漲幅。</a:t>
            </a:r>
            <a:r>
              <a:rPr lang="en-US" altLang="zh-CN" sz="800" dirty="0">
                <a:solidFill>
                  <a:prstClr val="black"/>
                </a:solidFill>
                <a:latin typeface="+mn-ea"/>
              </a:rPr>
              <a:t>2021</a:t>
            </a:r>
            <a:r>
              <a:rPr lang="zh-CN" altLang="en-US" sz="800" dirty="0">
                <a:solidFill>
                  <a:prstClr val="black"/>
                </a:solidFill>
                <a:latin typeface="+mn-ea"/>
              </a:rPr>
              <a:t>年秋，</a:t>
            </a:r>
            <a:r>
              <a:rPr lang="zh-TW" altLang="en-US" sz="800" dirty="0">
                <a:solidFill>
                  <a:prstClr val="black"/>
                </a:solidFill>
                <a:latin typeface="+mn-ea"/>
              </a:rPr>
              <a:t>該國</a:t>
            </a:r>
            <a:r>
              <a:rPr lang="zh-CN" altLang="en-US" sz="800" dirty="0">
                <a:solidFill>
                  <a:prstClr val="black"/>
                </a:solidFill>
                <a:latin typeface="+mn-ea"/>
              </a:rPr>
              <a:t>政府宣佈，</a:t>
            </a:r>
            <a:r>
              <a:rPr lang="en-US" altLang="zh-CN" sz="800" dirty="0">
                <a:solidFill>
                  <a:prstClr val="black"/>
                </a:solidFill>
                <a:latin typeface="+mn-ea"/>
              </a:rPr>
              <a:t>2022</a:t>
            </a:r>
            <a:r>
              <a:rPr lang="zh-CN" altLang="en-US" sz="800" dirty="0">
                <a:solidFill>
                  <a:prstClr val="black"/>
                </a:solidFill>
                <a:latin typeface="+mn-ea"/>
              </a:rPr>
              <a:t>年</a:t>
            </a:r>
            <a:r>
              <a:rPr lang="en-US" altLang="zh-CN" sz="800" dirty="0">
                <a:solidFill>
                  <a:prstClr val="black"/>
                </a:solidFill>
                <a:latin typeface="+mn-ea"/>
              </a:rPr>
              <a:t>2</a:t>
            </a:r>
            <a:r>
              <a:rPr lang="zh-CN" altLang="en-US" sz="800" dirty="0">
                <a:solidFill>
                  <a:prstClr val="black"/>
                </a:solidFill>
                <a:latin typeface="+mn-ea"/>
              </a:rPr>
              <a:t>月</a:t>
            </a:r>
            <a:r>
              <a:rPr lang="en-US" altLang="zh-CN" sz="800" dirty="0">
                <a:solidFill>
                  <a:prstClr val="black"/>
                </a:solidFill>
                <a:latin typeface="+mn-ea"/>
              </a:rPr>
              <a:t>1</a:t>
            </a:r>
            <a:r>
              <a:rPr lang="zh-CN" altLang="en-US" sz="800" dirty="0">
                <a:solidFill>
                  <a:prstClr val="black"/>
                </a:solidFill>
                <a:latin typeface="+mn-ea"/>
              </a:rPr>
              <a:t>日調整後電價漲幅不超過</a:t>
            </a:r>
            <a:r>
              <a:rPr lang="en-US" altLang="zh-CN" sz="800" dirty="0">
                <a:solidFill>
                  <a:prstClr val="black"/>
                </a:solidFill>
                <a:latin typeface="+mn-ea"/>
              </a:rPr>
              <a:t>4%</a:t>
            </a:r>
            <a:r>
              <a:rPr lang="zh-CN" altLang="en-US" sz="800" dirty="0">
                <a:solidFill>
                  <a:prstClr val="black"/>
                </a:solidFill>
                <a:latin typeface="+mn-ea"/>
              </a:rPr>
              <a:t>，</a:t>
            </a:r>
            <a:r>
              <a:rPr lang="zh-TW" altLang="en-US" sz="800" dirty="0">
                <a:solidFill>
                  <a:prstClr val="black"/>
                </a:solidFill>
                <a:latin typeface="+mn-ea"/>
              </a:rPr>
              <a:t>爾</a:t>
            </a:r>
            <a:r>
              <a:rPr lang="zh-CN" altLang="en-US" sz="800" dirty="0">
                <a:solidFill>
                  <a:prstClr val="black"/>
                </a:solidFill>
                <a:latin typeface="+mn-ea"/>
              </a:rPr>
              <a:t>後又將該規定適用期延至</a:t>
            </a:r>
            <a:r>
              <a:rPr lang="en-US" altLang="zh-CN" sz="800" dirty="0">
                <a:solidFill>
                  <a:prstClr val="black"/>
                </a:solidFill>
                <a:latin typeface="+mn-ea"/>
              </a:rPr>
              <a:t>2023/2/1</a:t>
            </a:r>
            <a:r>
              <a:rPr lang="zh-CN" altLang="en-US" sz="800" dirty="0">
                <a:solidFill>
                  <a:prstClr val="black"/>
                </a:solidFill>
                <a:latin typeface="+mn-ea"/>
              </a:rPr>
              <a:t>。</a:t>
            </a:r>
            <a:endParaRPr lang="en-US" altLang="zh-TW" sz="800" dirty="0">
              <a:solidFill>
                <a:prstClr val="black"/>
              </a:solidFill>
              <a:latin typeface="+mn-ea"/>
            </a:endParaRPr>
          </a:p>
        </p:txBody>
      </p:sp>
      <p:graphicFrame>
        <p:nvGraphicFramePr>
          <p:cNvPr id="3" name="表格 2"/>
          <p:cNvGraphicFramePr>
            <a:graphicFrameLocks noGrp="1"/>
          </p:cNvGraphicFramePr>
          <p:nvPr>
            <p:extLst>
              <p:ext uri="{D42A27DB-BD31-4B8C-83A1-F6EECF244321}">
                <p14:modId xmlns:p14="http://schemas.microsoft.com/office/powerpoint/2010/main" val="1240962055"/>
              </p:ext>
            </p:extLst>
          </p:nvPr>
        </p:nvGraphicFramePr>
        <p:xfrm>
          <a:off x="4624281" y="1047067"/>
          <a:ext cx="4248471" cy="1805871"/>
        </p:xfrm>
        <a:graphic>
          <a:graphicData uri="http://schemas.openxmlformats.org/drawingml/2006/table">
            <a:tbl>
              <a:tblPr/>
              <a:tblGrid>
                <a:gridCol w="555336">
                  <a:extLst>
                    <a:ext uri="{9D8B030D-6E8A-4147-A177-3AD203B41FA5}">
                      <a16:colId xmlns:a16="http://schemas.microsoft.com/office/drawing/2014/main" val="20000"/>
                    </a:ext>
                  </a:extLst>
                </a:gridCol>
                <a:gridCol w="559910">
                  <a:extLst>
                    <a:ext uri="{9D8B030D-6E8A-4147-A177-3AD203B41FA5}">
                      <a16:colId xmlns:a16="http://schemas.microsoft.com/office/drawing/2014/main" val="20001"/>
                    </a:ext>
                  </a:extLst>
                </a:gridCol>
                <a:gridCol w="420980">
                  <a:extLst>
                    <a:ext uri="{9D8B030D-6E8A-4147-A177-3AD203B41FA5}">
                      <a16:colId xmlns:a16="http://schemas.microsoft.com/office/drawing/2014/main" val="20002"/>
                    </a:ext>
                  </a:extLst>
                </a:gridCol>
                <a:gridCol w="48162">
                  <a:extLst>
                    <a:ext uri="{9D8B030D-6E8A-4147-A177-3AD203B41FA5}">
                      <a16:colId xmlns:a16="http://schemas.microsoft.com/office/drawing/2014/main" val="20003"/>
                    </a:ext>
                  </a:extLst>
                </a:gridCol>
                <a:gridCol w="569621">
                  <a:extLst>
                    <a:ext uri="{9D8B030D-6E8A-4147-A177-3AD203B41FA5}">
                      <a16:colId xmlns:a16="http://schemas.microsoft.com/office/drawing/2014/main" val="20004"/>
                    </a:ext>
                  </a:extLst>
                </a:gridCol>
                <a:gridCol w="437544">
                  <a:extLst>
                    <a:ext uri="{9D8B030D-6E8A-4147-A177-3AD203B41FA5}">
                      <a16:colId xmlns:a16="http://schemas.microsoft.com/office/drawing/2014/main" val="20005"/>
                    </a:ext>
                  </a:extLst>
                </a:gridCol>
                <a:gridCol w="70718">
                  <a:extLst>
                    <a:ext uri="{9D8B030D-6E8A-4147-A177-3AD203B41FA5}">
                      <a16:colId xmlns:a16="http://schemas.microsoft.com/office/drawing/2014/main" val="20006"/>
                    </a:ext>
                  </a:extLst>
                </a:gridCol>
                <a:gridCol w="681701">
                  <a:extLst>
                    <a:ext uri="{9D8B030D-6E8A-4147-A177-3AD203B41FA5}">
                      <a16:colId xmlns:a16="http://schemas.microsoft.com/office/drawing/2014/main" val="20007"/>
                    </a:ext>
                  </a:extLst>
                </a:gridCol>
                <a:gridCol w="186221">
                  <a:extLst>
                    <a:ext uri="{9D8B030D-6E8A-4147-A177-3AD203B41FA5}">
                      <a16:colId xmlns:a16="http://schemas.microsoft.com/office/drawing/2014/main" val="20008"/>
                    </a:ext>
                  </a:extLst>
                </a:gridCol>
                <a:gridCol w="718278">
                  <a:extLst>
                    <a:ext uri="{9D8B030D-6E8A-4147-A177-3AD203B41FA5}">
                      <a16:colId xmlns:a16="http://schemas.microsoft.com/office/drawing/2014/main" val="20009"/>
                    </a:ext>
                  </a:extLst>
                </a:gridCol>
              </a:tblGrid>
              <a:tr h="474774">
                <a:tc>
                  <a:txBody>
                    <a:bodyPr/>
                    <a:lstStyle/>
                    <a:p>
                      <a:pPr algn="ctr" fontAlgn="ctr"/>
                      <a:r>
                        <a:rPr lang="zh-TW" altLang="en-US" sz="1000" b="1" i="0" u="none" strike="noStrike" dirty="0">
                          <a:solidFill>
                            <a:srgbClr val="000000"/>
                          </a:solidFill>
                          <a:effectLst/>
                          <a:latin typeface="微軟正黑體"/>
                        </a:rPr>
                        <a:t>年度</a:t>
                      </a:r>
                      <a:endParaRPr lang="en-US" altLang="zh-TW" sz="1000" b="1" i="0" u="none" strike="noStrike" dirty="0">
                        <a:solidFill>
                          <a:srgbClr val="000000"/>
                        </a:solidFill>
                        <a:effectLst/>
                        <a:latin typeface="微軟正黑體"/>
                      </a:endParaRPr>
                    </a:p>
                    <a:p>
                      <a:pPr algn="ctr" fontAlgn="ctr"/>
                      <a:r>
                        <a:rPr lang="en-US" altLang="zh-TW" sz="800" b="1" i="0" u="none" strike="noStrike" dirty="0">
                          <a:solidFill>
                            <a:srgbClr val="000000"/>
                          </a:solidFill>
                          <a:effectLst/>
                          <a:latin typeface="+mn-ea"/>
                          <a:ea typeface="+mn-ea"/>
                        </a:rPr>
                        <a:t>(</a:t>
                      </a:r>
                      <a:r>
                        <a:rPr lang="zh-TW" altLang="en-US" sz="800" b="1" i="0" u="none" strike="noStrike" dirty="0">
                          <a:solidFill>
                            <a:srgbClr val="000000"/>
                          </a:solidFill>
                          <a:effectLst/>
                          <a:latin typeface="+mn-ea"/>
                          <a:ea typeface="+mn-ea"/>
                        </a:rPr>
                        <a:t>百萬</a:t>
                      </a:r>
                      <a:r>
                        <a:rPr lang="en-US" altLang="zh-TW" sz="800" b="1" i="0" u="none" strike="noStrike" dirty="0">
                          <a:solidFill>
                            <a:srgbClr val="000000"/>
                          </a:solidFill>
                          <a:effectLst/>
                          <a:latin typeface="+mn-ea"/>
                          <a:ea typeface="+mn-ea"/>
                        </a:rPr>
                        <a:t>EUR</a:t>
                      </a:r>
                      <a:r>
                        <a:rPr lang="en-US" sz="800" b="1" i="0" u="none" strike="noStrike" dirty="0">
                          <a:solidFill>
                            <a:srgbClr val="000000"/>
                          </a:solidFill>
                          <a:effectLst/>
                          <a:latin typeface="+mn-ea"/>
                          <a:ea typeface="+mn-ea"/>
                        </a:rPr>
                        <a:t>)</a:t>
                      </a:r>
                    </a:p>
                  </a:txBody>
                  <a:tcPr marL="9525" marR="9525" marT="9525" marB="0" anchor="ctr">
                    <a:lnL>
                      <a:noFill/>
                    </a:lnL>
                    <a:lnR>
                      <a:noFill/>
                    </a:lnR>
                    <a:lnT>
                      <a:noFill/>
                    </a:lnT>
                    <a:lnB>
                      <a:noFill/>
                    </a:lnB>
                    <a:solidFill>
                      <a:srgbClr val="FFFFFF"/>
                    </a:solidFill>
                  </a:tcPr>
                </a:tc>
                <a:tc>
                  <a:txBody>
                    <a:bodyPr/>
                    <a:lstStyle/>
                    <a:p>
                      <a:pPr algn="r" fontAlgn="ctr"/>
                      <a:r>
                        <a:rPr lang="zh-TW" altLang="en-US" sz="1000" b="1" i="0" u="none" strike="noStrike" dirty="0">
                          <a:solidFill>
                            <a:srgbClr val="000000"/>
                          </a:solidFill>
                          <a:effectLst/>
                          <a:latin typeface="微軟正黑體"/>
                        </a:rPr>
                        <a:t>營收</a:t>
                      </a:r>
                    </a:p>
                  </a:txBody>
                  <a:tcPr marL="9525" marR="9525" marT="9525" marB="0" anchor="ctr">
                    <a:lnL>
                      <a:noFill/>
                    </a:lnL>
                    <a:lnR>
                      <a:noFill/>
                    </a:lnR>
                    <a:lnT>
                      <a:noFill/>
                    </a:lnT>
                    <a:lnB>
                      <a:noFill/>
                    </a:lnB>
                    <a:solidFill>
                      <a:srgbClr val="FFFFFF"/>
                    </a:solidFill>
                  </a:tcPr>
                </a:tc>
                <a:tc>
                  <a:txBody>
                    <a:bodyPr/>
                    <a:lstStyle/>
                    <a:p>
                      <a:pPr algn="r" fontAlgn="ctr"/>
                      <a:r>
                        <a:rPr lang="en-US" altLang="zh-TW" sz="1000" b="1" i="0" u="none" strike="noStrike" dirty="0">
                          <a:solidFill>
                            <a:srgbClr val="000000"/>
                          </a:solidFill>
                          <a:effectLst/>
                          <a:latin typeface="微軟正黑體"/>
                        </a:rPr>
                        <a:t>YoY</a:t>
                      </a:r>
                      <a:r>
                        <a:rPr lang="zh-TW" altLang="en-US" sz="1000" b="1" i="0" u="none" strike="noStrike" dirty="0">
                          <a:solidFill>
                            <a:srgbClr val="000000"/>
                          </a:solidFill>
                          <a:effectLst/>
                          <a:latin typeface="微軟正黑體"/>
                        </a:rPr>
                        <a:t>　</a:t>
                      </a:r>
                    </a:p>
                  </a:txBody>
                  <a:tcPr marL="9525" marR="9525" marT="9525" marB="0" anchor="ctr">
                    <a:lnL>
                      <a:noFill/>
                    </a:lnL>
                    <a:lnR>
                      <a:noFill/>
                    </a:lnR>
                    <a:lnT>
                      <a:noFill/>
                    </a:lnT>
                    <a:lnB>
                      <a:noFill/>
                    </a:lnB>
                    <a:solidFill>
                      <a:srgbClr val="FFFFFF"/>
                    </a:solidFill>
                  </a:tcPr>
                </a:tc>
                <a:tc>
                  <a:txBody>
                    <a:bodyPr/>
                    <a:lstStyle/>
                    <a:p>
                      <a:pPr algn="r" fontAlgn="ctr"/>
                      <a:r>
                        <a:rPr lang="zh-TW" altLang="en-US" sz="1000" b="1" i="0" u="none" strike="noStrike" dirty="0">
                          <a:solidFill>
                            <a:srgbClr val="000000"/>
                          </a:solidFill>
                          <a:effectLst/>
                          <a:latin typeface="微軟正黑體"/>
                        </a:rPr>
                        <a:t>　</a:t>
                      </a:r>
                    </a:p>
                  </a:txBody>
                  <a:tcPr marL="9525" marR="9525" marT="9525" marB="0" anchor="ctr">
                    <a:lnL>
                      <a:noFill/>
                    </a:lnL>
                    <a:lnR>
                      <a:noFill/>
                    </a:lnR>
                    <a:lnT>
                      <a:noFill/>
                    </a:lnT>
                    <a:lnB>
                      <a:noFill/>
                    </a:lnB>
                    <a:solidFill>
                      <a:srgbClr val="FFFFFF"/>
                    </a:solidFill>
                  </a:tcPr>
                </a:tc>
                <a:tc>
                  <a:txBody>
                    <a:bodyPr/>
                    <a:lstStyle/>
                    <a:p>
                      <a:pPr algn="r" fontAlgn="ctr"/>
                      <a:r>
                        <a:rPr lang="zh-TW" altLang="en-US" sz="1000" b="1" i="0" u="none" strike="noStrike" dirty="0">
                          <a:solidFill>
                            <a:srgbClr val="000000"/>
                          </a:solidFill>
                          <a:effectLst/>
                          <a:latin typeface="微軟正黑體"/>
                        </a:rPr>
                        <a:t>稅後損益</a:t>
                      </a:r>
                    </a:p>
                  </a:txBody>
                  <a:tcPr marL="9525" marR="9525" marT="9525" marB="0" anchor="ctr">
                    <a:lnL>
                      <a:noFill/>
                    </a:lnL>
                    <a:lnR>
                      <a:noFill/>
                    </a:lnR>
                    <a:lnT>
                      <a:noFill/>
                    </a:lnT>
                    <a:lnB>
                      <a:noFill/>
                    </a:lnB>
                    <a:solidFill>
                      <a:srgbClr val="FFFFFF"/>
                    </a:solidFill>
                  </a:tcPr>
                </a:tc>
                <a:tc>
                  <a:txBody>
                    <a:bodyPr/>
                    <a:lstStyle/>
                    <a:p>
                      <a:pPr algn="r" fontAlgn="ctr"/>
                      <a:r>
                        <a:rPr lang="en-US" altLang="zh-TW" sz="1000" b="1" i="0" u="none" strike="noStrike" dirty="0">
                          <a:solidFill>
                            <a:srgbClr val="000000"/>
                          </a:solidFill>
                          <a:effectLst/>
                          <a:latin typeface="微軟正黑體"/>
                        </a:rPr>
                        <a:t>YoY</a:t>
                      </a:r>
                      <a:r>
                        <a:rPr lang="zh-TW" altLang="en-US" sz="1000" b="1" i="0" u="none" strike="noStrike" dirty="0">
                          <a:solidFill>
                            <a:srgbClr val="000000"/>
                          </a:solidFill>
                          <a:effectLst/>
                          <a:latin typeface="微軟正黑體"/>
                        </a:rPr>
                        <a:t>　</a:t>
                      </a:r>
                    </a:p>
                  </a:txBody>
                  <a:tcPr marL="9525" marR="9525" marT="9525" marB="0" anchor="ctr">
                    <a:lnL>
                      <a:noFill/>
                    </a:lnL>
                    <a:lnR>
                      <a:noFill/>
                    </a:lnR>
                    <a:lnT>
                      <a:noFill/>
                    </a:lnT>
                    <a:lnB>
                      <a:noFill/>
                    </a:lnB>
                    <a:solidFill>
                      <a:srgbClr val="FFFFFF"/>
                    </a:solidFill>
                  </a:tcPr>
                </a:tc>
                <a:tc>
                  <a:txBody>
                    <a:bodyPr/>
                    <a:lstStyle/>
                    <a:p>
                      <a:pPr algn="r" fontAlgn="ctr"/>
                      <a:r>
                        <a:rPr lang="zh-TW" altLang="en-US" sz="1000" b="1" i="0" u="none" strike="noStrike" dirty="0">
                          <a:solidFill>
                            <a:srgbClr val="000000"/>
                          </a:solidFill>
                          <a:effectLst/>
                          <a:latin typeface="微軟正黑體"/>
                        </a:rPr>
                        <a:t>　</a:t>
                      </a:r>
                    </a:p>
                  </a:txBody>
                  <a:tcPr marL="9525" marR="9525" marT="9525" marB="0" anchor="ctr">
                    <a:lnL>
                      <a:noFill/>
                    </a:lnL>
                    <a:lnR>
                      <a:noFill/>
                    </a:lnR>
                    <a:lnT>
                      <a:noFill/>
                    </a:lnT>
                    <a:lnB>
                      <a:noFill/>
                    </a:lnB>
                    <a:solidFill>
                      <a:srgbClr val="FFFFFF"/>
                    </a:solidFill>
                  </a:tcPr>
                </a:tc>
                <a:tc>
                  <a:txBody>
                    <a:bodyPr/>
                    <a:lstStyle/>
                    <a:p>
                      <a:pPr algn="r" fontAlgn="ctr"/>
                      <a:r>
                        <a:rPr lang="zh-TW" altLang="en-US" sz="1000" b="1" i="0" u="none" strike="noStrike" dirty="0">
                          <a:solidFill>
                            <a:srgbClr val="000000"/>
                          </a:solidFill>
                          <a:effectLst/>
                          <a:latin typeface="微軟正黑體"/>
                        </a:rPr>
                        <a:t>資產</a:t>
                      </a:r>
                    </a:p>
                  </a:txBody>
                  <a:tcPr marL="9525" marR="9525" marT="9525" marB="0" anchor="ctr">
                    <a:lnL>
                      <a:noFill/>
                    </a:lnL>
                    <a:lnR>
                      <a:noFill/>
                    </a:lnR>
                    <a:lnT>
                      <a:noFill/>
                    </a:lnT>
                    <a:lnB>
                      <a:noFill/>
                    </a:lnB>
                    <a:solidFill>
                      <a:srgbClr val="FFFFFF"/>
                    </a:solidFill>
                  </a:tcPr>
                </a:tc>
                <a:tc>
                  <a:txBody>
                    <a:bodyPr/>
                    <a:lstStyle/>
                    <a:p>
                      <a:pPr algn="r" fontAlgn="ctr"/>
                      <a:r>
                        <a:rPr lang="zh-TW" altLang="en-US" sz="1000" b="1" i="0" u="none" strike="noStrike">
                          <a:solidFill>
                            <a:srgbClr val="000000"/>
                          </a:solidFill>
                          <a:effectLst/>
                          <a:latin typeface="微軟正黑體"/>
                        </a:rPr>
                        <a:t>　</a:t>
                      </a:r>
                    </a:p>
                  </a:txBody>
                  <a:tcPr marL="9525" marR="9525" marT="9525" marB="0" anchor="ctr">
                    <a:lnL>
                      <a:noFill/>
                    </a:lnL>
                    <a:lnR>
                      <a:noFill/>
                    </a:lnR>
                    <a:lnT>
                      <a:noFill/>
                    </a:lnT>
                    <a:lnB>
                      <a:noFill/>
                    </a:lnB>
                    <a:solidFill>
                      <a:srgbClr val="FFFFFF"/>
                    </a:solidFill>
                  </a:tcPr>
                </a:tc>
                <a:tc>
                  <a:txBody>
                    <a:bodyPr/>
                    <a:lstStyle/>
                    <a:p>
                      <a:pPr algn="r" fontAlgn="ctr"/>
                      <a:r>
                        <a:rPr lang="zh-TW" altLang="en-US" sz="1000" b="1" i="0" u="none" strike="noStrike" dirty="0">
                          <a:solidFill>
                            <a:srgbClr val="000000"/>
                          </a:solidFill>
                          <a:effectLst/>
                          <a:latin typeface="微軟正黑體"/>
                        </a:rPr>
                        <a:t>總股東權益</a:t>
                      </a:r>
                    </a:p>
                  </a:txBody>
                  <a:tcPr marL="9525" marR="9525" marT="9525" marB="0" anchor="ctr">
                    <a:lnL>
                      <a:noFill/>
                    </a:lnL>
                    <a:lnR>
                      <a:noFill/>
                    </a:lnR>
                    <a:lnT>
                      <a:noFill/>
                    </a:lnT>
                    <a:lnB>
                      <a:noFill/>
                    </a:lnB>
                    <a:solidFill>
                      <a:srgbClr val="FFFFFF"/>
                    </a:solidFill>
                  </a:tcPr>
                </a:tc>
                <a:extLst>
                  <a:ext uri="{0D108BD9-81ED-4DB2-BD59-A6C34878D82A}">
                    <a16:rowId xmlns:a16="http://schemas.microsoft.com/office/drawing/2014/main" val="10000"/>
                  </a:ext>
                </a:extLst>
              </a:tr>
              <a:tr h="268777">
                <a:tc>
                  <a:txBody>
                    <a:bodyPr/>
                    <a:lstStyle/>
                    <a:p>
                      <a:pPr algn="ctr" fontAlgn="ctr"/>
                      <a:r>
                        <a:rPr lang="en-US" sz="800" b="0" i="0" u="none" strike="noStrike" dirty="0">
                          <a:solidFill>
                            <a:srgbClr val="000000"/>
                          </a:solidFill>
                          <a:effectLst/>
                          <a:latin typeface="微軟正黑體" panose="020B0604030504040204" pitchFamily="34" charset="-120"/>
                          <a:ea typeface="微軟正黑體" panose="020B0604030504040204" pitchFamily="34" charset="-120"/>
                        </a:rPr>
                        <a:t>FY22</a:t>
                      </a:r>
                    </a:p>
                  </a:txBody>
                  <a:tcPr marL="0" marR="0" marT="0" marB="0" anchor="ctr">
                    <a:lnL>
                      <a:noFill/>
                    </a:lnL>
                    <a:lnR>
                      <a:noFill/>
                    </a:lnR>
                    <a:lnT>
                      <a:noFill/>
                    </a:lnT>
                    <a:lnB>
                      <a:noFill/>
                    </a:lnB>
                    <a:solidFill>
                      <a:srgbClr val="F2F2F2"/>
                    </a:solidFill>
                  </a:tcPr>
                </a:tc>
                <a:tc>
                  <a:txBody>
                    <a:bodyPr/>
                    <a:lstStyle/>
                    <a:p>
                      <a:pPr algn="r" fontAlgn="ctr"/>
                      <a:r>
                        <a:rPr lang="en-US" altLang="zh-TW" sz="800" b="0" i="0" u="none" strike="noStrike" dirty="0">
                          <a:solidFill>
                            <a:srgbClr val="000000"/>
                          </a:solidFill>
                          <a:effectLst/>
                          <a:latin typeface="微軟正黑體" panose="020B0604030504040204" pitchFamily="34" charset="-120"/>
                          <a:ea typeface="微軟正黑體" panose="020B0604030504040204" pitchFamily="34" charset="-120"/>
                        </a:rPr>
                        <a:t>143,476 </a:t>
                      </a:r>
                    </a:p>
                  </a:txBody>
                  <a:tcPr marL="0" marR="0" marT="0" marB="0" anchor="ctr">
                    <a:lnL>
                      <a:noFill/>
                    </a:lnL>
                    <a:lnR>
                      <a:noFill/>
                    </a:lnR>
                    <a:lnT>
                      <a:noFill/>
                    </a:lnT>
                    <a:lnB>
                      <a:noFill/>
                    </a:lnB>
                    <a:solidFill>
                      <a:srgbClr val="F2F2F2"/>
                    </a:solidFill>
                  </a:tcPr>
                </a:tc>
                <a:tc>
                  <a:txBody>
                    <a:bodyPr/>
                    <a:lstStyle/>
                    <a:p>
                      <a:pPr algn="r" fontAlgn="ctr"/>
                      <a:r>
                        <a:rPr lang="en-US" altLang="zh-TW" sz="800" b="1" i="0" u="none" strike="noStrike" dirty="0">
                          <a:solidFill>
                            <a:srgbClr val="808080"/>
                          </a:solidFill>
                          <a:effectLst/>
                          <a:latin typeface="微軟正黑體" panose="020B0604030504040204" pitchFamily="34" charset="-120"/>
                          <a:ea typeface="微軟正黑體" panose="020B0604030504040204" pitchFamily="34" charset="-120"/>
                        </a:rPr>
                        <a:t>69.9%</a:t>
                      </a:r>
                    </a:p>
                  </a:txBody>
                  <a:tcPr marL="0" marR="0" marT="0" marB="0" anchor="ctr">
                    <a:lnL>
                      <a:noFill/>
                    </a:lnL>
                    <a:lnR>
                      <a:noFill/>
                    </a:lnR>
                    <a:lnT>
                      <a:noFill/>
                    </a:lnT>
                    <a:lnB>
                      <a:noFill/>
                    </a:lnB>
                    <a:solidFill>
                      <a:srgbClr val="F2F2F2"/>
                    </a:solidFill>
                  </a:tcPr>
                </a:tc>
                <a:tc>
                  <a:txBody>
                    <a:bodyPr/>
                    <a:lstStyle/>
                    <a:p>
                      <a:pPr algn="r" fontAlgn="ctr"/>
                      <a:r>
                        <a:rPr lang="zh-TW" altLang="en-US" sz="800" b="0" i="0" u="none" strike="noStrike">
                          <a:solidFill>
                            <a:srgbClr val="000000"/>
                          </a:solidFill>
                          <a:effectLst/>
                          <a:latin typeface="+mn-ea"/>
                          <a:ea typeface="+mn-ea"/>
                        </a:rPr>
                        <a:t>　</a:t>
                      </a:r>
                    </a:p>
                  </a:txBody>
                  <a:tcPr marL="9525" marR="9525" marT="9525" marB="0" anchor="ctr">
                    <a:lnL>
                      <a:noFill/>
                    </a:lnL>
                    <a:lnR>
                      <a:noFill/>
                    </a:lnR>
                    <a:lnT>
                      <a:noFill/>
                    </a:lnT>
                    <a:lnB>
                      <a:noFill/>
                    </a:lnB>
                    <a:solidFill>
                      <a:srgbClr val="F2F2F2"/>
                    </a:solidFill>
                  </a:tcPr>
                </a:tc>
                <a:tc>
                  <a:txBody>
                    <a:bodyPr/>
                    <a:lstStyle/>
                    <a:p>
                      <a:pPr algn="r" fontAlgn="ctr"/>
                      <a:r>
                        <a:rPr lang="en-US" altLang="zh-TW" sz="800" b="0" i="0" u="none" strike="noStrike" dirty="0">
                          <a:solidFill>
                            <a:srgbClr val="FF0000"/>
                          </a:solidFill>
                          <a:effectLst/>
                          <a:latin typeface="微軟正黑體" panose="020B0604030504040204" pitchFamily="34" charset="-120"/>
                          <a:ea typeface="微軟正黑體" panose="020B0604030504040204" pitchFamily="34" charset="-120"/>
                        </a:rPr>
                        <a:t>-17,940</a:t>
                      </a:r>
                    </a:p>
                  </a:txBody>
                  <a:tcPr marL="0" marR="0" marT="0" marB="0" anchor="ctr">
                    <a:lnL>
                      <a:noFill/>
                    </a:lnL>
                    <a:lnR>
                      <a:noFill/>
                    </a:lnR>
                    <a:lnT>
                      <a:noFill/>
                    </a:lnT>
                    <a:lnB>
                      <a:noFill/>
                    </a:lnB>
                    <a:solidFill>
                      <a:srgbClr val="F2F2F2"/>
                    </a:solidFill>
                  </a:tcPr>
                </a:tc>
                <a:tc>
                  <a:txBody>
                    <a:bodyPr/>
                    <a:lstStyle/>
                    <a:p>
                      <a:pPr algn="r" fontAlgn="ctr"/>
                      <a:r>
                        <a:rPr lang="en-US" altLang="zh-TW" sz="800" b="0" i="0" u="none" strike="noStrike" dirty="0">
                          <a:solidFill>
                            <a:srgbClr val="FF0000"/>
                          </a:solidFill>
                          <a:effectLst/>
                          <a:latin typeface="微軟正黑體" panose="020B0604030504040204" pitchFamily="34" charset="-120"/>
                          <a:ea typeface="微軟正黑體" panose="020B0604030504040204" pitchFamily="34" charset="-120"/>
                        </a:rPr>
                        <a:t>--</a:t>
                      </a:r>
                    </a:p>
                  </a:txBody>
                  <a:tcPr marL="0" marR="0" marT="0" marB="0" anchor="ctr">
                    <a:lnL>
                      <a:noFill/>
                    </a:lnL>
                    <a:lnR>
                      <a:noFill/>
                    </a:lnR>
                    <a:lnT>
                      <a:noFill/>
                    </a:lnT>
                    <a:lnB>
                      <a:noFill/>
                    </a:lnB>
                    <a:solidFill>
                      <a:srgbClr val="F2F2F2"/>
                    </a:solidFill>
                  </a:tcPr>
                </a:tc>
                <a:tc>
                  <a:txBody>
                    <a:bodyPr/>
                    <a:lstStyle/>
                    <a:p>
                      <a:pPr algn="r" fontAlgn="ctr"/>
                      <a:r>
                        <a:rPr lang="zh-TW" altLang="en-US" sz="800" b="0" i="0" u="none" strike="noStrike">
                          <a:solidFill>
                            <a:srgbClr val="000000"/>
                          </a:solidFill>
                          <a:effectLst/>
                          <a:latin typeface="+mn-ea"/>
                          <a:ea typeface="+mn-ea"/>
                        </a:rPr>
                        <a:t>　</a:t>
                      </a:r>
                    </a:p>
                  </a:txBody>
                  <a:tcPr marL="9525" marR="9525" marT="9525" marB="0" anchor="ctr">
                    <a:lnL>
                      <a:noFill/>
                    </a:lnL>
                    <a:lnR>
                      <a:noFill/>
                    </a:lnR>
                    <a:lnT>
                      <a:noFill/>
                    </a:lnT>
                    <a:lnB>
                      <a:noFill/>
                    </a:lnB>
                    <a:solidFill>
                      <a:srgbClr val="F2F2F2"/>
                    </a:solidFill>
                  </a:tcPr>
                </a:tc>
                <a:tc>
                  <a:txBody>
                    <a:bodyPr/>
                    <a:lstStyle/>
                    <a:p>
                      <a:pPr algn="r" fontAlgn="ctr"/>
                      <a:r>
                        <a:rPr lang="zh-TW" altLang="en-US" sz="800" b="0"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800" b="0" i="0" u="none" strike="noStrike">
                          <a:solidFill>
                            <a:srgbClr val="000000"/>
                          </a:solidFill>
                          <a:effectLst/>
                          <a:latin typeface="微軟正黑體" panose="020B0604030504040204" pitchFamily="34" charset="-120"/>
                          <a:ea typeface="微軟正黑體" panose="020B0604030504040204" pitchFamily="34" charset="-120"/>
                        </a:rPr>
                        <a:t>388,132 </a:t>
                      </a:r>
                    </a:p>
                  </a:txBody>
                  <a:tcPr marL="0" marR="0" marT="0" marB="0" anchor="ctr">
                    <a:lnL>
                      <a:noFill/>
                    </a:lnL>
                    <a:lnR>
                      <a:noFill/>
                    </a:lnR>
                    <a:lnT>
                      <a:noFill/>
                    </a:lnT>
                    <a:lnB>
                      <a:noFill/>
                    </a:lnB>
                    <a:solidFill>
                      <a:srgbClr val="F2F2F2"/>
                    </a:solidFill>
                  </a:tcPr>
                </a:tc>
                <a:tc>
                  <a:txBody>
                    <a:bodyPr/>
                    <a:lstStyle/>
                    <a:p>
                      <a:pPr algn="r" fontAlgn="ctr"/>
                      <a:r>
                        <a:rPr lang="zh-TW" altLang="en-US" sz="800" b="0" i="0" u="none" strike="noStrike">
                          <a:solidFill>
                            <a:srgbClr val="000000"/>
                          </a:solidFill>
                          <a:effectLst/>
                          <a:latin typeface="+mn-ea"/>
                          <a:ea typeface="+mn-ea"/>
                        </a:rPr>
                        <a:t>　</a:t>
                      </a:r>
                    </a:p>
                  </a:txBody>
                  <a:tcPr marL="9525" marR="9525" marT="9525" marB="0" anchor="ctr">
                    <a:lnL>
                      <a:noFill/>
                    </a:lnL>
                    <a:lnR>
                      <a:noFill/>
                    </a:lnR>
                    <a:lnT>
                      <a:noFill/>
                    </a:lnT>
                    <a:lnB>
                      <a:noFill/>
                    </a:lnB>
                    <a:solidFill>
                      <a:srgbClr val="F2F2F2"/>
                    </a:solidFill>
                  </a:tcPr>
                </a:tc>
                <a:tc>
                  <a:txBody>
                    <a:bodyPr/>
                    <a:lstStyle/>
                    <a:p>
                      <a:pPr algn="r" fontAlgn="ctr"/>
                      <a:r>
                        <a:rPr lang="zh-TW" altLang="en-US" sz="800" b="0"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800" b="0" i="0" u="none" strike="noStrike">
                          <a:solidFill>
                            <a:srgbClr val="000000"/>
                          </a:solidFill>
                          <a:effectLst/>
                          <a:latin typeface="微軟正黑體" panose="020B0604030504040204" pitchFamily="34" charset="-120"/>
                          <a:ea typeface="微軟正黑體" panose="020B0604030504040204" pitchFamily="34" charset="-120"/>
                        </a:rPr>
                        <a:t>46,612 </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0001"/>
                  </a:ext>
                </a:extLst>
              </a:tr>
              <a:tr h="265580">
                <a:tc>
                  <a:txBody>
                    <a:bodyPr/>
                    <a:lstStyle/>
                    <a:p>
                      <a:pPr algn="ctr" fontAlgn="ctr"/>
                      <a:r>
                        <a:rPr lang="en-US" sz="800" b="0" i="0" u="none" strike="noStrike" dirty="0">
                          <a:solidFill>
                            <a:srgbClr val="000000"/>
                          </a:solidFill>
                          <a:effectLst/>
                          <a:latin typeface="微軟正黑體" panose="020B0604030504040204" pitchFamily="34" charset="-120"/>
                          <a:ea typeface="微軟正黑體" panose="020B0604030504040204" pitchFamily="34" charset="-120"/>
                        </a:rPr>
                        <a:t>FY21</a:t>
                      </a:r>
                    </a:p>
                  </a:txBody>
                  <a:tcPr marL="0" marR="0" marT="0" marB="0" anchor="ctr">
                    <a:lnL>
                      <a:noFill/>
                    </a:lnL>
                    <a:lnR>
                      <a:noFill/>
                    </a:lnR>
                    <a:lnT>
                      <a:noFill/>
                    </a:lnT>
                    <a:lnB>
                      <a:noFill/>
                    </a:lnB>
                    <a:solidFill>
                      <a:srgbClr val="FFFFFF"/>
                    </a:solidFill>
                  </a:tcPr>
                </a:tc>
                <a:tc>
                  <a:txBody>
                    <a:bodyPr/>
                    <a:lstStyle/>
                    <a:p>
                      <a:pPr algn="r" fontAlgn="ctr"/>
                      <a:r>
                        <a:rPr lang="en-US" altLang="zh-TW" sz="800" b="0" i="0" u="none" strike="noStrike">
                          <a:solidFill>
                            <a:srgbClr val="000000"/>
                          </a:solidFill>
                          <a:effectLst/>
                          <a:latin typeface="微軟正黑體" panose="020B0604030504040204" pitchFamily="34" charset="-120"/>
                          <a:ea typeface="微軟正黑體" panose="020B0604030504040204" pitchFamily="34" charset="-120"/>
                        </a:rPr>
                        <a:t>84,461 </a:t>
                      </a:r>
                    </a:p>
                  </a:txBody>
                  <a:tcPr marL="0" marR="0" marT="0" marB="0" anchor="ctr">
                    <a:lnL>
                      <a:noFill/>
                    </a:lnL>
                    <a:lnR>
                      <a:noFill/>
                    </a:lnR>
                    <a:lnT>
                      <a:noFill/>
                    </a:lnT>
                    <a:lnB>
                      <a:noFill/>
                    </a:lnB>
                    <a:solidFill>
                      <a:srgbClr val="FFFFFF"/>
                    </a:solidFill>
                  </a:tcPr>
                </a:tc>
                <a:tc>
                  <a:txBody>
                    <a:bodyPr/>
                    <a:lstStyle/>
                    <a:p>
                      <a:pPr algn="r" fontAlgn="ctr"/>
                      <a:r>
                        <a:rPr lang="en-US" altLang="zh-TW" sz="800" b="1" i="0" u="none" strike="noStrike">
                          <a:solidFill>
                            <a:srgbClr val="808080"/>
                          </a:solidFill>
                          <a:effectLst/>
                          <a:latin typeface="微軟正黑體" panose="020B0604030504040204" pitchFamily="34" charset="-120"/>
                          <a:ea typeface="微軟正黑體" panose="020B0604030504040204" pitchFamily="34" charset="-120"/>
                        </a:rPr>
                        <a:t>22.4%</a:t>
                      </a:r>
                    </a:p>
                  </a:txBody>
                  <a:tcPr marL="0" marR="0" marT="0" marB="0" anchor="ctr">
                    <a:lnL>
                      <a:noFill/>
                    </a:lnL>
                    <a:lnR>
                      <a:noFill/>
                    </a:lnR>
                    <a:lnT>
                      <a:noFill/>
                    </a:lnT>
                    <a:lnB>
                      <a:noFill/>
                    </a:lnB>
                    <a:solidFill>
                      <a:srgbClr val="FFFFFF"/>
                    </a:solidFill>
                  </a:tcPr>
                </a:tc>
                <a:tc>
                  <a:txBody>
                    <a:bodyPr/>
                    <a:lstStyle/>
                    <a:p>
                      <a:pPr algn="r" fontAlgn="ctr"/>
                      <a:r>
                        <a:rPr lang="zh-TW" altLang="en-US" sz="800" b="0" i="0" u="none" strike="noStrike">
                          <a:solidFill>
                            <a:srgbClr val="000000"/>
                          </a:solidFill>
                          <a:effectLst/>
                          <a:latin typeface="+mn-ea"/>
                          <a:ea typeface="+mn-ea"/>
                        </a:rPr>
                        <a:t>　</a:t>
                      </a:r>
                    </a:p>
                  </a:txBody>
                  <a:tcPr marL="9525" marR="9525" marT="9525" marB="0" anchor="ctr">
                    <a:lnL>
                      <a:noFill/>
                    </a:lnL>
                    <a:lnR>
                      <a:noFill/>
                    </a:lnR>
                    <a:lnT>
                      <a:noFill/>
                    </a:lnT>
                    <a:lnB>
                      <a:noFill/>
                    </a:lnB>
                    <a:solidFill>
                      <a:srgbClr val="FFFFFF"/>
                    </a:solidFill>
                  </a:tcPr>
                </a:tc>
                <a:tc>
                  <a:txBody>
                    <a:bodyPr/>
                    <a:lstStyle/>
                    <a:p>
                      <a:pPr algn="r" fontAlgn="ctr"/>
                      <a:r>
                        <a:rPr lang="zh-TW" altLang="en-US" sz="800" b="0" i="0" u="none" strike="noStrike" dirty="0">
                          <a:solidFill>
                            <a:srgbClr val="000000"/>
                          </a:solidFill>
                          <a:effectLst/>
                          <a:latin typeface="微軟正黑體" panose="020B0604030504040204" pitchFamily="34" charset="-120"/>
                          <a:ea typeface="微軟正黑體" panose="020B0604030504040204" pitchFamily="34" charset="-120"/>
                        </a:rPr>
                        <a:t>         </a:t>
                      </a:r>
                      <a:r>
                        <a:rPr lang="en-US" altLang="zh-TW" sz="800" b="0" i="0" u="none" strike="noStrike" dirty="0">
                          <a:solidFill>
                            <a:srgbClr val="000000"/>
                          </a:solidFill>
                          <a:effectLst/>
                          <a:latin typeface="微軟正黑體" panose="020B0604030504040204" pitchFamily="34" charset="-120"/>
                          <a:ea typeface="微軟正黑體" panose="020B0604030504040204" pitchFamily="34" charset="-120"/>
                        </a:rPr>
                        <a:t>5,113 </a:t>
                      </a:r>
                    </a:p>
                  </a:txBody>
                  <a:tcPr marL="0" marR="0" marT="0" marB="0" anchor="ctr">
                    <a:lnL>
                      <a:noFill/>
                    </a:lnL>
                    <a:lnR>
                      <a:noFill/>
                    </a:lnR>
                    <a:lnT>
                      <a:noFill/>
                    </a:lnT>
                    <a:lnB>
                      <a:noFill/>
                    </a:lnB>
                    <a:solidFill>
                      <a:srgbClr val="FFFFFF"/>
                    </a:solidFill>
                  </a:tcPr>
                </a:tc>
                <a:tc>
                  <a:txBody>
                    <a:bodyPr/>
                    <a:lstStyle/>
                    <a:p>
                      <a:pPr algn="r" fontAlgn="ctr"/>
                      <a:r>
                        <a:rPr lang="en-US" altLang="zh-TW" sz="800" b="1" i="0" u="none" strike="noStrike" dirty="0">
                          <a:solidFill>
                            <a:srgbClr val="808080"/>
                          </a:solidFill>
                          <a:effectLst/>
                          <a:latin typeface="微軟正黑體" panose="020B0604030504040204" pitchFamily="34" charset="-120"/>
                          <a:ea typeface="微軟正黑體" panose="020B0604030504040204" pitchFamily="34" charset="-120"/>
                        </a:rPr>
                        <a:t>686.6%</a:t>
                      </a:r>
                    </a:p>
                  </a:txBody>
                  <a:tcPr marL="0" marR="0" marT="0" marB="0" anchor="ctr">
                    <a:lnL>
                      <a:noFill/>
                    </a:lnL>
                    <a:lnR>
                      <a:noFill/>
                    </a:lnR>
                    <a:lnT>
                      <a:noFill/>
                    </a:lnT>
                    <a:lnB>
                      <a:noFill/>
                    </a:lnB>
                    <a:solidFill>
                      <a:srgbClr val="FFFFFF"/>
                    </a:solidFill>
                  </a:tcPr>
                </a:tc>
                <a:tc>
                  <a:txBody>
                    <a:bodyPr/>
                    <a:lstStyle/>
                    <a:p>
                      <a:pPr algn="r" fontAlgn="ctr"/>
                      <a:r>
                        <a:rPr lang="zh-TW" altLang="en-US" sz="800" b="0" i="0" u="none" strike="noStrike" dirty="0">
                          <a:solidFill>
                            <a:srgbClr val="000000"/>
                          </a:solidFill>
                          <a:effectLst/>
                          <a:latin typeface="+mn-ea"/>
                          <a:ea typeface="+mn-ea"/>
                        </a:rPr>
                        <a:t>　</a:t>
                      </a:r>
                    </a:p>
                  </a:txBody>
                  <a:tcPr marL="9525" marR="9525" marT="9525" marB="0" anchor="ctr">
                    <a:lnL>
                      <a:noFill/>
                    </a:lnL>
                    <a:lnR>
                      <a:noFill/>
                    </a:lnR>
                    <a:lnT>
                      <a:noFill/>
                    </a:lnT>
                    <a:lnB>
                      <a:noFill/>
                    </a:lnB>
                    <a:solidFill>
                      <a:srgbClr val="FFFFFF"/>
                    </a:solidFill>
                  </a:tcPr>
                </a:tc>
                <a:tc>
                  <a:txBody>
                    <a:bodyPr/>
                    <a:lstStyle/>
                    <a:p>
                      <a:pPr algn="r" fontAlgn="ctr"/>
                      <a:r>
                        <a:rPr lang="zh-TW" altLang="en-US" sz="800" b="0"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800" b="0" i="0" u="none" strike="noStrike">
                          <a:solidFill>
                            <a:srgbClr val="000000"/>
                          </a:solidFill>
                          <a:effectLst/>
                          <a:latin typeface="微軟正黑體" panose="020B0604030504040204" pitchFamily="34" charset="-120"/>
                          <a:ea typeface="微軟正黑體" panose="020B0604030504040204" pitchFamily="34" charset="-120"/>
                        </a:rPr>
                        <a:t>360,966 </a:t>
                      </a:r>
                    </a:p>
                  </a:txBody>
                  <a:tcPr marL="0" marR="0" marT="0" marB="0" anchor="ctr">
                    <a:lnL>
                      <a:noFill/>
                    </a:lnL>
                    <a:lnR>
                      <a:noFill/>
                    </a:lnR>
                    <a:lnT>
                      <a:noFill/>
                    </a:lnT>
                    <a:lnB>
                      <a:noFill/>
                    </a:lnB>
                    <a:solidFill>
                      <a:srgbClr val="FFFFFF"/>
                    </a:solidFill>
                  </a:tcPr>
                </a:tc>
                <a:tc>
                  <a:txBody>
                    <a:bodyPr/>
                    <a:lstStyle/>
                    <a:p>
                      <a:pPr algn="r" fontAlgn="ctr"/>
                      <a:r>
                        <a:rPr lang="zh-TW" altLang="en-US" sz="800" b="0" i="0" u="none" strike="noStrike">
                          <a:solidFill>
                            <a:srgbClr val="000000"/>
                          </a:solidFill>
                          <a:effectLst/>
                          <a:latin typeface="+mn-ea"/>
                          <a:ea typeface="+mn-ea"/>
                        </a:rPr>
                        <a:t>　</a:t>
                      </a:r>
                    </a:p>
                  </a:txBody>
                  <a:tcPr marL="9525" marR="9525" marT="9525" marB="0" anchor="ctr">
                    <a:lnL>
                      <a:noFill/>
                    </a:lnL>
                    <a:lnR>
                      <a:noFill/>
                    </a:lnR>
                    <a:lnT>
                      <a:noFill/>
                    </a:lnT>
                    <a:lnB>
                      <a:noFill/>
                    </a:lnB>
                    <a:solidFill>
                      <a:srgbClr val="FFFFFF"/>
                    </a:solidFill>
                  </a:tcPr>
                </a:tc>
                <a:tc>
                  <a:txBody>
                    <a:bodyPr/>
                    <a:lstStyle/>
                    <a:p>
                      <a:pPr algn="r" fontAlgn="ctr"/>
                      <a:r>
                        <a:rPr lang="zh-TW" altLang="en-US" sz="800" b="0"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800" b="0" i="0" u="none" strike="noStrike">
                          <a:solidFill>
                            <a:srgbClr val="000000"/>
                          </a:solidFill>
                          <a:effectLst/>
                          <a:latin typeface="微軟正黑體" panose="020B0604030504040204" pitchFamily="34" charset="-120"/>
                          <a:ea typeface="微軟正黑體" panose="020B0604030504040204" pitchFamily="34" charset="-120"/>
                        </a:rPr>
                        <a:t>61,989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0002"/>
                  </a:ext>
                </a:extLst>
              </a:tr>
              <a:tr h="265580">
                <a:tc>
                  <a:txBody>
                    <a:bodyPr/>
                    <a:lstStyle/>
                    <a:p>
                      <a:pPr algn="ctr" fontAlgn="ctr"/>
                      <a:r>
                        <a:rPr lang="en-US" sz="800" b="0" i="0" u="none" strike="noStrike" dirty="0">
                          <a:solidFill>
                            <a:srgbClr val="000000"/>
                          </a:solidFill>
                          <a:effectLst/>
                          <a:latin typeface="微軟正黑體" panose="020B0604030504040204" pitchFamily="34" charset="-120"/>
                          <a:ea typeface="微軟正黑體" panose="020B0604030504040204" pitchFamily="34" charset="-120"/>
                        </a:rPr>
                        <a:t>FY20</a:t>
                      </a:r>
                    </a:p>
                  </a:txBody>
                  <a:tcPr marL="0" marR="0" marT="0" marB="0" anchor="ctr">
                    <a:lnL>
                      <a:noFill/>
                    </a:lnL>
                    <a:lnR>
                      <a:noFill/>
                    </a:lnR>
                    <a:lnT>
                      <a:noFill/>
                    </a:lnT>
                    <a:lnB>
                      <a:noFill/>
                    </a:lnB>
                    <a:solidFill>
                      <a:srgbClr val="F2F2F2"/>
                    </a:solidFill>
                  </a:tcPr>
                </a:tc>
                <a:tc>
                  <a:txBody>
                    <a:bodyPr/>
                    <a:lstStyle/>
                    <a:p>
                      <a:pPr algn="r" fontAlgn="ctr"/>
                      <a:r>
                        <a:rPr lang="en-US" altLang="zh-TW" sz="800" b="0" i="0" u="none" strike="noStrike">
                          <a:solidFill>
                            <a:srgbClr val="000000"/>
                          </a:solidFill>
                          <a:effectLst/>
                          <a:latin typeface="微軟正黑體" panose="020B0604030504040204" pitchFamily="34" charset="-120"/>
                          <a:ea typeface="微軟正黑體" panose="020B0604030504040204" pitchFamily="34" charset="-120"/>
                        </a:rPr>
                        <a:t>69,031 </a:t>
                      </a:r>
                    </a:p>
                  </a:txBody>
                  <a:tcPr marL="0" marR="0" marT="0" marB="0" anchor="ctr">
                    <a:lnL>
                      <a:noFill/>
                    </a:lnL>
                    <a:lnR>
                      <a:noFill/>
                    </a:lnR>
                    <a:lnT>
                      <a:noFill/>
                    </a:lnT>
                    <a:lnB>
                      <a:noFill/>
                    </a:lnB>
                    <a:solidFill>
                      <a:srgbClr val="F2F2F2"/>
                    </a:solidFill>
                  </a:tcPr>
                </a:tc>
                <a:tc>
                  <a:txBody>
                    <a:bodyPr/>
                    <a:lstStyle/>
                    <a:p>
                      <a:pPr algn="r" fontAlgn="ctr"/>
                      <a:r>
                        <a:rPr lang="en-US" altLang="zh-TW" sz="800" b="0" i="0" u="none" strike="noStrike">
                          <a:solidFill>
                            <a:srgbClr val="FF0000"/>
                          </a:solidFill>
                          <a:effectLst/>
                          <a:latin typeface="微軟正黑體" panose="020B0604030504040204" pitchFamily="34" charset="-120"/>
                          <a:ea typeface="微軟正黑體" panose="020B0604030504040204" pitchFamily="34" charset="-120"/>
                        </a:rPr>
                        <a:t>-3.2%</a:t>
                      </a:r>
                    </a:p>
                  </a:txBody>
                  <a:tcPr marL="0" marR="0" marT="0" marB="0" anchor="ctr">
                    <a:lnL>
                      <a:noFill/>
                    </a:lnL>
                    <a:lnR>
                      <a:noFill/>
                    </a:lnR>
                    <a:lnT>
                      <a:noFill/>
                    </a:lnT>
                    <a:lnB>
                      <a:noFill/>
                    </a:lnB>
                    <a:solidFill>
                      <a:srgbClr val="F2F2F2"/>
                    </a:solidFill>
                  </a:tcPr>
                </a:tc>
                <a:tc>
                  <a:txBody>
                    <a:bodyPr/>
                    <a:lstStyle/>
                    <a:p>
                      <a:pPr algn="r" fontAlgn="ctr"/>
                      <a:r>
                        <a:rPr lang="zh-TW" altLang="en-US" sz="800" b="0" i="0" u="none" strike="noStrike">
                          <a:solidFill>
                            <a:srgbClr val="000000"/>
                          </a:solidFill>
                          <a:effectLst/>
                          <a:latin typeface="+mn-ea"/>
                          <a:ea typeface="+mn-ea"/>
                        </a:rPr>
                        <a:t>　</a:t>
                      </a:r>
                    </a:p>
                  </a:txBody>
                  <a:tcPr marL="9525" marR="9525" marT="9525" marB="0" anchor="ctr">
                    <a:lnL>
                      <a:noFill/>
                    </a:lnL>
                    <a:lnR>
                      <a:noFill/>
                    </a:lnR>
                    <a:lnT>
                      <a:noFill/>
                    </a:lnT>
                    <a:lnB>
                      <a:noFill/>
                    </a:lnB>
                    <a:solidFill>
                      <a:srgbClr val="F2F2F2"/>
                    </a:solidFill>
                  </a:tcPr>
                </a:tc>
                <a:tc>
                  <a:txBody>
                    <a:bodyPr/>
                    <a:lstStyle/>
                    <a:p>
                      <a:pPr algn="r" fontAlgn="ctr"/>
                      <a:r>
                        <a:rPr lang="zh-TW" altLang="en-US" sz="800" b="0" i="0" u="none" strike="noStrike" dirty="0">
                          <a:solidFill>
                            <a:srgbClr val="000000"/>
                          </a:solidFill>
                          <a:effectLst/>
                          <a:latin typeface="微軟正黑體" panose="020B0604030504040204" pitchFamily="34" charset="-120"/>
                          <a:ea typeface="微軟正黑體" panose="020B0604030504040204" pitchFamily="34" charset="-120"/>
                        </a:rPr>
                        <a:t>            </a:t>
                      </a:r>
                      <a:r>
                        <a:rPr lang="en-US" altLang="zh-TW" sz="800" b="0" i="0" u="none" strike="noStrike" dirty="0">
                          <a:solidFill>
                            <a:srgbClr val="000000"/>
                          </a:solidFill>
                          <a:effectLst/>
                          <a:latin typeface="微軟正黑體" panose="020B0604030504040204" pitchFamily="34" charset="-120"/>
                          <a:ea typeface="微軟正黑體" panose="020B0604030504040204" pitchFamily="34" charset="-120"/>
                        </a:rPr>
                        <a:t>650 </a:t>
                      </a:r>
                    </a:p>
                  </a:txBody>
                  <a:tcPr marL="0" marR="0" marT="0" marB="0" anchor="ctr">
                    <a:lnL>
                      <a:noFill/>
                    </a:lnL>
                    <a:lnR>
                      <a:noFill/>
                    </a:lnR>
                    <a:lnT>
                      <a:noFill/>
                    </a:lnT>
                    <a:lnB>
                      <a:noFill/>
                    </a:lnB>
                    <a:solidFill>
                      <a:srgbClr val="F2F2F2"/>
                    </a:solidFill>
                  </a:tcPr>
                </a:tc>
                <a:tc>
                  <a:txBody>
                    <a:bodyPr/>
                    <a:lstStyle/>
                    <a:p>
                      <a:pPr algn="r" fontAlgn="ctr"/>
                      <a:r>
                        <a:rPr lang="en-US" altLang="zh-TW" sz="800" b="0" i="0" u="none" strike="noStrike" dirty="0">
                          <a:solidFill>
                            <a:srgbClr val="FF0000"/>
                          </a:solidFill>
                          <a:effectLst/>
                          <a:latin typeface="微軟正黑體" panose="020B0604030504040204" pitchFamily="34" charset="-120"/>
                          <a:ea typeface="微軟正黑體" panose="020B0604030504040204" pitchFamily="34" charset="-120"/>
                        </a:rPr>
                        <a:t>-87.4%</a:t>
                      </a:r>
                    </a:p>
                  </a:txBody>
                  <a:tcPr marL="0" marR="0" marT="0" marB="0" anchor="ctr">
                    <a:lnL>
                      <a:noFill/>
                    </a:lnL>
                    <a:lnR>
                      <a:noFill/>
                    </a:lnR>
                    <a:lnT>
                      <a:noFill/>
                    </a:lnT>
                    <a:lnB>
                      <a:noFill/>
                    </a:lnB>
                    <a:solidFill>
                      <a:srgbClr val="F2F2F2"/>
                    </a:solidFill>
                  </a:tcPr>
                </a:tc>
                <a:tc>
                  <a:txBody>
                    <a:bodyPr/>
                    <a:lstStyle/>
                    <a:p>
                      <a:pPr algn="r" fontAlgn="ctr"/>
                      <a:r>
                        <a:rPr lang="zh-TW" altLang="en-US" sz="800" b="0" i="0" u="none" strike="noStrike">
                          <a:solidFill>
                            <a:srgbClr val="000000"/>
                          </a:solidFill>
                          <a:effectLst/>
                          <a:latin typeface="+mn-ea"/>
                          <a:ea typeface="+mn-ea"/>
                        </a:rPr>
                        <a:t>　</a:t>
                      </a:r>
                    </a:p>
                  </a:txBody>
                  <a:tcPr marL="9525" marR="9525" marT="9525" marB="0" anchor="ctr">
                    <a:lnL>
                      <a:noFill/>
                    </a:lnL>
                    <a:lnR>
                      <a:noFill/>
                    </a:lnR>
                    <a:lnT>
                      <a:noFill/>
                    </a:lnT>
                    <a:lnB>
                      <a:noFill/>
                    </a:lnB>
                    <a:solidFill>
                      <a:srgbClr val="F2F2F2"/>
                    </a:solidFill>
                  </a:tcPr>
                </a:tc>
                <a:tc>
                  <a:txBody>
                    <a:bodyPr/>
                    <a:lstStyle/>
                    <a:p>
                      <a:pPr algn="r" fontAlgn="ctr"/>
                      <a:r>
                        <a:rPr lang="zh-TW" altLang="en-US" sz="800" b="0" i="0" u="none" strike="noStrike" dirty="0">
                          <a:solidFill>
                            <a:srgbClr val="000000"/>
                          </a:solidFill>
                          <a:effectLst/>
                          <a:latin typeface="微軟正黑體" panose="020B0604030504040204" pitchFamily="34" charset="-120"/>
                          <a:ea typeface="微軟正黑體" panose="020B0604030504040204" pitchFamily="34" charset="-120"/>
                        </a:rPr>
                        <a:t>        </a:t>
                      </a:r>
                      <a:r>
                        <a:rPr lang="en-US" altLang="zh-TW" sz="800" b="0" i="0" u="none" strike="noStrike" dirty="0">
                          <a:solidFill>
                            <a:srgbClr val="000000"/>
                          </a:solidFill>
                          <a:effectLst/>
                          <a:latin typeface="微軟正黑體" panose="020B0604030504040204" pitchFamily="34" charset="-120"/>
                          <a:ea typeface="微軟正黑體" panose="020B0604030504040204" pitchFamily="34" charset="-120"/>
                        </a:rPr>
                        <a:t>305,891 </a:t>
                      </a:r>
                    </a:p>
                  </a:txBody>
                  <a:tcPr marL="0" marR="0" marT="0" marB="0" anchor="ctr">
                    <a:lnL>
                      <a:noFill/>
                    </a:lnL>
                    <a:lnR>
                      <a:noFill/>
                    </a:lnR>
                    <a:lnT>
                      <a:noFill/>
                    </a:lnT>
                    <a:lnB>
                      <a:noFill/>
                    </a:lnB>
                    <a:solidFill>
                      <a:srgbClr val="F2F2F2"/>
                    </a:solidFill>
                  </a:tcPr>
                </a:tc>
                <a:tc>
                  <a:txBody>
                    <a:bodyPr/>
                    <a:lstStyle/>
                    <a:p>
                      <a:pPr algn="r" fontAlgn="ctr"/>
                      <a:r>
                        <a:rPr lang="zh-TW" altLang="en-US" sz="800" b="0" i="0" u="none" strike="noStrike" dirty="0">
                          <a:solidFill>
                            <a:srgbClr val="000000"/>
                          </a:solidFill>
                          <a:effectLst/>
                          <a:latin typeface="+mn-ea"/>
                          <a:ea typeface="+mn-ea"/>
                        </a:rPr>
                        <a:t>　</a:t>
                      </a:r>
                    </a:p>
                  </a:txBody>
                  <a:tcPr marL="9525" marR="9525" marT="9525" marB="0" anchor="ctr">
                    <a:lnL>
                      <a:noFill/>
                    </a:lnL>
                    <a:lnR>
                      <a:noFill/>
                    </a:lnR>
                    <a:lnT>
                      <a:noFill/>
                    </a:lnT>
                    <a:lnB>
                      <a:noFill/>
                    </a:lnB>
                    <a:solidFill>
                      <a:srgbClr val="F2F2F2"/>
                    </a:solidFill>
                  </a:tcPr>
                </a:tc>
                <a:tc>
                  <a:txBody>
                    <a:bodyPr/>
                    <a:lstStyle/>
                    <a:p>
                      <a:pPr algn="r" fontAlgn="ctr"/>
                      <a:r>
                        <a:rPr lang="zh-TW" altLang="en-US" sz="800" b="0" i="0" u="none" strike="noStrike" dirty="0">
                          <a:solidFill>
                            <a:srgbClr val="000000"/>
                          </a:solidFill>
                          <a:effectLst/>
                          <a:latin typeface="微軟正黑體" panose="020B0604030504040204" pitchFamily="34" charset="-120"/>
                          <a:ea typeface="微軟正黑體" panose="020B0604030504040204" pitchFamily="34" charset="-120"/>
                        </a:rPr>
                        <a:t>          </a:t>
                      </a:r>
                      <a:r>
                        <a:rPr lang="en-US" altLang="zh-TW" sz="800" b="0" i="0" u="none" strike="noStrike" dirty="0">
                          <a:solidFill>
                            <a:srgbClr val="000000"/>
                          </a:solidFill>
                          <a:effectLst/>
                          <a:latin typeface="微軟正黑體" panose="020B0604030504040204" pitchFamily="34" charset="-120"/>
                          <a:ea typeface="微軟正黑體" panose="020B0604030504040204" pitchFamily="34" charset="-120"/>
                        </a:rPr>
                        <a:t>55,226 </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0003"/>
                  </a:ext>
                </a:extLst>
              </a:tr>
              <a:tr h="265580">
                <a:tc>
                  <a:txBody>
                    <a:bodyPr/>
                    <a:lstStyle/>
                    <a:p>
                      <a:pPr algn="ctr" fontAlgn="ctr"/>
                      <a:r>
                        <a:rPr lang="en-US" sz="800" b="0" i="0" u="none" strike="noStrike" dirty="0">
                          <a:solidFill>
                            <a:srgbClr val="000000"/>
                          </a:solidFill>
                          <a:effectLst/>
                          <a:latin typeface="微軟正黑體" panose="020B0604030504040204" pitchFamily="34" charset="-120"/>
                          <a:ea typeface="微軟正黑體" panose="020B0604030504040204" pitchFamily="34" charset="-120"/>
                        </a:rPr>
                        <a:t>FY19</a:t>
                      </a:r>
                    </a:p>
                  </a:txBody>
                  <a:tcPr marL="0" marR="0" marT="0" marB="0" anchor="ctr">
                    <a:lnL>
                      <a:noFill/>
                    </a:lnL>
                    <a:lnR>
                      <a:noFill/>
                    </a:lnR>
                    <a:lnT>
                      <a:noFill/>
                    </a:lnT>
                    <a:lnB>
                      <a:noFill/>
                    </a:lnB>
                    <a:solidFill>
                      <a:srgbClr val="FFFFFF"/>
                    </a:solidFill>
                  </a:tcPr>
                </a:tc>
                <a:tc>
                  <a:txBody>
                    <a:bodyPr/>
                    <a:lstStyle/>
                    <a:p>
                      <a:pPr algn="r" fontAlgn="ctr"/>
                      <a:r>
                        <a:rPr lang="en-US" altLang="zh-TW" sz="800" b="0" i="0" u="none" strike="noStrike">
                          <a:solidFill>
                            <a:srgbClr val="000000"/>
                          </a:solidFill>
                          <a:effectLst/>
                          <a:latin typeface="微軟正黑體" panose="020B0604030504040204" pitchFamily="34" charset="-120"/>
                          <a:ea typeface="微軟正黑體" panose="020B0604030504040204" pitchFamily="34" charset="-120"/>
                        </a:rPr>
                        <a:t>71,347 </a:t>
                      </a:r>
                    </a:p>
                  </a:txBody>
                  <a:tcPr marL="0" marR="0" marT="0" marB="0" anchor="ctr">
                    <a:lnL>
                      <a:noFill/>
                    </a:lnL>
                    <a:lnR>
                      <a:noFill/>
                    </a:lnR>
                    <a:lnT>
                      <a:noFill/>
                    </a:lnT>
                    <a:lnB>
                      <a:noFill/>
                    </a:lnB>
                    <a:solidFill>
                      <a:srgbClr val="FFFFFF"/>
                    </a:solidFill>
                  </a:tcPr>
                </a:tc>
                <a:tc>
                  <a:txBody>
                    <a:bodyPr/>
                    <a:lstStyle/>
                    <a:p>
                      <a:pPr algn="r" fontAlgn="ctr"/>
                      <a:r>
                        <a:rPr lang="en-US" altLang="zh-TW" sz="800" b="1" i="0" u="none" strike="noStrike">
                          <a:solidFill>
                            <a:srgbClr val="808080"/>
                          </a:solidFill>
                          <a:effectLst/>
                          <a:latin typeface="微軟正黑體" panose="020B0604030504040204" pitchFamily="34" charset="-120"/>
                          <a:ea typeface="微軟正黑體" panose="020B0604030504040204" pitchFamily="34" charset="-120"/>
                        </a:rPr>
                        <a:t>4.1%</a:t>
                      </a:r>
                    </a:p>
                  </a:txBody>
                  <a:tcPr marL="0" marR="0" marT="0" marB="0" anchor="ctr">
                    <a:lnL>
                      <a:noFill/>
                    </a:lnL>
                    <a:lnR>
                      <a:noFill/>
                    </a:lnR>
                    <a:lnT>
                      <a:noFill/>
                    </a:lnT>
                    <a:lnB>
                      <a:noFill/>
                    </a:lnB>
                    <a:solidFill>
                      <a:srgbClr val="FFFFFF"/>
                    </a:solidFill>
                  </a:tcPr>
                </a:tc>
                <a:tc>
                  <a:txBody>
                    <a:bodyPr/>
                    <a:lstStyle/>
                    <a:p>
                      <a:pPr algn="r" fontAlgn="ctr"/>
                      <a:r>
                        <a:rPr lang="zh-TW" altLang="en-US" sz="800" b="0" i="0" u="none" strike="noStrike">
                          <a:solidFill>
                            <a:srgbClr val="000000"/>
                          </a:solidFill>
                          <a:effectLst/>
                          <a:latin typeface="+mn-ea"/>
                          <a:ea typeface="+mn-ea"/>
                        </a:rPr>
                        <a:t>　</a:t>
                      </a:r>
                    </a:p>
                  </a:txBody>
                  <a:tcPr marL="9525" marR="9525" marT="9525" marB="0" anchor="ctr">
                    <a:lnL>
                      <a:noFill/>
                    </a:lnL>
                    <a:lnR>
                      <a:noFill/>
                    </a:lnR>
                    <a:lnT>
                      <a:noFill/>
                    </a:lnT>
                    <a:lnB>
                      <a:noFill/>
                    </a:lnB>
                    <a:solidFill>
                      <a:srgbClr val="FFFFFF"/>
                    </a:solidFill>
                  </a:tcPr>
                </a:tc>
                <a:tc>
                  <a:txBody>
                    <a:bodyPr/>
                    <a:lstStyle/>
                    <a:p>
                      <a:pPr algn="r" fontAlgn="ctr"/>
                      <a:r>
                        <a:rPr lang="zh-TW" altLang="en-US" sz="800" b="0" i="0" u="none" strike="noStrike" dirty="0">
                          <a:solidFill>
                            <a:srgbClr val="000000"/>
                          </a:solidFill>
                          <a:effectLst/>
                          <a:latin typeface="微軟正黑體" panose="020B0604030504040204" pitchFamily="34" charset="-120"/>
                          <a:ea typeface="微軟正黑體" panose="020B0604030504040204" pitchFamily="34" charset="-120"/>
                        </a:rPr>
                        <a:t>         </a:t>
                      </a:r>
                      <a:r>
                        <a:rPr lang="en-US" altLang="zh-TW" sz="800" b="0" i="0" u="none" strike="noStrike" dirty="0">
                          <a:solidFill>
                            <a:srgbClr val="000000"/>
                          </a:solidFill>
                          <a:effectLst/>
                          <a:latin typeface="微軟正黑體" panose="020B0604030504040204" pitchFamily="34" charset="-120"/>
                          <a:ea typeface="微軟正黑體" panose="020B0604030504040204" pitchFamily="34" charset="-120"/>
                        </a:rPr>
                        <a:t>5,155 </a:t>
                      </a:r>
                    </a:p>
                  </a:txBody>
                  <a:tcPr marL="0" marR="0" marT="0" marB="0" anchor="ctr">
                    <a:lnL>
                      <a:noFill/>
                    </a:lnL>
                    <a:lnR>
                      <a:noFill/>
                    </a:lnR>
                    <a:lnT>
                      <a:noFill/>
                    </a:lnT>
                    <a:lnB>
                      <a:noFill/>
                    </a:lnB>
                    <a:solidFill>
                      <a:srgbClr val="FFFFFF"/>
                    </a:solidFill>
                  </a:tcPr>
                </a:tc>
                <a:tc>
                  <a:txBody>
                    <a:bodyPr/>
                    <a:lstStyle/>
                    <a:p>
                      <a:pPr algn="r" fontAlgn="ctr"/>
                      <a:r>
                        <a:rPr lang="en-US" altLang="zh-TW" sz="800" b="1" i="0" u="none" strike="noStrike" dirty="0">
                          <a:solidFill>
                            <a:srgbClr val="808080"/>
                          </a:solidFill>
                          <a:effectLst/>
                          <a:latin typeface="微軟正黑體" panose="020B0604030504040204" pitchFamily="34" charset="-120"/>
                          <a:ea typeface="微軟正黑體" panose="020B0604030504040204" pitchFamily="34" charset="-120"/>
                        </a:rPr>
                        <a:t>338.0%</a:t>
                      </a:r>
                    </a:p>
                  </a:txBody>
                  <a:tcPr marL="0" marR="0" marT="0" marB="0" anchor="ctr">
                    <a:lnL>
                      <a:noFill/>
                    </a:lnL>
                    <a:lnR>
                      <a:noFill/>
                    </a:lnR>
                    <a:lnT>
                      <a:noFill/>
                    </a:lnT>
                    <a:lnB>
                      <a:noFill/>
                    </a:lnB>
                    <a:solidFill>
                      <a:srgbClr val="FFFFFF"/>
                    </a:solidFill>
                  </a:tcPr>
                </a:tc>
                <a:tc>
                  <a:txBody>
                    <a:bodyPr/>
                    <a:lstStyle/>
                    <a:p>
                      <a:pPr algn="r" fontAlgn="ctr"/>
                      <a:r>
                        <a:rPr lang="zh-TW" altLang="en-US" sz="800" b="0" i="0" u="none" strike="noStrike">
                          <a:solidFill>
                            <a:srgbClr val="000000"/>
                          </a:solidFill>
                          <a:effectLst/>
                          <a:latin typeface="+mn-ea"/>
                          <a:ea typeface="+mn-ea"/>
                        </a:rPr>
                        <a:t>　</a:t>
                      </a:r>
                    </a:p>
                  </a:txBody>
                  <a:tcPr marL="9525" marR="9525" marT="9525" marB="0" anchor="ctr">
                    <a:lnL>
                      <a:noFill/>
                    </a:lnL>
                    <a:lnR>
                      <a:noFill/>
                    </a:lnR>
                    <a:lnT>
                      <a:noFill/>
                    </a:lnT>
                    <a:lnB>
                      <a:noFill/>
                    </a:lnB>
                    <a:solidFill>
                      <a:srgbClr val="FFFFFF"/>
                    </a:solidFill>
                  </a:tcPr>
                </a:tc>
                <a:tc>
                  <a:txBody>
                    <a:bodyPr/>
                    <a:lstStyle/>
                    <a:p>
                      <a:pPr algn="r" fontAlgn="ctr"/>
                      <a:r>
                        <a:rPr lang="zh-TW" altLang="en-US" sz="800" b="0"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800" b="0" i="0" u="none" strike="noStrike">
                          <a:solidFill>
                            <a:srgbClr val="000000"/>
                          </a:solidFill>
                          <a:effectLst/>
                          <a:latin typeface="微軟正黑體" panose="020B0604030504040204" pitchFamily="34" charset="-120"/>
                          <a:ea typeface="微軟正黑體" panose="020B0604030504040204" pitchFamily="34" charset="-120"/>
                        </a:rPr>
                        <a:t>303,284 </a:t>
                      </a:r>
                    </a:p>
                  </a:txBody>
                  <a:tcPr marL="0" marR="0" marT="0" marB="0" anchor="ctr">
                    <a:lnL>
                      <a:noFill/>
                    </a:lnL>
                    <a:lnR>
                      <a:noFill/>
                    </a:lnR>
                    <a:lnT>
                      <a:noFill/>
                    </a:lnT>
                    <a:lnB>
                      <a:noFill/>
                    </a:lnB>
                    <a:solidFill>
                      <a:srgbClr val="FFFFFF"/>
                    </a:solidFill>
                  </a:tcPr>
                </a:tc>
                <a:tc>
                  <a:txBody>
                    <a:bodyPr/>
                    <a:lstStyle/>
                    <a:p>
                      <a:pPr algn="r" fontAlgn="ctr"/>
                      <a:r>
                        <a:rPr lang="zh-TW" altLang="en-US" sz="800" b="0" i="0" u="none" strike="noStrike" dirty="0">
                          <a:solidFill>
                            <a:srgbClr val="000000"/>
                          </a:solidFill>
                          <a:effectLst/>
                          <a:latin typeface="+mn-ea"/>
                          <a:ea typeface="+mn-ea"/>
                        </a:rPr>
                        <a:t>　</a:t>
                      </a:r>
                    </a:p>
                  </a:txBody>
                  <a:tcPr marL="9525" marR="9525" marT="9525" marB="0" anchor="ctr">
                    <a:lnL>
                      <a:noFill/>
                    </a:lnL>
                    <a:lnR>
                      <a:noFill/>
                    </a:lnR>
                    <a:lnT>
                      <a:noFill/>
                    </a:lnT>
                    <a:lnB>
                      <a:noFill/>
                    </a:lnB>
                    <a:solidFill>
                      <a:srgbClr val="FFFFFF"/>
                    </a:solidFill>
                  </a:tcPr>
                </a:tc>
                <a:tc>
                  <a:txBody>
                    <a:bodyPr/>
                    <a:lstStyle/>
                    <a:p>
                      <a:pPr algn="r" fontAlgn="ctr"/>
                      <a:r>
                        <a:rPr lang="zh-TW" altLang="en-US" sz="800" b="0" i="0" u="none" strike="noStrike" dirty="0">
                          <a:solidFill>
                            <a:srgbClr val="000000"/>
                          </a:solidFill>
                          <a:effectLst/>
                          <a:latin typeface="微軟正黑體" panose="020B0604030504040204" pitchFamily="34" charset="-120"/>
                          <a:ea typeface="微軟正黑體" panose="020B0604030504040204" pitchFamily="34" charset="-120"/>
                        </a:rPr>
                        <a:t>          </a:t>
                      </a:r>
                      <a:r>
                        <a:rPr lang="en-US" altLang="zh-TW" sz="800" b="0" i="0" u="none" strike="noStrike" dirty="0">
                          <a:solidFill>
                            <a:srgbClr val="000000"/>
                          </a:solidFill>
                          <a:effectLst/>
                          <a:latin typeface="微軟正黑體" panose="020B0604030504040204" pitchFamily="34" charset="-120"/>
                          <a:ea typeface="微軟正黑體" panose="020B0604030504040204" pitchFamily="34" charset="-120"/>
                        </a:rPr>
                        <a:t>55,790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0004"/>
                  </a:ext>
                </a:extLst>
              </a:tr>
              <a:tr h="265580">
                <a:tc>
                  <a:txBody>
                    <a:bodyPr/>
                    <a:lstStyle/>
                    <a:p>
                      <a:pPr algn="ctr" fontAlgn="ctr"/>
                      <a:r>
                        <a:rPr lang="en-US" sz="800" b="0" i="0" u="none" strike="noStrike" dirty="0">
                          <a:solidFill>
                            <a:srgbClr val="000000"/>
                          </a:solidFill>
                          <a:effectLst/>
                          <a:latin typeface="微軟正黑體" panose="020B0604030504040204" pitchFamily="34" charset="-120"/>
                          <a:ea typeface="微軟正黑體" panose="020B0604030504040204" pitchFamily="34" charset="-120"/>
                        </a:rPr>
                        <a:t>FY18</a:t>
                      </a:r>
                    </a:p>
                  </a:txBody>
                  <a:tcPr marL="0" marR="0" marT="0" marB="0" anchor="ctr">
                    <a:lnL>
                      <a:noFill/>
                    </a:lnL>
                    <a:lnR>
                      <a:noFill/>
                    </a:lnR>
                    <a:lnT>
                      <a:noFill/>
                    </a:lnT>
                    <a:lnB>
                      <a:noFill/>
                    </a:lnB>
                    <a:solidFill>
                      <a:srgbClr val="F2F2F2"/>
                    </a:solidFill>
                  </a:tcPr>
                </a:tc>
                <a:tc>
                  <a:txBody>
                    <a:bodyPr/>
                    <a:lstStyle/>
                    <a:p>
                      <a:pPr algn="r" fontAlgn="ctr"/>
                      <a:r>
                        <a:rPr lang="en-US" altLang="zh-TW" sz="800" b="0" i="0" u="none" strike="noStrike">
                          <a:solidFill>
                            <a:srgbClr val="000000"/>
                          </a:solidFill>
                          <a:effectLst/>
                          <a:latin typeface="微軟正黑體" panose="020B0604030504040204" pitchFamily="34" charset="-120"/>
                          <a:ea typeface="微軟正黑體" panose="020B0604030504040204" pitchFamily="34" charset="-120"/>
                        </a:rPr>
                        <a:t>68,546 </a:t>
                      </a:r>
                    </a:p>
                  </a:txBody>
                  <a:tcPr marL="0" marR="0" marT="0" marB="0" anchor="ctr">
                    <a:lnL>
                      <a:noFill/>
                    </a:lnL>
                    <a:lnR>
                      <a:noFill/>
                    </a:lnR>
                    <a:lnT>
                      <a:noFill/>
                    </a:lnT>
                    <a:lnB>
                      <a:noFill/>
                    </a:lnB>
                    <a:solidFill>
                      <a:srgbClr val="F2F2F2"/>
                    </a:solidFill>
                  </a:tcPr>
                </a:tc>
                <a:tc>
                  <a:txBody>
                    <a:bodyPr/>
                    <a:lstStyle/>
                    <a:p>
                      <a:pPr algn="r" fontAlgn="ctr"/>
                      <a:r>
                        <a:rPr lang="en-US" altLang="zh-TW" sz="800" b="1" i="0" u="none" strike="noStrike" dirty="0">
                          <a:solidFill>
                            <a:srgbClr val="808080"/>
                          </a:solidFill>
                          <a:effectLst/>
                          <a:latin typeface="微軟正黑體" panose="020B0604030504040204" pitchFamily="34" charset="-120"/>
                          <a:ea typeface="微軟正黑體" panose="020B0604030504040204" pitchFamily="34" charset="-120"/>
                        </a:rPr>
                        <a:t>5.6%</a:t>
                      </a:r>
                    </a:p>
                  </a:txBody>
                  <a:tcPr marL="0" marR="0" marT="0" marB="0" anchor="ctr">
                    <a:lnL>
                      <a:noFill/>
                    </a:lnL>
                    <a:lnR>
                      <a:noFill/>
                    </a:lnR>
                    <a:lnT>
                      <a:noFill/>
                    </a:lnT>
                    <a:lnB>
                      <a:noFill/>
                    </a:lnB>
                    <a:solidFill>
                      <a:srgbClr val="F2F2F2"/>
                    </a:solidFill>
                  </a:tcPr>
                </a:tc>
                <a:tc>
                  <a:txBody>
                    <a:bodyPr/>
                    <a:lstStyle/>
                    <a:p>
                      <a:pPr algn="r" fontAlgn="ctr"/>
                      <a:r>
                        <a:rPr lang="zh-TW" altLang="en-US" sz="800" b="0" i="0" u="none" strike="noStrike">
                          <a:solidFill>
                            <a:srgbClr val="000000"/>
                          </a:solidFill>
                          <a:effectLst/>
                          <a:latin typeface="+mn-ea"/>
                          <a:ea typeface="+mn-ea"/>
                        </a:rPr>
                        <a:t>　</a:t>
                      </a:r>
                    </a:p>
                  </a:txBody>
                  <a:tcPr marL="9525" marR="9525" marT="9525" marB="0" anchor="ctr">
                    <a:lnL>
                      <a:noFill/>
                    </a:lnL>
                    <a:lnR>
                      <a:noFill/>
                    </a:lnR>
                    <a:lnT>
                      <a:noFill/>
                    </a:lnT>
                    <a:lnB>
                      <a:noFill/>
                    </a:lnB>
                    <a:solidFill>
                      <a:srgbClr val="F2F2F2"/>
                    </a:solidFill>
                  </a:tcPr>
                </a:tc>
                <a:tc>
                  <a:txBody>
                    <a:bodyPr/>
                    <a:lstStyle/>
                    <a:p>
                      <a:pPr algn="r" fontAlgn="ctr"/>
                      <a:r>
                        <a:rPr lang="zh-TW" altLang="en-US" sz="800" b="0" i="0" u="none" strike="noStrike" dirty="0">
                          <a:solidFill>
                            <a:srgbClr val="000000"/>
                          </a:solidFill>
                          <a:effectLst/>
                          <a:latin typeface="微軟正黑體" panose="020B0604030504040204" pitchFamily="34" charset="-120"/>
                          <a:ea typeface="微軟正黑體" panose="020B0604030504040204" pitchFamily="34" charset="-120"/>
                        </a:rPr>
                        <a:t>            </a:t>
                      </a:r>
                      <a:r>
                        <a:rPr lang="en-US" altLang="zh-TW" sz="800" b="0" i="0" u="none" strike="noStrike" dirty="0">
                          <a:solidFill>
                            <a:srgbClr val="000000"/>
                          </a:solidFill>
                          <a:effectLst/>
                          <a:latin typeface="微軟正黑體" panose="020B0604030504040204" pitchFamily="34" charset="-120"/>
                          <a:ea typeface="微軟正黑體" panose="020B0604030504040204" pitchFamily="34" charset="-120"/>
                        </a:rPr>
                        <a:t>1,177 </a:t>
                      </a:r>
                    </a:p>
                  </a:txBody>
                  <a:tcPr marL="0" marR="0" marT="0" marB="0" anchor="ctr">
                    <a:lnL>
                      <a:noFill/>
                    </a:lnL>
                    <a:lnR>
                      <a:noFill/>
                    </a:lnR>
                    <a:lnT>
                      <a:noFill/>
                    </a:lnT>
                    <a:lnB>
                      <a:noFill/>
                    </a:lnB>
                    <a:solidFill>
                      <a:srgbClr val="F2F2F2"/>
                    </a:solidFill>
                  </a:tcPr>
                </a:tc>
                <a:tc>
                  <a:txBody>
                    <a:bodyPr/>
                    <a:lstStyle/>
                    <a:p>
                      <a:pPr algn="r" fontAlgn="ctr"/>
                      <a:r>
                        <a:rPr lang="en-US" altLang="zh-TW" sz="800" b="0" i="0" u="none" strike="noStrike" dirty="0">
                          <a:solidFill>
                            <a:srgbClr val="FF0000"/>
                          </a:solidFill>
                          <a:effectLst/>
                          <a:latin typeface="微軟正黑體" panose="020B0604030504040204" pitchFamily="34" charset="-120"/>
                          <a:ea typeface="微軟正黑體" panose="020B0604030504040204" pitchFamily="34" charset="-120"/>
                        </a:rPr>
                        <a:t>-62.9%</a:t>
                      </a:r>
                    </a:p>
                  </a:txBody>
                  <a:tcPr marL="0" marR="0" marT="0" marB="0" anchor="ctr">
                    <a:lnL>
                      <a:noFill/>
                    </a:lnL>
                    <a:lnR>
                      <a:noFill/>
                    </a:lnR>
                    <a:lnT>
                      <a:noFill/>
                    </a:lnT>
                    <a:lnB>
                      <a:noFill/>
                    </a:lnB>
                    <a:solidFill>
                      <a:srgbClr val="F2F2F2"/>
                    </a:solidFill>
                  </a:tcPr>
                </a:tc>
                <a:tc>
                  <a:txBody>
                    <a:bodyPr/>
                    <a:lstStyle/>
                    <a:p>
                      <a:pPr algn="r" fontAlgn="ctr"/>
                      <a:r>
                        <a:rPr lang="zh-TW" altLang="en-US" sz="800" b="0" i="0" u="none" strike="noStrike" dirty="0">
                          <a:solidFill>
                            <a:srgbClr val="000000"/>
                          </a:solidFill>
                          <a:effectLst/>
                          <a:latin typeface="+mn-ea"/>
                          <a:ea typeface="+mn-ea"/>
                        </a:rPr>
                        <a:t>　</a:t>
                      </a:r>
                    </a:p>
                  </a:txBody>
                  <a:tcPr marL="9525" marR="9525" marT="9525" marB="0" anchor="ctr">
                    <a:lnL>
                      <a:noFill/>
                    </a:lnL>
                    <a:lnR>
                      <a:noFill/>
                    </a:lnR>
                    <a:lnT>
                      <a:noFill/>
                    </a:lnT>
                    <a:lnB>
                      <a:noFill/>
                    </a:lnB>
                    <a:solidFill>
                      <a:srgbClr val="F2F2F2"/>
                    </a:solidFill>
                  </a:tcPr>
                </a:tc>
                <a:tc>
                  <a:txBody>
                    <a:bodyPr/>
                    <a:lstStyle/>
                    <a:p>
                      <a:pPr algn="r" fontAlgn="ctr"/>
                      <a:r>
                        <a:rPr lang="zh-TW" altLang="en-US" sz="800" b="0" i="0" u="none" strike="noStrike" dirty="0">
                          <a:solidFill>
                            <a:srgbClr val="000000"/>
                          </a:solidFill>
                          <a:effectLst/>
                          <a:latin typeface="微軟正黑體" panose="020B0604030504040204" pitchFamily="34" charset="-120"/>
                          <a:ea typeface="微軟正黑體" panose="020B0604030504040204" pitchFamily="34" charset="-120"/>
                        </a:rPr>
                        <a:t>        </a:t>
                      </a:r>
                      <a:r>
                        <a:rPr lang="en-US" altLang="zh-TW" sz="800" b="0" i="0" u="none" strike="noStrike" dirty="0">
                          <a:solidFill>
                            <a:srgbClr val="000000"/>
                          </a:solidFill>
                          <a:effectLst/>
                          <a:latin typeface="微軟正黑體" panose="020B0604030504040204" pitchFamily="34" charset="-120"/>
                          <a:ea typeface="微軟正黑體" panose="020B0604030504040204" pitchFamily="34" charset="-120"/>
                        </a:rPr>
                        <a:t>283,169 </a:t>
                      </a:r>
                    </a:p>
                  </a:txBody>
                  <a:tcPr marL="0" marR="0" marT="0" marB="0" anchor="ctr">
                    <a:lnL>
                      <a:noFill/>
                    </a:lnL>
                    <a:lnR>
                      <a:noFill/>
                    </a:lnR>
                    <a:lnT>
                      <a:noFill/>
                    </a:lnT>
                    <a:lnB>
                      <a:noFill/>
                    </a:lnB>
                    <a:solidFill>
                      <a:srgbClr val="F2F2F2"/>
                    </a:solidFill>
                  </a:tcPr>
                </a:tc>
                <a:tc>
                  <a:txBody>
                    <a:bodyPr/>
                    <a:lstStyle/>
                    <a:p>
                      <a:pPr algn="r" fontAlgn="ctr"/>
                      <a:r>
                        <a:rPr lang="zh-TW" altLang="en-US" sz="800" b="0" i="0" u="none" strike="noStrike">
                          <a:solidFill>
                            <a:srgbClr val="000000"/>
                          </a:solidFill>
                          <a:effectLst/>
                          <a:latin typeface="+mn-ea"/>
                          <a:ea typeface="+mn-ea"/>
                        </a:rPr>
                        <a:t>　</a:t>
                      </a:r>
                    </a:p>
                  </a:txBody>
                  <a:tcPr marL="9525" marR="9525" marT="9525" marB="0" anchor="ctr">
                    <a:lnL>
                      <a:noFill/>
                    </a:lnL>
                    <a:lnR>
                      <a:noFill/>
                    </a:lnR>
                    <a:lnT>
                      <a:noFill/>
                    </a:lnT>
                    <a:lnB>
                      <a:noFill/>
                    </a:lnB>
                    <a:solidFill>
                      <a:srgbClr val="F2F2F2"/>
                    </a:solidFill>
                  </a:tcPr>
                </a:tc>
                <a:tc>
                  <a:txBody>
                    <a:bodyPr/>
                    <a:lstStyle/>
                    <a:p>
                      <a:pPr algn="r" fontAlgn="ctr"/>
                      <a:r>
                        <a:rPr lang="zh-TW" altLang="en-US" sz="800" b="0" i="0" u="none" strike="noStrike" dirty="0">
                          <a:solidFill>
                            <a:srgbClr val="000000"/>
                          </a:solidFill>
                          <a:effectLst/>
                          <a:latin typeface="微軟正黑體" panose="020B0604030504040204" pitchFamily="34" charset="-120"/>
                          <a:ea typeface="微軟正黑體" panose="020B0604030504040204" pitchFamily="34" charset="-120"/>
                        </a:rPr>
                        <a:t>          </a:t>
                      </a:r>
                      <a:r>
                        <a:rPr lang="en-US" altLang="zh-TW" sz="800" b="0" i="0" u="none" strike="noStrike" dirty="0">
                          <a:solidFill>
                            <a:srgbClr val="000000"/>
                          </a:solidFill>
                          <a:effectLst/>
                          <a:latin typeface="微軟正黑體" panose="020B0604030504040204" pitchFamily="34" charset="-120"/>
                          <a:ea typeface="微軟正黑體" panose="020B0604030504040204" pitchFamily="34" charset="-120"/>
                        </a:rPr>
                        <a:t>52,646 </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0005"/>
                  </a:ext>
                </a:extLst>
              </a:tr>
            </a:tbl>
          </a:graphicData>
        </a:graphic>
      </p:graphicFrame>
      <p:pic>
        <p:nvPicPr>
          <p:cNvPr id="15" name="圖片 14"/>
          <p:cNvPicPr>
            <a:picLocks noChangeAspect="1"/>
          </p:cNvPicPr>
          <p:nvPr/>
        </p:nvPicPr>
        <p:blipFill>
          <a:blip r:embed="rId4">
            <a:clrChange>
              <a:clrFrom>
                <a:srgbClr val="FFFFFF"/>
              </a:clrFrom>
              <a:clrTo>
                <a:srgbClr val="FFFFFF">
                  <a:alpha val="0"/>
                </a:srgbClr>
              </a:clrTo>
            </a:clrChange>
          </a:blip>
          <a:stretch>
            <a:fillRect/>
          </a:stretch>
        </p:blipFill>
        <p:spPr>
          <a:xfrm>
            <a:off x="8044464" y="267537"/>
            <a:ext cx="859988" cy="433490"/>
          </a:xfrm>
          <a:prstGeom prst="rect">
            <a:avLst/>
          </a:prstGeom>
        </p:spPr>
      </p:pic>
      <p:sp>
        <p:nvSpPr>
          <p:cNvPr id="18" name="圓角矩形 29">
            <a:extLst>
              <a:ext uri="{FF2B5EF4-FFF2-40B4-BE49-F238E27FC236}">
                <a16:creationId xmlns:a16="http://schemas.microsoft.com/office/drawing/2014/main" id="{6373E1F3-4EED-4FCA-BB27-DF4DDB91702B}"/>
              </a:ext>
            </a:extLst>
          </p:cNvPr>
          <p:cNvSpPr/>
          <p:nvPr/>
        </p:nvSpPr>
        <p:spPr>
          <a:xfrm>
            <a:off x="431542" y="2924944"/>
            <a:ext cx="1116122"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mn-ea"/>
              </a:rPr>
              <a:t>半年度財務</a:t>
            </a:r>
          </a:p>
        </p:txBody>
      </p:sp>
      <p:sp>
        <p:nvSpPr>
          <p:cNvPr id="21" name="文字方塊 20">
            <a:extLst>
              <a:ext uri="{FF2B5EF4-FFF2-40B4-BE49-F238E27FC236}">
                <a16:creationId xmlns:a16="http://schemas.microsoft.com/office/drawing/2014/main" id="{00DC9E5F-1C38-4803-A84B-47B2BA1F2825}"/>
              </a:ext>
            </a:extLst>
          </p:cNvPr>
          <p:cNvSpPr txBox="1"/>
          <p:nvPr/>
        </p:nvSpPr>
        <p:spPr>
          <a:xfrm>
            <a:off x="289063" y="3243730"/>
            <a:ext cx="4196192" cy="3099888"/>
          </a:xfrm>
          <a:prstGeom prst="rect">
            <a:avLst/>
          </a:prstGeom>
          <a:noFill/>
        </p:spPr>
        <p:txBody>
          <a:bodyPr wrap="square">
            <a:spAutoFit/>
          </a:bodyPr>
          <a:lstStyle/>
          <a:p>
            <a:pPr algn="just">
              <a:lnSpc>
                <a:spcPts val="1600"/>
              </a:lnSpc>
              <a:spcBef>
                <a:spcPts val="600"/>
              </a:spcBef>
            </a:pPr>
            <a:r>
              <a:rPr lang="en-US" altLang="zh-TW" sz="1100" b="1" dirty="0">
                <a:solidFill>
                  <a:srgbClr val="FF0000"/>
                </a:solidFill>
              </a:rPr>
              <a:t>1H23</a:t>
            </a:r>
            <a:r>
              <a:rPr lang="zh-TW" altLang="en-US" sz="1100" b="1" dirty="0">
                <a:solidFill>
                  <a:srgbClr val="FF0000"/>
                </a:solidFill>
              </a:rPr>
              <a:t>營業額年增</a:t>
            </a:r>
            <a:r>
              <a:rPr lang="en-US" altLang="zh-TW" sz="1100" b="1" dirty="0">
                <a:solidFill>
                  <a:srgbClr val="FF0000"/>
                </a:solidFill>
              </a:rPr>
              <a:t>14%</a:t>
            </a:r>
            <a:r>
              <a:rPr lang="zh-TW" altLang="en-US" sz="1100" b="1" dirty="0">
                <a:solidFill>
                  <a:srgbClr val="FF0000"/>
                </a:solidFill>
              </a:rPr>
              <a:t>至</a:t>
            </a:r>
            <a:r>
              <a:rPr lang="en-US" altLang="zh-TW" sz="1100" b="1" dirty="0">
                <a:solidFill>
                  <a:srgbClr val="FF0000"/>
                </a:solidFill>
              </a:rPr>
              <a:t>755</a:t>
            </a:r>
            <a:r>
              <a:rPr lang="zh-TW" altLang="en-US" sz="1100" b="1" dirty="0">
                <a:solidFill>
                  <a:srgbClr val="FF0000"/>
                </a:solidFill>
              </a:rPr>
              <a:t>億歐元，挹注</a:t>
            </a:r>
            <a:r>
              <a:rPr lang="en-US" altLang="zh-TW" sz="1100" b="1" dirty="0">
                <a:solidFill>
                  <a:srgbClr val="FF0000"/>
                </a:solidFill>
              </a:rPr>
              <a:t>EBITDA</a:t>
            </a:r>
            <a:r>
              <a:rPr lang="zh-TW" altLang="en-US" sz="1100" b="1" dirty="0">
                <a:solidFill>
                  <a:srgbClr val="FF0000"/>
                </a:solidFill>
              </a:rPr>
              <a:t>年增</a:t>
            </a:r>
            <a:r>
              <a:rPr lang="en-US" altLang="zh-TW" sz="1100" b="1" dirty="0">
                <a:solidFill>
                  <a:srgbClr val="FF0000"/>
                </a:solidFill>
              </a:rPr>
              <a:t>6</a:t>
            </a:r>
            <a:r>
              <a:rPr lang="zh-TW" altLang="en-US" sz="1100" b="1" dirty="0">
                <a:solidFill>
                  <a:srgbClr val="FF0000"/>
                </a:solidFill>
              </a:rPr>
              <a:t>倍至</a:t>
            </a:r>
            <a:r>
              <a:rPr lang="en-US" altLang="zh-TW" sz="1100" b="1" dirty="0">
                <a:solidFill>
                  <a:srgbClr val="FF0000"/>
                </a:solidFill>
              </a:rPr>
              <a:t>161</a:t>
            </a:r>
            <a:r>
              <a:rPr lang="zh-TW" altLang="en-US" sz="1100" b="1" dirty="0">
                <a:solidFill>
                  <a:srgbClr val="FF0000"/>
                </a:solidFill>
              </a:rPr>
              <a:t>億歐元，稅後轉虧為盈至</a:t>
            </a:r>
            <a:r>
              <a:rPr lang="en-US" altLang="zh-TW" sz="1100" b="1" dirty="0">
                <a:solidFill>
                  <a:srgbClr val="FF0000"/>
                </a:solidFill>
              </a:rPr>
              <a:t>58</a:t>
            </a:r>
            <a:r>
              <a:rPr lang="zh-TW" altLang="en-US" sz="1100" b="1" dirty="0">
                <a:solidFill>
                  <a:srgbClr val="FF0000"/>
                </a:solidFill>
              </a:rPr>
              <a:t>億歐元</a:t>
            </a:r>
            <a:r>
              <a:rPr lang="zh-TW" altLang="en-US" sz="1100" dirty="0"/>
              <a:t>，得益於電價上漲和核發電量增加，以及今年沒有特殊管制措施所支撐。</a:t>
            </a:r>
            <a:endParaRPr lang="en-US" altLang="zh-TW" sz="1100" dirty="0"/>
          </a:p>
          <a:p>
            <a:pPr algn="just">
              <a:lnSpc>
                <a:spcPts val="1600"/>
              </a:lnSpc>
              <a:spcBef>
                <a:spcPts val="600"/>
              </a:spcBef>
            </a:pPr>
            <a:r>
              <a:rPr lang="zh-TW" altLang="en-US" sz="1100" b="1" dirty="0"/>
              <a:t>亮點</a:t>
            </a:r>
            <a:r>
              <a:rPr lang="zh-TW" altLang="en-US" sz="1100" dirty="0"/>
              <a:t>：</a:t>
            </a:r>
            <a:r>
              <a:rPr lang="en-US" altLang="zh-TW" sz="1100" dirty="0"/>
              <a:t>1)</a:t>
            </a:r>
            <a:r>
              <a:rPr lang="zh-TW" altLang="en-US" sz="1100" dirty="0"/>
              <a:t>隨著部分關閉檢修的核反應爐投入營運，公司對今年冬天的低碳電力供應具信心。公司稱</a:t>
            </a:r>
            <a:r>
              <a:rPr lang="en-US" altLang="zh-CN" sz="1100" dirty="0"/>
              <a:t>16</a:t>
            </a:r>
            <a:r>
              <a:rPr lang="zh-CN" altLang="en-US" sz="1100" dirty="0"/>
              <a:t>座對腐蝕最敏感的反應</a:t>
            </a:r>
            <a:r>
              <a:rPr lang="zh-TW" altLang="en-US" sz="1100" dirty="0"/>
              <a:t>爐</a:t>
            </a:r>
            <a:r>
              <a:rPr lang="zh-CN" altLang="en-US" sz="1100" dirty="0"/>
              <a:t>中，有</a:t>
            </a:r>
            <a:r>
              <a:rPr lang="en-US" altLang="zh-CN" sz="1100" dirty="0"/>
              <a:t>11</a:t>
            </a:r>
            <a:r>
              <a:rPr lang="zh-CN" altLang="en-US" sz="1100" dirty="0"/>
              <a:t>座已修復</a:t>
            </a:r>
            <a:r>
              <a:rPr lang="zh-TW" altLang="en-US" sz="1100" dirty="0"/>
              <a:t>、</a:t>
            </a:r>
            <a:r>
              <a:rPr lang="en-US" altLang="zh-TW" sz="1100" dirty="0"/>
              <a:t>2</a:t>
            </a:r>
            <a:r>
              <a:rPr lang="zh-TW" altLang="en-US" sz="1100" dirty="0"/>
              <a:t>座正被</a:t>
            </a:r>
            <a:r>
              <a:rPr lang="zh-CN" altLang="en-US" sz="1100" dirty="0"/>
              <a:t>修</a:t>
            </a:r>
            <a:r>
              <a:rPr lang="zh-TW" altLang="en-US" sz="1100" dirty="0"/>
              <a:t>復、</a:t>
            </a:r>
            <a:r>
              <a:rPr lang="en-US" altLang="zh-TW" sz="1100" dirty="0"/>
              <a:t>2</a:t>
            </a:r>
            <a:r>
              <a:rPr lang="zh-TW" altLang="en-US" sz="1100" dirty="0"/>
              <a:t>座</a:t>
            </a:r>
            <a:r>
              <a:rPr lang="zh-CN" altLang="en-US" sz="1100" dirty="0"/>
              <a:t>將在</a:t>
            </a:r>
            <a:r>
              <a:rPr lang="en-US" altLang="zh-CN" sz="1100" dirty="0"/>
              <a:t>2023</a:t>
            </a:r>
            <a:r>
              <a:rPr lang="zh-CN" altLang="en-US" sz="1100" dirty="0"/>
              <a:t>年底前修好，剩下</a:t>
            </a:r>
            <a:r>
              <a:rPr lang="en-US" altLang="zh-CN" sz="1100" dirty="0"/>
              <a:t>1</a:t>
            </a:r>
            <a:r>
              <a:rPr lang="zh-TW" altLang="en-US" sz="1100" dirty="0"/>
              <a:t>座</a:t>
            </a:r>
            <a:r>
              <a:rPr lang="zh-CN" altLang="en-US" sz="1100" dirty="0"/>
              <a:t>將在下</a:t>
            </a:r>
            <a:r>
              <a:rPr lang="zh-TW" altLang="en-US" sz="1100" dirty="0"/>
              <a:t>個</a:t>
            </a:r>
            <a:r>
              <a:rPr lang="en-US" altLang="zh-TW" sz="1100" dirty="0"/>
              <a:t>10</a:t>
            </a:r>
            <a:r>
              <a:rPr lang="zh-CN" altLang="en-US" sz="1100" dirty="0"/>
              <a:t>年檢查</a:t>
            </a:r>
            <a:r>
              <a:rPr lang="zh-TW" altLang="en-US" sz="1100" dirty="0"/>
              <a:t>期間進行修復；</a:t>
            </a:r>
            <a:r>
              <a:rPr lang="en-US" altLang="zh-TW" sz="1100" dirty="0"/>
              <a:t>2)EDF</a:t>
            </a:r>
            <a:r>
              <a:rPr lang="zh-TW" altLang="en-US" sz="1100" dirty="0"/>
              <a:t>重申</a:t>
            </a:r>
            <a:r>
              <a:rPr lang="en-US" altLang="zh-TW" sz="1100" dirty="0"/>
              <a:t>2023</a:t>
            </a:r>
            <a:r>
              <a:rPr lang="zh-TW" altLang="en-US" sz="1100" dirty="0"/>
              <a:t>年法國核發電量目標為</a:t>
            </a:r>
            <a:r>
              <a:rPr lang="en-US" altLang="zh-TW" sz="1100" dirty="0"/>
              <a:t>300~330TWh</a:t>
            </a:r>
            <a:r>
              <a:rPr lang="zh-TW" altLang="en-US" sz="1100" dirty="0"/>
              <a:t>，並預估明後兩年發電量將逐步攀升；</a:t>
            </a:r>
            <a:r>
              <a:rPr lang="en-US" altLang="zh-TW" sz="1100" dirty="0"/>
              <a:t>3)</a:t>
            </a:r>
            <a:r>
              <a:rPr lang="zh-TW" altLang="en-US" sz="1100" dirty="0"/>
              <a:t>法</a:t>
            </a:r>
            <a:r>
              <a:rPr lang="zh-CN" altLang="en-US" sz="1100" dirty="0"/>
              <a:t>國總統馬克龍</a:t>
            </a:r>
            <a:r>
              <a:rPr lang="en-US" altLang="zh-CN" sz="1100" dirty="0"/>
              <a:t>2022</a:t>
            </a:r>
            <a:r>
              <a:rPr lang="zh-CN" altLang="en-US" sz="1100" dirty="0"/>
              <a:t>年表示</a:t>
            </a:r>
            <a:r>
              <a:rPr lang="zh-TW" altLang="en-US" sz="1100" dirty="0"/>
              <a:t>將發展核能，</a:t>
            </a:r>
            <a:r>
              <a:rPr lang="zh-CN" altLang="en-US" sz="1100" dirty="0"/>
              <a:t>到</a:t>
            </a:r>
            <a:r>
              <a:rPr lang="en-US" altLang="zh-CN" sz="1100" dirty="0"/>
              <a:t>2050</a:t>
            </a:r>
            <a:r>
              <a:rPr lang="zh-CN" altLang="en-US" sz="1100" dirty="0"/>
              <a:t>年建成</a:t>
            </a:r>
            <a:r>
              <a:rPr lang="en-US" altLang="zh-CN" sz="1100" dirty="0"/>
              <a:t>6</a:t>
            </a:r>
            <a:r>
              <a:rPr lang="zh-CN" altLang="en-US" sz="1100" dirty="0"/>
              <a:t>座新一代核反應</a:t>
            </a:r>
            <a:r>
              <a:rPr lang="zh-TW" altLang="en-US" sz="1100" dirty="0"/>
              <a:t>爐；</a:t>
            </a:r>
            <a:r>
              <a:rPr lang="en-US" altLang="zh-TW" sz="1100" dirty="0"/>
              <a:t>4)</a:t>
            </a:r>
            <a:r>
              <a:rPr lang="zh-TW" altLang="en-US" sz="1100" dirty="0"/>
              <a:t>法國政府已自</a:t>
            </a:r>
            <a:r>
              <a:rPr lang="en-US" altLang="zh-TW" sz="1100" dirty="0"/>
              <a:t>2023/</a:t>
            </a:r>
            <a:r>
              <a:rPr lang="en-US" altLang="zh-CN" sz="1100" dirty="0"/>
              <a:t>6/8</a:t>
            </a:r>
            <a:r>
              <a:rPr lang="zh-TW" altLang="en-US" sz="1100" dirty="0"/>
              <a:t>起持有</a:t>
            </a:r>
            <a:r>
              <a:rPr lang="en-US" altLang="zh-TW" sz="1100" dirty="0"/>
              <a:t>EDF </a:t>
            </a:r>
            <a:r>
              <a:rPr lang="en-US" altLang="zh-CN" sz="1100" dirty="0"/>
              <a:t>100%</a:t>
            </a:r>
            <a:r>
              <a:rPr lang="zh-TW" altLang="en-US" sz="1100" dirty="0"/>
              <a:t>股權並退市，希冀透過</a:t>
            </a:r>
            <a:r>
              <a:rPr lang="en-US" altLang="zh-TW" sz="1100" dirty="0"/>
              <a:t>EDF</a:t>
            </a:r>
            <a:r>
              <a:rPr lang="zh-TW" altLang="en-US" sz="1100" dirty="0"/>
              <a:t>完全國有化來降低該集團的融資成本。</a:t>
            </a:r>
            <a:endParaRPr lang="en-US" altLang="zh-TW" sz="1100" dirty="0"/>
          </a:p>
          <a:p>
            <a:pPr algn="just">
              <a:lnSpc>
                <a:spcPts val="1600"/>
              </a:lnSpc>
              <a:spcBef>
                <a:spcPts val="600"/>
              </a:spcBef>
            </a:pPr>
            <a:r>
              <a:rPr lang="zh-TW" altLang="en-US" sz="1100" b="1" dirty="0"/>
              <a:t>風險</a:t>
            </a:r>
            <a:r>
              <a:rPr lang="zh-TW" altLang="en-US" sz="1100" dirty="0"/>
              <a:t>：</a:t>
            </a:r>
            <a:r>
              <a:rPr lang="en-US" altLang="zh-TW" sz="1100" dirty="0"/>
              <a:t>1)</a:t>
            </a:r>
            <a:r>
              <a:rPr lang="zh-TW" altLang="en-US" sz="1100" dirty="0"/>
              <a:t>重大資本支出計劃將導致自由現金流持續為負值；</a:t>
            </a:r>
            <a:r>
              <a:rPr lang="en-US" altLang="zh-TW" sz="1100" dirty="0"/>
              <a:t>2)</a:t>
            </a:r>
            <a:r>
              <a:rPr lang="zh-TW" altLang="en-US" sz="1100" dirty="0"/>
              <a:t>當前正在進行的法國新核能機組</a:t>
            </a:r>
            <a:r>
              <a:rPr lang="en-US" altLang="zh-TW" sz="1100" dirty="0" err="1"/>
              <a:t>Flamanville</a:t>
            </a:r>
            <a:r>
              <a:rPr lang="en-US" altLang="zh-TW" sz="1100" dirty="0"/>
              <a:t> 3</a:t>
            </a:r>
            <a:r>
              <a:rPr lang="zh-TW" altLang="en-US" sz="1100" dirty="0"/>
              <a:t>號機及英國</a:t>
            </a:r>
            <a:r>
              <a:rPr lang="zh-CN" altLang="en-US" sz="1100" dirty="0"/>
              <a:t>欣克利角</a:t>
            </a:r>
            <a:r>
              <a:rPr lang="en-US" altLang="zh-CN" sz="1100" dirty="0"/>
              <a:t>C</a:t>
            </a:r>
            <a:r>
              <a:rPr lang="zh-CN" altLang="en-US" sz="1100" dirty="0"/>
              <a:t>核電</a:t>
            </a:r>
            <a:r>
              <a:rPr lang="zh-TW" altLang="en-US" sz="1100" dirty="0"/>
              <a:t>廠</a:t>
            </a:r>
            <a:r>
              <a:rPr lang="en-US" altLang="zh-TW" sz="1100" dirty="0"/>
              <a:t>(</a:t>
            </a:r>
            <a:r>
              <a:rPr lang="en-US" altLang="zh-TW" sz="1100" dirty="0" err="1"/>
              <a:t>Hinkley</a:t>
            </a:r>
            <a:r>
              <a:rPr lang="en-US" altLang="zh-TW" sz="1100" dirty="0"/>
              <a:t> Point C)</a:t>
            </a:r>
            <a:r>
              <a:rPr lang="zh-TW" altLang="en-US" sz="1100" dirty="0"/>
              <a:t>皆面臨著大規模延誤和額外成本負擔。</a:t>
            </a:r>
            <a:endParaRPr lang="en-US" altLang="zh-TW" sz="1100" dirty="0"/>
          </a:p>
        </p:txBody>
      </p:sp>
      <p:graphicFrame>
        <p:nvGraphicFramePr>
          <p:cNvPr id="22" name="圖表 21"/>
          <p:cNvGraphicFramePr/>
          <p:nvPr>
            <p:extLst>
              <p:ext uri="{D42A27DB-BD31-4B8C-83A1-F6EECF244321}">
                <p14:modId xmlns:p14="http://schemas.microsoft.com/office/powerpoint/2010/main" val="2660754156"/>
              </p:ext>
            </p:extLst>
          </p:nvPr>
        </p:nvGraphicFramePr>
        <p:xfrm>
          <a:off x="4570278" y="2996952"/>
          <a:ext cx="2186894" cy="136815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3" name="圖表 22"/>
          <p:cNvGraphicFramePr/>
          <p:nvPr>
            <p:extLst>
              <p:ext uri="{D42A27DB-BD31-4B8C-83A1-F6EECF244321}">
                <p14:modId xmlns:p14="http://schemas.microsoft.com/office/powerpoint/2010/main" val="1368005271"/>
              </p:ext>
            </p:extLst>
          </p:nvPr>
        </p:nvGraphicFramePr>
        <p:xfrm>
          <a:off x="6654948" y="2996952"/>
          <a:ext cx="2250575" cy="1368152"/>
        </p:xfrm>
        <a:graphic>
          <a:graphicData uri="http://schemas.openxmlformats.org/drawingml/2006/chart">
            <c:chart xmlns:c="http://schemas.openxmlformats.org/drawingml/2006/chart" xmlns:r="http://schemas.openxmlformats.org/officeDocument/2006/relationships" r:id="rId6"/>
          </a:graphicData>
        </a:graphic>
      </p:graphicFrame>
      <p:sp>
        <p:nvSpPr>
          <p:cNvPr id="24" name="圓角矩形 36">
            <a:extLst>
              <a:ext uri="{FF2B5EF4-FFF2-40B4-BE49-F238E27FC236}">
                <a16:creationId xmlns:a16="http://schemas.microsoft.com/office/drawing/2014/main" id="{5260B2CD-FEE4-47F6-BD3F-4145A777A1CE}"/>
              </a:ext>
            </a:extLst>
          </p:cNvPr>
          <p:cNvSpPr/>
          <p:nvPr/>
        </p:nvSpPr>
        <p:spPr>
          <a:xfrm>
            <a:off x="4624281" y="4365104"/>
            <a:ext cx="4248472" cy="472048"/>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solidFill>
                  <a:schemeClr val="bg1"/>
                </a:solidFill>
                <a:latin typeface="微軟正黑體" panose="020B0604030504040204" pitchFamily="34" charset="-120"/>
                <a:ea typeface="微軟正黑體" panose="020B0604030504040204" pitchFamily="34" charset="-120"/>
              </a:rPr>
              <a:t>繼</a:t>
            </a:r>
            <a:r>
              <a:rPr lang="en-US" altLang="zh-TW" sz="1200" b="1" dirty="0">
                <a:solidFill>
                  <a:schemeClr val="bg1"/>
                </a:solidFill>
                <a:latin typeface="微軟正黑體" panose="020B0604030504040204" pitchFamily="34" charset="-120"/>
                <a:ea typeface="微軟正黑體" panose="020B0604030504040204" pitchFamily="34" charset="-120"/>
              </a:rPr>
              <a:t>2022</a:t>
            </a:r>
            <a:r>
              <a:rPr lang="zh-TW" altLang="en-US" sz="1200" b="1" dirty="0">
                <a:solidFill>
                  <a:schemeClr val="bg1"/>
                </a:solidFill>
                <a:latin typeface="微軟正黑體" panose="020B0604030504040204" pitchFamily="34" charset="-120"/>
                <a:ea typeface="微軟正黑體" panose="020B0604030504040204" pitchFamily="34" charset="-120"/>
              </a:rPr>
              <a:t>年法國發電和供電業務表現疲軟後，</a:t>
            </a:r>
            <a:endParaRPr lang="en-US" altLang="zh-TW" sz="1200" b="1" dirty="0">
              <a:solidFill>
                <a:schemeClr val="bg1"/>
              </a:solidFill>
              <a:latin typeface="微軟正黑體" panose="020B0604030504040204" pitchFamily="34" charset="-120"/>
              <a:ea typeface="微軟正黑體" panose="020B0604030504040204" pitchFamily="34" charset="-120"/>
            </a:endParaRPr>
          </a:p>
          <a:p>
            <a:pPr algn="ctr"/>
            <a:r>
              <a:rPr lang="zh-TW" altLang="en-US" sz="1200" b="1" dirty="0">
                <a:solidFill>
                  <a:schemeClr val="bg1"/>
                </a:solidFill>
                <a:latin typeface="微軟正黑體" panose="020B0604030504040204" pitchFamily="34" charset="-120"/>
                <a:ea typeface="微軟正黑體" panose="020B0604030504040204" pitchFamily="34" charset="-120"/>
              </a:rPr>
              <a:t>穆迪預期</a:t>
            </a:r>
            <a:r>
              <a:rPr lang="en-US" altLang="zh-TW" sz="1200" b="1" dirty="0">
                <a:solidFill>
                  <a:schemeClr val="bg1"/>
                </a:solidFill>
                <a:latin typeface="微軟正黑體" panose="020B0604030504040204" pitchFamily="34" charset="-120"/>
                <a:ea typeface="微軟正黑體" panose="020B0604030504040204" pitchFamily="34" charset="-120"/>
              </a:rPr>
              <a:t>EDF</a:t>
            </a:r>
            <a:r>
              <a:rPr lang="zh-TW" altLang="en-US" sz="1200" b="1" dirty="0">
                <a:solidFill>
                  <a:schemeClr val="bg1"/>
                </a:solidFill>
                <a:latin typeface="微軟正黑體" panose="020B0604030504040204" pitchFamily="34" charset="-120"/>
                <a:ea typeface="微軟正黑體" panose="020B0604030504040204" pitchFamily="34" charset="-120"/>
              </a:rPr>
              <a:t>將受益當前有利的市場條件</a:t>
            </a:r>
            <a:endParaRPr lang="en-US" altLang="zh-TW" sz="1200" b="1" dirty="0">
              <a:solidFill>
                <a:schemeClr val="bg1"/>
              </a:solidFill>
              <a:latin typeface="微軟正黑體" panose="020B0604030504040204" pitchFamily="34" charset="-120"/>
              <a:ea typeface="微軟正黑體" panose="020B0604030504040204" pitchFamily="34" charset="-120"/>
            </a:endParaRPr>
          </a:p>
        </p:txBody>
      </p:sp>
      <p:pic>
        <p:nvPicPr>
          <p:cNvPr id="2" name="圖片 1"/>
          <p:cNvPicPr>
            <a:picLocks noChangeAspect="1"/>
          </p:cNvPicPr>
          <p:nvPr/>
        </p:nvPicPr>
        <p:blipFill rotWithShape="1">
          <a:blip r:embed="rId7"/>
          <a:srcRect t="3756"/>
          <a:stretch/>
        </p:blipFill>
        <p:spPr>
          <a:xfrm>
            <a:off x="4612570" y="5040439"/>
            <a:ext cx="4260183" cy="1380055"/>
          </a:xfrm>
          <a:prstGeom prst="rect">
            <a:avLst/>
          </a:prstGeom>
        </p:spPr>
      </p:pic>
      <p:pic>
        <p:nvPicPr>
          <p:cNvPr id="9" name="圖片 8"/>
          <p:cNvPicPr>
            <a:picLocks noChangeAspect="1"/>
          </p:cNvPicPr>
          <p:nvPr/>
        </p:nvPicPr>
        <p:blipFill>
          <a:blip r:embed="rId8"/>
          <a:stretch>
            <a:fillRect/>
          </a:stretch>
        </p:blipFill>
        <p:spPr>
          <a:xfrm>
            <a:off x="5053492" y="4869160"/>
            <a:ext cx="3262924" cy="139271"/>
          </a:xfrm>
          <a:prstGeom prst="rect">
            <a:avLst/>
          </a:prstGeom>
        </p:spPr>
      </p:pic>
      <p:sp>
        <p:nvSpPr>
          <p:cNvPr id="10" name="矩形 9"/>
          <p:cNvSpPr/>
          <p:nvPr/>
        </p:nvSpPr>
        <p:spPr>
          <a:xfrm>
            <a:off x="4888908" y="5908781"/>
            <a:ext cx="2058577" cy="246221"/>
          </a:xfrm>
          <a:prstGeom prst="rect">
            <a:avLst/>
          </a:prstGeom>
        </p:spPr>
        <p:txBody>
          <a:bodyPr wrap="none">
            <a:spAutoFit/>
          </a:bodyPr>
          <a:lstStyle/>
          <a:p>
            <a:r>
              <a:rPr lang="zh-TW" altLang="en-US" sz="1000" b="1" dirty="0"/>
              <a:t>各業務部門別的</a:t>
            </a:r>
            <a:r>
              <a:rPr lang="en-US" altLang="zh-TW" sz="1000" b="1" dirty="0"/>
              <a:t>EBITDA</a:t>
            </a:r>
            <a:r>
              <a:rPr lang="zh-TW" altLang="en-US" sz="1000" b="1" dirty="0"/>
              <a:t>年度表現</a:t>
            </a:r>
          </a:p>
        </p:txBody>
      </p:sp>
    </p:spTree>
    <p:extLst>
      <p:ext uri="{BB962C8B-B14F-4D97-AF65-F5344CB8AC3E}">
        <p14:creationId xmlns:p14="http://schemas.microsoft.com/office/powerpoint/2010/main" val="1157785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6EF0A8B5-88FD-4B5B-A03C-4DBB95EB11C3}"/>
              </a:ext>
            </a:extLst>
          </p:cNvPr>
          <p:cNvSpPr>
            <a:spLocks noGrp="1"/>
          </p:cNvSpPr>
          <p:nvPr>
            <p:ph type="sldNum" sz="quarter" idx="10"/>
          </p:nvPr>
        </p:nvSpPr>
        <p:spPr/>
        <p:txBody>
          <a:bodyPr/>
          <a:lstStyle/>
          <a:p>
            <a:fld id="{415482FC-CF5F-466A-B8B6-BC3733E92023}" type="slidenum">
              <a:rPr lang="zh-TW" altLang="en-US" smtClean="0"/>
              <a:pPr/>
              <a:t>5</a:t>
            </a:fld>
            <a:endParaRPr lang="zh-TW" altLang="en-US" dirty="0"/>
          </a:p>
        </p:txBody>
      </p:sp>
      <p:sp>
        <p:nvSpPr>
          <p:cNvPr id="11" name="標題 1">
            <a:extLst>
              <a:ext uri="{FF2B5EF4-FFF2-40B4-BE49-F238E27FC236}">
                <a16:creationId xmlns:a16="http://schemas.microsoft.com/office/drawing/2014/main" id="{1F6C633C-FD3F-4225-8F6B-2A885AD6D4DE}"/>
              </a:ext>
            </a:extLst>
          </p:cNvPr>
          <p:cNvSpPr txBox="1">
            <a:spLocks/>
          </p:cNvSpPr>
          <p:nvPr/>
        </p:nvSpPr>
        <p:spPr bwMode="auto">
          <a:xfrm>
            <a:off x="229944" y="161162"/>
            <a:ext cx="776452" cy="633413"/>
          </a:xfrm>
          <a:prstGeom prst="rect">
            <a:avLst/>
          </a:prstGeom>
          <a:solidFill>
            <a:srgbClr val="C00000"/>
          </a:solidFill>
          <a:ln>
            <a:noFill/>
          </a:ln>
        </p:spPr>
        <p:txBody>
          <a:bodyPr anchor="ctr">
            <a:noAutofit/>
          </a:bodyPr>
          <a:lstStyle>
            <a:lvl1pPr algn="l" rtl="0" eaLnBrk="0" fontAlgn="base" hangingPunct="0">
              <a:spcBef>
                <a:spcPct val="0"/>
              </a:spcBef>
              <a:spcAft>
                <a:spcPct val="0"/>
              </a:spcAft>
              <a:defRPr kumimoji="1" sz="3000" b="1">
                <a:solidFill>
                  <a:schemeClr val="tx2"/>
                </a:solidFill>
                <a:latin typeface="+mj-lt"/>
                <a:ea typeface="+mj-ea"/>
                <a:cs typeface="+mj-cs"/>
              </a:defRPr>
            </a:lvl1pPr>
            <a:lvl2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algn="l" rtl="0" fontAlgn="base">
              <a:spcBef>
                <a:spcPct val="0"/>
              </a:spcBef>
              <a:spcAft>
                <a:spcPct val="0"/>
              </a:spcAft>
              <a:defRPr kumimoji="1" sz="3000" b="1">
                <a:solidFill>
                  <a:schemeClr val="tx2"/>
                </a:solidFill>
                <a:latin typeface="標楷體" pitchFamily="65" charset="-120"/>
                <a:ea typeface="標楷體" pitchFamily="65" charset="-120"/>
              </a:defRPr>
            </a:lvl6pPr>
            <a:lvl7pPr marL="914400" algn="l" rtl="0" fontAlgn="base">
              <a:spcBef>
                <a:spcPct val="0"/>
              </a:spcBef>
              <a:spcAft>
                <a:spcPct val="0"/>
              </a:spcAft>
              <a:defRPr kumimoji="1" sz="3000" b="1">
                <a:solidFill>
                  <a:schemeClr val="tx2"/>
                </a:solidFill>
                <a:latin typeface="標楷體" pitchFamily="65" charset="-120"/>
                <a:ea typeface="標楷體" pitchFamily="65" charset="-120"/>
              </a:defRPr>
            </a:lvl7pPr>
            <a:lvl8pPr marL="1371600" algn="l" rtl="0" fontAlgn="base">
              <a:spcBef>
                <a:spcPct val="0"/>
              </a:spcBef>
              <a:spcAft>
                <a:spcPct val="0"/>
              </a:spcAft>
              <a:defRPr kumimoji="1" sz="3000" b="1">
                <a:solidFill>
                  <a:schemeClr val="tx2"/>
                </a:solidFill>
                <a:latin typeface="標楷體" pitchFamily="65" charset="-120"/>
                <a:ea typeface="標楷體" pitchFamily="65" charset="-120"/>
              </a:defRPr>
            </a:lvl8pPr>
            <a:lvl9pPr marL="1828800" algn="l" rtl="0" fontAlgn="base">
              <a:spcBef>
                <a:spcPct val="0"/>
              </a:spcBef>
              <a:spcAft>
                <a:spcPct val="0"/>
              </a:spcAft>
              <a:defRPr kumimoji="1" sz="3000" b="1">
                <a:solidFill>
                  <a:schemeClr val="tx2"/>
                </a:solidFill>
                <a:latin typeface="標楷體" pitchFamily="65" charset="-120"/>
                <a:ea typeface="標楷體" pitchFamily="65" charset="-120"/>
              </a:defRPr>
            </a:lvl9pPr>
          </a:lstStyle>
          <a:p>
            <a:pPr algn="ctr">
              <a:defRPr/>
            </a:pPr>
            <a:r>
              <a:rPr lang="zh-TW" altLang="en-US" sz="2000" kern="0" dirty="0">
                <a:solidFill>
                  <a:schemeClr val="bg1"/>
                </a:solidFill>
              </a:rPr>
              <a:t>信用表現</a:t>
            </a:r>
          </a:p>
        </p:txBody>
      </p:sp>
      <p:sp>
        <p:nvSpPr>
          <p:cNvPr id="12" name="標題 1">
            <a:extLst>
              <a:ext uri="{FF2B5EF4-FFF2-40B4-BE49-F238E27FC236}">
                <a16:creationId xmlns:a16="http://schemas.microsoft.com/office/drawing/2014/main" id="{EEAC3B23-009C-42B9-AD90-EBE9DCD17178}"/>
              </a:ext>
            </a:extLst>
          </p:cNvPr>
          <p:cNvSpPr txBox="1">
            <a:spLocks noChangeArrowheads="1"/>
          </p:cNvSpPr>
          <p:nvPr/>
        </p:nvSpPr>
        <p:spPr>
          <a:xfrm>
            <a:off x="1053599" y="142648"/>
            <a:ext cx="7141365" cy="633413"/>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defRPr/>
            </a:pPr>
            <a:r>
              <a:rPr lang="zh-TW" altLang="en-US" sz="2400" dirty="0"/>
              <a:t>法國政府成為</a:t>
            </a:r>
            <a:r>
              <a:rPr lang="en-US" altLang="zh-TW" sz="2400" dirty="0"/>
              <a:t>EDF</a:t>
            </a:r>
            <a:r>
              <a:rPr lang="zh-TW" altLang="en-US" sz="2400" dirty="0"/>
              <a:t>堅實後盾</a:t>
            </a:r>
          </a:p>
        </p:txBody>
      </p:sp>
      <p:sp>
        <p:nvSpPr>
          <p:cNvPr id="16" name="文字方塊 30">
            <a:extLst>
              <a:ext uri="{FF2B5EF4-FFF2-40B4-BE49-F238E27FC236}">
                <a16:creationId xmlns:a16="http://schemas.microsoft.com/office/drawing/2014/main" id="{9556191C-8845-4178-962E-5B7639354AEC}"/>
              </a:ext>
            </a:extLst>
          </p:cNvPr>
          <p:cNvSpPr txBox="1">
            <a:spLocks noChangeArrowheads="1"/>
          </p:cNvSpPr>
          <p:nvPr/>
        </p:nvSpPr>
        <p:spPr bwMode="auto">
          <a:xfrm>
            <a:off x="411545" y="6530454"/>
            <a:ext cx="643413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1pPr>
            <a:lvl2pPr marL="742950" indent="-285750">
              <a:spcBef>
                <a:spcPct val="20000"/>
              </a:spcBef>
              <a:buClr>
                <a:srgbClr val="FF3300"/>
              </a:buClr>
              <a:buFont typeface="Wingdings" panose="05000000000000000000" pitchFamily="2" charset="2"/>
              <a:buChar char="n"/>
              <a:defRPr kumimoji="1" sz="2000" b="1">
                <a:solidFill>
                  <a:schemeClr val="tx1"/>
                </a:solidFill>
                <a:latin typeface="Arial" panose="020B0604020202020204" pitchFamily="34" charset="0"/>
                <a:ea typeface="標楷體" panose="03000509000000000000" pitchFamily="65" charset="-120"/>
              </a:defRPr>
            </a:lvl2pPr>
            <a:lvl3pPr marL="1143000" indent="-228600">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None/>
            </a:pPr>
            <a:r>
              <a:rPr lang="zh-TW" altLang="en-US" sz="800" b="0" dirty="0">
                <a:latin typeface="+mj-ea"/>
                <a:ea typeface="+mj-ea"/>
              </a:rPr>
              <a:t>資料來源：穆迪、惠譽、彭博 </a:t>
            </a:r>
            <a:r>
              <a:rPr lang="en-US" altLang="zh-TW" sz="800" b="0" dirty="0">
                <a:latin typeface="+mj-ea"/>
                <a:ea typeface="+mj-ea"/>
              </a:rPr>
              <a:t>| </a:t>
            </a:r>
            <a:r>
              <a:rPr lang="zh-TW" altLang="en-US" sz="800" b="0" dirty="0">
                <a:latin typeface="微軟正黑體" panose="020B0604030504040204" pitchFamily="34" charset="-120"/>
                <a:ea typeface="微軟正黑體" panose="020B0604030504040204" pitchFamily="34" charset="-120"/>
              </a:rPr>
              <a:t>註：穆迪預期圖來自穆迪</a:t>
            </a:r>
            <a:r>
              <a:rPr lang="en-US" altLang="zh-TW" sz="800" b="0" dirty="0">
                <a:latin typeface="微軟正黑體" panose="020B0604030504040204" pitchFamily="34" charset="-120"/>
                <a:ea typeface="微軟正黑體" panose="020B0604030504040204" pitchFamily="34" charset="-120"/>
              </a:rPr>
              <a:t>2023/6/6</a:t>
            </a:r>
            <a:r>
              <a:rPr lang="zh-TW" altLang="en-US" sz="800" b="0" dirty="0">
                <a:latin typeface="微軟正黑體" panose="020B0604030504040204" pitchFamily="34" charset="-120"/>
                <a:ea typeface="微軟正黑體" panose="020B0604030504040204" pitchFamily="34" charset="-120"/>
              </a:rPr>
              <a:t>信用意見報告；債務到期更新至</a:t>
            </a:r>
            <a:r>
              <a:rPr lang="en-US" altLang="zh-TW" sz="800" b="0" dirty="0">
                <a:latin typeface="微軟正黑體" panose="020B0604030504040204" pitchFamily="34" charset="-120"/>
                <a:ea typeface="微軟正黑體" panose="020B0604030504040204" pitchFamily="34" charset="-120"/>
              </a:rPr>
              <a:t>2023/9/14</a:t>
            </a:r>
            <a:endParaRPr lang="zh-TW" altLang="en-US" sz="800" b="0" dirty="0">
              <a:latin typeface="+mj-ea"/>
              <a:ea typeface="+mj-ea"/>
            </a:endParaRPr>
          </a:p>
        </p:txBody>
      </p:sp>
      <p:graphicFrame>
        <p:nvGraphicFramePr>
          <p:cNvPr id="21" name="表格 20">
            <a:extLst>
              <a:ext uri="{FF2B5EF4-FFF2-40B4-BE49-F238E27FC236}">
                <a16:creationId xmlns:a16="http://schemas.microsoft.com/office/drawing/2014/main" id="{9442BF18-3693-438F-888C-033744E3D115}"/>
              </a:ext>
            </a:extLst>
          </p:cNvPr>
          <p:cNvGraphicFramePr>
            <a:graphicFrameLocks noGrp="1"/>
          </p:cNvGraphicFramePr>
          <p:nvPr>
            <p:extLst>
              <p:ext uri="{D42A27DB-BD31-4B8C-83A1-F6EECF244321}">
                <p14:modId xmlns:p14="http://schemas.microsoft.com/office/powerpoint/2010/main" val="1923835514"/>
              </p:ext>
            </p:extLst>
          </p:nvPr>
        </p:nvGraphicFramePr>
        <p:xfrm>
          <a:off x="318052" y="1305997"/>
          <a:ext cx="4742435" cy="2822032"/>
        </p:xfrm>
        <a:graphic>
          <a:graphicData uri="http://schemas.openxmlformats.org/drawingml/2006/table">
            <a:tbl>
              <a:tblPr firstRow="1" bandRow="1">
                <a:tableStyleId>{F5AB1C69-6EDB-4FF4-983F-18BD219EF322}</a:tableStyleId>
              </a:tblPr>
              <a:tblGrid>
                <a:gridCol w="1054156">
                  <a:extLst>
                    <a:ext uri="{9D8B030D-6E8A-4147-A177-3AD203B41FA5}">
                      <a16:colId xmlns:a16="http://schemas.microsoft.com/office/drawing/2014/main" val="20000"/>
                    </a:ext>
                  </a:extLst>
                </a:gridCol>
                <a:gridCol w="1085523">
                  <a:extLst>
                    <a:ext uri="{9D8B030D-6E8A-4147-A177-3AD203B41FA5}">
                      <a16:colId xmlns:a16="http://schemas.microsoft.com/office/drawing/2014/main" val="20001"/>
                    </a:ext>
                  </a:extLst>
                </a:gridCol>
                <a:gridCol w="1301378">
                  <a:extLst>
                    <a:ext uri="{9D8B030D-6E8A-4147-A177-3AD203B41FA5}">
                      <a16:colId xmlns:a16="http://schemas.microsoft.com/office/drawing/2014/main" val="4281322441"/>
                    </a:ext>
                  </a:extLst>
                </a:gridCol>
                <a:gridCol w="1301378">
                  <a:extLst>
                    <a:ext uri="{9D8B030D-6E8A-4147-A177-3AD203B41FA5}">
                      <a16:colId xmlns:a16="http://schemas.microsoft.com/office/drawing/2014/main" val="3420147475"/>
                    </a:ext>
                  </a:extLst>
                </a:gridCol>
              </a:tblGrid>
              <a:tr h="0">
                <a:tc>
                  <a:txBody>
                    <a:bodyPr/>
                    <a:lstStyle/>
                    <a:p>
                      <a:r>
                        <a:rPr lang="zh-TW" altLang="en-US" sz="1200" b="1" dirty="0">
                          <a:solidFill>
                            <a:schemeClr val="tx1"/>
                          </a:solidFill>
                          <a:latin typeface="+mn-ea"/>
                          <a:ea typeface="+mn-ea"/>
                        </a:rPr>
                        <a:t>優先無擔保</a:t>
                      </a:r>
                      <a:endParaRPr lang="en-US" altLang="zh-TW" sz="1200" b="1" dirty="0">
                        <a:solidFill>
                          <a:schemeClr val="tx1"/>
                        </a:solidFill>
                        <a:latin typeface="+mn-ea"/>
                        <a:ea typeface="+mn-ea"/>
                      </a:endParaRPr>
                    </a:p>
                  </a:txBody>
                  <a:tcPr marL="91453" marR="91453" marT="45743" marB="45743" anchor="ctr" anchorCtr="1">
                    <a:noFill/>
                  </a:tcPr>
                </a:tc>
                <a:tc>
                  <a:txBody>
                    <a:bodyPr/>
                    <a:lstStyle/>
                    <a:p>
                      <a:pPr algn="ctr" fontAlgn="ctr"/>
                      <a:r>
                        <a:rPr lang="en-US" sz="1200" b="1" i="0" u="none" strike="noStrike" dirty="0">
                          <a:solidFill>
                            <a:schemeClr val="tx1"/>
                          </a:solidFill>
                          <a:effectLst/>
                          <a:latin typeface="微軟正黑體" panose="020B0604030504040204" pitchFamily="34" charset="-120"/>
                          <a:ea typeface="微軟正黑體" panose="020B0604030504040204" pitchFamily="34" charset="-120"/>
                        </a:rPr>
                        <a:t>Baa1</a:t>
                      </a:r>
                    </a:p>
                  </a:txBody>
                  <a:tcPr marL="9525" marR="9525" marT="9525" marB="0" anchor="ctr">
                    <a:noFill/>
                  </a:tcPr>
                </a:tc>
                <a:tc>
                  <a:txBody>
                    <a:bodyPr/>
                    <a:lstStyle/>
                    <a:p>
                      <a:pPr algn="ctr" fontAlgn="ctr"/>
                      <a:r>
                        <a:rPr lang="en-US" sz="1200" b="1" i="0" u="none" strike="noStrike" dirty="0">
                          <a:solidFill>
                            <a:schemeClr val="tx1"/>
                          </a:solidFill>
                          <a:effectLst/>
                          <a:latin typeface="微軟正黑體" panose="020B0604030504040204" pitchFamily="34" charset="-120"/>
                          <a:ea typeface="微軟正黑體" panose="020B0604030504040204" pitchFamily="34" charset="-120"/>
                        </a:rPr>
                        <a:t>BBB</a:t>
                      </a:r>
                    </a:p>
                  </a:txBody>
                  <a:tcPr marL="9525" marR="9525" marT="9525" marB="0" anchor="ctr">
                    <a:noFill/>
                  </a:tcPr>
                </a:tc>
                <a:tc>
                  <a:txBody>
                    <a:bodyPr/>
                    <a:lstStyle/>
                    <a:p>
                      <a:pPr algn="ctr" fontAlgn="ctr"/>
                      <a:r>
                        <a:rPr lang="en-US" sz="1200" b="1" i="0" u="none" strike="noStrike" dirty="0">
                          <a:solidFill>
                            <a:schemeClr val="tx1"/>
                          </a:solidFill>
                          <a:effectLst/>
                          <a:latin typeface="微軟正黑體" panose="020B0604030504040204" pitchFamily="34" charset="-120"/>
                          <a:ea typeface="微軟正黑體" panose="020B0604030504040204" pitchFamily="34" charset="-120"/>
                        </a:rPr>
                        <a:t>BBB+</a:t>
                      </a:r>
                    </a:p>
                  </a:txBody>
                  <a:tcPr marL="9525" marR="9525" marT="9525" marB="0" anchor="ctr">
                    <a:noFill/>
                  </a:tcPr>
                </a:tc>
                <a:extLst>
                  <a:ext uri="{0D108BD9-81ED-4DB2-BD59-A6C34878D82A}">
                    <a16:rowId xmlns:a16="http://schemas.microsoft.com/office/drawing/2014/main" val="10001"/>
                  </a:ext>
                </a:extLst>
              </a:tr>
              <a:tr h="0">
                <a:tc>
                  <a:txBody>
                    <a:bodyPr/>
                    <a:lstStyle/>
                    <a:p>
                      <a:pPr algn="ctr">
                        <a:lnSpc>
                          <a:spcPts val="1200"/>
                        </a:lnSpc>
                      </a:pPr>
                      <a:r>
                        <a:rPr lang="zh-TW" altLang="en-US" sz="1200" b="1" dirty="0">
                          <a:solidFill>
                            <a:schemeClr val="tx1"/>
                          </a:solidFill>
                          <a:latin typeface="+mn-ea"/>
                          <a:ea typeface="+mn-ea"/>
                        </a:rPr>
                        <a:t>評等展望</a:t>
                      </a:r>
                    </a:p>
                  </a:txBody>
                  <a:tcPr anchor="ctr">
                    <a:noFill/>
                  </a:tcPr>
                </a:tc>
                <a:tc>
                  <a:txBody>
                    <a:bodyPr/>
                    <a:lstStyle/>
                    <a:p>
                      <a:pPr algn="ctr" fontAlgn="ctr"/>
                      <a:r>
                        <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rPr>
                        <a:t>穩定</a:t>
                      </a:r>
                    </a:p>
                  </a:txBody>
                  <a:tcPr marL="9525" marR="9525" marT="9525" marB="0" anchor="ctr">
                    <a:noFill/>
                  </a:tcPr>
                </a:tc>
                <a:tc>
                  <a:txBody>
                    <a:bodyPr/>
                    <a:lstStyle/>
                    <a:p>
                      <a:pPr algn="ctr" fontAlgn="ctr"/>
                      <a:r>
                        <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rPr>
                        <a:t>穩定</a:t>
                      </a:r>
                    </a:p>
                  </a:txBody>
                  <a:tcPr marL="9525" marR="9525" marT="9525" marB="0" anchor="ctr">
                    <a:noFill/>
                  </a:tcPr>
                </a:tc>
                <a:tc>
                  <a:txBody>
                    <a:bodyPr/>
                    <a:lstStyle/>
                    <a:p>
                      <a:pPr algn="ctr" fontAlgn="ctr"/>
                      <a:r>
                        <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rPr>
                        <a:t>穩定</a:t>
                      </a:r>
                    </a:p>
                  </a:txBody>
                  <a:tcPr marL="9525" marR="9525" marT="9525" marB="0" anchor="ctr">
                    <a:noFill/>
                  </a:tcPr>
                </a:tc>
                <a:extLst>
                  <a:ext uri="{0D108BD9-81ED-4DB2-BD59-A6C34878D82A}">
                    <a16:rowId xmlns:a16="http://schemas.microsoft.com/office/drawing/2014/main" val="196673928"/>
                  </a:ext>
                </a:extLst>
              </a:tr>
              <a:tr h="0">
                <a:tc>
                  <a:txBody>
                    <a:bodyPr/>
                    <a:lstStyle/>
                    <a:p>
                      <a:pPr algn="ctr">
                        <a:lnSpc>
                          <a:spcPts val="1200"/>
                        </a:lnSpc>
                      </a:pPr>
                      <a:r>
                        <a:rPr lang="zh-TW" altLang="en-US" sz="1200" b="1" dirty="0">
                          <a:solidFill>
                            <a:schemeClr val="tx1"/>
                          </a:solidFill>
                          <a:latin typeface="+mn-ea"/>
                          <a:ea typeface="+mn-ea"/>
                        </a:rPr>
                        <a:t>展望發佈日</a:t>
                      </a:r>
                    </a:p>
                  </a:txBody>
                  <a:tcPr anchor="ctr">
                    <a:noFill/>
                  </a:tcPr>
                </a:tc>
                <a:tc>
                  <a:txBody>
                    <a:bodyPr/>
                    <a:lstStyle/>
                    <a:p>
                      <a:pPr algn="ctr" fontAlgn="ctr"/>
                      <a:r>
                        <a:rPr lang="en-US" altLang="zh-TW" sz="1200" b="1" i="0" u="none" strike="noStrike" dirty="0">
                          <a:solidFill>
                            <a:schemeClr val="tx1"/>
                          </a:solidFill>
                          <a:effectLst/>
                          <a:latin typeface="微軟正黑體" panose="020B0604030504040204" pitchFamily="34" charset="-120"/>
                          <a:ea typeface="微軟正黑體" panose="020B0604030504040204" pitchFamily="34" charset="-120"/>
                        </a:rPr>
                        <a:t>2023/6/1</a:t>
                      </a:r>
                    </a:p>
                  </a:txBody>
                  <a:tcPr marL="9525" marR="9525" marT="9525" marB="0" anchor="ctr">
                    <a:noFill/>
                  </a:tcPr>
                </a:tc>
                <a:tc>
                  <a:txBody>
                    <a:bodyPr/>
                    <a:lstStyle/>
                    <a:p>
                      <a:pPr algn="ctr" fontAlgn="ctr"/>
                      <a:r>
                        <a:rPr lang="en-US" altLang="zh-TW" sz="1200" b="1" i="0" u="none" strike="noStrike" dirty="0">
                          <a:solidFill>
                            <a:schemeClr val="tx1"/>
                          </a:solidFill>
                          <a:effectLst/>
                          <a:latin typeface="微軟正黑體" panose="020B0604030504040204" pitchFamily="34" charset="-120"/>
                          <a:ea typeface="微軟正黑體" panose="020B0604030504040204" pitchFamily="34" charset="-120"/>
                        </a:rPr>
                        <a:t>2022/12/14</a:t>
                      </a:r>
                    </a:p>
                  </a:txBody>
                  <a:tcPr marL="9525" marR="9525" marT="9525" marB="0" anchor="ctr">
                    <a:noFill/>
                  </a:tcPr>
                </a:tc>
                <a:tc>
                  <a:txBody>
                    <a:bodyPr/>
                    <a:lstStyle/>
                    <a:p>
                      <a:pPr algn="ctr" fontAlgn="ctr"/>
                      <a:r>
                        <a:rPr lang="en-US" altLang="zh-TW" sz="1200" b="1" i="0" u="none" strike="noStrike" dirty="0">
                          <a:solidFill>
                            <a:schemeClr val="tx1"/>
                          </a:solidFill>
                          <a:effectLst/>
                          <a:latin typeface="微軟正黑體" panose="020B0604030504040204" pitchFamily="34" charset="-120"/>
                          <a:ea typeface="微軟正黑體" panose="020B0604030504040204" pitchFamily="34" charset="-120"/>
                        </a:rPr>
                        <a:t>2023/4/3</a:t>
                      </a:r>
                    </a:p>
                  </a:txBody>
                  <a:tcPr marL="9525" marR="9525" marT="9525" marB="0" anchor="ctr">
                    <a:noFill/>
                  </a:tcPr>
                </a:tc>
                <a:extLst>
                  <a:ext uri="{0D108BD9-81ED-4DB2-BD59-A6C34878D82A}">
                    <a16:rowId xmlns:a16="http://schemas.microsoft.com/office/drawing/2014/main" val="224355770"/>
                  </a:ext>
                </a:extLst>
              </a:tr>
              <a:tr h="739418">
                <a:tc gridSpan="4">
                  <a:txBody>
                    <a:bodyPr/>
                    <a:lstStyle/>
                    <a:p>
                      <a:pPr algn="just">
                        <a:lnSpc>
                          <a:spcPts val="1300"/>
                        </a:lnSpc>
                        <a:spcBef>
                          <a:spcPts val="300"/>
                        </a:spcBef>
                        <a:spcAft>
                          <a:spcPts val="300"/>
                        </a:spcAft>
                      </a:pPr>
                      <a:r>
                        <a:rPr lang="zh-TW" altLang="en-US" sz="1100" b="1" dirty="0">
                          <a:solidFill>
                            <a:schemeClr val="tx1"/>
                          </a:solidFill>
                          <a:latin typeface="微軟正黑體" panose="020B0604030504040204" pitchFamily="34" charset="-120"/>
                          <a:ea typeface="微軟正黑體" panose="020B0604030504040204" pitchFamily="34" charset="-120"/>
                        </a:rPr>
                        <a:t>穆迪觀點</a:t>
                      </a:r>
                      <a:endParaRPr lang="en-US" altLang="zh-TW" sz="1100" b="1" dirty="0">
                        <a:solidFill>
                          <a:schemeClr val="tx1"/>
                        </a:solidFill>
                        <a:latin typeface="微軟正黑體" panose="020B0604030504040204" pitchFamily="34" charset="-120"/>
                        <a:ea typeface="微軟正黑體" panose="020B0604030504040204" pitchFamily="34" charset="-120"/>
                      </a:endParaRPr>
                    </a:p>
                    <a:p>
                      <a:pPr algn="just">
                        <a:lnSpc>
                          <a:spcPts val="1300"/>
                        </a:lnSpc>
                        <a:spcBef>
                          <a:spcPts val="0"/>
                        </a:spcBef>
                        <a:spcAft>
                          <a:spcPts val="300"/>
                        </a:spcAft>
                      </a:pPr>
                      <a:r>
                        <a:rPr lang="zh-TW" altLang="en-US" sz="1100" b="1" dirty="0">
                          <a:solidFill>
                            <a:srgbClr val="FF0000"/>
                          </a:solidFill>
                          <a:latin typeface="微軟正黑體" panose="020B0604030504040204" pitchFamily="34" charset="-120"/>
                          <a:ea typeface="微軟正黑體" panose="020B0604030504040204" pitchFamily="34" charset="-120"/>
                        </a:rPr>
                        <a:t>穆迪於</a:t>
                      </a:r>
                      <a:r>
                        <a:rPr lang="en-US" altLang="zh-TW" sz="1100" b="1" dirty="0">
                          <a:solidFill>
                            <a:srgbClr val="FF0000"/>
                          </a:solidFill>
                          <a:latin typeface="微軟正黑體" panose="020B0604030504040204" pitchFamily="34" charset="-120"/>
                          <a:ea typeface="微軟正黑體" panose="020B0604030504040204" pitchFamily="34" charset="-120"/>
                        </a:rPr>
                        <a:t>2023/6/1</a:t>
                      </a:r>
                      <a:r>
                        <a:rPr lang="zh-TW" altLang="en-US" sz="1100" b="1" dirty="0">
                          <a:solidFill>
                            <a:srgbClr val="FF0000"/>
                          </a:solidFill>
                          <a:latin typeface="微軟正黑體" panose="020B0604030504040204" pitchFamily="34" charset="-120"/>
                          <a:ea typeface="微軟正黑體" panose="020B0604030504040204" pitchFamily="34" charset="-120"/>
                        </a:rPr>
                        <a:t>將法國電力公司的基礎信用評估</a:t>
                      </a:r>
                      <a:r>
                        <a:rPr lang="en-US" altLang="zh-TW" sz="1100" b="1" dirty="0">
                          <a:solidFill>
                            <a:srgbClr val="FF0000"/>
                          </a:solidFill>
                          <a:latin typeface="微軟正黑體" panose="020B0604030504040204" pitchFamily="34" charset="-120"/>
                          <a:ea typeface="微軟正黑體" panose="020B0604030504040204" pitchFamily="34" charset="-120"/>
                        </a:rPr>
                        <a:t>(BCA)</a:t>
                      </a:r>
                      <a:r>
                        <a:rPr lang="zh-TW" altLang="en-US" sz="1100" b="1" dirty="0">
                          <a:solidFill>
                            <a:srgbClr val="FF0000"/>
                          </a:solidFill>
                          <a:latin typeface="微軟正黑體" panose="020B0604030504040204" pitchFamily="34" charset="-120"/>
                          <a:ea typeface="微軟正黑體" panose="020B0604030504040204" pitchFamily="34" charset="-120"/>
                        </a:rPr>
                        <a:t>由</a:t>
                      </a:r>
                      <a:r>
                        <a:rPr lang="en-US" altLang="zh-TW" sz="1100" b="1" dirty="0">
                          <a:solidFill>
                            <a:srgbClr val="FF0000"/>
                          </a:solidFill>
                          <a:latin typeface="微軟正黑體" panose="020B0604030504040204" pitchFamily="34" charset="-120"/>
                          <a:ea typeface="微軟正黑體" panose="020B0604030504040204" pitchFamily="34" charset="-120"/>
                        </a:rPr>
                        <a:t>baa3</a:t>
                      </a:r>
                      <a:r>
                        <a:rPr lang="zh-TW" altLang="en-US" sz="1100" b="1" dirty="0">
                          <a:solidFill>
                            <a:srgbClr val="FF0000"/>
                          </a:solidFill>
                          <a:latin typeface="微軟正黑體" panose="020B0604030504040204" pitchFamily="34" charset="-120"/>
                          <a:ea typeface="微軟正黑體" panose="020B0604030504040204" pitchFamily="34" charset="-120"/>
                        </a:rPr>
                        <a:t>下調至</a:t>
                      </a:r>
                      <a:r>
                        <a:rPr lang="en-US" altLang="zh-TW" sz="1100" b="1" dirty="0">
                          <a:solidFill>
                            <a:srgbClr val="FF0000"/>
                          </a:solidFill>
                          <a:latin typeface="微軟正黑體" panose="020B0604030504040204" pitchFamily="34" charset="-120"/>
                          <a:ea typeface="微軟正黑體" panose="020B0604030504040204" pitchFamily="34" charset="-120"/>
                        </a:rPr>
                        <a:t>ba1</a:t>
                      </a:r>
                      <a:r>
                        <a:rPr lang="zh-TW" altLang="en-US" sz="1100" b="1" dirty="0">
                          <a:solidFill>
                            <a:srgbClr val="FF0000"/>
                          </a:solidFill>
                          <a:latin typeface="微軟正黑體" panose="020B0604030504040204" pitchFamily="34" charset="-120"/>
                          <a:ea typeface="微軟正黑體" panose="020B0604030504040204" pitchFamily="34" charset="-120"/>
                        </a:rPr>
                        <a:t>，但重申發行人和優先無擔保評等為</a:t>
                      </a:r>
                      <a:r>
                        <a:rPr lang="en-US" altLang="zh-TW" sz="1100" b="1" dirty="0">
                          <a:solidFill>
                            <a:srgbClr val="FF0000"/>
                          </a:solidFill>
                          <a:latin typeface="微軟正黑體" panose="020B0604030504040204" pitchFamily="34" charset="-120"/>
                          <a:ea typeface="微軟正黑體" panose="020B0604030504040204" pitchFamily="34" charset="-120"/>
                        </a:rPr>
                        <a:t>Baa1</a:t>
                      </a:r>
                      <a:r>
                        <a:rPr lang="zh-TW" altLang="en-US" sz="1100" b="1" dirty="0">
                          <a:solidFill>
                            <a:srgbClr val="FF0000"/>
                          </a:solidFill>
                          <a:latin typeface="微軟正黑體" panose="020B0604030504040204" pitchFamily="34" charset="-120"/>
                          <a:ea typeface="微軟正黑體" panose="020B0604030504040204" pitchFamily="34" charset="-120"/>
                        </a:rPr>
                        <a:t>；展望穩定。</a:t>
                      </a:r>
                    </a:p>
                    <a:p>
                      <a:pPr algn="just">
                        <a:lnSpc>
                          <a:spcPts val="1300"/>
                        </a:lnSpc>
                        <a:spcBef>
                          <a:spcPts val="0"/>
                        </a:spcBef>
                        <a:spcAft>
                          <a:spcPts val="300"/>
                        </a:spcAft>
                      </a:pPr>
                      <a:r>
                        <a:rPr lang="en-US" altLang="zh-TW" sz="1100" b="0" dirty="0">
                          <a:solidFill>
                            <a:schemeClr val="tx1"/>
                          </a:solidFill>
                          <a:latin typeface="微軟正黑體" panose="020B0604030504040204" pitchFamily="34" charset="-120"/>
                          <a:ea typeface="微軟正黑體" panose="020B0604030504040204" pitchFamily="34" charset="-120"/>
                        </a:rPr>
                        <a:t>BCA</a:t>
                      </a:r>
                      <a:r>
                        <a:rPr lang="zh-TW" altLang="en-US" sz="1100" b="0" dirty="0">
                          <a:solidFill>
                            <a:schemeClr val="tx1"/>
                          </a:solidFill>
                          <a:latin typeface="微軟正黑體" panose="020B0604030504040204" pitchFamily="34" charset="-120"/>
                          <a:ea typeface="微軟正黑體" panose="020B0604030504040204" pitchFamily="34" charset="-120"/>
                        </a:rPr>
                        <a:t>下調反映出：</a:t>
                      </a:r>
                      <a:r>
                        <a:rPr lang="en-US" altLang="zh-TW" sz="1100" b="0" dirty="0">
                          <a:solidFill>
                            <a:schemeClr val="tx1"/>
                          </a:solidFill>
                          <a:latin typeface="微軟正黑體" panose="020B0604030504040204" pitchFamily="34" charset="-120"/>
                          <a:ea typeface="微軟正黑體" panose="020B0604030504040204" pitchFamily="34" charset="-120"/>
                        </a:rPr>
                        <a:t>1)</a:t>
                      </a:r>
                      <a:r>
                        <a:rPr lang="zh-TW" altLang="en-US" sz="1100" b="0" dirty="0">
                          <a:solidFill>
                            <a:schemeClr val="tx1"/>
                          </a:solidFill>
                          <a:latin typeface="微軟正黑體" panose="020B0604030504040204" pitchFamily="34" charset="-120"/>
                          <a:ea typeface="微軟正黑體" panose="020B0604030504040204" pitchFamily="34" charset="-120"/>
                        </a:rPr>
                        <a:t>在恢復供電方面進展緩慢；</a:t>
                      </a:r>
                      <a:r>
                        <a:rPr lang="en-US" altLang="zh-TW" sz="1100" b="0" dirty="0">
                          <a:solidFill>
                            <a:schemeClr val="tx1"/>
                          </a:solidFill>
                          <a:latin typeface="微軟正黑體" panose="020B0604030504040204" pitchFamily="34" charset="-120"/>
                          <a:ea typeface="微軟正黑體" panose="020B0604030504040204" pitchFamily="34" charset="-120"/>
                        </a:rPr>
                        <a:t>2)</a:t>
                      </a:r>
                      <a:r>
                        <a:rPr lang="zh-TW" altLang="en-US" sz="1100" b="0" dirty="0">
                          <a:solidFill>
                            <a:schemeClr val="tx1"/>
                          </a:solidFill>
                          <a:latin typeface="微軟正黑體" panose="020B0604030504040204" pitchFamily="34" charset="-120"/>
                          <a:ea typeface="微軟正黑體" panose="020B0604030504040204" pitchFamily="34" charset="-120"/>
                        </a:rPr>
                        <a:t>批發電價居高且波動較大，以及集團債務負擔沉重的背景下，獲利和財務指標對潛在發電不足的高度敏感性；</a:t>
                      </a:r>
                      <a:r>
                        <a:rPr lang="en-US" altLang="zh-TW" sz="1100" b="0" dirty="0">
                          <a:solidFill>
                            <a:schemeClr val="tx1"/>
                          </a:solidFill>
                          <a:latin typeface="微軟正黑體" panose="020B0604030504040204" pitchFamily="34" charset="-120"/>
                          <a:ea typeface="微軟正黑體" panose="020B0604030504040204" pitchFamily="34" charset="-120"/>
                        </a:rPr>
                        <a:t>3)</a:t>
                      </a:r>
                      <a:r>
                        <a:rPr lang="zh-TW" altLang="en-US" sz="1100" b="0" dirty="0">
                          <a:solidFill>
                            <a:schemeClr val="tx1"/>
                          </a:solidFill>
                          <a:latin typeface="微軟正黑體" panose="020B0604030504040204" pitchFamily="34" charset="-120"/>
                          <a:ea typeface="微軟正黑體" panose="020B0604030504040204" pitchFamily="34" charset="-120"/>
                        </a:rPr>
                        <a:t>支持信用品質的新監管進展停滯；</a:t>
                      </a:r>
                      <a:r>
                        <a:rPr lang="en-US" altLang="zh-TW" sz="1100" b="0" dirty="0">
                          <a:solidFill>
                            <a:schemeClr val="tx1"/>
                          </a:solidFill>
                          <a:latin typeface="微軟正黑體" panose="020B0604030504040204" pitchFamily="34" charset="-120"/>
                          <a:ea typeface="微軟正黑體" panose="020B0604030504040204" pitchFamily="34" charset="-120"/>
                        </a:rPr>
                        <a:t>4)</a:t>
                      </a:r>
                      <a:r>
                        <a:rPr lang="zh-TW" altLang="en-US" sz="1100" b="0" dirty="0">
                          <a:solidFill>
                            <a:schemeClr val="tx1"/>
                          </a:solidFill>
                          <a:latin typeface="微軟正黑體" panose="020B0604030504040204" pitchFamily="34" charset="-120"/>
                          <a:ea typeface="微軟正黑體" panose="020B0604030504040204" pitchFamily="34" charset="-120"/>
                        </a:rPr>
                        <a:t>曝險於新核能計畫。</a:t>
                      </a:r>
                    </a:p>
                    <a:p>
                      <a:pPr algn="just">
                        <a:lnSpc>
                          <a:spcPts val="1300"/>
                        </a:lnSpc>
                        <a:spcBef>
                          <a:spcPts val="0"/>
                        </a:spcBef>
                        <a:spcAft>
                          <a:spcPts val="300"/>
                        </a:spcAft>
                      </a:pPr>
                      <a:r>
                        <a:rPr lang="zh-TW" altLang="en-US" sz="1100" b="0" dirty="0">
                          <a:solidFill>
                            <a:schemeClr val="tx1"/>
                          </a:solidFill>
                          <a:latin typeface="微軟正黑體" panose="020B0604030504040204" pitchFamily="34" charset="-120"/>
                          <a:ea typeface="微軟正黑體" panose="020B0604030504040204" pitchFamily="34" charset="-120"/>
                        </a:rPr>
                        <a:t>在國有化後</a:t>
                      </a:r>
                      <a:r>
                        <a:rPr lang="en-US" altLang="zh-TW" sz="1100" b="0" dirty="0">
                          <a:solidFill>
                            <a:schemeClr val="tx1"/>
                          </a:solidFill>
                          <a:latin typeface="微軟正黑體" panose="020B0604030504040204" pitchFamily="34" charset="-120"/>
                          <a:ea typeface="微軟正黑體" panose="020B0604030504040204" pitchFamily="34" charset="-120"/>
                        </a:rPr>
                        <a:t>EDF</a:t>
                      </a:r>
                      <a:r>
                        <a:rPr lang="zh-TW" altLang="en-US" sz="1100" b="0" dirty="0">
                          <a:solidFill>
                            <a:schemeClr val="tx1"/>
                          </a:solidFill>
                          <a:latin typeface="微軟正黑體" panose="020B0604030504040204" pitchFamily="34" charset="-120"/>
                          <a:ea typeface="微軟正黑體" panose="020B0604030504040204" pitchFamily="34" charset="-120"/>
                        </a:rPr>
                        <a:t>較弱的基礎信用評估被唯一股東，即法國政府</a:t>
                      </a:r>
                      <a:r>
                        <a:rPr lang="en-US" altLang="zh-TW" sz="1100" b="0" dirty="0">
                          <a:solidFill>
                            <a:schemeClr val="tx1"/>
                          </a:solidFill>
                          <a:latin typeface="微軟正黑體" panose="020B0604030504040204" pitchFamily="34" charset="-120"/>
                          <a:ea typeface="微軟正黑體" panose="020B0604030504040204" pitchFamily="34" charset="-120"/>
                        </a:rPr>
                        <a:t>(Aa2</a:t>
                      </a:r>
                      <a:r>
                        <a:rPr lang="zh-TW" altLang="en-US" sz="1100" b="0" dirty="0">
                          <a:solidFill>
                            <a:schemeClr val="tx1"/>
                          </a:solidFill>
                          <a:latin typeface="微軟正黑體" panose="020B0604030504040204" pitchFamily="34" charset="-120"/>
                          <a:ea typeface="微軟正黑體" panose="020B0604030504040204" pitchFamily="34" charset="-120"/>
                        </a:rPr>
                        <a:t>穩定</a:t>
                      </a:r>
                      <a:r>
                        <a:rPr lang="en-US" altLang="zh-TW" sz="1100" b="0" dirty="0">
                          <a:solidFill>
                            <a:schemeClr val="tx1"/>
                          </a:solidFill>
                          <a:latin typeface="微軟正黑體" panose="020B0604030504040204" pitchFamily="34" charset="-120"/>
                          <a:ea typeface="微軟正黑體" panose="020B0604030504040204" pitchFamily="34" charset="-120"/>
                        </a:rPr>
                        <a:t>)</a:t>
                      </a:r>
                      <a:r>
                        <a:rPr lang="zh-TW" altLang="en-US" sz="1100" b="0" dirty="0">
                          <a:solidFill>
                            <a:schemeClr val="tx1"/>
                          </a:solidFill>
                          <a:latin typeface="微軟正黑體" panose="020B0604030504040204" pitchFamily="34" charset="-120"/>
                          <a:ea typeface="微軟正黑體" panose="020B0604030504040204" pitchFamily="34" charset="-120"/>
                        </a:rPr>
                        <a:t>的支持所抵銷。</a:t>
                      </a:r>
                      <a:r>
                        <a:rPr lang="zh-TW" altLang="en-US" sz="1100" b="1" dirty="0">
                          <a:solidFill>
                            <a:srgbClr val="FF0000"/>
                          </a:solidFill>
                          <a:latin typeface="微軟正黑體" panose="020B0604030504040204" pitchFamily="34" charset="-120"/>
                          <a:ea typeface="微軟正黑體" panose="020B0604030504040204" pitchFamily="34" charset="-120"/>
                        </a:rPr>
                        <a:t>發行人和優先無擔保評等由</a:t>
                      </a:r>
                      <a:r>
                        <a:rPr lang="en-US" altLang="zh-TW" sz="1100" b="1" dirty="0">
                          <a:solidFill>
                            <a:srgbClr val="FF0000"/>
                          </a:solidFill>
                          <a:latin typeface="微軟正黑體" panose="020B0604030504040204" pitchFamily="34" charset="-120"/>
                          <a:ea typeface="微軟正黑體" panose="020B0604030504040204" pitchFamily="34" charset="-120"/>
                        </a:rPr>
                        <a:t>BCA</a:t>
                      </a:r>
                      <a:r>
                        <a:rPr lang="zh-TW" altLang="en-US" sz="1100" b="1" dirty="0">
                          <a:solidFill>
                            <a:srgbClr val="FF0000"/>
                          </a:solidFill>
                          <a:latin typeface="微軟正黑體" panose="020B0604030504040204" pitchFamily="34" charset="-120"/>
                          <a:ea typeface="微軟正黑體" panose="020B0604030504040204" pitchFamily="34" charset="-120"/>
                        </a:rPr>
                        <a:t>的</a:t>
                      </a:r>
                      <a:r>
                        <a:rPr lang="en-US" altLang="zh-TW" sz="1100" b="1" dirty="0">
                          <a:solidFill>
                            <a:srgbClr val="FF0000"/>
                          </a:solidFill>
                          <a:latin typeface="微軟正黑體" panose="020B0604030504040204" pitchFamily="34" charset="-120"/>
                          <a:ea typeface="微軟正黑體" panose="020B0604030504040204" pitchFamily="34" charset="-120"/>
                        </a:rPr>
                        <a:t>ba1</a:t>
                      </a:r>
                      <a:r>
                        <a:rPr lang="zh-TW" altLang="en-US" sz="1100" b="1" dirty="0">
                          <a:solidFill>
                            <a:srgbClr val="FF0000"/>
                          </a:solidFill>
                          <a:latin typeface="微軟正黑體" panose="020B0604030504040204" pitchFamily="34" charset="-120"/>
                          <a:ea typeface="微軟正黑體" panose="020B0604030504040204" pitchFamily="34" charset="-120"/>
                        </a:rPr>
                        <a:t>調升</a:t>
                      </a:r>
                      <a:r>
                        <a:rPr lang="en-US" altLang="zh-TW" sz="1100" b="1" dirty="0">
                          <a:solidFill>
                            <a:srgbClr val="FF0000"/>
                          </a:solidFill>
                          <a:latin typeface="微軟正黑體" panose="020B0604030504040204" pitchFamily="34" charset="-120"/>
                          <a:ea typeface="微軟正黑體" panose="020B0604030504040204" pitchFamily="34" charset="-120"/>
                        </a:rPr>
                        <a:t>3</a:t>
                      </a:r>
                      <a:r>
                        <a:rPr lang="zh-TW" altLang="en-US" sz="1100" b="1" dirty="0">
                          <a:solidFill>
                            <a:srgbClr val="FF0000"/>
                          </a:solidFill>
                          <a:latin typeface="微軟正黑體" panose="020B0604030504040204" pitchFamily="34" charset="-120"/>
                          <a:ea typeface="微軟正黑體" panose="020B0604030504040204" pitchFamily="34" charset="-120"/>
                        </a:rPr>
                        <a:t>個評級，以反映法國政府信用品質。穆迪認為該公司在發生財務危機的情況下，政府支援的可能性和違約依賴程度很高。</a:t>
                      </a:r>
                      <a:endParaRPr lang="en-US" altLang="zh-TW" sz="1100" b="1" dirty="0">
                        <a:solidFill>
                          <a:srgbClr val="FF0000"/>
                        </a:solidFill>
                        <a:latin typeface="微軟正黑體" panose="020B0604030504040204" pitchFamily="34" charset="-120"/>
                        <a:ea typeface="微軟正黑體" panose="020B0604030504040204" pitchFamily="34" charset="-120"/>
                      </a:endParaRPr>
                    </a:p>
                    <a:p>
                      <a:pPr algn="just">
                        <a:lnSpc>
                          <a:spcPts val="1300"/>
                        </a:lnSpc>
                        <a:spcBef>
                          <a:spcPts val="0"/>
                        </a:spcBef>
                        <a:spcAft>
                          <a:spcPts val="300"/>
                        </a:spcAft>
                      </a:pPr>
                      <a:endParaRPr lang="en-US" altLang="zh-TW" sz="1100" b="1" dirty="0">
                        <a:solidFill>
                          <a:srgbClr val="FF0000"/>
                        </a:solidFill>
                        <a:latin typeface="微軟正黑體" panose="020B0604030504040204" pitchFamily="34" charset="-120"/>
                        <a:ea typeface="微軟正黑體" panose="020B0604030504040204" pitchFamily="34" charset="-120"/>
                      </a:endParaRPr>
                    </a:p>
                  </a:txBody>
                  <a:tcPr marL="91453" marR="91453" marT="45743" marB="45743" anchorCtr="1">
                    <a:noFill/>
                  </a:tcPr>
                </a:tc>
                <a:tc hMerge="1">
                  <a:txBody>
                    <a:bodyPr/>
                    <a:lstStyle/>
                    <a:p>
                      <a:pPr marL="0" algn="ctr" defTabSz="457200" rtl="0" eaLnBrk="1" fontAlgn="ctr" latinLnBrk="0" hangingPunct="1"/>
                      <a:endParaRPr lang="en-US" sz="1400" b="0"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endParaRPr>
                    </a:p>
                  </a:txBody>
                  <a:tcPr marL="9531" marR="9531" marT="9527" marB="0" anchor="ctr">
                    <a:noFill/>
                  </a:tcPr>
                </a:tc>
                <a:tc hMerge="1">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Arial" panose="020B0604020202020204" pitchFamily="34" charset="0"/>
                      </a:endParaRPr>
                    </a:p>
                  </a:txBody>
                  <a:tcPr marL="9531" marR="9531" marT="9527" marB="0" anchor="ctr">
                    <a:noFill/>
                  </a:tcPr>
                </a:tc>
                <a:tc hMerge="1">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Arial" panose="020B0604020202020204" pitchFamily="34" charset="0"/>
                      </a:endParaRPr>
                    </a:p>
                  </a:txBody>
                  <a:tcPr marL="91474" marR="91474" marT="45706" marB="45706" anchor="ctr">
                    <a:noFill/>
                  </a:tcPr>
                </a:tc>
                <a:extLst>
                  <a:ext uri="{0D108BD9-81ED-4DB2-BD59-A6C34878D82A}">
                    <a16:rowId xmlns:a16="http://schemas.microsoft.com/office/drawing/2014/main" val="10002"/>
                  </a:ext>
                </a:extLst>
              </a:tr>
            </a:tbl>
          </a:graphicData>
        </a:graphic>
      </p:graphicFrame>
      <p:sp>
        <p:nvSpPr>
          <p:cNvPr id="22" name="矩形 21">
            <a:extLst>
              <a:ext uri="{FF2B5EF4-FFF2-40B4-BE49-F238E27FC236}">
                <a16:creationId xmlns:a16="http://schemas.microsoft.com/office/drawing/2014/main" id="{7F32E6B1-8215-42F9-B58B-AB271DC16EC0}"/>
              </a:ext>
            </a:extLst>
          </p:cNvPr>
          <p:cNvSpPr/>
          <p:nvPr/>
        </p:nvSpPr>
        <p:spPr>
          <a:xfrm>
            <a:off x="229944" y="885382"/>
            <a:ext cx="4821704" cy="5567954"/>
          </a:xfrm>
          <a:prstGeom prst="rect">
            <a:avLst/>
          </a:prstGeom>
          <a:noFill/>
          <a:ln w="12700">
            <a:solidFill>
              <a:srgbClr val="E6E6E6"/>
            </a:solidFill>
            <a:prstDash val="sysDo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34E11A40-93D2-4384-90CB-26D23D3B612E}"/>
              </a:ext>
            </a:extLst>
          </p:cNvPr>
          <p:cNvGrpSpPr/>
          <p:nvPr/>
        </p:nvGrpSpPr>
        <p:grpSpPr>
          <a:xfrm>
            <a:off x="1438349" y="1021903"/>
            <a:ext cx="3500313" cy="320417"/>
            <a:chOff x="1870397" y="1034304"/>
            <a:chExt cx="4531296" cy="414793"/>
          </a:xfrm>
        </p:grpSpPr>
        <p:pic>
          <p:nvPicPr>
            <p:cNvPr id="24" name="圖片 52">
              <a:extLst>
                <a:ext uri="{FF2B5EF4-FFF2-40B4-BE49-F238E27FC236}">
                  <a16:creationId xmlns:a16="http://schemas.microsoft.com/office/drawing/2014/main" id="{62A0F7D4-CB4C-454E-9B51-F941A880B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0397" y="1034304"/>
              <a:ext cx="12239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圖片 54">
              <a:extLst>
                <a:ext uri="{FF2B5EF4-FFF2-40B4-BE49-F238E27FC236}">
                  <a16:creationId xmlns:a16="http://schemas.microsoft.com/office/drawing/2014/main" id="{D39401C7-C41B-41E4-812C-5C1F3055EB6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47138"/>
            <a:stretch/>
          </p:blipFill>
          <p:spPr bwMode="auto">
            <a:xfrm>
              <a:off x="3410168" y="1052736"/>
              <a:ext cx="1223962" cy="333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圖片 56">
              <a:extLst>
                <a:ext uri="{FF2B5EF4-FFF2-40B4-BE49-F238E27FC236}">
                  <a16:creationId xmlns:a16="http://schemas.microsoft.com/office/drawing/2014/main" id="{BD08D917-B5FB-4983-A865-9B717D29B4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4862" y="1069163"/>
              <a:ext cx="1406831" cy="379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13" name="圖表 12"/>
          <p:cNvGraphicFramePr/>
          <p:nvPr>
            <p:extLst>
              <p:ext uri="{D42A27DB-BD31-4B8C-83A1-F6EECF244321}">
                <p14:modId xmlns:p14="http://schemas.microsoft.com/office/powerpoint/2010/main" val="3360285399"/>
              </p:ext>
            </p:extLst>
          </p:nvPr>
        </p:nvGraphicFramePr>
        <p:xfrm>
          <a:off x="5253605" y="1305997"/>
          <a:ext cx="3650847" cy="2451069"/>
        </p:xfrm>
        <a:graphic>
          <a:graphicData uri="http://schemas.openxmlformats.org/drawingml/2006/chart">
            <c:chart xmlns:c="http://schemas.openxmlformats.org/drawingml/2006/chart" xmlns:r="http://schemas.openxmlformats.org/officeDocument/2006/relationships" r:id="rId6"/>
          </a:graphicData>
        </a:graphic>
      </p:graphicFrame>
      <p:sp>
        <p:nvSpPr>
          <p:cNvPr id="14" name="圓角矩形 24">
            <a:extLst>
              <a:ext uri="{FF2B5EF4-FFF2-40B4-BE49-F238E27FC236}">
                <a16:creationId xmlns:a16="http://schemas.microsoft.com/office/drawing/2014/main" id="{8348525E-6848-46E6-A933-630AB226731F}"/>
              </a:ext>
            </a:extLst>
          </p:cNvPr>
          <p:cNvSpPr/>
          <p:nvPr/>
        </p:nvSpPr>
        <p:spPr>
          <a:xfrm>
            <a:off x="5232044" y="908720"/>
            <a:ext cx="3672408" cy="406644"/>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solidFill>
                  <a:schemeClr val="bg1"/>
                </a:solidFill>
                <a:latin typeface="微軟正黑體" panose="020B0604030504040204" pitchFamily="34" charset="-120"/>
                <a:ea typeface="微軟正黑體" panose="020B0604030504040204" pitchFamily="34" charset="-120"/>
              </a:rPr>
              <a:t>建設新核電站及年度虧損</a:t>
            </a:r>
            <a:endParaRPr lang="en-US" altLang="zh-TW" sz="1200" b="1" dirty="0">
              <a:solidFill>
                <a:schemeClr val="bg1"/>
              </a:solidFill>
              <a:latin typeface="微軟正黑體" panose="020B0604030504040204" pitchFamily="34" charset="-120"/>
              <a:ea typeface="微軟正黑體" panose="020B0604030504040204" pitchFamily="34" charset="-120"/>
            </a:endParaRPr>
          </a:p>
          <a:p>
            <a:pPr algn="ctr"/>
            <a:r>
              <a:rPr lang="zh-TW" altLang="en-US" sz="1200" b="1" dirty="0">
                <a:solidFill>
                  <a:schemeClr val="bg1"/>
                </a:solidFill>
                <a:latin typeface="微軟正黑體" panose="020B0604030504040204" pitchFamily="34" charset="-120"/>
                <a:ea typeface="微軟正黑體" panose="020B0604030504040204" pitchFamily="34" charset="-120"/>
              </a:rPr>
              <a:t>導致</a:t>
            </a:r>
            <a:r>
              <a:rPr lang="en-US" altLang="zh-TW" sz="1200" b="1" dirty="0">
                <a:solidFill>
                  <a:schemeClr val="bg1"/>
                </a:solidFill>
                <a:latin typeface="微軟正黑體" panose="020B0604030504040204" pitchFamily="34" charset="-120"/>
                <a:ea typeface="微軟正黑體" panose="020B0604030504040204" pitchFamily="34" charset="-120"/>
              </a:rPr>
              <a:t>2022</a:t>
            </a:r>
            <a:r>
              <a:rPr lang="zh-TW" altLang="en-US" sz="1200" b="1" dirty="0">
                <a:solidFill>
                  <a:schemeClr val="bg1"/>
                </a:solidFill>
                <a:latin typeface="微軟正黑體" panose="020B0604030504040204" pitchFamily="34" charset="-120"/>
                <a:ea typeface="微軟正黑體" panose="020B0604030504040204" pitchFamily="34" charset="-120"/>
              </a:rPr>
              <a:t>年度債務顯著攀升</a:t>
            </a:r>
          </a:p>
        </p:txBody>
      </p:sp>
      <p:sp>
        <p:nvSpPr>
          <p:cNvPr id="17" name="文字方塊 16"/>
          <p:cNvSpPr txBox="1"/>
          <p:nvPr/>
        </p:nvSpPr>
        <p:spPr>
          <a:xfrm>
            <a:off x="5198334" y="1356207"/>
            <a:ext cx="720080" cy="215444"/>
          </a:xfrm>
          <a:prstGeom prst="rect">
            <a:avLst/>
          </a:prstGeom>
          <a:noFill/>
        </p:spPr>
        <p:txBody>
          <a:bodyPr wrap="square" rtlCol="0">
            <a:spAutoFit/>
          </a:bodyPr>
          <a:lstStyle/>
          <a:p>
            <a:r>
              <a:rPr lang="en-US" altLang="zh-TW" sz="800" dirty="0"/>
              <a:t>(</a:t>
            </a:r>
            <a:r>
              <a:rPr lang="zh-TW" altLang="en-US" sz="800" dirty="0"/>
              <a:t>百萬歐元</a:t>
            </a:r>
            <a:r>
              <a:rPr lang="en-US" altLang="zh-TW" sz="800" dirty="0"/>
              <a:t>)</a:t>
            </a:r>
            <a:endParaRPr lang="zh-TW" altLang="en-US" sz="800" dirty="0"/>
          </a:p>
        </p:txBody>
      </p:sp>
      <p:sp>
        <p:nvSpPr>
          <p:cNvPr id="18" name="圓角矩形 24">
            <a:extLst>
              <a:ext uri="{FF2B5EF4-FFF2-40B4-BE49-F238E27FC236}">
                <a16:creationId xmlns:a16="http://schemas.microsoft.com/office/drawing/2014/main" id="{8348525E-6848-46E6-A933-630AB226731F}"/>
              </a:ext>
            </a:extLst>
          </p:cNvPr>
          <p:cNvSpPr/>
          <p:nvPr/>
        </p:nvSpPr>
        <p:spPr>
          <a:xfrm>
            <a:off x="5232044" y="3857173"/>
            <a:ext cx="3672408" cy="406644"/>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solidFill>
                  <a:schemeClr val="bg1"/>
                </a:solidFill>
                <a:latin typeface="微軟正黑體" panose="020B0604030504040204" pitchFamily="34" charset="-120"/>
                <a:ea typeface="微軟正黑體" panose="020B0604030504040204" pitchFamily="34" charset="-120"/>
              </a:rPr>
              <a:t>當前帳上現金足以覆蓋</a:t>
            </a:r>
            <a:r>
              <a:rPr lang="en-US" altLang="zh-TW" sz="1200" b="1" dirty="0">
                <a:solidFill>
                  <a:schemeClr val="bg1"/>
                </a:solidFill>
                <a:latin typeface="微軟正黑體" panose="020B0604030504040204" pitchFamily="34" charset="-120"/>
                <a:ea typeface="微軟正黑體" panose="020B0604030504040204" pitchFamily="34" charset="-120"/>
              </a:rPr>
              <a:t>1</a:t>
            </a:r>
            <a:r>
              <a:rPr lang="zh-TW" altLang="en-US" sz="1200" b="1" dirty="0">
                <a:solidFill>
                  <a:schemeClr val="bg1"/>
                </a:solidFill>
                <a:latin typeface="微軟正黑體" panose="020B0604030504040204" pitchFamily="34" charset="-120"/>
                <a:ea typeface="微軟正黑體" panose="020B0604030504040204" pitchFamily="34" charset="-120"/>
              </a:rPr>
              <a:t>年內到期債務</a:t>
            </a:r>
          </a:p>
        </p:txBody>
      </p:sp>
      <p:pic>
        <p:nvPicPr>
          <p:cNvPr id="20" name="圖片 19"/>
          <p:cNvPicPr>
            <a:picLocks noChangeAspect="1"/>
          </p:cNvPicPr>
          <p:nvPr/>
        </p:nvPicPr>
        <p:blipFill>
          <a:blip r:embed="rId7">
            <a:clrChange>
              <a:clrFrom>
                <a:srgbClr val="FFFFFF"/>
              </a:clrFrom>
              <a:clrTo>
                <a:srgbClr val="FFFFFF">
                  <a:alpha val="0"/>
                </a:srgbClr>
              </a:clrTo>
            </a:clrChange>
          </a:blip>
          <a:stretch>
            <a:fillRect/>
          </a:stretch>
        </p:blipFill>
        <p:spPr>
          <a:xfrm>
            <a:off x="8044464" y="267537"/>
            <a:ext cx="859988" cy="433490"/>
          </a:xfrm>
          <a:prstGeom prst="rect">
            <a:avLst/>
          </a:prstGeom>
        </p:spPr>
      </p:pic>
      <p:sp>
        <p:nvSpPr>
          <p:cNvPr id="28" name="圓角矩形 24">
            <a:extLst>
              <a:ext uri="{FF2B5EF4-FFF2-40B4-BE49-F238E27FC236}">
                <a16:creationId xmlns:a16="http://schemas.microsoft.com/office/drawing/2014/main" id="{8348525E-6848-46E6-A933-630AB226731F}"/>
              </a:ext>
            </a:extLst>
          </p:cNvPr>
          <p:cNvSpPr/>
          <p:nvPr/>
        </p:nvSpPr>
        <p:spPr>
          <a:xfrm>
            <a:off x="328372" y="3936562"/>
            <a:ext cx="4610290" cy="406644"/>
          </a:xfrm>
          <a:prstGeom prst="roundRect">
            <a:avLst/>
          </a:prstGeom>
          <a:solidFill>
            <a:srgbClr val="F9CE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solidFill>
                  <a:srgbClr val="002D74"/>
                </a:solidFill>
                <a:latin typeface="微軟正黑體" panose="020B0604030504040204" pitchFamily="34" charset="-120"/>
                <a:ea typeface="微軟正黑體" panose="020B0604030504040204" pitchFamily="34" charset="-120"/>
              </a:rPr>
              <a:t>展望穩定，反映穆迪預期在有利的市場條件、電價上漲及法國核電量逐步恢復下，該公司信用指標將自</a:t>
            </a:r>
            <a:r>
              <a:rPr lang="en-US" altLang="zh-TW" sz="1200" b="1" dirty="0">
                <a:solidFill>
                  <a:srgbClr val="002D74"/>
                </a:solidFill>
                <a:latin typeface="微軟正黑體" panose="020B0604030504040204" pitchFamily="34" charset="-120"/>
                <a:ea typeface="微軟正黑體" panose="020B0604030504040204" pitchFamily="34" charset="-120"/>
              </a:rPr>
              <a:t>2022</a:t>
            </a:r>
            <a:r>
              <a:rPr lang="zh-TW" altLang="en-US" sz="1200" b="1" dirty="0">
                <a:solidFill>
                  <a:srgbClr val="002D74"/>
                </a:solidFill>
                <a:latin typeface="微軟正黑體" panose="020B0604030504040204" pitchFamily="34" charset="-120"/>
                <a:ea typeface="微軟正黑體" panose="020B0604030504040204" pitchFamily="34" charset="-120"/>
              </a:rPr>
              <a:t>年的谷底顯著改善</a:t>
            </a:r>
          </a:p>
        </p:txBody>
      </p:sp>
      <p:pic>
        <p:nvPicPr>
          <p:cNvPr id="6" name="圖片 5"/>
          <p:cNvPicPr>
            <a:picLocks noChangeAspect="1"/>
          </p:cNvPicPr>
          <p:nvPr/>
        </p:nvPicPr>
        <p:blipFill>
          <a:blip r:embed="rId8"/>
          <a:stretch>
            <a:fillRect/>
          </a:stretch>
        </p:blipFill>
        <p:spPr>
          <a:xfrm>
            <a:off x="312640" y="4493686"/>
            <a:ext cx="4626022" cy="1981437"/>
          </a:xfrm>
          <a:prstGeom prst="rect">
            <a:avLst/>
          </a:prstGeom>
        </p:spPr>
      </p:pic>
      <p:pic>
        <p:nvPicPr>
          <p:cNvPr id="7" name="圖片 6"/>
          <p:cNvPicPr>
            <a:picLocks noChangeAspect="1"/>
          </p:cNvPicPr>
          <p:nvPr/>
        </p:nvPicPr>
        <p:blipFill>
          <a:blip r:embed="rId9"/>
          <a:stretch>
            <a:fillRect/>
          </a:stretch>
        </p:blipFill>
        <p:spPr>
          <a:xfrm>
            <a:off x="531699" y="4351889"/>
            <a:ext cx="3577779" cy="228263"/>
          </a:xfrm>
          <a:prstGeom prst="rect">
            <a:avLst/>
          </a:prstGeom>
        </p:spPr>
      </p:pic>
      <p:sp>
        <p:nvSpPr>
          <p:cNvPr id="8" name="矩形 7"/>
          <p:cNvSpPr/>
          <p:nvPr/>
        </p:nvSpPr>
        <p:spPr>
          <a:xfrm>
            <a:off x="522797" y="5702043"/>
            <a:ext cx="4060938" cy="425758"/>
          </a:xfrm>
          <a:prstGeom prst="rect">
            <a:avLst/>
          </a:prstGeom>
        </p:spPr>
        <p:txBody>
          <a:bodyPr wrap="square">
            <a:spAutoFit/>
          </a:bodyPr>
          <a:lstStyle/>
          <a:p>
            <a:pPr defTabSz="685800">
              <a:lnSpc>
                <a:spcPts val="1300"/>
              </a:lnSpc>
              <a:spcAft>
                <a:spcPts val="300"/>
              </a:spcAft>
            </a:pPr>
            <a:r>
              <a:rPr lang="zh-TW" altLang="en-US" sz="1100" b="1" dirty="0">
                <a:latin typeface="微軟正黑體" panose="020B0604030504040204" pitchFamily="34" charset="-120"/>
                <a:ea typeface="微軟正黑體" panose="020B0604030504040204" pitchFamily="34" charset="-120"/>
              </a:rPr>
              <a:t>穆迪預估今明兩年</a:t>
            </a:r>
            <a:r>
              <a:rPr lang="en-US" altLang="zh-TW" sz="1100" b="1" dirty="0">
                <a:latin typeface="微軟正黑體" panose="020B0604030504040204" pitchFamily="34" charset="-120"/>
                <a:ea typeface="微軟正黑體" panose="020B0604030504040204" pitchFamily="34" charset="-120"/>
              </a:rPr>
              <a:t>(2023~24)</a:t>
            </a:r>
            <a:br>
              <a:rPr lang="en-US" altLang="zh-TW" sz="1100" b="1" dirty="0">
                <a:latin typeface="微軟正黑體" panose="020B0604030504040204" pitchFamily="34" charset="-120"/>
                <a:ea typeface="微軟正黑體" panose="020B0604030504040204" pitchFamily="34" charset="-120"/>
              </a:rPr>
            </a:br>
            <a:r>
              <a:rPr lang="en-US" altLang="zh-TW" sz="1100" b="1" dirty="0">
                <a:latin typeface="微軟正黑體" panose="020B0604030504040204" pitchFamily="34" charset="-120"/>
                <a:ea typeface="微軟正黑體" panose="020B0604030504040204" pitchFamily="34" charset="-120"/>
              </a:rPr>
              <a:t>EDF</a:t>
            </a:r>
            <a:r>
              <a:rPr lang="zh-TW" altLang="en-US" sz="1100" b="1" dirty="0">
                <a:latin typeface="微軟正黑體" panose="020B0604030504040204" pitchFamily="34" charset="-120"/>
                <a:ea typeface="微軟正黑體" panose="020B0604030504040204" pitchFamily="34" charset="-120"/>
              </a:rPr>
              <a:t>的營運資金</a:t>
            </a:r>
            <a:r>
              <a:rPr lang="en-US" altLang="zh-TW" sz="1100" b="1" dirty="0">
                <a:latin typeface="微軟正黑體" panose="020B0604030504040204" pitchFamily="34" charset="-120"/>
                <a:ea typeface="微軟正黑體" panose="020B0604030504040204" pitchFamily="34" charset="-120"/>
              </a:rPr>
              <a:t>(FFO)</a:t>
            </a:r>
            <a:r>
              <a:rPr lang="zh-TW" altLang="en-US" sz="1100" b="1" dirty="0">
                <a:latin typeface="微軟正黑體" panose="020B0604030504040204" pitchFamily="34" charset="-120"/>
                <a:ea typeface="微軟正黑體" panose="020B0604030504040204" pitchFamily="34" charset="-120"/>
              </a:rPr>
              <a:t>佔淨債務將處於</a:t>
            </a:r>
            <a:r>
              <a:rPr lang="en-US" altLang="zh-TW" sz="1100" b="1" dirty="0">
                <a:latin typeface="微軟正黑體" panose="020B0604030504040204" pitchFamily="34" charset="-120"/>
                <a:ea typeface="微軟正黑體" panose="020B0604030504040204" pitchFamily="34" charset="-120"/>
              </a:rPr>
              <a:t>25%~28%</a:t>
            </a:r>
            <a:r>
              <a:rPr lang="zh-TW" altLang="en-US" sz="1100" b="1" dirty="0">
                <a:latin typeface="微軟正黑體" panose="020B0604030504040204" pitchFamily="34" charset="-120"/>
                <a:ea typeface="微軟正黑體" panose="020B0604030504040204" pitchFamily="34" charset="-120"/>
              </a:rPr>
              <a:t>之間</a:t>
            </a:r>
          </a:p>
        </p:txBody>
      </p:sp>
      <p:sp>
        <p:nvSpPr>
          <p:cNvPr id="29" name="文字方塊 28"/>
          <p:cNvSpPr txBox="1"/>
          <p:nvPr/>
        </p:nvSpPr>
        <p:spPr>
          <a:xfrm>
            <a:off x="5076469" y="4428898"/>
            <a:ext cx="720080" cy="215444"/>
          </a:xfrm>
          <a:prstGeom prst="rect">
            <a:avLst/>
          </a:prstGeom>
          <a:noFill/>
        </p:spPr>
        <p:txBody>
          <a:bodyPr wrap="square" rtlCol="0">
            <a:spAutoFit/>
          </a:bodyPr>
          <a:lstStyle/>
          <a:p>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百萬歐元</a:t>
            </a:r>
            <a:r>
              <a:rPr lang="en-US" altLang="zh-TW" sz="800" dirty="0">
                <a:latin typeface="微軟正黑體" panose="020B0604030504040204" pitchFamily="34" charset="-120"/>
                <a:ea typeface="微軟正黑體" panose="020B0604030504040204" pitchFamily="34" charset="-120"/>
              </a:rPr>
              <a:t>)</a:t>
            </a:r>
            <a:endParaRPr lang="zh-TW" altLang="en-US" sz="800" dirty="0">
              <a:latin typeface="微軟正黑體" panose="020B0604030504040204" pitchFamily="34" charset="-120"/>
              <a:ea typeface="微軟正黑體" panose="020B0604030504040204" pitchFamily="34" charset="-120"/>
            </a:endParaRPr>
          </a:p>
        </p:txBody>
      </p:sp>
      <p:graphicFrame>
        <p:nvGraphicFramePr>
          <p:cNvPr id="30" name="表格 29"/>
          <p:cNvGraphicFramePr>
            <a:graphicFrameLocks noGrp="1"/>
          </p:cNvGraphicFramePr>
          <p:nvPr>
            <p:extLst>
              <p:ext uri="{D42A27DB-BD31-4B8C-83A1-F6EECF244321}">
                <p14:modId xmlns:p14="http://schemas.microsoft.com/office/powerpoint/2010/main" val="1202130808"/>
              </p:ext>
            </p:extLst>
          </p:nvPr>
        </p:nvGraphicFramePr>
        <p:xfrm>
          <a:off x="7064240" y="4356890"/>
          <a:ext cx="1689717" cy="586740"/>
        </p:xfrm>
        <a:graphic>
          <a:graphicData uri="http://schemas.openxmlformats.org/drawingml/2006/table">
            <a:tbl>
              <a:tblPr/>
              <a:tblGrid>
                <a:gridCol w="1080120">
                  <a:extLst>
                    <a:ext uri="{9D8B030D-6E8A-4147-A177-3AD203B41FA5}">
                      <a16:colId xmlns:a16="http://schemas.microsoft.com/office/drawing/2014/main" val="3157368254"/>
                    </a:ext>
                  </a:extLst>
                </a:gridCol>
                <a:gridCol w="609597">
                  <a:extLst>
                    <a:ext uri="{9D8B030D-6E8A-4147-A177-3AD203B41FA5}">
                      <a16:colId xmlns:a16="http://schemas.microsoft.com/office/drawing/2014/main" val="2501494937"/>
                    </a:ext>
                  </a:extLst>
                </a:gridCol>
              </a:tblGrid>
              <a:tr h="0">
                <a:tc>
                  <a:txBody>
                    <a:bodyPr/>
                    <a:lstStyle/>
                    <a:p>
                      <a:pPr algn="l" fontAlgn="ct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1</a:t>
                      </a:r>
                      <a:r>
                        <a:rPr lang="zh-TW" altLang="en-US" sz="900" b="0" i="0" u="none" strike="noStrike" dirty="0">
                          <a:solidFill>
                            <a:srgbClr val="000000"/>
                          </a:solidFill>
                          <a:effectLst/>
                          <a:latin typeface="微軟正黑體" panose="020B0604030504040204" pitchFamily="34" charset="-120"/>
                          <a:ea typeface="微軟正黑體" panose="020B0604030504040204" pitchFamily="34" charset="-120"/>
                        </a:rPr>
                        <a:t>年內到期債務金額</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ct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2,544 </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2632319"/>
                  </a:ext>
                </a:extLst>
              </a:tr>
              <a:tr h="0">
                <a:tc>
                  <a:txBody>
                    <a:bodyPr/>
                    <a:lstStyle/>
                    <a:p>
                      <a:pPr algn="l"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債券及貸款未償額</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82,696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73401341"/>
                  </a:ext>
                </a:extLst>
              </a:tr>
              <a:tr h="0">
                <a:tc>
                  <a:txBody>
                    <a:bodyPr/>
                    <a:lstStyle/>
                    <a:p>
                      <a:pPr algn="l"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債務平均票息</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3.90</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2397448"/>
                  </a:ext>
                </a:extLst>
              </a:tr>
              <a:tr h="0">
                <a:tc>
                  <a:txBody>
                    <a:bodyPr/>
                    <a:lstStyle/>
                    <a:p>
                      <a:pPr algn="l"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平均債務到期年數</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15.99</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3255953"/>
                  </a:ext>
                </a:extLst>
              </a:tr>
            </a:tbl>
          </a:graphicData>
        </a:graphic>
      </p:graphicFrame>
      <p:sp>
        <p:nvSpPr>
          <p:cNvPr id="31" name="矩形 30"/>
          <p:cNvSpPr/>
          <p:nvPr/>
        </p:nvSpPr>
        <p:spPr>
          <a:xfrm>
            <a:off x="6922267" y="4981292"/>
            <a:ext cx="1960793" cy="230832"/>
          </a:xfrm>
          <a:prstGeom prst="rect">
            <a:avLst/>
          </a:prstGeom>
        </p:spPr>
        <p:txBody>
          <a:bodyPr wrap="none">
            <a:spAutoFit/>
          </a:bodyPr>
          <a:lstStyle/>
          <a:p>
            <a:r>
              <a:rPr lang="en-US" altLang="zh-TW" sz="900" b="1" dirty="0">
                <a:solidFill>
                  <a:srgbClr val="000000"/>
                </a:solidFill>
                <a:latin typeface="微軟正黑體" panose="020B0604030504040204" pitchFamily="34" charset="-120"/>
                <a:ea typeface="微軟正黑體" panose="020B0604030504040204" pitchFamily="34" charset="-120"/>
              </a:rPr>
              <a:t>2023/6/30</a:t>
            </a:r>
            <a:r>
              <a:rPr lang="zh-TW" altLang="en-US" sz="900" b="1" dirty="0">
                <a:solidFill>
                  <a:srgbClr val="000000"/>
                </a:solidFill>
                <a:latin typeface="微軟正黑體" panose="020B0604030504040204" pitchFamily="34" charset="-120"/>
                <a:ea typeface="微軟正黑體" panose="020B0604030504040204" pitchFamily="34" charset="-120"/>
              </a:rPr>
              <a:t>現金及約當現金 </a:t>
            </a:r>
            <a:r>
              <a:rPr lang="zh-TW" altLang="en-US" sz="900" dirty="0"/>
              <a:t> </a:t>
            </a:r>
            <a:r>
              <a:rPr lang="en-US" altLang="zh-TW" sz="900" dirty="0">
                <a:solidFill>
                  <a:srgbClr val="000000"/>
                </a:solidFill>
                <a:latin typeface="微軟正黑體" panose="020B0604030504040204" pitchFamily="34" charset="-120"/>
                <a:ea typeface="微軟正黑體" panose="020B0604030504040204" pitchFamily="34" charset="-120"/>
              </a:rPr>
              <a:t>8,074 </a:t>
            </a:r>
            <a:endParaRPr lang="zh-TW" altLang="en-US" sz="900" dirty="0"/>
          </a:p>
        </p:txBody>
      </p:sp>
      <p:graphicFrame>
        <p:nvGraphicFramePr>
          <p:cNvPr id="32" name="圖表 31">
            <a:extLst>
              <a:ext uri="{FF2B5EF4-FFF2-40B4-BE49-F238E27FC236}">
                <a16:creationId xmlns:a16="http://schemas.microsoft.com/office/drawing/2014/main" id="{00000000-0008-0000-0100-000009000000}"/>
              </a:ext>
            </a:extLst>
          </p:cNvPr>
          <p:cNvGraphicFramePr>
            <a:graphicFrameLocks/>
          </p:cNvGraphicFramePr>
          <p:nvPr>
            <p:extLst>
              <p:ext uri="{D42A27DB-BD31-4B8C-83A1-F6EECF244321}">
                <p14:modId xmlns:p14="http://schemas.microsoft.com/office/powerpoint/2010/main" val="1786077552"/>
              </p:ext>
            </p:extLst>
          </p:nvPr>
        </p:nvGraphicFramePr>
        <p:xfrm>
          <a:off x="5205946" y="4286244"/>
          <a:ext cx="3780241" cy="2095084"/>
        </p:xfrm>
        <a:graphic>
          <a:graphicData uri="http://schemas.openxmlformats.org/drawingml/2006/chart">
            <c:chart xmlns:c="http://schemas.openxmlformats.org/drawingml/2006/chart" xmlns:r="http://schemas.openxmlformats.org/officeDocument/2006/relationships" r:id="rId10"/>
          </a:graphicData>
        </a:graphic>
      </p:graphicFrame>
    </p:spTree>
    <p:extLst>
      <p:ext uri="{BB962C8B-B14F-4D97-AF65-F5344CB8AC3E}">
        <p14:creationId xmlns:p14="http://schemas.microsoft.com/office/powerpoint/2010/main" val="718779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18013" y="1484785"/>
            <a:ext cx="7992888" cy="1338828"/>
          </a:xfrm>
          <a:prstGeom prst="rect">
            <a:avLst/>
          </a:prstGeom>
        </p:spPr>
        <p:txBody>
          <a:bodyPr wrap="square">
            <a:spAutoFit/>
          </a:bodyPr>
          <a:lstStyle/>
          <a:p>
            <a:pPr algn="just"/>
            <a:r>
              <a:rPr lang="zh-TW" altLang="zh-TW" sz="1350" b="1" dirty="0">
                <a:solidFill>
                  <a:srgbClr val="C92223"/>
                </a:solidFill>
                <a:latin typeface="微軟正黑體" pitchFamily="34" charset="-120"/>
                <a:ea typeface="微軟正黑體" pitchFamily="34" charset="-120"/>
              </a:rPr>
              <a:t>免責宣言說明</a:t>
            </a:r>
            <a:endParaRPr lang="en-US" altLang="zh-TW" sz="1350" b="1" dirty="0">
              <a:solidFill>
                <a:srgbClr val="C92223"/>
              </a:solidFill>
              <a:latin typeface="微軟正黑體" pitchFamily="34" charset="-120"/>
              <a:ea typeface="微軟正黑體" pitchFamily="34" charset="-120"/>
            </a:endParaRPr>
          </a:p>
          <a:p>
            <a:pPr algn="just"/>
            <a:endParaRPr lang="en-US" altLang="zh-TW" sz="1350" dirty="0">
              <a:latin typeface="微軟正黑體" pitchFamily="34" charset="-120"/>
              <a:ea typeface="微軟正黑體" pitchFamily="34" charset="-120"/>
            </a:endParaRPr>
          </a:p>
          <a:p>
            <a:pPr algn="just"/>
            <a:r>
              <a:rPr lang="zh-TW" altLang="en-US" sz="1350" dirty="0">
                <a:latin typeface="微軟正黑體" pitchFamily="34" charset="-120"/>
                <a:ea typeface="微軟正黑體" pitchFamily="34" charset="-120"/>
              </a:rPr>
              <a:t>本報告所載內容僅供參考，台新綜合證券</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股</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公司不保證其正確性及完整性。內容如涉及任何有價證券或金融市場商品相關記載或說明，並不構成要約、招攬、宣傳、建議或推薦買賣等任何形式之表示，任何人如參考本報告後，所進行相關投資行為或交易，應自行承擔所有損益，本公司並不負任何法律責任。此外，非經本公司同意，不得將本報告內容之一部或全部加以複製、轉載或散布。</a:t>
            </a:r>
          </a:p>
        </p:txBody>
      </p:sp>
    </p:spTree>
    <p:extLst>
      <p:ext uri="{BB962C8B-B14F-4D97-AF65-F5344CB8AC3E}">
        <p14:creationId xmlns:p14="http://schemas.microsoft.com/office/powerpoint/2010/main" val="2021454790"/>
      </p:ext>
    </p:extLst>
  </p:cSld>
  <p:clrMapOvr>
    <a:masterClrMapping/>
  </p:clrMapOvr>
</p:sld>
</file>

<file path=ppt/theme/theme1.xml><?xml version="1.0" encoding="utf-8"?>
<a:theme xmlns:a="http://schemas.openxmlformats.org/drawingml/2006/main" name="報告佈景主題PPT">
  <a:themeElements>
    <a:clrScheme name="複委託4">
      <a:dk1>
        <a:srgbClr val="000000"/>
      </a:dk1>
      <a:lt1>
        <a:srgbClr val="FFFFFF"/>
      </a:lt1>
      <a:dk2>
        <a:srgbClr val="7F7F7F"/>
      </a:dk2>
      <a:lt2>
        <a:srgbClr val="C00000"/>
      </a:lt2>
      <a:accent1>
        <a:srgbClr val="C95E0D"/>
      </a:accent1>
      <a:accent2>
        <a:srgbClr val="704C61"/>
      </a:accent2>
      <a:accent3>
        <a:srgbClr val="C0CBD1"/>
      </a:accent3>
      <a:accent4>
        <a:srgbClr val="8994A6"/>
      </a:accent4>
      <a:accent5>
        <a:srgbClr val="C39E64"/>
      </a:accent5>
      <a:accent6>
        <a:srgbClr val="B8B1A7"/>
      </a:accent6>
      <a:hlink>
        <a:srgbClr val="0070C0"/>
      </a:hlink>
      <a:folHlink>
        <a:srgbClr val="000000"/>
      </a:folHlink>
    </a:clrScheme>
    <a:fontScheme name="台新投顧">
      <a:majorFont>
        <a:latin typeface="微軟正黑體"/>
        <a:ea typeface="微軟正黑體"/>
        <a:cs typeface=""/>
      </a:majorFont>
      <a:minorFont>
        <a:latin typeface="微軟正黑體"/>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
  <TotalTime>13667</TotalTime>
  <Words>2065</Words>
  <Application>Microsoft Office PowerPoint</Application>
  <PresentationFormat>如螢幕大小 (4:3)</PresentationFormat>
  <Paragraphs>187</Paragraphs>
  <Slides>6</Slides>
  <Notes>4</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6</vt:i4>
      </vt:variant>
    </vt:vector>
  </HeadingPairs>
  <TitlesOfParts>
    <vt:vector size="12" baseType="lpstr">
      <vt:lpstr>微軟正黑體</vt:lpstr>
      <vt:lpstr>Arial</vt:lpstr>
      <vt:lpstr>Calibri</vt:lpstr>
      <vt:lpstr>Times New Roman</vt:lpstr>
      <vt:lpstr>Wingdings</vt:lpstr>
      <vt:lpstr>報告佈景主題PPT</vt:lpstr>
      <vt:lpstr>法國電力公司</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台新B2B Team</dc:creator>
  <cp:lastModifiedBy>張軒愷</cp:lastModifiedBy>
  <cp:revision>11418</cp:revision>
  <cp:lastPrinted>2023-05-30T15:19:30Z</cp:lastPrinted>
  <dcterms:created xsi:type="dcterms:W3CDTF">2013-05-02T15:04:30Z</dcterms:created>
  <dcterms:modified xsi:type="dcterms:W3CDTF">2026-04-17T09:07:25Z</dcterms:modified>
</cp:coreProperties>
</file>