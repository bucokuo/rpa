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4.xml" ContentType="application/vnd.openxmlformats-officedocument.presentationml.notesSlide+xml"/>
  <Override PartName="/ppt/charts/chart5.xml" ContentType="application/vnd.openxmlformats-officedocument.drawingml.chart+xml"/>
  <Override PartName="/ppt/theme/themeOverride2.xml" ContentType="application/vnd.openxmlformats-officedocument.themeOverr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3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notesMasterIdLst>
    <p:notesMasterId r:id="rId7"/>
  </p:notesMasterIdLst>
  <p:handoutMasterIdLst>
    <p:handoutMasterId r:id="rId8"/>
  </p:handoutMasterIdLst>
  <p:sldIdLst>
    <p:sldId id="1333" r:id="rId2"/>
    <p:sldId id="1334" r:id="rId3"/>
    <p:sldId id="1350" r:id="rId4"/>
    <p:sldId id="1348" r:id="rId5"/>
    <p:sldId id="1345" r:id="rId6"/>
  </p:sldIdLst>
  <p:sldSz cx="9144000" cy="6858000" type="screen4x3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A71824B8-F3CE-4E38-AD2B-803D36CA02E5}">
          <p14:sldIdLst>
            <p14:sldId id="1333"/>
            <p14:sldId id="1334"/>
            <p14:sldId id="1350"/>
            <p14:sldId id="1348"/>
            <p14:sldId id="134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482" userDrawn="1">
          <p15:clr>
            <a:srgbClr val="A4A3A4"/>
          </p15:clr>
        </p15:guide>
        <p15:guide id="3" orient="horz" pos="590" userDrawn="1">
          <p15:clr>
            <a:srgbClr val="A4A3A4"/>
          </p15:clr>
        </p15:guide>
        <p15:guide id="4" pos="2880" userDrawn="1">
          <p15:clr>
            <a:srgbClr val="A4A3A4"/>
          </p15:clr>
        </p15:guide>
        <p15:guide id="5" pos="295" userDrawn="1">
          <p15:clr>
            <a:srgbClr val="A4A3A4"/>
          </p15:clr>
        </p15:guide>
        <p15:guide id="6" pos="5468" userDrawn="1">
          <p15:clr>
            <a:srgbClr val="A4A3A4"/>
          </p15:clr>
        </p15:guide>
        <p15:guide id="7" orient="horz" pos="1071" userDrawn="1">
          <p15:clr>
            <a:srgbClr val="A4A3A4"/>
          </p15:clr>
        </p15:guide>
        <p15:guide id="8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41" userDrawn="1">
          <p15:clr>
            <a:srgbClr val="A4A3A4"/>
          </p15:clr>
        </p15:guide>
        <p15:guide id="3" orient="horz" pos="3130" userDrawn="1">
          <p15:clr>
            <a:srgbClr val="A4A3A4"/>
          </p15:clr>
        </p15:guide>
        <p15:guide id="4" pos="214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建宇 陳" initials="建宇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6F5"/>
    <a:srgbClr val="0473EA"/>
    <a:srgbClr val="38D200"/>
    <a:srgbClr val="006F52"/>
    <a:srgbClr val="82502D"/>
    <a:srgbClr val="237CD5"/>
    <a:srgbClr val="EE8300"/>
    <a:srgbClr val="FF4747"/>
    <a:srgbClr val="FFCC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淺色樣式 1 - 輔色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7189" autoAdjust="0"/>
  </p:normalViewPr>
  <p:slideViewPr>
    <p:cSldViewPr showGuides="1">
      <p:cViewPr varScale="1">
        <p:scale>
          <a:sx n="87" d="100"/>
          <a:sy n="87" d="100"/>
        </p:scale>
        <p:origin x="3180" y="84"/>
      </p:cViewPr>
      <p:guideLst>
        <p:guide orient="horz" pos="2160"/>
        <p:guide orient="horz" pos="482"/>
        <p:guide orient="horz" pos="590"/>
        <p:guide pos="2880"/>
        <p:guide pos="295"/>
        <p:guide pos="5468"/>
        <p:guide orient="horz" pos="1071"/>
        <p:guide pos="546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0" d="100"/>
          <a:sy n="80" d="100"/>
        </p:scale>
        <p:origin x="-3996" y="-96"/>
      </p:cViewPr>
      <p:guideLst>
        <p:guide orient="horz" pos="3126"/>
        <p:guide pos="2141"/>
        <p:guide orient="horz" pos="3130"/>
        <p:guide pos="214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4.xlsx"/><Relationship Id="rId1" Type="http://schemas.openxmlformats.org/officeDocument/2006/relationships/themeOverride" Target="../theme/themeOverride2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305790828319102"/>
          <c:y val="0.12348121748591269"/>
          <c:w val="0.41086501588779023"/>
          <c:h val="0.63519807797109662"/>
        </c:manualLayout>
      </c:layout>
      <c:doughnutChart>
        <c:varyColors val="1"/>
        <c:ser>
          <c:idx val="0"/>
          <c:order val="0"/>
          <c:tx>
            <c:strRef>
              <c:f>工作表1!$B$1</c:f>
              <c:strCache>
                <c:ptCount val="1"/>
                <c:pt idx="0">
                  <c:v>欄1</c:v>
                </c:pt>
              </c:strCache>
            </c:strRef>
          </c:tx>
          <c:dPt>
            <c:idx val="0"/>
            <c:bubble3D val="0"/>
            <c:spPr>
              <a:solidFill>
                <a:srgbClr val="38D2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712-4D5D-ADC4-F842A46A330B}"/>
              </c:ext>
            </c:extLst>
          </c:dPt>
          <c:dPt>
            <c:idx val="1"/>
            <c:bubble3D val="0"/>
            <c:spPr>
              <a:solidFill>
                <a:srgbClr val="0473E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712-4D5D-ADC4-F842A46A330B}"/>
              </c:ext>
            </c:extLst>
          </c:dPt>
          <c:dPt>
            <c:idx val="2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712-4D5D-ADC4-F842A46A330B}"/>
              </c:ext>
            </c:extLst>
          </c:dPt>
          <c:dPt>
            <c:idx val="3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D712-4D5D-ADC4-F842A46A330B}"/>
              </c:ext>
            </c:extLst>
          </c:dPt>
          <c:dPt>
            <c:idx val="4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815-4876-91B1-13904772A5A5}"/>
              </c:ext>
            </c:extLst>
          </c:dPt>
          <c:dPt>
            <c:idx val="5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815-4876-91B1-13904772A5A5}"/>
              </c:ext>
            </c:extLst>
          </c:dPt>
          <c:dPt>
            <c:idx val="6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6815-4876-91B1-13904772A5A5}"/>
              </c:ext>
            </c:extLst>
          </c:dPt>
          <c:dPt>
            <c:idx val="7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6815-4876-91B1-13904772A5A5}"/>
              </c:ext>
            </c:extLst>
          </c:dPt>
          <c:dPt>
            <c:idx val="8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6815-4876-91B1-13904772A5A5}"/>
              </c:ext>
            </c:extLst>
          </c:dPt>
          <c:dPt>
            <c:idx val="9"/>
            <c:bubble3D val="0"/>
            <c:spPr>
              <a:solidFill>
                <a:schemeClr val="bg1">
                  <a:lumMod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EF85-4D99-90D9-49CFE5DBAF8C}"/>
              </c:ext>
            </c:extLst>
          </c:dPt>
          <c:dLbls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712-4D5D-ADC4-F842A46A33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712-4D5D-ADC4-F842A46A330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815-4876-91B1-13904772A5A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815-4876-91B1-13904772A5A5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815-4876-91B1-13904772A5A5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6815-4876-91B1-13904772A5A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6815-4876-91B1-13904772A5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工作表1!$A$2:$A$11</c:f>
              <c:strCache>
                <c:ptCount val="10"/>
                <c:pt idx="0">
                  <c:v>香港</c:v>
                </c:pt>
                <c:pt idx="1">
                  <c:v>新加坡</c:v>
                </c:pt>
                <c:pt idx="2">
                  <c:v>印度</c:v>
                </c:pt>
                <c:pt idx="3">
                  <c:v>中國</c:v>
                </c:pt>
                <c:pt idx="4">
                  <c:v>美國</c:v>
                </c:pt>
                <c:pt idx="5">
                  <c:v>韓國</c:v>
                </c:pt>
                <c:pt idx="6">
                  <c:v>阿聯酋</c:v>
                </c:pt>
                <c:pt idx="7">
                  <c:v>台灣</c:v>
                </c:pt>
                <c:pt idx="8">
                  <c:v>英國</c:v>
                </c:pt>
                <c:pt idx="9">
                  <c:v>其他</c:v>
                </c:pt>
              </c:strCache>
            </c:strRef>
          </c:cat>
          <c:val>
            <c:numRef>
              <c:f>工作表1!$B$2:$B$11</c:f>
              <c:numCache>
                <c:formatCode>#,##0_);[Red]\(#,##0\)</c:formatCode>
                <c:ptCount val="10"/>
                <c:pt idx="0">
                  <c:v>4764</c:v>
                </c:pt>
                <c:pt idx="1">
                  <c:v>2573</c:v>
                </c:pt>
                <c:pt idx="2">
                  <c:v>1328</c:v>
                </c:pt>
                <c:pt idx="3">
                  <c:v>1321</c:v>
                </c:pt>
                <c:pt idx="4">
                  <c:v>1289</c:v>
                </c:pt>
                <c:pt idx="5">
                  <c:v>1095</c:v>
                </c:pt>
                <c:pt idx="6">
                  <c:v>836</c:v>
                </c:pt>
                <c:pt idx="7">
                  <c:v>577</c:v>
                </c:pt>
                <c:pt idx="8">
                  <c:v>305</c:v>
                </c:pt>
                <c:pt idx="9">
                  <c:v>5608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712-4D5D-ADC4-F842A46A33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5303924543609273"/>
          <c:y val="0.16733892628706079"/>
          <c:w val="0.44411664358049935"/>
          <c:h val="0.603581052536396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>
        <c:manualLayout>
          <c:layoutTarget val="inner"/>
          <c:xMode val="edge"/>
          <c:yMode val="edge"/>
          <c:x val="7.854454993174366E-2"/>
          <c:y val="9.0150430627912295E-2"/>
          <c:w val="0.63098712688734904"/>
          <c:h val="0.87583047832981653"/>
        </c:manualLayout>
      </c:layout>
      <c:doughnutChart>
        <c:varyColors val="1"/>
        <c:ser>
          <c:idx val="0"/>
          <c:order val="0"/>
          <c:tx>
            <c:strRef>
              <c:f>工作表1!$B$1</c:f>
              <c:strCache>
                <c:ptCount val="1"/>
                <c:pt idx="0">
                  <c:v>Revenues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C8C-4AD3-BEA3-32B6490D3604}"/>
              </c:ext>
            </c:extLst>
          </c:dPt>
          <c:dPt>
            <c:idx val="1"/>
            <c:bubble3D val="0"/>
            <c:spPr>
              <a:solidFill>
                <a:schemeClr val="tx2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C8C-4AD3-BEA3-32B6490D3604}"/>
              </c:ext>
            </c:extLst>
          </c:dPt>
          <c:dPt>
            <c:idx val="2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C8C-4AD3-BEA3-32B6490D3604}"/>
              </c:ext>
            </c:extLst>
          </c:dPt>
          <c:dPt>
            <c:idx val="3"/>
            <c:bubble3D val="0"/>
            <c:spPr>
              <a:solidFill>
                <a:schemeClr val="accent5">
                  <a:tint val="77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0C8C-4AD3-BEA3-32B6490D3604}"/>
              </c:ext>
            </c:extLst>
          </c:dPt>
          <c:dPt>
            <c:idx val="4"/>
            <c:bubble3D val="0"/>
            <c:spPr>
              <a:solidFill>
                <a:schemeClr val="accent5">
                  <a:tint val="54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0C8C-4AD3-BEA3-32B6490D3604}"/>
              </c:ext>
            </c:extLst>
          </c:dPt>
          <c:dLbls>
            <c:dLbl>
              <c:idx val="0"/>
              <c:layout>
                <c:manualLayout>
                  <c:x val="4.3581806826214972E-3"/>
                  <c:y val="-7.4801084747299938E-17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C8C-4AD3-BEA3-32B6490D3604}"/>
                </c:ext>
              </c:extLst>
            </c:dLbl>
            <c:dLbl>
              <c:idx val="1"/>
              <c:layout>
                <c:manualLayout>
                  <c:x val="-4.3581806826214972E-3"/>
                  <c:y val="-8.1602126024524525E-3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8C-4AD3-BEA3-32B6490D360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工作表1!$A$2:$A$4</c:f>
              <c:strCache>
                <c:ptCount val="3"/>
                <c:pt idx="0">
                  <c:v>零售</c:v>
                </c:pt>
                <c:pt idx="1">
                  <c:v>商業-批發</c:v>
                </c:pt>
                <c:pt idx="2">
                  <c:v>其他</c:v>
                </c:pt>
              </c:strCache>
            </c:strRef>
          </c:cat>
          <c:val>
            <c:numRef>
              <c:f>工作表1!$B$2:$B$4</c:f>
              <c:numCache>
                <c:formatCode>#,##0.00</c:formatCode>
                <c:ptCount val="3"/>
                <c:pt idx="0">
                  <c:v>0.72117039586919107</c:v>
                </c:pt>
                <c:pt idx="1">
                  <c:v>0.25233854673351791</c:v>
                </c:pt>
                <c:pt idx="2">
                  <c:v>2.6491057397291028E-2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0C8C-4AD3-BEA3-32B6490D3604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4"/>
      </c:doughnut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4416912099980961"/>
          <c:y val="0.18197600890448015"/>
          <c:w val="0.2834042538588773"/>
          <c:h val="0.5971156927678665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prstDash val="solid"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80535206662131"/>
          <c:y val="9.3182953835471358E-2"/>
          <c:w val="0.58550490746747241"/>
          <c:h val="0.79578292470427259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8B8B95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8B9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CFB-46F1-B783-8EE8B8C1DD16}"/>
              </c:ext>
            </c:extLst>
          </c:dPt>
          <c:dPt>
            <c:idx val="3"/>
            <c:invertIfNegative val="0"/>
            <c:bubble3D val="0"/>
            <c:spPr>
              <a:solidFill>
                <a:srgbClr val="006F52"/>
              </a:solidFill>
              <a:ln>
                <a:solidFill>
                  <a:srgbClr val="006F5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CFB-46F1-B783-8EE8B8C1DD16}"/>
              </c:ext>
            </c:extLst>
          </c:dPt>
          <c:dPt>
            <c:idx val="4"/>
            <c:invertIfNegative val="0"/>
            <c:bubble3D val="0"/>
            <c:spPr>
              <a:solidFill>
                <a:srgbClr val="8B8B9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CFB-46F1-B783-8EE8B8C1DD16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8B8B95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  <a:cs typeface="+mn-cs"/>
                    </a:defRPr>
                  </a:pPr>
                  <a:endParaRPr lang="zh-TW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4CFB-46F1-B783-8EE8B8C1DD16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6F52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  <a:cs typeface="+mn-cs"/>
                    </a:defRPr>
                  </a:pPr>
                  <a:endParaRPr lang="zh-TW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4CFB-46F1-B783-8EE8B8C1DD1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8B8B95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工作表1!$C$4:$C$8</c:f>
              <c:strCache>
                <c:ptCount val="5"/>
                <c:pt idx="0">
                  <c:v>匯豐控股</c:v>
                </c:pt>
                <c:pt idx="1">
                  <c:v>巴克萊</c:v>
                </c:pt>
                <c:pt idx="2">
                  <c:v>勞埃德銀行</c:v>
                </c:pt>
                <c:pt idx="3">
                  <c:v>渣打集團</c:v>
                </c:pt>
                <c:pt idx="4">
                  <c:v>國民西敏集團</c:v>
                </c:pt>
              </c:strCache>
            </c:strRef>
          </c:cat>
          <c:val>
            <c:numRef>
              <c:f>工作表1!$D$4:$D$8</c:f>
              <c:numCache>
                <c:formatCode>#,##0.00</c:formatCode>
                <c:ptCount val="5"/>
                <c:pt idx="0">
                  <c:v>65.849999999999994</c:v>
                </c:pt>
                <c:pt idx="1">
                  <c:v>33.85</c:v>
                </c:pt>
                <c:pt idx="2">
                  <c:v>23.56</c:v>
                </c:pt>
                <c:pt idx="3">
                  <c:v>19.7</c:v>
                </c:pt>
                <c:pt idx="4">
                  <c:v>18.62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CFB-46F1-B783-8EE8B8C1DD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9"/>
        <c:axId val="462285920"/>
        <c:axId val="462287168"/>
      </c:barChart>
      <c:catAx>
        <c:axId val="46228592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462287168"/>
        <c:crosses val="autoZero"/>
        <c:auto val="1"/>
        <c:lblAlgn val="ctr"/>
        <c:lblOffset val="100"/>
        <c:noMultiLvlLbl val="0"/>
      </c:catAx>
      <c:valAx>
        <c:axId val="462287168"/>
        <c:scaling>
          <c:orientation val="minMax"/>
        </c:scaling>
        <c:delete val="1"/>
        <c:axPos val="t"/>
        <c:numFmt formatCode="#,##0.00" sourceLinked="1"/>
        <c:majorTickMark val="none"/>
        <c:minorTickMark val="none"/>
        <c:tickLblPos val="nextTo"/>
        <c:crossAx val="4622859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391230470422916E-2"/>
          <c:y val="0.23499406437021822"/>
          <c:w val="0.85670665109750777"/>
          <c:h val="0.5530384346665313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備抵貸款損失</c:v>
                </c:pt>
              </c:strCache>
            </c:strRef>
          </c:tx>
          <c:spPr>
            <a:solidFill>
              <a:srgbClr val="0473EA"/>
            </a:solidFill>
            <a:ln>
              <a:noFill/>
            </a:ln>
            <a:effectLst/>
          </c:spPr>
          <c:invertIfNegative val="0"/>
          <c:dLbls>
            <c:numFmt formatCode="#,##0_ ;[Red]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rgbClr val="0473E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工作表1!$A$2:$A$9</c:f>
              <c:strCache>
                <c:ptCount val="8"/>
                <c:pt idx="0">
                  <c:v>FY17</c:v>
                </c:pt>
                <c:pt idx="1">
                  <c:v>FY18</c:v>
                </c:pt>
                <c:pt idx="2">
                  <c:v>FY19</c:v>
                </c:pt>
                <c:pt idx="3">
                  <c:v>FY20</c:v>
                </c:pt>
                <c:pt idx="4">
                  <c:v>FY21</c:v>
                </c:pt>
                <c:pt idx="5">
                  <c:v>FY22</c:v>
                </c:pt>
                <c:pt idx="6">
                  <c:v>FY23</c:v>
                </c:pt>
                <c:pt idx="7">
                  <c:v>FY24</c:v>
                </c:pt>
              </c:strCache>
            </c:strRef>
          </c:cat>
          <c:val>
            <c:numRef>
              <c:f>工作表1!$B$2:$B$9</c:f>
              <c:numCache>
                <c:formatCode>General</c:formatCode>
                <c:ptCount val="8"/>
                <c:pt idx="0" formatCode="#,##0">
                  <c:v>1362</c:v>
                </c:pt>
                <c:pt idx="1">
                  <c:v>653</c:v>
                </c:pt>
                <c:pt idx="2">
                  <c:v>908</c:v>
                </c:pt>
                <c:pt idx="3" formatCode="#,##0">
                  <c:v>2325</c:v>
                </c:pt>
                <c:pt idx="4" formatCode="#,##0">
                  <c:v>254</c:v>
                </c:pt>
                <c:pt idx="5" formatCode="#,##0">
                  <c:v>836</c:v>
                </c:pt>
                <c:pt idx="6" formatCode="#,##0">
                  <c:v>508</c:v>
                </c:pt>
                <c:pt idx="7" formatCode="#,##0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C4-4B36-998B-F2C40797E69C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普通股可分配淨利</c:v>
                </c:pt>
              </c:strCache>
            </c:strRef>
          </c:tx>
          <c:spPr>
            <a:solidFill>
              <a:srgbClr val="38D2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9183165495663293E-3"/>
                  <c:y val="1.69734434661819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77-4F08-A93A-EE8046E58A5D}"/>
                </c:ext>
              </c:extLst>
            </c:dLbl>
            <c:dLbl>
              <c:idx val="2"/>
              <c:layout>
                <c:manualLayout>
                  <c:x val="5.8366330991326855E-3"/>
                  <c:y val="-1.697344346618208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77-4F08-A93A-EE8046E58A5D}"/>
                </c:ext>
              </c:extLst>
            </c:dLbl>
            <c:numFmt formatCode="#,##0_);[Red]\(#,##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rgbClr val="38D2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工作表1!$A$2:$A$9</c:f>
              <c:strCache>
                <c:ptCount val="8"/>
                <c:pt idx="0">
                  <c:v>FY17</c:v>
                </c:pt>
                <c:pt idx="1">
                  <c:v>FY18</c:v>
                </c:pt>
                <c:pt idx="2">
                  <c:v>FY19</c:v>
                </c:pt>
                <c:pt idx="3">
                  <c:v>FY20</c:v>
                </c:pt>
                <c:pt idx="4">
                  <c:v>FY21</c:v>
                </c:pt>
                <c:pt idx="5">
                  <c:v>FY22</c:v>
                </c:pt>
                <c:pt idx="6">
                  <c:v>FY23</c:v>
                </c:pt>
                <c:pt idx="7">
                  <c:v>FY24</c:v>
                </c:pt>
              </c:strCache>
            </c:strRef>
          </c:cat>
          <c:val>
            <c:numRef>
              <c:f>工作表1!$C$2:$C$9</c:f>
              <c:numCache>
                <c:formatCode>General</c:formatCode>
                <c:ptCount val="8"/>
                <c:pt idx="0">
                  <c:v>774</c:v>
                </c:pt>
                <c:pt idx="1">
                  <c:v>618</c:v>
                </c:pt>
                <c:pt idx="2" formatCode="#,##0">
                  <c:v>1855</c:v>
                </c:pt>
                <c:pt idx="3">
                  <c:v>329</c:v>
                </c:pt>
                <c:pt idx="4" formatCode="#,##0">
                  <c:v>1905</c:v>
                </c:pt>
                <c:pt idx="5">
                  <c:v>2547</c:v>
                </c:pt>
                <c:pt idx="6">
                  <c:v>3017</c:v>
                </c:pt>
                <c:pt idx="7">
                  <c:v>3593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C4-4B36-998B-F2C40797E6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0597335"/>
        <c:axId val="120592743"/>
      </c:barChart>
      <c:lineChart>
        <c:grouping val="standard"/>
        <c:varyColors val="0"/>
        <c:ser>
          <c:idx val="2"/>
          <c:order val="2"/>
          <c:tx>
            <c:strRef>
              <c:f>工作表1!$D$1</c:f>
              <c:strCache>
                <c:ptCount val="1"/>
                <c:pt idx="0">
                  <c:v>可比淨營收*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square"/>
            <c:size val="5"/>
            <c:spPr>
              <a:solidFill>
                <a:schemeClr val="bg1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+mn-cs"/>
                  </a:defRPr>
                </a:pPr>
                <a:endParaRPr lang="zh-TW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工作表1!$A$2:$A$9</c:f>
              <c:strCache>
                <c:ptCount val="8"/>
                <c:pt idx="0">
                  <c:v>FY17</c:v>
                </c:pt>
                <c:pt idx="1">
                  <c:v>FY18</c:v>
                </c:pt>
                <c:pt idx="2">
                  <c:v>FY19</c:v>
                </c:pt>
                <c:pt idx="3">
                  <c:v>FY20</c:v>
                </c:pt>
                <c:pt idx="4">
                  <c:v>FY21</c:v>
                </c:pt>
                <c:pt idx="5">
                  <c:v>FY22</c:v>
                </c:pt>
                <c:pt idx="6">
                  <c:v>FY23</c:v>
                </c:pt>
                <c:pt idx="7">
                  <c:v>FY24</c:v>
                </c:pt>
              </c:strCache>
            </c:strRef>
          </c:cat>
          <c:val>
            <c:numRef>
              <c:f>工作表1!$D$2:$D$9</c:f>
              <c:numCache>
                <c:formatCode>#,##0</c:formatCode>
                <c:ptCount val="8"/>
                <c:pt idx="0">
                  <c:v>14289</c:v>
                </c:pt>
                <c:pt idx="1">
                  <c:v>14968</c:v>
                </c:pt>
                <c:pt idx="2">
                  <c:v>15271</c:v>
                </c:pt>
                <c:pt idx="3">
                  <c:v>14765</c:v>
                </c:pt>
                <c:pt idx="4">
                  <c:v>14713</c:v>
                </c:pt>
                <c:pt idx="5">
                  <c:v>16255</c:v>
                </c:pt>
                <c:pt idx="6">
                  <c:v>17378</c:v>
                </c:pt>
                <c:pt idx="7">
                  <c:v>19696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AC4-4B36-998B-F2C40797E6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58794712"/>
        <c:axId val="858799304"/>
      </c:lineChart>
      <c:valAx>
        <c:axId val="858799304"/>
        <c:scaling>
          <c:orientation val="minMax"/>
          <c:min val="0"/>
        </c:scaling>
        <c:delete val="1"/>
        <c:axPos val="r"/>
        <c:numFmt formatCode="#,##0" sourceLinked="1"/>
        <c:majorTickMark val="out"/>
        <c:minorTickMark val="none"/>
        <c:tickLblPos val="nextTo"/>
        <c:crossAx val="858794712"/>
        <c:crosses val="max"/>
        <c:crossBetween val="between"/>
      </c:valAx>
      <c:dateAx>
        <c:axId val="858794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858799304"/>
        <c:crosses val="autoZero"/>
        <c:auto val="0"/>
        <c:lblOffset val="100"/>
        <c:baseTimeUnit val="days"/>
      </c:dateAx>
      <c:valAx>
        <c:axId val="120592743"/>
        <c:scaling>
          <c:orientation val="minMax"/>
          <c:max val="12000"/>
          <c:min val="0"/>
        </c:scaling>
        <c:delete val="1"/>
        <c:axPos val="l"/>
        <c:numFmt formatCode="#,##0" sourceLinked="1"/>
        <c:majorTickMark val="out"/>
        <c:minorTickMark val="none"/>
        <c:tickLblPos val="nextTo"/>
        <c:crossAx val="120597335"/>
        <c:crosses val="autoZero"/>
        <c:crossBetween val="between"/>
      </c:valAx>
      <c:catAx>
        <c:axId val="12059733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2059274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16628076291805274"/>
          <c:y val="4.2488960955321349E-2"/>
          <c:w val="0.80267840814124958"/>
          <c:h val="0.1557984328153062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6.5229043988631663E-2"/>
          <c:y val="0.2077326532535417"/>
          <c:w val="0.90187801031170345"/>
          <c:h val="0.668939919398998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總債務/EBIT</c:v>
                </c:pt>
              </c:strCache>
            </c:strRef>
          </c:tx>
          <c:spPr>
            <a:solidFill>
              <a:srgbClr val="006F52"/>
            </a:solidFill>
          </c:spPr>
          <c:invertIfNegative val="0"/>
          <c:dLbls>
            <c:numFmt formatCode="#,##0.0_ 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工作表1!$A$2:$A$19</c:f>
              <c:strCache>
                <c:ptCount val="9"/>
                <c:pt idx="0">
                  <c:v>2Q23</c:v>
                </c:pt>
                <c:pt idx="1">
                  <c:v>3Q23</c:v>
                </c:pt>
                <c:pt idx="2">
                  <c:v>4Q23</c:v>
                </c:pt>
                <c:pt idx="3">
                  <c:v>1Q24</c:v>
                </c:pt>
                <c:pt idx="4">
                  <c:v>2Q24</c:v>
                </c:pt>
                <c:pt idx="5">
                  <c:v>3Q24</c:v>
                </c:pt>
                <c:pt idx="6">
                  <c:v>4Q24</c:v>
                </c:pt>
                <c:pt idx="7">
                  <c:v>1Q25</c:v>
                </c:pt>
                <c:pt idx="8">
                  <c:v>2Q25</c:v>
                </c:pt>
              </c:strCache>
            </c:strRef>
          </c:cat>
          <c:val>
            <c:numRef>
              <c:f>工作表1!$B$2:$B$19</c:f>
              <c:numCache>
                <c:formatCode>#,##0.00</c:formatCode>
                <c:ptCount val="9"/>
                <c:pt idx="0">
                  <c:v>22.47</c:v>
                </c:pt>
                <c:pt idx="1">
                  <c:v>24.02</c:v>
                </c:pt>
                <c:pt idx="2">
                  <c:v>19.45</c:v>
                </c:pt>
                <c:pt idx="3" formatCode="General">
                  <c:v>18.57</c:v>
                </c:pt>
                <c:pt idx="4" formatCode="General">
                  <c:v>18.14</c:v>
                </c:pt>
                <c:pt idx="5" formatCode="General">
                  <c:v>17.91</c:v>
                </c:pt>
                <c:pt idx="6" formatCode="General">
                  <c:v>17.510000000000002</c:v>
                </c:pt>
                <c:pt idx="7" formatCode="General">
                  <c:v>17.260000000000002</c:v>
                </c:pt>
                <c:pt idx="8" formatCode="General">
                  <c:v>15.87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E3-4B42-9D33-C6F3FCC43F8C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淨債務/EBIT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</c:spPr>
          <c:invertIfNegative val="0"/>
          <c:dLbls>
            <c:dLbl>
              <c:idx val="3"/>
              <c:layout>
                <c:manualLayout>
                  <c:x val="6.6102161150302522E-3"/>
                  <c:y val="1.1207497551117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8C4A-4C5D-8A07-EE8E97D0B8D8}"/>
                </c:ext>
              </c:extLst>
            </c:dLbl>
            <c:dLbl>
              <c:idx val="5"/>
              <c:layout>
                <c:manualLayout>
                  <c:x val="2.3135756402605762E-2"/>
                  <c:y val="-5.603748775558830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C4A-4C5D-8A07-EE8E97D0B8D8}"/>
                </c:ext>
              </c:extLst>
            </c:dLbl>
            <c:numFmt formatCode="#,##0.0_ ;[Red]\-#,##0.0\ 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工作表1!$A$2:$A$19</c:f>
              <c:strCache>
                <c:ptCount val="9"/>
                <c:pt idx="0">
                  <c:v>2Q23</c:v>
                </c:pt>
                <c:pt idx="1">
                  <c:v>3Q23</c:v>
                </c:pt>
                <c:pt idx="2">
                  <c:v>4Q23</c:v>
                </c:pt>
                <c:pt idx="3">
                  <c:v>1Q24</c:v>
                </c:pt>
                <c:pt idx="4">
                  <c:v>2Q24</c:v>
                </c:pt>
                <c:pt idx="5">
                  <c:v>3Q24</c:v>
                </c:pt>
                <c:pt idx="6">
                  <c:v>4Q24</c:v>
                </c:pt>
                <c:pt idx="7">
                  <c:v>1Q25</c:v>
                </c:pt>
                <c:pt idx="8">
                  <c:v>2Q25</c:v>
                </c:pt>
              </c:strCache>
            </c:strRef>
          </c:cat>
          <c:val>
            <c:numRef>
              <c:f>工作表1!$C$2:$C$19</c:f>
              <c:numCache>
                <c:formatCode>General</c:formatCode>
                <c:ptCount val="9"/>
                <c:pt idx="0">
                  <c:v>-4.6500000000000004</c:v>
                </c:pt>
                <c:pt idx="1">
                  <c:v>-2.0499999999999998</c:v>
                </c:pt>
                <c:pt idx="2">
                  <c:v>-2.17</c:v>
                </c:pt>
                <c:pt idx="3">
                  <c:v>2.02</c:v>
                </c:pt>
                <c:pt idx="4">
                  <c:v>-0.88</c:v>
                </c:pt>
                <c:pt idx="5">
                  <c:v>0.87</c:v>
                </c:pt>
                <c:pt idx="6">
                  <c:v>-0.47</c:v>
                </c:pt>
                <c:pt idx="7">
                  <c:v>-0.21</c:v>
                </c:pt>
                <c:pt idx="8">
                  <c:v>-1.44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E3-4B42-9D33-C6F3FCC43F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34530688"/>
        <c:axId val="234532224"/>
      </c:barChart>
      <c:catAx>
        <c:axId val="23453068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crossAx val="234532224"/>
        <c:crosses val="autoZero"/>
        <c:auto val="1"/>
        <c:lblAlgn val="ctr"/>
        <c:lblOffset val="100"/>
        <c:noMultiLvlLbl val="0"/>
      </c:catAx>
      <c:valAx>
        <c:axId val="234532224"/>
        <c:scaling>
          <c:orientation val="minMax"/>
        </c:scaling>
        <c:delete val="1"/>
        <c:axPos val="l"/>
        <c:numFmt formatCode="#,##0_ ;[Red]\-#,##0\ " sourceLinked="0"/>
        <c:majorTickMark val="out"/>
        <c:minorTickMark val="none"/>
        <c:tickLblPos val="nextTo"/>
        <c:crossAx val="234530688"/>
        <c:crosses val="autoZero"/>
        <c:crossBetween val="between"/>
      </c:valAx>
    </c:plotArea>
    <c:legend>
      <c:legendPos val="t"/>
      <c:layout>
        <c:manualLayout>
          <c:xMode val="edge"/>
          <c:yMode val="edge"/>
          <c:x val="0.26168804620489017"/>
          <c:y val="0"/>
          <c:w val="0.70836819528348061"/>
          <c:h val="0.24075293204020579"/>
        </c:manualLayout>
      </c:layout>
      <c:overlay val="0"/>
      <c:txPr>
        <a:bodyPr/>
        <a:lstStyle/>
        <a:p>
          <a:pPr>
            <a:defRPr sz="1200" b="1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800"/>
      </a:pPr>
      <a:endParaRPr lang="zh-TW"/>
    </a:p>
  </c:txPr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7"/>
          <c:order val="7"/>
          <c:tx>
            <c:strRef>
              <c:f>工作表1!$I$1</c:f>
              <c:strCache>
                <c:ptCount val="1"/>
                <c:pt idx="0">
                  <c:v>2Q24</c:v>
                </c:pt>
              </c:strCache>
            </c:strRef>
          </c:tx>
          <c:spPr>
            <a:solidFill>
              <a:schemeClr val="accent5">
                <a:tint val="84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工作表1!$A$2:$A$3</c:f>
              <c:strCache>
                <c:ptCount val="2"/>
                <c:pt idx="0">
                  <c:v>普通股權一級資本比率(%)</c:v>
                </c:pt>
                <c:pt idx="1">
                  <c:v>總資本比率(%)</c:v>
                </c:pt>
              </c:strCache>
            </c:strRef>
          </c:cat>
          <c:val>
            <c:numRef>
              <c:f>工作表1!$I$2:$I$3</c:f>
              <c:numCache>
                <c:formatCode>General</c:formatCode>
                <c:ptCount val="2"/>
                <c:pt idx="0">
                  <c:v>14.6</c:v>
                </c:pt>
                <c:pt idx="1">
                  <c:v>22.1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9B1-4FB5-93DB-A6745D6DC64E}"/>
            </c:ext>
          </c:extLst>
        </c:ser>
        <c:ser>
          <c:idx val="8"/>
          <c:order val="8"/>
          <c:tx>
            <c:strRef>
              <c:f>工作表1!$J$1</c:f>
              <c:strCache>
                <c:ptCount val="1"/>
                <c:pt idx="0">
                  <c:v>3Q24</c:v>
                </c:pt>
              </c:strCache>
            </c:strRef>
          </c:tx>
          <c:spPr>
            <a:solidFill>
              <a:schemeClr val="accent5">
                <a:tint val="74000"/>
              </a:schemeClr>
            </a:solidFill>
            <a:ln>
              <a:noFill/>
            </a:ln>
            <a:effectLst/>
          </c:spPr>
          <c:invertIfNegative val="0"/>
          <c:cat>
            <c:strRef>
              <c:f>工作表1!$A$2:$A$3</c:f>
              <c:strCache>
                <c:ptCount val="2"/>
                <c:pt idx="0">
                  <c:v>普通股權一級資本比率(%)</c:v>
                </c:pt>
                <c:pt idx="1">
                  <c:v>總資本比率(%)</c:v>
                </c:pt>
              </c:strCache>
            </c:strRef>
          </c:cat>
          <c:val>
            <c:numRef>
              <c:f>工作表1!$J$2:$J$3</c:f>
              <c:numCache>
                <c:formatCode>General</c:formatCode>
                <c:ptCount val="2"/>
                <c:pt idx="0">
                  <c:v>14.2</c:v>
                </c:pt>
                <c:pt idx="1">
                  <c:v>21.6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9B1-4FB5-93DB-A6745D6DC64E}"/>
            </c:ext>
          </c:extLst>
        </c:ser>
        <c:ser>
          <c:idx val="9"/>
          <c:order val="9"/>
          <c:tx>
            <c:strRef>
              <c:f>工作表1!$K$1</c:f>
              <c:strCache>
                <c:ptCount val="1"/>
                <c:pt idx="0">
                  <c:v>4Q24</c:v>
                </c:pt>
              </c:strCache>
            </c:strRef>
          </c:tx>
          <c:spPr>
            <a:solidFill>
              <a:schemeClr val="accent5">
                <a:tint val="63000"/>
              </a:schemeClr>
            </a:solidFill>
            <a:ln>
              <a:noFill/>
            </a:ln>
            <a:effectLst/>
          </c:spPr>
          <c:invertIfNegative val="0"/>
          <c:cat>
            <c:strRef>
              <c:f>工作表1!$A$2:$A$3</c:f>
              <c:strCache>
                <c:ptCount val="2"/>
                <c:pt idx="0">
                  <c:v>普通股權一級資本比率(%)</c:v>
                </c:pt>
                <c:pt idx="1">
                  <c:v>總資本比率(%)</c:v>
                </c:pt>
              </c:strCache>
            </c:strRef>
          </c:cat>
          <c:val>
            <c:numRef>
              <c:f>工作表1!$K$2:$K$3</c:f>
              <c:numCache>
                <c:formatCode>General</c:formatCode>
                <c:ptCount val="2"/>
                <c:pt idx="0">
                  <c:v>14.2</c:v>
                </c:pt>
                <c:pt idx="1">
                  <c:v>21.5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9B1-4FB5-93DB-A6745D6DC64E}"/>
            </c:ext>
          </c:extLst>
        </c:ser>
        <c:ser>
          <c:idx val="10"/>
          <c:order val="10"/>
          <c:tx>
            <c:strRef>
              <c:f>工作表1!$L$1</c:f>
              <c:strCache>
                <c:ptCount val="1"/>
                <c:pt idx="0">
                  <c:v>1Q25</c:v>
                </c:pt>
              </c:strCache>
            </c:strRef>
          </c:tx>
          <c:spPr>
            <a:solidFill>
              <a:schemeClr val="accent5">
                <a:tint val="52000"/>
              </a:schemeClr>
            </a:solidFill>
            <a:ln>
              <a:noFill/>
            </a:ln>
            <a:effectLst/>
          </c:spPr>
          <c:invertIfNegative val="0"/>
          <c:cat>
            <c:strRef>
              <c:f>工作表1!$A$2:$A$3</c:f>
              <c:strCache>
                <c:ptCount val="2"/>
                <c:pt idx="0">
                  <c:v>普通股權一級資本比率(%)</c:v>
                </c:pt>
                <c:pt idx="1">
                  <c:v>總資本比率(%)</c:v>
                </c:pt>
              </c:strCache>
            </c:strRef>
          </c:cat>
          <c:val>
            <c:numRef>
              <c:f>工作表1!$L$2:$L$3</c:f>
              <c:numCache>
                <c:formatCode>General</c:formatCode>
                <c:ptCount val="2"/>
                <c:pt idx="0">
                  <c:v>13.8</c:v>
                </c:pt>
                <c:pt idx="1">
                  <c:v>20.9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9B1-4FB5-93DB-A6745D6DC64E}"/>
            </c:ext>
          </c:extLst>
        </c:ser>
        <c:ser>
          <c:idx val="11"/>
          <c:order val="11"/>
          <c:tx>
            <c:strRef>
              <c:f>工作表1!$M$1</c:f>
              <c:strCache>
                <c:ptCount val="1"/>
                <c:pt idx="0">
                  <c:v>2Q25</c:v>
                </c:pt>
              </c:strCache>
            </c:strRef>
          </c:tx>
          <c:spPr>
            <a:solidFill>
              <a:srgbClr val="006F5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工作表1!$A$2:$A$3</c:f>
              <c:strCache>
                <c:ptCount val="2"/>
                <c:pt idx="0">
                  <c:v>普通股權一級資本比率(%)</c:v>
                </c:pt>
                <c:pt idx="1">
                  <c:v>總資本比率(%)</c:v>
                </c:pt>
              </c:strCache>
            </c:strRef>
          </c:cat>
          <c:val>
            <c:numRef>
              <c:f>工作表1!$M$2:$M$3</c:f>
              <c:numCache>
                <c:formatCode>General</c:formatCode>
                <c:ptCount val="2"/>
                <c:pt idx="0">
                  <c:v>14.3</c:v>
                </c:pt>
                <c:pt idx="1">
                  <c:v>20.5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9B1-4FB5-93DB-A6745D6DC6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42999128"/>
        <c:axId val="84299781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工作表1!$B$1</c15:sqref>
                        </c15:formulaRef>
                      </c:ext>
                    </c:extLst>
                    <c:strCache>
                      <c:ptCount val="1"/>
                      <c:pt idx="0">
                        <c:v>3Q22</c:v>
                      </c:pt>
                    </c:strCache>
                  </c:strRef>
                </c:tx>
                <c:spPr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_);[Red]\(#,##0.0\)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8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zh-TW"/>
                    </a:p>
                  </c:txPr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工作表1!$A$2:$A$3</c15:sqref>
                        </c15:formulaRef>
                      </c:ext>
                    </c:extLst>
                    <c:strCache>
                      <c:ptCount val="2"/>
                      <c:pt idx="0">
                        <c:v>普通股權一級資本比率(%)</c:v>
                      </c:pt>
                      <c:pt idx="1">
                        <c:v>總資本比率(%)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工作表1!$B$2:$B$3</c15:sqref>
                        </c15:formulaRef>
                      </c:ext>
                    </c:extLst>
                    <c:numCache>
                      <c:formatCode>General</c:formatCode>
                      <c:ptCount val="2"/>
                      <c:pt idx="0">
                        <c:v>13.7</c:v>
                      </c:pt>
                      <c:pt idx="1">
                        <c:v>21.2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755F-46EA-8F9E-78BA2107A64A}"/>
                  </c:ext>
                </c:extLst>
              </c15:ser>
            </c15:filteredBarSeries>
            <c15:filteredBar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工作表1!$C$1</c15:sqref>
                        </c15:formulaRef>
                      </c:ext>
                    </c:extLst>
                    <c:strCache>
                      <c:ptCount val="1"/>
                      <c:pt idx="0">
                        <c:v>4Q22</c:v>
                      </c:pt>
                    </c:strCache>
                  </c:strRef>
                </c:tx>
                <c:spPr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工作表1!$A$2:$A$3</c15:sqref>
                        </c15:formulaRef>
                      </c:ext>
                    </c:extLst>
                    <c:strCache>
                      <c:ptCount val="2"/>
                      <c:pt idx="0">
                        <c:v>普通股權一級資本比率(%)</c:v>
                      </c:pt>
                      <c:pt idx="1">
                        <c:v>總資本比率(%)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工作表1!$C$2:$C$3</c15:sqref>
                        </c15:formulaRef>
                      </c:ext>
                    </c:extLst>
                    <c:numCache>
                      <c:formatCode>General</c:formatCode>
                      <c:ptCount val="2"/>
                      <c:pt idx="0">
                        <c:v>14</c:v>
                      </c:pt>
                      <c:pt idx="1">
                        <c:v>21.7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1-755F-46EA-8F9E-78BA2107A64A}"/>
                  </c:ext>
                </c:extLst>
              </c15:ser>
            </c15:filteredBarSeries>
            <c15:filteredBar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工作表1!$D$1</c15:sqref>
                        </c15:formulaRef>
                      </c:ext>
                    </c:extLst>
                    <c:strCache>
                      <c:ptCount val="1"/>
                      <c:pt idx="0">
                        <c:v>1Q23</c:v>
                      </c:pt>
                    </c:strCache>
                  </c:strRef>
                </c:tx>
                <c:spPr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工作表1!$A$2:$A$3</c15:sqref>
                        </c15:formulaRef>
                      </c:ext>
                    </c:extLst>
                    <c:strCache>
                      <c:ptCount val="2"/>
                      <c:pt idx="0">
                        <c:v>普通股權一級資本比率(%)</c:v>
                      </c:pt>
                      <c:pt idx="1">
                        <c:v>總資本比率(%)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工作表1!$D$2:$D$3</c15:sqref>
                        </c15:formulaRef>
                      </c:ext>
                    </c:extLst>
                    <c:numCache>
                      <c:formatCode>General</c:formatCode>
                      <c:ptCount val="2"/>
                      <c:pt idx="0">
                        <c:v>13.7</c:v>
                      </c:pt>
                      <c:pt idx="1">
                        <c:v>20.9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755F-46EA-8F9E-78BA2107A64A}"/>
                  </c:ext>
                </c:extLst>
              </c15:ser>
            </c15:filteredBarSeries>
            <c15:filteredBar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工作表1!$E$1</c15:sqref>
                        </c15:formulaRef>
                      </c:ext>
                    </c:extLst>
                    <c:strCache>
                      <c:ptCount val="1"/>
                      <c:pt idx="0">
                        <c:v>2Q23</c:v>
                      </c:pt>
                    </c:strCache>
                  </c:strRef>
                </c:tx>
                <c:spPr>
                  <a:solidFill>
                    <a:schemeClr val="bg1">
                      <a:lumMod val="6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工作表1!$A$2:$A$3</c15:sqref>
                        </c15:formulaRef>
                      </c:ext>
                    </c:extLst>
                    <c:strCache>
                      <c:ptCount val="2"/>
                      <c:pt idx="0">
                        <c:v>普通股權一級資本比率(%)</c:v>
                      </c:pt>
                      <c:pt idx="1">
                        <c:v>總資本比率(%)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工作表1!$E$2:$E$3</c15:sqref>
                        </c15:formulaRef>
                      </c:ext>
                    </c:extLst>
                    <c:numCache>
                      <c:formatCode>General</c:formatCode>
                      <c:ptCount val="2"/>
                      <c:pt idx="0">
                        <c:v>14</c:v>
                      </c:pt>
                      <c:pt idx="1">
                        <c:v>21.1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3-755F-46EA-8F9E-78BA2107A64A}"/>
                  </c:ext>
                </c:extLst>
              </c15:ser>
            </c15:filteredBarSeries>
            <c15:filteredBar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工作表1!$F$1</c15:sqref>
                        </c15:formulaRef>
                      </c:ext>
                    </c:extLst>
                    <c:strCache>
                      <c:ptCount val="1"/>
                      <c:pt idx="0">
                        <c:v>3Q23</c:v>
                      </c:pt>
                    </c:strCache>
                  </c:strRef>
                </c:tx>
                <c:spPr>
                  <a:solidFill>
                    <a:schemeClr val="bg1">
                      <a:lumMod val="5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_ 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8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zh-TW"/>
                    </a:p>
                  </c:txPr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工作表1!$A$2:$A$3</c15:sqref>
                        </c15:formulaRef>
                      </c:ext>
                    </c:extLst>
                    <c:strCache>
                      <c:ptCount val="2"/>
                      <c:pt idx="0">
                        <c:v>普通股權一級資本比率(%)</c:v>
                      </c:pt>
                      <c:pt idx="1">
                        <c:v>總資本比率(%)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工作表1!$F$2:$F$3</c15:sqref>
                        </c15:formulaRef>
                      </c:ext>
                    </c:extLst>
                    <c:numCache>
                      <c:formatCode>General</c:formatCode>
                      <c:ptCount val="2"/>
                      <c:pt idx="0">
                        <c:v>13.9</c:v>
                      </c:pt>
                      <c:pt idx="1">
                        <c:v>21.2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755F-46EA-8F9E-78BA2107A64A}"/>
                  </c:ext>
                </c:extLst>
              </c15:ser>
            </c15:filteredBarSeries>
            <c15:filteredBarSeries>
              <c15:ser>
                <c:idx val="5"/>
                <c:order val="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工作表1!$G$1</c15:sqref>
                        </c15:formulaRef>
                      </c:ext>
                    </c:extLst>
                    <c:strCache>
                      <c:ptCount val="1"/>
                      <c:pt idx="0">
                        <c:v>4Q23</c:v>
                      </c:pt>
                    </c:strCache>
                  </c:strRef>
                </c:tx>
                <c:spPr>
                  <a:solidFill>
                    <a:schemeClr val="accent5">
                      <a:shade val="94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工作表1!$A$2:$A$3</c15:sqref>
                        </c15:formulaRef>
                      </c:ext>
                    </c:extLst>
                    <c:strCache>
                      <c:ptCount val="2"/>
                      <c:pt idx="0">
                        <c:v>普通股權一級資本比率(%)</c:v>
                      </c:pt>
                      <c:pt idx="1">
                        <c:v>總資本比率(%)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工作表1!$G$2:$G$3</c15:sqref>
                        </c15:formulaRef>
                      </c:ext>
                    </c:extLst>
                    <c:numCache>
                      <c:formatCode>General</c:formatCode>
                      <c:ptCount val="2"/>
                      <c:pt idx="0">
                        <c:v>14.1</c:v>
                      </c:pt>
                      <c:pt idx="1">
                        <c:v>21.2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D9B1-4FB5-93DB-A6745D6DC64E}"/>
                  </c:ext>
                </c:extLst>
              </c15:ser>
            </c15:filteredBarSeries>
            <c15:filteredBarSeries>
              <c15:ser>
                <c:idx val="6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工作表1!$H$1</c15:sqref>
                        </c15:formulaRef>
                      </c:ext>
                    </c:extLst>
                    <c:strCache>
                      <c:ptCount val="1"/>
                      <c:pt idx="0">
                        <c:v>1Q24</c:v>
                      </c:pt>
                    </c:strCache>
                  </c:strRef>
                </c:tx>
                <c:spPr>
                  <a:solidFill>
                    <a:schemeClr val="accent5">
                      <a:tint val="9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工作表1!$A$2:$A$3</c15:sqref>
                        </c15:formulaRef>
                      </c:ext>
                    </c:extLst>
                    <c:strCache>
                      <c:ptCount val="2"/>
                      <c:pt idx="0">
                        <c:v>普通股權一級資本比率(%)</c:v>
                      </c:pt>
                      <c:pt idx="1">
                        <c:v>總資本比率(%)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工作表1!$H$2:$H$3</c15:sqref>
                        </c15:formulaRef>
                      </c:ext>
                    </c:extLst>
                    <c:numCache>
                      <c:formatCode>General</c:formatCode>
                      <c:ptCount val="2"/>
                      <c:pt idx="0">
                        <c:v>13.6</c:v>
                      </c:pt>
                      <c:pt idx="1">
                        <c:v>20.8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3-D9B1-4FB5-93DB-A6745D6DC64E}"/>
                  </c:ext>
                </c:extLst>
              </c15:ser>
            </c15:filteredBarSeries>
          </c:ext>
        </c:extLst>
      </c:barChart>
      <c:catAx>
        <c:axId val="842999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842997816"/>
        <c:crosses val="autoZero"/>
        <c:auto val="1"/>
        <c:lblAlgn val="ctr"/>
        <c:lblOffset val="100"/>
        <c:noMultiLvlLbl val="0"/>
      </c:catAx>
      <c:valAx>
        <c:axId val="842997816"/>
        <c:scaling>
          <c:orientation val="minMax"/>
          <c:max val="25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8429991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6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 mods="ignoreCSTransforms">
      <cs:styleClr val="0">
        <a:shade val="25000"/>
      </cs:styl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 mods="ignoreCSTransforms">
      <cs:styleClr val="0">
        <a:tint val="25000"/>
      </cs:styl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50052" cy="497126"/>
          </a:xfrm>
          <a:prstGeom prst="rect">
            <a:avLst/>
          </a:prstGeom>
        </p:spPr>
        <p:txBody>
          <a:bodyPr vert="horz" lIns="91468" tIns="45733" rIns="91468" bIns="45733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5563" y="2"/>
            <a:ext cx="2950051" cy="497126"/>
          </a:xfrm>
          <a:prstGeom prst="rect">
            <a:avLst/>
          </a:prstGeom>
        </p:spPr>
        <p:txBody>
          <a:bodyPr vert="horz" lIns="91468" tIns="45733" rIns="91468" bIns="45733" rtlCol="0"/>
          <a:lstStyle>
            <a:lvl1pPr algn="r">
              <a:defRPr sz="1200"/>
            </a:lvl1pPr>
          </a:lstStyle>
          <a:p>
            <a:fld id="{DB0088FA-AB4C-4EE3-831C-E6A5D9B6A47F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40624"/>
            <a:ext cx="2950052" cy="497126"/>
          </a:xfrm>
          <a:prstGeom prst="rect">
            <a:avLst/>
          </a:prstGeom>
        </p:spPr>
        <p:txBody>
          <a:bodyPr vert="horz" lIns="91468" tIns="45733" rIns="91468" bIns="45733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5563" y="9440624"/>
            <a:ext cx="2950051" cy="497126"/>
          </a:xfrm>
          <a:prstGeom prst="rect">
            <a:avLst/>
          </a:prstGeom>
        </p:spPr>
        <p:txBody>
          <a:bodyPr vert="horz" lIns="91468" tIns="45733" rIns="91468" bIns="45733" rtlCol="0" anchor="b"/>
          <a:lstStyle>
            <a:lvl1pPr algn="r">
              <a:defRPr sz="1200"/>
            </a:lvl1pPr>
          </a:lstStyle>
          <a:p>
            <a:fld id="{E6DE1C6A-2ED3-47EA-84F1-8271108DD2D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8906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9" y="2"/>
            <a:ext cx="2949786" cy="496967"/>
          </a:xfrm>
          <a:prstGeom prst="rect">
            <a:avLst/>
          </a:prstGeom>
        </p:spPr>
        <p:txBody>
          <a:bodyPr vert="horz" lIns="91160" tIns="45572" rIns="91160" bIns="45572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39" y="2"/>
            <a:ext cx="2949786" cy="496967"/>
          </a:xfrm>
          <a:prstGeom prst="rect">
            <a:avLst/>
          </a:prstGeom>
        </p:spPr>
        <p:txBody>
          <a:bodyPr vert="horz" lIns="91160" tIns="45572" rIns="91160" bIns="45572" rtlCol="0"/>
          <a:lstStyle>
            <a:lvl1pPr algn="r">
              <a:defRPr sz="1200"/>
            </a:lvl1pPr>
          </a:lstStyle>
          <a:p>
            <a:fld id="{35708A9D-C909-4D66-A4DC-8E952B844F82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6125"/>
            <a:ext cx="4968875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60" tIns="45572" rIns="91160" bIns="45572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21186"/>
            <a:ext cx="5445760" cy="4472702"/>
          </a:xfrm>
          <a:prstGeom prst="rect">
            <a:avLst/>
          </a:prstGeom>
        </p:spPr>
        <p:txBody>
          <a:bodyPr vert="horz" lIns="91160" tIns="45572" rIns="91160" bIns="45572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9" y="9440676"/>
            <a:ext cx="2949786" cy="496967"/>
          </a:xfrm>
          <a:prstGeom prst="rect">
            <a:avLst/>
          </a:prstGeom>
        </p:spPr>
        <p:txBody>
          <a:bodyPr vert="horz" lIns="91160" tIns="45572" rIns="91160" bIns="45572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39" y="9440676"/>
            <a:ext cx="2949786" cy="496967"/>
          </a:xfrm>
          <a:prstGeom prst="rect">
            <a:avLst/>
          </a:prstGeom>
        </p:spPr>
        <p:txBody>
          <a:bodyPr vert="horz" lIns="91160" tIns="45572" rIns="91160" bIns="45572" rtlCol="0" anchor="b"/>
          <a:lstStyle>
            <a:lvl1pPr algn="r">
              <a:defRPr sz="1200"/>
            </a:lvl1pPr>
          </a:lstStyle>
          <a:p>
            <a:fld id="{677EE9C5-7ACF-43E8-ABC9-16737D2E075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1939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919163" y="746125"/>
            <a:ext cx="4968875" cy="3725863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5496">
              <a:defRPr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官網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https://www.lloydsbankinggroup.com/who-we-are/our-heritage/lloyds-bank.html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官網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https://www.lloydsbankinggroup.com/media/press-releases/2025/lloyds-banking-group-2025/outstanding-in-euromoney-report.html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官網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https://www.lloydsbankinggroup.com/who-we-are/our-brands/lloyds-bank.html</a:t>
            </a: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S&amp;P Global 2025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https://www.capitaliq.spglobal.com/apisv3/spg-webplatform-core/news/article?id=88404022&amp;KeyProductLinkType=14&amp;utm_campaign=top_news_2&amp;utm_medium=top_news&amp;utm_source=news_home</a:t>
            </a: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Statista</a:t>
            </a: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https://www.statista.com/statistics/940560/number-of-customers-at-select-banks-in-the-united-kingdom/</a:t>
            </a: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Evident AI global index</a:t>
            </a: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https://evidentinsights.com/bankingbrief/heres-the-2025-evident-ai-index/</a:t>
            </a: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Forbes Global 2000</a:t>
            </a:r>
          </a:p>
          <a:p>
            <a:pPr defTabSz="915496"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https://www.forbes.com/lists/global2000-united-kingdom/</a:t>
            </a: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i="0" dirty="0">
                <a:solidFill>
                  <a:srgbClr val="000000"/>
                </a:solidFill>
                <a:effectLst/>
                <a:latin typeface="GT Ultra Standard Regular"/>
              </a:rPr>
              <a:t>Since 1765, Lloyds Bank has been serving the people, businesses and communities of Britain.(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官網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1)</a:t>
            </a:r>
          </a:p>
          <a:p>
            <a:pPr defTabSz="915496">
              <a:defRPr/>
            </a:pPr>
            <a:r>
              <a:rPr lang="zh-TW" altLang="en-US" b="0" i="0" dirty="0">
                <a:solidFill>
                  <a:srgbClr val="000000"/>
                </a:solidFill>
                <a:effectLst/>
                <a:latin typeface="GT Ultra Standard Regular"/>
              </a:rPr>
              <a:t>自</a:t>
            </a:r>
            <a:r>
              <a:rPr lang="en-US" altLang="zh-TW" b="0" i="0" dirty="0">
                <a:solidFill>
                  <a:srgbClr val="000000"/>
                </a:solidFill>
                <a:effectLst/>
                <a:latin typeface="GT Ultra Standard Regular"/>
              </a:rPr>
              <a:t>1765</a:t>
            </a:r>
            <a:r>
              <a:rPr lang="zh-TW" altLang="en-US" b="0" i="0" dirty="0">
                <a:solidFill>
                  <a:srgbClr val="000000"/>
                </a:solidFill>
                <a:effectLst/>
                <a:latin typeface="GT Ultra Standard Regular"/>
              </a:rPr>
              <a:t>年以來，</a:t>
            </a:r>
            <a:r>
              <a:rPr lang="en-US" altLang="zh-TW" b="0" i="0" dirty="0">
                <a:solidFill>
                  <a:srgbClr val="000000"/>
                </a:solidFill>
                <a:effectLst/>
                <a:latin typeface="GT Ultra Standard Regular"/>
              </a:rPr>
              <a:t>LB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致力於</a:t>
            </a:r>
            <a:r>
              <a:rPr lang="zh-TW" altLang="en-US" b="0" i="0" dirty="0">
                <a:solidFill>
                  <a:srgbClr val="000000"/>
                </a:solidFill>
                <a:effectLst/>
                <a:latin typeface="GT Ultra Standard Regular"/>
              </a:rPr>
              <a:t>服務英國的民眾、企業和社區。</a:t>
            </a:r>
            <a:r>
              <a:rPr lang="en-US" altLang="zh-TW" b="0" i="0" dirty="0">
                <a:solidFill>
                  <a:srgbClr val="000000"/>
                </a:solidFill>
                <a:effectLst/>
                <a:latin typeface="GT Ultra Standard Regular"/>
              </a:rPr>
              <a:t>(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官網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1)</a:t>
            </a:r>
            <a:endParaRPr lang="en-US" altLang="zh-TW" b="0" i="0" dirty="0">
              <a:solidFill>
                <a:srgbClr val="000000"/>
              </a:solidFill>
              <a:effectLst/>
              <a:latin typeface="GT Ultra Standard Regular"/>
            </a:endParaRPr>
          </a:p>
          <a:p>
            <a:pPr defTabSz="915496">
              <a:defRPr/>
            </a:pPr>
            <a:endParaRPr lang="en-US" altLang="zh-TW" b="0" i="0" dirty="0">
              <a:solidFill>
                <a:srgbClr val="000000"/>
              </a:solidFill>
              <a:effectLst/>
              <a:latin typeface="GT Ultra Standard Regular"/>
            </a:endParaRPr>
          </a:p>
          <a:p>
            <a:pPr defTabSz="915496">
              <a:defRPr/>
            </a:pPr>
            <a:r>
              <a:rPr lang="en-US" altLang="zh-TW" b="0" i="0" dirty="0">
                <a:solidFill>
                  <a:srgbClr val="000000"/>
                </a:solidFill>
                <a:effectLst/>
                <a:latin typeface="GT Ultra Standard Regular"/>
              </a:rPr>
              <a:t>As the UK’s largest retail bank and mortgage lender(</a:t>
            </a:r>
            <a:r>
              <a:rPr lang="zh-TW" altLang="en-US" b="0" i="0" dirty="0">
                <a:solidFill>
                  <a:srgbClr val="000000"/>
                </a:solidFill>
                <a:effectLst/>
                <a:latin typeface="GT Ultra Standard Regular"/>
              </a:rPr>
              <a:t>官網</a:t>
            </a:r>
            <a:r>
              <a:rPr lang="en-US" altLang="zh-TW" b="0" i="0" dirty="0">
                <a:solidFill>
                  <a:srgbClr val="000000"/>
                </a:solidFill>
                <a:effectLst/>
                <a:latin typeface="GT Ultra Standard Regular"/>
              </a:rPr>
              <a:t>2)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作為英國最大的零售銀行和房貸貸款機構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 offer a comprehensive range of financial products and services shaped to suit individual needs, from current accounts, savings, mortgages, loans and credit cards, to private banking and wealth management services. (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官網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2)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我們提供一系列全面的金融產品和服務，以符合個別需求，從活期帳戶、儲蓄、抵押貸款、貸款和信用卡，到私人銀行和財富管理服務。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官網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2)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Ring-Fenced Banks sub-group containing Lloyds Bank plc and Bank of Scotland plc (including the Halifax and MBNA businesses), serving both their personal and commercial customers 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圍欄銀行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包括勞合社銀行有限公司（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Lloyds Bank plc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）及蘇格蘭銀行有限公司（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Bank of Scotland plc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）（包括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Halifax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MBNA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業務），為其個人和商業客戶提供服務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Lloyds (#15) jumped up 12 spots, beating out NatWest (#16) and Barclays (#23) to be the second-best in the U.K. behind HSBC (#8). The bank rolled its first large-scale Gen AI product out this year and has the sixth-most AI use cases with outcomes of the 50 banks we track. 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勞埃德（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#15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）上升了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個名次，超越了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NatWest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#16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）和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Barclays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#23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），成為英國第二佳銀行，僅次於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HSBC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#8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）。該銀行今年推出了首個大規模生成式人工智慧產品，並且在追蹤的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50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家銀行中，擁有第六多的人工智慧應用案例及結果。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(Evident AI global index)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>
              <a:solidFill>
                <a:schemeClr val="tx1">
                  <a:lumMod val="85000"/>
                  <a:lumOff val="1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英國銀行總資產排名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S&amp;P Global 2025)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英國銀行客戶數排名</a:t>
            </a:r>
            <a:r>
              <a:rPr lang="en-US" altLang="zh-TW" sz="12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(Statista 2025)</a:t>
            </a:r>
            <a:endParaRPr lang="en-US" altLang="zh-TW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英國企業排名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(Forbes Global 2000)</a:t>
            </a:r>
          </a:p>
          <a:p>
            <a:pPr marL="0" marR="0" lvl="0" indent="0" algn="l" defTabSz="91549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defTabSz="915496">
              <a:defRPr/>
            </a:pP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EE9C5-7ACF-43E8-ABC9-16737D2E075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93058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919163" y="746125"/>
            <a:ext cx="4968875" cy="3725863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7EE9C5-7ACF-43E8-ABC9-16737D2E075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16044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年報</a:t>
            </a:r>
            <a:endParaRPr lang="en-US" altLang="zh-TW" dirty="0"/>
          </a:p>
          <a:p>
            <a:r>
              <a:rPr lang="en-US" altLang="zh-TW" dirty="0"/>
              <a:t>https://av.sc.com/hk/zh/content/docs/hk-c-annual-report-2024.pdf</a:t>
            </a:r>
          </a:p>
          <a:p>
            <a:endParaRPr lang="en-US" altLang="zh-TW" dirty="0"/>
          </a:p>
          <a:p>
            <a:r>
              <a:rPr lang="en-US" altLang="zh-TW" dirty="0"/>
              <a:t>https://av.sc.com/corp-en/nr/content/docs/standard-chartered-plc-full-year-2024-press-release.pdf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7EE9C5-7ACF-43E8-ABC9-16737D2E075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1639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穆迪</a:t>
            </a:r>
            <a:endParaRPr lang="en-US" altLang="zh-TW" dirty="0"/>
          </a:p>
          <a:p>
            <a:r>
              <a:rPr lang="en-US" altLang="zh-TW" dirty="0"/>
              <a:t>https://av.sc.com/corp-en/nr/content/docs/Credit_Opinion-Standard-Chartered-PLC-Update-26May2025-PBC_1444248.pdf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7EE9C5-7ACF-43E8-ABC9-16737D2E075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643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keyV_right_A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798" r="19273"/>
          <a:stretch>
            <a:fillRect/>
          </a:stretch>
        </p:blipFill>
        <p:spPr bwMode="auto">
          <a:xfrm>
            <a:off x="2627313" y="690563"/>
            <a:ext cx="6516687" cy="142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圖片 9" descr="BIG5__bar條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8250" y="0"/>
            <a:ext cx="28575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9" descr="keyV_right_A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273"/>
          <a:stretch>
            <a:fillRect/>
          </a:stretch>
        </p:blipFill>
        <p:spPr bwMode="auto">
          <a:xfrm>
            <a:off x="0" y="692150"/>
            <a:ext cx="5651500" cy="140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b="1">
                <a:solidFill>
                  <a:srgbClr val="DB812E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660420"/>
            <a:ext cx="6400800" cy="1752600"/>
          </a:xfrm>
        </p:spPr>
        <p:txBody>
          <a:bodyPr/>
          <a:lstStyle>
            <a:lvl1pPr marL="0" indent="0" algn="ctr">
              <a:buNone/>
              <a:defRPr b="1">
                <a:solidFill>
                  <a:srgbClr val="08584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7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FDF85-4543-49DA-8210-8D381B90A49D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51579E-EE59-4F67-8142-ADC442330BD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4496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852754"/>
            <a:ext cx="8229600" cy="564883"/>
          </a:xfrm>
        </p:spPr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FontTx/>
              <a:buBlip>
                <a:blip r:embed="rId2"/>
              </a:buBlip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CB3AF5-F047-4F4C-975B-1C5C4437F96C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8A72DB-F354-4BCA-8F31-60F88775F7A0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9493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5DF59A-B005-45E6-BDFA-2CFB70006DB5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003F4F-D06E-4A25-98D5-1CA81E7483EF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4237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739738"/>
            <a:ext cx="8229600" cy="677899"/>
          </a:xfrm>
        </p:spPr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2CF818-1AE7-42DB-92CA-39D542E2CB93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630450-CE2D-4591-8DFB-3A09A6998BB7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414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811658"/>
            <a:ext cx="8229600" cy="60598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081830-16C6-47FC-B33D-D8BD9EB2E5EA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5B5A98-7FA6-4B11-BAAD-5DA380F47C37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775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801384"/>
            <a:ext cx="8229600" cy="616254"/>
          </a:xfrm>
        </p:spPr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1A052C-D97B-40F5-A32F-04598D7F3C32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282A21-51AF-4652-BB2E-D8B7054446C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114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235B85-5498-4692-A86C-ACF9771605B4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6220AF-483D-4EE9-B065-23EEF407C22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534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708916"/>
            <a:ext cx="3008313" cy="72618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708916"/>
            <a:ext cx="5111750" cy="5417247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E3E09D-1C1C-4709-8FF9-8CBE612C4D42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28B8B5-1D1A-495F-BA8E-BF315D41419E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031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12D20A-8890-48EC-88BD-E3413EEC73CE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3FB423-70C5-4A05-B477-9C3666855AF8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2162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739738"/>
            <a:ext cx="8229600" cy="677899"/>
          </a:xfrm>
        </p:spPr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BD0FF3-0AF6-4E3A-9D31-B31EE5FA9E2C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1073F1-4950-4C14-B144-9C5DC98A88C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050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/>
          <p:cNvSpPr>
            <a:spLocks noGrp="1"/>
          </p:cNvSpPr>
          <p:nvPr>
            <p:ph type="title"/>
          </p:nvPr>
        </p:nvSpPr>
        <p:spPr>
          <a:xfrm>
            <a:off x="1061610" y="188640"/>
            <a:ext cx="7614475" cy="720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100" b="1">
                <a:solidFill>
                  <a:schemeClr val="tx2">
                    <a:lumMod val="7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0" name="內容版面配置區 3"/>
          <p:cNvSpPr>
            <a:spLocks noGrp="1"/>
          </p:cNvSpPr>
          <p:nvPr>
            <p:ph sz="half" idx="2"/>
          </p:nvPr>
        </p:nvSpPr>
        <p:spPr>
          <a:xfrm>
            <a:off x="467545" y="980728"/>
            <a:ext cx="8213303" cy="5220000"/>
          </a:xfrm>
          <a:prstGeom prst="rect">
            <a:avLst/>
          </a:prstGeom>
        </p:spPr>
        <p:txBody>
          <a:bodyPr/>
          <a:lstStyle>
            <a:lvl1pPr marL="257175" indent="-257175">
              <a:buFont typeface="Wingdings" panose="05000000000000000000" pitchFamily="2" charset="2"/>
              <a:buChar char="n"/>
              <a:defRPr sz="1800">
                <a:latin typeface="微軟正黑體" pitchFamily="34" charset="-120"/>
                <a:ea typeface="微軟正黑體" pitchFamily="34" charset="-120"/>
              </a:defRPr>
            </a:lvl1pPr>
            <a:lvl2pPr>
              <a:defRPr sz="1500" b="0">
                <a:latin typeface="微軟正黑體" pitchFamily="34" charset="-120"/>
                <a:ea typeface="微軟正黑體" pitchFamily="34" charset="-120"/>
              </a:defRPr>
            </a:lvl2pPr>
            <a:lvl3pPr>
              <a:defRPr sz="1350">
                <a:latin typeface="微軟正黑體" pitchFamily="34" charset="-120"/>
                <a:ea typeface="微軟正黑體" pitchFamily="34" charset="-120"/>
              </a:defRPr>
            </a:lvl3pPr>
            <a:lvl4pPr>
              <a:defRPr sz="1200">
                <a:latin typeface="微軟正黑體" pitchFamily="34" charset="-120"/>
                <a:ea typeface="微軟正黑體" pitchFamily="34" charset="-120"/>
              </a:defRPr>
            </a:lvl4pPr>
            <a:lvl5pPr>
              <a:defRPr sz="1050">
                <a:latin typeface="微軟正黑體" pitchFamily="34" charset="-120"/>
                <a:ea typeface="微軟正黑體" pitchFamily="34" charset="-12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 dirty="0"/>
              <a:t>按一下以編輯母片文字樣式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sp>
        <p:nvSpPr>
          <p:cNvPr id="11" name="投影片編號版面配置區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5482FC-CF5F-466A-B8B6-BC3733E9202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4579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標題版面配置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fld id="{5837916E-76D7-4F5B-AAE4-9ECD70E84CF1}" type="datetime1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t>2026/4/24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pPr>
              <a:defRPr/>
            </a:pPr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200">
                <a:solidFill>
                  <a:srgbClr val="898989"/>
                </a:solidFill>
                <a:ea typeface="標楷體" panose="03000509000000000000" pitchFamily="65" charset="-120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94546F5B-F51C-4DBB-A731-C4A1BD087958}" type="slidenum">
              <a:rPr lang="zh-TW" altLang="en-US">
                <a:latin typeface="Arial" panose="020B0604020202020204" pitchFamily="34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TW" altLang="en-US">
              <a:latin typeface="Arial" panose="020B0604020202020204" pitchFamily="34" charset="0"/>
            </a:endParaRPr>
          </a:p>
        </p:txBody>
      </p:sp>
      <p:pic>
        <p:nvPicPr>
          <p:cNvPr id="1031" name="Picture 6" descr="ppbar.jpg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" y="0"/>
            <a:ext cx="9140825" cy="6856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5"/>
          <p:cNvSpPr txBox="1">
            <a:spLocks noChangeArrowheads="1"/>
          </p:cNvSpPr>
          <p:nvPr userDrawn="1"/>
        </p:nvSpPr>
        <p:spPr>
          <a:xfrm>
            <a:off x="179388" y="6461125"/>
            <a:ext cx="4606925" cy="35877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algn="l" rtl="0" fontAlgn="base">
              <a:spcBef>
                <a:spcPts val="1200"/>
              </a:spcBef>
              <a:spcAft>
                <a:spcPct val="0"/>
              </a:spcAft>
              <a:defRPr kumimoji="1" sz="2800" b="1" kern="1200">
                <a:solidFill>
                  <a:schemeClr val="accent6">
                    <a:lumMod val="25000"/>
                  </a:schemeClr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sz="2800" kern="1200">
                <a:solidFill>
                  <a:schemeClr val="tx1"/>
                </a:solidFill>
                <a:latin typeface="Arial" pitchFamily="34" charset="0"/>
                <a:ea typeface="新細明體" pitchFamily="18" charset="-120"/>
                <a:cs typeface="+mn-cs"/>
              </a:defRPr>
            </a:lvl9pPr>
          </a:lstStyle>
          <a:p>
            <a:pPr eaLnBrk="0" hangingPunct="0"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white"/>
                </a:solidFill>
              </a:rPr>
              <a:t>【</a:t>
            </a:r>
            <a:r>
              <a:rPr lang="zh-TW" altLang="en-US" sz="1400" dirty="0">
                <a:solidFill>
                  <a:prstClr val="white"/>
                </a:solidFill>
              </a:rPr>
              <a:t>內部文件，請勿外流</a:t>
            </a:r>
            <a:r>
              <a:rPr lang="en-US" altLang="zh-TW" sz="1400" dirty="0">
                <a:solidFill>
                  <a:prstClr val="white"/>
                </a:solidFill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343944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rgbClr val="DB812E"/>
          </a:solidFill>
          <a:latin typeface="微軟正黑體" pitchFamily="34" charset="-120"/>
          <a:ea typeface="微軟正黑體" pitchFamily="34" charset="-120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rgbClr val="DB812E"/>
          </a:solidFill>
          <a:latin typeface="微軟正黑體" pitchFamily="34" charset="-120"/>
          <a:ea typeface="微軟正黑體" pitchFamily="34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Blip>
          <a:blip r:embed="rId14"/>
        </a:buBlip>
        <a:defRPr sz="3200" kern="1200">
          <a:solidFill>
            <a:srgbClr val="085840"/>
          </a:solidFill>
          <a:latin typeface="Arial" pitchFamily="34" charset="0"/>
          <a:ea typeface="微軟正黑體" pitchFamily="34" charset="-120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rgbClr val="085840"/>
          </a:solidFill>
          <a:latin typeface="Arial" pitchFamily="34" charset="0"/>
          <a:ea typeface="微軟正黑體" pitchFamily="34" charset="-120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rgbClr val="085840"/>
          </a:solidFill>
          <a:latin typeface="Arial" pitchFamily="34" charset="0"/>
          <a:ea typeface="微軟正黑體" pitchFamily="34" charset="-120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rgbClr val="085840"/>
          </a:solidFill>
          <a:latin typeface="Arial" pitchFamily="34" charset="0"/>
          <a:ea typeface="微軟正黑體" pitchFamily="34" charset="-120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rgbClr val="085840"/>
          </a:solidFill>
          <a:latin typeface="Arial" pitchFamily="34" charset="0"/>
          <a:ea typeface="微軟正黑體" pitchFamily="34" charset="-12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chart" Target="../charts/chart1.xml"/><Relationship Id="rId7" Type="http://schemas.openxmlformats.org/officeDocument/2006/relationships/chart" Target="../charts/chart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hyperlink" Target="https://www.sc.com/cn/about-us/" TargetMode="External"/><Relationship Id="rId4" Type="http://schemas.openxmlformats.org/officeDocument/2006/relationships/hyperlink" Target="https://av.sc.com/corp-en/content/docs/standard-chartered-plc-full-year-2022-report.pdf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hyperlink" Target="https://www.commbank.com.au/content/dam/commbank-assets/investors/docs/results/1h25/CBA-2025-Half-Year-Results-Presentation.pdf" TargetMode="External"/><Relationship Id="rId18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hyperlink" Target="https://www.spglobal.com/market-intelligence/en/news-insights/articles/2025/4/the-worlds-largest-banks-by-assets-2025-88424232" TargetMode="External"/><Relationship Id="rId1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hyperlink" Target="https://www.fsb.org/2024/11/2024-list-of-global-systemically-important-banks-g-sibs/" TargetMode="External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10" Type="http://schemas.openxmlformats.org/officeDocument/2006/relationships/image" Target="../media/image14.png"/><Relationship Id="rId19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v.sc.com/hk/zh/content/docs/hk-c-annual-report-202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20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.png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D4FC47B6-E76E-4293-B0FD-20FB4B0F3A9F}"/>
              </a:ext>
            </a:extLst>
          </p:cNvPr>
          <p:cNvSpPr txBox="1">
            <a:spLocks/>
          </p:cNvSpPr>
          <p:nvPr/>
        </p:nvSpPr>
        <p:spPr bwMode="auto">
          <a:xfrm>
            <a:off x="91443" y="3169609"/>
            <a:ext cx="8786227" cy="12430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b="1" kern="12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rgbClr val="DB812E"/>
                </a:solidFill>
                <a:latin typeface="微軟正黑體" pitchFamily="34" charset="-120"/>
                <a:ea typeface="微軟正黑體" pitchFamily="34" charset="-120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4000" dirty="0">
                <a:solidFill>
                  <a:srgbClr val="FF6700"/>
                </a:solidFill>
              </a:rPr>
              <a:t>駿懋銀行</a:t>
            </a:r>
            <a:endParaRPr lang="en-US" altLang="zh-TW" sz="4000" dirty="0">
              <a:solidFill>
                <a:srgbClr val="FF67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z="4000" dirty="0">
                <a:solidFill>
                  <a:schemeClr val="tx2">
                    <a:lumMod val="75000"/>
                  </a:schemeClr>
                </a:solidFill>
              </a:rPr>
              <a:t>Lloyds Bank plc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11ADED8-CC23-43EC-9ED6-62188A0945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52" y="12728"/>
            <a:ext cx="1008112" cy="67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3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標題 38"/>
          <p:cNvSpPr txBox="1">
            <a:spLocks/>
          </p:cNvSpPr>
          <p:nvPr/>
        </p:nvSpPr>
        <p:spPr>
          <a:xfrm>
            <a:off x="2015954" y="152696"/>
            <a:ext cx="4932310" cy="540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b="1" kern="1200">
                <a:solidFill>
                  <a:schemeClr val="tx2">
                    <a:lumMod val="75000"/>
                  </a:schemeClr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</a:lstStyle>
          <a:p>
            <a:pPr algn="ctr"/>
            <a:r>
              <a:rPr lang="zh-TW" altLang="en-US" sz="2400" dirty="0">
                <a:solidFill>
                  <a:srgbClr val="EE8300"/>
                </a:solidFill>
              </a:rPr>
              <a:t>駿懋銀行   </a:t>
            </a:r>
            <a:r>
              <a:rPr lang="zh-TW" altLang="en-US" sz="1600" dirty="0">
                <a:solidFill>
                  <a:srgbClr val="C00000"/>
                </a:solidFill>
              </a:rPr>
              <a:t>英國專注於國內業務的最大銀行</a:t>
            </a:r>
          </a:p>
        </p:txBody>
      </p:sp>
      <p:sp>
        <p:nvSpPr>
          <p:cNvPr id="20" name="文字版面配置區 3">
            <a:extLst>
              <a:ext uri="{FF2B5EF4-FFF2-40B4-BE49-F238E27FC236}">
                <a16:creationId xmlns:a16="http://schemas.microsoft.com/office/drawing/2014/main" id="{F46B1EF5-98F4-46EA-9632-B4A20988D507}"/>
              </a:ext>
            </a:extLst>
          </p:cNvPr>
          <p:cNvSpPr>
            <a:spLocks noGrp="1"/>
          </p:cNvSpPr>
          <p:nvPr/>
        </p:nvSpPr>
        <p:spPr bwMode="auto">
          <a:xfrm>
            <a:off x="258814" y="620688"/>
            <a:ext cx="4236833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anchor="ctr"/>
          <a:lstStyle>
            <a:lvl1pPr eaLnBrk="0" hangingPunct="0">
              <a:spcBef>
                <a:spcPct val="20000"/>
              </a:spcBef>
              <a:defRPr sz="24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MS PGothic" pitchFamily="34" charset="-128"/>
              </a:defRPr>
            </a:lvl1pPr>
            <a:lvl2pPr marL="742950" indent="-285750" eaLnBrk="0" hangingPunct="0">
              <a:spcBef>
                <a:spcPct val="20000"/>
              </a:spcBef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2pPr>
            <a:lvl3pPr marL="1143000" indent="-228600" eaLnBrk="0" hangingPunct="0">
              <a:spcBef>
                <a:spcPct val="20000"/>
              </a:spcBef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3pPr>
            <a:lvl4pPr marL="1600200" indent="-228600" eaLnBrk="0" hangingPunct="0">
              <a:spcBef>
                <a:spcPct val="20000"/>
              </a:spcBef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4pPr>
            <a:lvl5pPr marL="2057400" indent="-228600" eaLnBrk="0" hangingPunct="0">
              <a:spcBef>
                <a:spcPct val="20000"/>
              </a:spcBef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Times" pitchFamily="18" charset="0"/>
              <a:buChar char="•"/>
              <a:defRPr sz="2000">
                <a:solidFill>
                  <a:schemeClr val="tx1"/>
                </a:solidFill>
                <a:latin typeface="Times New Roman" pitchFamily="18" charset="0"/>
                <a:ea typeface="細明體" pitchFamily="49" charset="-120"/>
                <a:cs typeface="標楷體" pitchFamily="65" charset="-120"/>
              </a:defRPr>
            </a:lvl9pPr>
          </a:lstStyle>
          <a:p>
            <a:pPr>
              <a:spcBef>
                <a:spcPts val="0"/>
              </a:spcBef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發行機構簡介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D7B17EF-61E8-417F-A1F9-8AFAD03B09A1}"/>
              </a:ext>
            </a:extLst>
          </p:cNvPr>
          <p:cNvSpPr/>
          <p:nvPr/>
        </p:nvSpPr>
        <p:spPr>
          <a:xfrm>
            <a:off x="254514" y="4509120"/>
            <a:ext cx="6308137" cy="1738731"/>
          </a:xfrm>
          <a:prstGeom prst="rect">
            <a:avLst/>
          </a:prstGeom>
          <a:noFill/>
          <a:ln>
            <a:solidFill>
              <a:srgbClr val="E4E4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文字版面配置區 15">
            <a:extLst>
              <a:ext uri="{FF2B5EF4-FFF2-40B4-BE49-F238E27FC236}">
                <a16:creationId xmlns:a16="http://schemas.microsoft.com/office/drawing/2014/main" id="{11A04B46-DE0C-4282-BFCA-6BA92CADD11B}"/>
              </a:ext>
            </a:extLst>
          </p:cNvPr>
          <p:cNvSpPr txBox="1">
            <a:spLocks/>
          </p:cNvSpPr>
          <p:nvPr/>
        </p:nvSpPr>
        <p:spPr>
          <a:xfrm>
            <a:off x="254514" y="1072692"/>
            <a:ext cx="6308137" cy="3301219"/>
          </a:xfrm>
          <a:prstGeom prst="rect">
            <a:avLst/>
          </a:prstGeom>
        </p:spPr>
        <p:txBody>
          <a:bodyPr>
            <a:noAutofit/>
          </a:bodyPr>
          <a:lstStyle>
            <a:lvl1pPr marL="257175" indent="-257175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駿懋銀行公開有限公司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(Lloyds Bank plc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，以下簡稱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LB)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成立歷史可追溯至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1765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年，致力為英國客戶提供往來賬戶、儲蓄、貸款和信用卡等全面的金融產品及服務。該行是勞埃德銀行集團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(Lloyds Banking Group plc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，以下簡稱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LBG)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旗下的圍欄銀行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(Ring-Fenced Bank)-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即受英國監管的零售和商業銀行。</a:t>
            </a:r>
          </a:p>
          <a:p>
            <a:pPr marL="0" indent="0" algn="just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其母公司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1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勞埃德銀行集團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總部位於倫敦，為英國最大的零售和商業金融服務集團，</a:t>
            </a:r>
            <a:r>
              <a:rPr lang="zh-TW" altLang="en-US" sz="11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按總資產排名位居英國第</a:t>
            </a:r>
            <a:r>
              <a:rPr lang="en-US" altLang="zh-TW" sz="11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zh-TW" altLang="en-US" sz="11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大銀行、英國第</a:t>
            </a:r>
            <a:r>
              <a:rPr lang="en-US" altLang="zh-TW" sz="11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r>
              <a:rPr lang="zh-TW" altLang="en-US" sz="11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佳企業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，提供零售、商業銀行、保險及財富管理等廣泛的銀行及金融服務，專注於個人及商業客戶。</a:t>
            </a:r>
          </a:p>
          <a:p>
            <a:pPr marL="0" indent="0" algn="just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LBG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通過英國最大的分行網路及數位銀行提供服務，旗下擁有駿懋銀行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(Lloyds Bank)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、蘇格蘭銀行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(Bank of Scotland)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、哈利法克斯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(Halifax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；英國最大的抵押貸款銀行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，以及蘇格蘭遺孀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(Scottish Widows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；英國最有信譽的保險、養老金和投資公司之一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等知名品牌。該集團在倫敦及紐約證券交易所皆有掛牌上市，且為富時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指數成份股之一。</a:t>
            </a:r>
          </a:p>
          <a:p>
            <a:pPr marL="0" indent="0" algn="just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亮點</a:t>
            </a:r>
            <a:endParaRPr lang="en-US" altLang="zh-TW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just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ü"/>
            </a:pPr>
            <a:r>
              <a:rPr lang="zh-TW" altLang="en-US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渣打深耕香港逾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170</a:t>
            </a:r>
            <a:r>
              <a:rPr lang="zh-TW" altLang="en-US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年，為香港三家發鈔行中歷史最悠久的發鈔行。</a:t>
            </a:r>
            <a:endParaRPr lang="en-US" altLang="zh-TW" sz="11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just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ü"/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勞埃德集團於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2025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推出了首個大規模生成式人工智慧產品，在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Evident AI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2025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全球指數中總排名中上升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12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位至第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位，成為英國第二佳銀行。</a:t>
            </a:r>
          </a:p>
        </p:txBody>
      </p:sp>
      <p:sp>
        <p:nvSpPr>
          <p:cNvPr id="26" name="文字方塊 25"/>
          <p:cNvSpPr txBox="1"/>
          <p:nvPr/>
        </p:nvSpPr>
        <p:spPr>
          <a:xfrm>
            <a:off x="6743823" y="2932001"/>
            <a:ext cx="2288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 b="1">
                <a:solidFill>
                  <a:srgbClr val="9D010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>
              <a:defRPr/>
            </a:pPr>
            <a:r>
              <a:rPr lang="en-US" altLang="zh-TW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#3</a:t>
            </a:r>
          </a:p>
        </p:txBody>
      </p:sp>
      <p:sp>
        <p:nvSpPr>
          <p:cNvPr id="27" name="矩形 26"/>
          <p:cNvSpPr/>
          <p:nvPr/>
        </p:nvSpPr>
        <p:spPr>
          <a:xfrm>
            <a:off x="6732241" y="3549496"/>
            <a:ext cx="2311182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zh-TW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英國銀行客戶數排名</a:t>
            </a:r>
            <a:endParaRPr lang="en-US" altLang="zh-TW" sz="1400" b="1" dirty="0">
              <a:solidFill>
                <a:schemeClr val="tx1">
                  <a:lumMod val="85000"/>
                  <a:lumOff val="1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0" algn="ctr">
              <a:defRPr/>
            </a:pPr>
            <a:r>
              <a:rPr lang="en-US" altLang="zh-TW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(Statista 2025)</a:t>
            </a:r>
            <a:endParaRPr lang="zh-TW" altLang="en-US" sz="1100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6732240" y="5224541"/>
            <a:ext cx="2311184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zh-TW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英國企業排名</a:t>
            </a:r>
            <a:endParaRPr lang="en-US" altLang="zh-TW" sz="1400" b="1" dirty="0">
              <a:solidFill>
                <a:schemeClr val="tx1">
                  <a:lumMod val="85000"/>
                  <a:lumOff val="1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defRPr/>
            </a:pPr>
            <a:r>
              <a:rPr lang="en-US" altLang="zh-TW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(Forbes Global 2000 2025)</a:t>
            </a:r>
          </a:p>
        </p:txBody>
      </p:sp>
      <p:sp>
        <p:nvSpPr>
          <p:cNvPr id="33" name="文字方塊 32"/>
          <p:cNvSpPr txBox="1"/>
          <p:nvPr/>
        </p:nvSpPr>
        <p:spPr>
          <a:xfrm>
            <a:off x="6736018" y="4611937"/>
            <a:ext cx="230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692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jf金萱那提2.0 八分糖" panose="020B0900000000000000" pitchFamily="34" charset="-120"/>
                <a:ea typeface="jf金萱那提2.0 八分糖" panose="020B0900000000000000" pitchFamily="34" charset="-120"/>
              </a:defRPr>
            </a:lvl1pPr>
          </a:lstStyle>
          <a:p>
            <a:r>
              <a:rPr lang="en-US" altLang="zh-TW" sz="3600" dirty="0">
                <a:solidFill>
                  <a:srgbClr val="9D010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#6</a:t>
            </a:r>
          </a:p>
        </p:txBody>
      </p:sp>
      <p:sp>
        <p:nvSpPr>
          <p:cNvPr id="35" name="矩形 34"/>
          <p:cNvSpPr/>
          <p:nvPr/>
        </p:nvSpPr>
        <p:spPr>
          <a:xfrm>
            <a:off x="6732240" y="1918573"/>
            <a:ext cx="23111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zh-TW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英國銀行總資產排名</a:t>
            </a:r>
            <a:endParaRPr lang="en-US" altLang="zh-TW" sz="1400" b="1" dirty="0">
              <a:solidFill>
                <a:schemeClr val="tx1">
                  <a:lumMod val="85000"/>
                  <a:lumOff val="1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0" algn="ctr">
              <a:defRPr/>
            </a:pPr>
            <a:r>
              <a:rPr lang="en-US" altLang="zh-TW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歐洲銀行總資產排名第</a:t>
            </a:r>
            <a:r>
              <a:rPr lang="en-US" altLang="zh-TW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</a:t>
            </a:r>
            <a:r>
              <a:rPr lang="zh-TW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</a:t>
            </a:r>
            <a:r>
              <a:rPr lang="en-US" altLang="zh-TW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lvl="0" algn="ctr">
              <a:defRPr/>
            </a:pPr>
            <a:r>
              <a:rPr lang="en-US" altLang="zh-TW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(S&amp;P Global 2025)</a:t>
            </a:r>
          </a:p>
        </p:txBody>
      </p:sp>
      <p:sp>
        <p:nvSpPr>
          <p:cNvPr id="45" name="文字方塊 44"/>
          <p:cNvSpPr txBox="1"/>
          <p:nvPr/>
        </p:nvSpPr>
        <p:spPr>
          <a:xfrm>
            <a:off x="6736018" y="1306292"/>
            <a:ext cx="230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692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jf金萱那提2.0 八分糖" panose="020B0900000000000000" pitchFamily="34" charset="-120"/>
                <a:ea typeface="jf金萱那提2.0 八分糖" panose="020B0900000000000000" pitchFamily="34" charset="-120"/>
              </a:defRPr>
            </a:lvl1pPr>
          </a:lstStyle>
          <a:p>
            <a:r>
              <a:rPr lang="en-US" altLang="zh-TW" sz="3600" dirty="0">
                <a:solidFill>
                  <a:srgbClr val="9D010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#3</a:t>
            </a:r>
          </a:p>
        </p:txBody>
      </p: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51732942-D62E-4311-9728-AB3543C25425}"/>
              </a:ext>
            </a:extLst>
          </p:cNvPr>
          <p:cNvCxnSpPr/>
          <p:nvPr/>
        </p:nvCxnSpPr>
        <p:spPr>
          <a:xfrm>
            <a:off x="3440605" y="4980529"/>
            <a:ext cx="0" cy="1008112"/>
          </a:xfrm>
          <a:prstGeom prst="line">
            <a:avLst/>
          </a:prstGeom>
          <a:ln>
            <a:solidFill>
              <a:srgbClr val="E4E4E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5B89675B-733B-43D8-8527-B18090A3BF68}"/>
              </a:ext>
            </a:extLst>
          </p:cNvPr>
          <p:cNvSpPr txBox="1"/>
          <p:nvPr/>
        </p:nvSpPr>
        <p:spPr>
          <a:xfrm>
            <a:off x="2094494" y="4652299"/>
            <a:ext cx="1505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業務結構</a:t>
            </a:r>
            <a:endParaRPr lang="zh-TW" altLang="en-US" sz="1200" b="1" baseline="30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3" name="圖表 52">
            <a:extLst>
              <a:ext uri="{FF2B5EF4-FFF2-40B4-BE49-F238E27FC236}">
                <a16:creationId xmlns:a16="http://schemas.microsoft.com/office/drawing/2014/main" id="{3A0907EC-8210-F9B3-D465-A9673900F3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54219737"/>
              </p:ext>
            </p:extLst>
          </p:nvPr>
        </p:nvGraphicFramePr>
        <p:xfrm>
          <a:off x="3192352" y="4581128"/>
          <a:ext cx="3180115" cy="20569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5B89675B-733B-43D8-8527-B18090A3BF68}"/>
              </a:ext>
            </a:extLst>
          </p:cNvPr>
          <p:cNvSpPr txBox="1"/>
          <p:nvPr/>
        </p:nvSpPr>
        <p:spPr>
          <a:xfrm>
            <a:off x="4895830" y="4652299"/>
            <a:ext cx="1505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地域結構</a:t>
            </a:r>
            <a:endParaRPr lang="zh-TW" altLang="en-US" sz="1200" b="1" baseline="30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01A04C97-E4E4-6A68-5CC3-4F9F6602B3E9}"/>
              </a:ext>
            </a:extLst>
          </p:cNvPr>
          <p:cNvSpPr txBox="1"/>
          <p:nvPr/>
        </p:nvSpPr>
        <p:spPr>
          <a:xfrm>
            <a:off x="3714259" y="5223731"/>
            <a:ext cx="9342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FY2024</a:t>
            </a:r>
          </a:p>
          <a:p>
            <a:pPr algn="ctr"/>
            <a:r>
              <a:rPr lang="zh-TW" altLang="en-US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淨營收</a:t>
            </a:r>
            <a:endParaRPr lang="en-US" altLang="zh-TW" sz="1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en-US" altLang="zh-TW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$195</a:t>
            </a:r>
            <a:r>
              <a:rPr lang="zh-TW" altLang="en-US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億</a:t>
            </a:r>
          </a:p>
        </p:txBody>
      </p:sp>
      <p:sp>
        <p:nvSpPr>
          <p:cNvPr id="7" name="矩形 6"/>
          <p:cNvSpPr/>
          <p:nvPr/>
        </p:nvSpPr>
        <p:spPr>
          <a:xfrm>
            <a:off x="2267744" y="6402814"/>
            <a:ext cx="5328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資料來源：官網、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年報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渣打中國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、新聞整理 </a:t>
            </a:r>
            <a:r>
              <a:rPr lang="en-US" altLang="zh-TW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| 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註：</a:t>
            </a:r>
            <a:r>
              <a:rPr lang="en-US" altLang="zh-TW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Ventures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包括渣打創投</a:t>
            </a:r>
            <a:r>
              <a:rPr lang="en-US" altLang="zh-TW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(SC Ventures)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及其相關實體，以及集團兩家持有多數股權的數位銀行</a:t>
            </a:r>
            <a:r>
              <a:rPr lang="en-US" altLang="zh-TW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香港</a:t>
            </a:r>
            <a:r>
              <a:rPr lang="en-US" altLang="zh-TW" sz="800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Mox</a:t>
            </a:r>
            <a:r>
              <a:rPr lang="zh-TW" altLang="en-US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sz="8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Trust Bank)</a:t>
            </a:r>
            <a:endParaRPr lang="zh-TW" altLang="en-US" sz="8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B892B351-8505-484C-9604-A0332786218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52" y="12728"/>
            <a:ext cx="1008112" cy="679968"/>
          </a:xfrm>
          <a:prstGeom prst="rect">
            <a:avLst/>
          </a:prstGeom>
        </p:spPr>
      </p:pic>
      <p:graphicFrame>
        <p:nvGraphicFramePr>
          <p:cNvPr id="30" name="圖表 29">
            <a:extLst>
              <a:ext uri="{FF2B5EF4-FFF2-40B4-BE49-F238E27FC236}">
                <a16:creationId xmlns:a16="http://schemas.microsoft.com/office/drawing/2014/main" id="{B1B47BB3-5AD6-459C-953F-45194433F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5619312"/>
              </p:ext>
            </p:extLst>
          </p:nvPr>
        </p:nvGraphicFramePr>
        <p:xfrm>
          <a:off x="327336" y="4769522"/>
          <a:ext cx="2951922" cy="14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56059D69-314E-4132-93CE-2969C9546F8B}"/>
              </a:ext>
            </a:extLst>
          </p:cNvPr>
          <p:cNvCxnSpPr>
            <a:cxnSpLocks/>
          </p:cNvCxnSpPr>
          <p:nvPr/>
        </p:nvCxnSpPr>
        <p:spPr>
          <a:xfrm>
            <a:off x="-20441" y="3910674"/>
            <a:ext cx="0" cy="858872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9E206D3-6A58-495E-9360-B17EDE9BC665}"/>
              </a:ext>
            </a:extLst>
          </p:cNvPr>
          <p:cNvSpPr txBox="1"/>
          <p:nvPr/>
        </p:nvSpPr>
        <p:spPr>
          <a:xfrm>
            <a:off x="1002901" y="5258268"/>
            <a:ext cx="9310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FY2025</a:t>
            </a:r>
          </a:p>
          <a:p>
            <a:pPr algn="ctr"/>
            <a:r>
              <a:rPr lang="zh-TW" altLang="en-US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淨營收</a:t>
            </a:r>
            <a:endParaRPr lang="en-US" altLang="zh-TW" sz="1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en-US" altLang="zh-TW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134</a:t>
            </a:r>
            <a:r>
              <a:rPr lang="zh-TW" altLang="en-US" sz="1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億英鎊</a:t>
            </a:r>
            <a:endParaRPr lang="en-US" altLang="zh-TW" sz="1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5BC1B307-8AEB-4797-81FA-52CFBAB1C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5536" y="4365104"/>
            <a:ext cx="1225403" cy="397799"/>
          </a:xfrm>
          <a:prstGeom prst="rect">
            <a:avLst/>
          </a:prstGeom>
          <a:solidFill>
            <a:srgbClr val="F3F6F5"/>
          </a:solidFill>
        </p:spPr>
      </p:pic>
      <p:sp>
        <p:nvSpPr>
          <p:cNvPr id="40" name="文字方塊 39">
            <a:extLst>
              <a:ext uri="{FF2B5EF4-FFF2-40B4-BE49-F238E27FC236}">
                <a16:creationId xmlns:a16="http://schemas.microsoft.com/office/drawing/2014/main" id="{703480F3-1EE6-42D0-805F-C160B4A70D1F}"/>
              </a:ext>
            </a:extLst>
          </p:cNvPr>
          <p:cNvSpPr txBox="1"/>
          <p:nvPr/>
        </p:nvSpPr>
        <p:spPr>
          <a:xfrm>
            <a:off x="1619672" y="4410789"/>
            <a:ext cx="1901112" cy="276999"/>
          </a:xfrm>
          <a:prstGeom prst="rect">
            <a:avLst/>
          </a:prstGeom>
          <a:solidFill>
            <a:srgbClr val="F3F6F5"/>
          </a:solidFill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駿懋銀行公開有限公司</a:t>
            </a:r>
          </a:p>
        </p:txBody>
      </p:sp>
    </p:spTree>
    <p:extLst>
      <p:ext uri="{BB962C8B-B14F-4D97-AF65-F5344CB8AC3E}">
        <p14:creationId xmlns:p14="http://schemas.microsoft.com/office/powerpoint/2010/main" val="148844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062769"/>
            <a:ext cx="3560885" cy="5170977"/>
          </a:xfrm>
          <a:prstGeom prst="rect">
            <a:avLst/>
          </a:prstGeom>
        </p:spPr>
      </p:pic>
      <p:pic>
        <p:nvPicPr>
          <p:cNvPr id="13" name="圖片 12"/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96708" y="5011507"/>
            <a:ext cx="4680521" cy="1292578"/>
          </a:xfrm>
          <a:prstGeom prst="rect">
            <a:avLst/>
          </a:prstGeom>
        </p:spPr>
      </p:pic>
      <p:grpSp>
        <p:nvGrpSpPr>
          <p:cNvPr id="11" name="群組 10"/>
          <p:cNvGrpSpPr/>
          <p:nvPr/>
        </p:nvGrpSpPr>
        <p:grpSpPr>
          <a:xfrm>
            <a:off x="4252823" y="1514273"/>
            <a:ext cx="4433977" cy="1341070"/>
            <a:chOff x="440845" y="1755812"/>
            <a:chExt cx="8280461" cy="1727103"/>
          </a:xfrm>
        </p:grpSpPr>
        <p:pic>
          <p:nvPicPr>
            <p:cNvPr id="3" name="圖片 2"/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2656" y="1755812"/>
              <a:ext cx="8248650" cy="723900"/>
            </a:xfrm>
            <a:prstGeom prst="rect">
              <a:avLst/>
            </a:prstGeom>
          </p:spPr>
        </p:pic>
        <p:pic>
          <p:nvPicPr>
            <p:cNvPr id="5" name="圖片 4"/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2656" y="2499370"/>
              <a:ext cx="8143875" cy="209550"/>
            </a:xfrm>
            <a:prstGeom prst="rect">
              <a:avLst/>
            </a:prstGeom>
          </p:spPr>
        </p:pic>
        <p:pic>
          <p:nvPicPr>
            <p:cNvPr id="6" name="圖片 5"/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0537" y="2663855"/>
              <a:ext cx="8162925" cy="219075"/>
            </a:xfrm>
            <a:prstGeom prst="rect">
              <a:avLst/>
            </a:prstGeom>
          </p:spPr>
        </p:pic>
        <p:pic>
          <p:nvPicPr>
            <p:cNvPr id="7" name="圖片 6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85775" y="2857500"/>
              <a:ext cx="8172450" cy="228600"/>
            </a:xfrm>
            <a:prstGeom prst="rect">
              <a:avLst/>
            </a:prstGeom>
          </p:spPr>
        </p:pic>
        <p:pic>
          <p:nvPicPr>
            <p:cNvPr id="9" name="圖片 8"/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40846" y="3060670"/>
              <a:ext cx="8210550" cy="219075"/>
            </a:xfrm>
            <a:prstGeom prst="rect">
              <a:avLst/>
            </a:prstGeom>
          </p:spPr>
        </p:pic>
        <p:pic>
          <p:nvPicPr>
            <p:cNvPr id="10" name="圖片 9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40845" y="3254315"/>
              <a:ext cx="8210550" cy="228600"/>
            </a:xfrm>
            <a:prstGeom prst="rect">
              <a:avLst/>
            </a:prstGeom>
          </p:spPr>
        </p:pic>
      </p:grpSp>
      <p:sp>
        <p:nvSpPr>
          <p:cNvPr id="17" name="矩形 16">
            <a:extLst>
              <a:ext uri="{FF2B5EF4-FFF2-40B4-BE49-F238E27FC236}">
                <a16:creationId xmlns:a16="http://schemas.microsoft.com/office/drawing/2014/main" id="{D04CE8D0-0E96-49AA-948A-82BA292D6EA9}"/>
              </a:ext>
            </a:extLst>
          </p:cNvPr>
          <p:cNvSpPr/>
          <p:nvPr/>
        </p:nvSpPr>
        <p:spPr>
          <a:xfrm>
            <a:off x="7164288" y="0"/>
            <a:ext cx="1584176" cy="6460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BAF2F3-4DAD-C14A-B48B-E702BC7A5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482FC-CF5F-466A-B8B6-BC3733E92023}" type="slidenum">
              <a:rPr lang="zh-TW" alt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pPr/>
              <a:t>3</a:t>
            </a:fld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7FA876EA-016F-C943-9D37-BCF80403BE81}"/>
              </a:ext>
            </a:extLst>
          </p:cNvPr>
          <p:cNvSpPr txBox="1">
            <a:spLocks noChangeArrowheads="1"/>
          </p:cNvSpPr>
          <p:nvPr/>
        </p:nvSpPr>
        <p:spPr>
          <a:xfrm>
            <a:off x="2051720" y="243209"/>
            <a:ext cx="5112568" cy="4750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b="1" kern="1200">
                <a:solidFill>
                  <a:schemeClr val="tx2">
                    <a:lumMod val="75000"/>
                  </a:schemeClr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</a:lstStyle>
          <a:p>
            <a:pPr algn="ctr">
              <a:defRPr/>
            </a:pPr>
            <a:r>
              <a:rPr lang="zh-TW" altLang="en-US" sz="2000" dirty="0">
                <a:solidFill>
                  <a:srgbClr val="EE8300"/>
                </a:solidFill>
              </a:rPr>
              <a:t>全球系統重要性銀行之一</a:t>
            </a:r>
          </a:p>
        </p:txBody>
      </p:sp>
      <p:sp>
        <p:nvSpPr>
          <p:cNvPr id="26" name="文字方塊 30">
            <a:extLst>
              <a:ext uri="{FF2B5EF4-FFF2-40B4-BE49-F238E27FC236}">
                <a16:creationId xmlns:a16="http://schemas.microsoft.com/office/drawing/2014/main" id="{7DB08F83-B110-3044-A817-3A8E4D3E1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6371" y="6427457"/>
            <a:ext cx="5345277" cy="3385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TW"/>
            </a:defPPr>
            <a:lvl1pPr algn="r">
              <a:defRPr sz="80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algn="l"/>
            <a:r>
              <a:rPr lang="zh-TW" altLang="en-US" dirty="0"/>
              <a:t>資料來源：</a:t>
            </a:r>
            <a:r>
              <a:rPr lang="en-US" altLang="zh-TW" dirty="0">
                <a:hlinkClick r:id="rId11"/>
              </a:rPr>
              <a:t>G-SIB</a:t>
            </a:r>
            <a:r>
              <a:rPr lang="zh-TW" altLang="en-US" dirty="0"/>
              <a:t>、</a:t>
            </a:r>
            <a:r>
              <a:rPr lang="en-US" altLang="zh-TW" dirty="0">
                <a:hlinkClick r:id="rId12"/>
              </a:rPr>
              <a:t>S&amp;P Global</a:t>
            </a:r>
            <a:r>
              <a:rPr lang="zh-TW" altLang="en-US" dirty="0"/>
              <a:t>、彭博、</a:t>
            </a:r>
            <a:r>
              <a:rPr lang="en-US" altLang="zh-TW" dirty="0">
                <a:hlinkClick r:id="rId13"/>
              </a:rPr>
              <a:t>CBA</a:t>
            </a:r>
            <a:r>
              <a:rPr lang="zh-TW" altLang="en-US" dirty="0">
                <a:hlinkClick r:id="rId13"/>
              </a:rPr>
              <a:t>簡報 </a:t>
            </a:r>
            <a:r>
              <a:rPr lang="zh-TW" altLang="en-US" dirty="0"/>
              <a:t>  </a:t>
            </a:r>
            <a:endParaRPr lang="en-US" altLang="zh-TW" dirty="0"/>
          </a:p>
          <a:p>
            <a:pPr algn="l"/>
            <a:r>
              <a:rPr lang="zh-TW" altLang="en-US" dirty="0"/>
              <a:t>*基本經營收入：「法定營業收入」排除重組及其他項目後的收入</a:t>
            </a:r>
            <a:endParaRPr lang="en-US" altLang="zh-TW" dirty="0"/>
          </a:p>
        </p:txBody>
      </p:sp>
      <p:graphicFrame>
        <p:nvGraphicFramePr>
          <p:cNvPr id="27" name="圖表 26">
            <a:extLst>
              <a:ext uri="{FF2B5EF4-FFF2-40B4-BE49-F238E27FC236}">
                <a16:creationId xmlns:a16="http://schemas.microsoft.com/office/drawing/2014/main" id="{C4A429FF-0A3F-9465-28DE-B3E57F9ECF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20015856"/>
              </p:ext>
            </p:extLst>
          </p:nvPr>
        </p:nvGraphicFramePr>
        <p:xfrm>
          <a:off x="4384342" y="3306058"/>
          <a:ext cx="4361007" cy="1422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sp>
        <p:nvSpPr>
          <p:cNvPr id="28" name="圓角矩形 36">
            <a:extLst>
              <a:ext uri="{FF2B5EF4-FFF2-40B4-BE49-F238E27FC236}">
                <a16:creationId xmlns:a16="http://schemas.microsoft.com/office/drawing/2014/main" id="{9DBD8420-D886-4F7A-9F75-32CABDB1FABF}"/>
              </a:ext>
            </a:extLst>
          </p:cNvPr>
          <p:cNvSpPr/>
          <p:nvPr/>
        </p:nvSpPr>
        <p:spPr>
          <a:xfrm>
            <a:off x="230682" y="764704"/>
            <a:ext cx="3857629" cy="297357"/>
          </a:xfrm>
          <a:prstGeom prst="roundRect">
            <a:avLst/>
          </a:prstGeom>
          <a:solidFill>
            <a:srgbClr val="006F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自</a:t>
            </a:r>
            <a:r>
              <a:rPr lang="en-US" altLang="zh-TW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2012</a:t>
            </a:r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年起，渣打已是全球系統重要性銀行的常駐軍</a:t>
            </a:r>
          </a:p>
        </p:txBody>
      </p:sp>
      <p:sp>
        <p:nvSpPr>
          <p:cNvPr id="29" name="圓角矩形 44">
            <a:extLst>
              <a:ext uri="{FF2B5EF4-FFF2-40B4-BE49-F238E27FC236}">
                <a16:creationId xmlns:a16="http://schemas.microsoft.com/office/drawing/2014/main" id="{32CDDA1F-451A-404D-BD6F-BF0CE8CA12F4}"/>
              </a:ext>
            </a:extLst>
          </p:cNvPr>
          <p:cNvSpPr/>
          <p:nvPr/>
        </p:nvSpPr>
        <p:spPr>
          <a:xfrm>
            <a:off x="4141045" y="750398"/>
            <a:ext cx="4533389" cy="297357"/>
          </a:xfrm>
          <a:prstGeom prst="roundRect">
            <a:avLst/>
          </a:prstGeom>
          <a:solidFill>
            <a:srgbClr val="006F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按資產，渣打為全球第</a:t>
            </a:r>
            <a:r>
              <a:rPr lang="en-US" altLang="zh-TW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42</a:t>
            </a:r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大行、英國第五大行</a:t>
            </a:r>
          </a:p>
        </p:txBody>
      </p:sp>
      <p:sp>
        <p:nvSpPr>
          <p:cNvPr id="30" name="圓角矩形 47">
            <a:extLst>
              <a:ext uri="{FF2B5EF4-FFF2-40B4-BE49-F238E27FC236}">
                <a16:creationId xmlns:a16="http://schemas.microsoft.com/office/drawing/2014/main" id="{C587C09F-5E58-4F8B-A382-7FA8F7B73698}"/>
              </a:ext>
            </a:extLst>
          </p:cNvPr>
          <p:cNvSpPr/>
          <p:nvPr/>
        </p:nvSpPr>
        <p:spPr>
          <a:xfrm>
            <a:off x="4187916" y="2892065"/>
            <a:ext cx="4533390" cy="295876"/>
          </a:xfrm>
          <a:prstGeom prst="roundRect">
            <a:avLst/>
          </a:prstGeom>
          <a:solidFill>
            <a:srgbClr val="006F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按</a:t>
            </a:r>
            <a:r>
              <a:rPr lang="en-US" altLang="zh-TW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FY24</a:t>
            </a:r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營收，渣打位居英國第四大行地位</a:t>
            </a:r>
          </a:p>
        </p:txBody>
      </p:sp>
      <p:sp>
        <p:nvSpPr>
          <p:cNvPr id="36" name="文字方塊 35"/>
          <p:cNvSpPr txBox="1"/>
          <p:nvPr/>
        </p:nvSpPr>
        <p:spPr>
          <a:xfrm>
            <a:off x="4384342" y="3212976"/>
            <a:ext cx="16794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淨營收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($</a:t>
            </a:r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十億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F45D892-DB08-4FBB-81B4-5EDDFF2B0204}"/>
              </a:ext>
            </a:extLst>
          </p:cNvPr>
          <p:cNvSpPr/>
          <p:nvPr/>
        </p:nvSpPr>
        <p:spPr>
          <a:xfrm>
            <a:off x="870439" y="5460023"/>
            <a:ext cx="1345224" cy="167054"/>
          </a:xfrm>
          <a:prstGeom prst="rect">
            <a:avLst/>
          </a:prstGeom>
          <a:noFill/>
          <a:ln w="19050">
            <a:solidFill>
              <a:srgbClr val="006F5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4" name="圖片 43"/>
          <p:cNvPicPr>
            <a:picLocks noChangeAspect="1"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94106" y="1106086"/>
            <a:ext cx="1211967" cy="358176"/>
          </a:xfrm>
          <a:prstGeom prst="rect">
            <a:avLst/>
          </a:prstGeom>
        </p:spPr>
      </p:pic>
      <p:sp>
        <p:nvSpPr>
          <p:cNvPr id="50" name="矩形 49">
            <a:extLst>
              <a:ext uri="{FF2B5EF4-FFF2-40B4-BE49-F238E27FC236}">
                <a16:creationId xmlns:a16="http://schemas.microsoft.com/office/drawing/2014/main" id="{9F45D892-DB08-4FBB-81B4-5EDDFF2B0204}"/>
              </a:ext>
            </a:extLst>
          </p:cNvPr>
          <p:cNvSpPr/>
          <p:nvPr/>
        </p:nvSpPr>
        <p:spPr>
          <a:xfrm>
            <a:off x="4278702" y="2680522"/>
            <a:ext cx="4387106" cy="166195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圓角矩形 47">
            <a:extLst>
              <a:ext uri="{FF2B5EF4-FFF2-40B4-BE49-F238E27FC236}">
                <a16:creationId xmlns:a16="http://schemas.microsoft.com/office/drawing/2014/main" id="{C587C09F-5E58-4F8B-A382-7FA8F7B73698}"/>
              </a:ext>
            </a:extLst>
          </p:cNvPr>
          <p:cNvSpPr/>
          <p:nvPr/>
        </p:nvSpPr>
        <p:spPr>
          <a:xfrm>
            <a:off x="4211959" y="4653136"/>
            <a:ext cx="4533390" cy="295876"/>
          </a:xfrm>
          <a:prstGeom prst="roundRect">
            <a:avLst/>
          </a:prstGeom>
          <a:solidFill>
            <a:srgbClr val="006F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渣打</a:t>
            </a:r>
            <a:r>
              <a:rPr lang="en-US" altLang="zh-TW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CET1</a:t>
            </a:r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比率於</a:t>
            </a:r>
            <a:r>
              <a:rPr lang="en-US" altLang="zh-TW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G-SIBs</a:t>
            </a:r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同儕中位居前列</a:t>
            </a:r>
          </a:p>
        </p:txBody>
      </p:sp>
      <p:sp>
        <p:nvSpPr>
          <p:cNvPr id="54" name="矩形 53"/>
          <p:cNvSpPr/>
          <p:nvPr/>
        </p:nvSpPr>
        <p:spPr>
          <a:xfrm>
            <a:off x="5770685" y="5511312"/>
            <a:ext cx="146538" cy="783979"/>
          </a:xfrm>
          <a:prstGeom prst="rect">
            <a:avLst/>
          </a:prstGeom>
          <a:noFill/>
          <a:ln w="12700">
            <a:solidFill>
              <a:srgbClr val="006F52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564037" y="1238312"/>
            <a:ext cx="3065253" cy="183249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5118084" y="4962093"/>
            <a:ext cx="381490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Source: Morgan Stanley and CBA. CBA as at 31 December 2024. Peers based on last reported CET1 ratios up to 5 February 2025</a:t>
            </a:r>
            <a:endParaRPr lang="zh-TW" altLang="en-US" sz="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697071" y="4085864"/>
            <a:ext cx="127631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200" dirty="0">
                <a:solidFill>
                  <a:srgbClr val="001D3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rgbClr val="001D3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基本營業收入*</a:t>
            </a:r>
            <a:r>
              <a:rPr lang="en-US" altLang="zh-TW" sz="1200" dirty="0">
                <a:solidFill>
                  <a:srgbClr val="001D3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2" name="圖片 31">
            <a:extLst>
              <a:ext uri="{FF2B5EF4-FFF2-40B4-BE49-F238E27FC236}">
                <a16:creationId xmlns:a16="http://schemas.microsoft.com/office/drawing/2014/main" id="{78E84C81-57DD-4655-8E5E-0DCEEAE5BD87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52" y="12728"/>
            <a:ext cx="1008112" cy="67996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3D0DDB2-30BE-4819-B53C-CE7D07E3477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054" y="204906"/>
            <a:ext cx="9144000" cy="5252407"/>
          </a:xfrm>
          <a:prstGeom prst="rect">
            <a:avLst/>
          </a:prstGeom>
        </p:spPr>
      </p:pic>
      <p:pic>
        <p:nvPicPr>
          <p:cNvPr id="1026" name="Picture 2" descr="SNL Image">
            <a:extLst>
              <a:ext uri="{FF2B5EF4-FFF2-40B4-BE49-F238E27FC236}">
                <a16:creationId xmlns:a16="http://schemas.microsoft.com/office/drawing/2014/main" id="{19F7F599-38E4-4759-B2E1-EC7AE21E31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682"/>
          <a:stretch/>
        </p:blipFill>
        <p:spPr bwMode="auto">
          <a:xfrm>
            <a:off x="8724510" y="99858"/>
            <a:ext cx="12152713" cy="485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97DF36BE-7CE7-49C6-B23C-3877927AC3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5054" y="3879896"/>
            <a:ext cx="9144000" cy="473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576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86220AF-483D-4EE9-B065-23EEF407C225}" type="slidenum">
              <a:rPr lang="zh-TW" altLang="en-US" smtClean="0"/>
              <a:pPr>
                <a:defRPr/>
              </a:pPr>
              <a:t>4</a:t>
            </a:fld>
            <a:endParaRPr lang="zh-TW" altLang="en-US"/>
          </a:p>
        </p:txBody>
      </p:sp>
      <p:sp>
        <p:nvSpPr>
          <p:cNvPr id="13" name="標題 1">
            <a:extLst>
              <a:ext uri="{FF2B5EF4-FFF2-40B4-BE49-F238E27FC236}">
                <a16:creationId xmlns:a16="http://schemas.microsoft.com/office/drawing/2014/main" id="{7FA876EA-016F-C943-9D37-BCF80403BE81}"/>
              </a:ext>
            </a:extLst>
          </p:cNvPr>
          <p:cNvSpPr txBox="1">
            <a:spLocks noChangeArrowheads="1"/>
          </p:cNvSpPr>
          <p:nvPr/>
        </p:nvSpPr>
        <p:spPr>
          <a:xfrm>
            <a:off x="1907704" y="243209"/>
            <a:ext cx="5328592" cy="4750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b="1" kern="1200">
                <a:solidFill>
                  <a:schemeClr val="tx2">
                    <a:lumMod val="75000"/>
                  </a:schemeClr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</a:lstStyle>
          <a:p>
            <a:pPr algn="ctr">
              <a:defRPr/>
            </a:pPr>
            <a:r>
              <a:rPr lang="zh-TW" altLang="en-US" sz="2000" dirty="0">
                <a:solidFill>
                  <a:srgbClr val="EE8300"/>
                </a:solidFill>
              </a:rPr>
              <a:t>核心業務穩健，營收、獲利持續創高</a:t>
            </a:r>
          </a:p>
        </p:txBody>
      </p:sp>
      <p:sp>
        <p:nvSpPr>
          <p:cNvPr id="21" name="文字方塊 30">
            <a:extLst>
              <a:ext uri="{FF2B5EF4-FFF2-40B4-BE49-F238E27FC236}">
                <a16:creationId xmlns:a16="http://schemas.microsoft.com/office/drawing/2014/main" id="{7DB08F83-B110-3044-A817-3A8E4D3E1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7743" y="6427457"/>
            <a:ext cx="5328593" cy="3385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TW"/>
            </a:defPPr>
            <a:lvl1pPr algn="r">
              <a:defRPr sz="80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algn="l"/>
            <a:r>
              <a:rPr lang="zh-TW" altLang="en-US" dirty="0"/>
              <a:t>資料來源：：</a:t>
            </a:r>
            <a:r>
              <a:rPr lang="zh-TW" altLang="en-US" dirty="0">
                <a:hlinkClick r:id="rId3"/>
              </a:rPr>
              <a:t>年報</a:t>
            </a:r>
            <a:r>
              <a:rPr lang="zh-TW" altLang="en-US" dirty="0"/>
              <a:t>、台新證券整理</a:t>
            </a:r>
            <a:endParaRPr lang="en-US" altLang="zh-TW" dirty="0"/>
          </a:p>
          <a:p>
            <a:pPr algn="l"/>
            <a:r>
              <a:rPr lang="zh-TW" altLang="en-US" dirty="0"/>
              <a:t>註：可比淨營收於官方財報乃指「法定營業收入」排除重組及其他項目後的「基本營業收入」</a:t>
            </a:r>
            <a:endParaRPr lang="en-US" altLang="zh-TW" dirty="0"/>
          </a:p>
        </p:txBody>
      </p:sp>
      <p:sp>
        <p:nvSpPr>
          <p:cNvPr id="22" name="圓角矩形 6">
            <a:extLst>
              <a:ext uri="{FF2B5EF4-FFF2-40B4-BE49-F238E27FC236}">
                <a16:creationId xmlns:a16="http://schemas.microsoft.com/office/drawing/2014/main" id="{392231BF-9B38-4A0E-AD7B-49E14464E6CF}"/>
              </a:ext>
            </a:extLst>
          </p:cNvPr>
          <p:cNvSpPr/>
          <p:nvPr/>
        </p:nvSpPr>
        <p:spPr>
          <a:xfrm>
            <a:off x="174551" y="894384"/>
            <a:ext cx="4397449" cy="5376085"/>
          </a:xfrm>
          <a:prstGeom prst="roundRect">
            <a:avLst>
              <a:gd name="adj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FD8B5EF8-9D31-4BB3-ABDB-62CC4B194F6C}"/>
              </a:ext>
            </a:extLst>
          </p:cNvPr>
          <p:cNvSpPr/>
          <p:nvPr/>
        </p:nvSpPr>
        <p:spPr>
          <a:xfrm>
            <a:off x="336253" y="764704"/>
            <a:ext cx="994152" cy="282744"/>
          </a:xfrm>
          <a:prstGeom prst="roundRect">
            <a:avLst/>
          </a:prstGeom>
          <a:solidFill>
            <a:srgbClr val="006F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年度財務</a:t>
            </a:r>
          </a:p>
        </p:txBody>
      </p:sp>
      <p:sp>
        <p:nvSpPr>
          <p:cNvPr id="25" name="矩形 24"/>
          <p:cNvSpPr/>
          <p:nvPr/>
        </p:nvSpPr>
        <p:spPr>
          <a:xfrm>
            <a:off x="4733702" y="894384"/>
            <a:ext cx="4192815" cy="537608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9E838F41-21C5-FC42-B613-E00CAC48914B}"/>
              </a:ext>
            </a:extLst>
          </p:cNvPr>
          <p:cNvSpPr/>
          <p:nvPr/>
        </p:nvSpPr>
        <p:spPr>
          <a:xfrm>
            <a:off x="4860032" y="766780"/>
            <a:ext cx="1183451" cy="282744"/>
          </a:xfrm>
          <a:prstGeom prst="roundRect">
            <a:avLst/>
          </a:prstGeom>
          <a:solidFill>
            <a:srgbClr val="006F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季度財務</a:t>
            </a:r>
          </a:p>
        </p:txBody>
      </p:sp>
      <p:sp>
        <p:nvSpPr>
          <p:cNvPr id="30" name="矩形 29"/>
          <p:cNvSpPr/>
          <p:nvPr/>
        </p:nvSpPr>
        <p:spPr>
          <a:xfrm>
            <a:off x="4798349" y="1152496"/>
            <a:ext cx="4128168" cy="26155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ts val="1600"/>
              </a:lnSpc>
              <a:spcAft>
                <a:spcPts val="300"/>
              </a:spcAft>
            </a:pPr>
            <a:r>
              <a:rPr kumimoji="1" lang="en-US" altLang="zh-TW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2Q25</a:t>
            </a:r>
            <a:r>
              <a:rPr kumimoji="1" lang="zh-TW" altLang="en-US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可比淨營收年增</a:t>
            </a:r>
            <a:r>
              <a:rPr kumimoji="1" lang="en-US" altLang="zh-TW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15%</a:t>
            </a:r>
            <a:r>
              <a:rPr kumimoji="1" lang="zh-TW" altLang="en-US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至</a:t>
            </a:r>
            <a:r>
              <a:rPr kumimoji="1" lang="en-US" altLang="zh-TW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55</a:t>
            </a:r>
            <a:r>
              <a:rPr kumimoji="1" lang="zh-TW" altLang="en-US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億美元，排除匯率影響則年增</a:t>
            </a:r>
            <a:r>
              <a:rPr kumimoji="1" lang="en-US" altLang="zh-TW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14%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，主因儘管利息收入年增持平，但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1)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交易業務推動全球市場業務收入年增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47%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，為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Q2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史上新高，以及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2)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創投部門投資的金融服務平台</a:t>
            </a:r>
            <a:r>
              <a:rPr kumimoji="1" lang="en-US" altLang="zh-TW" sz="12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Solv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India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交易案帶來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億美元的進帳，均推動非利息固定匯率收入年增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31%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。</a:t>
            </a:r>
            <a:endParaRPr kumimoji="1" lang="en-US" altLang="zh-TW" sz="1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just">
              <a:lnSpc>
                <a:spcPts val="1600"/>
              </a:lnSpc>
              <a:spcAft>
                <a:spcPts val="300"/>
              </a:spcAft>
            </a:pPr>
            <a:r>
              <a:rPr kumimoji="1" lang="zh-TW" altLang="en-US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普通股可分配淨利年增</a:t>
            </a:r>
            <a:r>
              <a:rPr kumimoji="1" lang="en-US" altLang="zh-TW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81%</a:t>
            </a:r>
            <a:r>
              <a:rPr kumimoji="1" lang="zh-TW" altLang="en-US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至</a:t>
            </a:r>
            <a:r>
              <a:rPr kumimoji="1" lang="en-US" altLang="zh-TW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17</a:t>
            </a:r>
            <a:r>
              <a:rPr kumimoji="1" lang="zh-TW" altLang="en-US" sz="12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億美元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，除了受惠於強勁的淨營收，亦得益於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Fit for Growth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成本撙節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本季節省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1.6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億美元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，使得營業費用僅年增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3%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。</a:t>
            </a:r>
          </a:p>
          <a:p>
            <a:pPr algn="just">
              <a:lnSpc>
                <a:spcPts val="1600"/>
              </a:lnSpc>
              <a:spcAft>
                <a:spcPts val="300"/>
              </a:spcAft>
            </a:pPr>
            <a:r>
              <a:rPr kumimoji="1" lang="zh-TW" altLang="en-US" sz="12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亮點：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1)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路透社表示，相較於競爭對手匯豐銀行，渣打銀行成功避開了與中國相關的資產減記威脅；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2)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富裕客戶的淨新資金高達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156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億美元，創下歷史新高，有望帶旺財富與零售銀行部門表現；</a:t>
            </a:r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3)</a:t>
            </a:r>
            <a:r>
              <a:rPr kumimoji="1" lang="zh-TW" alt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略微上調全年營收預期。</a:t>
            </a:r>
            <a:endParaRPr kumimoji="1" lang="en-US" altLang="zh-TW" sz="1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9F59D76-85D1-7949-37B3-BDE7232D9601}"/>
              </a:ext>
            </a:extLst>
          </p:cNvPr>
          <p:cNvSpPr txBox="1"/>
          <p:nvPr/>
        </p:nvSpPr>
        <p:spPr>
          <a:xfrm>
            <a:off x="300497" y="1142077"/>
            <a:ext cx="4086822" cy="26155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just">
              <a:lnSpc>
                <a:spcPts val="1800"/>
              </a:lnSpc>
              <a:spcBef>
                <a:spcPts val="450"/>
              </a:spcBef>
              <a:defRPr sz="1200" b="1">
                <a:latin typeface="+mn-ea"/>
              </a:defRPr>
            </a:lvl1pPr>
          </a:lstStyle>
          <a:p>
            <a:pPr>
              <a:lnSpc>
                <a:spcPts val="1600"/>
              </a:lnSpc>
              <a:spcBef>
                <a:spcPts val="600"/>
              </a:spcBef>
            </a:pPr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FY24</a:t>
            </a: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淨營收年增</a:t>
            </a:r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8.5%</a:t>
            </a: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至</a:t>
            </a:r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195.4</a:t>
            </a: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億美元；排除重組及其他項目影響後的可比淨營收為年增</a:t>
            </a:r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13%</a:t>
            </a: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至</a:t>
            </a:r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197</a:t>
            </a: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億美元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，係受惠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1)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來自金融機構客戶的收入與外匯交易量增加，以及外匯與利率收入提高，帶動企業及投資銀行收入年增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5%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2)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各類產品及市場廣泛增長令財富方案業務表現創高，加上銀行保險收入增長，帶動財富管理及零售銀行收入年增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10%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3)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數位銀行收入增加，帶動創投收入年增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17%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4)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避險與埃及外匯持倉重估收益，使調整項虧損大幅下滑。</a:t>
            </a:r>
            <a:endParaRPr lang="en-US" altLang="zh-TW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  <a:spcBef>
                <a:spcPts val="600"/>
              </a:spcBef>
            </a:pP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普通股可分配淨利年增</a:t>
            </a:r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19%</a:t>
            </a: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至</a:t>
            </a:r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36</a:t>
            </a:r>
            <a:r>
              <a: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億美元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，但若排除稅負及重組等特殊項目，則經調整稅前淨利為年增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20%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至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68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億美元，反映營收增長高於營業費用年增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6%</a:t>
            </a:r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的幅度，抵銷軟體資產註銷使其他減損費用攀升的影響。</a:t>
            </a:r>
          </a:p>
        </p:txBody>
      </p:sp>
      <p:graphicFrame>
        <p:nvGraphicFramePr>
          <p:cNvPr id="45" name="圖表 44"/>
          <p:cNvGraphicFramePr/>
          <p:nvPr>
            <p:extLst>
              <p:ext uri="{D42A27DB-BD31-4B8C-83A1-F6EECF244321}">
                <p14:modId xmlns:p14="http://schemas.microsoft.com/office/powerpoint/2010/main" val="4232218770"/>
              </p:ext>
            </p:extLst>
          </p:nvPr>
        </p:nvGraphicFramePr>
        <p:xfrm>
          <a:off x="148168" y="3757602"/>
          <a:ext cx="4351824" cy="24353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E82DC979-FB19-4E69-15B8-DF6B769ECF21}"/>
              </a:ext>
            </a:extLst>
          </p:cNvPr>
          <p:cNvSpPr txBox="1"/>
          <p:nvPr/>
        </p:nvSpPr>
        <p:spPr>
          <a:xfrm>
            <a:off x="336253" y="4134634"/>
            <a:ext cx="6359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7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7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百萬 </a:t>
            </a:r>
            <a:r>
              <a:rPr lang="en-US" altLang="zh-TW" sz="7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USD)</a:t>
            </a:r>
            <a:endParaRPr lang="zh-TW" altLang="en-US" sz="7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5"/>
          <a:srcRect b="5824"/>
          <a:stretch/>
        </p:blipFill>
        <p:spPr>
          <a:xfrm>
            <a:off x="5131972" y="3805281"/>
            <a:ext cx="3396274" cy="238766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9CA36B64-DAB2-4BED-A804-2E2505C4187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52" y="12728"/>
            <a:ext cx="1008112" cy="67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51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F166C5-8AE6-7D40-8727-37F08F3A6F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5482FC-CF5F-466A-B8B6-BC3733E92023}" type="slidenum">
              <a:rPr lang="zh-TW" altLang="en-US" smtClean="0"/>
              <a:pPr/>
              <a:t>5</a:t>
            </a:fld>
            <a:endParaRPr lang="zh-TW" altLang="en-US" dirty="0"/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BE53B65A-0EAA-6F4B-AB2E-EBDCF8C6D3DE}"/>
              </a:ext>
            </a:extLst>
          </p:cNvPr>
          <p:cNvSpPr txBox="1">
            <a:spLocks noChangeArrowheads="1"/>
          </p:cNvSpPr>
          <p:nvPr/>
        </p:nvSpPr>
        <p:spPr>
          <a:xfrm>
            <a:off x="1907704" y="228798"/>
            <a:ext cx="5400600" cy="4750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defPPr>
              <a:defRPr lang="zh-TW"/>
            </a:defPPr>
            <a:lvl1pPr algn="ctr">
              <a:spcBef>
                <a:spcPct val="0"/>
              </a:spcBef>
              <a:buNone/>
              <a:defRPr sz="2000" b="1">
                <a:solidFill>
                  <a:schemeClr val="tx2">
                    <a:lumMod val="75000"/>
                  </a:schemeClr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EE8300"/>
                </a:solidFill>
              </a:rPr>
              <a:t>渣打前景俏，穆迪調整評等至「正向」</a:t>
            </a:r>
          </a:p>
        </p:txBody>
      </p:sp>
      <p:sp>
        <p:nvSpPr>
          <p:cNvPr id="26" name="文字方塊 30">
            <a:extLst>
              <a:ext uri="{FF2B5EF4-FFF2-40B4-BE49-F238E27FC236}">
                <a16:creationId xmlns:a16="http://schemas.microsoft.com/office/drawing/2014/main" id="{E9C0BFBE-AEFA-4FB1-BDBB-2B98311C47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5856" y="6440265"/>
            <a:ext cx="4339395" cy="21544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TW"/>
            </a:defPPr>
            <a:lvl1pPr algn="r">
              <a:defRPr sz="80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>
              <a:spcBef>
                <a:spcPct val="0"/>
              </a:spcBef>
              <a:buClrTx/>
              <a:buNone/>
            </a:pPr>
            <a:r>
              <a:rPr lang="zh-TW" altLang="en-US" dirty="0"/>
              <a:t>資料來源：</a:t>
            </a:r>
            <a:r>
              <a:rPr lang="zh-TW" altLang="en-US" dirty="0">
                <a:latin typeface="+mj-ea"/>
              </a:rPr>
              <a:t>彭博、信評機構</a:t>
            </a:r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9CE931C1-0D5C-412A-BBFC-4406B7D100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864639"/>
              </p:ext>
            </p:extLst>
          </p:nvPr>
        </p:nvGraphicFramePr>
        <p:xfrm>
          <a:off x="264415" y="787769"/>
          <a:ext cx="4523610" cy="5573215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229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12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48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56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000" dirty="0">
                          <a:solidFill>
                            <a:schemeClr val="bg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信用評等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穆迪</a:t>
                      </a:r>
                      <a:endParaRPr lang="zh-TW" altLang="en-US" sz="1100" b="1" dirty="0">
                        <a:solidFill>
                          <a:schemeClr val="bg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標普</a:t>
                      </a:r>
                      <a:endParaRPr lang="zh-TW" altLang="en-US" sz="1100" b="1" dirty="0">
                        <a:solidFill>
                          <a:schemeClr val="bg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惠譽</a:t>
                      </a:r>
                      <a:endParaRPr lang="zh-TW" altLang="en-US" sz="1100" b="1" dirty="0">
                        <a:solidFill>
                          <a:schemeClr val="bg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533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優先無擔保</a:t>
                      </a:r>
                      <a:endParaRPr lang="en-US" altLang="zh-TW" sz="10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/>
                      <a:r>
                        <a:rPr lang="zh-TW" altLang="en-US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債信評等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A3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BBB+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59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評等展望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TW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正向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穩定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TW" alt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穩定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86735443"/>
                  </a:ext>
                </a:extLst>
              </a:tr>
              <a:tr h="249559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000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展望發佈日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2024/9/9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2016/3/31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2022/7/6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7727">
                <a:tc gridSpan="4"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zh-TW" alt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標普觀點</a:t>
                      </a:r>
                      <a:endParaRPr kumimoji="0" lang="en-US" altLang="zh-TW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軟正黑體"/>
                        <a:ea typeface="微軟正黑體"/>
                        <a:cs typeface="+mn-cs"/>
                      </a:endParaRPr>
                    </a:p>
                    <a:p>
                      <a:pPr marL="171450" marR="0" lvl="0" indent="-171450" algn="just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標普於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2024/12/13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的報告中指出，渣打充足的風險管理可緩解關稅風險下對其資產品質造成的壓力，且香港與中國的房地產挑戰對該行仍為可控，主要反映該類的曝險較小，且有充足的抵押品支持。</a:t>
                      </a:r>
                      <a:endParaRPr kumimoji="0" lang="en-US" altLang="zh-TW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軟正黑體"/>
                        <a:ea typeface="微軟正黑體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zh-TW" alt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穆迪觀點</a:t>
                      </a:r>
                      <a:endParaRPr kumimoji="0" lang="en-US" altLang="zh-TW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軟正黑體"/>
                        <a:ea typeface="微軟正黑體"/>
                        <a:cs typeface="+mn-cs"/>
                      </a:endParaRPr>
                    </a:p>
                    <a:p>
                      <a:pPr marL="171450" marR="0" lvl="0" indent="-171450" algn="just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穆迪於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2025/5/29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重申渣打銀行優先無擔保債務評等為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A3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，展望正向，主要反映該集團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baa1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的基準信用評估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(BCA)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，並基於破產預期損失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(LGF)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分析而調高一個等級。</a:t>
                      </a:r>
                    </a:p>
                    <a:p>
                      <a:pPr marL="171450" marR="0" lvl="0" indent="-171450" algn="just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穆迪表示，渣打集團擁有財富和零售銀行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(WRB)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在內的多元化業務，可助其在美國貿易政策不斷變動的背景下，緩解其資產品質所面臨的挑戰，此外，渣打銀行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baa1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的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BCA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反映集團良好的獲利能力和資產品質、穩健的資本和強勁的流動性，同時考量其專注於發展全球市場業務的情況下，面對較高的市場曝險。</a:t>
                      </a:r>
                      <a:endParaRPr kumimoji="0" lang="en-US" altLang="zh-TW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軟正黑體"/>
                        <a:ea typeface="微軟正黑體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zh-TW" alt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惠譽觀點</a:t>
                      </a:r>
                    </a:p>
                    <a:p>
                      <a:pPr marL="171450" marR="0" lvl="0" indent="-171450" algn="just" defTabSz="914400" rtl="0" eaLnBrk="1" fontAlgn="auto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惠譽於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2025/6/10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重申渣打集團長期發行人違約評等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(IDR)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於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A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；展望穩定。評等反映其在關鍵市場擁有強大業務，以及按收入和地理劃分的多元化業務模式，「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a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」級的生存能力評等</a:t>
                      </a:r>
                      <a:r>
                        <a:rPr kumimoji="0" lang="en-US" altLang="zh-TW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(VR)</a:t>
                      </a:r>
                      <a:r>
                        <a:rPr kumimoji="0" lang="zh-TW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軟正黑體"/>
                          <a:ea typeface="微軟正黑體"/>
                          <a:cs typeface="+mn-cs"/>
                        </a:rPr>
                        <a:t>則反映該行保守的風險控制策略，雄厚的資本以及良好的盈利能力和資產品質等條件，同時該行遍布亞洲、非洲、歐洲和美國的廣泛國際網路，也為其強大的企業和投資銀行業務奠定堅實的基礎。</a:t>
                      </a:r>
                      <a:endParaRPr kumimoji="0" lang="en-US" altLang="zh-TW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軟正黑體"/>
                        <a:ea typeface="微軟正黑體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285750" indent="-285750" algn="l">
                        <a:buFont typeface="Wingdings" panose="05000000000000000000" pitchFamily="2" charset="2"/>
                        <a:buChar char="n"/>
                      </a:pPr>
                      <a:endParaRPr lang="zh-TW" altLang="en-US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8C9F8EB3-9F16-450F-B357-A824662354E8}"/>
              </a:ext>
            </a:extLst>
          </p:cNvPr>
          <p:cNvSpPr txBox="1"/>
          <p:nvPr/>
        </p:nvSpPr>
        <p:spPr>
          <a:xfrm>
            <a:off x="5139438" y="3273361"/>
            <a:ext cx="37732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註：渣打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CET1 ratio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的最低監管要求為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10.4%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6" name="圖表 15">
            <a:extLst>
              <a:ext uri="{FF2B5EF4-FFF2-40B4-BE49-F238E27FC236}">
                <a16:creationId xmlns:a16="http://schemas.microsoft.com/office/drawing/2014/main" id="{44F469CA-A76D-4BEB-9337-633DDBC163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7120154"/>
              </p:ext>
            </p:extLst>
          </p:nvPr>
        </p:nvGraphicFramePr>
        <p:xfrm>
          <a:off x="4998941" y="4005064"/>
          <a:ext cx="3842537" cy="22663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圖表 16"/>
          <p:cNvGraphicFramePr/>
          <p:nvPr>
            <p:extLst>
              <p:ext uri="{D42A27DB-BD31-4B8C-83A1-F6EECF244321}">
                <p14:modId xmlns:p14="http://schemas.microsoft.com/office/powerpoint/2010/main" val="1617509435"/>
              </p:ext>
            </p:extLst>
          </p:nvPr>
        </p:nvGraphicFramePr>
        <p:xfrm>
          <a:off x="4998942" y="1268760"/>
          <a:ext cx="3790518" cy="20909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" name="圓角矩形 42">
            <a:extLst>
              <a:ext uri="{FF2B5EF4-FFF2-40B4-BE49-F238E27FC236}">
                <a16:creationId xmlns:a16="http://schemas.microsoft.com/office/drawing/2014/main" id="{E9007CCC-DCF2-4178-A0BC-B90D76E8E6B8}"/>
              </a:ext>
            </a:extLst>
          </p:cNvPr>
          <p:cNvSpPr/>
          <p:nvPr/>
        </p:nvSpPr>
        <p:spPr>
          <a:xfrm>
            <a:off x="4998941" y="796450"/>
            <a:ext cx="3790519" cy="344262"/>
          </a:xfrm>
          <a:prstGeom prst="roundRect">
            <a:avLst/>
          </a:prstGeom>
          <a:solidFill>
            <a:srgbClr val="006F5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資本水位持穩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9" name="圓角矩形 42">
            <a:extLst>
              <a:ext uri="{FF2B5EF4-FFF2-40B4-BE49-F238E27FC236}">
                <a16:creationId xmlns:a16="http://schemas.microsoft.com/office/drawing/2014/main" id="{E9007CCC-DCF2-4178-A0BC-B90D76E8E6B8}"/>
              </a:ext>
            </a:extLst>
          </p:cNvPr>
          <p:cNvSpPr/>
          <p:nvPr/>
        </p:nvSpPr>
        <p:spPr>
          <a:xfrm>
            <a:off x="4998942" y="3532754"/>
            <a:ext cx="3790518" cy="472310"/>
          </a:xfrm>
          <a:prstGeom prst="roundRect">
            <a:avLst/>
          </a:prstGeom>
          <a:solidFill>
            <a:srgbClr val="006F5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淨債務槓桿為負值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意味流動資金大於債務，展現良好的流動性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FE87FDF2-A015-4EBE-9BA8-767B61FF169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52" y="12728"/>
            <a:ext cx="1008112" cy="67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5629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宣紙">
      <a:maj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複委託4">
    <a:dk1>
      <a:srgbClr val="000000"/>
    </a:dk1>
    <a:lt1>
      <a:srgbClr val="FFFFFF"/>
    </a:lt1>
    <a:dk2>
      <a:srgbClr val="7F7F7F"/>
    </a:dk2>
    <a:lt2>
      <a:srgbClr val="C00000"/>
    </a:lt2>
    <a:accent1>
      <a:srgbClr val="C95E0D"/>
    </a:accent1>
    <a:accent2>
      <a:srgbClr val="704C61"/>
    </a:accent2>
    <a:accent3>
      <a:srgbClr val="C0CBD1"/>
    </a:accent3>
    <a:accent4>
      <a:srgbClr val="8994A6"/>
    </a:accent4>
    <a:accent5>
      <a:srgbClr val="C39E64"/>
    </a:accent5>
    <a:accent6>
      <a:srgbClr val="B8B1A7"/>
    </a:accent6>
    <a:hlink>
      <a:srgbClr val="0070C0"/>
    </a:hlink>
    <a:folHlink>
      <a:srgbClr val="000000"/>
    </a:folHlink>
  </a:clrScheme>
  <a:fontScheme name="台新投顧">
    <a:majorFont>
      <a:latin typeface="微軟正黑體"/>
      <a:ea typeface="微軟正黑體"/>
      <a:cs typeface=""/>
    </a:majorFont>
    <a:minorFont>
      <a:latin typeface="微軟正黑體"/>
      <a:ea typeface="微軟正黑體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複委託4">
    <a:dk1>
      <a:srgbClr val="000000"/>
    </a:dk1>
    <a:lt1>
      <a:srgbClr val="FFFFFF"/>
    </a:lt1>
    <a:dk2>
      <a:srgbClr val="7F7F7F"/>
    </a:dk2>
    <a:lt2>
      <a:srgbClr val="C00000"/>
    </a:lt2>
    <a:accent1>
      <a:srgbClr val="C95E0D"/>
    </a:accent1>
    <a:accent2>
      <a:srgbClr val="704C61"/>
    </a:accent2>
    <a:accent3>
      <a:srgbClr val="C0CBD1"/>
    </a:accent3>
    <a:accent4>
      <a:srgbClr val="8994A6"/>
    </a:accent4>
    <a:accent5>
      <a:srgbClr val="C39E64"/>
    </a:accent5>
    <a:accent6>
      <a:srgbClr val="B8B1A7"/>
    </a:accent6>
    <a:hlink>
      <a:srgbClr val="0070C0"/>
    </a:hlink>
    <a:folHlink>
      <a:srgbClr val="000000"/>
    </a:folHlink>
  </a:clrScheme>
  <a:fontScheme name="台新投顧">
    <a:majorFont>
      <a:latin typeface="微軟正黑體"/>
      <a:ea typeface="微軟正黑體"/>
      <a:cs typeface=""/>
    </a:majorFont>
    <a:minorFont>
      <a:latin typeface="微軟正黑體"/>
      <a:ea typeface="微軟正黑體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5063</TotalTime>
  <Words>2062</Words>
  <Application>Microsoft Office PowerPoint</Application>
  <PresentationFormat>如螢幕大小 (4:3)</PresentationFormat>
  <Paragraphs>140</Paragraphs>
  <Slides>5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4" baseType="lpstr">
      <vt:lpstr>GT Ultra Standard Regular</vt:lpstr>
      <vt:lpstr>Microsoft JhengHei</vt:lpstr>
      <vt:lpstr>Microsoft JhengHei</vt:lpstr>
      <vt:lpstr>標楷體</vt:lpstr>
      <vt:lpstr>Arial</vt:lpstr>
      <vt:lpstr>Calibri</vt:lpstr>
      <vt:lpstr>Constantia</vt:lpstr>
      <vt:lpstr>Wingdings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台新B2B Team</dc:creator>
  <cp:lastModifiedBy>張軒愷</cp:lastModifiedBy>
  <cp:revision>11200</cp:revision>
  <cp:lastPrinted>2021-03-31T07:17:07Z</cp:lastPrinted>
  <dcterms:created xsi:type="dcterms:W3CDTF">2013-05-02T15:04:30Z</dcterms:created>
  <dcterms:modified xsi:type="dcterms:W3CDTF">2026-04-24T09:01:35Z</dcterms:modified>
</cp:coreProperties>
</file>