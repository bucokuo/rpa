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4.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1.xml" ContentType="application/vnd.openxmlformats-officedocument.themeOverride+xml"/>
  <Override PartName="/ppt/charts/chart4.xml" ContentType="application/vnd.openxmlformats-officedocument.drawingml.chart+xml"/>
  <Override PartName="/ppt/theme/themeOverride2.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3" r:id="rId1"/>
  </p:sldMasterIdLst>
  <p:notesMasterIdLst>
    <p:notesMasterId r:id="rId7"/>
  </p:notesMasterIdLst>
  <p:handoutMasterIdLst>
    <p:handoutMasterId r:id="rId8"/>
  </p:handoutMasterIdLst>
  <p:sldIdLst>
    <p:sldId id="1333" r:id="rId2"/>
    <p:sldId id="1334" r:id="rId3"/>
    <p:sldId id="1350" r:id="rId4"/>
    <p:sldId id="1348" r:id="rId5"/>
    <p:sldId id="1345" r:id="rId6"/>
  </p:sldIdLst>
  <p:sldSz cx="9144000" cy="6858000" type="screen4x3"/>
  <p:notesSz cx="6807200" cy="9939338"/>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預設章節" id="{A71824B8-F3CE-4E38-AD2B-803D36CA02E5}">
          <p14:sldIdLst>
            <p14:sldId id="1333"/>
            <p14:sldId id="1334"/>
            <p14:sldId id="1350"/>
            <p14:sldId id="1348"/>
            <p14:sldId id="1345"/>
          </p14:sldIdLst>
        </p14:section>
      </p14:sectionLst>
    </p:ext>
    <p:ext uri="{EFAFB233-063F-42B5-8137-9DF3F51BA10A}">
      <p15:sldGuideLst xmlns:p15="http://schemas.microsoft.com/office/powerpoint/2012/main">
        <p15:guide id="1" orient="horz" pos="2160" userDrawn="1">
          <p15:clr>
            <a:srgbClr val="A4A3A4"/>
          </p15:clr>
        </p15:guide>
        <p15:guide id="2" orient="horz" pos="482" userDrawn="1">
          <p15:clr>
            <a:srgbClr val="A4A3A4"/>
          </p15:clr>
        </p15:guide>
        <p15:guide id="3" orient="horz" pos="590" userDrawn="1">
          <p15:clr>
            <a:srgbClr val="A4A3A4"/>
          </p15:clr>
        </p15:guide>
        <p15:guide id="4" pos="2880" userDrawn="1">
          <p15:clr>
            <a:srgbClr val="A4A3A4"/>
          </p15:clr>
        </p15:guide>
        <p15:guide id="5" pos="295" userDrawn="1">
          <p15:clr>
            <a:srgbClr val="A4A3A4"/>
          </p15:clr>
        </p15:guide>
        <p15:guide id="6" pos="5468" userDrawn="1">
          <p15:clr>
            <a:srgbClr val="A4A3A4"/>
          </p15:clr>
        </p15:guide>
        <p15:guide id="7" orient="horz" pos="1071" userDrawn="1">
          <p15:clr>
            <a:srgbClr val="A4A3A4"/>
          </p15:clr>
        </p15:guide>
        <p15:guide id="8" pos="5465" userDrawn="1">
          <p15:clr>
            <a:srgbClr val="A4A3A4"/>
          </p15:clr>
        </p15:guide>
      </p15:sldGuideLst>
    </p:ext>
    <p:ext uri="{2D200454-40CA-4A62-9FC3-DE9A4176ACB9}">
      <p15:notesGuideLst xmlns:p15="http://schemas.microsoft.com/office/powerpoint/2012/main">
        <p15:guide id="1" orient="horz" pos="3126" userDrawn="1">
          <p15:clr>
            <a:srgbClr val="A4A3A4"/>
          </p15:clr>
        </p15:guide>
        <p15:guide id="2" pos="2141" userDrawn="1">
          <p15:clr>
            <a:srgbClr val="A4A3A4"/>
          </p15:clr>
        </p15:guide>
        <p15:guide id="3" orient="horz" pos="3130" userDrawn="1">
          <p15:clr>
            <a:srgbClr val="A4A3A4"/>
          </p15:clr>
        </p15:guide>
        <p15:guide id="4" pos="2144"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建宇 陳" initials="建宇"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F52"/>
    <a:srgbClr val="F3F6F5"/>
    <a:srgbClr val="0473EA"/>
    <a:srgbClr val="38D200"/>
    <a:srgbClr val="82502D"/>
    <a:srgbClr val="237CD5"/>
    <a:srgbClr val="EE8300"/>
    <a:srgbClr val="FF4747"/>
    <a:srgbClr val="FFCCCC"/>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E3FDE45-AF77-4B5C-9715-49D594BDF05E}" styleName="淺色樣式 1 - 輔色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D27102A9-8310-4765-A935-A1911B00CA55}" styleName="淺色樣式 1 - 輔色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淺色樣式 1 - 輔色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9D7B26C5-4107-4FEC-AEDC-1716B250A1EF}" styleName="淺色樣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8D230F3-CF80-4859-8CE7-A43EE81993B5}" styleName="淺色樣式 1 - 輔色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3B4B98B0-60AC-42C2-AFA5-B58CD77FA1E5}" styleName="淺色樣式 1 - 輔色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中等深淺樣式 1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淺色樣式 2 - 輔色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505E3EF-67EA-436B-97B2-0124C06EBD24}" styleName="中等深淺樣式 4 - 輔色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17292A2E-F333-43FB-9621-5CBBE7FDCDCB}" styleName="淺色樣式 2 - 輔色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12C8C85-51F0-491E-9774-3900AFEF0FD7}" styleName="淺色樣式 2 - 輔色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2DE63D5-997A-4646-A377-4702673A728D}" styleName="淺色樣式 2 - 輔色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3587" autoAdjust="0"/>
  </p:normalViewPr>
  <p:slideViewPr>
    <p:cSldViewPr showGuides="1">
      <p:cViewPr>
        <p:scale>
          <a:sx n="100" d="100"/>
          <a:sy n="100" d="100"/>
        </p:scale>
        <p:origin x="2790" y="204"/>
      </p:cViewPr>
      <p:guideLst>
        <p:guide orient="horz" pos="2160"/>
        <p:guide orient="horz" pos="482"/>
        <p:guide orient="horz" pos="590"/>
        <p:guide pos="2880"/>
        <p:guide pos="295"/>
        <p:guide pos="5468"/>
        <p:guide orient="horz" pos="1071"/>
        <p:guide pos="5465"/>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100" d="100"/>
        <a:sy n="100" d="100"/>
      </p:scale>
      <p:origin x="0" y="0"/>
    </p:cViewPr>
  </p:sorterViewPr>
  <p:notesViewPr>
    <p:cSldViewPr>
      <p:cViewPr varScale="1">
        <p:scale>
          <a:sx n="80" d="100"/>
          <a:sy n="80" d="100"/>
        </p:scale>
        <p:origin x="-3996" y="-96"/>
      </p:cViewPr>
      <p:guideLst>
        <p:guide orient="horz" pos="3126"/>
        <p:guide pos="2141"/>
        <p:guide orient="horz" pos="3130"/>
        <p:guide pos="2144"/>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commentAuthors" Target="commentAuthor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2" Type="http://schemas.openxmlformats.org/officeDocument/2006/relationships/package" Target="../embeddings/Microsoft_Excel_Worksheet3.xlsx"/><Relationship Id="rId1" Type="http://schemas.openxmlformats.org/officeDocument/2006/relationships/themeOverride" Target="../theme/themeOverrid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7"/>
    </mc:Choice>
    <mc:Fallback>
      <c:style val="7"/>
    </mc:Fallback>
  </mc:AlternateContent>
  <c:chart>
    <c:autoTitleDeleted val="1"/>
    <c:plotArea>
      <c:layout>
        <c:manualLayout>
          <c:layoutTarget val="inner"/>
          <c:xMode val="edge"/>
          <c:yMode val="edge"/>
          <c:x val="0.28684633266055126"/>
          <c:y val="4.638600094420571E-2"/>
          <c:w val="0.63098712688734904"/>
          <c:h val="0.87583047832981653"/>
        </c:manualLayout>
      </c:layout>
      <c:doughnutChart>
        <c:varyColors val="1"/>
        <c:ser>
          <c:idx val="0"/>
          <c:order val="0"/>
          <c:tx>
            <c:strRef>
              <c:f>工作表1!$B$1</c:f>
              <c:strCache>
                <c:ptCount val="1"/>
                <c:pt idx="0">
                  <c:v>Revenues</c:v>
                </c:pt>
              </c:strCache>
            </c:strRef>
          </c:tx>
          <c:dPt>
            <c:idx val="0"/>
            <c:bubble3D val="0"/>
            <c:spPr>
              <a:solidFill>
                <a:schemeClr val="accent6">
                  <a:lumMod val="40000"/>
                  <a:lumOff val="60000"/>
                </a:schemeClr>
              </a:solidFill>
              <a:ln>
                <a:noFill/>
              </a:ln>
              <a:effectLst/>
            </c:spPr>
            <c:extLst>
              <c:ext xmlns:c16="http://schemas.microsoft.com/office/drawing/2014/chart" uri="{C3380CC4-5D6E-409C-BE32-E72D297353CC}">
                <c16:uniqueId val="{00000001-0C8C-4AD3-BEA3-32B6490D3604}"/>
              </c:ext>
            </c:extLst>
          </c:dPt>
          <c:dPt>
            <c:idx val="1"/>
            <c:bubble3D val="0"/>
            <c:spPr>
              <a:solidFill>
                <a:schemeClr val="tx2">
                  <a:lumMod val="40000"/>
                  <a:lumOff val="60000"/>
                </a:schemeClr>
              </a:solidFill>
              <a:ln>
                <a:noFill/>
              </a:ln>
              <a:effectLst/>
            </c:spPr>
            <c:extLst>
              <c:ext xmlns:c16="http://schemas.microsoft.com/office/drawing/2014/chart" uri="{C3380CC4-5D6E-409C-BE32-E72D297353CC}">
                <c16:uniqueId val="{00000003-0C8C-4AD3-BEA3-32B6490D3604}"/>
              </c:ext>
            </c:extLst>
          </c:dPt>
          <c:dPt>
            <c:idx val="2"/>
            <c:bubble3D val="0"/>
            <c:spPr>
              <a:solidFill>
                <a:schemeClr val="bg1">
                  <a:lumMod val="75000"/>
                </a:schemeClr>
              </a:solidFill>
              <a:ln>
                <a:noFill/>
              </a:ln>
              <a:effectLst/>
            </c:spPr>
            <c:extLst>
              <c:ext xmlns:c16="http://schemas.microsoft.com/office/drawing/2014/chart" uri="{C3380CC4-5D6E-409C-BE32-E72D297353CC}">
                <c16:uniqueId val="{00000005-0C8C-4AD3-BEA3-32B6490D3604}"/>
              </c:ext>
            </c:extLst>
          </c:dPt>
          <c:dPt>
            <c:idx val="3"/>
            <c:bubble3D val="0"/>
            <c:spPr>
              <a:solidFill>
                <a:schemeClr val="accent5">
                  <a:tint val="77000"/>
                </a:schemeClr>
              </a:solidFill>
              <a:ln>
                <a:noFill/>
              </a:ln>
              <a:effectLst/>
            </c:spPr>
            <c:extLst>
              <c:ext xmlns:c16="http://schemas.microsoft.com/office/drawing/2014/chart" uri="{C3380CC4-5D6E-409C-BE32-E72D297353CC}">
                <c16:uniqueId val="{00000007-0C8C-4AD3-BEA3-32B6490D3604}"/>
              </c:ext>
            </c:extLst>
          </c:dPt>
          <c:dPt>
            <c:idx val="4"/>
            <c:bubble3D val="0"/>
            <c:spPr>
              <a:solidFill>
                <a:schemeClr val="accent5">
                  <a:tint val="54000"/>
                </a:schemeClr>
              </a:solidFill>
              <a:ln>
                <a:noFill/>
              </a:ln>
              <a:effectLst/>
            </c:spPr>
            <c:extLst>
              <c:ext xmlns:c16="http://schemas.microsoft.com/office/drawing/2014/chart" uri="{C3380CC4-5D6E-409C-BE32-E72D297353CC}">
                <c16:uniqueId val="{00000009-0C8C-4AD3-BEA3-32B6490D3604}"/>
              </c:ext>
            </c:extLst>
          </c:dPt>
          <c:dLbls>
            <c:dLbl>
              <c:idx val="0"/>
              <c:layout>
                <c:manualLayout>
                  <c:x val="4.3581806826214972E-3"/>
                  <c:y val="-7.4801084747299938E-17"/>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0C8C-4AD3-BEA3-32B6490D3604}"/>
                </c:ext>
              </c:extLst>
            </c:dLbl>
            <c:dLbl>
              <c:idx val="1"/>
              <c:layout>
                <c:manualLayout>
                  <c:x val="-4.3581806826214972E-3"/>
                  <c:y val="-8.1602126024524525E-3"/>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0C8C-4AD3-BEA3-32B6490D3604}"/>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微軟正黑體" panose="020B0604030504040204" pitchFamily="34" charset="-120"/>
                    <a:ea typeface="微軟正黑體" panose="020B0604030504040204" pitchFamily="34" charset="-120"/>
                    <a:cs typeface="+mn-cs"/>
                  </a:defRPr>
                </a:pPr>
                <a:endParaRPr lang="zh-TW"/>
              </a:p>
            </c:txPr>
            <c:showLegendKey val="0"/>
            <c:showVal val="0"/>
            <c:showCatName val="0"/>
            <c:showSerName val="0"/>
            <c:showPercent val="1"/>
            <c:showBubbleSize val="0"/>
            <c:showLeaderLines val="1"/>
            <c:leaderLines>
              <c:spPr>
                <a:ln w="9525" cap="flat" cmpd="sng" algn="ctr">
                  <a:solidFill>
                    <a:schemeClr val="tx1">
                      <a:shade val="95000"/>
                      <a:satMod val="105000"/>
                    </a:schemeClr>
                  </a:solidFill>
                  <a:prstDash val="solid"/>
                  <a:round/>
                </a:ln>
                <a:effectLst/>
              </c:spPr>
            </c:leaderLines>
            <c:extLst>
              <c:ext xmlns:c15="http://schemas.microsoft.com/office/drawing/2012/chart" uri="{CE6537A1-D6FC-4f65-9D91-7224C49458BB}"/>
            </c:extLst>
          </c:dLbls>
          <c:cat>
            <c:strRef>
              <c:f>工作表1!$A$2:$A$4</c:f>
              <c:strCache>
                <c:ptCount val="3"/>
                <c:pt idx="0">
                  <c:v>零售</c:v>
                </c:pt>
                <c:pt idx="1">
                  <c:v>商業-批發</c:v>
                </c:pt>
                <c:pt idx="2">
                  <c:v>其他</c:v>
                </c:pt>
              </c:strCache>
            </c:strRef>
          </c:cat>
          <c:val>
            <c:numRef>
              <c:f>工作表1!$B$2:$B$4</c:f>
              <c:numCache>
                <c:formatCode>#,##0.00</c:formatCode>
                <c:ptCount val="3"/>
                <c:pt idx="0">
                  <c:v>0.66455043681154702</c:v>
                </c:pt>
                <c:pt idx="1">
                  <c:v>0.24271528569103043</c:v>
                </c:pt>
                <c:pt idx="2">
                  <c:v>9.2734277497422538E-2</c:v>
                </c:pt>
              </c:numCache>
            </c:numRef>
          </c:val>
          <c:extLst>
            <c:ext xmlns:c16="http://schemas.microsoft.com/office/drawing/2014/chart" uri="{C3380CC4-5D6E-409C-BE32-E72D297353CC}">
              <c16:uniqueId val="{0000000A-0C8C-4AD3-BEA3-32B6490D3604}"/>
            </c:ext>
          </c:extLst>
        </c:ser>
        <c:dLbls>
          <c:showLegendKey val="0"/>
          <c:showVal val="0"/>
          <c:showCatName val="0"/>
          <c:showSerName val="0"/>
          <c:showPercent val="1"/>
          <c:showBubbleSize val="0"/>
          <c:showLeaderLines val="1"/>
        </c:dLbls>
        <c:firstSliceAng val="0"/>
        <c:holeSize val="64"/>
      </c:doughnutChart>
      <c:spPr>
        <a:noFill/>
        <a:ln>
          <a:noFill/>
        </a:ln>
        <a:effectLst/>
      </c:spPr>
    </c:plotArea>
    <c:legend>
      <c:legendPos val="l"/>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微軟正黑體" panose="020B0604030504040204" pitchFamily="34" charset="-120"/>
              <a:ea typeface="微軟正黑體" panose="020B0604030504040204" pitchFamily="34" charset="-120"/>
              <a:cs typeface="+mn-cs"/>
            </a:defRPr>
          </a:pPr>
          <a:endParaRPr lang="zh-TW"/>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prstDash val="solid"/>
    </a:ln>
    <a:effectLst/>
  </c:spPr>
  <c:txPr>
    <a:bodyPr/>
    <a:lstStyle/>
    <a:p>
      <a:pPr>
        <a:defRPr/>
      </a:pPr>
      <a:endParaRPr lang="zh-TW"/>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3391230470422916E-2"/>
          <c:y val="0.23499406437021822"/>
          <c:w val="0.88913438084321861"/>
          <c:h val="0.66537268282543272"/>
        </c:manualLayout>
      </c:layout>
      <c:barChart>
        <c:barDir val="col"/>
        <c:grouping val="clustered"/>
        <c:varyColors val="0"/>
        <c:ser>
          <c:idx val="0"/>
          <c:order val="0"/>
          <c:tx>
            <c:strRef>
              <c:f>工作表1!$B$1</c:f>
              <c:strCache>
                <c:ptCount val="1"/>
                <c:pt idx="0">
                  <c:v>零售</c:v>
                </c:pt>
              </c:strCache>
            </c:strRef>
          </c:tx>
          <c:spPr>
            <a:solidFill>
              <a:srgbClr val="0473EA"/>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微軟正黑體" panose="020B0604030504040204" pitchFamily="34" charset="-120"/>
                    <a:ea typeface="微軟正黑體" panose="020B0604030504040204" pitchFamily="34" charset="-120"/>
                    <a:cs typeface="+mn-cs"/>
                  </a:defRPr>
                </a:pPr>
                <a:endParaRPr lang="zh-TW"/>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工作表1!$A$2:$A$4</c:f>
              <c:strCache>
                <c:ptCount val="3"/>
                <c:pt idx="0">
                  <c:v>FY23</c:v>
                </c:pt>
                <c:pt idx="1">
                  <c:v>FY24</c:v>
                </c:pt>
                <c:pt idx="2">
                  <c:v>FY25</c:v>
                </c:pt>
              </c:strCache>
            </c:strRef>
          </c:cat>
          <c:val>
            <c:numRef>
              <c:f>工作表1!$B$2:$B$4</c:f>
              <c:numCache>
                <c:formatCode>#,##0</c:formatCode>
                <c:ptCount val="3"/>
                <c:pt idx="0">
                  <c:v>3946</c:v>
                </c:pt>
                <c:pt idx="1">
                  <c:v>2756</c:v>
                </c:pt>
                <c:pt idx="2">
                  <c:v>3235</c:v>
                </c:pt>
              </c:numCache>
            </c:numRef>
          </c:val>
          <c:extLst>
            <c:ext xmlns:c16="http://schemas.microsoft.com/office/drawing/2014/chart" uri="{C3380CC4-5D6E-409C-BE32-E72D297353CC}">
              <c16:uniqueId val="{00000000-2AC4-4B36-998B-F2C40797E69C}"/>
            </c:ext>
          </c:extLst>
        </c:ser>
        <c:ser>
          <c:idx val="1"/>
          <c:order val="1"/>
          <c:tx>
            <c:strRef>
              <c:f>工作表1!$C$1</c:f>
              <c:strCache>
                <c:ptCount val="1"/>
                <c:pt idx="0">
                  <c:v>商業-批發</c:v>
                </c:pt>
              </c:strCache>
            </c:strRef>
          </c:tx>
          <c:spPr>
            <a:solidFill>
              <a:srgbClr val="38D200"/>
            </a:solidFill>
            <a:ln>
              <a:noFill/>
            </a:ln>
            <a:effectLst/>
          </c:spPr>
          <c:invertIfNegative val="0"/>
          <c:dLbls>
            <c:dLbl>
              <c:idx val="0"/>
              <c:layout>
                <c:manualLayout>
                  <c:x val="1.6213874020496861E-2"/>
                  <c:y val="4.2125420977796257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5077-4F08-A93A-EE8046E58A5D}"/>
                </c:ext>
              </c:extLst>
            </c:dLbl>
            <c:dLbl>
              <c:idx val="1"/>
              <c:layout>
                <c:manualLayout>
                  <c:x val="1.2971099216397513E-2"/>
                  <c:y val="4.9146324474095567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2FA6-4CDC-B369-687914A464DA}"/>
                </c:ext>
              </c:extLst>
            </c:dLbl>
            <c:dLbl>
              <c:idx val="2"/>
              <c:layout>
                <c:manualLayout>
                  <c:x val="3.2427748040993781E-3"/>
                  <c:y val="2.1062710488898129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5077-4F08-A93A-EE8046E58A5D}"/>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微軟正黑體" panose="020B0604030504040204" pitchFamily="34" charset="-120"/>
                    <a:ea typeface="微軟正黑體" panose="020B0604030504040204" pitchFamily="34" charset="-120"/>
                    <a:cs typeface="+mn-cs"/>
                  </a:defRPr>
                </a:pPr>
                <a:endParaRPr lang="zh-TW"/>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工作表1!$A$2:$A$4</c:f>
              <c:strCache>
                <c:ptCount val="3"/>
                <c:pt idx="0">
                  <c:v>FY23</c:v>
                </c:pt>
                <c:pt idx="1">
                  <c:v>FY24</c:v>
                </c:pt>
                <c:pt idx="2">
                  <c:v>FY25</c:v>
                </c:pt>
              </c:strCache>
            </c:strRef>
          </c:cat>
          <c:val>
            <c:numRef>
              <c:f>工作表1!$C$2:$C$4</c:f>
              <c:numCache>
                <c:formatCode>#,##0</c:formatCode>
                <c:ptCount val="3"/>
                <c:pt idx="0">
                  <c:v>2934</c:v>
                </c:pt>
                <c:pt idx="1">
                  <c:v>1961</c:v>
                </c:pt>
                <c:pt idx="2">
                  <c:v>2102</c:v>
                </c:pt>
              </c:numCache>
            </c:numRef>
          </c:val>
          <c:extLst>
            <c:ext xmlns:c16="http://schemas.microsoft.com/office/drawing/2014/chart" uri="{C3380CC4-5D6E-409C-BE32-E72D297353CC}">
              <c16:uniqueId val="{00000001-2AC4-4B36-998B-F2C40797E69C}"/>
            </c:ext>
          </c:extLst>
        </c:ser>
        <c:ser>
          <c:idx val="2"/>
          <c:order val="2"/>
          <c:tx>
            <c:strRef>
              <c:f>工作表1!$D$1</c:f>
              <c:strCache>
                <c:ptCount val="1"/>
                <c:pt idx="0">
                  <c:v>其他</c:v>
                </c:pt>
              </c:strCache>
            </c:strRef>
          </c:tx>
          <c:spPr>
            <a:solidFill>
              <a:schemeClr val="accent3"/>
            </a:solidFill>
            <a:ln>
              <a:noFill/>
            </a:ln>
            <a:effectLst/>
          </c:spPr>
          <c:invertIfNegative val="0"/>
          <c:dLbls>
            <c:dLbl>
              <c:idx val="1"/>
              <c:layout>
                <c:manualLayout>
                  <c:x val="3.2427748040993187E-3"/>
                  <c:y val="0.18956439440008316"/>
                </c:manualLayout>
              </c:layout>
              <c:tx>
                <c:rich>
                  <a:bodyPr/>
                  <a:lstStyle/>
                  <a:p>
                    <a:fld id="{3930A5E6-93EC-4D24-A524-D387C2C4A306}" type="VALUE">
                      <a:rPr lang="en-US" altLang="zh-TW">
                        <a:solidFill>
                          <a:srgbClr val="FF0000"/>
                        </a:solidFill>
                      </a:rPr>
                      <a:pPr/>
                      <a:t>[值]</a:t>
                    </a:fld>
                    <a:endParaRPr lang="zh-TW" altLang="en-US"/>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2FA6-4CDC-B369-687914A464DA}"/>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微軟正黑體" panose="020B0604030504040204" pitchFamily="34" charset="-120"/>
                    <a:ea typeface="微軟正黑體" panose="020B0604030504040204" pitchFamily="34" charset="-120"/>
                    <a:cs typeface="+mn-cs"/>
                  </a:defRPr>
                </a:pPr>
                <a:endParaRPr lang="zh-TW"/>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工作表1!$A$2:$A$4</c:f>
              <c:strCache>
                <c:ptCount val="3"/>
                <c:pt idx="0">
                  <c:v>FY23</c:v>
                </c:pt>
                <c:pt idx="1">
                  <c:v>FY24</c:v>
                </c:pt>
                <c:pt idx="2">
                  <c:v>FY25</c:v>
                </c:pt>
              </c:strCache>
            </c:strRef>
          </c:cat>
          <c:val>
            <c:numRef>
              <c:f>工作表1!$D$2:$D$4</c:f>
              <c:numCache>
                <c:formatCode>#,##0</c:formatCode>
                <c:ptCount val="3"/>
                <c:pt idx="0">
                  <c:v>176</c:v>
                </c:pt>
                <c:pt idx="1">
                  <c:v>-29</c:v>
                </c:pt>
                <c:pt idx="2">
                  <c:v>354</c:v>
                </c:pt>
              </c:numCache>
            </c:numRef>
          </c:val>
          <c:extLst>
            <c:ext xmlns:c16="http://schemas.microsoft.com/office/drawing/2014/chart" uri="{C3380CC4-5D6E-409C-BE32-E72D297353CC}">
              <c16:uniqueId val="{00000002-2AC4-4B36-998B-F2C40797E69C}"/>
            </c:ext>
          </c:extLst>
        </c:ser>
        <c:dLbls>
          <c:dLblPos val="outEnd"/>
          <c:showLegendKey val="0"/>
          <c:showVal val="1"/>
          <c:showCatName val="0"/>
          <c:showSerName val="0"/>
          <c:showPercent val="0"/>
          <c:showBubbleSize val="0"/>
        </c:dLbls>
        <c:gapWidth val="100"/>
        <c:axId val="858794712"/>
        <c:axId val="858799304"/>
      </c:barChart>
      <c:valAx>
        <c:axId val="858799304"/>
        <c:scaling>
          <c:orientation val="minMax"/>
          <c:min val="-1000"/>
        </c:scaling>
        <c:delete val="1"/>
        <c:axPos val="r"/>
        <c:numFmt formatCode="#,##0" sourceLinked="1"/>
        <c:majorTickMark val="out"/>
        <c:minorTickMark val="none"/>
        <c:tickLblPos val="nextTo"/>
        <c:crossAx val="858794712"/>
        <c:crosses val="max"/>
        <c:crossBetween val="between"/>
      </c:valAx>
      <c:dateAx>
        <c:axId val="8587947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微軟正黑體" panose="020B0604030504040204" pitchFamily="34" charset="-120"/>
                <a:ea typeface="微軟正黑體" panose="020B0604030504040204" pitchFamily="34" charset="-120"/>
                <a:cs typeface="+mn-cs"/>
              </a:defRPr>
            </a:pPr>
            <a:endParaRPr lang="zh-TW"/>
          </a:p>
        </c:txPr>
        <c:crossAx val="858799304"/>
        <c:crosses val="autoZero"/>
        <c:auto val="0"/>
        <c:lblOffset val="100"/>
        <c:baseTimeUnit val="days"/>
      </c:dateAx>
      <c:spPr>
        <a:noFill/>
        <a:ln>
          <a:noFill/>
        </a:ln>
        <a:effectLst/>
      </c:spPr>
    </c:plotArea>
    <c:legend>
      <c:legendPos val="t"/>
      <c:layout>
        <c:manualLayout>
          <c:xMode val="edge"/>
          <c:yMode val="edge"/>
          <c:x val="5.7236963710538151E-2"/>
          <c:y val="4.2488960955321349E-2"/>
          <c:w val="0.91172207693399299"/>
          <c:h val="0.15579843281530628"/>
        </c:manualLayout>
      </c:layout>
      <c:overlay val="0"/>
      <c:spPr>
        <a:noFill/>
        <a:ln>
          <a:noFill/>
        </a:ln>
        <a:effectLst/>
      </c:spPr>
      <c:txPr>
        <a:bodyPr rot="0" spcFirstLastPara="1" vertOverflow="ellipsis" vert="horz" wrap="square" anchor="ctr" anchorCtr="1"/>
        <a:lstStyle/>
        <a:p>
          <a:pPr>
            <a:defRPr sz="1000" b="1" i="0" u="none" strike="noStrike" kern="1200" baseline="0">
              <a:solidFill>
                <a:schemeClr val="tx1">
                  <a:lumMod val="65000"/>
                  <a:lumOff val="35000"/>
                </a:schemeClr>
              </a:solidFill>
              <a:latin typeface="微軟正黑體" panose="020B0604030504040204" pitchFamily="34" charset="-120"/>
              <a:ea typeface="微軟正黑體" panose="020B0604030504040204" pitchFamily="34" charset="-120"/>
              <a:cs typeface="+mn-cs"/>
            </a:defRPr>
          </a:pPr>
          <a:endParaRPr lang="zh-TW"/>
        </a:p>
      </c:txPr>
    </c:legend>
    <c:plotVisOnly val="1"/>
    <c:dispBlanksAs val="gap"/>
    <c:showDLblsOverMax val="0"/>
  </c:chart>
  <c:spPr>
    <a:noFill/>
    <a:ln>
      <a:noFill/>
    </a:ln>
    <a:effectLst/>
  </c:spPr>
  <c:txPr>
    <a:bodyPr/>
    <a:lstStyle/>
    <a:p>
      <a:pPr>
        <a:defRPr/>
      </a:pPr>
      <a:endParaRPr lang="zh-TW"/>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7"/>
    </mc:Choice>
    <mc:Fallback>
      <c:style val="7"/>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3.6855121120648947E-2"/>
          <c:y val="0.19862968630344296"/>
          <c:w val="0.92628975775870215"/>
          <c:h val="0.62078887770449587"/>
        </c:manualLayout>
      </c:layout>
      <c:barChart>
        <c:barDir val="col"/>
        <c:grouping val="clustered"/>
        <c:varyColors val="0"/>
        <c:ser>
          <c:idx val="8"/>
          <c:order val="8"/>
          <c:tx>
            <c:strRef>
              <c:f>工作表1!$C$1</c:f>
              <c:strCache>
                <c:ptCount val="1"/>
                <c:pt idx="0">
                  <c:v>2022</c:v>
                </c:pt>
              </c:strCache>
            </c:strRef>
          </c:tx>
          <c:spPr>
            <a:solidFill>
              <a:schemeClr val="accent5">
                <a:tint val="74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TW"/>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工作表1!$A$2:$A$3</c:f>
              <c:strCache>
                <c:ptCount val="2"/>
                <c:pt idx="0">
                  <c:v>普通股權一級資本比率(%)</c:v>
                </c:pt>
                <c:pt idx="1">
                  <c:v>總資本比率(%)</c:v>
                </c:pt>
              </c:strCache>
            </c:strRef>
          </c:cat>
          <c:val>
            <c:numRef>
              <c:f>工作表1!$C$2:$C$3</c:f>
              <c:numCache>
                <c:formatCode>General</c:formatCode>
                <c:ptCount val="2"/>
                <c:pt idx="0">
                  <c:v>14.82</c:v>
                </c:pt>
                <c:pt idx="1">
                  <c:v>20.48</c:v>
                </c:pt>
              </c:numCache>
            </c:numRef>
          </c:val>
          <c:extLst>
            <c:ext xmlns:c16="http://schemas.microsoft.com/office/drawing/2014/chart" uri="{C3380CC4-5D6E-409C-BE32-E72D297353CC}">
              <c16:uniqueId val="{00000001-D0F0-4FD4-9228-261E12DF7728}"/>
            </c:ext>
          </c:extLst>
        </c:ser>
        <c:ser>
          <c:idx val="9"/>
          <c:order val="9"/>
          <c:tx>
            <c:strRef>
              <c:f>工作表1!$D$1</c:f>
              <c:strCache>
                <c:ptCount val="1"/>
                <c:pt idx="0">
                  <c:v>2023</c:v>
                </c:pt>
              </c:strCache>
            </c:strRef>
          </c:tx>
          <c:spPr>
            <a:solidFill>
              <a:schemeClr val="accent5">
                <a:tint val="63000"/>
              </a:schemeClr>
            </a:solidFill>
            <a:ln>
              <a:noFill/>
            </a:ln>
            <a:effectLst/>
          </c:spPr>
          <c:invertIfNegative val="0"/>
          <c:cat>
            <c:strRef>
              <c:f>工作表1!$A$2:$A$3</c:f>
              <c:strCache>
                <c:ptCount val="2"/>
                <c:pt idx="0">
                  <c:v>普通股權一級資本比率(%)</c:v>
                </c:pt>
                <c:pt idx="1">
                  <c:v>總資本比率(%)</c:v>
                </c:pt>
              </c:strCache>
            </c:strRef>
          </c:cat>
          <c:val>
            <c:numRef>
              <c:f>工作表1!$D$2:$D$3</c:f>
              <c:numCache>
                <c:formatCode>General</c:formatCode>
                <c:ptCount val="2"/>
                <c:pt idx="0">
                  <c:v>14.36</c:v>
                </c:pt>
                <c:pt idx="1">
                  <c:v>20.49</c:v>
                </c:pt>
              </c:numCache>
            </c:numRef>
          </c:val>
          <c:extLst>
            <c:ext xmlns:c16="http://schemas.microsoft.com/office/drawing/2014/chart" uri="{C3380CC4-5D6E-409C-BE32-E72D297353CC}">
              <c16:uniqueId val="{00000002-D0F0-4FD4-9228-261E12DF7728}"/>
            </c:ext>
          </c:extLst>
        </c:ser>
        <c:ser>
          <c:idx val="10"/>
          <c:order val="10"/>
          <c:tx>
            <c:strRef>
              <c:f>工作表1!$E$1</c:f>
              <c:strCache>
                <c:ptCount val="1"/>
                <c:pt idx="0">
                  <c:v>2024</c:v>
                </c:pt>
              </c:strCache>
            </c:strRef>
          </c:tx>
          <c:spPr>
            <a:solidFill>
              <a:schemeClr val="accent5">
                <a:tint val="52000"/>
              </a:schemeClr>
            </a:solidFill>
            <a:ln>
              <a:noFill/>
            </a:ln>
            <a:effectLst/>
          </c:spPr>
          <c:invertIfNegative val="0"/>
          <c:cat>
            <c:strRef>
              <c:f>工作表1!$A$2:$A$3</c:f>
              <c:strCache>
                <c:ptCount val="2"/>
                <c:pt idx="0">
                  <c:v>普通股權一級資本比率(%)</c:v>
                </c:pt>
                <c:pt idx="1">
                  <c:v>總資本比率(%)</c:v>
                </c:pt>
              </c:strCache>
            </c:strRef>
          </c:cat>
          <c:val>
            <c:numRef>
              <c:f>工作表1!$E$2:$E$3</c:f>
              <c:numCache>
                <c:formatCode>General</c:formatCode>
                <c:ptCount val="2"/>
                <c:pt idx="0">
                  <c:v>13.7</c:v>
                </c:pt>
                <c:pt idx="1">
                  <c:v>19.899999999999999</c:v>
                </c:pt>
              </c:numCache>
            </c:numRef>
          </c:val>
          <c:extLst>
            <c:ext xmlns:c16="http://schemas.microsoft.com/office/drawing/2014/chart" uri="{C3380CC4-5D6E-409C-BE32-E72D297353CC}">
              <c16:uniqueId val="{00000003-D0F0-4FD4-9228-261E12DF7728}"/>
            </c:ext>
          </c:extLst>
        </c:ser>
        <c:ser>
          <c:idx val="11"/>
          <c:order val="11"/>
          <c:tx>
            <c:strRef>
              <c:f>工作表1!$F$1</c:f>
              <c:strCache>
                <c:ptCount val="1"/>
                <c:pt idx="0">
                  <c:v>2025</c:v>
                </c:pt>
              </c:strCache>
            </c:strRef>
          </c:tx>
          <c:spPr>
            <a:solidFill>
              <a:srgbClr val="006F5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TW"/>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工作表1!$A$2:$A$3</c:f>
              <c:strCache>
                <c:ptCount val="2"/>
                <c:pt idx="0">
                  <c:v>普通股權一級資本比率(%)</c:v>
                </c:pt>
                <c:pt idx="1">
                  <c:v>總資本比率(%)</c:v>
                </c:pt>
              </c:strCache>
            </c:strRef>
          </c:cat>
          <c:val>
            <c:numRef>
              <c:f>工作表1!$F$2:$F$3</c:f>
              <c:numCache>
                <c:formatCode>General</c:formatCode>
                <c:ptCount val="2"/>
                <c:pt idx="0">
                  <c:v>13.62</c:v>
                </c:pt>
                <c:pt idx="1">
                  <c:v>20.07</c:v>
                </c:pt>
              </c:numCache>
            </c:numRef>
          </c:val>
          <c:extLst>
            <c:ext xmlns:c16="http://schemas.microsoft.com/office/drawing/2014/chart" uri="{C3380CC4-5D6E-409C-BE32-E72D297353CC}">
              <c16:uniqueId val="{00000004-D0F0-4FD4-9228-261E12DF7728}"/>
            </c:ext>
          </c:extLst>
        </c:ser>
        <c:dLbls>
          <c:showLegendKey val="0"/>
          <c:showVal val="0"/>
          <c:showCatName val="0"/>
          <c:showSerName val="0"/>
          <c:showPercent val="0"/>
          <c:showBubbleSize val="0"/>
        </c:dLbls>
        <c:gapWidth val="219"/>
        <c:overlap val="-27"/>
        <c:axId val="842999128"/>
        <c:axId val="842997816"/>
        <c:extLst>
          <c:ext xmlns:c15="http://schemas.microsoft.com/office/drawing/2012/chart" uri="{02D57815-91ED-43cb-92C2-25804820EDAC}">
            <c15:filteredBarSeries>
              <c15:ser>
                <c:idx val="0"/>
                <c:order val="0"/>
                <c:tx>
                  <c:strRef>
                    <c:extLst>
                      <c:ext uri="{02D57815-91ED-43cb-92C2-25804820EDAC}">
                        <c15:formulaRef>
                          <c15:sqref>工作表1!#REF!</c15:sqref>
                        </c15:formulaRef>
                      </c:ext>
                    </c:extLst>
                    <c:strCache>
                      <c:ptCount val="1"/>
                      <c:pt idx="0">
                        <c:v>#REF!</c:v>
                      </c:pt>
                    </c:strCache>
                  </c:strRef>
                </c:tx>
                <c:spPr>
                  <a:solidFill>
                    <a:schemeClr val="bg1">
                      <a:lumMod val="95000"/>
                    </a:schemeClr>
                  </a:solidFill>
                  <a:ln>
                    <a:noFill/>
                  </a:ln>
                  <a:effectLst/>
                </c:spPr>
                <c:invertIfNegative val="0"/>
                <c:dLbls>
                  <c:numFmt formatCode="#,##0.0_);[Red]\(#,##0.0\)" sourceLinked="0"/>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zh-TW"/>
                    </a:p>
                  </c:txPr>
                  <c:showLegendKey val="0"/>
                  <c:showVal val="1"/>
                  <c:showCatName val="0"/>
                  <c:showSerName val="0"/>
                  <c:showPercent val="0"/>
                  <c:showBubbleSize val="0"/>
                  <c:showLeaderLines val="0"/>
                  <c:extLst>
                    <c:ext uri="{CE6537A1-D6FC-4f65-9D91-7224C49458BB}">
                      <c15:showLeaderLines val="1"/>
                      <c15:leaderLines>
                        <c:spPr>
                          <a:ln w="9525" cap="flat" cmpd="sng" algn="ctr">
                            <a:solidFill>
                              <a:schemeClr val="tx1">
                                <a:lumMod val="35000"/>
                                <a:lumOff val="65000"/>
                              </a:schemeClr>
                            </a:solidFill>
                            <a:round/>
                          </a:ln>
                          <a:effectLst/>
                        </c:spPr>
                      </c15:leaderLines>
                    </c:ext>
                  </c:extLst>
                </c:dLbls>
                <c:cat>
                  <c:strRef>
                    <c:extLst>
                      <c:ext uri="{02D57815-91ED-43cb-92C2-25804820EDAC}">
                        <c15:formulaRef>
                          <c15:sqref>工作表1!$A$2:$A$3</c15:sqref>
                        </c15:formulaRef>
                      </c:ext>
                    </c:extLst>
                    <c:strCache>
                      <c:ptCount val="2"/>
                      <c:pt idx="0">
                        <c:v>普通股權一級資本比率(%)</c:v>
                      </c:pt>
                      <c:pt idx="1">
                        <c:v>總資本比率(%)</c:v>
                      </c:pt>
                    </c:strCache>
                  </c:strRef>
                </c:cat>
                <c:val>
                  <c:numRef>
                    <c:extLst>
                      <c:ext uri="{02D57815-91ED-43cb-92C2-25804820EDAC}">
                        <c15:formulaRef>
                          <c15:sqref>工作表1!#REF!</c15:sqref>
                        </c15:formulaRef>
                      </c:ext>
                    </c:extLst>
                    <c:numCache>
                      <c:formatCode>General</c:formatCode>
                      <c:ptCount val="1"/>
                      <c:pt idx="0">
                        <c:v>1</c:v>
                      </c:pt>
                    </c:numCache>
                  </c:numRef>
                </c:val>
                <c:extLst>
                  <c:ext xmlns:c16="http://schemas.microsoft.com/office/drawing/2014/chart" uri="{C3380CC4-5D6E-409C-BE32-E72D297353CC}">
                    <c16:uniqueId val="{00000005-D0F0-4FD4-9228-261E12DF7728}"/>
                  </c:ext>
                </c:extLst>
              </c15:ser>
            </c15:filteredBarSeries>
            <c15:filteredBarSeries>
              <c15:ser>
                <c:idx val="1"/>
                <c:order val="1"/>
                <c:tx>
                  <c:strRef>
                    <c:extLst xmlns:c15="http://schemas.microsoft.com/office/drawing/2012/chart">
                      <c:ext xmlns:c15="http://schemas.microsoft.com/office/drawing/2012/chart" uri="{02D57815-91ED-43cb-92C2-25804820EDAC}">
                        <c15:formulaRef>
                          <c15:sqref>工作表1!#REF!</c15:sqref>
                        </c15:formulaRef>
                      </c:ext>
                    </c:extLst>
                    <c:strCache>
                      <c:ptCount val="1"/>
                      <c:pt idx="0">
                        <c:v>#REF!</c:v>
                      </c:pt>
                    </c:strCache>
                  </c:strRef>
                </c:tx>
                <c:spPr>
                  <a:solidFill>
                    <a:schemeClr val="bg1">
                      <a:lumMod val="85000"/>
                    </a:schemeClr>
                  </a:solidFill>
                  <a:ln>
                    <a:noFill/>
                  </a:ln>
                  <a:effectLst/>
                </c:spPr>
                <c:invertIfNegative val="0"/>
                <c:cat>
                  <c:strRef>
                    <c:extLst xmlns:c15="http://schemas.microsoft.com/office/drawing/2012/chart">
                      <c:ext xmlns:c15="http://schemas.microsoft.com/office/drawing/2012/chart" uri="{02D57815-91ED-43cb-92C2-25804820EDAC}">
                        <c15:formulaRef>
                          <c15:sqref>工作表1!$A$2:$A$3</c15:sqref>
                        </c15:formulaRef>
                      </c:ext>
                    </c:extLst>
                    <c:strCache>
                      <c:ptCount val="2"/>
                      <c:pt idx="0">
                        <c:v>普通股權一級資本比率(%)</c:v>
                      </c:pt>
                      <c:pt idx="1">
                        <c:v>總資本比率(%)</c:v>
                      </c:pt>
                    </c:strCache>
                  </c:strRef>
                </c:cat>
                <c:val>
                  <c:numRef>
                    <c:extLst xmlns:c15="http://schemas.microsoft.com/office/drawing/2012/chart">
                      <c:ext xmlns:c15="http://schemas.microsoft.com/office/drawing/2012/chart" uri="{02D57815-91ED-43cb-92C2-25804820EDAC}">
                        <c15:formulaRef>
                          <c15:sqref>工作表1!#REF!</c15:sqref>
                        </c15:formulaRef>
                      </c:ext>
                    </c:extLst>
                    <c:numCache>
                      <c:formatCode>General</c:formatCode>
                      <c:ptCount val="1"/>
                      <c:pt idx="0">
                        <c:v>1</c:v>
                      </c:pt>
                    </c:numCache>
                  </c:numRef>
                </c:val>
                <c:extLst xmlns:c15="http://schemas.microsoft.com/office/drawing/2012/chart">
                  <c:ext xmlns:c16="http://schemas.microsoft.com/office/drawing/2014/chart" uri="{C3380CC4-5D6E-409C-BE32-E72D297353CC}">
                    <c16:uniqueId val="{00000006-D0F0-4FD4-9228-261E12DF7728}"/>
                  </c:ext>
                </c:extLst>
              </c15:ser>
            </c15:filteredBarSeries>
            <c15:filteredBarSeries>
              <c15:ser>
                <c:idx val="2"/>
                <c:order val="2"/>
                <c:tx>
                  <c:strRef>
                    <c:extLst xmlns:c15="http://schemas.microsoft.com/office/drawing/2012/chart">
                      <c:ext xmlns:c15="http://schemas.microsoft.com/office/drawing/2012/chart" uri="{02D57815-91ED-43cb-92C2-25804820EDAC}">
                        <c15:formulaRef>
                          <c15:sqref>工作表1!#REF!</c15:sqref>
                        </c15:formulaRef>
                      </c:ext>
                    </c:extLst>
                    <c:strCache>
                      <c:ptCount val="1"/>
                      <c:pt idx="0">
                        <c:v>#REF!</c:v>
                      </c:pt>
                    </c:strCache>
                  </c:strRef>
                </c:tx>
                <c:spPr>
                  <a:solidFill>
                    <a:schemeClr val="bg1">
                      <a:lumMod val="75000"/>
                    </a:schemeClr>
                  </a:solidFill>
                  <a:ln>
                    <a:noFill/>
                  </a:ln>
                  <a:effectLst/>
                </c:spPr>
                <c:invertIfNegative val="0"/>
                <c:cat>
                  <c:strRef>
                    <c:extLst xmlns:c15="http://schemas.microsoft.com/office/drawing/2012/chart">
                      <c:ext xmlns:c15="http://schemas.microsoft.com/office/drawing/2012/chart" uri="{02D57815-91ED-43cb-92C2-25804820EDAC}">
                        <c15:formulaRef>
                          <c15:sqref>工作表1!$A$2:$A$3</c15:sqref>
                        </c15:formulaRef>
                      </c:ext>
                    </c:extLst>
                    <c:strCache>
                      <c:ptCount val="2"/>
                      <c:pt idx="0">
                        <c:v>普通股權一級資本比率(%)</c:v>
                      </c:pt>
                      <c:pt idx="1">
                        <c:v>總資本比率(%)</c:v>
                      </c:pt>
                    </c:strCache>
                  </c:strRef>
                </c:cat>
                <c:val>
                  <c:numRef>
                    <c:extLst xmlns:c15="http://schemas.microsoft.com/office/drawing/2012/chart">
                      <c:ext xmlns:c15="http://schemas.microsoft.com/office/drawing/2012/chart" uri="{02D57815-91ED-43cb-92C2-25804820EDAC}">
                        <c15:formulaRef>
                          <c15:sqref>工作表1!#REF!</c15:sqref>
                        </c15:formulaRef>
                      </c:ext>
                    </c:extLst>
                    <c:numCache>
                      <c:formatCode>General</c:formatCode>
                      <c:ptCount val="1"/>
                      <c:pt idx="0">
                        <c:v>1</c:v>
                      </c:pt>
                    </c:numCache>
                  </c:numRef>
                </c:val>
                <c:extLst xmlns:c15="http://schemas.microsoft.com/office/drawing/2012/chart">
                  <c:ext xmlns:c16="http://schemas.microsoft.com/office/drawing/2014/chart" uri="{C3380CC4-5D6E-409C-BE32-E72D297353CC}">
                    <c16:uniqueId val="{00000007-D0F0-4FD4-9228-261E12DF7728}"/>
                  </c:ext>
                </c:extLst>
              </c15:ser>
            </c15:filteredBarSeries>
            <c15:filteredBarSeries>
              <c15:ser>
                <c:idx val="3"/>
                <c:order val="3"/>
                <c:tx>
                  <c:strRef>
                    <c:extLst xmlns:c15="http://schemas.microsoft.com/office/drawing/2012/chart">
                      <c:ext xmlns:c15="http://schemas.microsoft.com/office/drawing/2012/chart" uri="{02D57815-91ED-43cb-92C2-25804820EDAC}">
                        <c15:formulaRef>
                          <c15:sqref>工作表1!#REF!</c15:sqref>
                        </c15:formulaRef>
                      </c:ext>
                    </c:extLst>
                    <c:strCache>
                      <c:ptCount val="1"/>
                      <c:pt idx="0">
                        <c:v>#REF!</c:v>
                      </c:pt>
                    </c:strCache>
                  </c:strRef>
                </c:tx>
                <c:spPr>
                  <a:solidFill>
                    <a:schemeClr val="bg1">
                      <a:lumMod val="65000"/>
                    </a:schemeClr>
                  </a:solidFill>
                  <a:ln>
                    <a:noFill/>
                  </a:ln>
                  <a:effectLst/>
                </c:spPr>
                <c:invertIfNegative val="0"/>
                <c:cat>
                  <c:strRef>
                    <c:extLst xmlns:c15="http://schemas.microsoft.com/office/drawing/2012/chart">
                      <c:ext xmlns:c15="http://schemas.microsoft.com/office/drawing/2012/chart" uri="{02D57815-91ED-43cb-92C2-25804820EDAC}">
                        <c15:formulaRef>
                          <c15:sqref>工作表1!$A$2:$A$3</c15:sqref>
                        </c15:formulaRef>
                      </c:ext>
                    </c:extLst>
                    <c:strCache>
                      <c:ptCount val="2"/>
                      <c:pt idx="0">
                        <c:v>普通股權一級資本比率(%)</c:v>
                      </c:pt>
                      <c:pt idx="1">
                        <c:v>總資本比率(%)</c:v>
                      </c:pt>
                    </c:strCache>
                  </c:strRef>
                </c:cat>
                <c:val>
                  <c:numRef>
                    <c:extLst xmlns:c15="http://schemas.microsoft.com/office/drawing/2012/chart">
                      <c:ext xmlns:c15="http://schemas.microsoft.com/office/drawing/2012/chart" uri="{02D57815-91ED-43cb-92C2-25804820EDAC}">
                        <c15:formulaRef>
                          <c15:sqref>工作表1!#REF!</c15:sqref>
                        </c15:formulaRef>
                      </c:ext>
                    </c:extLst>
                    <c:numCache>
                      <c:formatCode>General</c:formatCode>
                      <c:ptCount val="1"/>
                      <c:pt idx="0">
                        <c:v>1</c:v>
                      </c:pt>
                    </c:numCache>
                  </c:numRef>
                </c:val>
                <c:extLst xmlns:c15="http://schemas.microsoft.com/office/drawing/2012/chart">
                  <c:ext xmlns:c16="http://schemas.microsoft.com/office/drawing/2014/chart" uri="{C3380CC4-5D6E-409C-BE32-E72D297353CC}">
                    <c16:uniqueId val="{00000008-D0F0-4FD4-9228-261E12DF7728}"/>
                  </c:ext>
                </c:extLst>
              </c15:ser>
            </c15:filteredBarSeries>
            <c15:filteredBarSeries>
              <c15:ser>
                <c:idx val="4"/>
                <c:order val="4"/>
                <c:tx>
                  <c:strRef>
                    <c:extLst xmlns:c15="http://schemas.microsoft.com/office/drawing/2012/chart">
                      <c:ext xmlns:c15="http://schemas.microsoft.com/office/drawing/2012/chart" uri="{02D57815-91ED-43cb-92C2-25804820EDAC}">
                        <c15:formulaRef>
                          <c15:sqref>工作表1!#REF!</c15:sqref>
                        </c15:formulaRef>
                      </c:ext>
                    </c:extLst>
                    <c:strCache>
                      <c:ptCount val="1"/>
                      <c:pt idx="0">
                        <c:v>#REF!</c:v>
                      </c:pt>
                    </c:strCache>
                  </c:strRef>
                </c:tx>
                <c:spPr>
                  <a:solidFill>
                    <a:schemeClr val="bg1">
                      <a:lumMod val="50000"/>
                    </a:schemeClr>
                  </a:solidFill>
                  <a:ln>
                    <a:noFill/>
                  </a:ln>
                  <a:effectLst/>
                </c:spPr>
                <c:invertIfNegative val="0"/>
                <c:dLbls>
                  <c:numFmt formatCode="#,##0.0_ " sourceLinked="0"/>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zh-TW"/>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extLst xmlns:c15="http://schemas.microsoft.com/office/drawing/2012/chart">
                      <c:ext xmlns:c15="http://schemas.microsoft.com/office/drawing/2012/chart" uri="{02D57815-91ED-43cb-92C2-25804820EDAC}">
                        <c15:formulaRef>
                          <c15:sqref>工作表1!$A$2:$A$3</c15:sqref>
                        </c15:formulaRef>
                      </c:ext>
                    </c:extLst>
                    <c:strCache>
                      <c:ptCount val="2"/>
                      <c:pt idx="0">
                        <c:v>普通股權一級資本比率(%)</c:v>
                      </c:pt>
                      <c:pt idx="1">
                        <c:v>總資本比率(%)</c:v>
                      </c:pt>
                    </c:strCache>
                  </c:strRef>
                </c:cat>
                <c:val>
                  <c:numRef>
                    <c:extLst xmlns:c15="http://schemas.microsoft.com/office/drawing/2012/chart">
                      <c:ext xmlns:c15="http://schemas.microsoft.com/office/drawing/2012/chart" uri="{02D57815-91ED-43cb-92C2-25804820EDAC}">
                        <c15:formulaRef>
                          <c15:sqref>工作表1!#REF!</c15:sqref>
                        </c15:formulaRef>
                      </c:ext>
                    </c:extLst>
                    <c:numCache>
                      <c:formatCode>General</c:formatCode>
                      <c:ptCount val="1"/>
                      <c:pt idx="0">
                        <c:v>1</c:v>
                      </c:pt>
                    </c:numCache>
                  </c:numRef>
                </c:val>
                <c:extLst xmlns:c15="http://schemas.microsoft.com/office/drawing/2012/chart">
                  <c:ext xmlns:c16="http://schemas.microsoft.com/office/drawing/2014/chart" uri="{C3380CC4-5D6E-409C-BE32-E72D297353CC}">
                    <c16:uniqueId val="{00000009-D0F0-4FD4-9228-261E12DF7728}"/>
                  </c:ext>
                </c:extLst>
              </c15:ser>
            </c15:filteredBarSeries>
            <c15:filteredBarSeries>
              <c15:ser>
                <c:idx val="5"/>
                <c:order val="5"/>
                <c:tx>
                  <c:strRef>
                    <c:extLst xmlns:c15="http://schemas.microsoft.com/office/drawing/2012/chart">
                      <c:ext xmlns:c15="http://schemas.microsoft.com/office/drawing/2012/chart" uri="{02D57815-91ED-43cb-92C2-25804820EDAC}">
                        <c15:formulaRef>
                          <c15:sqref>工作表1!#REF!</c15:sqref>
                        </c15:formulaRef>
                      </c:ext>
                    </c:extLst>
                    <c:strCache>
                      <c:ptCount val="1"/>
                      <c:pt idx="0">
                        <c:v>#REF!</c:v>
                      </c:pt>
                    </c:strCache>
                  </c:strRef>
                </c:tx>
                <c:spPr>
                  <a:solidFill>
                    <a:schemeClr val="accent5">
                      <a:shade val="94000"/>
                    </a:schemeClr>
                  </a:solidFill>
                  <a:ln>
                    <a:noFill/>
                  </a:ln>
                  <a:effectLst/>
                </c:spPr>
                <c:invertIfNegative val="0"/>
                <c:cat>
                  <c:strRef>
                    <c:extLst xmlns:c15="http://schemas.microsoft.com/office/drawing/2012/chart">
                      <c:ext xmlns:c15="http://schemas.microsoft.com/office/drawing/2012/chart" uri="{02D57815-91ED-43cb-92C2-25804820EDAC}">
                        <c15:formulaRef>
                          <c15:sqref>工作表1!$A$2:$A$3</c15:sqref>
                        </c15:formulaRef>
                      </c:ext>
                    </c:extLst>
                    <c:strCache>
                      <c:ptCount val="2"/>
                      <c:pt idx="0">
                        <c:v>普通股權一級資本比率(%)</c:v>
                      </c:pt>
                      <c:pt idx="1">
                        <c:v>總資本比率(%)</c:v>
                      </c:pt>
                    </c:strCache>
                  </c:strRef>
                </c:cat>
                <c:val>
                  <c:numRef>
                    <c:extLst xmlns:c15="http://schemas.microsoft.com/office/drawing/2012/chart">
                      <c:ext xmlns:c15="http://schemas.microsoft.com/office/drawing/2012/chart" uri="{02D57815-91ED-43cb-92C2-25804820EDAC}">
                        <c15:formulaRef>
                          <c15:sqref>工作表1!#REF!</c15:sqref>
                        </c15:formulaRef>
                      </c:ext>
                    </c:extLst>
                    <c:numCache>
                      <c:formatCode>General</c:formatCode>
                      <c:ptCount val="1"/>
                      <c:pt idx="0">
                        <c:v>1</c:v>
                      </c:pt>
                    </c:numCache>
                  </c:numRef>
                </c:val>
                <c:extLst xmlns:c15="http://schemas.microsoft.com/office/drawing/2012/chart">
                  <c:ext xmlns:c16="http://schemas.microsoft.com/office/drawing/2014/chart" uri="{C3380CC4-5D6E-409C-BE32-E72D297353CC}">
                    <c16:uniqueId val="{0000000A-D0F0-4FD4-9228-261E12DF7728}"/>
                  </c:ext>
                </c:extLst>
              </c15:ser>
            </c15:filteredBarSeries>
            <c15:filteredBarSeries>
              <c15:ser>
                <c:idx val="6"/>
                <c:order val="6"/>
                <c:tx>
                  <c:strRef>
                    <c:extLst xmlns:c15="http://schemas.microsoft.com/office/drawing/2012/chart">
                      <c:ext xmlns:c15="http://schemas.microsoft.com/office/drawing/2012/chart" uri="{02D57815-91ED-43cb-92C2-25804820EDAC}">
                        <c15:formulaRef>
                          <c15:sqref>工作表1!#REF!</c15:sqref>
                        </c15:formulaRef>
                      </c:ext>
                    </c:extLst>
                    <c:strCache>
                      <c:ptCount val="1"/>
                      <c:pt idx="0">
                        <c:v>#REF!</c:v>
                      </c:pt>
                    </c:strCache>
                  </c:strRef>
                </c:tx>
                <c:spPr>
                  <a:solidFill>
                    <a:schemeClr val="accent5">
                      <a:tint val="95000"/>
                    </a:schemeClr>
                  </a:solidFill>
                  <a:ln>
                    <a:noFill/>
                  </a:ln>
                  <a:effectLst/>
                </c:spPr>
                <c:invertIfNegative val="0"/>
                <c:cat>
                  <c:strRef>
                    <c:extLst xmlns:c15="http://schemas.microsoft.com/office/drawing/2012/chart">
                      <c:ext xmlns:c15="http://schemas.microsoft.com/office/drawing/2012/chart" uri="{02D57815-91ED-43cb-92C2-25804820EDAC}">
                        <c15:formulaRef>
                          <c15:sqref>工作表1!$A$2:$A$3</c15:sqref>
                        </c15:formulaRef>
                      </c:ext>
                    </c:extLst>
                    <c:strCache>
                      <c:ptCount val="2"/>
                      <c:pt idx="0">
                        <c:v>普通股權一級資本比率(%)</c:v>
                      </c:pt>
                      <c:pt idx="1">
                        <c:v>總資本比率(%)</c:v>
                      </c:pt>
                    </c:strCache>
                  </c:strRef>
                </c:cat>
                <c:val>
                  <c:numRef>
                    <c:extLst xmlns:c15="http://schemas.microsoft.com/office/drawing/2012/chart">
                      <c:ext xmlns:c15="http://schemas.microsoft.com/office/drawing/2012/chart" uri="{02D57815-91ED-43cb-92C2-25804820EDAC}">
                        <c15:formulaRef>
                          <c15:sqref>工作表1!#REF!</c15:sqref>
                        </c15:formulaRef>
                      </c:ext>
                    </c:extLst>
                    <c:numCache>
                      <c:formatCode>General</c:formatCode>
                      <c:ptCount val="1"/>
                      <c:pt idx="0">
                        <c:v>1</c:v>
                      </c:pt>
                    </c:numCache>
                  </c:numRef>
                </c:val>
                <c:extLst xmlns:c15="http://schemas.microsoft.com/office/drawing/2012/chart">
                  <c:ext xmlns:c16="http://schemas.microsoft.com/office/drawing/2014/chart" uri="{C3380CC4-5D6E-409C-BE32-E72D297353CC}">
                    <c16:uniqueId val="{0000000B-D0F0-4FD4-9228-261E12DF7728}"/>
                  </c:ext>
                </c:extLst>
              </c15:ser>
            </c15:filteredBarSeries>
            <c15:filteredBarSeries>
              <c15:ser>
                <c:idx val="7"/>
                <c:order val="7"/>
                <c:tx>
                  <c:strRef>
                    <c:extLst xmlns:c15="http://schemas.microsoft.com/office/drawing/2012/chart">
                      <c:ext xmlns:c15="http://schemas.microsoft.com/office/drawing/2012/chart" uri="{02D57815-91ED-43cb-92C2-25804820EDAC}">
                        <c15:formulaRef>
                          <c15:sqref>工作表1!$B$1</c15:sqref>
                        </c15:formulaRef>
                      </c:ext>
                    </c:extLst>
                    <c:strCache>
                      <c:ptCount val="1"/>
                      <c:pt idx="0">
                        <c:v>2021</c:v>
                      </c:pt>
                    </c:strCache>
                  </c:strRef>
                </c:tx>
                <c:spPr>
                  <a:solidFill>
                    <a:schemeClr val="accent5">
                      <a:tint val="84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TW"/>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extLst xmlns:c15="http://schemas.microsoft.com/office/drawing/2012/chart">
                      <c:ext xmlns:c15="http://schemas.microsoft.com/office/drawing/2012/chart" uri="{02D57815-91ED-43cb-92C2-25804820EDAC}">
                        <c15:formulaRef>
                          <c15:sqref>工作表1!$A$2:$A$3</c15:sqref>
                        </c15:formulaRef>
                      </c:ext>
                    </c:extLst>
                    <c:strCache>
                      <c:ptCount val="2"/>
                      <c:pt idx="0">
                        <c:v>普通股權一級資本比率(%)</c:v>
                      </c:pt>
                      <c:pt idx="1">
                        <c:v>總資本比率(%)</c:v>
                      </c:pt>
                    </c:strCache>
                  </c:strRef>
                </c:cat>
                <c:val>
                  <c:numRef>
                    <c:extLst xmlns:c15="http://schemas.microsoft.com/office/drawing/2012/chart">
                      <c:ext xmlns:c15="http://schemas.microsoft.com/office/drawing/2012/chart" uri="{02D57815-91ED-43cb-92C2-25804820EDAC}">
                        <c15:formulaRef>
                          <c15:sqref>工作表1!$B$2:$B$3</c15:sqref>
                        </c15:formulaRef>
                      </c:ext>
                    </c:extLst>
                    <c:numCache>
                      <c:formatCode>General</c:formatCode>
                      <c:ptCount val="2"/>
                      <c:pt idx="0">
                        <c:v>16.649999999999999</c:v>
                      </c:pt>
                      <c:pt idx="1">
                        <c:v>23.46</c:v>
                      </c:pt>
                    </c:numCache>
                  </c:numRef>
                </c:val>
                <c:extLst xmlns:c15="http://schemas.microsoft.com/office/drawing/2012/chart">
                  <c:ext xmlns:c16="http://schemas.microsoft.com/office/drawing/2014/chart" uri="{C3380CC4-5D6E-409C-BE32-E72D297353CC}">
                    <c16:uniqueId val="{00000000-D0F0-4FD4-9228-261E12DF7728}"/>
                  </c:ext>
                </c:extLst>
              </c15:ser>
            </c15:filteredBarSeries>
          </c:ext>
        </c:extLst>
      </c:barChart>
      <c:catAx>
        <c:axId val="8429991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zh-TW"/>
          </a:p>
        </c:txPr>
        <c:crossAx val="842997816"/>
        <c:crosses val="autoZero"/>
        <c:auto val="1"/>
        <c:lblAlgn val="ctr"/>
        <c:lblOffset val="100"/>
        <c:noMultiLvlLbl val="0"/>
      </c:catAx>
      <c:valAx>
        <c:axId val="842997816"/>
        <c:scaling>
          <c:orientation val="minMax"/>
          <c:max val="25"/>
          <c:min val="0"/>
        </c:scaling>
        <c:delete val="1"/>
        <c:axPos val="l"/>
        <c:numFmt formatCode="General" sourceLinked="1"/>
        <c:majorTickMark val="none"/>
        <c:minorTickMark val="none"/>
        <c:tickLblPos val="nextTo"/>
        <c:crossAx val="842999128"/>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zh-TW"/>
        </a:p>
      </c:txPr>
    </c:legend>
    <c:plotVisOnly val="1"/>
    <c:dispBlanksAs val="gap"/>
    <c:showDLblsOverMax val="0"/>
  </c:chart>
  <c:spPr>
    <a:noFill/>
    <a:ln>
      <a:noFill/>
    </a:ln>
    <a:effectLst/>
  </c:spPr>
  <c:txPr>
    <a:bodyPr/>
    <a:lstStyle/>
    <a:p>
      <a:pPr>
        <a:defRPr/>
      </a:pPr>
      <a:endParaRPr lang="zh-TW"/>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manualLayout>
          <c:layoutTarget val="inner"/>
          <c:xMode val="edge"/>
          <c:yMode val="edge"/>
          <c:x val="6.5229043988631663E-2"/>
          <c:y val="0.2077326532535417"/>
          <c:w val="0.90187801031170345"/>
          <c:h val="0.67454364897884522"/>
        </c:manualLayout>
      </c:layout>
      <c:barChart>
        <c:barDir val="col"/>
        <c:grouping val="clustered"/>
        <c:varyColors val="0"/>
        <c:ser>
          <c:idx val="0"/>
          <c:order val="0"/>
          <c:tx>
            <c:strRef>
              <c:f>工作表1!$B$1</c:f>
              <c:strCache>
                <c:ptCount val="1"/>
                <c:pt idx="0">
                  <c:v>總債務</c:v>
                </c:pt>
              </c:strCache>
            </c:strRef>
          </c:tx>
          <c:spPr>
            <a:solidFill>
              <a:srgbClr val="006F52"/>
            </a:solidFill>
          </c:spPr>
          <c:invertIfNegative val="0"/>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numRef>
              <c:f>工作表1!$A$2:$A$15</c:f>
              <c:numCache>
                <c:formatCode>General</c:formatCode>
                <c:ptCount val="5"/>
                <c:pt idx="0">
                  <c:v>2021</c:v>
                </c:pt>
                <c:pt idx="1">
                  <c:v>2022</c:v>
                </c:pt>
                <c:pt idx="2">
                  <c:v>2023</c:v>
                </c:pt>
                <c:pt idx="3">
                  <c:v>2024</c:v>
                </c:pt>
                <c:pt idx="4">
                  <c:v>2025</c:v>
                </c:pt>
              </c:numCache>
            </c:numRef>
          </c:cat>
          <c:val>
            <c:numRef>
              <c:f>工作表1!$B$2:$B$15</c:f>
              <c:numCache>
                <c:formatCode>_-* #,##0_-;\-* #,##0_-;_-* "-"??_-;_-@_-</c:formatCode>
                <c:ptCount val="5"/>
                <c:pt idx="0">
                  <c:v>100079</c:v>
                </c:pt>
                <c:pt idx="1">
                  <c:v>116549</c:v>
                </c:pt>
                <c:pt idx="2">
                  <c:v>108237</c:v>
                </c:pt>
                <c:pt idx="3">
                  <c:v>101888</c:v>
                </c:pt>
                <c:pt idx="4">
                  <c:v>107234</c:v>
                </c:pt>
              </c:numCache>
            </c:numRef>
          </c:val>
          <c:extLst>
            <c:ext xmlns:c16="http://schemas.microsoft.com/office/drawing/2014/chart" uri="{C3380CC4-5D6E-409C-BE32-E72D297353CC}">
              <c16:uniqueId val="{00000000-17E3-4B42-9D33-C6F3FCC43F8C}"/>
            </c:ext>
          </c:extLst>
        </c:ser>
        <c:ser>
          <c:idx val="1"/>
          <c:order val="1"/>
          <c:tx>
            <c:strRef>
              <c:f>工作表1!$C$1</c:f>
              <c:strCache>
                <c:ptCount val="1"/>
                <c:pt idx="0">
                  <c:v>淨債務</c:v>
                </c:pt>
              </c:strCache>
            </c:strRef>
          </c:tx>
          <c:spPr>
            <a:solidFill>
              <a:schemeClr val="bg1">
                <a:lumMod val="85000"/>
              </a:schemeClr>
            </a:solidFill>
          </c:spPr>
          <c:invertIfNegative val="0"/>
          <c:dLbls>
            <c:dLbl>
              <c:idx val="0"/>
              <c:layout>
                <c:manualLayout>
                  <c:x val="1.6525540287575601E-2"/>
                  <c:y val="0.1569054069557083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A1FE-46C0-8101-68B88C032079}"/>
                </c:ext>
              </c:extLst>
            </c:dLbl>
            <c:dLbl>
              <c:idx val="1"/>
              <c:layout>
                <c:manualLayout>
                  <c:x val="3.3051080575151261E-3"/>
                  <c:y val="3.362249265335298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A1FE-46C0-8101-68B88C032079}"/>
                </c:ext>
              </c:extLst>
            </c:dLbl>
            <c:dLbl>
              <c:idx val="2"/>
              <c:layout>
                <c:manualLayout>
                  <c:x val="2.3135756402605821E-2"/>
                  <c:y val="2.801874387779415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A1FE-46C0-8101-68B88C032079}"/>
                </c:ext>
              </c:extLst>
            </c:dLbl>
            <c:dLbl>
              <c:idx val="3"/>
              <c:layout>
                <c:manualLayout>
                  <c:x val="1.652554028757551E-2"/>
                  <c:y val="2.241499510223532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8C4A-4C5D-8A07-EE8E97D0B8D8}"/>
                </c:ext>
              </c:extLst>
            </c:dLbl>
            <c:dLbl>
              <c:idx val="4"/>
              <c:layout>
                <c:manualLayout>
                  <c:x val="2.3135756402605762E-2"/>
                  <c:y val="3.362249265335288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A1FE-46C0-8101-68B88C032079}"/>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工作表1!$A$2:$A$15</c:f>
              <c:numCache>
                <c:formatCode>General</c:formatCode>
                <c:ptCount val="5"/>
                <c:pt idx="0">
                  <c:v>2021</c:v>
                </c:pt>
                <c:pt idx="1">
                  <c:v>2022</c:v>
                </c:pt>
                <c:pt idx="2">
                  <c:v>2023</c:v>
                </c:pt>
                <c:pt idx="3">
                  <c:v>2024</c:v>
                </c:pt>
                <c:pt idx="4">
                  <c:v>2025</c:v>
                </c:pt>
              </c:numCache>
            </c:numRef>
          </c:cat>
          <c:val>
            <c:numRef>
              <c:f>工作表1!$C$2:$C$15</c:f>
              <c:numCache>
                <c:formatCode>_-* #,##0_-;\-* #,##0_-;_-* "-"??_-;_-@_-</c:formatCode>
                <c:ptCount val="5"/>
                <c:pt idx="0">
                  <c:v>-9210</c:v>
                </c:pt>
                <c:pt idx="1">
                  <c:v>1992</c:v>
                </c:pt>
                <c:pt idx="2">
                  <c:v>14290</c:v>
                </c:pt>
                <c:pt idx="3">
                  <c:v>8814</c:v>
                </c:pt>
                <c:pt idx="4">
                  <c:v>20050</c:v>
                </c:pt>
              </c:numCache>
            </c:numRef>
          </c:val>
          <c:extLst>
            <c:ext xmlns:c16="http://schemas.microsoft.com/office/drawing/2014/chart" uri="{C3380CC4-5D6E-409C-BE32-E72D297353CC}">
              <c16:uniqueId val="{00000001-17E3-4B42-9D33-C6F3FCC43F8C}"/>
            </c:ext>
          </c:extLst>
        </c:ser>
        <c:dLbls>
          <c:showLegendKey val="0"/>
          <c:showVal val="1"/>
          <c:showCatName val="0"/>
          <c:showSerName val="0"/>
          <c:showPercent val="0"/>
          <c:showBubbleSize val="0"/>
        </c:dLbls>
        <c:gapWidth val="150"/>
        <c:axId val="234530688"/>
        <c:axId val="234532224"/>
      </c:barChart>
      <c:lineChart>
        <c:grouping val="standard"/>
        <c:varyColors val="0"/>
        <c:ser>
          <c:idx val="2"/>
          <c:order val="2"/>
          <c:tx>
            <c:strRef>
              <c:f>工作表1!$D$1</c:f>
              <c:strCache>
                <c:ptCount val="1"/>
                <c:pt idx="0">
                  <c:v>現金及約當現金</c:v>
                </c:pt>
              </c:strCache>
            </c:strRef>
          </c:tx>
          <c:spPr>
            <a:ln>
              <a:solidFill>
                <a:srgbClr val="F79646">
                  <a:lumMod val="60000"/>
                  <a:lumOff val="40000"/>
                </a:srgbClr>
              </a:solidFill>
            </a:ln>
          </c:spPr>
          <c:marker>
            <c:symbol val="none"/>
          </c:marker>
          <c:dLbls>
            <c:delete val="1"/>
          </c:dLbls>
          <c:cat>
            <c:numRef>
              <c:f>工作表1!$A$2:$A$15</c:f>
              <c:numCache>
                <c:formatCode>General</c:formatCode>
                <c:ptCount val="5"/>
                <c:pt idx="0">
                  <c:v>2021</c:v>
                </c:pt>
                <c:pt idx="1">
                  <c:v>2022</c:v>
                </c:pt>
                <c:pt idx="2">
                  <c:v>2023</c:v>
                </c:pt>
                <c:pt idx="3">
                  <c:v>2024</c:v>
                </c:pt>
                <c:pt idx="4">
                  <c:v>2025</c:v>
                </c:pt>
              </c:numCache>
            </c:numRef>
          </c:cat>
          <c:val>
            <c:numRef>
              <c:f>工作表1!$D$2:$D$15</c:f>
              <c:numCache>
                <c:formatCode>_-* #,##0_-;\-* #,##0_-;_-* "-"??_-;_-@_-</c:formatCode>
                <c:ptCount val="5"/>
                <c:pt idx="0">
                  <c:v>109289</c:v>
                </c:pt>
                <c:pt idx="1">
                  <c:v>114557</c:v>
                </c:pt>
                <c:pt idx="2">
                  <c:v>93947</c:v>
                </c:pt>
                <c:pt idx="3">
                  <c:v>93074</c:v>
                </c:pt>
                <c:pt idx="4">
                  <c:v>87184</c:v>
                </c:pt>
              </c:numCache>
            </c:numRef>
          </c:val>
          <c:smooth val="0"/>
          <c:extLst>
            <c:ext xmlns:c16="http://schemas.microsoft.com/office/drawing/2014/chart" uri="{C3380CC4-5D6E-409C-BE32-E72D297353CC}">
              <c16:uniqueId val="{00000001-A1FE-46C0-8101-68B88C032079}"/>
            </c:ext>
          </c:extLst>
        </c:ser>
        <c:dLbls>
          <c:showLegendKey val="0"/>
          <c:showVal val="1"/>
          <c:showCatName val="0"/>
          <c:showSerName val="0"/>
          <c:showPercent val="0"/>
          <c:showBubbleSize val="0"/>
        </c:dLbls>
        <c:marker val="1"/>
        <c:smooth val="0"/>
        <c:axId val="1143566592"/>
        <c:axId val="1143559104"/>
      </c:lineChart>
      <c:catAx>
        <c:axId val="234530688"/>
        <c:scaling>
          <c:orientation val="minMax"/>
        </c:scaling>
        <c:delete val="0"/>
        <c:axPos val="b"/>
        <c:numFmt formatCode="General" sourceLinked="0"/>
        <c:majorTickMark val="out"/>
        <c:minorTickMark val="none"/>
        <c:tickLblPos val="low"/>
        <c:txPr>
          <a:bodyPr/>
          <a:lstStyle/>
          <a:p>
            <a:pPr>
              <a:defRPr sz="1000"/>
            </a:pPr>
            <a:endParaRPr lang="zh-TW"/>
          </a:p>
        </c:txPr>
        <c:crossAx val="234532224"/>
        <c:crosses val="autoZero"/>
        <c:auto val="1"/>
        <c:lblAlgn val="ctr"/>
        <c:lblOffset val="100"/>
        <c:noMultiLvlLbl val="0"/>
      </c:catAx>
      <c:valAx>
        <c:axId val="234532224"/>
        <c:scaling>
          <c:orientation val="minMax"/>
        </c:scaling>
        <c:delete val="1"/>
        <c:axPos val="l"/>
        <c:numFmt formatCode="#,##0_ ;[Red]\-#,##0\ " sourceLinked="0"/>
        <c:majorTickMark val="out"/>
        <c:minorTickMark val="none"/>
        <c:tickLblPos val="nextTo"/>
        <c:crossAx val="234530688"/>
        <c:crosses val="autoZero"/>
        <c:crossBetween val="between"/>
      </c:valAx>
      <c:valAx>
        <c:axId val="1143559104"/>
        <c:scaling>
          <c:orientation val="minMax"/>
        </c:scaling>
        <c:delete val="1"/>
        <c:axPos val="r"/>
        <c:numFmt formatCode="_-* #,##0_-;\-* #,##0_-;_-* &quot;-&quot;??_-;_-@_-" sourceLinked="1"/>
        <c:majorTickMark val="out"/>
        <c:minorTickMark val="none"/>
        <c:tickLblPos val="nextTo"/>
        <c:crossAx val="1143566592"/>
        <c:crosses val="max"/>
        <c:crossBetween val="between"/>
      </c:valAx>
      <c:catAx>
        <c:axId val="1143566592"/>
        <c:scaling>
          <c:orientation val="minMax"/>
        </c:scaling>
        <c:delete val="1"/>
        <c:axPos val="b"/>
        <c:numFmt formatCode="General" sourceLinked="1"/>
        <c:majorTickMark val="out"/>
        <c:minorTickMark val="none"/>
        <c:tickLblPos val="nextTo"/>
        <c:crossAx val="1143559104"/>
        <c:auto val="1"/>
        <c:lblAlgn val="ctr"/>
        <c:lblOffset val="100"/>
        <c:noMultiLvlLbl val="0"/>
      </c:catAx>
    </c:plotArea>
    <c:legend>
      <c:legendPos val="t"/>
      <c:layout>
        <c:manualLayout>
          <c:xMode val="edge"/>
          <c:yMode val="edge"/>
          <c:x val="0.12948372390428511"/>
          <c:y val="1.1853273276748731E-2"/>
          <c:w val="0.80115819314166659"/>
          <c:h val="0.11359542444984945"/>
        </c:manualLayout>
      </c:layout>
      <c:overlay val="0"/>
      <c:txPr>
        <a:bodyPr/>
        <a:lstStyle/>
        <a:p>
          <a:pPr>
            <a:defRPr sz="1000" b="1"/>
          </a:pPr>
          <a:endParaRPr lang="zh-TW"/>
        </a:p>
      </c:txPr>
    </c:legend>
    <c:plotVisOnly val="1"/>
    <c:dispBlanksAs val="gap"/>
    <c:showDLblsOverMax val="0"/>
  </c:chart>
  <c:txPr>
    <a:bodyPr/>
    <a:lstStyle/>
    <a:p>
      <a:pPr>
        <a:defRPr sz="800"/>
      </a:pPr>
      <a:endParaRPr lang="zh-TW"/>
    </a:p>
  </c:txPr>
  <c:externalData r:id="rId2">
    <c:autoUpdate val="0"/>
  </c:externalData>
</c:chartSpace>
</file>

<file path=ppt/charts/colors1.xml><?xml version="1.0" encoding="utf-8"?>
<cs:colorStyle xmlns:cs="http://schemas.microsoft.com/office/drawing/2012/chartStyle" xmlns:a="http://schemas.openxmlformats.org/drawingml/2006/main" meth="withinLinear" id="18">
  <a:schemeClr val="accent5"/>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withinLinear" id="18">
  <a:schemeClr val="accent5"/>
</cs:colorStyle>
</file>

<file path=ppt/charts/style1.xml><?xml version="1.0" encoding="utf-8"?>
<cs:chartStyle xmlns:cs="http://schemas.microsoft.com/office/drawing/2012/chartStyle" xmlns:a="http://schemas.openxmlformats.org/drawingml/2006/main" id="106">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mods="ignoreCSTransforms">
      <cs:styleClr val="0">
        <a:shade val="25000"/>
      </cs:styl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mods="ignoreCSTransforms">
      <cs:styleClr val="0">
        <a:tint val="25000"/>
      </cs:styl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2"/>
            <a:ext cx="2950052" cy="497126"/>
          </a:xfrm>
          <a:prstGeom prst="rect">
            <a:avLst/>
          </a:prstGeom>
        </p:spPr>
        <p:txBody>
          <a:bodyPr vert="horz" lIns="91468" tIns="45733" rIns="91468" bIns="45733" rtlCol="0"/>
          <a:lstStyle>
            <a:lvl1pPr algn="l">
              <a:defRPr sz="1200"/>
            </a:lvl1pPr>
          </a:lstStyle>
          <a:p>
            <a:endParaRPr lang="zh-TW" altLang="en-US"/>
          </a:p>
        </p:txBody>
      </p:sp>
      <p:sp>
        <p:nvSpPr>
          <p:cNvPr id="3" name="日期版面配置區 2"/>
          <p:cNvSpPr>
            <a:spLocks noGrp="1"/>
          </p:cNvSpPr>
          <p:nvPr>
            <p:ph type="dt" sz="quarter" idx="1"/>
          </p:nvPr>
        </p:nvSpPr>
        <p:spPr>
          <a:xfrm>
            <a:off x="3855563" y="2"/>
            <a:ext cx="2950051" cy="497126"/>
          </a:xfrm>
          <a:prstGeom prst="rect">
            <a:avLst/>
          </a:prstGeom>
        </p:spPr>
        <p:txBody>
          <a:bodyPr vert="horz" lIns="91468" tIns="45733" rIns="91468" bIns="45733" rtlCol="0"/>
          <a:lstStyle>
            <a:lvl1pPr algn="r">
              <a:defRPr sz="1200"/>
            </a:lvl1pPr>
          </a:lstStyle>
          <a:p>
            <a:fld id="{DB0088FA-AB4C-4EE3-831C-E6A5D9B6A47F}" type="datetimeFigureOut">
              <a:rPr lang="zh-TW" altLang="en-US" smtClean="0"/>
              <a:t>2026/4/28</a:t>
            </a:fld>
            <a:endParaRPr lang="zh-TW" altLang="en-US"/>
          </a:p>
        </p:txBody>
      </p:sp>
      <p:sp>
        <p:nvSpPr>
          <p:cNvPr id="4" name="頁尾版面配置區 3"/>
          <p:cNvSpPr>
            <a:spLocks noGrp="1"/>
          </p:cNvSpPr>
          <p:nvPr>
            <p:ph type="ftr" sz="quarter" idx="2"/>
          </p:nvPr>
        </p:nvSpPr>
        <p:spPr>
          <a:xfrm>
            <a:off x="0" y="9440624"/>
            <a:ext cx="2950052" cy="497126"/>
          </a:xfrm>
          <a:prstGeom prst="rect">
            <a:avLst/>
          </a:prstGeom>
        </p:spPr>
        <p:txBody>
          <a:bodyPr vert="horz" lIns="91468" tIns="45733" rIns="91468" bIns="45733" rtlCol="0" anchor="b"/>
          <a:lstStyle>
            <a:lvl1pPr algn="l">
              <a:defRPr sz="1200"/>
            </a:lvl1pPr>
          </a:lstStyle>
          <a:p>
            <a:endParaRPr lang="zh-TW" altLang="en-US"/>
          </a:p>
        </p:txBody>
      </p:sp>
      <p:sp>
        <p:nvSpPr>
          <p:cNvPr id="5" name="投影片編號版面配置區 4"/>
          <p:cNvSpPr>
            <a:spLocks noGrp="1"/>
          </p:cNvSpPr>
          <p:nvPr>
            <p:ph type="sldNum" sz="quarter" idx="3"/>
          </p:nvPr>
        </p:nvSpPr>
        <p:spPr>
          <a:xfrm>
            <a:off x="3855563" y="9440624"/>
            <a:ext cx="2950051" cy="497126"/>
          </a:xfrm>
          <a:prstGeom prst="rect">
            <a:avLst/>
          </a:prstGeom>
        </p:spPr>
        <p:txBody>
          <a:bodyPr vert="horz" lIns="91468" tIns="45733" rIns="91468" bIns="45733" rtlCol="0" anchor="b"/>
          <a:lstStyle>
            <a:lvl1pPr algn="r">
              <a:defRPr sz="1200"/>
            </a:lvl1pPr>
          </a:lstStyle>
          <a:p>
            <a:fld id="{E6DE1C6A-2ED3-47EA-84F1-8271108DD2DB}" type="slidenum">
              <a:rPr lang="zh-TW" altLang="en-US" smtClean="0"/>
              <a:t>‹#›</a:t>
            </a:fld>
            <a:endParaRPr lang="zh-TW" altLang="en-US"/>
          </a:p>
        </p:txBody>
      </p:sp>
    </p:spTree>
    <p:extLst>
      <p:ext uri="{BB962C8B-B14F-4D97-AF65-F5344CB8AC3E}">
        <p14:creationId xmlns:p14="http://schemas.microsoft.com/office/powerpoint/2010/main" val="21038906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29" y="2"/>
            <a:ext cx="2949786" cy="496967"/>
          </a:xfrm>
          <a:prstGeom prst="rect">
            <a:avLst/>
          </a:prstGeom>
        </p:spPr>
        <p:txBody>
          <a:bodyPr vert="horz" lIns="91160" tIns="45572" rIns="91160" bIns="45572" rtlCol="0"/>
          <a:lstStyle>
            <a:lvl1pPr algn="l">
              <a:defRPr sz="1200"/>
            </a:lvl1pPr>
          </a:lstStyle>
          <a:p>
            <a:endParaRPr lang="zh-TW" altLang="en-US"/>
          </a:p>
        </p:txBody>
      </p:sp>
      <p:sp>
        <p:nvSpPr>
          <p:cNvPr id="3" name="日期版面配置區 2"/>
          <p:cNvSpPr>
            <a:spLocks noGrp="1"/>
          </p:cNvSpPr>
          <p:nvPr>
            <p:ph type="dt" idx="1"/>
          </p:nvPr>
        </p:nvSpPr>
        <p:spPr>
          <a:xfrm>
            <a:off x="3855839" y="2"/>
            <a:ext cx="2949786" cy="496967"/>
          </a:xfrm>
          <a:prstGeom prst="rect">
            <a:avLst/>
          </a:prstGeom>
        </p:spPr>
        <p:txBody>
          <a:bodyPr vert="horz" lIns="91160" tIns="45572" rIns="91160" bIns="45572" rtlCol="0"/>
          <a:lstStyle>
            <a:lvl1pPr algn="r">
              <a:defRPr sz="1200"/>
            </a:lvl1pPr>
          </a:lstStyle>
          <a:p>
            <a:fld id="{35708A9D-C909-4D66-A4DC-8E952B844F82}" type="datetimeFigureOut">
              <a:rPr lang="zh-TW" altLang="en-US" smtClean="0"/>
              <a:t>2026/4/28</a:t>
            </a:fld>
            <a:endParaRPr lang="zh-TW" altLang="en-US"/>
          </a:p>
        </p:txBody>
      </p:sp>
      <p:sp>
        <p:nvSpPr>
          <p:cNvPr id="4" name="投影片圖像版面配置區 3"/>
          <p:cNvSpPr>
            <a:spLocks noGrp="1" noRot="1" noChangeAspect="1"/>
          </p:cNvSpPr>
          <p:nvPr>
            <p:ph type="sldImg" idx="2"/>
          </p:nvPr>
        </p:nvSpPr>
        <p:spPr>
          <a:xfrm>
            <a:off x="919163" y="746125"/>
            <a:ext cx="4968875" cy="3725863"/>
          </a:xfrm>
          <a:prstGeom prst="rect">
            <a:avLst/>
          </a:prstGeom>
          <a:noFill/>
          <a:ln w="12700">
            <a:solidFill>
              <a:prstClr val="black"/>
            </a:solidFill>
          </a:ln>
        </p:spPr>
        <p:txBody>
          <a:bodyPr vert="horz" lIns="91160" tIns="45572" rIns="91160" bIns="45572" rtlCol="0" anchor="ctr"/>
          <a:lstStyle/>
          <a:p>
            <a:endParaRPr lang="zh-TW" altLang="en-US"/>
          </a:p>
        </p:txBody>
      </p:sp>
      <p:sp>
        <p:nvSpPr>
          <p:cNvPr id="5" name="備忘稿版面配置區 4"/>
          <p:cNvSpPr>
            <a:spLocks noGrp="1"/>
          </p:cNvSpPr>
          <p:nvPr>
            <p:ph type="body" sz="quarter" idx="3"/>
          </p:nvPr>
        </p:nvSpPr>
        <p:spPr>
          <a:xfrm>
            <a:off x="680721" y="4721186"/>
            <a:ext cx="5445760" cy="4472702"/>
          </a:xfrm>
          <a:prstGeom prst="rect">
            <a:avLst/>
          </a:prstGeom>
        </p:spPr>
        <p:txBody>
          <a:bodyPr vert="horz" lIns="91160" tIns="45572" rIns="91160" bIns="45572"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29" y="9440676"/>
            <a:ext cx="2949786" cy="496967"/>
          </a:xfrm>
          <a:prstGeom prst="rect">
            <a:avLst/>
          </a:prstGeom>
        </p:spPr>
        <p:txBody>
          <a:bodyPr vert="horz" lIns="91160" tIns="45572" rIns="91160" bIns="45572"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55839" y="9440676"/>
            <a:ext cx="2949786" cy="496967"/>
          </a:xfrm>
          <a:prstGeom prst="rect">
            <a:avLst/>
          </a:prstGeom>
        </p:spPr>
        <p:txBody>
          <a:bodyPr vert="horz" lIns="91160" tIns="45572" rIns="91160" bIns="45572" rtlCol="0" anchor="b"/>
          <a:lstStyle>
            <a:lvl1pPr algn="r">
              <a:defRPr sz="1200"/>
            </a:lvl1pPr>
          </a:lstStyle>
          <a:p>
            <a:fld id="{677EE9C5-7ACF-43E8-ABC9-16737D2E075F}" type="slidenum">
              <a:rPr lang="zh-TW" altLang="en-US" smtClean="0"/>
              <a:t>‹#›</a:t>
            </a:fld>
            <a:endParaRPr lang="zh-TW" altLang="en-US"/>
          </a:p>
        </p:txBody>
      </p:sp>
    </p:spTree>
    <p:extLst>
      <p:ext uri="{BB962C8B-B14F-4D97-AF65-F5344CB8AC3E}">
        <p14:creationId xmlns:p14="http://schemas.microsoft.com/office/powerpoint/2010/main" val="22519394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919163" y="746125"/>
            <a:ext cx="4968875" cy="3725863"/>
          </a:xfrm>
        </p:spPr>
      </p:sp>
      <p:sp>
        <p:nvSpPr>
          <p:cNvPr id="3" name="備忘稿版面配置區 2"/>
          <p:cNvSpPr>
            <a:spLocks noGrp="1"/>
          </p:cNvSpPr>
          <p:nvPr>
            <p:ph type="body" idx="1"/>
          </p:nvPr>
        </p:nvSpPr>
        <p:spPr/>
        <p:txBody>
          <a:bodyPr/>
          <a:lstStyle/>
          <a:p>
            <a:pPr defTabSz="915496">
              <a:defRPr/>
            </a:pPr>
            <a:r>
              <a:rPr lang="zh-TW" altLang="en-US" dirty="0">
                <a:latin typeface="微軟正黑體" panose="020B0604030504040204" pitchFamily="34" charset="-120"/>
                <a:ea typeface="微軟正黑體" panose="020B0604030504040204" pitchFamily="34" charset="-120"/>
              </a:rPr>
              <a:t>官網</a:t>
            </a:r>
            <a:r>
              <a:rPr lang="en-US" altLang="zh-TW" dirty="0">
                <a:latin typeface="微軟正黑體" panose="020B0604030504040204" pitchFamily="34" charset="-120"/>
                <a:ea typeface="微軟正黑體" panose="020B0604030504040204" pitchFamily="34" charset="-120"/>
              </a:rPr>
              <a:t>1</a:t>
            </a:r>
          </a:p>
          <a:p>
            <a:pPr defTabSz="915496">
              <a:defRPr/>
            </a:pPr>
            <a:r>
              <a:rPr lang="en-US" altLang="zh-TW" dirty="0">
                <a:latin typeface="微軟正黑體" panose="020B0604030504040204" pitchFamily="34" charset="-120"/>
                <a:ea typeface="微軟正黑體" panose="020B0604030504040204" pitchFamily="34" charset="-120"/>
              </a:rPr>
              <a:t>https://www.lloydsbankinggroup.com/who-we-are/our-heritage/lloyds-bank.html</a:t>
            </a:r>
          </a:p>
          <a:p>
            <a:pPr marL="0" marR="0" lvl="0" indent="0" algn="l" defTabSz="915496" rtl="0" eaLnBrk="1" fontAlgn="auto" latinLnBrk="0" hangingPunct="1">
              <a:lnSpc>
                <a:spcPct val="100000"/>
              </a:lnSpc>
              <a:spcBef>
                <a:spcPts val="0"/>
              </a:spcBef>
              <a:spcAft>
                <a:spcPts val="0"/>
              </a:spcAft>
              <a:buClrTx/>
              <a:buSzTx/>
              <a:buFontTx/>
              <a:buNone/>
              <a:tabLst/>
              <a:defRPr/>
            </a:pPr>
            <a:r>
              <a:rPr lang="zh-TW" altLang="en-US" dirty="0">
                <a:latin typeface="微軟正黑體" panose="020B0604030504040204" pitchFamily="34" charset="-120"/>
                <a:ea typeface="微軟正黑體" panose="020B0604030504040204" pitchFamily="34" charset="-120"/>
              </a:rPr>
              <a:t>官網</a:t>
            </a:r>
            <a:r>
              <a:rPr lang="en-US" altLang="zh-TW" dirty="0">
                <a:latin typeface="微軟正黑體" panose="020B0604030504040204" pitchFamily="34" charset="-120"/>
                <a:ea typeface="微軟正黑體" panose="020B0604030504040204" pitchFamily="34" charset="-120"/>
              </a:rPr>
              <a:t>3</a:t>
            </a:r>
          </a:p>
          <a:p>
            <a:pPr defTabSz="915496">
              <a:defRPr/>
            </a:pPr>
            <a:r>
              <a:rPr lang="en-US" altLang="zh-TW" dirty="0">
                <a:latin typeface="微軟正黑體" panose="020B0604030504040204" pitchFamily="34" charset="-120"/>
                <a:ea typeface="微軟正黑體" panose="020B0604030504040204" pitchFamily="34" charset="-120"/>
              </a:rPr>
              <a:t>https://www.lloydsbankinggroup.com/who-we-are/our-brands/lloyds-bank.html</a:t>
            </a:r>
          </a:p>
          <a:p>
            <a:pPr marL="0" marR="0" lvl="0" indent="0" algn="l" defTabSz="915496" rtl="0" eaLnBrk="1" fontAlgn="auto" latinLnBrk="0" hangingPunct="1">
              <a:lnSpc>
                <a:spcPct val="100000"/>
              </a:lnSpc>
              <a:spcBef>
                <a:spcPts val="0"/>
              </a:spcBef>
              <a:spcAft>
                <a:spcPts val="0"/>
              </a:spcAft>
              <a:buClrTx/>
              <a:buSzTx/>
              <a:buFontTx/>
              <a:buNone/>
              <a:tabLst/>
              <a:defRPr/>
            </a:pPr>
            <a:r>
              <a:rPr lang="zh-TW" altLang="en-US" dirty="0">
                <a:latin typeface="微軟正黑體" panose="020B0604030504040204" pitchFamily="34" charset="-120"/>
                <a:ea typeface="微軟正黑體" panose="020B0604030504040204" pitchFamily="34" charset="-120"/>
              </a:rPr>
              <a:t>官網</a:t>
            </a:r>
            <a:r>
              <a:rPr lang="en-US" altLang="zh-TW" dirty="0">
                <a:latin typeface="微軟正黑體" panose="020B0604030504040204" pitchFamily="34" charset="-120"/>
                <a:ea typeface="微軟正黑體" panose="020B0604030504040204" pitchFamily="34" charset="-120"/>
              </a:rPr>
              <a:t>4</a:t>
            </a:r>
          </a:p>
          <a:p>
            <a:pPr defTabSz="915496">
              <a:defRPr/>
            </a:pPr>
            <a:r>
              <a:rPr lang="en-US" altLang="zh-TW" dirty="0">
                <a:latin typeface="微軟正黑體" panose="020B0604030504040204" pitchFamily="34" charset="-120"/>
                <a:ea typeface="微軟正黑體" panose="020B0604030504040204" pitchFamily="34" charset="-120"/>
              </a:rPr>
              <a:t>https://www.lloydsbankinggroup.com/who-we-are/group-overview/ring-fencing.html</a:t>
            </a:r>
          </a:p>
          <a:p>
            <a:pPr marL="0" marR="0" lvl="0" indent="0" algn="l" defTabSz="915496" rtl="0" eaLnBrk="1" fontAlgn="auto" latinLnBrk="0" hangingPunct="1">
              <a:lnSpc>
                <a:spcPct val="100000"/>
              </a:lnSpc>
              <a:spcBef>
                <a:spcPts val="0"/>
              </a:spcBef>
              <a:spcAft>
                <a:spcPts val="0"/>
              </a:spcAft>
              <a:buClrTx/>
              <a:buSzTx/>
              <a:buFontTx/>
              <a:buNone/>
              <a:tabLst/>
              <a:defRPr/>
            </a:pPr>
            <a:r>
              <a:rPr lang="zh-TW" altLang="en-US" dirty="0">
                <a:latin typeface="微軟正黑體" panose="020B0604030504040204" pitchFamily="34" charset="-120"/>
                <a:ea typeface="微軟正黑體" panose="020B0604030504040204" pitchFamily="34" charset="-120"/>
              </a:rPr>
              <a:t>官網</a:t>
            </a:r>
            <a:r>
              <a:rPr lang="en-US" altLang="zh-TW" dirty="0">
                <a:latin typeface="微軟正黑體" panose="020B0604030504040204" pitchFamily="34" charset="-120"/>
                <a:ea typeface="微軟正黑體" panose="020B0604030504040204" pitchFamily="34" charset="-120"/>
              </a:rPr>
              <a:t>5</a:t>
            </a:r>
          </a:p>
          <a:p>
            <a:pPr defTabSz="915496">
              <a:defRPr/>
            </a:pPr>
            <a:r>
              <a:rPr lang="en-US" altLang="zh-TW" dirty="0">
                <a:latin typeface="微軟正黑體" panose="020B0604030504040204" pitchFamily="34" charset="-120"/>
                <a:ea typeface="微軟正黑體" panose="020B0604030504040204" pitchFamily="34" charset="-120"/>
              </a:rPr>
              <a:t>https://www.lloydsbankinggroup.com/who-we-are/group-overview.html</a:t>
            </a:r>
          </a:p>
          <a:p>
            <a:pPr marL="0" marR="0" lvl="0" indent="0" algn="l" defTabSz="915496" rtl="0" eaLnBrk="1" fontAlgn="auto" latinLnBrk="0" hangingPunct="1">
              <a:lnSpc>
                <a:spcPct val="100000"/>
              </a:lnSpc>
              <a:spcBef>
                <a:spcPts val="0"/>
              </a:spcBef>
              <a:spcAft>
                <a:spcPts val="0"/>
              </a:spcAft>
              <a:buClrTx/>
              <a:buSzTx/>
              <a:buFontTx/>
              <a:buNone/>
              <a:tabLst/>
              <a:defRPr/>
            </a:pPr>
            <a:r>
              <a:rPr lang="zh-TW" altLang="en-US" dirty="0">
                <a:latin typeface="微軟正黑體" panose="020B0604030504040204" pitchFamily="34" charset="-120"/>
                <a:ea typeface="微軟正黑體" panose="020B0604030504040204" pitchFamily="34" charset="-120"/>
              </a:rPr>
              <a:t>官網</a:t>
            </a:r>
            <a:r>
              <a:rPr lang="en-US" altLang="zh-TW" dirty="0">
                <a:latin typeface="微軟正黑體" panose="020B0604030504040204" pitchFamily="34" charset="-120"/>
                <a:ea typeface="微軟正黑體" panose="020B0604030504040204" pitchFamily="34" charset="-120"/>
              </a:rPr>
              <a:t>6</a:t>
            </a:r>
          </a:p>
          <a:p>
            <a:pPr defTabSz="915496">
              <a:defRPr/>
            </a:pPr>
            <a:r>
              <a:rPr lang="en-US" altLang="zh-TW" dirty="0">
                <a:latin typeface="微軟正黑體" panose="020B0604030504040204" pitchFamily="34" charset="-120"/>
                <a:ea typeface="微軟正黑體" panose="020B0604030504040204" pitchFamily="34" charset="-120"/>
              </a:rPr>
              <a:t>https://www.lloydsbankinggroup.com/who-we-are/our-brands.html</a:t>
            </a:r>
          </a:p>
          <a:p>
            <a:pPr defTabSz="915496">
              <a:defRPr/>
            </a:pPr>
            <a:endParaRPr lang="en-US" altLang="zh-TW" dirty="0">
              <a:latin typeface="微軟正黑體" panose="020B0604030504040204" pitchFamily="34" charset="-120"/>
              <a:ea typeface="微軟正黑體" panose="020B0604030504040204" pitchFamily="34" charset="-120"/>
            </a:endParaRPr>
          </a:p>
          <a:p>
            <a:pPr marL="0" marR="0" lvl="0" indent="0" algn="l" defTabSz="915496" rtl="0" eaLnBrk="1" fontAlgn="auto" latinLnBrk="0" hangingPunct="1">
              <a:lnSpc>
                <a:spcPct val="100000"/>
              </a:lnSpc>
              <a:spcBef>
                <a:spcPts val="0"/>
              </a:spcBef>
              <a:spcAft>
                <a:spcPts val="0"/>
              </a:spcAft>
              <a:buClrTx/>
              <a:buSzTx/>
              <a:buFontTx/>
              <a:buNone/>
              <a:tabLst/>
              <a:defRPr/>
            </a:pPr>
            <a:r>
              <a:rPr lang="zh-TW" altLang="en-US" dirty="0">
                <a:latin typeface="微軟正黑體" panose="020B0604030504040204" pitchFamily="34" charset="-120"/>
                <a:ea typeface="微軟正黑體" panose="020B0604030504040204" pitchFamily="34" charset="-120"/>
              </a:rPr>
              <a:t>銀行年報</a:t>
            </a:r>
            <a:endParaRPr lang="en-US" altLang="zh-TW" dirty="0">
              <a:latin typeface="微軟正黑體" panose="020B0604030504040204" pitchFamily="34" charset="-120"/>
              <a:ea typeface="微軟正黑體" panose="020B0604030504040204" pitchFamily="34" charset="-120"/>
            </a:endParaRPr>
          </a:p>
          <a:p>
            <a:pPr defTabSz="915496">
              <a:defRPr/>
            </a:pPr>
            <a:r>
              <a:rPr lang="en-US" altLang="zh-TW" dirty="0">
                <a:latin typeface="微軟正黑體" panose="020B0604030504040204" pitchFamily="34" charset="-120"/>
                <a:ea typeface="微軟正黑體" panose="020B0604030504040204" pitchFamily="34" charset="-120"/>
              </a:rPr>
              <a:t>https://www.capitaliq.spglobal.com/apisv3/spg-webplatform-core/docviewer?mid=255954528&amp;KeyProductLinkType=2</a:t>
            </a:r>
          </a:p>
          <a:p>
            <a:pPr defTabSz="915496">
              <a:defRPr/>
            </a:pPr>
            <a:r>
              <a:rPr lang="zh-TW" altLang="en-US" dirty="0">
                <a:latin typeface="微軟正黑體" panose="020B0604030504040204" pitchFamily="34" charset="-120"/>
                <a:ea typeface="微軟正黑體" panose="020B0604030504040204" pitchFamily="34" charset="-120"/>
              </a:rPr>
              <a:t>集團年報</a:t>
            </a:r>
            <a:endParaRPr lang="en-US" altLang="zh-TW" dirty="0">
              <a:latin typeface="微軟正黑體" panose="020B0604030504040204" pitchFamily="34" charset="-120"/>
              <a:ea typeface="微軟正黑體" panose="020B0604030504040204" pitchFamily="34" charset="-120"/>
            </a:endParaRPr>
          </a:p>
          <a:p>
            <a:pPr defTabSz="915496">
              <a:defRPr/>
            </a:pPr>
            <a:r>
              <a:rPr lang="en-US" altLang="zh-TW" dirty="0">
                <a:latin typeface="微軟正黑體" panose="020B0604030504040204" pitchFamily="34" charset="-120"/>
                <a:ea typeface="微軟正黑體" panose="020B0604030504040204" pitchFamily="34" charset="-120"/>
              </a:rPr>
              <a:t>https://www.lloydsbankinggroup.com/assets/pdfs/investors/financial-performance/lloyds-banking-group-plc/2025/q4/2025-lbg-annual-report.pdf</a:t>
            </a:r>
          </a:p>
          <a:p>
            <a:pPr defTabSz="915496">
              <a:defRPr/>
            </a:pPr>
            <a:endParaRPr lang="en-US" altLang="zh-TW" dirty="0">
              <a:latin typeface="微軟正黑體" panose="020B0604030504040204" pitchFamily="34" charset="-120"/>
              <a:ea typeface="微軟正黑體" panose="020B0604030504040204" pitchFamily="34" charset="-120"/>
            </a:endParaRPr>
          </a:p>
          <a:p>
            <a:pPr marL="0" marR="0" lvl="0" indent="0" algn="l" defTabSz="915496" rtl="0" eaLnBrk="1" fontAlgn="auto" latinLnBrk="0" hangingPunct="1">
              <a:lnSpc>
                <a:spcPct val="100000"/>
              </a:lnSpc>
              <a:spcBef>
                <a:spcPts val="0"/>
              </a:spcBef>
              <a:spcAft>
                <a:spcPts val="0"/>
              </a:spcAft>
              <a:buClrTx/>
              <a:buSzTx/>
              <a:buFontTx/>
              <a:buNone/>
              <a:tabLst/>
              <a:defRPr/>
            </a:pPr>
            <a:r>
              <a:rPr lang="en-US" altLang="zh-TW" dirty="0">
                <a:latin typeface="微軟正黑體" panose="020B0604030504040204" pitchFamily="34" charset="-120"/>
                <a:ea typeface="微軟正黑體" panose="020B0604030504040204" pitchFamily="34" charset="-120"/>
              </a:rPr>
              <a:t>Press1</a:t>
            </a:r>
          </a:p>
          <a:p>
            <a:pPr defTabSz="915496">
              <a:defRPr/>
            </a:pPr>
            <a:r>
              <a:rPr lang="en-US" altLang="zh-TW" dirty="0">
                <a:latin typeface="微軟正黑體" panose="020B0604030504040204" pitchFamily="34" charset="-120"/>
                <a:ea typeface="微軟正黑體" panose="020B0604030504040204" pitchFamily="34" charset="-120"/>
              </a:rPr>
              <a:t>https://uk.finance.yahoo.com/news/cheapest-mortgage-interest-rates-bank-england-hsbc-natwest-barclays-nationwide-060037729.html</a:t>
            </a:r>
          </a:p>
          <a:p>
            <a:pPr defTabSz="915496">
              <a:defRPr/>
            </a:pPr>
            <a:r>
              <a:rPr lang="en-US" altLang="zh-TW" dirty="0">
                <a:latin typeface="微軟正黑體" panose="020B0604030504040204" pitchFamily="34" charset="-120"/>
                <a:ea typeface="微軟正黑體" panose="020B0604030504040204" pitchFamily="34" charset="-120"/>
              </a:rPr>
              <a:t>Press2</a:t>
            </a:r>
          </a:p>
          <a:p>
            <a:pPr defTabSz="915496">
              <a:defRPr/>
            </a:pPr>
            <a:r>
              <a:rPr lang="en-US" altLang="zh-TW" dirty="0">
                <a:latin typeface="微軟正黑體" panose="020B0604030504040204" pitchFamily="34" charset="-120"/>
                <a:ea typeface="微軟正黑體" panose="020B0604030504040204" pitchFamily="34" charset="-120"/>
              </a:rPr>
              <a:t>https://www.scottishwidows.co.uk/about-us/media-centre/press-releases/pensions-growth-boosted-by-digital-engagement.html</a:t>
            </a:r>
          </a:p>
          <a:p>
            <a:pPr defTabSz="915496">
              <a:defRPr/>
            </a:pPr>
            <a:endParaRPr lang="en-US" altLang="zh-TW" dirty="0">
              <a:latin typeface="微軟正黑體" panose="020B0604030504040204" pitchFamily="34" charset="-120"/>
              <a:ea typeface="微軟正黑體" panose="020B0604030504040204" pitchFamily="34" charset="-120"/>
            </a:endParaRPr>
          </a:p>
          <a:p>
            <a:pPr defTabSz="915496">
              <a:defRPr/>
            </a:pPr>
            <a:r>
              <a:rPr lang="en-US" altLang="zh-TW" dirty="0">
                <a:latin typeface="微軟正黑體" panose="020B0604030504040204" pitchFamily="34" charset="-120"/>
                <a:ea typeface="微軟正黑體" panose="020B0604030504040204" pitchFamily="34" charset="-120"/>
              </a:rPr>
              <a:t>capital.com</a:t>
            </a:r>
          </a:p>
          <a:p>
            <a:pPr defTabSz="915496">
              <a:defRPr/>
            </a:pPr>
            <a:r>
              <a:rPr lang="en-US" altLang="zh-TW" dirty="0">
                <a:latin typeface="微軟正黑體" panose="020B0604030504040204" pitchFamily="34" charset="-120"/>
                <a:ea typeface="微軟正黑體" panose="020B0604030504040204" pitchFamily="34" charset="-120"/>
              </a:rPr>
              <a:t>https://capital.com/zh-hant/learn/market-guides/trade-Lloyds</a:t>
            </a:r>
          </a:p>
          <a:p>
            <a:pPr defTabSz="915496">
              <a:defRPr/>
            </a:pPr>
            <a:endParaRPr lang="en-US" altLang="zh-TW" dirty="0">
              <a:latin typeface="微軟正黑體" panose="020B0604030504040204" pitchFamily="34" charset="-120"/>
              <a:ea typeface="微軟正黑體" panose="020B0604030504040204" pitchFamily="34" charset="-120"/>
            </a:endParaRPr>
          </a:p>
          <a:p>
            <a:pPr defTabSz="915496">
              <a:defRPr/>
            </a:pPr>
            <a:r>
              <a:rPr lang="en-US" altLang="zh-TW" sz="1200" dirty="0">
                <a:solidFill>
                  <a:schemeClr val="tx1">
                    <a:lumMod val="50000"/>
                    <a:lumOff val="50000"/>
                  </a:schemeClr>
                </a:solidFill>
                <a:latin typeface="微軟正黑體" panose="020B0604030504040204" pitchFamily="34" charset="-120"/>
                <a:ea typeface="微軟正黑體" panose="020B0604030504040204" pitchFamily="34" charset="-120"/>
              </a:rPr>
              <a:t>S&amp;P Global 2025</a:t>
            </a:r>
            <a:endParaRPr lang="en-US" altLang="zh-TW" dirty="0">
              <a:latin typeface="微軟正黑體" panose="020B0604030504040204" pitchFamily="34" charset="-120"/>
              <a:ea typeface="微軟正黑體" panose="020B0604030504040204" pitchFamily="34" charset="-120"/>
            </a:endParaRPr>
          </a:p>
          <a:p>
            <a:pPr defTabSz="915496">
              <a:defRPr/>
            </a:pPr>
            <a:r>
              <a:rPr lang="en-US" altLang="zh-TW" dirty="0">
                <a:latin typeface="微軟正黑體" panose="020B0604030504040204" pitchFamily="34" charset="-120"/>
                <a:ea typeface="微軟正黑體" panose="020B0604030504040204" pitchFamily="34" charset="-120"/>
              </a:rPr>
              <a:t>https://www.capitaliq.spglobal.com/apisv3/spg-webplatform-core/news/article?id=88404022&amp;KeyProductLinkType=14&amp;utm_campaign=top_news_2&amp;utm_medium=top_news&amp;utm_source=news_home</a:t>
            </a:r>
          </a:p>
          <a:p>
            <a:pPr defTabSz="915496">
              <a:defRPr/>
            </a:pPr>
            <a:endParaRPr lang="en-US" altLang="zh-TW" dirty="0">
              <a:latin typeface="微軟正黑體" panose="020B0604030504040204" pitchFamily="34" charset="-120"/>
              <a:ea typeface="微軟正黑體" panose="020B0604030504040204" pitchFamily="34" charset="-120"/>
            </a:endParaRPr>
          </a:p>
          <a:p>
            <a:pPr defTabSz="915496">
              <a:defRPr/>
            </a:pPr>
            <a:r>
              <a:rPr lang="en-US" altLang="zh-TW" dirty="0">
                <a:latin typeface="微軟正黑體" panose="020B0604030504040204" pitchFamily="34" charset="-120"/>
                <a:ea typeface="微軟正黑體" panose="020B0604030504040204" pitchFamily="34" charset="-120"/>
              </a:rPr>
              <a:t>Statista</a:t>
            </a:r>
          </a:p>
          <a:p>
            <a:pPr defTabSz="915496">
              <a:defRPr/>
            </a:pPr>
            <a:r>
              <a:rPr lang="en-US" altLang="zh-TW" dirty="0">
                <a:latin typeface="微軟正黑體" panose="020B0604030504040204" pitchFamily="34" charset="-120"/>
                <a:ea typeface="微軟正黑體" panose="020B0604030504040204" pitchFamily="34" charset="-120"/>
              </a:rPr>
              <a:t>https://www.statista.com/statistics/940560/number-of-customers-at-select-banks-in-the-united-kingdom/</a:t>
            </a:r>
          </a:p>
          <a:p>
            <a:pPr defTabSz="915496">
              <a:defRPr/>
            </a:pPr>
            <a:endParaRPr lang="en-US" altLang="zh-TW" dirty="0">
              <a:latin typeface="微軟正黑體" panose="020B0604030504040204" pitchFamily="34" charset="-120"/>
              <a:ea typeface="微軟正黑體" panose="020B0604030504040204" pitchFamily="34" charset="-120"/>
            </a:endParaRPr>
          </a:p>
          <a:p>
            <a:pPr defTabSz="915496">
              <a:defRPr/>
            </a:pPr>
            <a:r>
              <a:rPr lang="en-US" altLang="zh-TW" dirty="0">
                <a:latin typeface="微軟正黑體" panose="020B0604030504040204" pitchFamily="34" charset="-120"/>
                <a:ea typeface="微軟正黑體" panose="020B0604030504040204" pitchFamily="34" charset="-120"/>
              </a:rPr>
              <a:t>Evident AI global index</a:t>
            </a:r>
          </a:p>
          <a:p>
            <a:pPr defTabSz="915496">
              <a:defRPr/>
            </a:pPr>
            <a:r>
              <a:rPr lang="en-US" altLang="zh-TW" dirty="0">
                <a:latin typeface="微軟正黑體" panose="020B0604030504040204" pitchFamily="34" charset="-120"/>
                <a:ea typeface="微軟正黑體" panose="020B0604030504040204" pitchFamily="34" charset="-120"/>
              </a:rPr>
              <a:t>https://evidentinsights.com/bankingbrief/heres-the-2025-evident-ai-index/</a:t>
            </a:r>
          </a:p>
          <a:p>
            <a:pPr defTabSz="915496">
              <a:defRPr/>
            </a:pPr>
            <a:endParaRPr lang="en-US" altLang="zh-TW" dirty="0">
              <a:latin typeface="微軟正黑體" panose="020B0604030504040204" pitchFamily="34" charset="-120"/>
              <a:ea typeface="微軟正黑體" panose="020B0604030504040204" pitchFamily="34" charset="-120"/>
            </a:endParaRPr>
          </a:p>
          <a:p>
            <a:pPr defTabSz="915496">
              <a:defRPr/>
            </a:pPr>
            <a:r>
              <a:rPr lang="en-US" altLang="zh-TW" dirty="0">
                <a:latin typeface="微軟正黑體" panose="020B0604030504040204" pitchFamily="34" charset="-120"/>
                <a:ea typeface="微軟正黑體" panose="020B0604030504040204" pitchFamily="34" charset="-120"/>
              </a:rPr>
              <a:t>Forbes Global 2000</a:t>
            </a:r>
          </a:p>
          <a:p>
            <a:pPr defTabSz="915496">
              <a:defRPr/>
            </a:pPr>
            <a:r>
              <a:rPr lang="en-US" altLang="zh-TW" dirty="0">
                <a:latin typeface="微軟正黑體" panose="020B0604030504040204" pitchFamily="34" charset="-120"/>
                <a:ea typeface="微軟正黑體" panose="020B0604030504040204" pitchFamily="34" charset="-120"/>
              </a:rPr>
              <a:t>https://www.forbes.com/lists/global2000-united-kingdom/</a:t>
            </a:r>
          </a:p>
          <a:p>
            <a:pPr defTabSz="915496">
              <a:defRPr/>
            </a:pPr>
            <a:endParaRPr lang="en-US" altLang="zh-TW" dirty="0">
              <a:latin typeface="微軟正黑體" panose="020B0604030504040204" pitchFamily="34" charset="-120"/>
              <a:ea typeface="微軟正黑體" panose="020B0604030504040204" pitchFamily="34" charset="-120"/>
            </a:endParaRPr>
          </a:p>
          <a:p>
            <a:pPr defTabSz="915496">
              <a:defRPr/>
            </a:pPr>
            <a:endParaRPr lang="en-US" altLang="zh-TW" dirty="0">
              <a:latin typeface="微軟正黑體" panose="020B0604030504040204" pitchFamily="34" charset="-120"/>
              <a:ea typeface="微軟正黑體" panose="020B0604030504040204" pitchFamily="34" charset="-120"/>
            </a:endParaRPr>
          </a:p>
          <a:p>
            <a:pPr marL="0" marR="0" lvl="0" indent="0" algn="l" defTabSz="915496" rtl="0" eaLnBrk="1" fontAlgn="auto" latinLnBrk="0" hangingPunct="1">
              <a:lnSpc>
                <a:spcPct val="100000"/>
              </a:lnSpc>
              <a:spcBef>
                <a:spcPts val="0"/>
              </a:spcBef>
              <a:spcAft>
                <a:spcPts val="0"/>
              </a:spcAft>
              <a:buClrTx/>
              <a:buSzTx/>
              <a:buFontTx/>
              <a:buNone/>
              <a:tabLst/>
              <a:defRPr/>
            </a:pPr>
            <a:r>
              <a:rPr lang="en-US" altLang="zh-TW" b="0" i="0" dirty="0">
                <a:solidFill>
                  <a:srgbClr val="000000"/>
                </a:solidFill>
                <a:effectLst/>
                <a:latin typeface="GT Ultra Standard Regular"/>
              </a:rPr>
              <a:t>Since 1765, Lloyds Bank has been serving the people, businesses and communities of Britain.(</a:t>
            </a:r>
            <a:r>
              <a:rPr lang="zh-TW" altLang="en-US" dirty="0">
                <a:latin typeface="微軟正黑體" panose="020B0604030504040204" pitchFamily="34" charset="-120"/>
                <a:ea typeface="微軟正黑體" panose="020B0604030504040204" pitchFamily="34" charset="-120"/>
              </a:rPr>
              <a:t>官網</a:t>
            </a:r>
            <a:r>
              <a:rPr lang="en-US" altLang="zh-TW" dirty="0">
                <a:latin typeface="微軟正黑體" panose="020B0604030504040204" pitchFamily="34" charset="-120"/>
                <a:ea typeface="微軟正黑體" panose="020B0604030504040204" pitchFamily="34" charset="-120"/>
              </a:rPr>
              <a:t>1)</a:t>
            </a:r>
          </a:p>
          <a:p>
            <a:pPr defTabSz="915496">
              <a:defRPr/>
            </a:pPr>
            <a:r>
              <a:rPr lang="zh-TW" altLang="en-US" b="0" i="0" dirty="0">
                <a:solidFill>
                  <a:srgbClr val="000000"/>
                </a:solidFill>
                <a:effectLst/>
                <a:latin typeface="GT Ultra Standard Regular"/>
              </a:rPr>
              <a:t>自</a:t>
            </a:r>
            <a:r>
              <a:rPr lang="en-US" altLang="zh-TW" b="0" i="0" dirty="0">
                <a:solidFill>
                  <a:srgbClr val="000000"/>
                </a:solidFill>
                <a:effectLst/>
                <a:latin typeface="GT Ultra Standard Regular"/>
              </a:rPr>
              <a:t>1765</a:t>
            </a:r>
            <a:r>
              <a:rPr lang="zh-TW" altLang="en-US" b="0" i="0" dirty="0">
                <a:solidFill>
                  <a:srgbClr val="000000"/>
                </a:solidFill>
                <a:effectLst/>
                <a:latin typeface="GT Ultra Standard Regular"/>
              </a:rPr>
              <a:t>年以來，</a:t>
            </a:r>
            <a:r>
              <a:rPr lang="en-US" altLang="zh-TW" b="0" i="0" dirty="0">
                <a:solidFill>
                  <a:srgbClr val="000000"/>
                </a:solidFill>
                <a:effectLst/>
                <a:latin typeface="GT Ultra Standard Regular"/>
              </a:rPr>
              <a:t>LB</a:t>
            </a:r>
            <a:r>
              <a:rPr lang="zh-TW" altLang="en-US" sz="1200" dirty="0">
                <a:latin typeface="微軟正黑體" panose="020B0604030504040204" pitchFamily="34" charset="-120"/>
                <a:ea typeface="微軟正黑體" panose="020B0604030504040204" pitchFamily="34" charset="-120"/>
              </a:rPr>
              <a:t>致力於</a:t>
            </a:r>
            <a:r>
              <a:rPr lang="zh-TW" altLang="en-US" b="0" i="0" dirty="0">
                <a:solidFill>
                  <a:srgbClr val="000000"/>
                </a:solidFill>
                <a:effectLst/>
                <a:latin typeface="GT Ultra Standard Regular"/>
              </a:rPr>
              <a:t>服務英國的民眾、企業和社區。</a:t>
            </a:r>
            <a:r>
              <a:rPr lang="en-US" altLang="zh-TW" b="0" i="0" dirty="0">
                <a:solidFill>
                  <a:srgbClr val="000000"/>
                </a:solidFill>
                <a:effectLst/>
                <a:latin typeface="GT Ultra Standard Regular"/>
              </a:rPr>
              <a:t>(</a:t>
            </a:r>
            <a:r>
              <a:rPr lang="zh-TW" altLang="en-US" dirty="0">
                <a:latin typeface="微軟正黑體" panose="020B0604030504040204" pitchFamily="34" charset="-120"/>
                <a:ea typeface="微軟正黑體" panose="020B0604030504040204" pitchFamily="34" charset="-120"/>
              </a:rPr>
              <a:t>官網</a:t>
            </a:r>
            <a:r>
              <a:rPr lang="en-US" altLang="zh-TW" dirty="0">
                <a:latin typeface="微軟正黑體" panose="020B0604030504040204" pitchFamily="34" charset="-120"/>
                <a:ea typeface="微軟正黑體" panose="020B0604030504040204" pitchFamily="34" charset="-120"/>
              </a:rPr>
              <a:t>1)</a:t>
            </a:r>
            <a:endParaRPr lang="en-US" altLang="zh-TW" b="0" i="0" dirty="0">
              <a:solidFill>
                <a:srgbClr val="000000"/>
              </a:solidFill>
              <a:effectLst/>
              <a:latin typeface="GT Ultra Standard Regular"/>
            </a:endParaRPr>
          </a:p>
          <a:p>
            <a:pPr marL="0" marR="0" lvl="0" indent="0" algn="l" defTabSz="915496" rtl="0" eaLnBrk="1" fontAlgn="auto" latinLnBrk="0" hangingPunct="1">
              <a:lnSpc>
                <a:spcPct val="100000"/>
              </a:lnSpc>
              <a:spcBef>
                <a:spcPts val="0"/>
              </a:spcBef>
              <a:spcAft>
                <a:spcPts val="0"/>
              </a:spcAft>
              <a:buClrTx/>
              <a:buSzTx/>
              <a:buFontTx/>
              <a:buNone/>
              <a:tabLst/>
              <a:defRPr/>
            </a:pPr>
            <a:r>
              <a:rPr lang="en-US" altLang="zh-TW" dirty="0">
                <a:latin typeface="微軟正黑體" panose="020B0604030504040204" pitchFamily="34" charset="-120"/>
                <a:ea typeface="微軟正黑體" panose="020B0604030504040204" pitchFamily="34" charset="-120"/>
              </a:rPr>
              <a:t>We offer a comprehensive range of financial products and services shaped to suit individual needs, from current accounts, savings, mortgages, loans and credit cards, to private banking and wealth management services. (</a:t>
            </a:r>
            <a:r>
              <a:rPr lang="zh-TW" altLang="en-US" dirty="0">
                <a:latin typeface="微軟正黑體" panose="020B0604030504040204" pitchFamily="34" charset="-120"/>
                <a:ea typeface="微軟正黑體" panose="020B0604030504040204" pitchFamily="34" charset="-120"/>
              </a:rPr>
              <a:t>官網</a:t>
            </a:r>
            <a:r>
              <a:rPr lang="en-US" altLang="zh-TW" dirty="0">
                <a:latin typeface="微軟正黑體" panose="020B0604030504040204" pitchFamily="34" charset="-120"/>
                <a:ea typeface="微軟正黑體" panose="020B0604030504040204" pitchFamily="34" charset="-120"/>
              </a:rPr>
              <a:t>3)</a:t>
            </a:r>
          </a:p>
          <a:p>
            <a:pPr marL="0" marR="0" lvl="0" indent="0" algn="l" defTabSz="915496" rtl="0" eaLnBrk="1" fontAlgn="auto" latinLnBrk="0" hangingPunct="1">
              <a:lnSpc>
                <a:spcPct val="100000"/>
              </a:lnSpc>
              <a:spcBef>
                <a:spcPts val="0"/>
              </a:spcBef>
              <a:spcAft>
                <a:spcPts val="0"/>
              </a:spcAft>
              <a:buClrTx/>
              <a:buSzTx/>
              <a:buFontTx/>
              <a:buNone/>
              <a:tabLst/>
              <a:defRPr/>
            </a:pPr>
            <a:r>
              <a:rPr lang="zh-TW" altLang="en-US" sz="1200" dirty="0">
                <a:latin typeface="微軟正黑體" panose="020B0604030504040204" pitchFamily="34" charset="-120"/>
                <a:ea typeface="微軟正黑體" panose="020B0604030504040204" pitchFamily="34" charset="-120"/>
              </a:rPr>
              <a:t>致力為英國客戶提供活期賬戶、儲蓄、貸款和信用卡等全面的金融產品及服務。</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官網</a:t>
            </a:r>
            <a:r>
              <a:rPr lang="en-US" altLang="zh-TW" dirty="0">
                <a:latin typeface="微軟正黑體" panose="020B0604030504040204" pitchFamily="34" charset="-120"/>
                <a:ea typeface="微軟正黑體" panose="020B0604030504040204" pitchFamily="34" charset="-120"/>
              </a:rPr>
              <a:t>3)</a:t>
            </a:r>
          </a:p>
          <a:p>
            <a:pPr marL="0" marR="0" lvl="0" indent="0" algn="l" defTabSz="915496" rtl="0" eaLnBrk="1" fontAlgn="auto" latinLnBrk="0" hangingPunct="1">
              <a:lnSpc>
                <a:spcPct val="100000"/>
              </a:lnSpc>
              <a:spcBef>
                <a:spcPts val="0"/>
              </a:spcBef>
              <a:spcAft>
                <a:spcPts val="0"/>
              </a:spcAft>
              <a:buClrTx/>
              <a:buSzTx/>
              <a:buFontTx/>
              <a:buNone/>
              <a:tabLst/>
              <a:defRPr/>
            </a:pPr>
            <a:endParaRPr lang="en-US" altLang="zh-TW" dirty="0"/>
          </a:p>
          <a:p>
            <a:pPr algn="l" fontAlgn="base"/>
            <a:r>
              <a:rPr lang="en-US" altLang="zh-TW" b="0" i="0" dirty="0">
                <a:solidFill>
                  <a:srgbClr val="000000"/>
                </a:solidFill>
                <a:effectLst/>
                <a:latin typeface="GT Ultra Median Regular"/>
              </a:rPr>
              <a:t>A ring-fenced sub-group</a:t>
            </a:r>
            <a:r>
              <a:rPr lang="zh-TW" altLang="en-US" b="0" i="0" dirty="0">
                <a:solidFill>
                  <a:srgbClr val="000000"/>
                </a:solidFill>
                <a:effectLst/>
                <a:latin typeface="GT Ultra Median Regular"/>
              </a:rPr>
              <a:t> </a:t>
            </a:r>
            <a:r>
              <a:rPr lang="en-US" altLang="zh-TW" b="0" i="0" dirty="0">
                <a:solidFill>
                  <a:srgbClr val="000000"/>
                </a:solidFill>
                <a:effectLst/>
                <a:latin typeface="inherit"/>
              </a:rPr>
              <a:t>Comprising the majority of our Lloyds Bank, Bank of Scotland and Halifax banking activities including current accounts, savings and deposits.</a:t>
            </a:r>
            <a:endParaRPr lang="en-US" altLang="zh-TW" b="0" i="0" dirty="0">
              <a:solidFill>
                <a:srgbClr val="000000"/>
              </a:solidFill>
              <a:effectLst/>
              <a:latin typeface="GT Ultra Standard Regular"/>
            </a:endParaRPr>
          </a:p>
          <a:p>
            <a:pPr marL="0" marR="0" lvl="0" indent="0" algn="l" defTabSz="915496" rtl="0" eaLnBrk="1" fontAlgn="auto" latinLnBrk="0" hangingPunct="1">
              <a:lnSpc>
                <a:spcPct val="100000"/>
              </a:lnSpc>
              <a:spcBef>
                <a:spcPts val="0"/>
              </a:spcBef>
              <a:spcAft>
                <a:spcPts val="0"/>
              </a:spcAft>
              <a:buClrTx/>
              <a:buSzTx/>
              <a:buFontTx/>
              <a:buNone/>
              <a:tabLst/>
              <a:defRPr/>
            </a:pPr>
            <a:r>
              <a:rPr lang="zh-TW" altLang="en-US" sz="1200" dirty="0">
                <a:latin typeface="微軟正黑體" panose="020B0604030504040204" pitchFamily="34" charset="-120"/>
                <a:ea typeface="微軟正黑體" panose="020B0604030504040204" pitchFamily="34" charset="-120"/>
              </a:rPr>
              <a:t>該行是勞埃德銀行集團</a:t>
            </a:r>
            <a:r>
              <a:rPr lang="en-US" altLang="zh-TW" sz="1200" dirty="0">
                <a:latin typeface="微軟正黑體" panose="020B0604030504040204" pitchFamily="34" charset="-120"/>
                <a:ea typeface="微軟正黑體" panose="020B0604030504040204" pitchFamily="34" charset="-120"/>
              </a:rPr>
              <a:t>(Lloyds Banking Group plc</a:t>
            </a:r>
            <a:r>
              <a:rPr lang="zh-TW" altLang="en-US" sz="1200" dirty="0">
                <a:latin typeface="微軟正黑體" panose="020B0604030504040204" pitchFamily="34" charset="-120"/>
                <a:ea typeface="微軟正黑體" panose="020B0604030504040204" pitchFamily="34" charset="-120"/>
              </a:rPr>
              <a:t>，以下簡稱</a:t>
            </a:r>
            <a:r>
              <a:rPr lang="en-US" altLang="zh-TW" sz="1200" dirty="0">
                <a:latin typeface="微軟正黑體" panose="020B0604030504040204" pitchFamily="34" charset="-120"/>
                <a:ea typeface="微軟正黑體" panose="020B0604030504040204" pitchFamily="34" charset="-120"/>
              </a:rPr>
              <a:t>LBG)</a:t>
            </a:r>
            <a:r>
              <a:rPr lang="zh-TW" altLang="en-US" sz="1200" dirty="0">
                <a:latin typeface="微軟正黑體" panose="020B0604030504040204" pitchFamily="34" charset="-120"/>
                <a:ea typeface="微軟正黑體" panose="020B0604030504040204" pitchFamily="34" charset="-120"/>
              </a:rPr>
              <a:t>旗下的圍欄銀行</a:t>
            </a:r>
            <a:r>
              <a:rPr lang="en-US" altLang="zh-TW" sz="1200"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官網</a:t>
            </a:r>
            <a:r>
              <a:rPr lang="en-US" altLang="zh-TW" dirty="0">
                <a:latin typeface="微軟正黑體" panose="020B0604030504040204" pitchFamily="34" charset="-120"/>
                <a:ea typeface="微軟正黑體" panose="020B0604030504040204" pitchFamily="34" charset="-120"/>
              </a:rPr>
              <a:t>4)</a:t>
            </a:r>
          </a:p>
          <a:p>
            <a:pPr marL="0" marR="0" lvl="0" indent="0" algn="l" defTabSz="915496" rtl="0" eaLnBrk="1" fontAlgn="auto" latinLnBrk="0" hangingPunct="1">
              <a:lnSpc>
                <a:spcPct val="100000"/>
              </a:lnSpc>
              <a:spcBef>
                <a:spcPts val="0"/>
              </a:spcBef>
              <a:spcAft>
                <a:spcPts val="0"/>
              </a:spcAft>
              <a:buClrTx/>
              <a:buSzTx/>
              <a:buFontTx/>
              <a:buNone/>
              <a:tabLst/>
              <a:defRPr/>
            </a:pPr>
            <a:endParaRPr lang="en-US" altLang="zh-TW" b="0" i="0" dirty="0">
              <a:solidFill>
                <a:srgbClr val="C4C9CF"/>
              </a:solidFill>
              <a:effectLst/>
              <a:latin typeface="GilroyForBOE"/>
            </a:endParaRPr>
          </a:p>
          <a:p>
            <a:pPr marL="0" marR="0" lvl="0" indent="0" algn="l" defTabSz="915496" rtl="0" eaLnBrk="1" fontAlgn="auto" latinLnBrk="0" hangingPunct="1">
              <a:lnSpc>
                <a:spcPct val="100000"/>
              </a:lnSpc>
              <a:spcBef>
                <a:spcPts val="0"/>
              </a:spcBef>
              <a:spcAft>
                <a:spcPts val="0"/>
              </a:spcAft>
              <a:buClrTx/>
              <a:buSzTx/>
              <a:buFontTx/>
              <a:buNone/>
              <a:tabLst/>
              <a:defRPr/>
            </a:pPr>
            <a:r>
              <a:rPr lang="en-US" altLang="zh-TW" b="0" i="0" dirty="0">
                <a:solidFill>
                  <a:srgbClr val="FFFFFF"/>
                </a:solidFill>
                <a:effectLst/>
                <a:latin typeface="GT Ultra Standard Regular"/>
              </a:rPr>
              <a:t>The rules mean large UK banks must separate personal banking services, such as current and savings accounts, from risks in other parts of the business such as complex wholesale and investment banking.</a:t>
            </a:r>
          </a:p>
          <a:p>
            <a:pPr marL="0" marR="0" lvl="0" indent="0" algn="l" defTabSz="915496" rtl="0" eaLnBrk="1" fontAlgn="auto" latinLnBrk="0" hangingPunct="1">
              <a:lnSpc>
                <a:spcPct val="100000"/>
              </a:lnSpc>
              <a:spcBef>
                <a:spcPts val="0"/>
              </a:spcBef>
              <a:spcAft>
                <a:spcPts val="0"/>
              </a:spcAft>
              <a:buClrTx/>
              <a:buSzTx/>
              <a:buFontTx/>
              <a:buNone/>
              <a:tabLst/>
              <a:defRPr/>
            </a:pPr>
            <a:r>
              <a:rPr lang="zh-TW" altLang="en-US" sz="1200" dirty="0">
                <a:latin typeface="微軟正黑體" panose="020B0604030504040204" pitchFamily="34" charset="-120"/>
                <a:ea typeface="微軟正黑體" panose="020B0604030504040204" pitchFamily="34" charset="-120"/>
              </a:rPr>
              <a:t>即核心零售銀行服務與集團其他業務風險分開。</a:t>
            </a:r>
            <a:r>
              <a:rPr lang="en-US" altLang="zh-TW" sz="1200"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官網</a:t>
            </a:r>
            <a:r>
              <a:rPr lang="en-US" altLang="zh-TW" dirty="0">
                <a:latin typeface="微軟正黑體" panose="020B0604030504040204" pitchFamily="34" charset="-120"/>
                <a:ea typeface="微軟正黑體" panose="020B0604030504040204" pitchFamily="34" charset="-120"/>
              </a:rPr>
              <a:t>4)</a:t>
            </a:r>
            <a:endParaRPr lang="zh-TW" altLang="en-US" sz="1200" dirty="0">
              <a:latin typeface="微軟正黑體" panose="020B0604030504040204" pitchFamily="34" charset="-120"/>
              <a:ea typeface="微軟正黑體" panose="020B0604030504040204" pitchFamily="34" charset="-120"/>
            </a:endParaRPr>
          </a:p>
          <a:p>
            <a:pPr defTabSz="915496">
              <a:defRPr/>
            </a:pPr>
            <a:endParaRPr lang="en-US" altLang="zh-TW" dirty="0">
              <a:latin typeface="微軟正黑體" panose="020B0604030504040204" pitchFamily="34" charset="-120"/>
              <a:ea typeface="微軟正黑體" panose="020B0604030504040204" pitchFamily="34" charset="-120"/>
            </a:endParaRPr>
          </a:p>
          <a:p>
            <a:pPr defTabSz="915496">
              <a:defRPr/>
            </a:pPr>
            <a:r>
              <a:rPr lang="en-US" altLang="zh-TW" dirty="0">
                <a:latin typeface="微軟正黑體" panose="020B0604030504040204" pitchFamily="34" charset="-120"/>
                <a:ea typeface="微軟正黑體" panose="020B0604030504040204" pitchFamily="34" charset="-120"/>
              </a:rPr>
              <a:t>Lloyds Banking Group is a leading UK-based financial services group. </a:t>
            </a:r>
            <a:r>
              <a:rPr lang="en-US" altLang="zh-TW" sz="1200"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官網</a:t>
            </a:r>
            <a:r>
              <a:rPr lang="en-US" altLang="zh-TW" dirty="0">
                <a:latin typeface="微軟正黑體" panose="020B0604030504040204" pitchFamily="34" charset="-120"/>
                <a:ea typeface="微軟正黑體" panose="020B0604030504040204" pitchFamily="34" charset="-120"/>
              </a:rPr>
              <a:t>5)</a:t>
            </a:r>
          </a:p>
          <a:p>
            <a:pPr defTabSz="915496">
              <a:defRPr/>
            </a:pPr>
            <a:r>
              <a:rPr lang="zh-TW" altLang="en-US" sz="1200" dirty="0">
                <a:latin typeface="微軟正黑體" panose="020B0604030504040204" pitchFamily="34" charset="-120"/>
                <a:ea typeface="微軟正黑體" panose="020B0604030504040204" pitchFamily="34" charset="-120"/>
              </a:rPr>
              <a:t>其母公司</a:t>
            </a:r>
            <a:r>
              <a:rPr lang="en-US" altLang="zh-TW" sz="1200" dirty="0">
                <a:latin typeface="微軟正黑體" panose="020B0604030504040204" pitchFamily="34" charset="-120"/>
                <a:ea typeface="微軟正黑體" panose="020B0604030504040204" pitchFamily="34" charset="-120"/>
              </a:rPr>
              <a:t>-</a:t>
            </a:r>
            <a:r>
              <a:rPr lang="zh-TW" altLang="en-US" sz="1200" dirty="0">
                <a:solidFill>
                  <a:srgbClr val="FF0000"/>
                </a:solidFill>
                <a:latin typeface="微軟正黑體" panose="020B0604030504040204" pitchFamily="34" charset="-120"/>
                <a:ea typeface="微軟正黑體" panose="020B0604030504040204" pitchFamily="34" charset="-120"/>
              </a:rPr>
              <a:t>勞埃德銀行集團</a:t>
            </a:r>
            <a:r>
              <a:rPr lang="zh-TW" altLang="en-US" sz="1200" dirty="0">
                <a:latin typeface="微軟正黑體" panose="020B0604030504040204" pitchFamily="34" charset="-120"/>
                <a:ea typeface="微軟正黑體" panose="020B0604030504040204" pitchFamily="34" charset="-120"/>
              </a:rPr>
              <a:t>總部位於倫敦</a:t>
            </a:r>
            <a:r>
              <a:rPr lang="en-US" altLang="zh-TW" sz="1200"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集團年報</a:t>
            </a:r>
            <a:r>
              <a:rPr lang="en-US" altLang="zh-TW" sz="1200" dirty="0">
                <a:latin typeface="微軟正黑體" panose="020B0604030504040204" pitchFamily="34" charset="-120"/>
                <a:ea typeface="微軟正黑體" panose="020B0604030504040204" pitchFamily="34" charset="-120"/>
              </a:rPr>
              <a:t>)</a:t>
            </a:r>
            <a:r>
              <a:rPr lang="zh-TW" altLang="en-US" sz="1200" dirty="0">
                <a:latin typeface="微軟正黑體" panose="020B0604030504040204" pitchFamily="34" charset="-120"/>
                <a:ea typeface="微軟正黑體" panose="020B0604030504040204" pitchFamily="34" charset="-120"/>
              </a:rPr>
              <a:t>，為英國領先的金融服務集團。</a:t>
            </a:r>
            <a:r>
              <a:rPr lang="en-US" altLang="zh-TW" sz="1200"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官網</a:t>
            </a:r>
            <a:r>
              <a:rPr lang="en-US" altLang="zh-TW" dirty="0">
                <a:latin typeface="微軟正黑體" panose="020B0604030504040204" pitchFamily="34" charset="-120"/>
                <a:ea typeface="微軟正黑體" panose="020B0604030504040204" pitchFamily="34" charset="-120"/>
              </a:rPr>
              <a:t>5)</a:t>
            </a:r>
            <a:endParaRPr lang="en-US" altLang="zh-TW" sz="1200" dirty="0">
              <a:latin typeface="微軟正黑體" panose="020B0604030504040204" pitchFamily="34" charset="-120"/>
              <a:ea typeface="微軟正黑體" panose="020B0604030504040204" pitchFamily="34" charset="-120"/>
            </a:endParaRPr>
          </a:p>
          <a:p>
            <a:pPr marL="0" marR="0" lvl="0" indent="0" algn="l" defTabSz="915496" rtl="0" eaLnBrk="1" fontAlgn="auto" latinLnBrk="0" hangingPunct="1">
              <a:lnSpc>
                <a:spcPct val="100000"/>
              </a:lnSpc>
              <a:spcBef>
                <a:spcPts val="0"/>
              </a:spcBef>
              <a:spcAft>
                <a:spcPts val="0"/>
              </a:spcAft>
              <a:buClrTx/>
              <a:buSzTx/>
              <a:buFontTx/>
              <a:buNone/>
              <a:tabLst/>
              <a:defRPr/>
            </a:pPr>
            <a:endParaRPr lang="en-US" altLang="zh-TW" dirty="0">
              <a:latin typeface="微軟正黑體" panose="020B0604030504040204" pitchFamily="34" charset="-120"/>
              <a:ea typeface="微軟正黑體" panose="020B0604030504040204" pitchFamily="34" charset="-120"/>
            </a:endParaRPr>
          </a:p>
          <a:p>
            <a:pPr marL="0" marR="0" lvl="0" indent="0" algn="l" defTabSz="915496" rtl="0" eaLnBrk="1" fontAlgn="auto" latinLnBrk="0" hangingPunct="1">
              <a:lnSpc>
                <a:spcPct val="100000"/>
              </a:lnSpc>
              <a:spcBef>
                <a:spcPts val="0"/>
              </a:spcBef>
              <a:spcAft>
                <a:spcPts val="0"/>
              </a:spcAft>
              <a:buClrTx/>
              <a:buSzTx/>
              <a:buFontTx/>
              <a:buNone/>
              <a:tabLst/>
              <a:defRPr/>
            </a:pPr>
            <a:r>
              <a:rPr lang="en-US" altLang="zh-TW" dirty="0">
                <a:latin typeface="微軟正黑體" panose="020B0604030504040204" pitchFamily="34" charset="-120"/>
                <a:ea typeface="微軟正黑體" panose="020B0604030504040204" pitchFamily="34" charset="-120"/>
              </a:rPr>
              <a:t>The Lloyds Bank Group’s main business activities are retail and commercial banking and it operates primarily in the UK. Services are provided through a number of well </a:t>
            </a:r>
            <a:r>
              <a:rPr lang="en-US" altLang="zh-TW" dirty="0" err="1">
                <a:latin typeface="微軟正黑體" panose="020B0604030504040204" pitchFamily="34" charset="-120"/>
                <a:ea typeface="微軟正黑體" panose="020B0604030504040204" pitchFamily="34" charset="-120"/>
              </a:rPr>
              <a:t>recognised</a:t>
            </a:r>
            <a:r>
              <a:rPr lang="en-US" altLang="zh-TW" dirty="0">
                <a:latin typeface="微軟正黑體" panose="020B0604030504040204" pitchFamily="34" charset="-120"/>
                <a:ea typeface="微軟正黑體" panose="020B0604030504040204" pitchFamily="34" charset="-120"/>
              </a:rPr>
              <a:t> brands including Lloyds Bank, Halifax and Bank of Scotland and through a range of distribution channels, including the largest branch network and digital bank in the UK. (</a:t>
            </a:r>
            <a:r>
              <a:rPr lang="zh-TW" altLang="en-US" dirty="0">
                <a:latin typeface="微軟正黑體" panose="020B0604030504040204" pitchFamily="34" charset="-120"/>
                <a:ea typeface="微軟正黑體" panose="020B0604030504040204" pitchFamily="34" charset="-120"/>
              </a:rPr>
              <a:t>銀行年報</a:t>
            </a:r>
            <a:r>
              <a:rPr lang="en-US" altLang="zh-TW" dirty="0">
                <a:latin typeface="微軟正黑體" panose="020B0604030504040204" pitchFamily="34" charset="-120"/>
                <a:ea typeface="微軟正黑體" panose="020B0604030504040204" pitchFamily="34" charset="-120"/>
              </a:rPr>
              <a:t>)</a:t>
            </a:r>
          </a:p>
          <a:p>
            <a:pPr marL="0" marR="0" lvl="0" indent="0" algn="l" defTabSz="915496" rtl="0" eaLnBrk="1" fontAlgn="auto" latinLnBrk="0" hangingPunct="1">
              <a:lnSpc>
                <a:spcPct val="100000"/>
              </a:lnSpc>
              <a:spcBef>
                <a:spcPts val="0"/>
              </a:spcBef>
              <a:spcAft>
                <a:spcPts val="0"/>
              </a:spcAft>
              <a:buClrTx/>
              <a:buSzTx/>
              <a:buFontTx/>
              <a:buNone/>
              <a:tabLst/>
              <a:defRPr/>
            </a:pPr>
            <a:r>
              <a:rPr lang="zh-TW" altLang="en-US" dirty="0">
                <a:latin typeface="微軟正黑體" panose="020B0604030504040204" pitchFamily="34" charset="-120"/>
                <a:ea typeface="微軟正黑體" panose="020B0604030504040204" pitchFamily="34" charset="-120"/>
              </a:rPr>
              <a:t>勞合社銀行集團的主要業務活動是零售和商業銀行業務，並且主要在英國運營。服務通過多個知名品牌提供，包括</a:t>
            </a:r>
            <a:r>
              <a:rPr lang="zh-TW" altLang="en-US" sz="1200" dirty="0">
                <a:latin typeface="微軟正黑體" panose="020B0604030504040204" pitchFamily="34" charset="-120"/>
                <a:ea typeface="微軟正黑體" panose="020B0604030504040204" pitchFamily="34" charset="-120"/>
              </a:rPr>
              <a:t>駿懋銀行</a:t>
            </a:r>
            <a:r>
              <a:rPr lang="zh-TW" altLang="en-US" dirty="0">
                <a:latin typeface="微軟正黑體" panose="020B0604030504040204" pitchFamily="34" charset="-120"/>
                <a:ea typeface="微軟正黑體" panose="020B0604030504040204" pitchFamily="34" charset="-120"/>
              </a:rPr>
              <a:t>、蘇格蘭銀行和哈利法克斯銀行，並通過多種分銷渠道，包括英國最大的分行網絡和數位銀行。</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銀行年報</a:t>
            </a:r>
            <a:r>
              <a:rPr lang="en-US" altLang="zh-TW" dirty="0">
                <a:latin typeface="微軟正黑體" panose="020B0604030504040204" pitchFamily="34" charset="-120"/>
                <a:ea typeface="微軟正黑體" panose="020B0604030504040204" pitchFamily="34" charset="-120"/>
              </a:rPr>
              <a:t>)</a:t>
            </a:r>
          </a:p>
          <a:p>
            <a:pPr defTabSz="915496">
              <a:defRPr/>
            </a:pPr>
            <a:endParaRPr lang="en-US" altLang="zh-TW" dirty="0">
              <a:latin typeface="微軟正黑體" panose="020B0604030504040204" pitchFamily="34" charset="-120"/>
              <a:ea typeface="微軟正黑體" panose="020B0604030504040204" pitchFamily="34" charset="-120"/>
            </a:endParaRPr>
          </a:p>
          <a:p>
            <a:pPr defTabSz="915496">
              <a:defRPr/>
            </a:pPr>
            <a:r>
              <a:rPr lang="en-US" altLang="zh-TW" b="0" i="0" dirty="0">
                <a:solidFill>
                  <a:srgbClr val="232A31"/>
                </a:solidFill>
                <a:effectLst/>
                <a:latin typeface="GT America"/>
              </a:rPr>
              <a:t>Halifax, the UK’s largest mortgage lender</a:t>
            </a:r>
            <a:r>
              <a:rPr lang="en-US" altLang="zh-TW" dirty="0">
                <a:latin typeface="微軟正黑體" panose="020B0604030504040204" pitchFamily="34" charset="-120"/>
                <a:ea typeface="微軟正黑體" panose="020B0604030504040204" pitchFamily="34" charset="-120"/>
              </a:rPr>
              <a:t>(press1)</a:t>
            </a:r>
          </a:p>
          <a:p>
            <a:pPr defTabSz="915496">
              <a:defRPr/>
            </a:pPr>
            <a:r>
              <a:rPr lang="zh-TW" altLang="en-US" sz="1200" dirty="0">
                <a:latin typeface="微軟正黑體" panose="020B0604030504040204" pitchFamily="34" charset="-120"/>
                <a:ea typeface="微軟正黑體" panose="020B0604030504040204" pitchFamily="34" charset="-120"/>
              </a:rPr>
              <a:t>英國最大的抵押貸款銀行</a:t>
            </a:r>
            <a:r>
              <a:rPr lang="en-US" altLang="zh-TW" dirty="0">
                <a:latin typeface="微軟正黑體" panose="020B0604030504040204" pitchFamily="34" charset="-120"/>
                <a:ea typeface="微軟正黑體" panose="020B0604030504040204" pitchFamily="34" charset="-120"/>
              </a:rPr>
              <a:t>(press1)</a:t>
            </a:r>
          </a:p>
          <a:p>
            <a:pPr defTabSz="915496">
              <a:defRPr/>
            </a:pPr>
            <a:r>
              <a:rPr lang="en-US" altLang="zh-TW" b="0" i="0" dirty="0">
                <a:solidFill>
                  <a:srgbClr val="0B3239"/>
                </a:solidFill>
                <a:effectLst/>
                <a:latin typeface="GT Ultra Standard Regular"/>
              </a:rPr>
              <a:t>Scottish Widows is now the UK’s second biggest defined contribution workplace provider, and a top three individual annuities provider.  </a:t>
            </a:r>
            <a:r>
              <a:rPr lang="en-US" altLang="zh-TW" dirty="0">
                <a:latin typeface="微軟正黑體" panose="020B0604030504040204" pitchFamily="34" charset="-120"/>
                <a:ea typeface="微軟正黑體" panose="020B0604030504040204" pitchFamily="34" charset="-120"/>
              </a:rPr>
              <a:t>(press2)</a:t>
            </a:r>
          </a:p>
          <a:p>
            <a:pPr defTabSz="915496">
              <a:defRPr/>
            </a:pPr>
            <a:r>
              <a:rPr lang="zh-TW" altLang="en-US" dirty="0">
                <a:latin typeface="微軟正黑體" panose="020B0604030504040204" pitchFamily="34" charset="-120"/>
                <a:ea typeface="微軟正黑體" panose="020B0604030504040204" pitchFamily="34" charset="-120"/>
              </a:rPr>
              <a:t>蘇格蘭寡婦公司現已成為英國第二大養老金供應商，也是前三大個人年金供應商之一。</a:t>
            </a:r>
            <a:r>
              <a:rPr lang="en-US" altLang="zh-TW" dirty="0">
                <a:latin typeface="微軟正黑體" panose="020B0604030504040204" pitchFamily="34" charset="-120"/>
                <a:ea typeface="微軟正黑體" panose="020B0604030504040204" pitchFamily="34" charset="-120"/>
              </a:rPr>
              <a:t>(press2)</a:t>
            </a:r>
          </a:p>
          <a:p>
            <a:pPr defTabSz="915496">
              <a:defRPr/>
            </a:pPr>
            <a:endParaRPr lang="en-US" altLang="zh-TW" dirty="0">
              <a:latin typeface="微軟正黑體" panose="020B0604030504040204" pitchFamily="34" charset="-120"/>
              <a:ea typeface="微軟正黑體" panose="020B0604030504040204" pitchFamily="34" charset="-120"/>
            </a:endParaRPr>
          </a:p>
          <a:p>
            <a:pPr marL="0" marR="0" lvl="0" indent="0" algn="l" defTabSz="915496" rtl="0" eaLnBrk="1" fontAlgn="auto" latinLnBrk="0" hangingPunct="1">
              <a:lnSpc>
                <a:spcPct val="100000"/>
              </a:lnSpc>
              <a:spcBef>
                <a:spcPts val="0"/>
              </a:spcBef>
              <a:spcAft>
                <a:spcPts val="0"/>
              </a:spcAft>
              <a:buClrTx/>
              <a:buSzTx/>
              <a:buFontTx/>
              <a:buNone/>
              <a:tabLst/>
              <a:defRPr/>
            </a:pPr>
            <a:r>
              <a:rPr lang="en-US" altLang="zh-TW" dirty="0">
                <a:latin typeface="微軟正黑體" panose="020B0604030504040204" pitchFamily="34" charset="-120"/>
                <a:ea typeface="微軟正黑體" panose="020B0604030504040204" pitchFamily="34" charset="-120"/>
              </a:rPr>
              <a:t>We provide a wide range of banking and financial services, focused primarily on retail and commercial customers.</a:t>
            </a:r>
            <a:r>
              <a:rPr lang="en-US" altLang="zh-TW" sz="1200" dirty="0">
                <a:latin typeface="微軟正黑體" panose="020B0604030504040204" pitchFamily="34" charset="-120"/>
                <a:ea typeface="微軟正黑體" panose="020B0604030504040204" pitchFamily="34" charset="-120"/>
              </a:rPr>
              <a:t> (</a:t>
            </a:r>
            <a:r>
              <a:rPr lang="zh-TW" altLang="en-US" dirty="0">
                <a:latin typeface="微軟正黑體" panose="020B0604030504040204" pitchFamily="34" charset="-120"/>
                <a:ea typeface="微軟正黑體" panose="020B0604030504040204" pitchFamily="34" charset="-120"/>
              </a:rPr>
              <a:t>官網</a:t>
            </a:r>
            <a:r>
              <a:rPr lang="en-US" altLang="zh-TW" dirty="0">
                <a:latin typeface="微軟正黑體" panose="020B0604030504040204" pitchFamily="34" charset="-120"/>
                <a:ea typeface="微軟正黑體" panose="020B0604030504040204" pitchFamily="34" charset="-120"/>
              </a:rPr>
              <a:t>5)</a:t>
            </a:r>
          </a:p>
          <a:p>
            <a:pPr defTabSz="915496">
              <a:defRPr/>
            </a:pPr>
            <a:r>
              <a:rPr lang="zh-TW" altLang="en-US" sz="1200" dirty="0">
                <a:latin typeface="微軟正黑體" panose="020B0604030504040204" pitchFamily="34" charset="-120"/>
                <a:ea typeface="微軟正黑體" panose="020B0604030504040204" pitchFamily="34" charset="-120"/>
              </a:rPr>
              <a:t>提供零售、商業銀行、保險</a:t>
            </a:r>
            <a:r>
              <a:rPr lang="en-US" altLang="zh-TW" sz="1200" dirty="0">
                <a:latin typeface="微軟正黑體" panose="020B0604030504040204" pitchFamily="34" charset="-120"/>
                <a:ea typeface="微軟正黑體" panose="020B0604030504040204" pitchFamily="34" charset="-120"/>
              </a:rPr>
              <a:t>(</a:t>
            </a:r>
            <a:r>
              <a:rPr lang="zh-TW" altLang="en-US" sz="1200" dirty="0">
                <a:latin typeface="微軟正黑體" panose="020B0604030504040204" pitchFamily="34" charset="-120"/>
                <a:ea typeface="微軟正黑體" panose="020B0604030504040204" pitchFamily="34" charset="-120"/>
              </a:rPr>
              <a:t>網頁中的圖</a:t>
            </a:r>
            <a:r>
              <a:rPr lang="en-US" altLang="zh-TW" sz="1200" dirty="0">
                <a:latin typeface="微軟正黑體" panose="020B0604030504040204" pitchFamily="34" charset="-120"/>
                <a:ea typeface="微軟正黑體" panose="020B0604030504040204" pitchFamily="34" charset="-120"/>
              </a:rPr>
              <a:t>)</a:t>
            </a:r>
            <a:r>
              <a:rPr lang="zh-TW" altLang="en-US" sz="1200" dirty="0">
                <a:latin typeface="微軟正黑體" panose="020B0604030504040204" pitchFamily="34" charset="-120"/>
                <a:ea typeface="微軟正黑體" panose="020B0604030504040204" pitchFamily="34" charset="-120"/>
              </a:rPr>
              <a:t>等廣泛的銀行及金融服務，專注於個人及商業客戶。</a:t>
            </a:r>
            <a:r>
              <a:rPr lang="en-US" altLang="zh-TW" sz="1200"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官網</a:t>
            </a:r>
            <a:r>
              <a:rPr lang="en-US" altLang="zh-TW" dirty="0">
                <a:latin typeface="微軟正黑體" panose="020B0604030504040204" pitchFamily="34" charset="-120"/>
                <a:ea typeface="微軟正黑體" panose="020B0604030504040204" pitchFamily="34" charset="-120"/>
              </a:rPr>
              <a:t>5)</a:t>
            </a:r>
          </a:p>
          <a:p>
            <a:pPr defTabSz="915496">
              <a:defRPr/>
            </a:pPr>
            <a:endParaRPr lang="en-US" altLang="zh-TW" sz="1200" dirty="0">
              <a:latin typeface="微軟正黑體" panose="020B0604030504040204" pitchFamily="34" charset="-120"/>
              <a:ea typeface="微軟正黑體" panose="020B0604030504040204" pitchFamily="34" charset="-120"/>
            </a:endParaRPr>
          </a:p>
          <a:p>
            <a:pPr marL="0" marR="0" lvl="0" indent="0" algn="l" defTabSz="915496" rtl="0" eaLnBrk="1" fontAlgn="auto" latinLnBrk="0" hangingPunct="1">
              <a:lnSpc>
                <a:spcPct val="100000"/>
              </a:lnSpc>
              <a:spcBef>
                <a:spcPts val="0"/>
              </a:spcBef>
              <a:spcAft>
                <a:spcPts val="0"/>
              </a:spcAft>
              <a:buClrTx/>
              <a:buSzTx/>
              <a:buFontTx/>
              <a:buNone/>
              <a:tabLst/>
              <a:defRPr/>
            </a:pPr>
            <a:r>
              <a:rPr lang="zh-TW" altLang="en-US" sz="1200" dirty="0">
                <a:latin typeface="微軟正黑體" panose="020B0604030504040204" pitchFamily="34" charset="-120"/>
                <a:ea typeface="微軟正黑體" panose="020B0604030504040204" pitchFamily="34" charset="-120"/>
              </a:rPr>
              <a:t>該集團在倫敦及紐約證券交易所皆有掛牌上市，且為富時</a:t>
            </a:r>
            <a:r>
              <a:rPr lang="en-US" altLang="zh-TW" sz="1200" dirty="0">
                <a:latin typeface="微軟正黑體" panose="020B0604030504040204" pitchFamily="34" charset="-120"/>
                <a:ea typeface="微軟正黑體" panose="020B0604030504040204" pitchFamily="34" charset="-120"/>
              </a:rPr>
              <a:t>100</a:t>
            </a:r>
            <a:r>
              <a:rPr lang="zh-TW" altLang="en-US" sz="1200" dirty="0">
                <a:latin typeface="微軟正黑體" panose="020B0604030504040204" pitchFamily="34" charset="-120"/>
                <a:ea typeface="微軟正黑體" panose="020B0604030504040204" pitchFamily="34" charset="-120"/>
              </a:rPr>
              <a:t>指數成份股之一</a:t>
            </a:r>
            <a:r>
              <a:rPr lang="en-US" altLang="zh-TW" sz="1200" dirty="0">
                <a:latin typeface="微軟正黑體" panose="020B0604030504040204" pitchFamily="34" charset="-120"/>
                <a:ea typeface="微軟正黑體" panose="020B0604030504040204" pitchFamily="34" charset="-120"/>
              </a:rPr>
              <a:t>(</a:t>
            </a:r>
            <a:r>
              <a:rPr lang="en-US" altLang="zh-TW" dirty="0">
                <a:latin typeface="微軟正黑體" panose="020B0604030504040204" pitchFamily="34" charset="-120"/>
                <a:ea typeface="微軟正黑體" panose="020B0604030504040204" pitchFamily="34" charset="-120"/>
              </a:rPr>
              <a:t>capital.com</a:t>
            </a:r>
            <a:r>
              <a:rPr lang="en-US" altLang="zh-TW" sz="1200" dirty="0">
                <a:latin typeface="微軟正黑體" panose="020B0604030504040204" pitchFamily="34" charset="-120"/>
                <a:ea typeface="微軟正黑體" panose="020B0604030504040204" pitchFamily="34" charset="-120"/>
              </a:rPr>
              <a:t>)</a:t>
            </a:r>
            <a:endParaRPr lang="en-US" altLang="zh-TW" dirty="0">
              <a:latin typeface="微軟正黑體" panose="020B0604030504040204" pitchFamily="34" charset="-120"/>
              <a:ea typeface="微軟正黑體" panose="020B0604030504040204" pitchFamily="34" charset="-120"/>
            </a:endParaRPr>
          </a:p>
          <a:p>
            <a:pPr defTabSz="915496">
              <a:defRPr/>
            </a:pPr>
            <a:endParaRPr lang="en-US" altLang="zh-TW" dirty="0">
              <a:latin typeface="微軟正黑體" panose="020B0604030504040204" pitchFamily="34" charset="-120"/>
              <a:ea typeface="微軟正黑體" panose="020B0604030504040204" pitchFamily="34" charset="-120"/>
            </a:endParaRPr>
          </a:p>
          <a:p>
            <a:pPr defTabSz="915496">
              <a:defRPr/>
            </a:pPr>
            <a:r>
              <a:rPr lang="zh-TW" altLang="en-US" b="0" i="0" dirty="0">
                <a:solidFill>
                  <a:srgbClr val="000000"/>
                </a:solidFill>
                <a:effectLst/>
                <a:latin typeface="GT Ultra Standard Regular"/>
              </a:rPr>
              <a:t>勞埃德銀行集團在英格蘭和威爾士設有眾多分支機搆，被公認為英國「四大銀行」</a:t>
            </a:r>
            <a:r>
              <a:rPr lang="en-US" altLang="zh-TW" b="0" i="0" dirty="0">
                <a:solidFill>
                  <a:srgbClr val="000000"/>
                </a:solidFill>
                <a:effectLst/>
                <a:latin typeface="GT Ultra Standard Regular"/>
              </a:rPr>
              <a:t>(Big Four) </a:t>
            </a:r>
            <a:r>
              <a:rPr lang="zh-TW" altLang="en-US" b="0" i="0" dirty="0">
                <a:solidFill>
                  <a:srgbClr val="000000"/>
                </a:solidFill>
                <a:effectLst/>
                <a:latin typeface="GT Ultra Standard Regular"/>
              </a:rPr>
              <a:t>之一 。</a:t>
            </a:r>
            <a:r>
              <a:rPr lang="en-US" altLang="zh-TW" sz="1200" dirty="0">
                <a:latin typeface="微軟正黑體" panose="020B0604030504040204" pitchFamily="34" charset="-120"/>
                <a:ea typeface="微軟正黑體" panose="020B0604030504040204" pitchFamily="34" charset="-120"/>
              </a:rPr>
              <a:t>(</a:t>
            </a:r>
            <a:r>
              <a:rPr lang="en-US" altLang="zh-TW" dirty="0">
                <a:latin typeface="微軟正黑體" panose="020B0604030504040204" pitchFamily="34" charset="-120"/>
                <a:ea typeface="微軟正黑體" panose="020B0604030504040204" pitchFamily="34" charset="-120"/>
              </a:rPr>
              <a:t>capital.com</a:t>
            </a:r>
            <a:r>
              <a:rPr lang="en-US" altLang="zh-TW" sz="1200" dirty="0">
                <a:latin typeface="微軟正黑體" panose="020B0604030504040204" pitchFamily="34" charset="-120"/>
                <a:ea typeface="微軟正黑體" panose="020B0604030504040204" pitchFamily="34" charset="-120"/>
              </a:rPr>
              <a:t>)</a:t>
            </a:r>
          </a:p>
          <a:p>
            <a:pPr marL="0" marR="0" lvl="0" indent="0" algn="l" defTabSz="915496" rtl="0" eaLnBrk="1" fontAlgn="auto" latinLnBrk="0" hangingPunct="1">
              <a:lnSpc>
                <a:spcPct val="100000"/>
              </a:lnSpc>
              <a:spcBef>
                <a:spcPts val="0"/>
              </a:spcBef>
              <a:spcAft>
                <a:spcPts val="0"/>
              </a:spcAft>
              <a:buClrTx/>
              <a:buSzTx/>
              <a:buFontTx/>
              <a:buNone/>
              <a:tabLst/>
              <a:defRPr/>
            </a:pPr>
            <a:endParaRPr lang="en-US" altLang="zh-TW" dirty="0">
              <a:latin typeface="微軟正黑體" panose="020B0604030504040204" pitchFamily="34" charset="-120"/>
              <a:ea typeface="微軟正黑體" panose="020B0604030504040204" pitchFamily="34" charset="-120"/>
            </a:endParaRPr>
          </a:p>
          <a:p>
            <a:pPr marL="0" marR="0" lvl="0" indent="0" algn="l" defTabSz="915496" rtl="0" eaLnBrk="1" fontAlgn="auto" latinLnBrk="0" hangingPunct="1">
              <a:lnSpc>
                <a:spcPct val="100000"/>
              </a:lnSpc>
              <a:spcBef>
                <a:spcPts val="0"/>
              </a:spcBef>
              <a:spcAft>
                <a:spcPts val="0"/>
              </a:spcAft>
              <a:buClrTx/>
              <a:buSzTx/>
              <a:buFontTx/>
              <a:buNone/>
              <a:tabLst/>
              <a:defRPr/>
            </a:pPr>
            <a:r>
              <a:rPr lang="en-US" altLang="zh-TW" dirty="0">
                <a:latin typeface="微軟正黑體" panose="020B0604030504040204" pitchFamily="34" charset="-120"/>
                <a:ea typeface="微軟正黑體" panose="020B0604030504040204" pitchFamily="34" charset="-120"/>
              </a:rPr>
              <a:t>Lloyds (#15) jumped up 12 spots, beating out NatWest (#16) and Barclays (#23) to be the second-best in the U.K. behind HSBC (#8). The bank rolled its first large-scale Gen AI product out this year and has the sixth-most AI use cases with outcomes of the 50 banks we track. </a:t>
            </a:r>
          </a:p>
          <a:p>
            <a:pPr marL="0" marR="0" lvl="0" indent="0" algn="l" defTabSz="915496" rtl="0" eaLnBrk="1" fontAlgn="auto" latinLnBrk="0" hangingPunct="1">
              <a:lnSpc>
                <a:spcPct val="100000"/>
              </a:lnSpc>
              <a:spcBef>
                <a:spcPts val="0"/>
              </a:spcBef>
              <a:spcAft>
                <a:spcPts val="0"/>
              </a:spcAft>
              <a:buClrTx/>
              <a:buSzTx/>
              <a:buFontTx/>
              <a:buNone/>
              <a:tabLst/>
              <a:defRPr/>
            </a:pPr>
            <a:r>
              <a:rPr lang="zh-TW" altLang="en-US" dirty="0">
                <a:latin typeface="微軟正黑體" panose="020B0604030504040204" pitchFamily="34" charset="-120"/>
                <a:ea typeface="微軟正黑體" panose="020B0604030504040204" pitchFamily="34" charset="-120"/>
              </a:rPr>
              <a:t>勞埃德（</a:t>
            </a:r>
            <a:r>
              <a:rPr lang="en-US" altLang="zh-TW" dirty="0">
                <a:latin typeface="微軟正黑體" panose="020B0604030504040204" pitchFamily="34" charset="-120"/>
                <a:ea typeface="微軟正黑體" panose="020B0604030504040204" pitchFamily="34" charset="-120"/>
              </a:rPr>
              <a:t>#15</a:t>
            </a:r>
            <a:r>
              <a:rPr lang="zh-TW" altLang="en-US" dirty="0">
                <a:latin typeface="微軟正黑體" panose="020B0604030504040204" pitchFamily="34" charset="-120"/>
                <a:ea typeface="微軟正黑體" panose="020B0604030504040204" pitchFamily="34" charset="-120"/>
              </a:rPr>
              <a:t>）上升了</a:t>
            </a:r>
            <a:r>
              <a:rPr lang="en-US" altLang="zh-TW" dirty="0">
                <a:latin typeface="微軟正黑體" panose="020B0604030504040204" pitchFamily="34" charset="-120"/>
                <a:ea typeface="微軟正黑體" panose="020B0604030504040204" pitchFamily="34" charset="-120"/>
              </a:rPr>
              <a:t>12</a:t>
            </a:r>
            <a:r>
              <a:rPr lang="zh-TW" altLang="en-US" dirty="0">
                <a:latin typeface="微軟正黑體" panose="020B0604030504040204" pitchFamily="34" charset="-120"/>
                <a:ea typeface="微軟正黑體" panose="020B0604030504040204" pitchFamily="34" charset="-120"/>
              </a:rPr>
              <a:t>個名次，超越了</a:t>
            </a:r>
            <a:r>
              <a:rPr lang="en-US" altLang="zh-TW" dirty="0">
                <a:latin typeface="微軟正黑體" panose="020B0604030504040204" pitchFamily="34" charset="-120"/>
                <a:ea typeface="微軟正黑體" panose="020B0604030504040204" pitchFamily="34" charset="-120"/>
              </a:rPr>
              <a:t>NatWest</a:t>
            </a:r>
            <a:r>
              <a:rPr lang="zh-TW" altLang="en-US" dirty="0">
                <a:latin typeface="微軟正黑體" panose="020B0604030504040204" pitchFamily="34" charset="-120"/>
                <a:ea typeface="微軟正黑體" panose="020B0604030504040204" pitchFamily="34" charset="-120"/>
              </a:rPr>
              <a:t>（</a:t>
            </a:r>
            <a:r>
              <a:rPr lang="en-US" altLang="zh-TW" dirty="0">
                <a:latin typeface="微軟正黑體" panose="020B0604030504040204" pitchFamily="34" charset="-120"/>
                <a:ea typeface="微軟正黑體" panose="020B0604030504040204" pitchFamily="34" charset="-120"/>
              </a:rPr>
              <a:t>#16</a:t>
            </a:r>
            <a:r>
              <a:rPr lang="zh-TW" altLang="en-US" dirty="0">
                <a:latin typeface="微軟正黑體" panose="020B0604030504040204" pitchFamily="34" charset="-120"/>
                <a:ea typeface="微軟正黑體" panose="020B0604030504040204" pitchFamily="34" charset="-120"/>
              </a:rPr>
              <a:t>）和</a:t>
            </a:r>
            <a:r>
              <a:rPr lang="en-US" altLang="zh-TW" dirty="0">
                <a:latin typeface="微軟正黑體" panose="020B0604030504040204" pitchFamily="34" charset="-120"/>
                <a:ea typeface="微軟正黑體" panose="020B0604030504040204" pitchFamily="34" charset="-120"/>
              </a:rPr>
              <a:t>Barclays</a:t>
            </a:r>
            <a:r>
              <a:rPr lang="zh-TW" altLang="en-US" dirty="0">
                <a:latin typeface="微軟正黑體" panose="020B0604030504040204" pitchFamily="34" charset="-120"/>
                <a:ea typeface="微軟正黑體" panose="020B0604030504040204" pitchFamily="34" charset="-120"/>
              </a:rPr>
              <a:t>（</a:t>
            </a:r>
            <a:r>
              <a:rPr lang="en-US" altLang="zh-TW" dirty="0">
                <a:latin typeface="微軟正黑體" panose="020B0604030504040204" pitchFamily="34" charset="-120"/>
                <a:ea typeface="微軟正黑體" panose="020B0604030504040204" pitchFamily="34" charset="-120"/>
              </a:rPr>
              <a:t>#23</a:t>
            </a:r>
            <a:r>
              <a:rPr lang="zh-TW" altLang="en-US" dirty="0">
                <a:latin typeface="微軟正黑體" panose="020B0604030504040204" pitchFamily="34" charset="-120"/>
                <a:ea typeface="微軟正黑體" panose="020B0604030504040204" pitchFamily="34" charset="-120"/>
              </a:rPr>
              <a:t>），成為英國第二佳銀行，僅次於</a:t>
            </a:r>
            <a:r>
              <a:rPr lang="en-US" altLang="zh-TW" dirty="0">
                <a:latin typeface="微軟正黑體" panose="020B0604030504040204" pitchFamily="34" charset="-120"/>
                <a:ea typeface="微軟正黑體" panose="020B0604030504040204" pitchFamily="34" charset="-120"/>
              </a:rPr>
              <a:t>HSBC</a:t>
            </a:r>
            <a:r>
              <a:rPr lang="zh-TW" altLang="en-US" dirty="0">
                <a:latin typeface="微軟正黑體" panose="020B0604030504040204" pitchFamily="34" charset="-120"/>
                <a:ea typeface="微軟正黑體" panose="020B0604030504040204" pitchFamily="34" charset="-120"/>
              </a:rPr>
              <a:t>（</a:t>
            </a:r>
            <a:r>
              <a:rPr lang="en-US" altLang="zh-TW" dirty="0">
                <a:latin typeface="微軟正黑體" panose="020B0604030504040204" pitchFamily="34" charset="-120"/>
                <a:ea typeface="微軟正黑體" panose="020B0604030504040204" pitchFamily="34" charset="-120"/>
              </a:rPr>
              <a:t>#8</a:t>
            </a:r>
            <a:r>
              <a:rPr lang="zh-TW" altLang="en-US" dirty="0">
                <a:latin typeface="微軟正黑體" panose="020B0604030504040204" pitchFamily="34" charset="-120"/>
                <a:ea typeface="微軟正黑體" panose="020B0604030504040204" pitchFamily="34" charset="-120"/>
              </a:rPr>
              <a:t>）。該銀行今年推出了首個大規模生成式人工智慧產品，並且在追蹤的</a:t>
            </a:r>
            <a:r>
              <a:rPr lang="en-US" altLang="zh-TW" dirty="0">
                <a:latin typeface="微軟正黑體" panose="020B0604030504040204" pitchFamily="34" charset="-120"/>
                <a:ea typeface="微軟正黑體" panose="020B0604030504040204" pitchFamily="34" charset="-120"/>
              </a:rPr>
              <a:t>50</a:t>
            </a:r>
            <a:r>
              <a:rPr lang="zh-TW" altLang="en-US" dirty="0">
                <a:latin typeface="微軟正黑體" panose="020B0604030504040204" pitchFamily="34" charset="-120"/>
                <a:ea typeface="微軟正黑體" panose="020B0604030504040204" pitchFamily="34" charset="-120"/>
              </a:rPr>
              <a:t>家銀行中，擁有第六多的人工智慧應用案例及結果。</a:t>
            </a:r>
            <a:r>
              <a:rPr lang="en-US" altLang="zh-TW" dirty="0">
                <a:latin typeface="微軟正黑體" panose="020B0604030504040204" pitchFamily="34" charset="-120"/>
                <a:ea typeface="微軟正黑體" panose="020B0604030504040204" pitchFamily="34" charset="-120"/>
              </a:rPr>
              <a:t>(Evident AI global index)</a:t>
            </a:r>
          </a:p>
          <a:p>
            <a:pPr marL="0" marR="0" lvl="0" indent="0" algn="l" defTabSz="915496" rtl="0" eaLnBrk="1" fontAlgn="auto" latinLnBrk="0" hangingPunct="1">
              <a:lnSpc>
                <a:spcPct val="100000"/>
              </a:lnSpc>
              <a:spcBef>
                <a:spcPts val="0"/>
              </a:spcBef>
              <a:spcAft>
                <a:spcPts val="0"/>
              </a:spcAft>
              <a:buClrTx/>
              <a:buSzTx/>
              <a:buFontTx/>
              <a:buNone/>
              <a:tabLst/>
              <a:defRPr/>
            </a:pPr>
            <a:endParaRPr lang="en-US" altLang="zh-TW" sz="1200" b="0" dirty="0">
              <a:solidFill>
                <a:schemeClr val="tx1">
                  <a:lumMod val="85000"/>
                  <a:lumOff val="15000"/>
                </a:schemeClr>
              </a:solidFill>
              <a:latin typeface="微軟正黑體" panose="020B0604030504040204" pitchFamily="34" charset="-120"/>
              <a:ea typeface="微軟正黑體" panose="020B0604030504040204" pitchFamily="34" charset="-120"/>
            </a:endParaRPr>
          </a:p>
          <a:p>
            <a:pPr marL="0" marR="0" lvl="0" indent="0" algn="l" defTabSz="915496" rtl="0" eaLnBrk="1" fontAlgn="auto" latinLnBrk="0" hangingPunct="1">
              <a:lnSpc>
                <a:spcPct val="100000"/>
              </a:lnSpc>
              <a:spcBef>
                <a:spcPts val="0"/>
              </a:spcBef>
              <a:spcAft>
                <a:spcPts val="0"/>
              </a:spcAft>
              <a:buClrTx/>
              <a:buSzTx/>
              <a:buFontTx/>
              <a:buNone/>
              <a:tabLst/>
              <a:defRPr/>
            </a:pPr>
            <a:r>
              <a:rPr lang="zh-TW" altLang="en-US" sz="1200" b="0" dirty="0">
                <a:solidFill>
                  <a:schemeClr val="tx1">
                    <a:lumMod val="85000"/>
                    <a:lumOff val="15000"/>
                  </a:schemeClr>
                </a:solidFill>
                <a:latin typeface="微軟正黑體" panose="020B0604030504040204" pitchFamily="34" charset="-120"/>
                <a:ea typeface="微軟正黑體" panose="020B0604030504040204" pitchFamily="34" charset="-120"/>
              </a:rPr>
              <a:t>英國銀行總資產排名</a:t>
            </a:r>
            <a:r>
              <a:rPr lang="en-US" altLang="zh-TW" dirty="0">
                <a:latin typeface="微軟正黑體" panose="020B0604030504040204" pitchFamily="34" charset="-120"/>
                <a:ea typeface="微軟正黑體" panose="020B0604030504040204" pitchFamily="34" charset="-120"/>
              </a:rPr>
              <a:t>(</a:t>
            </a:r>
            <a:r>
              <a:rPr lang="en-US" altLang="zh-TW" sz="1200" dirty="0">
                <a:solidFill>
                  <a:schemeClr val="tx1">
                    <a:lumMod val="50000"/>
                    <a:lumOff val="50000"/>
                  </a:schemeClr>
                </a:solidFill>
                <a:latin typeface="微軟正黑體" panose="020B0604030504040204" pitchFamily="34" charset="-120"/>
                <a:ea typeface="微軟正黑體" panose="020B0604030504040204" pitchFamily="34" charset="-120"/>
              </a:rPr>
              <a:t>S&amp;P Global 2025)</a:t>
            </a:r>
          </a:p>
          <a:p>
            <a:pPr marL="0" marR="0" lvl="0" indent="0" algn="l" defTabSz="915496" rtl="0" eaLnBrk="1" fontAlgn="auto" latinLnBrk="0" hangingPunct="1">
              <a:lnSpc>
                <a:spcPct val="100000"/>
              </a:lnSpc>
              <a:spcBef>
                <a:spcPts val="0"/>
              </a:spcBef>
              <a:spcAft>
                <a:spcPts val="0"/>
              </a:spcAft>
              <a:buClrTx/>
              <a:buSzTx/>
              <a:buFontTx/>
              <a:buNone/>
              <a:tabLst/>
              <a:defRPr/>
            </a:pPr>
            <a:r>
              <a:rPr lang="zh-TW" altLang="en-US" sz="1200" b="0" dirty="0">
                <a:solidFill>
                  <a:schemeClr val="tx1">
                    <a:lumMod val="85000"/>
                    <a:lumOff val="15000"/>
                  </a:schemeClr>
                </a:solidFill>
                <a:latin typeface="微軟正黑體" panose="020B0604030504040204" pitchFamily="34" charset="-120"/>
                <a:ea typeface="微軟正黑體" panose="020B0604030504040204" pitchFamily="34" charset="-120"/>
              </a:rPr>
              <a:t>英國銀行客戶數排名</a:t>
            </a:r>
            <a:r>
              <a:rPr lang="en-US" altLang="zh-TW" sz="1200" b="0" dirty="0">
                <a:solidFill>
                  <a:schemeClr val="tx1">
                    <a:lumMod val="50000"/>
                    <a:lumOff val="50000"/>
                  </a:schemeClr>
                </a:solidFill>
                <a:latin typeface="微軟正黑體" panose="020B0604030504040204" pitchFamily="34" charset="-120"/>
                <a:ea typeface="微軟正黑體" panose="020B0604030504040204" pitchFamily="34" charset="-120"/>
              </a:rPr>
              <a:t>(Statista 2025)</a:t>
            </a:r>
            <a:endParaRPr lang="en-US" altLang="zh-TW" b="0" dirty="0">
              <a:latin typeface="微軟正黑體" panose="020B0604030504040204" pitchFamily="34" charset="-120"/>
              <a:ea typeface="微軟正黑體" panose="020B0604030504040204" pitchFamily="34" charset="-120"/>
            </a:endParaRPr>
          </a:p>
          <a:p>
            <a:pPr marL="0" marR="0" lvl="0" indent="0" algn="l" defTabSz="915496" rtl="0" eaLnBrk="1" fontAlgn="auto" latinLnBrk="0" hangingPunct="1">
              <a:lnSpc>
                <a:spcPct val="100000"/>
              </a:lnSpc>
              <a:spcBef>
                <a:spcPts val="0"/>
              </a:spcBef>
              <a:spcAft>
                <a:spcPts val="0"/>
              </a:spcAft>
              <a:buClrTx/>
              <a:buSzTx/>
              <a:buFontTx/>
              <a:buNone/>
              <a:tabLst/>
              <a:defRPr/>
            </a:pPr>
            <a:r>
              <a:rPr lang="zh-TW" altLang="en-US" dirty="0">
                <a:latin typeface="微軟正黑體" panose="020B0604030504040204" pitchFamily="34" charset="-120"/>
                <a:ea typeface="微軟正黑體" panose="020B0604030504040204" pitchFamily="34" charset="-120"/>
              </a:rPr>
              <a:t>英國企業排名 </a:t>
            </a:r>
            <a:r>
              <a:rPr lang="en-US" altLang="zh-TW" dirty="0">
                <a:latin typeface="微軟正黑體" panose="020B0604030504040204" pitchFamily="34" charset="-120"/>
                <a:ea typeface="微軟正黑體" panose="020B0604030504040204" pitchFamily="34" charset="-120"/>
              </a:rPr>
              <a:t>(Forbes Global 2000)</a:t>
            </a:r>
          </a:p>
          <a:p>
            <a:pPr marL="0" marR="0" lvl="0" indent="0" algn="l" defTabSz="915496" rtl="0" eaLnBrk="1" fontAlgn="auto" latinLnBrk="0" hangingPunct="1">
              <a:lnSpc>
                <a:spcPct val="100000"/>
              </a:lnSpc>
              <a:spcBef>
                <a:spcPts val="0"/>
              </a:spcBef>
              <a:spcAft>
                <a:spcPts val="0"/>
              </a:spcAft>
              <a:buClrTx/>
              <a:buSzTx/>
              <a:buFontTx/>
              <a:buNone/>
              <a:tabLst/>
              <a:defRPr/>
            </a:pPr>
            <a:endParaRPr lang="en-US" altLang="zh-TW" dirty="0">
              <a:latin typeface="微軟正黑體" panose="020B0604030504040204" pitchFamily="34" charset="-120"/>
              <a:ea typeface="微軟正黑體" panose="020B0604030504040204" pitchFamily="34" charset="-120"/>
            </a:endParaRPr>
          </a:p>
          <a:p>
            <a:pPr defTabSz="915496">
              <a:defRPr/>
            </a:pPr>
            <a:endParaRPr lang="en-US" altLang="zh-TW" dirty="0">
              <a:latin typeface="微軟正黑體" panose="020B0604030504040204" pitchFamily="34" charset="-120"/>
              <a:ea typeface="微軟正黑體" panose="020B0604030504040204" pitchFamily="34" charset="-120"/>
            </a:endParaRPr>
          </a:p>
        </p:txBody>
      </p:sp>
      <p:sp>
        <p:nvSpPr>
          <p:cNvPr id="4" name="投影片編號版面配置區 3"/>
          <p:cNvSpPr>
            <a:spLocks noGrp="1"/>
          </p:cNvSpPr>
          <p:nvPr>
            <p:ph type="sldNum" sz="quarter" idx="5"/>
          </p:nvPr>
        </p:nvSpPr>
        <p:spPr/>
        <p:txBody>
          <a:bodyPr/>
          <a:lstStyle/>
          <a:p>
            <a:fld id="{677EE9C5-7ACF-43E8-ABC9-16737D2E075F}" type="slidenum">
              <a:rPr lang="zh-TW" altLang="en-US" smtClean="0"/>
              <a:t>2</a:t>
            </a:fld>
            <a:endParaRPr lang="zh-TW" altLang="en-US"/>
          </a:p>
        </p:txBody>
      </p:sp>
    </p:spTree>
    <p:extLst>
      <p:ext uri="{BB962C8B-B14F-4D97-AF65-F5344CB8AC3E}">
        <p14:creationId xmlns:p14="http://schemas.microsoft.com/office/powerpoint/2010/main" val="36793058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919163" y="746125"/>
            <a:ext cx="4968875" cy="3725863"/>
          </a:xfrm>
        </p:spPr>
      </p:sp>
      <p:sp>
        <p:nvSpPr>
          <p:cNvPr id="3" name="備忘稿版面配置區 2"/>
          <p:cNvSpPr>
            <a:spLocks noGrp="1"/>
          </p:cNvSpPr>
          <p:nvPr>
            <p:ph type="body" idx="1"/>
          </p:nvPr>
        </p:nvSpPr>
        <p:spPr/>
        <p:txBody>
          <a:bodyPr/>
          <a:lstStyle/>
          <a:p>
            <a:pPr defTabSz="915496">
              <a:defRPr/>
            </a:pPr>
            <a:r>
              <a:rPr lang="en-US" altLang="zh-TW" sz="1200" dirty="0">
                <a:solidFill>
                  <a:schemeClr val="tx1">
                    <a:lumMod val="50000"/>
                    <a:lumOff val="50000"/>
                  </a:schemeClr>
                </a:solidFill>
                <a:latin typeface="微軟正黑體" panose="020B0604030504040204" pitchFamily="34" charset="-120"/>
                <a:ea typeface="微軟正黑體" panose="020B0604030504040204" pitchFamily="34" charset="-120"/>
              </a:rPr>
              <a:t>S&amp;P Global 2025</a:t>
            </a:r>
            <a:endParaRPr lang="en-US" altLang="zh-TW" dirty="0">
              <a:latin typeface="微軟正黑體" panose="020B0604030504040204" pitchFamily="34" charset="-120"/>
              <a:ea typeface="微軟正黑體" panose="020B0604030504040204" pitchFamily="34" charset="-120"/>
            </a:endParaRPr>
          </a:p>
          <a:p>
            <a:pPr defTabSz="915496">
              <a:defRPr/>
            </a:pPr>
            <a:r>
              <a:rPr lang="en-US" altLang="zh-TW" dirty="0">
                <a:latin typeface="微軟正黑體" panose="020B0604030504040204" pitchFamily="34" charset="-120"/>
                <a:ea typeface="微軟正黑體" panose="020B0604030504040204" pitchFamily="34" charset="-120"/>
              </a:rPr>
              <a:t>https://www.capitaliq.spglobal.com/apisv3/spg-webplatform-core/news/article?id=88404022&amp;KeyProductLinkType=14&amp;utm_campaign=top_news_2&amp;utm_medium=top_news&amp;utm_source=news_home</a:t>
            </a:r>
          </a:p>
          <a:p>
            <a:pPr defTabSz="915496">
              <a:defRPr/>
            </a:pPr>
            <a:endParaRPr lang="en-US" altLang="zh-TW" dirty="0">
              <a:latin typeface="微軟正黑體" panose="020B0604030504040204" pitchFamily="34" charset="-120"/>
              <a:ea typeface="微軟正黑體" panose="020B0604030504040204" pitchFamily="34" charset="-120"/>
            </a:endParaRPr>
          </a:p>
          <a:p>
            <a:pPr defTabSz="915496">
              <a:defRPr/>
            </a:pPr>
            <a:r>
              <a:rPr lang="en-US" altLang="zh-TW" dirty="0">
                <a:latin typeface="微軟正黑體" panose="020B0604030504040204" pitchFamily="34" charset="-120"/>
                <a:ea typeface="微軟正黑體" panose="020B0604030504040204" pitchFamily="34" charset="-120"/>
              </a:rPr>
              <a:t>Statista</a:t>
            </a:r>
          </a:p>
          <a:p>
            <a:pPr defTabSz="915496">
              <a:defRPr/>
            </a:pPr>
            <a:r>
              <a:rPr lang="en-US" altLang="zh-TW" dirty="0">
                <a:latin typeface="微軟正黑體" panose="020B0604030504040204" pitchFamily="34" charset="-120"/>
                <a:ea typeface="微軟正黑體" panose="020B0604030504040204" pitchFamily="34" charset="-120"/>
              </a:rPr>
              <a:t>https://www.statista.com/statistics/940560/number-of-customers-at-select-banks-in-the-united-kingdom/</a:t>
            </a:r>
          </a:p>
          <a:p>
            <a:pPr defTabSz="915496">
              <a:defRPr/>
            </a:pPr>
            <a:endParaRPr lang="en-US" altLang="zh-TW" dirty="0">
              <a:latin typeface="微軟正黑體" panose="020B0604030504040204" pitchFamily="34" charset="-120"/>
              <a:ea typeface="微軟正黑體" panose="020B0604030504040204" pitchFamily="34" charset="-120"/>
            </a:endParaRPr>
          </a:p>
          <a:p>
            <a:pPr defTabSz="915496">
              <a:defRPr/>
            </a:pPr>
            <a:r>
              <a:rPr lang="en-US" altLang="zh-TW" dirty="0">
                <a:latin typeface="微軟正黑體" panose="020B0604030504040204" pitchFamily="34" charset="-120"/>
                <a:ea typeface="微軟正黑體" panose="020B0604030504040204" pitchFamily="34" charset="-120"/>
              </a:rPr>
              <a:t>Forbes Global 2000</a:t>
            </a:r>
          </a:p>
          <a:p>
            <a:pPr defTabSz="915496">
              <a:defRPr/>
            </a:pPr>
            <a:r>
              <a:rPr lang="en-US" altLang="zh-TW" dirty="0">
                <a:latin typeface="微軟正黑體" panose="020B0604030504040204" pitchFamily="34" charset="-120"/>
                <a:ea typeface="微軟正黑體" panose="020B0604030504040204" pitchFamily="34" charset="-120"/>
              </a:rPr>
              <a:t>https://www.forbes.com/lists/global2000-united-kingdom/</a:t>
            </a:r>
          </a:p>
          <a:p>
            <a:endParaRPr lang="en-US" altLang="zh-TW" dirty="0"/>
          </a:p>
          <a:p>
            <a:r>
              <a:rPr lang="en-US" altLang="zh-TW" dirty="0"/>
              <a:t>Evident</a:t>
            </a:r>
            <a:r>
              <a:rPr lang="zh-TW" altLang="en-US" dirty="0"/>
              <a:t> </a:t>
            </a:r>
            <a:r>
              <a:rPr lang="en-US" altLang="zh-TW" dirty="0"/>
              <a:t>insights</a:t>
            </a:r>
          </a:p>
          <a:p>
            <a:r>
              <a:rPr lang="en-US" altLang="zh-TW" dirty="0"/>
              <a:t>https://evidentinsights.com/ai-index/</a:t>
            </a:r>
          </a:p>
          <a:p>
            <a:endParaRPr lang="en-US" altLang="zh-TW" dirty="0"/>
          </a:p>
          <a:p>
            <a:pPr marL="0" marR="0" lvl="0" indent="0" algn="l" defTabSz="915496" rtl="0" eaLnBrk="1" fontAlgn="auto" latinLnBrk="0" hangingPunct="1">
              <a:lnSpc>
                <a:spcPct val="100000"/>
              </a:lnSpc>
              <a:spcBef>
                <a:spcPts val="0"/>
              </a:spcBef>
              <a:spcAft>
                <a:spcPts val="0"/>
              </a:spcAft>
              <a:buClrTx/>
              <a:buSzTx/>
              <a:buFontTx/>
              <a:buNone/>
              <a:tabLst/>
              <a:defRPr/>
            </a:pPr>
            <a:r>
              <a:rPr lang="zh-TW" altLang="en-US" sz="1200" b="0" dirty="0">
                <a:solidFill>
                  <a:schemeClr val="tx1">
                    <a:lumMod val="85000"/>
                    <a:lumOff val="15000"/>
                  </a:schemeClr>
                </a:solidFill>
                <a:latin typeface="微軟正黑體" panose="020B0604030504040204" pitchFamily="34" charset="-120"/>
                <a:ea typeface="微軟正黑體" panose="020B0604030504040204" pitchFamily="34" charset="-120"/>
              </a:rPr>
              <a:t>英國銀行總資產排名</a:t>
            </a:r>
            <a:r>
              <a:rPr lang="en-US" altLang="zh-TW" dirty="0">
                <a:latin typeface="微軟正黑體" panose="020B0604030504040204" pitchFamily="34" charset="-120"/>
                <a:ea typeface="微軟正黑體" panose="020B0604030504040204" pitchFamily="34" charset="-120"/>
              </a:rPr>
              <a:t>(</a:t>
            </a:r>
            <a:r>
              <a:rPr lang="en-US" altLang="zh-TW" sz="1200" dirty="0">
                <a:solidFill>
                  <a:schemeClr val="tx1">
                    <a:lumMod val="50000"/>
                    <a:lumOff val="50000"/>
                  </a:schemeClr>
                </a:solidFill>
                <a:latin typeface="微軟正黑體" panose="020B0604030504040204" pitchFamily="34" charset="-120"/>
                <a:ea typeface="微軟正黑體" panose="020B0604030504040204" pitchFamily="34" charset="-120"/>
              </a:rPr>
              <a:t>S&amp;P Global 2025)</a:t>
            </a:r>
          </a:p>
          <a:p>
            <a:pPr marL="0" marR="0" lvl="0" indent="0" algn="l" defTabSz="915496" rtl="0" eaLnBrk="1" fontAlgn="auto" latinLnBrk="0" hangingPunct="1">
              <a:lnSpc>
                <a:spcPct val="100000"/>
              </a:lnSpc>
              <a:spcBef>
                <a:spcPts val="0"/>
              </a:spcBef>
              <a:spcAft>
                <a:spcPts val="0"/>
              </a:spcAft>
              <a:buClrTx/>
              <a:buSzTx/>
              <a:buFontTx/>
              <a:buNone/>
              <a:tabLst/>
              <a:defRPr/>
            </a:pPr>
            <a:r>
              <a:rPr lang="zh-TW" altLang="en-US" sz="1200" b="0" dirty="0">
                <a:solidFill>
                  <a:schemeClr val="tx1">
                    <a:lumMod val="85000"/>
                    <a:lumOff val="15000"/>
                  </a:schemeClr>
                </a:solidFill>
                <a:latin typeface="微軟正黑體" panose="020B0604030504040204" pitchFamily="34" charset="-120"/>
                <a:ea typeface="微軟正黑體" panose="020B0604030504040204" pitchFamily="34" charset="-120"/>
              </a:rPr>
              <a:t>英國銀行客戶數排名</a:t>
            </a:r>
            <a:r>
              <a:rPr lang="en-US" altLang="zh-TW" sz="1200" b="0" dirty="0">
                <a:solidFill>
                  <a:schemeClr val="tx1">
                    <a:lumMod val="50000"/>
                    <a:lumOff val="50000"/>
                  </a:schemeClr>
                </a:solidFill>
                <a:latin typeface="微軟正黑體" panose="020B0604030504040204" pitchFamily="34" charset="-120"/>
                <a:ea typeface="微軟正黑體" panose="020B0604030504040204" pitchFamily="34" charset="-120"/>
              </a:rPr>
              <a:t>(Statista 2025)</a:t>
            </a:r>
            <a:endParaRPr lang="en-US" altLang="zh-TW" b="0" dirty="0">
              <a:latin typeface="微軟正黑體" panose="020B0604030504040204" pitchFamily="34" charset="-120"/>
              <a:ea typeface="微軟正黑體" panose="020B0604030504040204" pitchFamily="34" charset="-120"/>
            </a:endParaRPr>
          </a:p>
          <a:p>
            <a:pPr marL="0" marR="0" lvl="0" indent="0" algn="l" defTabSz="915496" rtl="0" eaLnBrk="1" fontAlgn="auto" latinLnBrk="0" hangingPunct="1">
              <a:lnSpc>
                <a:spcPct val="100000"/>
              </a:lnSpc>
              <a:spcBef>
                <a:spcPts val="0"/>
              </a:spcBef>
              <a:spcAft>
                <a:spcPts val="0"/>
              </a:spcAft>
              <a:buClrTx/>
              <a:buSzTx/>
              <a:buFontTx/>
              <a:buNone/>
              <a:tabLst/>
              <a:defRPr/>
            </a:pPr>
            <a:r>
              <a:rPr lang="zh-TW" altLang="en-US" dirty="0">
                <a:latin typeface="微軟正黑體" panose="020B0604030504040204" pitchFamily="34" charset="-120"/>
                <a:ea typeface="微軟正黑體" panose="020B0604030504040204" pitchFamily="34" charset="-120"/>
              </a:rPr>
              <a:t>英國企業排名 </a:t>
            </a:r>
            <a:r>
              <a:rPr lang="en-US" altLang="zh-TW" dirty="0">
                <a:latin typeface="微軟正黑體" panose="020B0604030504040204" pitchFamily="34" charset="-120"/>
                <a:ea typeface="微軟正黑體" panose="020B0604030504040204" pitchFamily="34" charset="-120"/>
              </a:rPr>
              <a:t>(Forbes Global 2000)</a:t>
            </a:r>
          </a:p>
          <a:p>
            <a:endParaRPr lang="zh-TW" altLang="en-US" dirty="0"/>
          </a:p>
        </p:txBody>
      </p:sp>
      <p:sp>
        <p:nvSpPr>
          <p:cNvPr id="4" name="投影片編號版面配置區 3"/>
          <p:cNvSpPr>
            <a:spLocks noGrp="1"/>
          </p:cNvSpPr>
          <p:nvPr>
            <p:ph type="sldNum" sz="quarter" idx="10"/>
          </p:nvPr>
        </p:nvSpPr>
        <p:spPr/>
        <p:txBody>
          <a:bodyPr/>
          <a:lstStyle/>
          <a:p>
            <a:fld id="{677EE9C5-7ACF-43E8-ABC9-16737D2E075F}" type="slidenum">
              <a:rPr lang="zh-TW" altLang="en-US" smtClean="0"/>
              <a:t>3</a:t>
            </a:fld>
            <a:endParaRPr lang="zh-TW" altLang="en-US"/>
          </a:p>
        </p:txBody>
      </p:sp>
    </p:spTree>
    <p:extLst>
      <p:ext uri="{BB962C8B-B14F-4D97-AF65-F5344CB8AC3E}">
        <p14:creationId xmlns:p14="http://schemas.microsoft.com/office/powerpoint/2010/main" val="28716044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年報</a:t>
            </a:r>
            <a:endParaRPr lang="en-US" altLang="zh-TW" dirty="0"/>
          </a:p>
          <a:p>
            <a:pPr algn="l">
              <a:lnSpc>
                <a:spcPts val="750"/>
              </a:lnSpc>
            </a:pPr>
            <a:r>
              <a:rPr lang="en-US" altLang="zh-TW" sz="1800" b="0" i="0" u="none" strike="noStrike" dirty="0">
                <a:solidFill>
                  <a:srgbClr val="000000"/>
                </a:solidFill>
                <a:effectLst/>
                <a:latin typeface="GT Ultra Lloyds Light"/>
              </a:rPr>
              <a:t>Total income for 2025 was £18,429 million, an increase of 8% (2024: £17,071 million). Within this, net interest income of £13,363 million was up </a:t>
            </a:r>
            <a:endParaRPr lang="en-US" altLang="zh-TW" sz="1800" b="0" i="0" dirty="0">
              <a:solidFill>
                <a:srgbClr val="000000"/>
              </a:solidFill>
              <a:effectLst/>
              <a:latin typeface="Arial" panose="020B0604020202020204" pitchFamily="34" charset="0"/>
            </a:endParaRPr>
          </a:p>
          <a:p>
            <a:pPr algn="l">
              <a:lnSpc>
                <a:spcPts val="750"/>
              </a:lnSpc>
            </a:pPr>
            <a:r>
              <a:rPr lang="en-US" altLang="zh-TW" sz="1800" b="0" i="0" u="none" strike="noStrike" dirty="0">
                <a:solidFill>
                  <a:srgbClr val="000000"/>
                </a:solidFill>
                <a:effectLst/>
                <a:latin typeface="GT Ultra Lloyds Light"/>
              </a:rPr>
              <a:t>6% on the prior year (2024: £12,592 million), driven by higher average interest-earning assets and a higher margin. Other income of </a:t>
            </a:r>
            <a:endParaRPr lang="en-US" altLang="zh-TW" sz="1800" b="0" i="0" dirty="0">
              <a:solidFill>
                <a:srgbClr val="000000"/>
              </a:solidFill>
              <a:effectLst/>
              <a:latin typeface="Arial" panose="020B0604020202020204" pitchFamily="34" charset="0"/>
            </a:endParaRPr>
          </a:p>
          <a:p>
            <a:pPr algn="l">
              <a:lnSpc>
                <a:spcPts val="750"/>
              </a:lnSpc>
            </a:pPr>
            <a:r>
              <a:rPr lang="en-US" altLang="zh-TW" sz="1800" b="0" i="0" u="none" strike="noStrike" dirty="0">
                <a:solidFill>
                  <a:srgbClr val="000000"/>
                </a:solidFill>
                <a:effectLst/>
                <a:latin typeface="GT Ultra Lloyds Light"/>
              </a:rPr>
              <a:t>£5,066 million was 13% higher (2024: £4,479 million), reflecting improved performance in UK Motor Finance within Retail from fleet growth </a:t>
            </a:r>
            <a:endParaRPr lang="en-US" altLang="zh-TW" sz="1800" b="0" i="0" dirty="0">
              <a:solidFill>
                <a:srgbClr val="000000"/>
              </a:solidFill>
              <a:effectLst/>
              <a:latin typeface="Arial" panose="020B0604020202020204" pitchFamily="34" charset="0"/>
            </a:endParaRPr>
          </a:p>
          <a:p>
            <a:pPr algn="l">
              <a:lnSpc>
                <a:spcPts val="750"/>
              </a:lnSpc>
            </a:pPr>
            <a:r>
              <a:rPr lang="en-US" altLang="zh-TW" sz="1800" b="0" i="0" u="none" strike="noStrike" dirty="0">
                <a:solidFill>
                  <a:srgbClr val="000000"/>
                </a:solidFill>
                <a:effectLst/>
                <a:latin typeface="GT Ultra Lloyds Light"/>
              </a:rPr>
              <a:t>and higher average vehicle rental values, as well as higher net fee and commission income. Other income in the prior year was impacted by a </a:t>
            </a:r>
            <a:endParaRPr lang="en-US" altLang="zh-TW" sz="1800" b="0" i="0" dirty="0">
              <a:solidFill>
                <a:srgbClr val="000000"/>
              </a:solidFill>
              <a:effectLst/>
              <a:latin typeface="Arial" panose="020B0604020202020204" pitchFamily="34" charset="0"/>
            </a:endParaRPr>
          </a:p>
          <a:p>
            <a:pPr algn="l">
              <a:lnSpc>
                <a:spcPts val="750"/>
              </a:lnSpc>
            </a:pPr>
            <a:r>
              <a:rPr lang="en-US" altLang="zh-TW" sz="1800" b="0" i="0" u="none" strike="noStrike" dirty="0">
                <a:solidFill>
                  <a:srgbClr val="000000"/>
                </a:solidFill>
                <a:effectLst/>
                <a:latin typeface="GT Ultra Lloyds Light"/>
              </a:rPr>
              <a:t>write off relating to changes in commission arrangements with Scottish Widows. </a:t>
            </a:r>
          </a:p>
          <a:p>
            <a:pPr algn="l">
              <a:lnSpc>
                <a:spcPts val="750"/>
              </a:lnSpc>
            </a:pPr>
            <a:endParaRPr lang="en-US" altLang="zh-TW" sz="1800" b="0" i="0" u="none" strike="noStrike" dirty="0">
              <a:solidFill>
                <a:srgbClr val="000000"/>
              </a:solidFill>
              <a:effectLst/>
              <a:latin typeface="GT Ultra Lloyds Light"/>
            </a:endParaRPr>
          </a:p>
          <a:p>
            <a:pPr algn="l">
              <a:lnSpc>
                <a:spcPts val="750"/>
              </a:lnSpc>
            </a:pPr>
            <a:endParaRPr lang="en-US" altLang="zh-TW" sz="1800" b="0" i="0" u="none" strike="noStrike" dirty="0">
              <a:solidFill>
                <a:srgbClr val="000000"/>
              </a:solidFill>
              <a:effectLst/>
              <a:latin typeface="GT Ultra Lloyds Light"/>
            </a:endParaRPr>
          </a:p>
          <a:p>
            <a:pPr algn="l">
              <a:lnSpc>
                <a:spcPts val="750"/>
              </a:lnSpc>
            </a:pPr>
            <a:r>
              <a:rPr lang="en-US" altLang="zh-TW" b="0" i="0" dirty="0">
                <a:solidFill>
                  <a:srgbClr val="000000"/>
                </a:solidFill>
                <a:effectLst/>
                <a:latin typeface="Arial" panose="020B0604020202020204" pitchFamily="34" charset="0"/>
              </a:rPr>
              <a:t>The impairment charge was £792 million compared to a £456 million charge in 2024, which benefitted from a large credit from improvements in the Group’s economic outlook. In Retail, the charge for 2025 reflected both strong performance alongside the benefits from calibrations and model refinements and a debt sale. In Commercial Banking, higher charges in the first half of the year driven by a small number of individual cases were more than offset by releases from Stage 1 and Stage 2 model calibrations capturing strong credit performance and reducing interest rates throughout the year.</a:t>
            </a:r>
          </a:p>
          <a:p>
            <a:br>
              <a:rPr lang="en-US" altLang="zh-TW" dirty="0"/>
            </a:br>
            <a:endParaRPr lang="en-US" altLang="zh-TW" dirty="0"/>
          </a:p>
        </p:txBody>
      </p:sp>
      <p:sp>
        <p:nvSpPr>
          <p:cNvPr id="4" name="投影片編號版面配置區 3"/>
          <p:cNvSpPr>
            <a:spLocks noGrp="1"/>
          </p:cNvSpPr>
          <p:nvPr>
            <p:ph type="sldNum" sz="quarter" idx="10"/>
          </p:nvPr>
        </p:nvSpPr>
        <p:spPr/>
        <p:txBody>
          <a:bodyPr/>
          <a:lstStyle/>
          <a:p>
            <a:fld id="{677EE9C5-7ACF-43E8-ABC9-16737D2E075F}" type="slidenum">
              <a:rPr lang="zh-TW" altLang="en-US" smtClean="0"/>
              <a:t>4</a:t>
            </a:fld>
            <a:endParaRPr lang="zh-TW" altLang="en-US"/>
          </a:p>
        </p:txBody>
      </p:sp>
    </p:spTree>
    <p:extLst>
      <p:ext uri="{BB962C8B-B14F-4D97-AF65-F5344CB8AC3E}">
        <p14:creationId xmlns:p14="http://schemas.microsoft.com/office/powerpoint/2010/main" val="41116392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err="1"/>
              <a:t>Moodys</a:t>
            </a:r>
            <a:endParaRPr lang="en-US" altLang="zh-TW" dirty="0"/>
          </a:p>
          <a:p>
            <a:r>
              <a:rPr lang="en-US" altLang="zh-TW" dirty="0"/>
              <a:t>file://naszsc/JBQ/%E9%87%91%E8%9E%8D%E6%A9%9F%E6%A7%8B%E9%83%A8/@%E7%99%BC%E8%A1%8C%E6%A9%9F%E6%A7%8B%E7%B0%A1%E4%BB%8B/%E5%AE%9C%E7%9C%9F/Rating_Action-Moodys-Ratings-affirms-Lloyds-20May2025-PR_506949.pdf</a:t>
            </a:r>
          </a:p>
          <a:p>
            <a:endParaRPr lang="en-US" altLang="zh-TW" dirty="0"/>
          </a:p>
          <a:p>
            <a:r>
              <a:rPr lang="en-US" altLang="zh-TW" dirty="0"/>
              <a:t>S&amp;P</a:t>
            </a:r>
            <a:r>
              <a:rPr lang="zh-TW" altLang="en-US" dirty="0"/>
              <a:t> </a:t>
            </a:r>
            <a:r>
              <a:rPr lang="en-US" altLang="zh-TW" dirty="0"/>
              <a:t>global</a:t>
            </a:r>
          </a:p>
          <a:p>
            <a:r>
              <a:rPr lang="en-US" altLang="zh-TW" dirty="0"/>
              <a:t>file://naszsc/JBQ/%E9%87%91%E8%9E%8D%E6%A9%9F%E6%A7%8B%E9%83%A8/@%E7%99%BC%E8%A1%8C%E6%A9%9F%E6%A7%8B%E7%B0%A1%E4%BB%8B/%E5%AE%9C%E7%9C%9F/S&amp;P_RatingsDirect_LloydsBankPLC_3497908_Dec-23-2025.pdf</a:t>
            </a:r>
          </a:p>
          <a:p>
            <a:endParaRPr lang="en-US" altLang="zh-TW" dirty="0"/>
          </a:p>
          <a:p>
            <a:r>
              <a:rPr lang="en-US" altLang="zh-TW" dirty="0"/>
              <a:t>Fitch</a:t>
            </a:r>
          </a:p>
          <a:p>
            <a:r>
              <a:rPr lang="en-US" altLang="zh-TW" dirty="0"/>
              <a:t>file://naszsc/JBQ/%E9%87%91%E8%9E%8D%E6%A9%9F%E6%A7%8B%E9%83%A8/@%E7%99%BC%E8%A1%8C%E6%A9%9F%E6%A7%8B%E7%B0%A1%E4%BB%8B/%E5%AE%9C%E7%9C%9F/Fitch%20Affirms%20Lloyds%20Banking%20Group's%20IDR%20at%20'A+'%3B%20Outlook%20Stable.pdf</a:t>
            </a:r>
          </a:p>
          <a:p>
            <a:endParaRPr lang="en-US" altLang="zh-TW" dirty="0"/>
          </a:p>
          <a:p>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The affirmation of LB‘s long-term senior unsecured debt ratings of A1 reflects its BCA of a3; the instruments low</a:t>
            </a:r>
            <a:r>
              <a:rPr lang="zh-TW" altLang="en-US" dirty="0"/>
              <a:t> </a:t>
            </a:r>
            <a:r>
              <a:rPr lang="en-US" altLang="zh-TW" dirty="0"/>
              <a:t>loss given failure under the Advanced LGF analysis, resulting in a one-notch uplift and a moderate probability of</a:t>
            </a:r>
            <a:r>
              <a:rPr lang="zh-TW" altLang="en-US" dirty="0"/>
              <a:t> </a:t>
            </a:r>
            <a:r>
              <a:rPr lang="en-US" altLang="zh-TW" dirty="0"/>
              <a:t>support from the Government of the United Kingdom, providing an additional one-notch uplift.</a:t>
            </a:r>
            <a:r>
              <a:rPr lang="zh-TW" altLang="en-US" dirty="0"/>
              <a:t> </a:t>
            </a:r>
            <a:r>
              <a:rPr lang="en-US" altLang="zh-TW" dirty="0"/>
              <a:t>LB’s a3 BCA reflects its strong asset quality, stable retail funding base and ample liquidity as well as its</a:t>
            </a:r>
            <a:r>
              <a:rPr lang="zh-TW" altLang="en-US" dirty="0"/>
              <a:t> </a:t>
            </a:r>
            <a:r>
              <a:rPr lang="en-US" altLang="zh-TW" dirty="0"/>
              <a:t>profitability outlook which will be supported by strategic revenue and cost initiatives. We see LB‘s capital as</a:t>
            </a:r>
            <a:r>
              <a:rPr lang="zh-TW" altLang="en-US" dirty="0"/>
              <a:t> </a:t>
            </a:r>
            <a:r>
              <a:rPr lang="en-US" altLang="zh-TW" dirty="0"/>
              <a:t>sufficient but also declining in line with LBG’s capital distribution plans.</a:t>
            </a:r>
            <a:r>
              <a:rPr lang="zh-TW" altLang="en-US" dirty="0"/>
              <a:t> </a:t>
            </a:r>
            <a:r>
              <a:rPr lang="en-US" altLang="zh-TW" dirty="0"/>
              <a:t>(</a:t>
            </a:r>
            <a:r>
              <a:rPr lang="en-US" altLang="zh-TW" dirty="0" err="1"/>
              <a:t>Moodys</a:t>
            </a:r>
            <a:r>
              <a:rPr lang="en-US" altLang="zh-TW"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對</a:t>
            </a:r>
            <a:r>
              <a:rPr lang="en-US" altLang="zh-TW" dirty="0"/>
              <a:t>LB</a:t>
            </a:r>
            <a:r>
              <a:rPr lang="zh-TW" altLang="en-US" dirty="0"/>
              <a:t>長期高級無擔保債務評級為</a:t>
            </a:r>
            <a:r>
              <a:rPr lang="en-US" altLang="zh-TW" dirty="0"/>
              <a:t>A1</a:t>
            </a:r>
            <a:r>
              <a:rPr lang="zh-TW" altLang="en-US" dirty="0"/>
              <a:t>的確認，反映了其</a:t>
            </a:r>
            <a:r>
              <a:rPr lang="en-US" altLang="zh-TW" dirty="0"/>
              <a:t>a3</a:t>
            </a:r>
            <a:r>
              <a:rPr lang="zh-TW" altLang="en-US" dirty="0"/>
              <a:t>的基礎信用評級（</a:t>
            </a:r>
            <a:r>
              <a:rPr lang="en-US" altLang="zh-TW" dirty="0"/>
              <a:t>BCA</a:t>
            </a:r>
            <a:r>
              <a:rPr lang="zh-TW" altLang="en-US" dirty="0"/>
              <a:t>）；在先進喪失給付分析（</a:t>
            </a:r>
            <a:r>
              <a:rPr lang="en-US" altLang="zh-TW" dirty="0"/>
              <a:t>Advanced LGF analysis</a:t>
            </a:r>
            <a:r>
              <a:rPr lang="zh-TW" altLang="en-US" dirty="0"/>
              <a:t>）下，低損失率帶來了一個級別的上調，加上來自英國政府的中等支援可能性，提供了額外一個級別的上調。</a:t>
            </a:r>
            <a:r>
              <a:rPr lang="en-US" altLang="zh-TW" dirty="0"/>
              <a:t>LB</a:t>
            </a:r>
            <a:r>
              <a:rPr lang="zh-TW" altLang="en-US" dirty="0"/>
              <a:t>的</a:t>
            </a:r>
            <a:r>
              <a:rPr lang="en-US" altLang="zh-TW" dirty="0"/>
              <a:t>a3 BCA</a:t>
            </a:r>
            <a:r>
              <a:rPr lang="zh-TW" altLang="en-US" dirty="0"/>
              <a:t>反映了其強健的資產質量、穩定的零售資金來源和充裕的流動性，以及其盈利前景，這將受到戰略性收入和成本措施的支持。我們認為</a:t>
            </a:r>
            <a:r>
              <a:rPr lang="en-US" altLang="zh-TW" dirty="0"/>
              <a:t>LB</a:t>
            </a:r>
            <a:r>
              <a:rPr lang="zh-TW" altLang="en-US" dirty="0"/>
              <a:t>的資本充足，但也隨著</a:t>
            </a:r>
            <a:r>
              <a:rPr lang="en-US" altLang="zh-TW" dirty="0"/>
              <a:t>LBG</a:t>
            </a:r>
            <a:r>
              <a:rPr lang="zh-TW" altLang="en-US" dirty="0"/>
              <a:t>的資本分配計劃而下降。 </a:t>
            </a:r>
            <a:r>
              <a:rPr lang="en-US" altLang="zh-TW" dirty="0"/>
              <a:t>(</a:t>
            </a:r>
            <a:r>
              <a:rPr lang="en-US" altLang="zh-TW" dirty="0" err="1"/>
              <a:t>Moodys</a:t>
            </a:r>
            <a:r>
              <a:rPr lang="en-US" altLang="zh-TW" dirty="0"/>
              <a:t>)</a:t>
            </a:r>
          </a:p>
          <a:p>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Well-collateralized mortgages dominate customer loans. LB's large customer loan portfolio is dominated by residential mortgages but also includes riskier elements such as credit cards. We expect a steady flow of assets to fall into arrears and default as asset quality normalizes in the U.K. Even so, sound underwriting, low loan-to-values (LTV) in the mortgage book, and resilient consumer balance sheets should underpin LB’s overall asset quality(S&amp;P</a:t>
            </a:r>
            <a:r>
              <a:rPr lang="zh-TW" altLang="en-US" dirty="0"/>
              <a:t> </a:t>
            </a:r>
            <a:r>
              <a:rPr lang="en-US" altLang="zh-TW" dirty="0"/>
              <a:t>global)</a:t>
            </a: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擁有良好擔保的抵押貸款在客戶貸款中佔主導地位。</a:t>
            </a:r>
            <a:r>
              <a:rPr lang="en-US" altLang="zh-TW" dirty="0"/>
              <a:t>LB </a:t>
            </a:r>
            <a:r>
              <a:rPr lang="zh-TW" altLang="en-US" dirty="0"/>
              <a:t>大型的客戶貸款組合以住宅抵押貸款為主，但也包括信用卡等風險較高的部分。我們預計，隨著英國資產質量正常化，資產將穩定地出現逾期和違約的情況。即便如此，穩健的承保、抵押貸款組合中較低的貸款價值比（</a:t>
            </a:r>
            <a:r>
              <a:rPr lang="en-US" altLang="zh-TW" dirty="0"/>
              <a:t>LTV</a:t>
            </a:r>
            <a:r>
              <a:rPr lang="zh-TW" altLang="en-US" dirty="0"/>
              <a:t>）以及強韌的消費者資產負債表應該能支撐 </a:t>
            </a:r>
            <a:r>
              <a:rPr lang="en-US" altLang="zh-TW" dirty="0"/>
              <a:t>LB </a:t>
            </a:r>
            <a:r>
              <a:rPr lang="zh-TW" altLang="en-US" dirty="0"/>
              <a:t>的整體資產質量。</a:t>
            </a:r>
            <a:r>
              <a:rPr lang="en-US" altLang="zh-TW" dirty="0"/>
              <a:t>(S&amp;P</a:t>
            </a:r>
            <a:r>
              <a:rPr lang="zh-TW" altLang="en-US" dirty="0"/>
              <a:t> </a:t>
            </a:r>
            <a:r>
              <a:rPr lang="en-US" altLang="zh-TW" dirty="0"/>
              <a:t>global)</a:t>
            </a:r>
          </a:p>
          <a:p>
            <a:endParaRPr lang="en-US" altLang="zh-TW" dirty="0"/>
          </a:p>
          <a:p>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Strong Asset Quality: We expect LBG's asset quality to remain strong over the next two years, with the impaired loans ratio remaining below 2%. We expect asset quality to be supported by falling interest rates. Loan impairment charges (LICs) should remain easily absorbable, given the largely secured loan portfolio(Fitch)</a:t>
            </a:r>
          </a:p>
          <a:p>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強健的資產質量：我們預計未來兩年</a:t>
            </a:r>
            <a:r>
              <a:rPr lang="en-US" altLang="zh-TW" dirty="0"/>
              <a:t>LBG</a:t>
            </a:r>
            <a:r>
              <a:rPr lang="zh-TW" altLang="en-US" dirty="0"/>
              <a:t>的資產質量將保持強勁，不良貸款比率將保持低於</a:t>
            </a:r>
            <a:r>
              <a:rPr lang="en-US" altLang="zh-TW" dirty="0"/>
              <a:t>2%</a:t>
            </a:r>
            <a:r>
              <a:rPr lang="zh-TW" altLang="en-US" dirty="0"/>
              <a:t>。我們預計資產質量將受到利率下降的支持。考慮到貸款組合大多有擔保，貸款減值費用（</a:t>
            </a:r>
            <a:r>
              <a:rPr lang="en-US" altLang="zh-TW" dirty="0"/>
              <a:t>LICs</a:t>
            </a:r>
            <a:r>
              <a:rPr lang="zh-TW" altLang="en-US" dirty="0"/>
              <a:t>）應仍可輕鬆吸收。</a:t>
            </a:r>
            <a:r>
              <a:rPr lang="en-US" altLang="zh-TW" dirty="0"/>
              <a:t>(Fitch)</a:t>
            </a:r>
          </a:p>
          <a:p>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LBG's profitability has been consistently strong and compares well with UK and European peers'. We expect operating profit/risk-weighted assets (RWAs; 9M25: 3.2%) to strengthen to about 3.5% in 2026 as structural hedge income more than offsets margin pressure in mortgage lending and deposits, while cost growth and LICs are contained. Revenue diversification and strategic investments into non-interest income- generating businesses should also support earnings. (Fitch)</a:t>
            </a:r>
          </a:p>
          <a:p>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LBG </a:t>
            </a:r>
            <a:r>
              <a:rPr lang="zh-TW" altLang="en-US" dirty="0"/>
              <a:t>的盈利能力一直穩定強勁，並且與英國及歐洲的同業相比表現良好。我們預計營運利潤</a:t>
            </a:r>
            <a:r>
              <a:rPr lang="en-US" altLang="zh-TW" dirty="0"/>
              <a:t>/</a:t>
            </a:r>
            <a:r>
              <a:rPr lang="zh-TW" altLang="en-US" dirty="0"/>
              <a:t>風險加權資產（</a:t>
            </a:r>
            <a:r>
              <a:rPr lang="en-US" altLang="zh-TW" dirty="0"/>
              <a:t>RWAs</a:t>
            </a:r>
            <a:r>
              <a:rPr lang="zh-TW" altLang="en-US" dirty="0"/>
              <a:t>；</a:t>
            </a:r>
            <a:r>
              <a:rPr lang="en-US" altLang="zh-TW" dirty="0"/>
              <a:t>2025 </a:t>
            </a:r>
            <a:r>
              <a:rPr lang="zh-TW" altLang="en-US" dirty="0"/>
              <a:t>年前九個月：</a:t>
            </a:r>
            <a:r>
              <a:rPr lang="en-US" altLang="zh-TW" dirty="0"/>
              <a:t>3.2%</a:t>
            </a:r>
            <a:r>
              <a:rPr lang="zh-TW" altLang="en-US" dirty="0"/>
              <a:t>）將在 </a:t>
            </a:r>
            <a:r>
              <a:rPr lang="en-US" altLang="zh-TW" dirty="0"/>
              <a:t>2026 </a:t>
            </a:r>
            <a:r>
              <a:rPr lang="zh-TW" altLang="en-US" dirty="0"/>
              <a:t>年增至約 </a:t>
            </a:r>
            <a:r>
              <a:rPr lang="en-US" altLang="zh-TW" dirty="0"/>
              <a:t>3.5%</a:t>
            </a:r>
            <a:r>
              <a:rPr lang="zh-TW" altLang="en-US" dirty="0"/>
              <a:t>，因結構性對沖收入將超過按揭貸款和存款的利差壓力，同時成本增長和貸款撥備受到控制。收入多元化及對非利息收入業務的策略性投資，也應有助於支持盈利能力。</a:t>
            </a:r>
            <a:r>
              <a:rPr lang="en-US" altLang="zh-TW" dirty="0"/>
              <a:t>(Fitch)</a:t>
            </a:r>
          </a:p>
          <a:p>
            <a:endParaRPr lang="en-US" altLang="zh-TW" dirty="0"/>
          </a:p>
          <a:p>
            <a:endParaRPr lang="en-US" altLang="zh-TW" dirty="0"/>
          </a:p>
          <a:p>
            <a:r>
              <a:rPr lang="en-US" altLang="zh-TW" dirty="0"/>
              <a:t>Tier 1 capital ratio</a:t>
            </a:r>
            <a:r>
              <a:rPr lang="zh-TW" altLang="en-US" dirty="0"/>
              <a:t> 圖 </a:t>
            </a:r>
            <a:r>
              <a:rPr lang="en-US" altLang="zh-TW" dirty="0"/>
              <a:t>(S&amp;P)</a:t>
            </a:r>
            <a:r>
              <a:rPr lang="zh-TW" altLang="en-US" dirty="0"/>
              <a:t> </a:t>
            </a:r>
            <a:endParaRPr lang="en-US" altLang="zh-TW" dirty="0"/>
          </a:p>
        </p:txBody>
      </p:sp>
      <p:sp>
        <p:nvSpPr>
          <p:cNvPr id="4" name="投影片編號版面配置區 3"/>
          <p:cNvSpPr>
            <a:spLocks noGrp="1"/>
          </p:cNvSpPr>
          <p:nvPr>
            <p:ph type="sldNum" sz="quarter" idx="10"/>
          </p:nvPr>
        </p:nvSpPr>
        <p:spPr/>
        <p:txBody>
          <a:bodyPr/>
          <a:lstStyle/>
          <a:p>
            <a:fld id="{677EE9C5-7ACF-43E8-ABC9-16737D2E075F}" type="slidenum">
              <a:rPr lang="zh-TW" altLang="en-US" smtClean="0"/>
              <a:t>5</a:t>
            </a:fld>
            <a:endParaRPr lang="zh-TW" altLang="en-US"/>
          </a:p>
        </p:txBody>
      </p:sp>
    </p:spTree>
    <p:extLst>
      <p:ext uri="{BB962C8B-B14F-4D97-AF65-F5344CB8AC3E}">
        <p14:creationId xmlns:p14="http://schemas.microsoft.com/office/powerpoint/2010/main" val="211643229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pic>
        <p:nvPicPr>
          <p:cNvPr id="4" name="Picture 10" descr="keyV_right_A"/>
          <p:cNvPicPr>
            <a:picLocks noChangeAspect="1" noChangeArrowheads="1"/>
          </p:cNvPicPr>
          <p:nvPr userDrawn="1"/>
        </p:nvPicPr>
        <p:blipFill>
          <a:blip r:embed="rId2">
            <a:extLst>
              <a:ext uri="{28A0092B-C50C-407E-A947-70E740481C1C}">
                <a14:useLocalDpi xmlns:a14="http://schemas.microsoft.com/office/drawing/2010/main" val="0"/>
              </a:ext>
            </a:extLst>
          </a:blip>
          <a:srcRect l="39798" r="19273"/>
          <a:stretch>
            <a:fillRect/>
          </a:stretch>
        </p:blipFill>
        <p:spPr bwMode="auto">
          <a:xfrm>
            <a:off x="2627313" y="690563"/>
            <a:ext cx="6516687" cy="142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圖片 9" descr="BIG5__bar條.jpg"/>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858250" y="0"/>
            <a:ext cx="2857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9" descr="keyV_right_A"/>
          <p:cNvPicPr>
            <a:picLocks noChangeAspect="1" noChangeArrowheads="1"/>
          </p:cNvPicPr>
          <p:nvPr userDrawn="1"/>
        </p:nvPicPr>
        <p:blipFill>
          <a:blip r:embed="rId2">
            <a:extLst>
              <a:ext uri="{28A0092B-C50C-407E-A947-70E740481C1C}">
                <a14:useLocalDpi xmlns:a14="http://schemas.microsoft.com/office/drawing/2010/main" val="0"/>
              </a:ext>
            </a:extLst>
          </a:blip>
          <a:srcRect r="19273"/>
          <a:stretch>
            <a:fillRect/>
          </a:stretch>
        </p:blipFill>
        <p:spPr bwMode="auto">
          <a:xfrm>
            <a:off x="0" y="692150"/>
            <a:ext cx="5651500" cy="140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標題 1"/>
          <p:cNvSpPr>
            <a:spLocks noGrp="1"/>
          </p:cNvSpPr>
          <p:nvPr>
            <p:ph type="ctrTitle"/>
          </p:nvPr>
        </p:nvSpPr>
        <p:spPr>
          <a:xfrm>
            <a:off x="685800" y="2130425"/>
            <a:ext cx="7772400" cy="1470025"/>
          </a:xfrm>
        </p:spPr>
        <p:txBody>
          <a:bodyPr/>
          <a:lstStyle>
            <a:lvl1pPr>
              <a:defRPr b="1">
                <a:solidFill>
                  <a:srgbClr val="DB812E"/>
                </a:solidFill>
              </a:defRPr>
            </a:lvl1pPr>
          </a:lstStyle>
          <a:p>
            <a:r>
              <a:rPr lang="zh-TW" altLang="en-US"/>
              <a:t>按一下以編輯母片標題樣式</a:t>
            </a:r>
          </a:p>
        </p:txBody>
      </p:sp>
      <p:sp>
        <p:nvSpPr>
          <p:cNvPr id="3" name="副標題 2"/>
          <p:cNvSpPr>
            <a:spLocks noGrp="1"/>
          </p:cNvSpPr>
          <p:nvPr>
            <p:ph type="subTitle" idx="1"/>
          </p:nvPr>
        </p:nvSpPr>
        <p:spPr>
          <a:xfrm>
            <a:off x="1371600" y="3660420"/>
            <a:ext cx="6400800" cy="1752600"/>
          </a:xfrm>
        </p:spPr>
        <p:txBody>
          <a:bodyPr/>
          <a:lstStyle>
            <a:lvl1pPr marL="0" indent="0" algn="ctr">
              <a:buNone/>
              <a:defRPr b="1">
                <a:solidFill>
                  <a:srgbClr val="085840"/>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dirty="0"/>
              <a:t>按一下以編輯母片副標題樣式</a:t>
            </a:r>
          </a:p>
        </p:txBody>
      </p:sp>
      <p:sp>
        <p:nvSpPr>
          <p:cNvPr id="7" name="日期版面配置區 3"/>
          <p:cNvSpPr>
            <a:spLocks noGrp="1"/>
          </p:cNvSpPr>
          <p:nvPr>
            <p:ph type="dt" sz="half" idx="10"/>
          </p:nvPr>
        </p:nvSpPr>
        <p:spPr/>
        <p:txBody>
          <a:bodyPr/>
          <a:lstStyle>
            <a:lvl1pPr>
              <a:defRPr/>
            </a:lvl1pPr>
          </a:lstStyle>
          <a:p>
            <a:pPr>
              <a:defRPr/>
            </a:pPr>
            <a:fld id="{1D6FDF85-4543-49DA-8210-8D381B90A49D}" type="datetime1">
              <a:rPr lang="zh-TW" altLang="en-US" smtClean="0">
                <a:solidFill>
                  <a:prstClr val="black">
                    <a:tint val="75000"/>
                  </a:prstClr>
                </a:solidFill>
              </a:rPr>
              <a:t>2026/4/28</a:t>
            </a:fld>
            <a:endParaRPr lang="zh-TW" altLang="en-US">
              <a:solidFill>
                <a:prstClr val="black">
                  <a:tint val="75000"/>
                </a:prstClr>
              </a:solidFill>
            </a:endParaRPr>
          </a:p>
        </p:txBody>
      </p:sp>
      <p:sp>
        <p:nvSpPr>
          <p:cNvPr id="8" name="頁尾版面配置區 4"/>
          <p:cNvSpPr>
            <a:spLocks noGrp="1"/>
          </p:cNvSpPr>
          <p:nvPr>
            <p:ph type="ftr" sz="quarter" idx="11"/>
          </p:nvPr>
        </p:nvSpPr>
        <p:spPr/>
        <p:txBody>
          <a:bodyPr/>
          <a:lstStyle>
            <a:lvl1pPr>
              <a:defRPr/>
            </a:lvl1pPr>
          </a:lstStyle>
          <a:p>
            <a:pPr>
              <a:defRPr/>
            </a:pPr>
            <a:endParaRPr lang="zh-TW" altLang="en-US">
              <a:solidFill>
                <a:prstClr val="black">
                  <a:tint val="75000"/>
                </a:prstClr>
              </a:solidFill>
            </a:endParaRPr>
          </a:p>
        </p:txBody>
      </p:sp>
      <p:sp>
        <p:nvSpPr>
          <p:cNvPr id="9" name="投影片編號版面配置區 5"/>
          <p:cNvSpPr>
            <a:spLocks noGrp="1"/>
          </p:cNvSpPr>
          <p:nvPr>
            <p:ph type="sldNum" sz="quarter" idx="12"/>
          </p:nvPr>
        </p:nvSpPr>
        <p:spPr/>
        <p:txBody>
          <a:bodyPr/>
          <a:lstStyle>
            <a:lvl1pPr>
              <a:defRPr/>
            </a:lvl1pPr>
          </a:lstStyle>
          <a:p>
            <a:pPr>
              <a:defRPr/>
            </a:pPr>
            <a:fld id="{6151579E-EE59-4F67-8142-ADC442330BD1}" type="slidenum">
              <a:rPr lang="zh-TW" altLang="en-US"/>
              <a:pPr>
                <a:defRPr/>
              </a:pPr>
              <a:t>‹#›</a:t>
            </a:fld>
            <a:endParaRPr lang="zh-TW" altLang="en-US"/>
          </a:p>
        </p:txBody>
      </p:sp>
    </p:spTree>
    <p:extLst>
      <p:ext uri="{BB962C8B-B14F-4D97-AF65-F5344CB8AC3E}">
        <p14:creationId xmlns:p14="http://schemas.microsoft.com/office/powerpoint/2010/main" val="14044965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a:xfrm>
            <a:off x="457200" y="852754"/>
            <a:ext cx="8229600" cy="564883"/>
          </a:xfrm>
        </p:spPr>
        <p:txBody>
          <a:bodyPr/>
          <a:lstStyle/>
          <a:p>
            <a:r>
              <a:rPr lang="zh-TW" altLang="en-US" dirty="0"/>
              <a:t>按一下以編輯母片標題樣式</a:t>
            </a:r>
          </a:p>
        </p:txBody>
      </p:sp>
      <p:sp>
        <p:nvSpPr>
          <p:cNvPr id="3" name="內容版面配置區 2"/>
          <p:cNvSpPr>
            <a:spLocks noGrp="1"/>
          </p:cNvSpPr>
          <p:nvPr>
            <p:ph idx="1"/>
          </p:nvPr>
        </p:nvSpPr>
        <p:spPr/>
        <p:txBody>
          <a:bodyPr/>
          <a:lstStyle>
            <a:lvl1pPr>
              <a:buFontTx/>
              <a:buBlip>
                <a:blip r:embed="rId2"/>
              </a:buBlip>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日期版面配置區 3"/>
          <p:cNvSpPr>
            <a:spLocks noGrp="1"/>
          </p:cNvSpPr>
          <p:nvPr>
            <p:ph type="dt" sz="half" idx="10"/>
          </p:nvPr>
        </p:nvSpPr>
        <p:spPr/>
        <p:txBody>
          <a:bodyPr/>
          <a:lstStyle>
            <a:lvl1pPr>
              <a:defRPr/>
            </a:lvl1pPr>
          </a:lstStyle>
          <a:p>
            <a:pPr>
              <a:defRPr/>
            </a:pPr>
            <a:fld id="{AACB3AF5-F047-4F4C-975B-1C5C4437F96C}" type="datetime1">
              <a:rPr lang="zh-TW" altLang="en-US" smtClean="0">
                <a:solidFill>
                  <a:prstClr val="black">
                    <a:tint val="75000"/>
                  </a:prstClr>
                </a:solidFill>
              </a:rPr>
              <a:t>2026/4/28</a:t>
            </a:fld>
            <a:endParaRPr lang="zh-TW" altLang="en-US">
              <a:solidFill>
                <a:prstClr val="black">
                  <a:tint val="75000"/>
                </a:prstClr>
              </a:solidFill>
            </a:endParaRPr>
          </a:p>
        </p:txBody>
      </p:sp>
      <p:sp>
        <p:nvSpPr>
          <p:cNvPr id="5" name="頁尾版面配置區 4"/>
          <p:cNvSpPr>
            <a:spLocks noGrp="1"/>
          </p:cNvSpPr>
          <p:nvPr>
            <p:ph type="ftr" sz="quarter" idx="11"/>
          </p:nvPr>
        </p:nvSpPr>
        <p:spPr/>
        <p:txBody>
          <a:bodyPr/>
          <a:lstStyle>
            <a:lvl1pPr>
              <a:defRPr/>
            </a:lvl1pPr>
          </a:lstStyle>
          <a:p>
            <a:pPr>
              <a:defRPr/>
            </a:pPr>
            <a:endParaRPr lang="zh-TW" altLang="en-US">
              <a:solidFill>
                <a:prstClr val="black">
                  <a:tint val="75000"/>
                </a:prstClr>
              </a:solidFill>
            </a:endParaRPr>
          </a:p>
        </p:txBody>
      </p:sp>
      <p:sp>
        <p:nvSpPr>
          <p:cNvPr id="6" name="投影片編號版面配置區 5"/>
          <p:cNvSpPr>
            <a:spLocks noGrp="1"/>
          </p:cNvSpPr>
          <p:nvPr>
            <p:ph type="sldNum" sz="quarter" idx="12"/>
          </p:nvPr>
        </p:nvSpPr>
        <p:spPr/>
        <p:txBody>
          <a:bodyPr/>
          <a:lstStyle>
            <a:lvl1pPr>
              <a:defRPr/>
            </a:lvl1pPr>
          </a:lstStyle>
          <a:p>
            <a:pPr>
              <a:defRPr/>
            </a:pPr>
            <a:fld id="{8F8A72DB-F354-4BCA-8F31-60F88775F7A0}" type="slidenum">
              <a:rPr lang="zh-TW" altLang="en-US"/>
              <a:pPr>
                <a:defRPr/>
              </a:pPr>
              <a:t>‹#›</a:t>
            </a:fld>
            <a:endParaRPr lang="zh-TW" altLang="en-US"/>
          </a:p>
        </p:txBody>
      </p:sp>
    </p:spTree>
    <p:extLst>
      <p:ext uri="{BB962C8B-B14F-4D97-AF65-F5344CB8AC3E}">
        <p14:creationId xmlns:p14="http://schemas.microsoft.com/office/powerpoint/2010/main" val="13994938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lvl1pPr>
              <a:defRPr/>
            </a:lvl1pPr>
          </a:lstStyle>
          <a:p>
            <a:pPr>
              <a:defRPr/>
            </a:pPr>
            <a:fld id="{175DF59A-B005-45E6-BDFA-2CFB70006DB5}" type="datetime1">
              <a:rPr lang="zh-TW" altLang="en-US" smtClean="0">
                <a:solidFill>
                  <a:prstClr val="black">
                    <a:tint val="75000"/>
                  </a:prstClr>
                </a:solidFill>
              </a:rPr>
              <a:t>2026/4/28</a:t>
            </a:fld>
            <a:endParaRPr lang="zh-TW" altLang="en-US">
              <a:solidFill>
                <a:prstClr val="black">
                  <a:tint val="75000"/>
                </a:prstClr>
              </a:solidFill>
            </a:endParaRPr>
          </a:p>
        </p:txBody>
      </p:sp>
      <p:sp>
        <p:nvSpPr>
          <p:cNvPr id="5" name="頁尾版面配置區 4"/>
          <p:cNvSpPr>
            <a:spLocks noGrp="1"/>
          </p:cNvSpPr>
          <p:nvPr>
            <p:ph type="ftr" sz="quarter" idx="11"/>
          </p:nvPr>
        </p:nvSpPr>
        <p:spPr/>
        <p:txBody>
          <a:bodyPr/>
          <a:lstStyle>
            <a:lvl1pPr>
              <a:defRPr/>
            </a:lvl1pPr>
          </a:lstStyle>
          <a:p>
            <a:pPr>
              <a:defRPr/>
            </a:pPr>
            <a:endParaRPr lang="zh-TW" altLang="en-US">
              <a:solidFill>
                <a:prstClr val="black">
                  <a:tint val="75000"/>
                </a:prstClr>
              </a:solidFill>
            </a:endParaRPr>
          </a:p>
        </p:txBody>
      </p:sp>
      <p:sp>
        <p:nvSpPr>
          <p:cNvPr id="6" name="投影片編號版面配置區 5"/>
          <p:cNvSpPr>
            <a:spLocks noGrp="1"/>
          </p:cNvSpPr>
          <p:nvPr>
            <p:ph type="sldNum" sz="quarter" idx="12"/>
          </p:nvPr>
        </p:nvSpPr>
        <p:spPr/>
        <p:txBody>
          <a:bodyPr/>
          <a:lstStyle>
            <a:lvl1pPr>
              <a:defRPr/>
            </a:lvl1pPr>
          </a:lstStyle>
          <a:p>
            <a:pPr>
              <a:defRPr/>
            </a:pPr>
            <a:fld id="{F4003F4F-D06E-4A25-98D5-1CA81E7483EF}" type="slidenum">
              <a:rPr lang="zh-TW" altLang="en-US"/>
              <a:pPr>
                <a:defRPr/>
              </a:pPr>
              <a:t>‹#›</a:t>
            </a:fld>
            <a:endParaRPr lang="zh-TW" altLang="en-US"/>
          </a:p>
        </p:txBody>
      </p:sp>
    </p:spTree>
    <p:extLst>
      <p:ext uri="{BB962C8B-B14F-4D97-AF65-F5344CB8AC3E}">
        <p14:creationId xmlns:p14="http://schemas.microsoft.com/office/powerpoint/2010/main" val="29242372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a:xfrm>
            <a:off x="457200" y="739738"/>
            <a:ext cx="8229600" cy="677899"/>
          </a:xfrm>
        </p:spPr>
        <p:txBody>
          <a:bodyPr/>
          <a:lstStyle/>
          <a:p>
            <a:r>
              <a:rPr lang="zh-TW" altLang="en-US" dirty="0"/>
              <a:t>按一下以編輯母片標題樣式</a:t>
            </a:r>
          </a:p>
        </p:txBody>
      </p:sp>
      <p:sp>
        <p:nvSpPr>
          <p:cNvPr id="3" name="內容版面配置區 2"/>
          <p:cNvSpPr>
            <a:spLocks noGrp="1"/>
          </p:cNvSpPr>
          <p:nvPr>
            <p:ph sz="half" idx="1"/>
          </p:nvPr>
        </p:nvSpPr>
        <p:spPr>
          <a:xfrm>
            <a:off x="457200" y="1600200"/>
            <a:ext cx="4038600" cy="4525963"/>
          </a:xfrm>
        </p:spPr>
        <p:txBody>
          <a:bodyPr/>
          <a:lstStyle>
            <a:lvl1pPr>
              <a:defRPr sz="2800">
                <a:solidFill>
                  <a:schemeClr val="tx1"/>
                </a:solidFill>
              </a:defRPr>
            </a:lvl1pPr>
            <a:lvl2pPr>
              <a:defRPr sz="2400">
                <a:solidFill>
                  <a:schemeClr val="tx1"/>
                </a:solidFill>
              </a:defRPr>
            </a:lvl2pPr>
            <a:lvl3pPr>
              <a:defRPr sz="2000">
                <a:solidFill>
                  <a:schemeClr val="tx1"/>
                </a:solidFill>
              </a:defRPr>
            </a:lvl3pPr>
            <a:lvl4pPr>
              <a:defRPr sz="1800">
                <a:solidFill>
                  <a:schemeClr val="tx1"/>
                </a:solidFill>
              </a:defRPr>
            </a:lvl4pPr>
            <a:lvl5pPr>
              <a:defRPr sz="1800">
                <a:solidFill>
                  <a:schemeClr val="tx1"/>
                </a:solidFill>
              </a:defRPr>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3"/>
          <p:cNvSpPr>
            <a:spLocks noGrp="1"/>
          </p:cNvSpPr>
          <p:nvPr>
            <p:ph type="dt" sz="half" idx="10"/>
          </p:nvPr>
        </p:nvSpPr>
        <p:spPr/>
        <p:txBody>
          <a:bodyPr/>
          <a:lstStyle>
            <a:lvl1pPr>
              <a:defRPr/>
            </a:lvl1pPr>
          </a:lstStyle>
          <a:p>
            <a:pPr>
              <a:defRPr/>
            </a:pPr>
            <a:fld id="{C02CF818-1AE7-42DB-92CA-39D542E2CB93}" type="datetime1">
              <a:rPr lang="zh-TW" altLang="en-US" smtClean="0">
                <a:solidFill>
                  <a:prstClr val="black">
                    <a:tint val="75000"/>
                  </a:prstClr>
                </a:solidFill>
              </a:rPr>
              <a:t>2026/4/28</a:t>
            </a:fld>
            <a:endParaRPr lang="zh-TW" altLang="en-US">
              <a:solidFill>
                <a:prstClr val="black">
                  <a:tint val="75000"/>
                </a:prstClr>
              </a:solidFill>
            </a:endParaRPr>
          </a:p>
        </p:txBody>
      </p:sp>
      <p:sp>
        <p:nvSpPr>
          <p:cNvPr id="6" name="頁尾版面配置區 4"/>
          <p:cNvSpPr>
            <a:spLocks noGrp="1"/>
          </p:cNvSpPr>
          <p:nvPr>
            <p:ph type="ftr" sz="quarter" idx="11"/>
          </p:nvPr>
        </p:nvSpPr>
        <p:spPr/>
        <p:txBody>
          <a:bodyPr/>
          <a:lstStyle>
            <a:lvl1pPr>
              <a:defRPr/>
            </a:lvl1pPr>
          </a:lstStyle>
          <a:p>
            <a:pPr>
              <a:defRPr/>
            </a:pPr>
            <a:endParaRPr lang="zh-TW" altLang="en-US">
              <a:solidFill>
                <a:prstClr val="black">
                  <a:tint val="75000"/>
                </a:prstClr>
              </a:solidFill>
            </a:endParaRPr>
          </a:p>
        </p:txBody>
      </p:sp>
      <p:sp>
        <p:nvSpPr>
          <p:cNvPr id="7" name="投影片編號版面配置區 5"/>
          <p:cNvSpPr>
            <a:spLocks noGrp="1"/>
          </p:cNvSpPr>
          <p:nvPr>
            <p:ph type="sldNum" sz="quarter" idx="12"/>
          </p:nvPr>
        </p:nvSpPr>
        <p:spPr/>
        <p:txBody>
          <a:bodyPr/>
          <a:lstStyle>
            <a:lvl1pPr>
              <a:defRPr/>
            </a:lvl1pPr>
          </a:lstStyle>
          <a:p>
            <a:pPr>
              <a:defRPr/>
            </a:pPr>
            <a:fld id="{24630450-CE2D-4591-8DFB-3A09A6998BB7}" type="slidenum">
              <a:rPr lang="zh-TW" altLang="en-US"/>
              <a:pPr>
                <a:defRPr/>
              </a:pPr>
              <a:t>‹#›</a:t>
            </a:fld>
            <a:endParaRPr lang="zh-TW" altLang="en-US"/>
          </a:p>
        </p:txBody>
      </p:sp>
    </p:spTree>
    <p:extLst>
      <p:ext uri="{BB962C8B-B14F-4D97-AF65-F5344CB8AC3E}">
        <p14:creationId xmlns:p14="http://schemas.microsoft.com/office/powerpoint/2010/main" val="11241480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811658"/>
            <a:ext cx="8229600" cy="605980"/>
          </a:xfrm>
        </p:spPr>
        <p:txBody>
          <a:bodyPr/>
          <a:lstStyle>
            <a:lvl1pPr>
              <a:defRPr/>
            </a:lvl1pPr>
          </a:lstStyle>
          <a:p>
            <a:r>
              <a:rPr lang="zh-TW" altLang="en-US" dirty="0"/>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solidFill>
                  <a:schemeClr val="tx1"/>
                </a:solidFill>
              </a:defRPr>
            </a:lvl1pPr>
            <a:lvl2pPr>
              <a:defRPr sz="2000">
                <a:solidFill>
                  <a:schemeClr val="tx1"/>
                </a:solidFill>
              </a:defRPr>
            </a:lvl2pPr>
            <a:lvl3pPr>
              <a:defRPr sz="18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3"/>
          <p:cNvSpPr>
            <a:spLocks noGrp="1"/>
          </p:cNvSpPr>
          <p:nvPr>
            <p:ph type="dt" sz="half" idx="10"/>
          </p:nvPr>
        </p:nvSpPr>
        <p:spPr/>
        <p:txBody>
          <a:bodyPr/>
          <a:lstStyle>
            <a:lvl1pPr>
              <a:defRPr/>
            </a:lvl1pPr>
          </a:lstStyle>
          <a:p>
            <a:pPr>
              <a:defRPr/>
            </a:pPr>
            <a:fld id="{68081830-16C6-47FC-B33D-D8BD9EB2E5EA}" type="datetime1">
              <a:rPr lang="zh-TW" altLang="en-US" smtClean="0">
                <a:solidFill>
                  <a:prstClr val="black">
                    <a:tint val="75000"/>
                  </a:prstClr>
                </a:solidFill>
              </a:rPr>
              <a:t>2026/4/28</a:t>
            </a:fld>
            <a:endParaRPr lang="zh-TW" altLang="en-US">
              <a:solidFill>
                <a:prstClr val="black">
                  <a:tint val="75000"/>
                </a:prstClr>
              </a:solidFill>
            </a:endParaRPr>
          </a:p>
        </p:txBody>
      </p:sp>
      <p:sp>
        <p:nvSpPr>
          <p:cNvPr id="8" name="頁尾版面配置區 4"/>
          <p:cNvSpPr>
            <a:spLocks noGrp="1"/>
          </p:cNvSpPr>
          <p:nvPr>
            <p:ph type="ftr" sz="quarter" idx="11"/>
          </p:nvPr>
        </p:nvSpPr>
        <p:spPr/>
        <p:txBody>
          <a:bodyPr/>
          <a:lstStyle>
            <a:lvl1pPr>
              <a:defRPr/>
            </a:lvl1pPr>
          </a:lstStyle>
          <a:p>
            <a:pPr>
              <a:defRPr/>
            </a:pPr>
            <a:endParaRPr lang="zh-TW" altLang="en-US">
              <a:solidFill>
                <a:prstClr val="black">
                  <a:tint val="75000"/>
                </a:prstClr>
              </a:solidFill>
            </a:endParaRPr>
          </a:p>
        </p:txBody>
      </p:sp>
      <p:sp>
        <p:nvSpPr>
          <p:cNvPr id="9" name="投影片編號版面配置區 5"/>
          <p:cNvSpPr>
            <a:spLocks noGrp="1"/>
          </p:cNvSpPr>
          <p:nvPr>
            <p:ph type="sldNum" sz="quarter" idx="12"/>
          </p:nvPr>
        </p:nvSpPr>
        <p:spPr/>
        <p:txBody>
          <a:bodyPr/>
          <a:lstStyle>
            <a:lvl1pPr>
              <a:defRPr/>
            </a:lvl1pPr>
          </a:lstStyle>
          <a:p>
            <a:pPr>
              <a:defRPr/>
            </a:pPr>
            <a:fld id="{0A5B5A98-7FA6-4B11-BAAD-5DA380F47C37}" type="slidenum">
              <a:rPr lang="zh-TW" altLang="en-US"/>
              <a:pPr>
                <a:defRPr/>
              </a:pPr>
              <a:t>‹#›</a:t>
            </a:fld>
            <a:endParaRPr lang="zh-TW" altLang="en-US"/>
          </a:p>
        </p:txBody>
      </p:sp>
    </p:spTree>
    <p:extLst>
      <p:ext uri="{BB962C8B-B14F-4D97-AF65-F5344CB8AC3E}">
        <p14:creationId xmlns:p14="http://schemas.microsoft.com/office/powerpoint/2010/main" val="11127758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a:xfrm>
            <a:off x="457200" y="801384"/>
            <a:ext cx="8229600" cy="616254"/>
          </a:xfrm>
        </p:spPr>
        <p:txBody>
          <a:bodyPr/>
          <a:lstStyle/>
          <a:p>
            <a:r>
              <a:rPr lang="zh-TW" altLang="en-US" dirty="0"/>
              <a:t>按一下以編輯母片標題樣式</a:t>
            </a:r>
          </a:p>
        </p:txBody>
      </p:sp>
      <p:sp>
        <p:nvSpPr>
          <p:cNvPr id="3" name="日期版面配置區 3"/>
          <p:cNvSpPr>
            <a:spLocks noGrp="1"/>
          </p:cNvSpPr>
          <p:nvPr>
            <p:ph type="dt" sz="half" idx="10"/>
          </p:nvPr>
        </p:nvSpPr>
        <p:spPr/>
        <p:txBody>
          <a:bodyPr/>
          <a:lstStyle>
            <a:lvl1pPr>
              <a:defRPr/>
            </a:lvl1pPr>
          </a:lstStyle>
          <a:p>
            <a:pPr>
              <a:defRPr/>
            </a:pPr>
            <a:fld id="{891A052C-D97B-40F5-A32F-04598D7F3C32}" type="datetime1">
              <a:rPr lang="zh-TW" altLang="en-US" smtClean="0">
                <a:solidFill>
                  <a:prstClr val="black">
                    <a:tint val="75000"/>
                  </a:prstClr>
                </a:solidFill>
              </a:rPr>
              <a:t>2026/4/28</a:t>
            </a:fld>
            <a:endParaRPr lang="zh-TW" altLang="en-US">
              <a:solidFill>
                <a:prstClr val="black">
                  <a:tint val="75000"/>
                </a:prstClr>
              </a:solidFill>
            </a:endParaRPr>
          </a:p>
        </p:txBody>
      </p:sp>
      <p:sp>
        <p:nvSpPr>
          <p:cNvPr id="4" name="頁尾版面配置區 4"/>
          <p:cNvSpPr>
            <a:spLocks noGrp="1"/>
          </p:cNvSpPr>
          <p:nvPr>
            <p:ph type="ftr" sz="quarter" idx="11"/>
          </p:nvPr>
        </p:nvSpPr>
        <p:spPr/>
        <p:txBody>
          <a:bodyPr/>
          <a:lstStyle>
            <a:lvl1pPr>
              <a:defRPr/>
            </a:lvl1pPr>
          </a:lstStyle>
          <a:p>
            <a:pPr>
              <a:defRPr/>
            </a:pPr>
            <a:endParaRPr lang="zh-TW" altLang="en-US">
              <a:solidFill>
                <a:prstClr val="black">
                  <a:tint val="75000"/>
                </a:prstClr>
              </a:solidFill>
            </a:endParaRPr>
          </a:p>
        </p:txBody>
      </p:sp>
      <p:sp>
        <p:nvSpPr>
          <p:cNvPr id="5" name="投影片編號版面配置區 5"/>
          <p:cNvSpPr>
            <a:spLocks noGrp="1"/>
          </p:cNvSpPr>
          <p:nvPr>
            <p:ph type="sldNum" sz="quarter" idx="12"/>
          </p:nvPr>
        </p:nvSpPr>
        <p:spPr/>
        <p:txBody>
          <a:bodyPr/>
          <a:lstStyle>
            <a:lvl1pPr>
              <a:defRPr/>
            </a:lvl1pPr>
          </a:lstStyle>
          <a:p>
            <a:pPr>
              <a:defRPr/>
            </a:pPr>
            <a:fld id="{21282A21-51AF-4652-BB2E-D8B7054446C5}" type="slidenum">
              <a:rPr lang="zh-TW" altLang="en-US"/>
              <a:pPr>
                <a:defRPr/>
              </a:pPr>
              <a:t>‹#›</a:t>
            </a:fld>
            <a:endParaRPr lang="zh-TW" altLang="en-US"/>
          </a:p>
        </p:txBody>
      </p:sp>
    </p:spTree>
    <p:extLst>
      <p:ext uri="{BB962C8B-B14F-4D97-AF65-F5344CB8AC3E}">
        <p14:creationId xmlns:p14="http://schemas.microsoft.com/office/powerpoint/2010/main" val="1711142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3"/>
          <p:cNvSpPr>
            <a:spLocks noGrp="1"/>
          </p:cNvSpPr>
          <p:nvPr>
            <p:ph type="dt" sz="half" idx="10"/>
          </p:nvPr>
        </p:nvSpPr>
        <p:spPr/>
        <p:txBody>
          <a:bodyPr/>
          <a:lstStyle>
            <a:lvl1pPr>
              <a:defRPr/>
            </a:lvl1pPr>
          </a:lstStyle>
          <a:p>
            <a:pPr>
              <a:defRPr/>
            </a:pPr>
            <a:fld id="{E5235B85-5498-4692-A86C-ACF9771605B4}" type="datetime1">
              <a:rPr lang="zh-TW" altLang="en-US" smtClean="0">
                <a:solidFill>
                  <a:prstClr val="black">
                    <a:tint val="75000"/>
                  </a:prstClr>
                </a:solidFill>
              </a:rPr>
              <a:t>2026/4/28</a:t>
            </a:fld>
            <a:endParaRPr lang="zh-TW" altLang="en-US">
              <a:solidFill>
                <a:prstClr val="black">
                  <a:tint val="75000"/>
                </a:prstClr>
              </a:solidFill>
            </a:endParaRPr>
          </a:p>
        </p:txBody>
      </p:sp>
      <p:sp>
        <p:nvSpPr>
          <p:cNvPr id="3" name="頁尾版面配置區 4"/>
          <p:cNvSpPr>
            <a:spLocks noGrp="1"/>
          </p:cNvSpPr>
          <p:nvPr>
            <p:ph type="ftr" sz="quarter" idx="11"/>
          </p:nvPr>
        </p:nvSpPr>
        <p:spPr/>
        <p:txBody>
          <a:bodyPr/>
          <a:lstStyle>
            <a:lvl1pPr>
              <a:defRPr/>
            </a:lvl1pPr>
          </a:lstStyle>
          <a:p>
            <a:pPr>
              <a:defRPr/>
            </a:pPr>
            <a:endParaRPr lang="zh-TW" altLang="en-US">
              <a:solidFill>
                <a:prstClr val="black">
                  <a:tint val="75000"/>
                </a:prstClr>
              </a:solidFill>
            </a:endParaRPr>
          </a:p>
        </p:txBody>
      </p:sp>
      <p:sp>
        <p:nvSpPr>
          <p:cNvPr id="4" name="投影片編號版面配置區 5"/>
          <p:cNvSpPr>
            <a:spLocks noGrp="1"/>
          </p:cNvSpPr>
          <p:nvPr>
            <p:ph type="sldNum" sz="quarter" idx="12"/>
          </p:nvPr>
        </p:nvSpPr>
        <p:spPr/>
        <p:txBody>
          <a:bodyPr/>
          <a:lstStyle>
            <a:lvl1pPr>
              <a:defRPr/>
            </a:lvl1pPr>
          </a:lstStyle>
          <a:p>
            <a:pPr>
              <a:defRPr/>
            </a:pPr>
            <a:fld id="{186220AF-483D-4EE9-B065-23EEF407C225}" type="slidenum">
              <a:rPr lang="zh-TW" altLang="en-US"/>
              <a:pPr>
                <a:defRPr/>
              </a:pPr>
              <a:t>‹#›</a:t>
            </a:fld>
            <a:endParaRPr lang="zh-TW" altLang="en-US"/>
          </a:p>
        </p:txBody>
      </p:sp>
    </p:spTree>
    <p:extLst>
      <p:ext uri="{BB962C8B-B14F-4D97-AF65-F5344CB8AC3E}">
        <p14:creationId xmlns:p14="http://schemas.microsoft.com/office/powerpoint/2010/main" val="3075342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708916"/>
            <a:ext cx="3008313" cy="726183"/>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708916"/>
            <a:ext cx="5111750" cy="5417247"/>
          </a:xfrm>
        </p:spPr>
        <p:txBody>
          <a:bodyPr/>
          <a:lstStyle>
            <a:lvl1pPr>
              <a:defRPr sz="3200">
                <a:solidFill>
                  <a:schemeClr val="tx1"/>
                </a:solidFill>
              </a:defRPr>
            </a:lvl1pPr>
            <a:lvl2pPr>
              <a:defRPr sz="2800">
                <a:solidFill>
                  <a:schemeClr val="tx1"/>
                </a:solidFill>
              </a:defRPr>
            </a:lvl2pPr>
            <a:lvl3pPr>
              <a:defRPr sz="2400">
                <a:solidFill>
                  <a:schemeClr val="tx1"/>
                </a:solidFill>
              </a:defRPr>
            </a:lvl3pPr>
            <a:lvl4pPr>
              <a:defRPr sz="2000">
                <a:solidFill>
                  <a:schemeClr val="tx1"/>
                </a:solidFill>
              </a:defRPr>
            </a:lvl4pPr>
            <a:lvl5pPr>
              <a:defRPr sz="2000">
                <a:solidFill>
                  <a:schemeClr val="tx1"/>
                </a:solidFill>
              </a:defRPr>
            </a:lvl5pPr>
            <a:lvl6pPr>
              <a:defRPr sz="2000"/>
            </a:lvl6pPr>
            <a:lvl7pPr>
              <a:defRPr sz="2000"/>
            </a:lvl7pPr>
            <a:lvl8pPr>
              <a:defRPr sz="2000"/>
            </a:lvl8pPr>
            <a:lvl9pPr>
              <a:defRPr sz="2000"/>
            </a:lvl9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3"/>
          <p:cNvSpPr>
            <a:spLocks noGrp="1"/>
          </p:cNvSpPr>
          <p:nvPr>
            <p:ph type="dt" sz="half" idx="10"/>
          </p:nvPr>
        </p:nvSpPr>
        <p:spPr/>
        <p:txBody>
          <a:bodyPr/>
          <a:lstStyle>
            <a:lvl1pPr>
              <a:defRPr/>
            </a:lvl1pPr>
          </a:lstStyle>
          <a:p>
            <a:pPr>
              <a:defRPr/>
            </a:pPr>
            <a:fld id="{49E3E09D-1C1C-4709-8FF9-8CBE612C4D42}" type="datetime1">
              <a:rPr lang="zh-TW" altLang="en-US" smtClean="0">
                <a:solidFill>
                  <a:prstClr val="black">
                    <a:tint val="75000"/>
                  </a:prstClr>
                </a:solidFill>
              </a:rPr>
              <a:t>2026/4/28</a:t>
            </a:fld>
            <a:endParaRPr lang="zh-TW" altLang="en-US">
              <a:solidFill>
                <a:prstClr val="black">
                  <a:tint val="75000"/>
                </a:prstClr>
              </a:solidFill>
            </a:endParaRPr>
          </a:p>
        </p:txBody>
      </p:sp>
      <p:sp>
        <p:nvSpPr>
          <p:cNvPr id="6" name="頁尾版面配置區 4"/>
          <p:cNvSpPr>
            <a:spLocks noGrp="1"/>
          </p:cNvSpPr>
          <p:nvPr>
            <p:ph type="ftr" sz="quarter" idx="11"/>
          </p:nvPr>
        </p:nvSpPr>
        <p:spPr/>
        <p:txBody>
          <a:bodyPr/>
          <a:lstStyle>
            <a:lvl1pPr>
              <a:defRPr/>
            </a:lvl1pPr>
          </a:lstStyle>
          <a:p>
            <a:pPr>
              <a:defRPr/>
            </a:pPr>
            <a:endParaRPr lang="zh-TW" altLang="en-US">
              <a:solidFill>
                <a:prstClr val="black">
                  <a:tint val="75000"/>
                </a:prstClr>
              </a:solidFill>
            </a:endParaRPr>
          </a:p>
        </p:txBody>
      </p:sp>
      <p:sp>
        <p:nvSpPr>
          <p:cNvPr id="7" name="投影片編號版面配置區 5"/>
          <p:cNvSpPr>
            <a:spLocks noGrp="1"/>
          </p:cNvSpPr>
          <p:nvPr>
            <p:ph type="sldNum" sz="quarter" idx="12"/>
          </p:nvPr>
        </p:nvSpPr>
        <p:spPr/>
        <p:txBody>
          <a:bodyPr/>
          <a:lstStyle>
            <a:lvl1pPr>
              <a:defRPr/>
            </a:lvl1pPr>
          </a:lstStyle>
          <a:p>
            <a:pPr>
              <a:defRPr/>
            </a:pPr>
            <a:fld id="{1728B8B5-1D1A-495F-BA8E-BF315D41419E}" type="slidenum">
              <a:rPr lang="zh-TW" altLang="en-US"/>
              <a:pPr>
                <a:defRPr/>
              </a:pPr>
              <a:t>‹#›</a:t>
            </a:fld>
            <a:endParaRPr lang="zh-TW" altLang="en-US"/>
          </a:p>
        </p:txBody>
      </p:sp>
    </p:spTree>
    <p:extLst>
      <p:ext uri="{BB962C8B-B14F-4D97-AF65-F5344CB8AC3E}">
        <p14:creationId xmlns:p14="http://schemas.microsoft.com/office/powerpoint/2010/main" val="15660313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TW" altLang="en-US" noProof="0"/>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3"/>
          <p:cNvSpPr>
            <a:spLocks noGrp="1"/>
          </p:cNvSpPr>
          <p:nvPr>
            <p:ph type="dt" sz="half" idx="10"/>
          </p:nvPr>
        </p:nvSpPr>
        <p:spPr/>
        <p:txBody>
          <a:bodyPr/>
          <a:lstStyle>
            <a:lvl1pPr>
              <a:defRPr/>
            </a:lvl1pPr>
          </a:lstStyle>
          <a:p>
            <a:pPr>
              <a:defRPr/>
            </a:pPr>
            <a:fld id="{B212D20A-8890-48EC-88BD-E3413EEC73CE}" type="datetime1">
              <a:rPr lang="zh-TW" altLang="en-US" smtClean="0">
                <a:solidFill>
                  <a:prstClr val="black">
                    <a:tint val="75000"/>
                  </a:prstClr>
                </a:solidFill>
              </a:rPr>
              <a:t>2026/4/28</a:t>
            </a:fld>
            <a:endParaRPr lang="zh-TW" altLang="en-US">
              <a:solidFill>
                <a:prstClr val="black">
                  <a:tint val="75000"/>
                </a:prstClr>
              </a:solidFill>
            </a:endParaRPr>
          </a:p>
        </p:txBody>
      </p:sp>
      <p:sp>
        <p:nvSpPr>
          <p:cNvPr id="6" name="頁尾版面配置區 4"/>
          <p:cNvSpPr>
            <a:spLocks noGrp="1"/>
          </p:cNvSpPr>
          <p:nvPr>
            <p:ph type="ftr" sz="quarter" idx="11"/>
          </p:nvPr>
        </p:nvSpPr>
        <p:spPr/>
        <p:txBody>
          <a:bodyPr/>
          <a:lstStyle>
            <a:lvl1pPr>
              <a:defRPr/>
            </a:lvl1pPr>
          </a:lstStyle>
          <a:p>
            <a:pPr>
              <a:defRPr/>
            </a:pPr>
            <a:endParaRPr lang="zh-TW" altLang="en-US">
              <a:solidFill>
                <a:prstClr val="black">
                  <a:tint val="75000"/>
                </a:prstClr>
              </a:solidFill>
            </a:endParaRPr>
          </a:p>
        </p:txBody>
      </p:sp>
      <p:sp>
        <p:nvSpPr>
          <p:cNvPr id="7" name="投影片編號版面配置區 5"/>
          <p:cNvSpPr>
            <a:spLocks noGrp="1"/>
          </p:cNvSpPr>
          <p:nvPr>
            <p:ph type="sldNum" sz="quarter" idx="12"/>
          </p:nvPr>
        </p:nvSpPr>
        <p:spPr/>
        <p:txBody>
          <a:bodyPr/>
          <a:lstStyle>
            <a:lvl1pPr>
              <a:defRPr/>
            </a:lvl1pPr>
          </a:lstStyle>
          <a:p>
            <a:pPr>
              <a:defRPr/>
            </a:pPr>
            <a:fld id="{C43FB423-70C5-4A05-B477-9C3666855AF8}" type="slidenum">
              <a:rPr lang="zh-TW" altLang="en-US"/>
              <a:pPr>
                <a:defRPr/>
              </a:pPr>
              <a:t>‹#›</a:t>
            </a:fld>
            <a:endParaRPr lang="zh-TW" altLang="en-US"/>
          </a:p>
        </p:txBody>
      </p:sp>
    </p:spTree>
    <p:extLst>
      <p:ext uri="{BB962C8B-B14F-4D97-AF65-F5344CB8AC3E}">
        <p14:creationId xmlns:p14="http://schemas.microsoft.com/office/powerpoint/2010/main" val="11621627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a:xfrm>
            <a:off x="457200" y="739738"/>
            <a:ext cx="8229600" cy="677899"/>
          </a:xfrm>
        </p:spPr>
        <p:txBody>
          <a:bodyPr/>
          <a:lstStyle/>
          <a:p>
            <a:r>
              <a:rPr lang="zh-TW" altLang="en-US" dirty="0"/>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lvl1pPr>
              <a:defRPr/>
            </a:lvl1pPr>
          </a:lstStyle>
          <a:p>
            <a:pPr>
              <a:defRPr/>
            </a:pPr>
            <a:fld id="{F8BD0FF3-0AF6-4E3A-9D31-B31EE5FA9E2C}" type="datetime1">
              <a:rPr lang="zh-TW" altLang="en-US" smtClean="0">
                <a:solidFill>
                  <a:prstClr val="black">
                    <a:tint val="75000"/>
                  </a:prstClr>
                </a:solidFill>
              </a:rPr>
              <a:t>2026/4/28</a:t>
            </a:fld>
            <a:endParaRPr lang="zh-TW" altLang="en-US">
              <a:solidFill>
                <a:prstClr val="black">
                  <a:tint val="75000"/>
                </a:prstClr>
              </a:solidFill>
            </a:endParaRPr>
          </a:p>
        </p:txBody>
      </p:sp>
      <p:sp>
        <p:nvSpPr>
          <p:cNvPr id="5" name="頁尾版面配置區 4"/>
          <p:cNvSpPr>
            <a:spLocks noGrp="1"/>
          </p:cNvSpPr>
          <p:nvPr>
            <p:ph type="ftr" sz="quarter" idx="11"/>
          </p:nvPr>
        </p:nvSpPr>
        <p:spPr/>
        <p:txBody>
          <a:bodyPr/>
          <a:lstStyle>
            <a:lvl1pPr>
              <a:defRPr/>
            </a:lvl1pPr>
          </a:lstStyle>
          <a:p>
            <a:pPr>
              <a:defRPr/>
            </a:pPr>
            <a:endParaRPr lang="zh-TW" altLang="en-US">
              <a:solidFill>
                <a:prstClr val="black">
                  <a:tint val="75000"/>
                </a:prstClr>
              </a:solidFill>
            </a:endParaRPr>
          </a:p>
        </p:txBody>
      </p:sp>
      <p:sp>
        <p:nvSpPr>
          <p:cNvPr id="6" name="投影片編號版面配置區 5"/>
          <p:cNvSpPr>
            <a:spLocks noGrp="1"/>
          </p:cNvSpPr>
          <p:nvPr>
            <p:ph type="sldNum" sz="quarter" idx="12"/>
          </p:nvPr>
        </p:nvSpPr>
        <p:spPr/>
        <p:txBody>
          <a:bodyPr/>
          <a:lstStyle>
            <a:lvl1pPr>
              <a:defRPr/>
            </a:lvl1pPr>
          </a:lstStyle>
          <a:p>
            <a:pPr>
              <a:defRPr/>
            </a:pPr>
            <a:fld id="{AF1073F1-4950-4C14-B144-9C5DC98A88C1}" type="slidenum">
              <a:rPr lang="zh-TW" altLang="en-US"/>
              <a:pPr>
                <a:defRPr/>
              </a:pPr>
              <a:t>‹#›</a:t>
            </a:fld>
            <a:endParaRPr lang="zh-TW" altLang="en-US"/>
          </a:p>
        </p:txBody>
      </p:sp>
    </p:spTree>
    <p:extLst>
      <p:ext uri="{BB962C8B-B14F-4D97-AF65-F5344CB8AC3E}">
        <p14:creationId xmlns:p14="http://schemas.microsoft.com/office/powerpoint/2010/main" val="30605006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2_標題及物件">
    <p:spTree>
      <p:nvGrpSpPr>
        <p:cNvPr id="1" name=""/>
        <p:cNvGrpSpPr/>
        <p:nvPr/>
      </p:nvGrpSpPr>
      <p:grpSpPr>
        <a:xfrm>
          <a:off x="0" y="0"/>
          <a:ext cx="0" cy="0"/>
          <a:chOff x="0" y="0"/>
          <a:chExt cx="0" cy="0"/>
        </a:xfrm>
      </p:grpSpPr>
      <p:sp>
        <p:nvSpPr>
          <p:cNvPr id="9" name="標題 1"/>
          <p:cNvSpPr>
            <a:spLocks noGrp="1"/>
          </p:cNvSpPr>
          <p:nvPr>
            <p:ph type="title"/>
          </p:nvPr>
        </p:nvSpPr>
        <p:spPr>
          <a:xfrm>
            <a:off x="1061610" y="188640"/>
            <a:ext cx="7614475" cy="720000"/>
          </a:xfrm>
          <a:prstGeom prst="rect">
            <a:avLst/>
          </a:prstGeom>
        </p:spPr>
        <p:txBody>
          <a:bodyPr anchor="b">
            <a:noAutofit/>
          </a:bodyPr>
          <a:lstStyle>
            <a:lvl1pPr algn="l">
              <a:defRPr sz="2100" b="1">
                <a:solidFill>
                  <a:schemeClr val="tx2">
                    <a:lumMod val="75000"/>
                  </a:schemeClr>
                </a:solidFill>
                <a:latin typeface="微軟正黑體" pitchFamily="34" charset="-120"/>
                <a:ea typeface="微軟正黑體" pitchFamily="34" charset="-120"/>
              </a:defRPr>
            </a:lvl1pPr>
          </a:lstStyle>
          <a:p>
            <a:r>
              <a:rPr lang="zh-TW" altLang="en-US" dirty="0"/>
              <a:t>按一下以編輯母片標題樣式</a:t>
            </a:r>
          </a:p>
        </p:txBody>
      </p:sp>
      <p:sp>
        <p:nvSpPr>
          <p:cNvPr id="10" name="內容版面配置區 3"/>
          <p:cNvSpPr>
            <a:spLocks noGrp="1"/>
          </p:cNvSpPr>
          <p:nvPr>
            <p:ph sz="half" idx="2"/>
          </p:nvPr>
        </p:nvSpPr>
        <p:spPr>
          <a:xfrm>
            <a:off x="467545" y="980728"/>
            <a:ext cx="8213303" cy="5220000"/>
          </a:xfrm>
          <a:prstGeom prst="rect">
            <a:avLst/>
          </a:prstGeom>
        </p:spPr>
        <p:txBody>
          <a:bodyPr/>
          <a:lstStyle>
            <a:lvl1pPr marL="257175" indent="-257175">
              <a:buFont typeface="Wingdings" panose="05000000000000000000" pitchFamily="2" charset="2"/>
              <a:buChar char="n"/>
              <a:defRPr sz="1800">
                <a:latin typeface="微軟正黑體" pitchFamily="34" charset="-120"/>
                <a:ea typeface="微軟正黑體" pitchFamily="34" charset="-120"/>
              </a:defRPr>
            </a:lvl1pPr>
            <a:lvl2pPr>
              <a:defRPr sz="1500" b="0">
                <a:latin typeface="微軟正黑體" pitchFamily="34" charset="-120"/>
                <a:ea typeface="微軟正黑體" pitchFamily="34" charset="-120"/>
              </a:defRPr>
            </a:lvl2pPr>
            <a:lvl3pPr>
              <a:defRPr sz="1350">
                <a:latin typeface="微軟正黑體" pitchFamily="34" charset="-120"/>
                <a:ea typeface="微軟正黑體" pitchFamily="34" charset="-120"/>
              </a:defRPr>
            </a:lvl3pPr>
            <a:lvl4pPr>
              <a:defRPr sz="12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dirty="0"/>
              <a:t>按一下以編輯母片文字樣式</a:t>
            </a:r>
            <a:endParaRPr lang="en-US" altLang="zh-TW" dirty="0"/>
          </a:p>
          <a:p>
            <a:pPr lvl="0"/>
            <a:endParaRPr lang="en-US" altLang="zh-TW" dirty="0"/>
          </a:p>
          <a:p>
            <a:pPr lvl="0"/>
            <a:endParaRPr lang="en-US" altLang="zh-TW" dirty="0"/>
          </a:p>
          <a:p>
            <a:pPr lvl="0"/>
            <a:endParaRPr lang="en-US" altLang="zh-TW" dirty="0"/>
          </a:p>
          <a:p>
            <a:pPr lvl="0"/>
            <a:endParaRPr lang="en-US" altLang="zh-TW" dirty="0"/>
          </a:p>
          <a:p>
            <a:pPr lvl="0"/>
            <a:endParaRPr lang="en-US" altLang="zh-TW" dirty="0"/>
          </a:p>
          <a:p>
            <a:pPr lvl="0"/>
            <a:endParaRPr lang="en-US" altLang="zh-TW" dirty="0"/>
          </a:p>
          <a:p>
            <a:pPr lvl="0"/>
            <a:endParaRPr lang="zh-TW" altLang="en-US" dirty="0"/>
          </a:p>
        </p:txBody>
      </p:sp>
      <p:sp>
        <p:nvSpPr>
          <p:cNvPr id="11" name="投影片編號版面配置區 10"/>
          <p:cNvSpPr>
            <a:spLocks noGrp="1"/>
          </p:cNvSpPr>
          <p:nvPr>
            <p:ph type="sldNum" sz="quarter" idx="10"/>
          </p:nvPr>
        </p:nvSpPr>
        <p:spPr/>
        <p:txBody>
          <a:bodyPr/>
          <a:lstStyle/>
          <a:p>
            <a:fld id="{415482FC-CF5F-466A-B8B6-BC3733E92023}" type="slidenum">
              <a:rPr lang="zh-TW" altLang="en-US" smtClean="0"/>
              <a:pPr/>
              <a:t>‹#›</a:t>
            </a:fld>
            <a:endParaRPr lang="zh-TW" altLang="en-US" dirty="0"/>
          </a:p>
        </p:txBody>
      </p:sp>
    </p:spTree>
    <p:extLst>
      <p:ext uri="{BB962C8B-B14F-4D97-AF65-F5344CB8AC3E}">
        <p14:creationId xmlns:p14="http://schemas.microsoft.com/office/powerpoint/2010/main" val="4457934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標題版面配置區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TW" altLang="en-US"/>
              <a:t>按一下以編輯母片標題樣式</a:t>
            </a:r>
          </a:p>
        </p:txBody>
      </p:sp>
      <p:sp>
        <p:nvSpPr>
          <p:cNvPr id="1027" name="文字版面配置區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kumimoji="0" sz="1200">
                <a:solidFill>
                  <a:schemeClr val="tx1">
                    <a:tint val="75000"/>
                  </a:schemeClr>
                </a:solidFill>
                <a:latin typeface="Arial" pitchFamily="34" charset="0"/>
                <a:ea typeface="+mn-ea"/>
                <a:cs typeface="Arial" pitchFamily="34" charset="0"/>
              </a:defRPr>
            </a:lvl1pPr>
          </a:lstStyle>
          <a:p>
            <a:pPr>
              <a:defRPr/>
            </a:pPr>
            <a:fld id="{5837916E-76D7-4F5B-AAE4-9ECD70E84CF1}" type="datetime1">
              <a:rPr lang="zh-TW" altLang="en-US" smtClean="0">
                <a:solidFill>
                  <a:prstClr val="black">
                    <a:tint val="75000"/>
                  </a:prstClr>
                </a:solidFill>
              </a:rPr>
              <a:t>2026/4/28</a:t>
            </a:fld>
            <a:endParaRPr lang="zh-TW" altLang="en-US">
              <a:solidFill>
                <a:prstClr val="black">
                  <a:tint val="75000"/>
                </a:prstClr>
              </a:solidFill>
            </a:endParaRPr>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kumimoji="0" sz="1200">
                <a:solidFill>
                  <a:schemeClr val="tx1">
                    <a:tint val="75000"/>
                  </a:schemeClr>
                </a:solidFill>
                <a:latin typeface="微軟正黑體" pitchFamily="34" charset="-120"/>
                <a:ea typeface="微軟正黑體" pitchFamily="34" charset="-120"/>
              </a:defRPr>
            </a:lvl1pPr>
          </a:lstStyle>
          <a:p>
            <a:pPr>
              <a:defRPr/>
            </a:pPr>
            <a:endParaRPr lang="zh-TW" altLang="en-US">
              <a:solidFill>
                <a:prstClr val="black">
                  <a:tint val="75000"/>
                </a:prstClr>
              </a:solidFill>
            </a:endParaRPr>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kumimoji="0" sz="1200">
                <a:solidFill>
                  <a:srgbClr val="898989"/>
                </a:solidFill>
                <a:ea typeface="標楷體" panose="03000509000000000000" pitchFamily="65" charset="-120"/>
                <a:cs typeface="Arial" panose="020B0604020202020204" pitchFamily="34" charset="0"/>
              </a:defRPr>
            </a:lvl1pPr>
          </a:lstStyle>
          <a:p>
            <a:pPr fontAlgn="base">
              <a:spcBef>
                <a:spcPct val="0"/>
              </a:spcBef>
              <a:spcAft>
                <a:spcPct val="0"/>
              </a:spcAft>
              <a:defRPr/>
            </a:pPr>
            <a:fld id="{94546F5B-F51C-4DBB-A731-C4A1BD087958}" type="slidenum">
              <a:rPr lang="zh-TW" altLang="en-US">
                <a:latin typeface="Arial" panose="020B0604020202020204" pitchFamily="34" charset="0"/>
              </a:rPr>
              <a:pPr fontAlgn="base">
                <a:spcBef>
                  <a:spcPct val="0"/>
                </a:spcBef>
                <a:spcAft>
                  <a:spcPct val="0"/>
                </a:spcAft>
                <a:defRPr/>
              </a:pPr>
              <a:t>‹#›</a:t>
            </a:fld>
            <a:endParaRPr lang="zh-TW" altLang="en-US">
              <a:latin typeface="Arial" panose="020B0604020202020204" pitchFamily="34" charset="0"/>
            </a:endParaRPr>
          </a:p>
        </p:txBody>
      </p:sp>
      <p:pic>
        <p:nvPicPr>
          <p:cNvPr id="1031" name="Picture 6" descr="ppbar.jpg"/>
          <p:cNvPicPr>
            <a:picLocks noChangeAspect="1"/>
          </p:cNvPicPr>
          <p:nvPr/>
        </p:nvPicPr>
        <p:blipFill>
          <a:blip r:embed="rId13">
            <a:extLst>
              <a:ext uri="{28A0092B-C50C-407E-A947-70E740481C1C}">
                <a14:useLocalDpi xmlns:a14="http://schemas.microsoft.com/office/drawing/2010/main" val="0"/>
              </a:ext>
            </a:extLst>
          </a:blip>
          <a:srcRect/>
          <a:stretch>
            <a:fillRect/>
          </a:stretch>
        </p:blipFill>
        <p:spPr bwMode="auto">
          <a:xfrm>
            <a:off x="3175" y="0"/>
            <a:ext cx="9140825" cy="685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5"/>
          <p:cNvSpPr txBox="1">
            <a:spLocks noChangeArrowheads="1"/>
          </p:cNvSpPr>
          <p:nvPr userDrawn="1"/>
        </p:nvSpPr>
        <p:spPr>
          <a:xfrm>
            <a:off x="179388" y="6461125"/>
            <a:ext cx="4606925" cy="358775"/>
          </a:xfrm>
          <a:prstGeom prst="rect">
            <a:avLst/>
          </a:prstGeom>
        </p:spPr>
        <p:txBody>
          <a:bodyPr/>
          <a:lstStyle>
            <a:defPPr>
              <a:defRPr lang="zh-TW"/>
            </a:defPPr>
            <a:lvl1pPr algn="l" rtl="0" fontAlgn="base">
              <a:spcBef>
                <a:spcPts val="1200"/>
              </a:spcBef>
              <a:spcAft>
                <a:spcPct val="0"/>
              </a:spcAft>
              <a:defRPr kumimoji="1" sz="2800" b="1" kern="1200">
                <a:solidFill>
                  <a:schemeClr val="accent6">
                    <a:lumMod val="25000"/>
                  </a:schemeClr>
                </a:solidFill>
                <a:latin typeface="微軟正黑體" pitchFamily="34" charset="-120"/>
                <a:ea typeface="微軟正黑體" pitchFamily="34" charset="-120"/>
                <a:cs typeface="+mn-cs"/>
              </a:defRPr>
            </a:lvl1pPr>
            <a:lvl2pPr marL="457200" algn="l" rtl="0" fontAlgn="base">
              <a:spcBef>
                <a:spcPct val="0"/>
              </a:spcBef>
              <a:spcAft>
                <a:spcPct val="0"/>
              </a:spcAft>
              <a:defRPr kumimoji="1" sz="2800" kern="1200">
                <a:solidFill>
                  <a:schemeClr val="tx1"/>
                </a:solidFill>
                <a:latin typeface="Arial" pitchFamily="34" charset="0"/>
                <a:ea typeface="新細明體" pitchFamily="18" charset="-120"/>
                <a:cs typeface="+mn-cs"/>
              </a:defRPr>
            </a:lvl2pPr>
            <a:lvl3pPr marL="914400" algn="l" rtl="0" fontAlgn="base">
              <a:spcBef>
                <a:spcPct val="0"/>
              </a:spcBef>
              <a:spcAft>
                <a:spcPct val="0"/>
              </a:spcAft>
              <a:defRPr kumimoji="1" sz="2800" kern="1200">
                <a:solidFill>
                  <a:schemeClr val="tx1"/>
                </a:solidFill>
                <a:latin typeface="Arial" pitchFamily="34" charset="0"/>
                <a:ea typeface="新細明體" pitchFamily="18" charset="-120"/>
                <a:cs typeface="+mn-cs"/>
              </a:defRPr>
            </a:lvl3pPr>
            <a:lvl4pPr marL="1371600" algn="l" rtl="0" fontAlgn="base">
              <a:spcBef>
                <a:spcPct val="0"/>
              </a:spcBef>
              <a:spcAft>
                <a:spcPct val="0"/>
              </a:spcAft>
              <a:defRPr kumimoji="1" sz="2800" kern="1200">
                <a:solidFill>
                  <a:schemeClr val="tx1"/>
                </a:solidFill>
                <a:latin typeface="Arial" pitchFamily="34" charset="0"/>
                <a:ea typeface="新細明體" pitchFamily="18" charset="-120"/>
                <a:cs typeface="+mn-cs"/>
              </a:defRPr>
            </a:lvl4pPr>
            <a:lvl5pPr marL="1828800" algn="l" rtl="0" fontAlgn="base">
              <a:spcBef>
                <a:spcPct val="0"/>
              </a:spcBef>
              <a:spcAft>
                <a:spcPct val="0"/>
              </a:spcAft>
              <a:defRPr kumimoji="1" sz="2800" kern="1200">
                <a:solidFill>
                  <a:schemeClr val="tx1"/>
                </a:solidFill>
                <a:latin typeface="Arial" pitchFamily="34" charset="0"/>
                <a:ea typeface="新細明體" pitchFamily="18" charset="-120"/>
                <a:cs typeface="+mn-cs"/>
              </a:defRPr>
            </a:lvl5pPr>
            <a:lvl6pPr marL="2286000" algn="l" defTabSz="914400" rtl="0" eaLnBrk="1" latinLnBrk="0" hangingPunct="1">
              <a:defRPr kumimoji="1" sz="2800" kern="1200">
                <a:solidFill>
                  <a:schemeClr val="tx1"/>
                </a:solidFill>
                <a:latin typeface="Arial" pitchFamily="34" charset="0"/>
                <a:ea typeface="新細明體" pitchFamily="18" charset="-120"/>
                <a:cs typeface="+mn-cs"/>
              </a:defRPr>
            </a:lvl6pPr>
            <a:lvl7pPr marL="2743200" algn="l" defTabSz="914400" rtl="0" eaLnBrk="1" latinLnBrk="0" hangingPunct="1">
              <a:defRPr kumimoji="1" sz="2800" kern="1200">
                <a:solidFill>
                  <a:schemeClr val="tx1"/>
                </a:solidFill>
                <a:latin typeface="Arial" pitchFamily="34" charset="0"/>
                <a:ea typeface="新細明體" pitchFamily="18" charset="-120"/>
                <a:cs typeface="+mn-cs"/>
              </a:defRPr>
            </a:lvl7pPr>
            <a:lvl8pPr marL="3200400" algn="l" defTabSz="914400" rtl="0" eaLnBrk="1" latinLnBrk="0" hangingPunct="1">
              <a:defRPr kumimoji="1" sz="2800" kern="1200">
                <a:solidFill>
                  <a:schemeClr val="tx1"/>
                </a:solidFill>
                <a:latin typeface="Arial" pitchFamily="34" charset="0"/>
                <a:ea typeface="新細明體" pitchFamily="18" charset="-120"/>
                <a:cs typeface="+mn-cs"/>
              </a:defRPr>
            </a:lvl8pPr>
            <a:lvl9pPr marL="3657600" algn="l" defTabSz="914400" rtl="0" eaLnBrk="1" latinLnBrk="0" hangingPunct="1">
              <a:defRPr kumimoji="1" sz="2800" kern="1200">
                <a:solidFill>
                  <a:schemeClr val="tx1"/>
                </a:solidFill>
                <a:latin typeface="Arial" pitchFamily="34" charset="0"/>
                <a:ea typeface="新細明體" pitchFamily="18" charset="-120"/>
                <a:cs typeface="+mn-cs"/>
              </a:defRPr>
            </a:lvl9pPr>
          </a:lstStyle>
          <a:p>
            <a:pPr eaLnBrk="0" hangingPunct="0">
              <a:spcBef>
                <a:spcPts val="0"/>
              </a:spcBef>
              <a:defRPr/>
            </a:pPr>
            <a:r>
              <a:rPr lang="en-US" altLang="zh-TW" sz="1400" dirty="0">
                <a:solidFill>
                  <a:prstClr val="white"/>
                </a:solidFill>
              </a:rPr>
              <a:t>【</a:t>
            </a:r>
            <a:r>
              <a:rPr lang="zh-TW" altLang="en-US" sz="1400" dirty="0">
                <a:solidFill>
                  <a:prstClr val="white"/>
                </a:solidFill>
              </a:rPr>
              <a:t>內部文件，請勿外流</a:t>
            </a:r>
            <a:r>
              <a:rPr lang="en-US" altLang="zh-TW" sz="1400" dirty="0">
                <a:solidFill>
                  <a:prstClr val="white"/>
                </a:solidFill>
              </a:rPr>
              <a:t>】</a:t>
            </a:r>
          </a:p>
        </p:txBody>
      </p:sp>
    </p:spTree>
    <p:extLst>
      <p:ext uri="{BB962C8B-B14F-4D97-AF65-F5344CB8AC3E}">
        <p14:creationId xmlns:p14="http://schemas.microsoft.com/office/powerpoint/2010/main" val="3439443165"/>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Lst>
  <p:hf hdr="0" ftr="0" dt="0"/>
  <p:txStyles>
    <p:titleStyle>
      <a:lvl1pPr algn="ctr" rtl="0" eaLnBrk="0" fontAlgn="base" hangingPunct="0">
        <a:spcBef>
          <a:spcPct val="0"/>
        </a:spcBef>
        <a:spcAft>
          <a:spcPct val="0"/>
        </a:spcAft>
        <a:defRPr sz="4400" kern="1200">
          <a:solidFill>
            <a:srgbClr val="DB812E"/>
          </a:solidFill>
          <a:latin typeface="微軟正黑體" pitchFamily="34" charset="-120"/>
          <a:ea typeface="微軟正黑體" pitchFamily="34" charset="-120"/>
          <a:cs typeface="+mj-cs"/>
        </a:defRPr>
      </a:lvl1pPr>
      <a:lvl2pPr algn="ctr" rtl="0" eaLnBrk="0" fontAlgn="base" hangingPunct="0">
        <a:spcBef>
          <a:spcPct val="0"/>
        </a:spcBef>
        <a:spcAft>
          <a:spcPct val="0"/>
        </a:spcAft>
        <a:defRPr sz="4400">
          <a:solidFill>
            <a:srgbClr val="DB812E"/>
          </a:solidFill>
          <a:latin typeface="微軟正黑體" pitchFamily="34" charset="-120"/>
          <a:ea typeface="微軟正黑體" pitchFamily="34" charset="-120"/>
        </a:defRPr>
      </a:lvl2pPr>
      <a:lvl3pPr algn="ctr" rtl="0" eaLnBrk="0" fontAlgn="base" hangingPunct="0">
        <a:spcBef>
          <a:spcPct val="0"/>
        </a:spcBef>
        <a:spcAft>
          <a:spcPct val="0"/>
        </a:spcAft>
        <a:defRPr sz="4400">
          <a:solidFill>
            <a:srgbClr val="DB812E"/>
          </a:solidFill>
          <a:latin typeface="微軟正黑體" pitchFamily="34" charset="-120"/>
          <a:ea typeface="微軟正黑體" pitchFamily="34" charset="-120"/>
        </a:defRPr>
      </a:lvl3pPr>
      <a:lvl4pPr algn="ctr" rtl="0" eaLnBrk="0" fontAlgn="base" hangingPunct="0">
        <a:spcBef>
          <a:spcPct val="0"/>
        </a:spcBef>
        <a:spcAft>
          <a:spcPct val="0"/>
        </a:spcAft>
        <a:defRPr sz="4400">
          <a:solidFill>
            <a:srgbClr val="DB812E"/>
          </a:solidFill>
          <a:latin typeface="微軟正黑體" pitchFamily="34" charset="-120"/>
          <a:ea typeface="微軟正黑體" pitchFamily="34" charset="-120"/>
        </a:defRPr>
      </a:lvl4pPr>
      <a:lvl5pPr algn="ctr" rtl="0" eaLnBrk="0" fontAlgn="base" hangingPunct="0">
        <a:spcBef>
          <a:spcPct val="0"/>
        </a:spcBef>
        <a:spcAft>
          <a:spcPct val="0"/>
        </a:spcAft>
        <a:defRPr sz="4400">
          <a:solidFill>
            <a:srgbClr val="DB812E"/>
          </a:solidFill>
          <a:latin typeface="微軟正黑體" pitchFamily="34" charset="-120"/>
          <a:ea typeface="微軟正黑體" pitchFamily="34" charset="-120"/>
        </a:defRPr>
      </a:lvl5pPr>
      <a:lvl6pPr marL="457200" algn="ctr" rtl="0" fontAlgn="base">
        <a:spcBef>
          <a:spcPct val="0"/>
        </a:spcBef>
        <a:spcAft>
          <a:spcPct val="0"/>
        </a:spcAft>
        <a:defRPr sz="4400">
          <a:solidFill>
            <a:srgbClr val="DB812E"/>
          </a:solidFill>
          <a:latin typeface="微軟正黑體" pitchFamily="34" charset="-120"/>
          <a:ea typeface="微軟正黑體" pitchFamily="34" charset="-120"/>
        </a:defRPr>
      </a:lvl6pPr>
      <a:lvl7pPr marL="914400" algn="ctr" rtl="0" fontAlgn="base">
        <a:spcBef>
          <a:spcPct val="0"/>
        </a:spcBef>
        <a:spcAft>
          <a:spcPct val="0"/>
        </a:spcAft>
        <a:defRPr sz="4400">
          <a:solidFill>
            <a:srgbClr val="DB812E"/>
          </a:solidFill>
          <a:latin typeface="微軟正黑體" pitchFamily="34" charset="-120"/>
          <a:ea typeface="微軟正黑體" pitchFamily="34" charset="-120"/>
        </a:defRPr>
      </a:lvl7pPr>
      <a:lvl8pPr marL="1371600" algn="ctr" rtl="0" fontAlgn="base">
        <a:spcBef>
          <a:spcPct val="0"/>
        </a:spcBef>
        <a:spcAft>
          <a:spcPct val="0"/>
        </a:spcAft>
        <a:defRPr sz="4400">
          <a:solidFill>
            <a:srgbClr val="DB812E"/>
          </a:solidFill>
          <a:latin typeface="微軟正黑體" pitchFamily="34" charset="-120"/>
          <a:ea typeface="微軟正黑體" pitchFamily="34" charset="-120"/>
        </a:defRPr>
      </a:lvl8pPr>
      <a:lvl9pPr marL="1828800" algn="ctr" rtl="0" fontAlgn="base">
        <a:spcBef>
          <a:spcPct val="0"/>
        </a:spcBef>
        <a:spcAft>
          <a:spcPct val="0"/>
        </a:spcAft>
        <a:defRPr sz="4400">
          <a:solidFill>
            <a:srgbClr val="DB812E"/>
          </a:solidFill>
          <a:latin typeface="微軟正黑體" pitchFamily="34" charset="-120"/>
          <a:ea typeface="微軟正黑體" pitchFamily="34" charset="-120"/>
        </a:defRPr>
      </a:lvl9pPr>
    </p:titleStyle>
    <p:bodyStyle>
      <a:lvl1pPr marL="342900" indent="-342900" algn="l" rtl="0" eaLnBrk="0" fontAlgn="base" hangingPunct="0">
        <a:spcBef>
          <a:spcPct val="20000"/>
        </a:spcBef>
        <a:spcAft>
          <a:spcPct val="0"/>
        </a:spcAft>
        <a:buBlip>
          <a:blip r:embed="rId14"/>
        </a:buBlip>
        <a:defRPr sz="3200" kern="1200">
          <a:solidFill>
            <a:srgbClr val="085840"/>
          </a:solidFill>
          <a:latin typeface="Arial" pitchFamily="34" charset="0"/>
          <a:ea typeface="微軟正黑體" pitchFamily="34" charset="-120"/>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rgbClr val="085840"/>
          </a:solidFill>
          <a:latin typeface="Arial" pitchFamily="34" charset="0"/>
          <a:ea typeface="微軟正黑體" pitchFamily="34" charset="-120"/>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rgbClr val="085840"/>
          </a:solidFill>
          <a:latin typeface="Arial" pitchFamily="34" charset="0"/>
          <a:ea typeface="微軟正黑體" pitchFamily="34" charset="-120"/>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rgbClr val="085840"/>
          </a:solidFill>
          <a:latin typeface="Arial" pitchFamily="34" charset="0"/>
          <a:ea typeface="微軟正黑體" pitchFamily="34" charset="-120"/>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rgbClr val="085840"/>
          </a:solidFill>
          <a:latin typeface="Arial" pitchFamily="34" charset="0"/>
          <a:ea typeface="微軟正黑體" pitchFamily="34" charset="-120"/>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capitaliq.spglobal.com/apisv3/spg-webplatform-core/news/article?id=88404022&amp;KeyProductLinkType=14&amp;utm_campaign=top_news_2&amp;utm_medium=top_news&amp;utm_source=news_home"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chart" Target="../charts/chart1.xml"/><Relationship Id="rId5" Type="http://schemas.openxmlformats.org/officeDocument/2006/relationships/image" Target="../media/image5.png"/><Relationship Id="rId4" Type="http://schemas.openxmlformats.org/officeDocument/2006/relationships/hyperlink" Target="https://www.statista.com/statistics/940560/number-of-customers-at-select-banks-in-the-united-kingdom/" TargetMode="Externa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hyperlink" Target="https://www.capitaliq.spglobal.com/apisv3/spg-webplatform-core/news/article?id=88404022&amp;KeyProductLinkType=14&amp;utm_campaign=top_news_2&amp;utm_medium=top_news&amp;utm_source=news_home" TargetMode="External"/><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hyperlink" Target="https://www.statista.com/statistics/940560/number-of-customers-at-select-banks-in-the-united-kingdom/" TargetMode="External"/><Relationship Id="rId9"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hyperlink" Target="https://av.sc.com/hk/zh/content/docs/hk-c-annual-report-2024.pdf" TargetMode="External"/><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4.xml"/><Relationship Id="rId1" Type="http://schemas.openxmlformats.org/officeDocument/2006/relationships/slideLayout" Target="../slideLayouts/slideLayout11.xml"/><Relationship Id="rId5" Type="http://schemas.openxmlformats.org/officeDocument/2006/relationships/image" Target="../media/image5.png"/><Relationship Id="rId4" Type="http://schemas.openxmlformats.org/officeDocument/2006/relationships/chart" Target="../charts/char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標題 1">
            <a:extLst>
              <a:ext uri="{FF2B5EF4-FFF2-40B4-BE49-F238E27FC236}">
                <a16:creationId xmlns:a16="http://schemas.microsoft.com/office/drawing/2014/main" id="{D4FC47B6-E76E-4293-B0FD-20FB4B0F3A9F}"/>
              </a:ext>
            </a:extLst>
          </p:cNvPr>
          <p:cNvSpPr txBox="1">
            <a:spLocks/>
          </p:cNvSpPr>
          <p:nvPr/>
        </p:nvSpPr>
        <p:spPr bwMode="auto">
          <a:xfrm>
            <a:off x="91443" y="3169609"/>
            <a:ext cx="8786227" cy="12430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Autofit/>
          </a:bodyPr>
          <a:lstStyle>
            <a:lvl1pPr algn="ctr" rtl="0" eaLnBrk="0" fontAlgn="base" hangingPunct="0">
              <a:spcBef>
                <a:spcPct val="0"/>
              </a:spcBef>
              <a:spcAft>
                <a:spcPct val="0"/>
              </a:spcAft>
              <a:defRPr sz="4400" b="1" kern="1200">
                <a:solidFill>
                  <a:srgbClr val="DB812E"/>
                </a:solidFill>
                <a:latin typeface="微軟正黑體" pitchFamily="34" charset="-120"/>
                <a:ea typeface="微軟正黑體" pitchFamily="34" charset="-120"/>
                <a:cs typeface="+mj-cs"/>
              </a:defRPr>
            </a:lvl1pPr>
            <a:lvl2pPr algn="ctr" rtl="0" eaLnBrk="0" fontAlgn="base" hangingPunct="0">
              <a:spcBef>
                <a:spcPct val="0"/>
              </a:spcBef>
              <a:spcAft>
                <a:spcPct val="0"/>
              </a:spcAft>
              <a:defRPr sz="4400">
                <a:solidFill>
                  <a:srgbClr val="DB812E"/>
                </a:solidFill>
                <a:latin typeface="微軟正黑體" pitchFamily="34" charset="-120"/>
                <a:ea typeface="微軟正黑體" pitchFamily="34" charset="-120"/>
              </a:defRPr>
            </a:lvl2pPr>
            <a:lvl3pPr algn="ctr" rtl="0" eaLnBrk="0" fontAlgn="base" hangingPunct="0">
              <a:spcBef>
                <a:spcPct val="0"/>
              </a:spcBef>
              <a:spcAft>
                <a:spcPct val="0"/>
              </a:spcAft>
              <a:defRPr sz="4400">
                <a:solidFill>
                  <a:srgbClr val="DB812E"/>
                </a:solidFill>
                <a:latin typeface="微軟正黑體" pitchFamily="34" charset="-120"/>
                <a:ea typeface="微軟正黑體" pitchFamily="34" charset="-120"/>
              </a:defRPr>
            </a:lvl3pPr>
            <a:lvl4pPr algn="ctr" rtl="0" eaLnBrk="0" fontAlgn="base" hangingPunct="0">
              <a:spcBef>
                <a:spcPct val="0"/>
              </a:spcBef>
              <a:spcAft>
                <a:spcPct val="0"/>
              </a:spcAft>
              <a:defRPr sz="4400">
                <a:solidFill>
                  <a:srgbClr val="DB812E"/>
                </a:solidFill>
                <a:latin typeface="微軟正黑體" pitchFamily="34" charset="-120"/>
                <a:ea typeface="微軟正黑體" pitchFamily="34" charset="-120"/>
              </a:defRPr>
            </a:lvl4pPr>
            <a:lvl5pPr algn="ctr" rtl="0" eaLnBrk="0" fontAlgn="base" hangingPunct="0">
              <a:spcBef>
                <a:spcPct val="0"/>
              </a:spcBef>
              <a:spcAft>
                <a:spcPct val="0"/>
              </a:spcAft>
              <a:defRPr sz="4400">
                <a:solidFill>
                  <a:srgbClr val="DB812E"/>
                </a:solidFill>
                <a:latin typeface="微軟正黑體" pitchFamily="34" charset="-120"/>
                <a:ea typeface="微軟正黑體" pitchFamily="34" charset="-120"/>
              </a:defRPr>
            </a:lvl5pPr>
            <a:lvl6pPr marL="457200" algn="ctr" rtl="0" fontAlgn="base">
              <a:spcBef>
                <a:spcPct val="0"/>
              </a:spcBef>
              <a:spcAft>
                <a:spcPct val="0"/>
              </a:spcAft>
              <a:defRPr sz="4400">
                <a:solidFill>
                  <a:srgbClr val="DB812E"/>
                </a:solidFill>
                <a:latin typeface="微軟正黑體" pitchFamily="34" charset="-120"/>
                <a:ea typeface="微軟正黑體" pitchFamily="34" charset="-120"/>
              </a:defRPr>
            </a:lvl6pPr>
            <a:lvl7pPr marL="914400" algn="ctr" rtl="0" fontAlgn="base">
              <a:spcBef>
                <a:spcPct val="0"/>
              </a:spcBef>
              <a:spcAft>
                <a:spcPct val="0"/>
              </a:spcAft>
              <a:defRPr sz="4400">
                <a:solidFill>
                  <a:srgbClr val="DB812E"/>
                </a:solidFill>
                <a:latin typeface="微軟正黑體" pitchFamily="34" charset="-120"/>
                <a:ea typeface="微軟正黑體" pitchFamily="34" charset="-120"/>
              </a:defRPr>
            </a:lvl7pPr>
            <a:lvl8pPr marL="1371600" algn="ctr" rtl="0" fontAlgn="base">
              <a:spcBef>
                <a:spcPct val="0"/>
              </a:spcBef>
              <a:spcAft>
                <a:spcPct val="0"/>
              </a:spcAft>
              <a:defRPr sz="4400">
                <a:solidFill>
                  <a:srgbClr val="DB812E"/>
                </a:solidFill>
                <a:latin typeface="微軟正黑體" pitchFamily="34" charset="-120"/>
                <a:ea typeface="微軟正黑體" pitchFamily="34" charset="-120"/>
              </a:defRPr>
            </a:lvl8pPr>
            <a:lvl9pPr marL="1828800" algn="ctr" rtl="0" fontAlgn="base">
              <a:spcBef>
                <a:spcPct val="0"/>
              </a:spcBef>
              <a:spcAft>
                <a:spcPct val="0"/>
              </a:spcAft>
              <a:defRPr sz="4400">
                <a:solidFill>
                  <a:srgbClr val="DB812E"/>
                </a:solidFill>
                <a:latin typeface="微軟正黑體" pitchFamily="34" charset="-120"/>
                <a:ea typeface="微軟正黑體" pitchFamily="34" charset="-120"/>
              </a:defRPr>
            </a:lvl9pPr>
          </a:lstStyle>
          <a:p>
            <a:pPr>
              <a:lnSpc>
                <a:spcPct val="150000"/>
              </a:lnSpc>
            </a:pPr>
            <a:r>
              <a:rPr lang="zh-TW" altLang="en-US" sz="4000" dirty="0">
                <a:solidFill>
                  <a:srgbClr val="FF6700"/>
                </a:solidFill>
              </a:rPr>
              <a:t>駿懋銀行</a:t>
            </a:r>
            <a:endParaRPr lang="en-US" altLang="zh-TW" sz="4000" dirty="0">
              <a:solidFill>
                <a:srgbClr val="FF6700"/>
              </a:solidFill>
            </a:endParaRPr>
          </a:p>
          <a:p>
            <a:pPr>
              <a:lnSpc>
                <a:spcPct val="150000"/>
              </a:lnSpc>
            </a:pPr>
            <a:r>
              <a:rPr lang="en-US" altLang="zh-TW" sz="4000" dirty="0">
                <a:solidFill>
                  <a:schemeClr val="tx2">
                    <a:lumMod val="75000"/>
                  </a:schemeClr>
                </a:solidFill>
              </a:rPr>
              <a:t>Lloyds Bank plc</a:t>
            </a:r>
          </a:p>
        </p:txBody>
      </p:sp>
      <p:pic>
        <p:nvPicPr>
          <p:cNvPr id="5" name="圖片 4">
            <a:extLst>
              <a:ext uri="{FF2B5EF4-FFF2-40B4-BE49-F238E27FC236}">
                <a16:creationId xmlns:a16="http://schemas.microsoft.com/office/drawing/2014/main" id="{611ADED8-CC23-43EC-9ED6-62188A0945D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40352" y="12728"/>
            <a:ext cx="1008112" cy="679968"/>
          </a:xfrm>
          <a:prstGeom prst="rect">
            <a:avLst/>
          </a:prstGeom>
        </p:spPr>
      </p:pic>
    </p:spTree>
    <p:extLst>
      <p:ext uri="{BB962C8B-B14F-4D97-AF65-F5344CB8AC3E}">
        <p14:creationId xmlns:p14="http://schemas.microsoft.com/office/powerpoint/2010/main" val="22274388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標題 38"/>
          <p:cNvSpPr txBox="1">
            <a:spLocks/>
          </p:cNvSpPr>
          <p:nvPr/>
        </p:nvSpPr>
        <p:spPr>
          <a:xfrm>
            <a:off x="2015954" y="152696"/>
            <a:ext cx="4932310" cy="540000"/>
          </a:xfrm>
          <a:prstGeom prst="rect">
            <a:avLst/>
          </a:prstGeom>
        </p:spPr>
        <p:txBody>
          <a:bodyPr anchor="b">
            <a:noAutofit/>
          </a:bodyPr>
          <a:lstStyle>
            <a:lvl1pPr algn="l" defTabSz="914400" rtl="0" eaLnBrk="1" latinLnBrk="0" hangingPunct="1">
              <a:spcBef>
                <a:spcPct val="0"/>
              </a:spcBef>
              <a:buNone/>
              <a:defRPr sz="2800" b="1" kern="1200">
                <a:solidFill>
                  <a:schemeClr val="tx2">
                    <a:lumMod val="75000"/>
                  </a:schemeClr>
                </a:solidFill>
                <a:latin typeface="微軟正黑體" pitchFamily="34" charset="-120"/>
                <a:ea typeface="微軟正黑體" pitchFamily="34" charset="-120"/>
                <a:cs typeface="+mj-cs"/>
              </a:defRPr>
            </a:lvl1pPr>
          </a:lstStyle>
          <a:p>
            <a:pPr algn="ctr"/>
            <a:r>
              <a:rPr lang="zh-TW" altLang="en-US" sz="2400" dirty="0">
                <a:solidFill>
                  <a:srgbClr val="EE8300"/>
                </a:solidFill>
              </a:rPr>
              <a:t>駿懋銀行   </a:t>
            </a:r>
            <a:r>
              <a:rPr lang="zh-TW" altLang="en-US" sz="1600" dirty="0">
                <a:solidFill>
                  <a:srgbClr val="C00000"/>
                </a:solidFill>
              </a:rPr>
              <a:t>英國專注於國內業務的最大銀行</a:t>
            </a:r>
          </a:p>
        </p:txBody>
      </p:sp>
      <p:sp>
        <p:nvSpPr>
          <p:cNvPr id="20" name="文字版面配置區 3">
            <a:extLst>
              <a:ext uri="{FF2B5EF4-FFF2-40B4-BE49-F238E27FC236}">
                <a16:creationId xmlns:a16="http://schemas.microsoft.com/office/drawing/2014/main" id="{F46B1EF5-98F4-46EA-9632-B4A20988D507}"/>
              </a:ext>
            </a:extLst>
          </p:cNvPr>
          <p:cNvSpPr>
            <a:spLocks noGrp="1"/>
          </p:cNvSpPr>
          <p:nvPr/>
        </p:nvSpPr>
        <p:spPr bwMode="auto">
          <a:xfrm>
            <a:off x="258814" y="620688"/>
            <a:ext cx="4236833"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anchor="ctr"/>
          <a:lstStyle>
            <a:lvl1pPr eaLnBrk="0" hangingPunct="0">
              <a:spcBef>
                <a:spcPct val="20000"/>
              </a:spcBef>
              <a:defRPr sz="2400">
                <a:solidFill>
                  <a:schemeClr val="tx1"/>
                </a:solidFill>
                <a:latin typeface="Times New Roman" pitchFamily="18" charset="0"/>
                <a:ea typeface="細明體" pitchFamily="49" charset="-120"/>
                <a:cs typeface="MS PGothic" pitchFamily="34" charset="-128"/>
              </a:defRPr>
            </a:lvl1pPr>
            <a:lvl2pPr marL="742950" indent="-285750" eaLnBrk="0" hangingPunct="0">
              <a:spcBef>
                <a:spcPct val="20000"/>
              </a:spcBef>
              <a:buFont typeface="Times" pitchFamily="18" charset="0"/>
              <a:buChar char="•"/>
              <a:defRPr sz="2000">
                <a:solidFill>
                  <a:schemeClr val="tx1"/>
                </a:solidFill>
                <a:latin typeface="Times New Roman" pitchFamily="18" charset="0"/>
                <a:ea typeface="細明體" pitchFamily="49" charset="-120"/>
                <a:cs typeface="標楷體" pitchFamily="65" charset="-120"/>
              </a:defRPr>
            </a:lvl2pPr>
            <a:lvl3pPr marL="1143000" indent="-228600" eaLnBrk="0" hangingPunct="0">
              <a:spcBef>
                <a:spcPct val="20000"/>
              </a:spcBef>
              <a:buFont typeface="Times" pitchFamily="18" charset="0"/>
              <a:buChar char="•"/>
              <a:defRPr sz="2000">
                <a:solidFill>
                  <a:schemeClr val="tx1"/>
                </a:solidFill>
                <a:latin typeface="Times New Roman" pitchFamily="18" charset="0"/>
                <a:ea typeface="細明體" pitchFamily="49" charset="-120"/>
                <a:cs typeface="標楷體" pitchFamily="65" charset="-120"/>
              </a:defRPr>
            </a:lvl3pPr>
            <a:lvl4pPr marL="1600200" indent="-228600" eaLnBrk="0" hangingPunct="0">
              <a:spcBef>
                <a:spcPct val="20000"/>
              </a:spcBef>
              <a:buFont typeface="Times" pitchFamily="18" charset="0"/>
              <a:buChar char="•"/>
              <a:defRPr sz="2000">
                <a:solidFill>
                  <a:schemeClr val="tx1"/>
                </a:solidFill>
                <a:latin typeface="Times New Roman" pitchFamily="18" charset="0"/>
                <a:ea typeface="細明體" pitchFamily="49" charset="-120"/>
                <a:cs typeface="標楷體" pitchFamily="65" charset="-120"/>
              </a:defRPr>
            </a:lvl4pPr>
            <a:lvl5pPr marL="2057400" indent="-228600" eaLnBrk="0" hangingPunct="0">
              <a:spcBef>
                <a:spcPct val="20000"/>
              </a:spcBef>
              <a:buFont typeface="Times" pitchFamily="18" charset="0"/>
              <a:buChar char="•"/>
              <a:defRPr sz="2000">
                <a:solidFill>
                  <a:schemeClr val="tx1"/>
                </a:solidFill>
                <a:latin typeface="Times New Roman" pitchFamily="18" charset="0"/>
                <a:ea typeface="細明體" pitchFamily="49" charset="-120"/>
                <a:cs typeface="標楷體" pitchFamily="65" charset="-120"/>
              </a:defRPr>
            </a:lvl5pPr>
            <a:lvl6pPr marL="2514600" indent="-228600" eaLnBrk="0" fontAlgn="base" hangingPunct="0">
              <a:spcBef>
                <a:spcPct val="20000"/>
              </a:spcBef>
              <a:spcAft>
                <a:spcPct val="0"/>
              </a:spcAft>
              <a:buFont typeface="Times" pitchFamily="18" charset="0"/>
              <a:buChar char="•"/>
              <a:defRPr sz="2000">
                <a:solidFill>
                  <a:schemeClr val="tx1"/>
                </a:solidFill>
                <a:latin typeface="Times New Roman" pitchFamily="18" charset="0"/>
                <a:ea typeface="細明體" pitchFamily="49" charset="-120"/>
                <a:cs typeface="標楷體" pitchFamily="65" charset="-120"/>
              </a:defRPr>
            </a:lvl6pPr>
            <a:lvl7pPr marL="2971800" indent="-228600" eaLnBrk="0" fontAlgn="base" hangingPunct="0">
              <a:spcBef>
                <a:spcPct val="20000"/>
              </a:spcBef>
              <a:spcAft>
                <a:spcPct val="0"/>
              </a:spcAft>
              <a:buFont typeface="Times" pitchFamily="18" charset="0"/>
              <a:buChar char="•"/>
              <a:defRPr sz="2000">
                <a:solidFill>
                  <a:schemeClr val="tx1"/>
                </a:solidFill>
                <a:latin typeface="Times New Roman" pitchFamily="18" charset="0"/>
                <a:ea typeface="細明體" pitchFamily="49" charset="-120"/>
                <a:cs typeface="標楷體" pitchFamily="65" charset="-120"/>
              </a:defRPr>
            </a:lvl7pPr>
            <a:lvl8pPr marL="3429000" indent="-228600" eaLnBrk="0" fontAlgn="base" hangingPunct="0">
              <a:spcBef>
                <a:spcPct val="20000"/>
              </a:spcBef>
              <a:spcAft>
                <a:spcPct val="0"/>
              </a:spcAft>
              <a:buFont typeface="Times" pitchFamily="18" charset="0"/>
              <a:buChar char="•"/>
              <a:defRPr sz="2000">
                <a:solidFill>
                  <a:schemeClr val="tx1"/>
                </a:solidFill>
                <a:latin typeface="Times New Roman" pitchFamily="18" charset="0"/>
                <a:ea typeface="細明體" pitchFamily="49" charset="-120"/>
                <a:cs typeface="標楷體" pitchFamily="65" charset="-120"/>
              </a:defRPr>
            </a:lvl8pPr>
            <a:lvl9pPr marL="3886200" indent="-228600" eaLnBrk="0" fontAlgn="base" hangingPunct="0">
              <a:spcBef>
                <a:spcPct val="20000"/>
              </a:spcBef>
              <a:spcAft>
                <a:spcPct val="0"/>
              </a:spcAft>
              <a:buFont typeface="Times" pitchFamily="18" charset="0"/>
              <a:buChar char="•"/>
              <a:defRPr sz="2000">
                <a:solidFill>
                  <a:schemeClr val="tx1"/>
                </a:solidFill>
                <a:latin typeface="Times New Roman" pitchFamily="18" charset="0"/>
                <a:ea typeface="細明體" pitchFamily="49" charset="-120"/>
                <a:cs typeface="標楷體" pitchFamily="65" charset="-120"/>
              </a:defRPr>
            </a:lvl9pPr>
          </a:lstStyle>
          <a:p>
            <a:pPr>
              <a:spcBef>
                <a:spcPts val="0"/>
              </a:spcBef>
            </a:pPr>
            <a:r>
              <a:rPr lang="zh-TW" altLang="en-US" sz="1600" b="1" dirty="0">
                <a:latin typeface="微軟正黑體" panose="020B0604030504040204" pitchFamily="34" charset="-120"/>
                <a:ea typeface="微軟正黑體" panose="020B0604030504040204" pitchFamily="34" charset="-120"/>
              </a:rPr>
              <a:t>發行機構簡介</a:t>
            </a:r>
            <a:endParaRPr lang="zh-TW" altLang="en-US" sz="1600" dirty="0">
              <a:latin typeface="微軟正黑體" panose="020B0604030504040204" pitchFamily="34" charset="-120"/>
              <a:ea typeface="微軟正黑體" panose="020B0604030504040204" pitchFamily="34" charset="-120"/>
            </a:endParaRPr>
          </a:p>
        </p:txBody>
      </p:sp>
      <p:sp>
        <p:nvSpPr>
          <p:cNvPr id="57" name="矩形 56">
            <a:extLst>
              <a:ext uri="{FF2B5EF4-FFF2-40B4-BE49-F238E27FC236}">
                <a16:creationId xmlns:a16="http://schemas.microsoft.com/office/drawing/2014/main" id="{1D7B17EF-61E8-417F-A1F9-8AFAD03B09A1}"/>
              </a:ext>
            </a:extLst>
          </p:cNvPr>
          <p:cNvSpPr/>
          <p:nvPr/>
        </p:nvSpPr>
        <p:spPr>
          <a:xfrm>
            <a:off x="254514" y="4509120"/>
            <a:ext cx="6308137" cy="1738731"/>
          </a:xfrm>
          <a:prstGeom prst="rect">
            <a:avLst/>
          </a:prstGeom>
          <a:noFill/>
          <a:ln>
            <a:solidFill>
              <a:srgbClr val="E4E4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文字版面配置區 15">
            <a:extLst>
              <a:ext uri="{FF2B5EF4-FFF2-40B4-BE49-F238E27FC236}">
                <a16:creationId xmlns:a16="http://schemas.microsoft.com/office/drawing/2014/main" id="{11A04B46-DE0C-4282-BFCA-6BA92CADD11B}"/>
              </a:ext>
            </a:extLst>
          </p:cNvPr>
          <p:cNvSpPr txBox="1">
            <a:spLocks/>
          </p:cNvSpPr>
          <p:nvPr/>
        </p:nvSpPr>
        <p:spPr>
          <a:xfrm>
            <a:off x="254514" y="1072692"/>
            <a:ext cx="6308137" cy="3301219"/>
          </a:xfrm>
          <a:prstGeom prst="rect">
            <a:avLst/>
          </a:prstGeom>
        </p:spPr>
        <p:txBody>
          <a:bodyPr>
            <a:noAutofit/>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just">
              <a:lnSpc>
                <a:spcPts val="1600"/>
              </a:lnSpc>
              <a:spcBef>
                <a:spcPts val="0"/>
              </a:spcBef>
              <a:spcAft>
                <a:spcPts val="300"/>
              </a:spcAft>
              <a:buNone/>
            </a:pPr>
            <a:r>
              <a:rPr lang="zh-TW" altLang="en-US" sz="1100" dirty="0">
                <a:latin typeface="微軟正黑體" panose="020B0604030504040204" pitchFamily="34" charset="-120"/>
                <a:ea typeface="微軟正黑體" panose="020B0604030504040204" pitchFamily="34" charset="-120"/>
              </a:rPr>
              <a:t>駿懋銀行公開有限公司</a:t>
            </a:r>
            <a:r>
              <a:rPr lang="en-US" altLang="zh-TW" sz="1100" dirty="0">
                <a:latin typeface="微軟正黑體" panose="020B0604030504040204" pitchFamily="34" charset="-120"/>
                <a:ea typeface="微軟正黑體" panose="020B0604030504040204" pitchFamily="34" charset="-120"/>
              </a:rPr>
              <a:t>(Lloyds Bank plc</a:t>
            </a:r>
            <a:r>
              <a:rPr lang="zh-TW" altLang="en-US" sz="1100" dirty="0">
                <a:latin typeface="微軟正黑體" panose="020B0604030504040204" pitchFamily="34" charset="-120"/>
                <a:ea typeface="微軟正黑體" panose="020B0604030504040204" pitchFamily="34" charset="-120"/>
              </a:rPr>
              <a:t>，以下簡稱</a:t>
            </a:r>
            <a:r>
              <a:rPr lang="en-US" altLang="zh-TW" sz="1100" dirty="0">
                <a:latin typeface="微軟正黑體" panose="020B0604030504040204" pitchFamily="34" charset="-120"/>
                <a:ea typeface="微軟正黑體" panose="020B0604030504040204" pitchFamily="34" charset="-120"/>
              </a:rPr>
              <a:t>LB)</a:t>
            </a:r>
            <a:r>
              <a:rPr lang="zh-TW" altLang="en-US" sz="1100" dirty="0">
                <a:latin typeface="微軟正黑體" panose="020B0604030504040204" pitchFamily="34" charset="-120"/>
                <a:ea typeface="微軟正黑體" panose="020B0604030504040204" pitchFamily="34" charset="-120"/>
              </a:rPr>
              <a:t>成立歷史可追溯至</a:t>
            </a:r>
            <a:r>
              <a:rPr lang="en-US" altLang="zh-TW" sz="1100" dirty="0">
                <a:latin typeface="微軟正黑體" panose="020B0604030504040204" pitchFamily="34" charset="-120"/>
                <a:ea typeface="微軟正黑體" panose="020B0604030504040204" pitchFamily="34" charset="-120"/>
              </a:rPr>
              <a:t>1765</a:t>
            </a:r>
            <a:r>
              <a:rPr lang="zh-TW" altLang="en-US" sz="1100" dirty="0">
                <a:latin typeface="微軟正黑體" panose="020B0604030504040204" pitchFamily="34" charset="-120"/>
                <a:ea typeface="微軟正黑體" panose="020B0604030504040204" pitchFamily="34" charset="-120"/>
              </a:rPr>
              <a:t>年，致力為英國客戶提供活期賬戶、儲蓄、貸款和信用卡等全面的金融產品及服務。</a:t>
            </a:r>
            <a:r>
              <a:rPr lang="zh-TW" altLang="en-US" sz="1100" b="1" dirty="0">
                <a:solidFill>
                  <a:srgbClr val="FF0000"/>
                </a:solidFill>
                <a:latin typeface="微軟正黑體" panose="020B0604030504040204" pitchFamily="34" charset="-120"/>
                <a:ea typeface="微軟正黑體" panose="020B0604030504040204" pitchFamily="34" charset="-120"/>
              </a:rPr>
              <a:t>該行是勞埃德銀行集團</a:t>
            </a:r>
            <a:r>
              <a:rPr lang="en-US" altLang="zh-TW" sz="1100" b="1" dirty="0">
                <a:solidFill>
                  <a:srgbClr val="FF0000"/>
                </a:solidFill>
                <a:latin typeface="微軟正黑體" panose="020B0604030504040204" pitchFamily="34" charset="-120"/>
                <a:ea typeface="微軟正黑體" panose="020B0604030504040204" pitchFamily="34" charset="-120"/>
              </a:rPr>
              <a:t>(Lloyds Banking Group plc</a:t>
            </a:r>
            <a:r>
              <a:rPr lang="zh-TW" altLang="en-US" sz="1100" b="1" dirty="0">
                <a:solidFill>
                  <a:srgbClr val="FF0000"/>
                </a:solidFill>
                <a:latin typeface="微軟正黑體" panose="020B0604030504040204" pitchFamily="34" charset="-120"/>
                <a:ea typeface="微軟正黑體" panose="020B0604030504040204" pitchFamily="34" charset="-120"/>
              </a:rPr>
              <a:t>，以下簡稱</a:t>
            </a:r>
            <a:r>
              <a:rPr lang="en-US" altLang="zh-TW" sz="1100" b="1" dirty="0">
                <a:solidFill>
                  <a:srgbClr val="FF0000"/>
                </a:solidFill>
                <a:latin typeface="微軟正黑體" panose="020B0604030504040204" pitchFamily="34" charset="-120"/>
                <a:ea typeface="微軟正黑體" panose="020B0604030504040204" pitchFamily="34" charset="-120"/>
              </a:rPr>
              <a:t>LBG)</a:t>
            </a:r>
            <a:r>
              <a:rPr lang="zh-TW" altLang="en-US" sz="1100" b="1" dirty="0">
                <a:solidFill>
                  <a:srgbClr val="FF0000"/>
                </a:solidFill>
                <a:latin typeface="微軟正黑體" panose="020B0604030504040204" pitchFamily="34" charset="-120"/>
                <a:ea typeface="微軟正黑體" panose="020B0604030504040204" pitchFamily="34" charset="-120"/>
              </a:rPr>
              <a:t>旗下的圍欄銀行</a:t>
            </a:r>
            <a:r>
              <a:rPr lang="en-US" altLang="zh-TW" sz="1100" b="1" dirty="0">
                <a:solidFill>
                  <a:srgbClr val="FF0000"/>
                </a:solidFill>
                <a:latin typeface="微軟正黑體" panose="020B0604030504040204" pitchFamily="34" charset="-120"/>
                <a:ea typeface="微軟正黑體" panose="020B0604030504040204" pitchFamily="34" charset="-120"/>
              </a:rPr>
              <a:t>(Ring-Fenced Bank)</a:t>
            </a:r>
            <a:r>
              <a:rPr lang="en-US" altLang="zh-TW" sz="1100" dirty="0">
                <a:latin typeface="微軟正黑體" panose="020B0604030504040204" pitchFamily="34" charset="-120"/>
                <a:ea typeface="微軟正黑體" panose="020B0604030504040204" pitchFamily="34" charset="-120"/>
              </a:rPr>
              <a:t>-</a:t>
            </a:r>
            <a:r>
              <a:rPr lang="zh-TW" altLang="en-US" sz="1100" dirty="0">
                <a:latin typeface="微軟正黑體" panose="020B0604030504040204" pitchFamily="34" charset="-120"/>
                <a:ea typeface="微軟正黑體" panose="020B0604030504040204" pitchFamily="34" charset="-120"/>
              </a:rPr>
              <a:t>即核心零售銀行服務與集團其他業務風險分開。</a:t>
            </a:r>
          </a:p>
          <a:p>
            <a:pPr marL="0" indent="0" algn="just">
              <a:lnSpc>
                <a:spcPts val="1600"/>
              </a:lnSpc>
              <a:spcBef>
                <a:spcPts val="0"/>
              </a:spcBef>
              <a:spcAft>
                <a:spcPts val="300"/>
              </a:spcAft>
              <a:buNone/>
            </a:pPr>
            <a:r>
              <a:rPr lang="zh-TW" altLang="en-US" sz="1100" dirty="0">
                <a:latin typeface="微軟正黑體" panose="020B0604030504040204" pitchFamily="34" charset="-120"/>
                <a:ea typeface="微軟正黑體" panose="020B0604030504040204" pitchFamily="34" charset="-120"/>
              </a:rPr>
              <a:t>其母公司</a:t>
            </a:r>
            <a:r>
              <a:rPr lang="en-US" altLang="zh-TW" sz="1100" dirty="0">
                <a:latin typeface="微軟正黑體" panose="020B0604030504040204" pitchFamily="34" charset="-120"/>
                <a:ea typeface="微軟正黑體" panose="020B0604030504040204" pitchFamily="34" charset="-120"/>
              </a:rPr>
              <a:t>-</a:t>
            </a:r>
            <a:r>
              <a:rPr lang="zh-TW" altLang="en-US" sz="1100" b="1" dirty="0">
                <a:solidFill>
                  <a:srgbClr val="FF0000"/>
                </a:solidFill>
                <a:latin typeface="微軟正黑體" panose="020B0604030504040204" pitchFamily="34" charset="-120"/>
                <a:ea typeface="微軟正黑體" panose="020B0604030504040204" pitchFamily="34" charset="-120"/>
              </a:rPr>
              <a:t>勞埃德銀行集團</a:t>
            </a:r>
            <a:r>
              <a:rPr lang="zh-TW" altLang="en-US" sz="1100" dirty="0">
                <a:latin typeface="微軟正黑體" panose="020B0604030504040204" pitchFamily="34" charset="-120"/>
                <a:ea typeface="微軟正黑體" panose="020B0604030504040204" pitchFamily="34" charset="-120"/>
              </a:rPr>
              <a:t>總部位於倫敦，為英國領先的金融服務集團，</a:t>
            </a:r>
            <a:r>
              <a:rPr lang="zh-TW" altLang="en-US" sz="1100" b="1" dirty="0">
                <a:solidFill>
                  <a:srgbClr val="FF0000"/>
                </a:solidFill>
                <a:latin typeface="微軟正黑體" panose="020B0604030504040204" pitchFamily="34" charset="-120"/>
                <a:ea typeface="微軟正黑體" panose="020B0604030504040204" pitchFamily="34" charset="-120"/>
              </a:rPr>
              <a:t>按總資產排名位居英國第</a:t>
            </a:r>
            <a:r>
              <a:rPr lang="en-US" altLang="zh-TW" sz="1100" b="1" dirty="0">
                <a:solidFill>
                  <a:srgbClr val="FF0000"/>
                </a:solidFill>
                <a:latin typeface="微軟正黑體" panose="020B0604030504040204" pitchFamily="34" charset="-120"/>
                <a:ea typeface="微軟正黑體" panose="020B0604030504040204" pitchFamily="34" charset="-120"/>
              </a:rPr>
              <a:t>3</a:t>
            </a:r>
            <a:r>
              <a:rPr lang="zh-TW" altLang="en-US" sz="1100" b="1" dirty="0">
                <a:solidFill>
                  <a:srgbClr val="FF0000"/>
                </a:solidFill>
                <a:latin typeface="微軟正黑體" panose="020B0604030504040204" pitchFamily="34" charset="-120"/>
                <a:ea typeface="微軟正黑體" panose="020B0604030504040204" pitchFamily="34" charset="-120"/>
              </a:rPr>
              <a:t>大銀行、綜合排名英國第</a:t>
            </a:r>
            <a:r>
              <a:rPr lang="en-US" altLang="zh-TW" sz="1100" b="1" dirty="0">
                <a:solidFill>
                  <a:srgbClr val="FF0000"/>
                </a:solidFill>
                <a:latin typeface="微軟正黑體" panose="020B0604030504040204" pitchFamily="34" charset="-120"/>
                <a:ea typeface="微軟正黑體" panose="020B0604030504040204" pitchFamily="34" charset="-120"/>
              </a:rPr>
              <a:t>6</a:t>
            </a:r>
            <a:r>
              <a:rPr lang="zh-TW" altLang="en-US" sz="1100" b="1" dirty="0">
                <a:solidFill>
                  <a:srgbClr val="FF0000"/>
                </a:solidFill>
                <a:latin typeface="微軟正黑體" panose="020B0604030504040204" pitchFamily="34" charset="-120"/>
                <a:ea typeface="微軟正黑體" panose="020B0604030504040204" pitchFamily="34" charset="-120"/>
              </a:rPr>
              <a:t>名企業</a:t>
            </a:r>
            <a:r>
              <a:rPr lang="en-US" altLang="zh-TW" sz="1100" b="1" dirty="0">
                <a:solidFill>
                  <a:srgbClr val="FF0000"/>
                </a:solidFill>
                <a:latin typeface="微軟正黑體" panose="020B0604030504040204" pitchFamily="34" charset="-120"/>
                <a:ea typeface="微軟正黑體" panose="020B0604030504040204" pitchFamily="34" charset="-120"/>
              </a:rPr>
              <a:t>(Forbes Global 2000)</a:t>
            </a:r>
            <a:r>
              <a:rPr lang="zh-TW" altLang="en-US" sz="1100" b="1" dirty="0">
                <a:solidFill>
                  <a:srgbClr val="FF0000"/>
                </a:solidFill>
                <a:latin typeface="微軟正黑體" panose="020B0604030504040204" pitchFamily="34" charset="-120"/>
                <a:ea typeface="微軟正黑體" panose="020B0604030504040204" pitchFamily="34" charset="-120"/>
              </a:rPr>
              <a:t>。</a:t>
            </a:r>
            <a:r>
              <a:rPr lang="zh-TW" altLang="en-US" sz="1100" dirty="0">
                <a:latin typeface="微軟正黑體" panose="020B0604030504040204" pitchFamily="34" charset="-120"/>
                <a:ea typeface="微軟正黑體" panose="020B0604030504040204" pitchFamily="34" charset="-120"/>
              </a:rPr>
              <a:t>服務通過多個知名品牌提供，包含駿懋銀行</a:t>
            </a:r>
            <a:r>
              <a:rPr lang="en-US" altLang="zh-TW" sz="1100" dirty="0">
                <a:latin typeface="微軟正黑體" panose="020B0604030504040204" pitchFamily="34" charset="-120"/>
                <a:ea typeface="微軟正黑體" panose="020B0604030504040204" pitchFamily="34" charset="-120"/>
              </a:rPr>
              <a:t>(Lloyds Bank)</a:t>
            </a:r>
            <a:r>
              <a:rPr lang="zh-TW" altLang="en-US" sz="1100" dirty="0">
                <a:latin typeface="微軟正黑體" panose="020B0604030504040204" pitchFamily="34" charset="-120"/>
                <a:ea typeface="微軟正黑體" panose="020B0604030504040204" pitchFamily="34" charset="-120"/>
              </a:rPr>
              <a:t>、蘇格蘭銀行</a:t>
            </a:r>
            <a:r>
              <a:rPr lang="en-US" altLang="zh-TW" sz="1100" dirty="0">
                <a:latin typeface="微軟正黑體" panose="020B0604030504040204" pitchFamily="34" charset="-120"/>
                <a:ea typeface="微軟正黑體" panose="020B0604030504040204" pitchFamily="34" charset="-120"/>
              </a:rPr>
              <a:t>(Bank of Scotland)</a:t>
            </a:r>
            <a:r>
              <a:rPr lang="zh-TW" altLang="en-US" sz="1100" dirty="0">
                <a:latin typeface="微軟正黑體" panose="020B0604030504040204" pitchFamily="34" charset="-120"/>
                <a:ea typeface="微軟正黑體" panose="020B0604030504040204" pitchFamily="34" charset="-120"/>
              </a:rPr>
              <a:t>、哈利法克斯</a:t>
            </a:r>
            <a:r>
              <a:rPr lang="en-US" altLang="zh-TW" sz="1100" dirty="0">
                <a:latin typeface="微軟正黑體" panose="020B0604030504040204" pitchFamily="34" charset="-120"/>
                <a:ea typeface="微軟正黑體" panose="020B0604030504040204" pitchFamily="34" charset="-120"/>
              </a:rPr>
              <a:t>(Halifax</a:t>
            </a:r>
            <a:r>
              <a:rPr lang="zh-TW" altLang="en-US" sz="1100" dirty="0">
                <a:latin typeface="微軟正黑體" panose="020B0604030504040204" pitchFamily="34" charset="-120"/>
                <a:ea typeface="微軟正黑體" panose="020B0604030504040204" pitchFamily="34" charset="-120"/>
              </a:rPr>
              <a:t>；英國最大的抵押貸款銀行</a:t>
            </a:r>
            <a:r>
              <a:rPr lang="en-US" altLang="zh-TW" sz="1100" dirty="0">
                <a:latin typeface="微軟正黑體" panose="020B0604030504040204" pitchFamily="34" charset="-120"/>
                <a:ea typeface="微軟正黑體" panose="020B0604030504040204" pitchFamily="34" charset="-120"/>
              </a:rPr>
              <a:t>)</a:t>
            </a:r>
            <a:r>
              <a:rPr lang="zh-TW" altLang="en-US" sz="1100" dirty="0">
                <a:latin typeface="微軟正黑體" panose="020B0604030504040204" pitchFamily="34" charset="-120"/>
                <a:ea typeface="微軟正黑體" panose="020B0604030504040204" pitchFamily="34" charset="-120"/>
              </a:rPr>
              <a:t>，以及蘇格蘭遺孀</a:t>
            </a:r>
            <a:r>
              <a:rPr lang="en-US" altLang="zh-TW" sz="1100" dirty="0">
                <a:latin typeface="微軟正黑體" panose="020B0604030504040204" pitchFamily="34" charset="-120"/>
                <a:ea typeface="微軟正黑體" panose="020B0604030504040204" pitchFamily="34" charset="-120"/>
              </a:rPr>
              <a:t>(Scottish Widows</a:t>
            </a:r>
            <a:r>
              <a:rPr lang="zh-TW" altLang="en-US" sz="1100" dirty="0">
                <a:latin typeface="微軟正黑體" panose="020B0604030504040204" pitchFamily="34" charset="-120"/>
                <a:ea typeface="微軟正黑體" panose="020B0604030504040204" pitchFamily="34" charset="-120"/>
              </a:rPr>
              <a:t>；英國前三大的養老金供應商</a:t>
            </a:r>
            <a:r>
              <a:rPr lang="en-US" altLang="zh-TW" sz="1100" dirty="0">
                <a:latin typeface="微軟正黑體" panose="020B0604030504040204" pitchFamily="34" charset="-120"/>
                <a:ea typeface="微軟正黑體" panose="020B0604030504040204" pitchFamily="34" charset="-120"/>
              </a:rPr>
              <a:t>)</a:t>
            </a:r>
            <a:r>
              <a:rPr lang="zh-TW" altLang="en-US" sz="1100" dirty="0">
                <a:latin typeface="微軟正黑體" panose="020B0604030504040204" pitchFamily="34" charset="-120"/>
                <a:ea typeface="微軟正黑體" panose="020B0604030504040204" pitchFamily="34" charset="-120"/>
              </a:rPr>
              <a:t>，並通過多種分銷渠道，包括英國最大的分行網絡和數位銀行，提供零售、商業銀行、保險等廣泛的銀行及金融服務，專注於個人及商業客戶。該集團在倫敦及紐約證券交易所皆有掛牌上市，且為富時</a:t>
            </a:r>
            <a:r>
              <a:rPr lang="en-US" altLang="zh-TW" sz="1100" dirty="0">
                <a:latin typeface="微軟正黑體" panose="020B0604030504040204" pitchFamily="34" charset="-120"/>
                <a:ea typeface="微軟正黑體" panose="020B0604030504040204" pitchFamily="34" charset="-120"/>
              </a:rPr>
              <a:t>100</a:t>
            </a:r>
            <a:r>
              <a:rPr lang="zh-TW" altLang="en-US" sz="1100" dirty="0">
                <a:latin typeface="微軟正黑體" panose="020B0604030504040204" pitchFamily="34" charset="-120"/>
                <a:ea typeface="微軟正黑體" panose="020B0604030504040204" pitchFamily="34" charset="-120"/>
              </a:rPr>
              <a:t>指數成份股之一。</a:t>
            </a:r>
          </a:p>
          <a:p>
            <a:pPr marL="0" indent="0" algn="just">
              <a:lnSpc>
                <a:spcPts val="1600"/>
              </a:lnSpc>
              <a:spcBef>
                <a:spcPts val="0"/>
              </a:spcBef>
              <a:spcAft>
                <a:spcPts val="300"/>
              </a:spcAft>
              <a:buNone/>
            </a:pPr>
            <a:r>
              <a:rPr lang="zh-TW" altLang="en-US" sz="1100" b="1" dirty="0">
                <a:latin typeface="微軟正黑體" panose="020B0604030504040204" pitchFamily="34" charset="-120"/>
                <a:ea typeface="微軟正黑體" panose="020B0604030504040204" pitchFamily="34" charset="-120"/>
              </a:rPr>
              <a:t>特色</a:t>
            </a:r>
            <a:r>
              <a:rPr lang="en-US" altLang="zh-TW" sz="1100" b="1" dirty="0">
                <a:latin typeface="微軟正黑體" panose="020B0604030504040204" pitchFamily="34" charset="-120"/>
                <a:ea typeface="微軟正黑體" panose="020B0604030504040204" pitchFamily="34" charset="-120"/>
              </a:rPr>
              <a:t>/</a:t>
            </a:r>
            <a:r>
              <a:rPr lang="zh-TW" altLang="en-US" sz="1100" b="1" dirty="0">
                <a:latin typeface="微軟正黑體" panose="020B0604030504040204" pitchFamily="34" charset="-120"/>
                <a:ea typeface="微軟正黑體" panose="020B0604030504040204" pitchFamily="34" charset="-120"/>
              </a:rPr>
              <a:t>亮點</a:t>
            </a:r>
            <a:endParaRPr lang="en-US" altLang="zh-TW" sz="1100" b="1" dirty="0">
              <a:latin typeface="微軟正黑體" panose="020B0604030504040204" pitchFamily="34" charset="-120"/>
              <a:ea typeface="微軟正黑體" panose="020B0604030504040204" pitchFamily="34" charset="-120"/>
            </a:endParaRPr>
          </a:p>
          <a:p>
            <a:pPr algn="just">
              <a:lnSpc>
                <a:spcPts val="1600"/>
              </a:lnSpc>
              <a:spcBef>
                <a:spcPts val="0"/>
              </a:spcBef>
              <a:spcAft>
                <a:spcPts val="300"/>
              </a:spcAft>
              <a:buFont typeface="Wingdings" panose="05000000000000000000" pitchFamily="2" charset="2"/>
              <a:buChar char="ü"/>
            </a:pPr>
            <a:r>
              <a:rPr lang="zh-TW" altLang="en-US" sz="1100" dirty="0">
                <a:latin typeface="微軟正黑體" panose="020B0604030504040204" pitchFamily="34" charset="-120"/>
                <a:ea typeface="微軟正黑體" panose="020B0604030504040204" pitchFamily="34" charset="-120"/>
              </a:rPr>
              <a:t>勞埃德銀行集團在英格蘭和威爾士設有眾多分支機搆，被公認為英國「四大銀行」</a:t>
            </a:r>
            <a:r>
              <a:rPr lang="en-US" altLang="zh-TW" sz="1100" dirty="0">
                <a:latin typeface="微軟正黑體" panose="020B0604030504040204" pitchFamily="34" charset="-120"/>
                <a:ea typeface="微軟正黑體" panose="020B0604030504040204" pitchFamily="34" charset="-120"/>
              </a:rPr>
              <a:t> </a:t>
            </a:r>
            <a:r>
              <a:rPr lang="zh-TW" altLang="en-US" sz="1100" dirty="0">
                <a:latin typeface="微軟正黑體" panose="020B0604030504040204" pitchFamily="34" charset="-120"/>
                <a:ea typeface="微軟正黑體" panose="020B0604030504040204" pitchFamily="34" charset="-120"/>
              </a:rPr>
              <a:t>之一 </a:t>
            </a:r>
            <a:r>
              <a:rPr lang="zh-TW" altLang="en-US" sz="1100" b="1" dirty="0">
                <a:latin typeface="微軟正黑體" panose="020B0604030504040204" pitchFamily="34" charset="-120"/>
                <a:ea typeface="微軟正黑體" panose="020B0604030504040204" pitchFamily="34" charset="-120"/>
              </a:rPr>
              <a:t>。</a:t>
            </a:r>
            <a:endParaRPr lang="en-US" altLang="zh-TW" sz="1100" b="1" dirty="0">
              <a:latin typeface="微軟正黑體" panose="020B0604030504040204" pitchFamily="34" charset="-120"/>
              <a:ea typeface="微軟正黑體" panose="020B0604030504040204" pitchFamily="34" charset="-120"/>
            </a:endParaRPr>
          </a:p>
          <a:p>
            <a:pPr algn="just">
              <a:lnSpc>
                <a:spcPts val="1600"/>
              </a:lnSpc>
              <a:spcBef>
                <a:spcPts val="0"/>
              </a:spcBef>
              <a:spcAft>
                <a:spcPts val="300"/>
              </a:spcAft>
              <a:buFont typeface="Wingdings" panose="05000000000000000000" pitchFamily="2" charset="2"/>
              <a:buChar char="ü"/>
            </a:pPr>
            <a:r>
              <a:rPr lang="zh-TW" altLang="en-US" sz="1100" b="1" dirty="0">
                <a:solidFill>
                  <a:srgbClr val="FF0000"/>
                </a:solidFill>
                <a:latin typeface="微軟正黑體" panose="020B0604030504040204" pitchFamily="34" charset="-120"/>
                <a:ea typeface="微軟正黑體" panose="020B0604030504040204" pitchFamily="34" charset="-120"/>
              </a:rPr>
              <a:t>勞埃德集團於</a:t>
            </a:r>
            <a:r>
              <a:rPr lang="en-US" altLang="zh-TW" sz="1100" b="1" dirty="0">
                <a:solidFill>
                  <a:srgbClr val="FF0000"/>
                </a:solidFill>
                <a:latin typeface="微軟正黑體" panose="020B0604030504040204" pitchFamily="34" charset="-120"/>
                <a:ea typeface="微軟正黑體" panose="020B0604030504040204" pitchFamily="34" charset="-120"/>
              </a:rPr>
              <a:t>2025</a:t>
            </a:r>
            <a:r>
              <a:rPr lang="zh-TW" altLang="en-US" sz="1100" b="1" dirty="0">
                <a:solidFill>
                  <a:srgbClr val="FF0000"/>
                </a:solidFill>
                <a:latin typeface="微軟正黑體" panose="020B0604030504040204" pitchFamily="34" charset="-120"/>
                <a:ea typeface="微軟正黑體" panose="020B0604030504040204" pitchFamily="34" charset="-120"/>
              </a:rPr>
              <a:t>推出了首個大規模生成式人工智慧產品，在</a:t>
            </a:r>
            <a:r>
              <a:rPr lang="en-US" altLang="zh-TW" sz="1100" b="1" dirty="0">
                <a:solidFill>
                  <a:srgbClr val="FF0000"/>
                </a:solidFill>
                <a:latin typeface="微軟正黑體" panose="020B0604030504040204" pitchFamily="34" charset="-120"/>
                <a:ea typeface="微軟正黑體" panose="020B0604030504040204" pitchFamily="34" charset="-120"/>
              </a:rPr>
              <a:t>Evident AI</a:t>
            </a:r>
            <a:r>
              <a:rPr lang="zh-TW" altLang="en-US" sz="1100" b="1" dirty="0">
                <a:solidFill>
                  <a:srgbClr val="FF0000"/>
                </a:solidFill>
                <a:latin typeface="微軟正黑體" panose="020B0604030504040204" pitchFamily="34" charset="-120"/>
                <a:ea typeface="微軟正黑體" panose="020B0604030504040204" pitchFamily="34" charset="-120"/>
              </a:rPr>
              <a:t> </a:t>
            </a:r>
            <a:r>
              <a:rPr lang="en-US" altLang="zh-TW" sz="1100" b="1" dirty="0">
                <a:solidFill>
                  <a:srgbClr val="FF0000"/>
                </a:solidFill>
                <a:latin typeface="微軟正黑體" panose="020B0604030504040204" pitchFamily="34" charset="-120"/>
                <a:ea typeface="微軟正黑體" panose="020B0604030504040204" pitchFamily="34" charset="-120"/>
              </a:rPr>
              <a:t>2025</a:t>
            </a:r>
            <a:r>
              <a:rPr lang="zh-TW" altLang="en-US" sz="1100" b="1" dirty="0">
                <a:solidFill>
                  <a:srgbClr val="FF0000"/>
                </a:solidFill>
                <a:latin typeface="微軟正黑體" panose="020B0604030504040204" pitchFamily="34" charset="-120"/>
                <a:ea typeface="微軟正黑體" panose="020B0604030504040204" pitchFamily="34" charset="-120"/>
              </a:rPr>
              <a:t>全球指數中總排名中上升</a:t>
            </a:r>
            <a:r>
              <a:rPr lang="en-US" altLang="zh-TW" sz="1100" b="1" dirty="0">
                <a:solidFill>
                  <a:srgbClr val="FF0000"/>
                </a:solidFill>
                <a:latin typeface="微軟正黑體" panose="020B0604030504040204" pitchFamily="34" charset="-120"/>
                <a:ea typeface="微軟正黑體" panose="020B0604030504040204" pitchFamily="34" charset="-120"/>
              </a:rPr>
              <a:t>12</a:t>
            </a:r>
            <a:r>
              <a:rPr lang="zh-TW" altLang="en-US" sz="1100" b="1" dirty="0">
                <a:solidFill>
                  <a:srgbClr val="FF0000"/>
                </a:solidFill>
                <a:latin typeface="微軟正黑體" panose="020B0604030504040204" pitchFamily="34" charset="-120"/>
                <a:ea typeface="微軟正黑體" panose="020B0604030504040204" pitchFamily="34" charset="-120"/>
              </a:rPr>
              <a:t>位至第</a:t>
            </a:r>
            <a:r>
              <a:rPr lang="en-US" altLang="zh-TW" sz="1100" b="1" dirty="0">
                <a:solidFill>
                  <a:srgbClr val="FF0000"/>
                </a:solidFill>
                <a:latin typeface="微軟正黑體" panose="020B0604030504040204" pitchFamily="34" charset="-120"/>
                <a:ea typeface="微軟正黑體" panose="020B0604030504040204" pitchFamily="34" charset="-120"/>
              </a:rPr>
              <a:t>15</a:t>
            </a:r>
            <a:r>
              <a:rPr lang="zh-TW" altLang="en-US" sz="1100" b="1" dirty="0">
                <a:solidFill>
                  <a:srgbClr val="FF0000"/>
                </a:solidFill>
                <a:latin typeface="微軟正黑體" panose="020B0604030504040204" pitchFamily="34" charset="-120"/>
                <a:ea typeface="微軟正黑體" panose="020B0604030504040204" pitchFamily="34" charset="-120"/>
              </a:rPr>
              <a:t>位，成為英國第二佳銀行。</a:t>
            </a:r>
          </a:p>
        </p:txBody>
      </p:sp>
      <p:sp>
        <p:nvSpPr>
          <p:cNvPr id="26" name="文字方塊 25"/>
          <p:cNvSpPr txBox="1"/>
          <p:nvPr/>
        </p:nvSpPr>
        <p:spPr>
          <a:xfrm>
            <a:off x="6743823" y="2932001"/>
            <a:ext cx="2288018" cy="646331"/>
          </a:xfrm>
          <a:prstGeom prst="rect">
            <a:avLst/>
          </a:prstGeom>
          <a:noFill/>
        </p:spPr>
        <p:txBody>
          <a:bodyPr wrap="square" rtlCol="0">
            <a:spAutoFit/>
          </a:bodyPr>
          <a:lstStyle>
            <a:defPPr>
              <a:defRPr lang="zh-TW"/>
            </a:defPPr>
            <a:lvl1pPr algn="ctr">
              <a:defRPr sz="4000" b="1">
                <a:solidFill>
                  <a:srgbClr val="9D0101"/>
                </a:solidFill>
                <a:effectLst>
                  <a:outerShdw blurRad="38100" dist="38100" dir="2700000" algn="tl">
                    <a:srgbClr val="000000">
                      <a:alpha val="43137"/>
                    </a:srgbClr>
                  </a:outerShdw>
                </a:effectLst>
              </a:defRPr>
            </a:lvl1pPr>
          </a:lstStyle>
          <a:p>
            <a:pPr lvl="0">
              <a:defRPr/>
            </a:pPr>
            <a:r>
              <a:rPr lang="en-US" altLang="zh-TW" sz="3600" dirty="0">
                <a:latin typeface="微軟正黑體" panose="020B0604030504040204" pitchFamily="34" charset="-120"/>
                <a:ea typeface="微軟正黑體" panose="020B0604030504040204" pitchFamily="34" charset="-120"/>
              </a:rPr>
              <a:t>#3</a:t>
            </a:r>
          </a:p>
        </p:txBody>
      </p:sp>
      <p:sp>
        <p:nvSpPr>
          <p:cNvPr id="27" name="矩形 26"/>
          <p:cNvSpPr/>
          <p:nvPr/>
        </p:nvSpPr>
        <p:spPr>
          <a:xfrm>
            <a:off x="6732241" y="3549496"/>
            <a:ext cx="2311182" cy="477054"/>
          </a:xfrm>
          <a:prstGeom prst="rect">
            <a:avLst/>
          </a:prstGeom>
        </p:spPr>
        <p:txBody>
          <a:bodyPr wrap="square">
            <a:spAutoFit/>
          </a:bodyPr>
          <a:lstStyle/>
          <a:p>
            <a:pPr algn="ctr">
              <a:defRPr/>
            </a:pPr>
            <a:r>
              <a:rPr lang="zh-TW" altLang="en-US" sz="1400" b="1" dirty="0">
                <a:solidFill>
                  <a:schemeClr val="tx1">
                    <a:lumMod val="85000"/>
                    <a:lumOff val="15000"/>
                  </a:schemeClr>
                </a:solidFill>
                <a:latin typeface="微軟正黑體" panose="020B0604030504040204" pitchFamily="34" charset="-120"/>
                <a:ea typeface="微軟正黑體" panose="020B0604030504040204" pitchFamily="34" charset="-120"/>
              </a:rPr>
              <a:t>英國銀行客戶數排名</a:t>
            </a:r>
            <a:endParaRPr lang="en-US" altLang="zh-TW" sz="1400" b="1" dirty="0">
              <a:solidFill>
                <a:schemeClr val="tx1">
                  <a:lumMod val="85000"/>
                  <a:lumOff val="15000"/>
                </a:schemeClr>
              </a:solidFill>
              <a:latin typeface="微軟正黑體" panose="020B0604030504040204" pitchFamily="34" charset="-120"/>
              <a:ea typeface="微軟正黑體" panose="020B0604030504040204" pitchFamily="34" charset="-120"/>
            </a:endParaRPr>
          </a:p>
          <a:p>
            <a:pPr lvl="0" algn="ctr">
              <a:defRPr/>
            </a:pPr>
            <a:r>
              <a:rPr lang="en-US" altLang="zh-TW" sz="1100" dirty="0">
                <a:solidFill>
                  <a:schemeClr val="tx1">
                    <a:lumMod val="50000"/>
                    <a:lumOff val="50000"/>
                  </a:schemeClr>
                </a:solidFill>
                <a:latin typeface="微軟正黑體" panose="020B0604030504040204" pitchFamily="34" charset="-120"/>
                <a:ea typeface="微軟正黑體" panose="020B0604030504040204" pitchFamily="34" charset="-120"/>
              </a:rPr>
              <a:t>(Statista 2025)</a:t>
            </a:r>
            <a:endParaRPr lang="zh-TW" altLang="en-US" sz="1100" dirty="0">
              <a:solidFill>
                <a:schemeClr val="tx1">
                  <a:lumMod val="50000"/>
                  <a:lumOff val="50000"/>
                </a:schemeClr>
              </a:solidFill>
              <a:latin typeface="微軟正黑體" panose="020B0604030504040204" pitchFamily="34" charset="-120"/>
              <a:ea typeface="微軟正黑體" panose="020B0604030504040204" pitchFamily="34" charset="-120"/>
            </a:endParaRPr>
          </a:p>
        </p:txBody>
      </p:sp>
      <p:sp>
        <p:nvSpPr>
          <p:cNvPr id="31" name="矩形 30"/>
          <p:cNvSpPr/>
          <p:nvPr/>
        </p:nvSpPr>
        <p:spPr>
          <a:xfrm>
            <a:off x="6732240" y="5224541"/>
            <a:ext cx="2311184" cy="477054"/>
          </a:xfrm>
          <a:prstGeom prst="rect">
            <a:avLst/>
          </a:prstGeom>
        </p:spPr>
        <p:txBody>
          <a:bodyPr wrap="square">
            <a:spAutoFit/>
          </a:bodyPr>
          <a:lstStyle/>
          <a:p>
            <a:pPr lvl="0" algn="ctr">
              <a:defRPr/>
            </a:pPr>
            <a:r>
              <a:rPr lang="zh-TW" altLang="en-US" sz="1400" b="1" dirty="0">
                <a:solidFill>
                  <a:schemeClr val="tx1">
                    <a:lumMod val="85000"/>
                    <a:lumOff val="15000"/>
                  </a:schemeClr>
                </a:solidFill>
                <a:latin typeface="微軟正黑體" panose="020B0604030504040204" pitchFamily="34" charset="-120"/>
                <a:ea typeface="微軟正黑體" panose="020B0604030504040204" pitchFamily="34" charset="-120"/>
              </a:rPr>
              <a:t>英國企業排名</a:t>
            </a:r>
            <a:endParaRPr lang="en-US" altLang="zh-TW" sz="1400" b="1" dirty="0">
              <a:solidFill>
                <a:schemeClr val="tx1">
                  <a:lumMod val="85000"/>
                  <a:lumOff val="15000"/>
                </a:schemeClr>
              </a:solidFill>
              <a:latin typeface="微軟正黑體" panose="020B0604030504040204" pitchFamily="34" charset="-120"/>
              <a:ea typeface="微軟正黑體" panose="020B0604030504040204" pitchFamily="34" charset="-120"/>
            </a:endParaRPr>
          </a:p>
          <a:p>
            <a:pPr algn="ctr">
              <a:defRPr/>
            </a:pPr>
            <a:r>
              <a:rPr lang="en-US" altLang="zh-TW" sz="1100" dirty="0">
                <a:solidFill>
                  <a:schemeClr val="tx1">
                    <a:lumMod val="50000"/>
                    <a:lumOff val="50000"/>
                  </a:schemeClr>
                </a:solidFill>
                <a:latin typeface="微軟正黑體" panose="020B0604030504040204" pitchFamily="34" charset="-120"/>
                <a:ea typeface="微軟正黑體" panose="020B0604030504040204" pitchFamily="34" charset="-120"/>
              </a:rPr>
              <a:t>(Forbes Global 2000 2025)</a:t>
            </a:r>
          </a:p>
        </p:txBody>
      </p:sp>
      <p:sp>
        <p:nvSpPr>
          <p:cNvPr id="33" name="文字方塊 32"/>
          <p:cNvSpPr txBox="1"/>
          <p:nvPr/>
        </p:nvSpPr>
        <p:spPr>
          <a:xfrm>
            <a:off x="6736018" y="4611937"/>
            <a:ext cx="2303629" cy="646331"/>
          </a:xfrm>
          <a:prstGeom prst="rect">
            <a:avLst/>
          </a:prstGeom>
          <a:noFill/>
        </p:spPr>
        <p:txBody>
          <a:bodyPr wrap="square" rtlCol="0">
            <a:spAutoFit/>
          </a:bodyPr>
          <a:lstStyle>
            <a:defPPr>
              <a:defRPr lang="en-US"/>
            </a:defPPr>
            <a:lvl1pPr algn="ctr">
              <a:defRPr sz="3692" b="1">
                <a:effectLst>
                  <a:outerShdw blurRad="38100" dist="38100" dir="2700000" algn="tl">
                    <a:srgbClr val="000000">
                      <a:alpha val="43137"/>
                    </a:srgbClr>
                  </a:outerShdw>
                </a:effectLst>
                <a:latin typeface="jf金萱那提2.0 八分糖" panose="020B0900000000000000" pitchFamily="34" charset="-120"/>
                <a:ea typeface="jf金萱那提2.0 八分糖" panose="020B0900000000000000" pitchFamily="34" charset="-120"/>
              </a:defRPr>
            </a:lvl1pPr>
          </a:lstStyle>
          <a:p>
            <a:r>
              <a:rPr lang="en-US" altLang="zh-TW" sz="3600" dirty="0">
                <a:solidFill>
                  <a:srgbClr val="9D0101"/>
                </a:solidFill>
                <a:latin typeface="微軟正黑體" panose="020B0604030504040204" pitchFamily="34" charset="-120"/>
                <a:ea typeface="微軟正黑體" panose="020B0604030504040204" pitchFamily="34" charset="-120"/>
              </a:rPr>
              <a:t>#6</a:t>
            </a:r>
          </a:p>
        </p:txBody>
      </p:sp>
      <p:sp>
        <p:nvSpPr>
          <p:cNvPr id="35" name="矩形 34"/>
          <p:cNvSpPr/>
          <p:nvPr/>
        </p:nvSpPr>
        <p:spPr>
          <a:xfrm>
            <a:off x="6732240" y="1918573"/>
            <a:ext cx="2311184" cy="646331"/>
          </a:xfrm>
          <a:prstGeom prst="rect">
            <a:avLst/>
          </a:prstGeom>
        </p:spPr>
        <p:txBody>
          <a:bodyPr wrap="square">
            <a:spAutoFit/>
          </a:bodyPr>
          <a:lstStyle/>
          <a:p>
            <a:pPr algn="ctr">
              <a:defRPr/>
            </a:pPr>
            <a:r>
              <a:rPr lang="zh-TW" altLang="en-US" sz="1400" b="1" dirty="0">
                <a:solidFill>
                  <a:schemeClr val="tx1">
                    <a:lumMod val="85000"/>
                    <a:lumOff val="15000"/>
                  </a:schemeClr>
                </a:solidFill>
                <a:latin typeface="微軟正黑體" panose="020B0604030504040204" pitchFamily="34" charset="-120"/>
                <a:ea typeface="微軟正黑體" panose="020B0604030504040204" pitchFamily="34" charset="-120"/>
              </a:rPr>
              <a:t>英國銀行總資產排名</a:t>
            </a:r>
            <a:endParaRPr lang="en-US" altLang="zh-TW" sz="1400" b="1" dirty="0">
              <a:solidFill>
                <a:schemeClr val="tx1">
                  <a:lumMod val="85000"/>
                  <a:lumOff val="15000"/>
                </a:schemeClr>
              </a:solidFill>
              <a:latin typeface="微軟正黑體" panose="020B0604030504040204" pitchFamily="34" charset="-120"/>
              <a:ea typeface="微軟正黑體" panose="020B0604030504040204" pitchFamily="34" charset="-120"/>
            </a:endParaRPr>
          </a:p>
          <a:p>
            <a:pPr lvl="0" algn="ctr">
              <a:defRPr/>
            </a:pPr>
            <a:r>
              <a:rPr lang="en-US" altLang="zh-TW" sz="1100" dirty="0">
                <a:solidFill>
                  <a:schemeClr val="tx1">
                    <a:lumMod val="50000"/>
                    <a:lumOff val="50000"/>
                  </a:schemeClr>
                </a:solidFill>
                <a:latin typeface="微軟正黑體" panose="020B0604030504040204" pitchFamily="34" charset="-120"/>
                <a:ea typeface="微軟正黑體" panose="020B0604030504040204" pitchFamily="34" charset="-120"/>
              </a:rPr>
              <a:t>(</a:t>
            </a:r>
            <a:r>
              <a:rPr lang="zh-TW" altLang="en-US" sz="1100" dirty="0">
                <a:solidFill>
                  <a:schemeClr val="tx1">
                    <a:lumMod val="50000"/>
                    <a:lumOff val="50000"/>
                  </a:schemeClr>
                </a:solidFill>
                <a:latin typeface="微軟正黑體" panose="020B0604030504040204" pitchFamily="34" charset="-120"/>
                <a:ea typeface="微軟正黑體" panose="020B0604030504040204" pitchFamily="34" charset="-120"/>
              </a:rPr>
              <a:t>歐洲銀行總資產排名第</a:t>
            </a:r>
            <a:r>
              <a:rPr lang="en-US" altLang="zh-TW" sz="1100" dirty="0">
                <a:solidFill>
                  <a:schemeClr val="tx1">
                    <a:lumMod val="50000"/>
                    <a:lumOff val="50000"/>
                  </a:schemeClr>
                </a:solidFill>
                <a:latin typeface="微軟正黑體" panose="020B0604030504040204" pitchFamily="34" charset="-120"/>
                <a:ea typeface="微軟正黑體" panose="020B0604030504040204" pitchFamily="34" charset="-120"/>
              </a:rPr>
              <a:t>11</a:t>
            </a:r>
            <a:r>
              <a:rPr lang="zh-TW" altLang="en-US" sz="1100" dirty="0">
                <a:solidFill>
                  <a:schemeClr val="tx1">
                    <a:lumMod val="50000"/>
                    <a:lumOff val="50000"/>
                  </a:schemeClr>
                </a:solidFill>
                <a:latin typeface="微軟正黑體" panose="020B0604030504040204" pitchFamily="34" charset="-120"/>
                <a:ea typeface="微軟正黑體" panose="020B0604030504040204" pitchFamily="34" charset="-120"/>
              </a:rPr>
              <a:t>位</a:t>
            </a:r>
            <a:r>
              <a:rPr lang="en-US" altLang="zh-TW" sz="1100" dirty="0">
                <a:solidFill>
                  <a:schemeClr val="tx1">
                    <a:lumMod val="50000"/>
                    <a:lumOff val="50000"/>
                  </a:schemeClr>
                </a:solidFill>
                <a:latin typeface="微軟正黑體" panose="020B0604030504040204" pitchFamily="34" charset="-120"/>
                <a:ea typeface="微軟正黑體" panose="020B0604030504040204" pitchFamily="34" charset="-120"/>
              </a:rPr>
              <a:t>)</a:t>
            </a:r>
          </a:p>
          <a:p>
            <a:pPr lvl="0" algn="ctr">
              <a:defRPr/>
            </a:pPr>
            <a:r>
              <a:rPr lang="en-US" altLang="zh-TW" sz="1100" dirty="0">
                <a:solidFill>
                  <a:schemeClr val="tx1">
                    <a:lumMod val="50000"/>
                    <a:lumOff val="50000"/>
                  </a:schemeClr>
                </a:solidFill>
                <a:latin typeface="微軟正黑體" panose="020B0604030504040204" pitchFamily="34" charset="-120"/>
                <a:ea typeface="微軟正黑體" panose="020B0604030504040204" pitchFamily="34" charset="-120"/>
              </a:rPr>
              <a:t>(S&amp;P Global 2025)</a:t>
            </a:r>
          </a:p>
        </p:txBody>
      </p:sp>
      <p:sp>
        <p:nvSpPr>
          <p:cNvPr id="45" name="文字方塊 44"/>
          <p:cNvSpPr txBox="1"/>
          <p:nvPr/>
        </p:nvSpPr>
        <p:spPr>
          <a:xfrm>
            <a:off x="6736018" y="1306292"/>
            <a:ext cx="2303629" cy="646331"/>
          </a:xfrm>
          <a:prstGeom prst="rect">
            <a:avLst/>
          </a:prstGeom>
          <a:noFill/>
        </p:spPr>
        <p:txBody>
          <a:bodyPr wrap="square" rtlCol="0">
            <a:spAutoFit/>
          </a:bodyPr>
          <a:lstStyle>
            <a:defPPr>
              <a:defRPr lang="en-US"/>
            </a:defPPr>
            <a:lvl1pPr algn="ctr">
              <a:defRPr sz="3692" b="1">
                <a:effectLst>
                  <a:outerShdw blurRad="38100" dist="38100" dir="2700000" algn="tl">
                    <a:srgbClr val="000000">
                      <a:alpha val="43137"/>
                    </a:srgbClr>
                  </a:outerShdw>
                </a:effectLst>
                <a:latin typeface="jf金萱那提2.0 八分糖" panose="020B0900000000000000" pitchFamily="34" charset="-120"/>
                <a:ea typeface="jf金萱那提2.0 八分糖" panose="020B0900000000000000" pitchFamily="34" charset="-120"/>
              </a:defRPr>
            </a:lvl1pPr>
          </a:lstStyle>
          <a:p>
            <a:r>
              <a:rPr lang="en-US" altLang="zh-TW" sz="3600" dirty="0">
                <a:solidFill>
                  <a:srgbClr val="9D0101"/>
                </a:solidFill>
                <a:latin typeface="微軟正黑體" panose="020B0604030504040204" pitchFamily="34" charset="-120"/>
                <a:ea typeface="微軟正黑體" panose="020B0604030504040204" pitchFamily="34" charset="-120"/>
              </a:rPr>
              <a:t>#3</a:t>
            </a:r>
          </a:p>
        </p:txBody>
      </p:sp>
      <p:cxnSp>
        <p:nvCxnSpPr>
          <p:cNvPr id="51" name="直線接點 50">
            <a:extLst>
              <a:ext uri="{FF2B5EF4-FFF2-40B4-BE49-F238E27FC236}">
                <a16:creationId xmlns:a16="http://schemas.microsoft.com/office/drawing/2014/main" id="{51732942-D62E-4311-9728-AB3543C25425}"/>
              </a:ext>
            </a:extLst>
          </p:cNvPr>
          <p:cNvCxnSpPr/>
          <p:nvPr/>
        </p:nvCxnSpPr>
        <p:spPr>
          <a:xfrm>
            <a:off x="3491474" y="4980529"/>
            <a:ext cx="0" cy="1008112"/>
          </a:xfrm>
          <a:prstGeom prst="line">
            <a:avLst/>
          </a:prstGeom>
          <a:ln>
            <a:solidFill>
              <a:srgbClr val="E4E4E4"/>
            </a:solidFill>
          </a:ln>
        </p:spPr>
        <p:style>
          <a:lnRef idx="1">
            <a:schemeClr val="accent3"/>
          </a:lnRef>
          <a:fillRef idx="0">
            <a:schemeClr val="accent3"/>
          </a:fillRef>
          <a:effectRef idx="0">
            <a:schemeClr val="accent3"/>
          </a:effectRef>
          <a:fontRef idx="minor">
            <a:schemeClr val="tx1"/>
          </a:fontRef>
        </p:style>
      </p:cxnSp>
      <p:sp>
        <p:nvSpPr>
          <p:cNvPr id="52" name="文字方塊 51">
            <a:extLst>
              <a:ext uri="{FF2B5EF4-FFF2-40B4-BE49-F238E27FC236}">
                <a16:creationId xmlns:a16="http://schemas.microsoft.com/office/drawing/2014/main" id="{5B89675B-733B-43D8-8527-B18090A3BF68}"/>
              </a:ext>
            </a:extLst>
          </p:cNvPr>
          <p:cNvSpPr txBox="1"/>
          <p:nvPr/>
        </p:nvSpPr>
        <p:spPr>
          <a:xfrm>
            <a:off x="340209" y="4658103"/>
            <a:ext cx="1505474" cy="276999"/>
          </a:xfrm>
          <a:prstGeom prst="rect">
            <a:avLst/>
          </a:prstGeom>
          <a:noFill/>
        </p:spPr>
        <p:txBody>
          <a:bodyPr wrap="square">
            <a:spAutoFit/>
          </a:bodyPr>
          <a:lstStyle/>
          <a:p>
            <a:r>
              <a:rPr lang="zh-TW" altLang="en-US" sz="1200" b="1" dirty="0">
                <a:latin typeface="微軟正黑體" panose="020B0604030504040204" pitchFamily="34" charset="-120"/>
                <a:ea typeface="微軟正黑體" panose="020B0604030504040204" pitchFamily="34" charset="-120"/>
              </a:rPr>
              <a:t>業務結構</a:t>
            </a:r>
            <a:endParaRPr lang="zh-TW" altLang="en-US" sz="1200" b="1" baseline="30000" dirty="0">
              <a:latin typeface="微軟正黑體" panose="020B0604030504040204" pitchFamily="34" charset="-120"/>
              <a:ea typeface="微軟正黑體" panose="020B0604030504040204" pitchFamily="34" charset="-120"/>
            </a:endParaRPr>
          </a:p>
        </p:txBody>
      </p:sp>
      <p:sp>
        <p:nvSpPr>
          <p:cNvPr id="7" name="矩形 6"/>
          <p:cNvSpPr/>
          <p:nvPr/>
        </p:nvSpPr>
        <p:spPr>
          <a:xfrm>
            <a:off x="2267744" y="6453916"/>
            <a:ext cx="5328592" cy="215444"/>
          </a:xfrm>
          <a:prstGeom prst="rect">
            <a:avLst/>
          </a:prstGeom>
        </p:spPr>
        <p:txBody>
          <a:bodyPr wrap="square">
            <a:spAutoFit/>
          </a:bodyPr>
          <a:lstStyle/>
          <a:p>
            <a:r>
              <a:rPr lang="zh-TW" altLang="en-US" sz="800" dirty="0">
                <a:solidFill>
                  <a:schemeClr val="bg1"/>
                </a:solidFill>
                <a:latin typeface="微軟正黑體" panose="020B0604030504040204" pitchFamily="34" charset="-120"/>
                <a:ea typeface="微軟正黑體" panose="020B0604030504040204" pitchFamily="34" charset="-120"/>
              </a:rPr>
              <a:t>資料來源：官網、年報、新聞整理、</a:t>
            </a:r>
            <a:r>
              <a:rPr lang="en-US" altLang="zh-TW" sz="800" dirty="0">
                <a:solidFill>
                  <a:schemeClr val="bg1"/>
                </a:solidFill>
                <a:latin typeface="微軟正黑體" panose="020B0604030504040204" pitchFamily="34" charset="-120"/>
                <a:ea typeface="微軟正黑體" panose="020B0604030504040204" pitchFamily="34" charset="-120"/>
              </a:rPr>
              <a:t>capital.com</a:t>
            </a:r>
            <a:r>
              <a:rPr lang="zh-TW" altLang="en-US" sz="800" dirty="0">
                <a:solidFill>
                  <a:schemeClr val="bg1"/>
                </a:solidFill>
                <a:latin typeface="微軟正黑體" panose="020B0604030504040204" pitchFamily="34" charset="-120"/>
                <a:ea typeface="微軟正黑體" panose="020B0604030504040204" pitchFamily="34" charset="-120"/>
              </a:rPr>
              <a:t>、</a:t>
            </a:r>
            <a:r>
              <a:rPr lang="en-US" altLang="zh-TW" sz="800" dirty="0">
                <a:hlinkClick r:id="rId3"/>
              </a:rPr>
              <a:t> S&amp;P Global</a:t>
            </a:r>
            <a:r>
              <a:rPr lang="zh-TW" altLang="en-US" sz="800" dirty="0"/>
              <a:t>、</a:t>
            </a:r>
            <a:r>
              <a:rPr lang="en-US" altLang="zh-TW" sz="800" dirty="0">
                <a:latin typeface="微軟正黑體" panose="020B0604030504040204" pitchFamily="34" charset="-120"/>
                <a:ea typeface="微軟正黑體" panose="020B0604030504040204" pitchFamily="34" charset="-120"/>
                <a:hlinkClick r:id="rId4"/>
              </a:rPr>
              <a:t>Statista</a:t>
            </a:r>
            <a:r>
              <a:rPr lang="zh-TW" altLang="en-US" sz="800" dirty="0">
                <a:solidFill>
                  <a:schemeClr val="bg1"/>
                </a:solidFill>
              </a:rPr>
              <a:t>、</a:t>
            </a:r>
            <a:r>
              <a:rPr lang="en-US" altLang="zh-TW" sz="800" dirty="0">
                <a:solidFill>
                  <a:schemeClr val="bg1"/>
                </a:solidFill>
                <a:latin typeface="微軟正黑體" panose="020B0604030504040204" pitchFamily="34" charset="-120"/>
                <a:ea typeface="微軟正黑體" panose="020B0604030504040204" pitchFamily="34" charset="-120"/>
              </a:rPr>
              <a:t>Forbes Global 2000</a:t>
            </a:r>
            <a:r>
              <a:rPr lang="zh-TW" altLang="en-US" sz="800" dirty="0">
                <a:solidFill>
                  <a:schemeClr val="bg1"/>
                </a:solidFill>
                <a:latin typeface="微軟正黑體" panose="020B0604030504040204" pitchFamily="34" charset="-120"/>
                <a:ea typeface="微軟正黑體" panose="020B0604030504040204" pitchFamily="34" charset="-120"/>
              </a:rPr>
              <a:t>、</a:t>
            </a:r>
            <a:r>
              <a:rPr lang="zh-TW" altLang="en-US" sz="800" dirty="0">
                <a:solidFill>
                  <a:schemeClr val="bg1"/>
                </a:solidFill>
              </a:rPr>
              <a:t> </a:t>
            </a:r>
            <a:r>
              <a:rPr lang="en-US" altLang="zh-TW" sz="800" dirty="0">
                <a:solidFill>
                  <a:schemeClr val="bg1"/>
                </a:solidFill>
              </a:rPr>
              <a:t>Evident</a:t>
            </a:r>
            <a:r>
              <a:rPr lang="zh-TW" altLang="en-US" sz="800" dirty="0">
                <a:solidFill>
                  <a:schemeClr val="bg1"/>
                </a:solidFill>
              </a:rPr>
              <a:t> </a:t>
            </a:r>
            <a:r>
              <a:rPr lang="en-US" altLang="zh-TW" sz="800" dirty="0">
                <a:solidFill>
                  <a:schemeClr val="bg1"/>
                </a:solidFill>
              </a:rPr>
              <a:t>insights</a:t>
            </a:r>
            <a:endParaRPr lang="en-US" altLang="zh-TW" sz="800" dirty="0">
              <a:solidFill>
                <a:schemeClr val="bg1"/>
              </a:solidFill>
              <a:latin typeface="微軟正黑體" panose="020B0604030504040204" pitchFamily="34" charset="-120"/>
              <a:ea typeface="微軟正黑體" panose="020B0604030504040204" pitchFamily="34" charset="-120"/>
            </a:endParaRPr>
          </a:p>
        </p:txBody>
      </p:sp>
      <p:pic>
        <p:nvPicPr>
          <p:cNvPr id="22" name="圖片 21">
            <a:extLst>
              <a:ext uri="{FF2B5EF4-FFF2-40B4-BE49-F238E27FC236}">
                <a16:creationId xmlns:a16="http://schemas.microsoft.com/office/drawing/2014/main" id="{B892B351-8505-484C-9604-A0332786218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740352" y="12728"/>
            <a:ext cx="1008112" cy="679968"/>
          </a:xfrm>
          <a:prstGeom prst="rect">
            <a:avLst/>
          </a:prstGeom>
        </p:spPr>
      </p:pic>
      <p:graphicFrame>
        <p:nvGraphicFramePr>
          <p:cNvPr id="30" name="圖表 29">
            <a:extLst>
              <a:ext uri="{FF2B5EF4-FFF2-40B4-BE49-F238E27FC236}">
                <a16:creationId xmlns:a16="http://schemas.microsoft.com/office/drawing/2014/main" id="{B1B47BB3-5AD6-459C-953F-45194433F6D3}"/>
              </a:ext>
            </a:extLst>
          </p:cNvPr>
          <p:cNvGraphicFramePr/>
          <p:nvPr>
            <p:extLst>
              <p:ext uri="{D42A27DB-BD31-4B8C-83A1-F6EECF244321}">
                <p14:modId xmlns:p14="http://schemas.microsoft.com/office/powerpoint/2010/main" val="3193753951"/>
              </p:ext>
            </p:extLst>
          </p:nvPr>
        </p:nvGraphicFramePr>
        <p:xfrm>
          <a:off x="323528" y="4769522"/>
          <a:ext cx="2951922" cy="1450955"/>
        </p:xfrm>
        <a:graphic>
          <a:graphicData uri="http://schemas.openxmlformats.org/drawingml/2006/chart">
            <c:chart xmlns:c="http://schemas.openxmlformats.org/drawingml/2006/chart" xmlns:r="http://schemas.openxmlformats.org/officeDocument/2006/relationships" r:id="rId6"/>
          </a:graphicData>
        </a:graphic>
      </p:graphicFrame>
      <p:sp>
        <p:nvSpPr>
          <p:cNvPr id="34" name="文字方塊 33">
            <a:extLst>
              <a:ext uri="{FF2B5EF4-FFF2-40B4-BE49-F238E27FC236}">
                <a16:creationId xmlns:a16="http://schemas.microsoft.com/office/drawing/2014/main" id="{79E206D3-6A58-495E-9360-B17EDE9BC665}"/>
              </a:ext>
            </a:extLst>
          </p:cNvPr>
          <p:cNvSpPr txBox="1"/>
          <p:nvPr/>
        </p:nvSpPr>
        <p:spPr>
          <a:xfrm>
            <a:off x="1626380" y="5186069"/>
            <a:ext cx="931032" cy="553998"/>
          </a:xfrm>
          <a:prstGeom prst="rect">
            <a:avLst/>
          </a:prstGeom>
          <a:noFill/>
        </p:spPr>
        <p:txBody>
          <a:bodyPr wrap="square" rtlCol="0">
            <a:spAutoFit/>
          </a:bodyPr>
          <a:lstStyle/>
          <a:p>
            <a:pPr algn="ctr"/>
            <a:r>
              <a:rPr lang="en-US" altLang="zh-TW" sz="1000" b="1" dirty="0">
                <a:latin typeface="微軟正黑體" panose="020B0604030504040204" pitchFamily="34" charset="-120"/>
                <a:ea typeface="微軟正黑體" panose="020B0604030504040204" pitchFamily="34" charset="-120"/>
              </a:rPr>
              <a:t>FY2025</a:t>
            </a:r>
          </a:p>
          <a:p>
            <a:pPr algn="ctr"/>
            <a:r>
              <a:rPr lang="zh-TW" altLang="en-US" sz="1000" b="1" dirty="0">
                <a:latin typeface="微軟正黑體" panose="020B0604030504040204" pitchFamily="34" charset="-120"/>
                <a:ea typeface="微軟正黑體" panose="020B0604030504040204" pitchFamily="34" charset="-120"/>
              </a:rPr>
              <a:t>淨營收</a:t>
            </a:r>
            <a:endParaRPr lang="en-US" altLang="zh-TW" sz="1000" b="1" dirty="0">
              <a:latin typeface="微軟正黑體" panose="020B0604030504040204" pitchFamily="34" charset="-120"/>
              <a:ea typeface="微軟正黑體" panose="020B0604030504040204" pitchFamily="34" charset="-120"/>
            </a:endParaRPr>
          </a:p>
          <a:p>
            <a:pPr algn="ctr"/>
            <a:r>
              <a:rPr lang="en-US" altLang="zh-TW" sz="1000" b="1" dirty="0">
                <a:latin typeface="微軟正黑體" panose="020B0604030504040204" pitchFamily="34" charset="-120"/>
                <a:ea typeface="微軟正黑體" panose="020B0604030504040204" pitchFamily="34" charset="-120"/>
              </a:rPr>
              <a:t>184</a:t>
            </a:r>
            <a:r>
              <a:rPr lang="zh-TW" altLang="en-US" sz="1000" b="1" dirty="0">
                <a:latin typeface="微軟正黑體" panose="020B0604030504040204" pitchFamily="34" charset="-120"/>
                <a:ea typeface="微軟正黑體" panose="020B0604030504040204" pitchFamily="34" charset="-120"/>
              </a:rPr>
              <a:t>億英鎊</a:t>
            </a:r>
            <a:endParaRPr lang="en-US" altLang="zh-TW" sz="1000" b="1" dirty="0">
              <a:latin typeface="微軟正黑體" panose="020B0604030504040204" pitchFamily="34" charset="-120"/>
              <a:ea typeface="微軟正黑體" panose="020B0604030504040204" pitchFamily="34" charset="-120"/>
            </a:endParaRPr>
          </a:p>
        </p:txBody>
      </p:sp>
      <p:sp>
        <p:nvSpPr>
          <p:cNvPr id="4" name="文字方塊 3">
            <a:extLst>
              <a:ext uri="{FF2B5EF4-FFF2-40B4-BE49-F238E27FC236}">
                <a16:creationId xmlns:a16="http://schemas.microsoft.com/office/drawing/2014/main" id="{A1B5DC50-F2CD-467B-91B0-C965BA44B86A}"/>
              </a:ext>
            </a:extLst>
          </p:cNvPr>
          <p:cNvSpPr txBox="1"/>
          <p:nvPr/>
        </p:nvSpPr>
        <p:spPr>
          <a:xfrm>
            <a:off x="2727545" y="5259090"/>
            <a:ext cx="853119" cy="430887"/>
          </a:xfrm>
          <a:prstGeom prst="rect">
            <a:avLst/>
          </a:prstGeom>
          <a:noFill/>
        </p:spPr>
        <p:txBody>
          <a:bodyPr wrap="none" rtlCol="0">
            <a:spAutoFit/>
          </a:bodyPr>
          <a:lstStyle/>
          <a:p>
            <a:r>
              <a:rPr lang="zh-TW" altLang="en-US" sz="1050" dirty="0">
                <a:latin typeface="微軟正黑體" panose="020B0604030504040204" pitchFamily="34" charset="-120"/>
                <a:ea typeface="微軟正黑體" panose="020B0604030504040204" pitchFamily="34" charset="-120"/>
              </a:rPr>
              <a:t>駿懋銀行</a:t>
            </a:r>
            <a:endParaRPr lang="en-US" altLang="zh-TW" sz="1050" dirty="0">
              <a:latin typeface="微軟正黑體" panose="020B0604030504040204" pitchFamily="34" charset="-120"/>
              <a:ea typeface="微軟正黑體" panose="020B0604030504040204" pitchFamily="34" charset="-120"/>
            </a:endParaRPr>
          </a:p>
          <a:p>
            <a:r>
              <a:rPr lang="en-US" altLang="zh-TW" sz="1050" dirty="0">
                <a:latin typeface="微軟正黑體" panose="020B0604030504040204" pitchFamily="34" charset="-120"/>
                <a:ea typeface="微軟正黑體" panose="020B0604030504040204" pitchFamily="34" charset="-120"/>
              </a:rPr>
              <a:t>138</a:t>
            </a:r>
            <a:r>
              <a:rPr lang="zh-TW" altLang="en-US" sz="1050" dirty="0">
                <a:latin typeface="微軟正黑體" panose="020B0604030504040204" pitchFamily="34" charset="-120"/>
                <a:ea typeface="微軟正黑體" panose="020B0604030504040204" pitchFamily="34" charset="-120"/>
              </a:rPr>
              <a:t>億英鎊</a:t>
            </a:r>
          </a:p>
        </p:txBody>
      </p:sp>
      <p:cxnSp>
        <p:nvCxnSpPr>
          <p:cNvPr id="3" name="直線接點 2">
            <a:extLst>
              <a:ext uri="{FF2B5EF4-FFF2-40B4-BE49-F238E27FC236}">
                <a16:creationId xmlns:a16="http://schemas.microsoft.com/office/drawing/2014/main" id="{89D57828-A15D-4537-95C9-C8F6C1ABA022}"/>
              </a:ext>
            </a:extLst>
          </p:cNvPr>
          <p:cNvCxnSpPr>
            <a:cxnSpLocks/>
          </p:cNvCxnSpPr>
          <p:nvPr/>
        </p:nvCxnSpPr>
        <p:spPr>
          <a:xfrm>
            <a:off x="2559176" y="5000937"/>
            <a:ext cx="616286" cy="193052"/>
          </a:xfrm>
          <a:prstGeom prst="line">
            <a:avLst/>
          </a:prstGeom>
        </p:spPr>
        <p:style>
          <a:lnRef idx="1">
            <a:schemeClr val="accent6"/>
          </a:lnRef>
          <a:fillRef idx="0">
            <a:schemeClr val="accent6"/>
          </a:fillRef>
          <a:effectRef idx="0">
            <a:schemeClr val="accent6"/>
          </a:effectRef>
          <a:fontRef idx="minor">
            <a:schemeClr val="tx1"/>
          </a:fontRef>
        </p:style>
      </p:cxnSp>
      <p:cxnSp>
        <p:nvCxnSpPr>
          <p:cNvPr id="23" name="直線接點 22">
            <a:extLst>
              <a:ext uri="{FF2B5EF4-FFF2-40B4-BE49-F238E27FC236}">
                <a16:creationId xmlns:a16="http://schemas.microsoft.com/office/drawing/2014/main" id="{A73579BB-0349-4A61-B1BD-92F65E22AAB1}"/>
              </a:ext>
            </a:extLst>
          </p:cNvPr>
          <p:cNvCxnSpPr>
            <a:cxnSpLocks/>
          </p:cNvCxnSpPr>
          <p:nvPr/>
        </p:nvCxnSpPr>
        <p:spPr>
          <a:xfrm flipV="1">
            <a:off x="2555370" y="5701595"/>
            <a:ext cx="677365" cy="247685"/>
          </a:xfrm>
          <a:prstGeom prst="line">
            <a:avLst/>
          </a:prstGeom>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14884478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a:extLst>
              <a:ext uri="{FF2B5EF4-FFF2-40B4-BE49-F238E27FC236}">
                <a16:creationId xmlns:a16="http://schemas.microsoft.com/office/drawing/2014/main" id="{D04CE8D0-0E96-49AA-948A-82BA292D6EA9}"/>
              </a:ext>
            </a:extLst>
          </p:cNvPr>
          <p:cNvSpPr/>
          <p:nvPr/>
        </p:nvSpPr>
        <p:spPr>
          <a:xfrm>
            <a:off x="7164288" y="0"/>
            <a:ext cx="1584176" cy="6460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 name="投影片編號版面配置區 3">
            <a:extLst>
              <a:ext uri="{FF2B5EF4-FFF2-40B4-BE49-F238E27FC236}">
                <a16:creationId xmlns:a16="http://schemas.microsoft.com/office/drawing/2014/main" id="{7BBAF2F3-4DAD-C14A-B48B-E702BC7A59E7}"/>
              </a:ext>
            </a:extLst>
          </p:cNvPr>
          <p:cNvSpPr>
            <a:spLocks noGrp="1"/>
          </p:cNvSpPr>
          <p:nvPr>
            <p:ph type="sldNum" sz="quarter" idx="12"/>
          </p:nvPr>
        </p:nvSpPr>
        <p:spPr/>
        <p:txBody>
          <a:bodyPr/>
          <a:lstStyle/>
          <a:p>
            <a:fld id="{415482FC-CF5F-466A-B8B6-BC3733E92023}" type="slidenum">
              <a:rPr lang="zh-TW" altLang="en-US" smtClean="0">
                <a:latin typeface="微軟正黑體" panose="020B0604030504040204" pitchFamily="34" charset="-120"/>
                <a:ea typeface="微軟正黑體" panose="020B0604030504040204" pitchFamily="34" charset="-120"/>
              </a:rPr>
              <a:pPr/>
              <a:t>3</a:t>
            </a:fld>
            <a:endParaRPr lang="zh-TW" altLang="en-US" dirty="0">
              <a:latin typeface="微軟正黑體" panose="020B0604030504040204" pitchFamily="34" charset="-120"/>
              <a:ea typeface="微軟正黑體" panose="020B0604030504040204" pitchFamily="34" charset="-120"/>
            </a:endParaRPr>
          </a:p>
        </p:txBody>
      </p:sp>
      <p:sp>
        <p:nvSpPr>
          <p:cNvPr id="8" name="標題 1">
            <a:extLst>
              <a:ext uri="{FF2B5EF4-FFF2-40B4-BE49-F238E27FC236}">
                <a16:creationId xmlns:a16="http://schemas.microsoft.com/office/drawing/2014/main" id="{7FA876EA-016F-C943-9D37-BCF80403BE81}"/>
              </a:ext>
            </a:extLst>
          </p:cNvPr>
          <p:cNvSpPr txBox="1">
            <a:spLocks noChangeArrowheads="1"/>
          </p:cNvSpPr>
          <p:nvPr/>
        </p:nvSpPr>
        <p:spPr>
          <a:xfrm>
            <a:off x="2051720" y="243209"/>
            <a:ext cx="5112568" cy="475060"/>
          </a:xfrm>
          <a:prstGeom prst="rect">
            <a:avLst/>
          </a:prstGeom>
        </p:spPr>
        <p:txBody>
          <a:bodyPr anchor="ctr" anchorCtr="0">
            <a:noAutofit/>
          </a:bodyPr>
          <a:lstStyle>
            <a:lvl1pPr algn="l" defTabSz="914400" rtl="0" eaLnBrk="1" latinLnBrk="0" hangingPunct="1">
              <a:spcBef>
                <a:spcPct val="0"/>
              </a:spcBef>
              <a:buNone/>
              <a:defRPr sz="2800" b="1" kern="1200">
                <a:solidFill>
                  <a:schemeClr val="tx2">
                    <a:lumMod val="75000"/>
                  </a:schemeClr>
                </a:solidFill>
                <a:latin typeface="微軟正黑體" pitchFamily="34" charset="-120"/>
                <a:ea typeface="微軟正黑體" pitchFamily="34" charset="-120"/>
                <a:cs typeface="+mj-cs"/>
              </a:defRPr>
            </a:lvl1pPr>
          </a:lstStyle>
          <a:p>
            <a:pPr algn="ctr">
              <a:defRPr/>
            </a:pPr>
            <a:r>
              <a:rPr lang="zh-TW" altLang="en-US" sz="2000" dirty="0">
                <a:solidFill>
                  <a:srgbClr val="EE8300"/>
                </a:solidFill>
              </a:rPr>
              <a:t>英國「四大銀行」 之一 </a:t>
            </a:r>
          </a:p>
        </p:txBody>
      </p:sp>
      <p:sp>
        <p:nvSpPr>
          <p:cNvPr id="26" name="文字方塊 30">
            <a:extLst>
              <a:ext uri="{FF2B5EF4-FFF2-40B4-BE49-F238E27FC236}">
                <a16:creationId xmlns:a16="http://schemas.microsoft.com/office/drawing/2014/main" id="{7DB08F83-B110-3044-A817-3A8E4D3E13EB}"/>
              </a:ext>
            </a:extLst>
          </p:cNvPr>
          <p:cNvSpPr txBox="1">
            <a:spLocks noChangeArrowheads="1"/>
          </p:cNvSpPr>
          <p:nvPr/>
        </p:nvSpPr>
        <p:spPr bwMode="auto">
          <a:xfrm>
            <a:off x="2276371" y="6453916"/>
            <a:ext cx="5345277" cy="215444"/>
          </a:xfrm>
          <a:prstGeom prst="rect">
            <a:avLst/>
          </a:prstGeom>
        </p:spPr>
        <p:txBody>
          <a:bodyPr wrap="square">
            <a:spAutoFit/>
          </a:bodyPr>
          <a:lstStyle>
            <a:defPPr>
              <a:defRPr lang="zh-TW"/>
            </a:defPPr>
            <a:lvl1pPr algn="r">
              <a:defRPr sz="800">
                <a:solidFill>
                  <a:schemeClr val="bg1"/>
                </a:solidFill>
                <a:latin typeface="微軟正黑體" panose="020B0604030504040204" pitchFamily="34" charset="-120"/>
                <a:ea typeface="微軟正黑體" panose="020B0604030504040204" pitchFamily="34" charset="-120"/>
              </a:defRPr>
            </a:lvl1pPr>
          </a:lstStyle>
          <a:p>
            <a:pPr algn="l"/>
            <a:r>
              <a:rPr lang="zh-TW" altLang="en-US" dirty="0"/>
              <a:t>資料來源：</a:t>
            </a:r>
            <a:r>
              <a:rPr lang="en-US" altLang="zh-TW" dirty="0">
                <a:hlinkClick r:id="rId3"/>
              </a:rPr>
              <a:t>S&amp;P Global</a:t>
            </a:r>
            <a:r>
              <a:rPr lang="zh-TW" altLang="en-US" dirty="0"/>
              <a:t>、</a:t>
            </a:r>
            <a:r>
              <a:rPr lang="en-US" altLang="zh-TW" dirty="0">
                <a:latin typeface="微軟正黑體" panose="020B0604030504040204" pitchFamily="34" charset="-120"/>
                <a:ea typeface="微軟正黑體" panose="020B0604030504040204" pitchFamily="34" charset="-120"/>
                <a:hlinkClick r:id="rId4"/>
              </a:rPr>
              <a:t>Statista</a:t>
            </a:r>
            <a:r>
              <a:rPr lang="zh-TW" altLang="en-US" dirty="0"/>
              <a:t>、</a:t>
            </a:r>
            <a:r>
              <a:rPr lang="en-US" altLang="zh-TW" dirty="0">
                <a:latin typeface="微軟正黑體" panose="020B0604030504040204" pitchFamily="34" charset="-120"/>
                <a:ea typeface="微軟正黑體" panose="020B0604030504040204" pitchFamily="34" charset="-120"/>
              </a:rPr>
              <a:t>Forbes Global 2000</a:t>
            </a:r>
            <a:r>
              <a:rPr lang="zh-TW" altLang="en-US" dirty="0">
                <a:latin typeface="微軟正黑體" panose="020B0604030504040204" pitchFamily="34" charset="-120"/>
                <a:ea typeface="微軟正黑體" panose="020B0604030504040204" pitchFamily="34" charset="-120"/>
              </a:rPr>
              <a:t>、</a:t>
            </a:r>
            <a:r>
              <a:rPr lang="zh-TW" altLang="en-US" dirty="0"/>
              <a:t> </a:t>
            </a:r>
            <a:r>
              <a:rPr lang="en-US" altLang="zh-TW" dirty="0"/>
              <a:t>Evident</a:t>
            </a:r>
            <a:r>
              <a:rPr lang="zh-TW" altLang="en-US" dirty="0"/>
              <a:t> </a:t>
            </a:r>
            <a:r>
              <a:rPr lang="en-US" altLang="zh-TW" dirty="0"/>
              <a:t>insights</a:t>
            </a:r>
          </a:p>
        </p:txBody>
      </p:sp>
      <p:sp>
        <p:nvSpPr>
          <p:cNvPr id="30" name="圓角矩形 47">
            <a:extLst>
              <a:ext uri="{FF2B5EF4-FFF2-40B4-BE49-F238E27FC236}">
                <a16:creationId xmlns:a16="http://schemas.microsoft.com/office/drawing/2014/main" id="{C587C09F-5E58-4F8B-A382-7FA8F7B73698}"/>
              </a:ext>
            </a:extLst>
          </p:cNvPr>
          <p:cNvSpPr/>
          <p:nvPr/>
        </p:nvSpPr>
        <p:spPr>
          <a:xfrm>
            <a:off x="4626168" y="3470289"/>
            <a:ext cx="4266311" cy="407336"/>
          </a:xfrm>
          <a:prstGeom prst="roundRect">
            <a:avLst/>
          </a:prstGeom>
          <a:solidFill>
            <a:srgbClr val="006F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b="1" dirty="0">
                <a:solidFill>
                  <a:schemeClr val="bg1"/>
                </a:solidFill>
                <a:latin typeface="微軟正黑體" panose="020B0604030504040204" pitchFamily="34" charset="-120"/>
                <a:ea typeface="微軟正黑體" panose="020B0604030504040204" pitchFamily="34" charset="-120"/>
              </a:rPr>
              <a:t>2025</a:t>
            </a:r>
            <a:r>
              <a:rPr lang="zh-TW" altLang="en-US" sz="1200" b="1" dirty="0">
                <a:solidFill>
                  <a:schemeClr val="bg1"/>
                </a:solidFill>
                <a:latin typeface="微軟正黑體" panose="020B0604030504040204" pitchFamily="34" charset="-120"/>
                <a:ea typeface="微軟正黑體" panose="020B0604030504040204" pitchFamily="34" charset="-120"/>
              </a:rPr>
              <a:t>年</a:t>
            </a:r>
            <a:r>
              <a:rPr lang="en-US" altLang="zh-TW" sz="1200" b="1" dirty="0">
                <a:latin typeface="微軟正黑體" panose="020B0604030504040204" pitchFamily="34" charset="-120"/>
                <a:ea typeface="微軟正黑體" panose="020B0604030504040204" pitchFamily="34" charset="-120"/>
              </a:rPr>
              <a:t>《 </a:t>
            </a:r>
            <a:r>
              <a:rPr lang="en-US" altLang="zh-TW" sz="1200" b="1" dirty="0">
                <a:solidFill>
                  <a:schemeClr val="bg1"/>
                </a:solidFill>
                <a:latin typeface="微軟正黑體" panose="020B0604030504040204" pitchFamily="34" charset="-120"/>
                <a:ea typeface="微軟正黑體" panose="020B0604030504040204" pitchFamily="34" charset="-120"/>
              </a:rPr>
              <a:t>Evident AI index</a:t>
            </a:r>
            <a:r>
              <a:rPr lang="en-US" altLang="zh-TW" sz="1200" b="1" dirty="0">
                <a:latin typeface="微軟正黑體" panose="020B0604030504040204" pitchFamily="34" charset="-120"/>
                <a:ea typeface="微軟正黑體" panose="020B0604030504040204" pitchFamily="34" charset="-120"/>
              </a:rPr>
              <a:t> 》</a:t>
            </a:r>
          </a:p>
          <a:p>
            <a:pPr algn="ctr"/>
            <a:r>
              <a:rPr lang="zh-TW" altLang="en-US" sz="1200" b="1" dirty="0">
                <a:solidFill>
                  <a:schemeClr val="bg1"/>
                </a:solidFill>
                <a:latin typeface="微軟正黑體" panose="020B0604030504040204" pitchFamily="34" charset="-120"/>
                <a:ea typeface="微軟正黑體" panose="020B0604030504040204" pitchFamily="34" charset="-120"/>
              </a:rPr>
              <a:t>全球總排名第</a:t>
            </a:r>
            <a:r>
              <a:rPr lang="en-US" altLang="zh-TW" sz="1200" b="1" dirty="0">
                <a:solidFill>
                  <a:schemeClr val="bg1"/>
                </a:solidFill>
                <a:latin typeface="微軟正黑體" panose="020B0604030504040204" pitchFamily="34" charset="-120"/>
                <a:ea typeface="微軟正黑體" panose="020B0604030504040204" pitchFamily="34" charset="-120"/>
              </a:rPr>
              <a:t>15</a:t>
            </a:r>
            <a:r>
              <a:rPr lang="zh-TW" altLang="en-US" sz="1200" b="1" dirty="0">
                <a:solidFill>
                  <a:schemeClr val="bg1"/>
                </a:solidFill>
                <a:latin typeface="微軟正黑體" panose="020B0604030504040204" pitchFamily="34" charset="-120"/>
                <a:ea typeface="微軟正黑體" panose="020B0604030504040204" pitchFamily="34" charset="-120"/>
              </a:rPr>
              <a:t>位，為英國第二佳銀行</a:t>
            </a:r>
          </a:p>
        </p:txBody>
      </p:sp>
      <p:sp>
        <p:nvSpPr>
          <p:cNvPr id="43" name="矩形 42">
            <a:extLst>
              <a:ext uri="{FF2B5EF4-FFF2-40B4-BE49-F238E27FC236}">
                <a16:creationId xmlns:a16="http://schemas.microsoft.com/office/drawing/2014/main" id="{9F45D892-DB08-4FBB-81B4-5EDDFF2B0204}"/>
              </a:ext>
            </a:extLst>
          </p:cNvPr>
          <p:cNvSpPr/>
          <p:nvPr/>
        </p:nvSpPr>
        <p:spPr>
          <a:xfrm>
            <a:off x="870439" y="5460023"/>
            <a:ext cx="1345224" cy="167054"/>
          </a:xfrm>
          <a:prstGeom prst="rect">
            <a:avLst/>
          </a:prstGeom>
          <a:noFill/>
          <a:ln w="19050">
            <a:solidFill>
              <a:srgbClr val="006F5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1" name="圓角矩形 47">
            <a:extLst>
              <a:ext uri="{FF2B5EF4-FFF2-40B4-BE49-F238E27FC236}">
                <a16:creationId xmlns:a16="http://schemas.microsoft.com/office/drawing/2014/main" id="{C587C09F-5E58-4F8B-A382-7FA8F7B73698}"/>
              </a:ext>
            </a:extLst>
          </p:cNvPr>
          <p:cNvSpPr/>
          <p:nvPr/>
        </p:nvSpPr>
        <p:spPr>
          <a:xfrm>
            <a:off x="251520" y="3470289"/>
            <a:ext cx="4266313" cy="407336"/>
          </a:xfrm>
          <a:prstGeom prst="roundRect">
            <a:avLst/>
          </a:prstGeom>
          <a:solidFill>
            <a:srgbClr val="006F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b="1" dirty="0">
                <a:latin typeface="微軟正黑體" panose="020B0604030504040204" pitchFamily="34" charset="-120"/>
                <a:ea typeface="微軟正黑體" panose="020B0604030504040204" pitchFamily="34" charset="-120"/>
              </a:rPr>
              <a:t>2025</a:t>
            </a:r>
            <a:r>
              <a:rPr lang="zh-TW" altLang="en-US" sz="1200" b="1" dirty="0">
                <a:latin typeface="微軟正黑體" panose="020B0604030504040204" pitchFamily="34" charset="-120"/>
                <a:ea typeface="微軟正黑體" panose="020B0604030504040204" pitchFamily="34" charset="-120"/>
              </a:rPr>
              <a:t>年</a:t>
            </a:r>
            <a:r>
              <a:rPr lang="en-US" altLang="zh-TW" sz="1200" b="1" dirty="0">
                <a:latin typeface="微軟正黑體" panose="020B0604030504040204" pitchFamily="34" charset="-120"/>
                <a:ea typeface="微軟正黑體" panose="020B0604030504040204" pitchFamily="34" charset="-120"/>
              </a:rPr>
              <a:t>《Forbes Global 2000》</a:t>
            </a:r>
          </a:p>
          <a:p>
            <a:pPr algn="ctr"/>
            <a:r>
              <a:rPr lang="zh-TW" altLang="en-US" sz="1200" b="1" dirty="0">
                <a:latin typeface="微軟正黑體" panose="020B0604030504040204" pitchFamily="34" charset="-120"/>
                <a:ea typeface="微軟正黑體" panose="020B0604030504040204" pitchFamily="34" charset="-120"/>
              </a:rPr>
              <a:t>英國銀行綜合排名第</a:t>
            </a:r>
            <a:r>
              <a:rPr lang="en-US" altLang="zh-TW" sz="1200" b="1" dirty="0">
                <a:latin typeface="微軟正黑體" panose="020B0604030504040204" pitchFamily="34" charset="-120"/>
                <a:ea typeface="微軟正黑體" panose="020B0604030504040204" pitchFamily="34" charset="-120"/>
              </a:rPr>
              <a:t>6</a:t>
            </a:r>
            <a:r>
              <a:rPr lang="zh-TW" altLang="en-US" sz="1200" b="1" dirty="0">
                <a:latin typeface="微軟正黑體" panose="020B0604030504040204" pitchFamily="34" charset="-120"/>
                <a:ea typeface="微軟正黑體" panose="020B0604030504040204" pitchFamily="34" charset="-120"/>
              </a:rPr>
              <a:t>位</a:t>
            </a:r>
          </a:p>
        </p:txBody>
      </p:sp>
      <p:pic>
        <p:nvPicPr>
          <p:cNvPr id="32" name="圖片 31">
            <a:extLst>
              <a:ext uri="{FF2B5EF4-FFF2-40B4-BE49-F238E27FC236}">
                <a16:creationId xmlns:a16="http://schemas.microsoft.com/office/drawing/2014/main" id="{78E84C81-57DD-4655-8E5E-0DCEEAE5BD8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740352" y="12728"/>
            <a:ext cx="1008112" cy="679968"/>
          </a:xfrm>
          <a:prstGeom prst="rect">
            <a:avLst/>
          </a:prstGeom>
        </p:spPr>
      </p:pic>
      <p:pic>
        <p:nvPicPr>
          <p:cNvPr id="14" name="圖片 13">
            <a:extLst>
              <a:ext uri="{FF2B5EF4-FFF2-40B4-BE49-F238E27FC236}">
                <a16:creationId xmlns:a16="http://schemas.microsoft.com/office/drawing/2014/main" id="{83D0DDB2-30BE-4819-B53C-CE7D07E3477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78114" y="3955281"/>
            <a:ext cx="4149869" cy="2383727"/>
          </a:xfrm>
          <a:prstGeom prst="rect">
            <a:avLst/>
          </a:prstGeom>
        </p:spPr>
      </p:pic>
      <p:sp>
        <p:nvSpPr>
          <p:cNvPr id="34" name="圓角矩形 47">
            <a:extLst>
              <a:ext uri="{FF2B5EF4-FFF2-40B4-BE49-F238E27FC236}">
                <a16:creationId xmlns:a16="http://schemas.microsoft.com/office/drawing/2014/main" id="{CA1FD2C8-2058-4356-81C8-971BB83BD69D}"/>
              </a:ext>
            </a:extLst>
          </p:cNvPr>
          <p:cNvSpPr/>
          <p:nvPr/>
        </p:nvSpPr>
        <p:spPr>
          <a:xfrm>
            <a:off x="251520" y="800903"/>
            <a:ext cx="4266313" cy="295876"/>
          </a:xfrm>
          <a:prstGeom prst="roundRect">
            <a:avLst/>
          </a:prstGeom>
          <a:solidFill>
            <a:srgbClr val="006F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200" b="1" dirty="0">
                <a:solidFill>
                  <a:schemeClr val="bg1"/>
                </a:solidFill>
                <a:latin typeface="微軟正黑體" panose="020B0604030504040204" pitchFamily="34" charset="-120"/>
                <a:ea typeface="微軟正黑體" panose="020B0604030504040204" pitchFamily="34" charset="-120"/>
              </a:rPr>
              <a:t>按資產，勞埃德銀行集團為歐洲第</a:t>
            </a:r>
            <a:r>
              <a:rPr lang="en-US" altLang="zh-TW" sz="1200" b="1" dirty="0">
                <a:solidFill>
                  <a:schemeClr val="bg1"/>
                </a:solidFill>
                <a:latin typeface="微軟正黑體" panose="020B0604030504040204" pitchFamily="34" charset="-120"/>
                <a:ea typeface="微軟正黑體" panose="020B0604030504040204" pitchFamily="34" charset="-120"/>
              </a:rPr>
              <a:t>11</a:t>
            </a:r>
            <a:r>
              <a:rPr lang="zh-TW" altLang="en-US" sz="1200" b="1" dirty="0">
                <a:solidFill>
                  <a:schemeClr val="bg1"/>
                </a:solidFill>
                <a:latin typeface="微軟正黑體" panose="020B0604030504040204" pitchFamily="34" charset="-120"/>
                <a:ea typeface="微軟正黑體" panose="020B0604030504040204" pitchFamily="34" charset="-120"/>
              </a:rPr>
              <a:t>大行、英國第三大行</a:t>
            </a:r>
          </a:p>
        </p:txBody>
      </p:sp>
      <p:sp>
        <p:nvSpPr>
          <p:cNvPr id="35" name="圓角矩形 47">
            <a:extLst>
              <a:ext uri="{FF2B5EF4-FFF2-40B4-BE49-F238E27FC236}">
                <a16:creationId xmlns:a16="http://schemas.microsoft.com/office/drawing/2014/main" id="{24C464C6-9A30-481F-9748-F632EBB6CA0E}"/>
              </a:ext>
            </a:extLst>
          </p:cNvPr>
          <p:cNvSpPr/>
          <p:nvPr/>
        </p:nvSpPr>
        <p:spPr>
          <a:xfrm>
            <a:off x="4626168" y="800903"/>
            <a:ext cx="4266312" cy="295876"/>
          </a:xfrm>
          <a:prstGeom prst="roundRect">
            <a:avLst/>
          </a:prstGeom>
          <a:solidFill>
            <a:srgbClr val="006F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200" b="1" dirty="0">
                <a:solidFill>
                  <a:schemeClr val="bg1"/>
                </a:solidFill>
                <a:latin typeface="微軟正黑體" panose="020B0604030504040204" pitchFamily="34" charset="-120"/>
                <a:ea typeface="微軟正黑體" panose="020B0604030504040204" pitchFamily="34" charset="-120"/>
              </a:rPr>
              <a:t>按服務客戶數，勞埃德銀行集團位居英國第三大行</a:t>
            </a:r>
          </a:p>
        </p:txBody>
      </p:sp>
      <p:sp>
        <p:nvSpPr>
          <p:cNvPr id="23" name="文字方塊 22">
            <a:extLst>
              <a:ext uri="{FF2B5EF4-FFF2-40B4-BE49-F238E27FC236}">
                <a16:creationId xmlns:a16="http://schemas.microsoft.com/office/drawing/2014/main" id="{B304E58D-380A-4F8A-B2EB-ED6777C5CC2A}"/>
              </a:ext>
            </a:extLst>
          </p:cNvPr>
          <p:cNvSpPr txBox="1"/>
          <p:nvPr/>
        </p:nvSpPr>
        <p:spPr>
          <a:xfrm>
            <a:off x="179512" y="1127227"/>
            <a:ext cx="2997615" cy="276999"/>
          </a:xfrm>
          <a:prstGeom prst="rect">
            <a:avLst/>
          </a:prstGeom>
          <a:noFill/>
        </p:spPr>
        <p:txBody>
          <a:bodyPr wrap="none" rtlCol="0">
            <a:spAutoFit/>
          </a:bodyPr>
          <a:lstStyle/>
          <a:p>
            <a:r>
              <a:rPr lang="en-US" altLang="zh-TW" sz="1200" b="1" dirty="0">
                <a:latin typeface="微軟正黑體" panose="020B0604030504040204" pitchFamily="34" charset="-120"/>
                <a:ea typeface="微軟正黑體" panose="020B0604030504040204" pitchFamily="34" charset="-120"/>
              </a:rPr>
              <a:t>Top 50 European banks by total assets</a:t>
            </a:r>
            <a:endParaRPr lang="zh-TW" altLang="en-US" sz="1200" b="1" dirty="0">
              <a:latin typeface="微軟正黑體" panose="020B0604030504040204" pitchFamily="34" charset="-120"/>
              <a:ea typeface="微軟正黑體" panose="020B0604030504040204" pitchFamily="34" charset="-120"/>
            </a:endParaRPr>
          </a:p>
        </p:txBody>
      </p:sp>
      <p:grpSp>
        <p:nvGrpSpPr>
          <p:cNvPr id="24" name="群組 23">
            <a:extLst>
              <a:ext uri="{FF2B5EF4-FFF2-40B4-BE49-F238E27FC236}">
                <a16:creationId xmlns:a16="http://schemas.microsoft.com/office/drawing/2014/main" id="{4393F969-4F2A-43AF-88DA-BC24A1B752D4}"/>
              </a:ext>
            </a:extLst>
          </p:cNvPr>
          <p:cNvGrpSpPr/>
          <p:nvPr/>
        </p:nvGrpSpPr>
        <p:grpSpPr>
          <a:xfrm>
            <a:off x="228419" y="1445515"/>
            <a:ext cx="4254753" cy="1983485"/>
            <a:chOff x="228419" y="1492334"/>
            <a:chExt cx="4254753" cy="1983485"/>
          </a:xfrm>
        </p:grpSpPr>
        <p:pic>
          <p:nvPicPr>
            <p:cNvPr id="19" name="圖片 18">
              <a:extLst>
                <a:ext uri="{FF2B5EF4-FFF2-40B4-BE49-F238E27FC236}">
                  <a16:creationId xmlns:a16="http://schemas.microsoft.com/office/drawing/2014/main" id="{C5B13EC1-71ED-4CFC-8B9F-ED8A3CFBD9F3}"/>
                </a:ext>
              </a:extLst>
            </p:cNvPr>
            <p:cNvPicPr>
              <a:picLocks noChangeAspect="1"/>
            </p:cNvPicPr>
            <p:nvPr/>
          </p:nvPicPr>
          <p:blipFill rotWithShape="1">
            <a:blip r:embed="rId7">
              <a:extLst>
                <a:ext uri="{28A0092B-C50C-407E-A947-70E740481C1C}">
                  <a14:useLocalDpi xmlns:a14="http://schemas.microsoft.com/office/drawing/2010/main" val="0"/>
                </a:ext>
              </a:extLst>
            </a:blip>
            <a:srcRect t="1172" r="25679"/>
            <a:stretch/>
          </p:blipFill>
          <p:spPr>
            <a:xfrm>
              <a:off x="228419" y="1492335"/>
              <a:ext cx="3685761" cy="1983483"/>
            </a:xfrm>
            <a:prstGeom prst="rect">
              <a:avLst/>
            </a:prstGeom>
            <a:noFill/>
            <a:ln>
              <a:noFill/>
            </a:ln>
          </p:spPr>
        </p:pic>
        <p:pic>
          <p:nvPicPr>
            <p:cNvPr id="39" name="圖片 38">
              <a:extLst>
                <a:ext uri="{FF2B5EF4-FFF2-40B4-BE49-F238E27FC236}">
                  <a16:creationId xmlns:a16="http://schemas.microsoft.com/office/drawing/2014/main" id="{FC36C936-344E-4E0A-BB3E-7512AC659487}"/>
                </a:ext>
              </a:extLst>
            </p:cNvPr>
            <p:cNvPicPr>
              <a:picLocks noChangeAspect="1"/>
            </p:cNvPicPr>
            <p:nvPr/>
          </p:nvPicPr>
          <p:blipFill rotWithShape="1">
            <a:blip r:embed="rId8">
              <a:extLst>
                <a:ext uri="{28A0092B-C50C-407E-A947-70E740481C1C}">
                  <a14:useLocalDpi xmlns:a14="http://schemas.microsoft.com/office/drawing/2010/main" val="0"/>
                </a:ext>
              </a:extLst>
            </a:blip>
            <a:srcRect l="88250" t="1170" r="277" b="2"/>
            <a:stretch/>
          </p:blipFill>
          <p:spPr>
            <a:xfrm>
              <a:off x="3914180" y="1492334"/>
              <a:ext cx="568992" cy="1983485"/>
            </a:xfrm>
            <a:prstGeom prst="rect">
              <a:avLst/>
            </a:prstGeom>
          </p:spPr>
        </p:pic>
      </p:grpSp>
      <p:sp>
        <p:nvSpPr>
          <p:cNvPr id="50" name="矩形 49">
            <a:extLst>
              <a:ext uri="{FF2B5EF4-FFF2-40B4-BE49-F238E27FC236}">
                <a16:creationId xmlns:a16="http://schemas.microsoft.com/office/drawing/2014/main" id="{9F45D892-DB08-4FBB-81B4-5EDDFF2B0204}"/>
              </a:ext>
            </a:extLst>
          </p:cNvPr>
          <p:cNvSpPr/>
          <p:nvPr/>
        </p:nvSpPr>
        <p:spPr>
          <a:xfrm>
            <a:off x="241168" y="2824395"/>
            <a:ext cx="4242004" cy="125738"/>
          </a:xfrm>
          <a:prstGeom prst="rect">
            <a:avLst/>
          </a:prstGeom>
          <a:noFill/>
          <a:ln w="1905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41" name="圖片 40">
            <a:extLst>
              <a:ext uri="{FF2B5EF4-FFF2-40B4-BE49-F238E27FC236}">
                <a16:creationId xmlns:a16="http://schemas.microsoft.com/office/drawing/2014/main" id="{8A802DB8-ABFD-4A16-9D83-B2CE613BE589}"/>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l="1458" t="17015" r="28161" b="8572"/>
          <a:stretch/>
        </p:blipFill>
        <p:spPr>
          <a:xfrm>
            <a:off x="4645177" y="1412776"/>
            <a:ext cx="3685761" cy="2016940"/>
          </a:xfrm>
          <a:prstGeom prst="rect">
            <a:avLst/>
          </a:prstGeom>
        </p:spPr>
      </p:pic>
      <p:sp>
        <p:nvSpPr>
          <p:cNvPr id="45" name="文字方塊 44">
            <a:extLst>
              <a:ext uri="{FF2B5EF4-FFF2-40B4-BE49-F238E27FC236}">
                <a16:creationId xmlns:a16="http://schemas.microsoft.com/office/drawing/2014/main" id="{8F066C82-92D8-4D55-BB06-165DC584F994}"/>
              </a:ext>
            </a:extLst>
          </p:cNvPr>
          <p:cNvSpPr txBox="1"/>
          <p:nvPr/>
        </p:nvSpPr>
        <p:spPr>
          <a:xfrm>
            <a:off x="4572000" y="1117894"/>
            <a:ext cx="4572000" cy="276999"/>
          </a:xfrm>
          <a:prstGeom prst="rect">
            <a:avLst/>
          </a:prstGeom>
          <a:noFill/>
        </p:spPr>
        <p:txBody>
          <a:bodyPr wrap="square">
            <a:spAutoFit/>
          </a:bodyPr>
          <a:lstStyle/>
          <a:p>
            <a:r>
              <a:rPr lang="en-US" altLang="zh-TW" sz="1200" b="1" dirty="0">
                <a:latin typeface="微軟正黑體" panose="020B0604030504040204" pitchFamily="34" charset="-120"/>
                <a:ea typeface="微軟正黑體" panose="020B0604030504040204" pitchFamily="34" charset="-120"/>
              </a:rPr>
              <a:t>Leading banks in the UK in 2025, by number of customers</a:t>
            </a:r>
            <a:endParaRPr lang="zh-TW" altLang="en-US" sz="1200" b="1" dirty="0">
              <a:latin typeface="微軟正黑體" panose="020B0604030504040204" pitchFamily="34" charset="-120"/>
              <a:ea typeface="微軟正黑體" panose="020B0604030504040204" pitchFamily="34" charset="-120"/>
            </a:endParaRPr>
          </a:p>
        </p:txBody>
      </p:sp>
      <p:graphicFrame>
        <p:nvGraphicFramePr>
          <p:cNvPr id="31" name="表格 32">
            <a:extLst>
              <a:ext uri="{FF2B5EF4-FFF2-40B4-BE49-F238E27FC236}">
                <a16:creationId xmlns:a16="http://schemas.microsoft.com/office/drawing/2014/main" id="{43471E45-5C03-4526-BFDB-76347B425FA0}"/>
              </a:ext>
            </a:extLst>
          </p:cNvPr>
          <p:cNvGraphicFramePr>
            <a:graphicFrameLocks noGrp="1"/>
          </p:cNvGraphicFramePr>
          <p:nvPr>
            <p:extLst>
              <p:ext uri="{D42A27DB-BD31-4B8C-83A1-F6EECF244321}">
                <p14:modId xmlns:p14="http://schemas.microsoft.com/office/powerpoint/2010/main" val="1355528772"/>
              </p:ext>
            </p:extLst>
          </p:nvPr>
        </p:nvGraphicFramePr>
        <p:xfrm>
          <a:off x="4624912" y="3961788"/>
          <a:ext cx="2107328" cy="2346960"/>
        </p:xfrm>
        <a:graphic>
          <a:graphicData uri="http://schemas.openxmlformats.org/drawingml/2006/table">
            <a:tbl>
              <a:tblPr firstRow="1" bandRow="1">
                <a:tableStyleId>{5C22544A-7EE6-4342-B048-85BDC9FD1C3A}</a:tableStyleId>
              </a:tblPr>
              <a:tblGrid>
                <a:gridCol w="1298729">
                  <a:extLst>
                    <a:ext uri="{9D8B030D-6E8A-4147-A177-3AD203B41FA5}">
                      <a16:colId xmlns:a16="http://schemas.microsoft.com/office/drawing/2014/main" val="243358569"/>
                    </a:ext>
                  </a:extLst>
                </a:gridCol>
                <a:gridCol w="300890">
                  <a:extLst>
                    <a:ext uri="{9D8B030D-6E8A-4147-A177-3AD203B41FA5}">
                      <a16:colId xmlns:a16="http://schemas.microsoft.com/office/drawing/2014/main" val="1512715360"/>
                    </a:ext>
                  </a:extLst>
                </a:gridCol>
                <a:gridCol w="507709">
                  <a:extLst>
                    <a:ext uri="{9D8B030D-6E8A-4147-A177-3AD203B41FA5}">
                      <a16:colId xmlns:a16="http://schemas.microsoft.com/office/drawing/2014/main" val="3132558217"/>
                    </a:ext>
                  </a:extLst>
                </a:gridCol>
              </a:tblGrid>
              <a:tr h="207611">
                <a:tc>
                  <a:txBody>
                    <a:bodyPr/>
                    <a:lstStyle/>
                    <a:p>
                      <a:r>
                        <a:rPr lang="en-US" altLang="zh-TW" sz="800" dirty="0">
                          <a:solidFill>
                            <a:schemeClr val="bg1"/>
                          </a:solidFill>
                          <a:latin typeface="微軟正黑體" panose="020B0604030504040204" pitchFamily="34" charset="-120"/>
                          <a:ea typeface="微軟正黑體" panose="020B0604030504040204" pitchFamily="34" charset="-120"/>
                        </a:rPr>
                        <a:t>COMPANY</a:t>
                      </a:r>
                      <a:endParaRPr lang="zh-TW" altLang="en-US" sz="800" dirty="0">
                        <a:solidFill>
                          <a:schemeClr val="bg1"/>
                        </a:solidFill>
                        <a:latin typeface="微軟正黑體" panose="020B0604030504040204" pitchFamily="34" charset="-120"/>
                        <a:ea typeface="微軟正黑體" panose="020B0604030504040204" pitchFamily="34" charset="-120"/>
                      </a:endParaRPr>
                    </a:p>
                  </a:txBody>
                  <a:tcPr>
                    <a:solidFill>
                      <a:srgbClr val="006F52"/>
                    </a:solidFill>
                  </a:tcPr>
                </a:tc>
                <a:tc gridSpan="2">
                  <a:txBody>
                    <a:bodyPr/>
                    <a:lstStyle/>
                    <a:p>
                      <a:r>
                        <a:rPr lang="en-US" altLang="zh-TW" sz="800" dirty="0">
                          <a:solidFill>
                            <a:schemeClr val="bg1"/>
                          </a:solidFill>
                          <a:latin typeface="微軟正黑體" panose="020B0604030504040204" pitchFamily="34" charset="-120"/>
                          <a:ea typeface="微軟正黑體" panose="020B0604030504040204" pitchFamily="34" charset="-120"/>
                        </a:rPr>
                        <a:t>RANK</a:t>
                      </a:r>
                      <a:endParaRPr lang="zh-TW" altLang="en-US" sz="800" dirty="0">
                        <a:solidFill>
                          <a:schemeClr val="bg1"/>
                        </a:solidFill>
                        <a:latin typeface="微軟正黑體" panose="020B0604030504040204" pitchFamily="34" charset="-120"/>
                        <a:ea typeface="微軟正黑體" panose="020B0604030504040204" pitchFamily="34" charset="-120"/>
                      </a:endParaRPr>
                    </a:p>
                  </a:txBody>
                  <a:tcPr>
                    <a:solidFill>
                      <a:srgbClr val="006F52"/>
                    </a:solidFill>
                  </a:tcPr>
                </a:tc>
                <a:tc hMerge="1">
                  <a:txBody>
                    <a:bodyPr/>
                    <a:lstStyle/>
                    <a:p>
                      <a:endParaRPr lang="zh-TW" altLang="en-US" sz="1050" dirty="0">
                        <a:solidFill>
                          <a:schemeClr val="tx1"/>
                        </a:solidFill>
                        <a:latin typeface="微軟正黑體" panose="020B0604030504040204" pitchFamily="34" charset="-120"/>
                        <a:ea typeface="微軟正黑體" panose="020B0604030504040204" pitchFamily="34" charset="-120"/>
                      </a:endParaRPr>
                    </a:p>
                  </a:txBody>
                  <a:tcPr>
                    <a:noFill/>
                  </a:tcPr>
                </a:tc>
                <a:extLst>
                  <a:ext uri="{0D108BD9-81ED-4DB2-BD59-A6C34878D82A}">
                    <a16:rowId xmlns:a16="http://schemas.microsoft.com/office/drawing/2014/main" val="574503605"/>
                  </a:ext>
                </a:extLst>
              </a:tr>
              <a:tr h="207611">
                <a:tc>
                  <a:txBody>
                    <a:bodyPr/>
                    <a:lstStyle/>
                    <a:p>
                      <a:r>
                        <a:rPr lang="en-US" altLang="zh-TW" sz="800" dirty="0" err="1">
                          <a:latin typeface="微軟正黑體" panose="020B0604030504040204" pitchFamily="34" charset="-120"/>
                          <a:ea typeface="微軟正黑體" panose="020B0604030504040204" pitchFamily="34" charset="-120"/>
                        </a:rPr>
                        <a:t>JPMorganChase</a:t>
                      </a:r>
                      <a:endParaRPr lang="zh-TW" altLang="en-US" sz="800" dirty="0">
                        <a:latin typeface="微軟正黑體" panose="020B0604030504040204" pitchFamily="34" charset="-120"/>
                        <a:ea typeface="微軟正黑體" panose="020B0604030504040204" pitchFamily="34" charset="-120"/>
                      </a:endParaRPr>
                    </a:p>
                  </a:txBody>
                  <a:tcPr>
                    <a:solidFill>
                      <a:schemeClr val="bg1"/>
                    </a:solidFill>
                  </a:tcPr>
                </a:tc>
                <a:tc>
                  <a:txBody>
                    <a:bodyPr/>
                    <a:lstStyle/>
                    <a:p>
                      <a:r>
                        <a:rPr lang="en-US" altLang="zh-TW" sz="800" dirty="0">
                          <a:latin typeface="微軟正黑體" panose="020B0604030504040204" pitchFamily="34" charset="-120"/>
                          <a:ea typeface="微軟正黑體" panose="020B0604030504040204" pitchFamily="34" charset="-120"/>
                        </a:rPr>
                        <a:t>1</a:t>
                      </a:r>
                      <a:endParaRPr lang="zh-TW" altLang="en-US" sz="800" dirty="0">
                        <a:latin typeface="微軟正黑體" panose="020B0604030504040204" pitchFamily="34" charset="-120"/>
                        <a:ea typeface="微軟正黑體" panose="020B0604030504040204" pitchFamily="34" charset="-120"/>
                      </a:endParaRPr>
                    </a:p>
                  </a:txBody>
                  <a:tcPr>
                    <a:lnR w="12700" cap="flat" cmpd="sng" algn="ctr">
                      <a:noFill/>
                      <a:prstDash val="solid"/>
                      <a:round/>
                      <a:headEnd type="none" w="med" len="med"/>
                      <a:tailEnd type="none" w="med" len="med"/>
                    </a:lnR>
                    <a:solidFill>
                      <a:schemeClr val="bg1"/>
                    </a:solidFill>
                  </a:tcPr>
                </a:tc>
                <a:tc>
                  <a:txBody>
                    <a:bodyPr/>
                    <a:lstStyle/>
                    <a:p>
                      <a:pPr algn="r"/>
                      <a:r>
                        <a:rPr lang="en-US" altLang="zh-TW" sz="800" dirty="0">
                          <a:solidFill>
                            <a:schemeClr val="bg1">
                              <a:lumMod val="65000"/>
                            </a:schemeClr>
                          </a:solidFill>
                          <a:latin typeface="微軟正黑體" panose="020B0604030504040204" pitchFamily="34" charset="-120"/>
                          <a:ea typeface="微軟正黑體" panose="020B0604030504040204" pitchFamily="34" charset="-120"/>
                        </a:rPr>
                        <a:t>-</a:t>
                      </a:r>
                      <a:endParaRPr lang="zh-TW" altLang="en-US" sz="800" dirty="0">
                        <a:solidFill>
                          <a:schemeClr val="bg1">
                            <a:lumMod val="65000"/>
                          </a:schemeClr>
                        </a:solidFill>
                        <a:latin typeface="微軟正黑體" panose="020B0604030504040204" pitchFamily="34" charset="-120"/>
                        <a:ea typeface="微軟正黑體" panose="020B0604030504040204" pitchFamily="34" charset="-120"/>
                      </a:endParaRPr>
                    </a:p>
                  </a:txBody>
                  <a:tcPr>
                    <a:lnL w="12700" cap="flat" cmpd="sng" algn="ctr">
                      <a:noFill/>
                      <a:prstDash val="solid"/>
                      <a:round/>
                      <a:headEnd type="none" w="med" len="med"/>
                      <a:tailEnd type="none" w="med" len="med"/>
                    </a:lnL>
                    <a:solidFill>
                      <a:schemeClr val="bg1"/>
                    </a:solidFill>
                  </a:tcPr>
                </a:tc>
                <a:extLst>
                  <a:ext uri="{0D108BD9-81ED-4DB2-BD59-A6C34878D82A}">
                    <a16:rowId xmlns:a16="http://schemas.microsoft.com/office/drawing/2014/main" val="1074418619"/>
                  </a:ext>
                </a:extLst>
              </a:tr>
              <a:tr h="207611">
                <a:tc>
                  <a:txBody>
                    <a:bodyPr/>
                    <a:lstStyle/>
                    <a:p>
                      <a:r>
                        <a:rPr lang="en-US" altLang="zh-TW" sz="800" dirty="0">
                          <a:latin typeface="微軟正黑體" panose="020B0604030504040204" pitchFamily="34" charset="-120"/>
                          <a:ea typeface="微軟正黑體" panose="020B0604030504040204" pitchFamily="34" charset="-120"/>
                        </a:rPr>
                        <a:t>Capital One</a:t>
                      </a:r>
                      <a:endParaRPr lang="zh-TW" altLang="en-US" sz="800" dirty="0">
                        <a:latin typeface="微軟正黑體" panose="020B0604030504040204" pitchFamily="34" charset="-120"/>
                        <a:ea typeface="微軟正黑體" panose="020B0604030504040204" pitchFamily="34" charset="-120"/>
                      </a:endParaRPr>
                    </a:p>
                  </a:txBody>
                  <a:tcPr>
                    <a:solidFill>
                      <a:schemeClr val="bg1"/>
                    </a:solidFill>
                  </a:tcPr>
                </a:tc>
                <a:tc>
                  <a:txBody>
                    <a:bodyPr/>
                    <a:lstStyle/>
                    <a:p>
                      <a:r>
                        <a:rPr lang="en-US" altLang="zh-TW" sz="800" dirty="0">
                          <a:latin typeface="微軟正黑體" panose="020B0604030504040204" pitchFamily="34" charset="-120"/>
                          <a:ea typeface="微軟正黑體" panose="020B0604030504040204" pitchFamily="34" charset="-120"/>
                        </a:rPr>
                        <a:t>2</a:t>
                      </a:r>
                      <a:endParaRPr lang="zh-TW" altLang="en-US" sz="800" dirty="0">
                        <a:latin typeface="微軟正黑體" panose="020B0604030504040204" pitchFamily="34" charset="-120"/>
                        <a:ea typeface="微軟正黑體" panose="020B0604030504040204" pitchFamily="34" charset="-120"/>
                      </a:endParaRPr>
                    </a:p>
                  </a:txBody>
                  <a:tcPr>
                    <a:lnR w="12700" cap="flat" cmpd="sng" algn="ctr">
                      <a:noFill/>
                      <a:prstDash val="solid"/>
                      <a:round/>
                      <a:headEnd type="none" w="med" len="med"/>
                      <a:tailEnd type="none" w="med" len="med"/>
                    </a:lnR>
                    <a:solidFill>
                      <a:schemeClr val="bg1"/>
                    </a:solidFill>
                  </a:tcPr>
                </a:tc>
                <a:tc>
                  <a:txBody>
                    <a:bodyPr/>
                    <a:lstStyle/>
                    <a:p>
                      <a:pPr algn="r"/>
                      <a:r>
                        <a:rPr lang="en-US" altLang="zh-TW" sz="800" dirty="0">
                          <a:solidFill>
                            <a:schemeClr val="bg1">
                              <a:lumMod val="65000"/>
                            </a:schemeClr>
                          </a:solidFill>
                          <a:latin typeface="微軟正黑體" panose="020B0604030504040204" pitchFamily="34" charset="-120"/>
                          <a:ea typeface="微軟正黑體" panose="020B0604030504040204" pitchFamily="34" charset="-120"/>
                        </a:rPr>
                        <a:t>-</a:t>
                      </a:r>
                      <a:endParaRPr lang="zh-TW" altLang="en-US" sz="800" dirty="0">
                        <a:solidFill>
                          <a:schemeClr val="bg1">
                            <a:lumMod val="65000"/>
                          </a:schemeClr>
                        </a:solidFill>
                        <a:latin typeface="微軟正黑體" panose="020B0604030504040204" pitchFamily="34" charset="-120"/>
                        <a:ea typeface="微軟正黑體" panose="020B0604030504040204" pitchFamily="34" charset="-120"/>
                      </a:endParaRPr>
                    </a:p>
                  </a:txBody>
                  <a:tcPr>
                    <a:lnL w="12700" cap="flat" cmpd="sng" algn="ctr">
                      <a:noFill/>
                      <a:prstDash val="solid"/>
                      <a:round/>
                      <a:headEnd type="none" w="med" len="med"/>
                      <a:tailEnd type="none" w="med" len="med"/>
                    </a:lnL>
                    <a:solidFill>
                      <a:schemeClr val="bg1"/>
                    </a:solidFill>
                  </a:tcPr>
                </a:tc>
                <a:extLst>
                  <a:ext uri="{0D108BD9-81ED-4DB2-BD59-A6C34878D82A}">
                    <a16:rowId xmlns:a16="http://schemas.microsoft.com/office/drawing/2014/main" val="4092064408"/>
                  </a:ext>
                </a:extLst>
              </a:tr>
              <a:tr h="210175">
                <a:tc>
                  <a:txBody>
                    <a:bodyPr/>
                    <a:lstStyle/>
                    <a:p>
                      <a:r>
                        <a:rPr lang="en-US" altLang="zh-TW" sz="800" dirty="0">
                          <a:latin typeface="微軟正黑體" panose="020B0604030504040204" pitchFamily="34" charset="-120"/>
                          <a:ea typeface="微軟正黑體" panose="020B0604030504040204" pitchFamily="34" charset="-120"/>
                        </a:rPr>
                        <a:t>Royal Bank of Canada</a:t>
                      </a:r>
                      <a:endParaRPr lang="zh-TW" altLang="en-US" sz="800" dirty="0">
                        <a:latin typeface="微軟正黑體" panose="020B0604030504040204" pitchFamily="34" charset="-120"/>
                        <a:ea typeface="微軟正黑體" panose="020B0604030504040204" pitchFamily="34" charset="-120"/>
                      </a:endParaRPr>
                    </a:p>
                  </a:txBody>
                  <a:tcPr>
                    <a:solidFill>
                      <a:schemeClr val="bg1"/>
                    </a:solidFill>
                  </a:tcPr>
                </a:tc>
                <a:tc>
                  <a:txBody>
                    <a:bodyPr/>
                    <a:lstStyle/>
                    <a:p>
                      <a:r>
                        <a:rPr lang="en-US" altLang="zh-TW" sz="800" dirty="0">
                          <a:latin typeface="微軟正黑體" panose="020B0604030504040204" pitchFamily="34" charset="-120"/>
                          <a:ea typeface="微軟正黑體" panose="020B0604030504040204" pitchFamily="34" charset="-120"/>
                        </a:rPr>
                        <a:t>3</a:t>
                      </a:r>
                      <a:endParaRPr lang="zh-TW" altLang="en-US" sz="800" dirty="0">
                        <a:latin typeface="微軟正黑體" panose="020B0604030504040204" pitchFamily="34" charset="-120"/>
                        <a:ea typeface="微軟正黑體" panose="020B0604030504040204" pitchFamily="34" charset="-120"/>
                      </a:endParaRPr>
                    </a:p>
                  </a:txBody>
                  <a:tcPr>
                    <a:lnR w="12700" cap="flat" cmpd="sng" algn="ctr">
                      <a:noFill/>
                      <a:prstDash val="solid"/>
                      <a:round/>
                      <a:headEnd type="none" w="med" len="med"/>
                      <a:tailEnd type="none" w="med" len="med"/>
                    </a:lnR>
                    <a:solidFill>
                      <a:schemeClr val="bg1"/>
                    </a:solidFill>
                  </a:tcPr>
                </a:tc>
                <a:tc>
                  <a:txBody>
                    <a:bodyPr/>
                    <a:lstStyle/>
                    <a:p>
                      <a:pPr algn="r"/>
                      <a:r>
                        <a:rPr lang="en-US" altLang="zh-TW" sz="800" dirty="0">
                          <a:solidFill>
                            <a:schemeClr val="bg1">
                              <a:lumMod val="65000"/>
                            </a:schemeClr>
                          </a:solidFill>
                          <a:latin typeface="微軟正黑體" panose="020B0604030504040204" pitchFamily="34" charset="-120"/>
                          <a:ea typeface="微軟正黑體" panose="020B0604030504040204" pitchFamily="34" charset="-120"/>
                        </a:rPr>
                        <a:t>-</a:t>
                      </a:r>
                      <a:endParaRPr lang="zh-TW" altLang="en-US" sz="800" dirty="0">
                        <a:solidFill>
                          <a:schemeClr val="bg1">
                            <a:lumMod val="65000"/>
                          </a:schemeClr>
                        </a:solidFill>
                        <a:latin typeface="微軟正黑體" panose="020B0604030504040204" pitchFamily="34" charset="-120"/>
                        <a:ea typeface="微軟正黑體" panose="020B0604030504040204" pitchFamily="34" charset="-120"/>
                      </a:endParaRPr>
                    </a:p>
                  </a:txBody>
                  <a:tcPr>
                    <a:lnL w="12700" cap="flat" cmpd="sng" algn="ctr">
                      <a:noFill/>
                      <a:prstDash val="solid"/>
                      <a:round/>
                      <a:headEnd type="none" w="med" len="med"/>
                      <a:tailEnd type="none" w="med" len="med"/>
                    </a:lnL>
                    <a:solidFill>
                      <a:schemeClr val="bg1"/>
                    </a:solidFill>
                  </a:tcPr>
                </a:tc>
                <a:extLst>
                  <a:ext uri="{0D108BD9-81ED-4DB2-BD59-A6C34878D82A}">
                    <a16:rowId xmlns:a16="http://schemas.microsoft.com/office/drawing/2014/main" val="2429666131"/>
                  </a:ext>
                </a:extLst>
              </a:tr>
              <a:tr h="207611">
                <a:tc>
                  <a:txBody>
                    <a:bodyPr/>
                    <a:lstStyle/>
                    <a:p>
                      <a:r>
                        <a:rPr lang="en-US" altLang="zh-TW" sz="800" dirty="0">
                          <a:latin typeface="微軟正黑體" panose="020B0604030504040204" pitchFamily="34" charset="-120"/>
                          <a:ea typeface="微軟正黑體" panose="020B0604030504040204" pitchFamily="34" charset="-120"/>
                        </a:rPr>
                        <a:t>CommBank</a:t>
                      </a:r>
                      <a:endParaRPr lang="zh-TW" altLang="en-US" sz="800" dirty="0">
                        <a:latin typeface="微軟正黑體" panose="020B0604030504040204" pitchFamily="34" charset="-120"/>
                        <a:ea typeface="微軟正黑體" panose="020B0604030504040204" pitchFamily="34" charset="-120"/>
                      </a:endParaRPr>
                    </a:p>
                  </a:txBody>
                  <a:tcPr>
                    <a:solidFill>
                      <a:schemeClr val="bg1"/>
                    </a:solidFill>
                  </a:tcPr>
                </a:tc>
                <a:tc>
                  <a:txBody>
                    <a:bodyPr/>
                    <a:lstStyle/>
                    <a:p>
                      <a:r>
                        <a:rPr lang="en-US" altLang="zh-TW" sz="800" dirty="0">
                          <a:latin typeface="微軟正黑體" panose="020B0604030504040204" pitchFamily="34" charset="-120"/>
                          <a:ea typeface="微軟正黑體" panose="020B0604030504040204" pitchFamily="34" charset="-120"/>
                        </a:rPr>
                        <a:t>4</a:t>
                      </a:r>
                      <a:endParaRPr lang="zh-TW" altLang="en-US" sz="800" dirty="0">
                        <a:latin typeface="微軟正黑體" panose="020B0604030504040204" pitchFamily="34" charset="-120"/>
                        <a:ea typeface="微軟正黑體" panose="020B0604030504040204" pitchFamily="34" charset="-120"/>
                      </a:endParaRPr>
                    </a:p>
                  </a:txBody>
                  <a:tcPr>
                    <a:lnR w="12700" cap="flat" cmpd="sng" algn="ctr">
                      <a:noFill/>
                      <a:prstDash val="solid"/>
                      <a:round/>
                      <a:headEnd type="none" w="med" len="med"/>
                      <a:tailEnd type="none" w="med" len="med"/>
                    </a:lnR>
                    <a:solidFill>
                      <a:schemeClr val="bg1"/>
                    </a:solidFill>
                  </a:tcPr>
                </a:tc>
                <a:tc>
                  <a:txBody>
                    <a:bodyPr/>
                    <a:lstStyle/>
                    <a:p>
                      <a:pPr algn="r"/>
                      <a:r>
                        <a:rPr lang="zh-TW" altLang="en-US" sz="800" dirty="0">
                          <a:solidFill>
                            <a:schemeClr val="bg1">
                              <a:lumMod val="65000"/>
                            </a:schemeClr>
                          </a:solidFill>
                          <a:latin typeface="微軟正黑體" panose="020B0604030504040204" pitchFamily="34" charset="-120"/>
                          <a:ea typeface="微軟正黑體" panose="020B0604030504040204" pitchFamily="34" charset="-120"/>
                        </a:rPr>
                        <a:t>↑</a:t>
                      </a:r>
                      <a:r>
                        <a:rPr lang="en-US" altLang="zh-TW" sz="800" dirty="0">
                          <a:solidFill>
                            <a:schemeClr val="bg1">
                              <a:lumMod val="65000"/>
                            </a:schemeClr>
                          </a:solidFill>
                          <a:latin typeface="微軟正黑體" panose="020B0604030504040204" pitchFamily="34" charset="-120"/>
                          <a:ea typeface="微軟正黑體" panose="020B0604030504040204" pitchFamily="34" charset="-120"/>
                        </a:rPr>
                        <a:t>1</a:t>
                      </a:r>
                      <a:endParaRPr lang="zh-TW" altLang="en-US" sz="800" dirty="0">
                        <a:solidFill>
                          <a:schemeClr val="bg1">
                            <a:lumMod val="65000"/>
                          </a:schemeClr>
                        </a:solidFill>
                        <a:latin typeface="微軟正黑體" panose="020B0604030504040204" pitchFamily="34" charset="-120"/>
                        <a:ea typeface="微軟正黑體" panose="020B0604030504040204" pitchFamily="34" charset="-120"/>
                      </a:endParaRPr>
                    </a:p>
                  </a:txBody>
                  <a:tcPr>
                    <a:lnL w="12700" cap="flat" cmpd="sng" algn="ctr">
                      <a:noFill/>
                      <a:prstDash val="solid"/>
                      <a:round/>
                      <a:headEnd type="none" w="med" len="med"/>
                      <a:tailEnd type="none" w="med" len="med"/>
                    </a:lnL>
                    <a:solidFill>
                      <a:schemeClr val="bg1"/>
                    </a:solidFill>
                  </a:tcPr>
                </a:tc>
                <a:extLst>
                  <a:ext uri="{0D108BD9-81ED-4DB2-BD59-A6C34878D82A}">
                    <a16:rowId xmlns:a16="http://schemas.microsoft.com/office/drawing/2014/main" val="4115941680"/>
                  </a:ext>
                </a:extLst>
              </a:tr>
              <a:tr h="207611">
                <a:tc>
                  <a:txBody>
                    <a:bodyPr/>
                    <a:lstStyle/>
                    <a:p>
                      <a:r>
                        <a:rPr lang="en-US" altLang="zh-TW" sz="800" dirty="0">
                          <a:latin typeface="微軟正黑體" panose="020B0604030504040204" pitchFamily="34" charset="-120"/>
                          <a:ea typeface="微軟正黑體" panose="020B0604030504040204" pitchFamily="34" charset="-120"/>
                        </a:rPr>
                        <a:t>Morgan Stanley</a:t>
                      </a:r>
                      <a:endParaRPr lang="zh-TW" altLang="en-US" sz="800" dirty="0">
                        <a:latin typeface="微軟正黑體" panose="020B0604030504040204" pitchFamily="34" charset="-120"/>
                        <a:ea typeface="微軟正黑體" panose="020B0604030504040204" pitchFamily="34" charset="-120"/>
                      </a:endParaRPr>
                    </a:p>
                  </a:txBody>
                  <a:tcPr>
                    <a:solidFill>
                      <a:schemeClr val="bg1"/>
                    </a:solidFill>
                  </a:tcPr>
                </a:tc>
                <a:tc>
                  <a:txBody>
                    <a:bodyPr/>
                    <a:lstStyle/>
                    <a:p>
                      <a:r>
                        <a:rPr lang="en-US" altLang="zh-TW" sz="800" dirty="0">
                          <a:latin typeface="微軟正黑體" panose="020B0604030504040204" pitchFamily="34" charset="-120"/>
                          <a:ea typeface="微軟正黑體" panose="020B0604030504040204" pitchFamily="34" charset="-120"/>
                        </a:rPr>
                        <a:t>5</a:t>
                      </a:r>
                      <a:endParaRPr lang="zh-TW" altLang="en-US" sz="800" dirty="0">
                        <a:latin typeface="微軟正黑體" panose="020B0604030504040204" pitchFamily="34" charset="-120"/>
                        <a:ea typeface="微軟正黑體" panose="020B0604030504040204" pitchFamily="34" charset="-120"/>
                      </a:endParaRPr>
                    </a:p>
                  </a:txBody>
                  <a:tcPr>
                    <a:lnR w="12700" cap="flat" cmpd="sng" algn="ctr">
                      <a:noFill/>
                      <a:prstDash val="solid"/>
                      <a:round/>
                      <a:headEnd type="none" w="med" len="med"/>
                      <a:tailEnd type="none" w="med" len="med"/>
                    </a:lnR>
                    <a:solidFill>
                      <a:schemeClr val="bg1"/>
                    </a:solidFill>
                  </a:tcPr>
                </a:tc>
                <a:tc>
                  <a:txBody>
                    <a:bodyPr/>
                    <a:lstStyle/>
                    <a:p>
                      <a:pPr algn="r"/>
                      <a:r>
                        <a:rPr lang="zh-TW" altLang="en-US" sz="800" dirty="0">
                          <a:solidFill>
                            <a:schemeClr val="bg1">
                              <a:lumMod val="65000"/>
                            </a:schemeClr>
                          </a:solidFill>
                          <a:latin typeface="微軟正黑體" panose="020B0604030504040204" pitchFamily="34" charset="-120"/>
                          <a:ea typeface="微軟正黑體" panose="020B0604030504040204" pitchFamily="34" charset="-120"/>
                        </a:rPr>
                        <a:t>↑</a:t>
                      </a:r>
                      <a:r>
                        <a:rPr lang="en-US" altLang="zh-TW" sz="800" dirty="0">
                          <a:solidFill>
                            <a:schemeClr val="bg1">
                              <a:lumMod val="65000"/>
                            </a:schemeClr>
                          </a:solidFill>
                          <a:latin typeface="微軟正黑體" panose="020B0604030504040204" pitchFamily="34" charset="-120"/>
                          <a:ea typeface="微軟正黑體" panose="020B0604030504040204" pitchFamily="34" charset="-120"/>
                        </a:rPr>
                        <a:t>5</a:t>
                      </a:r>
                      <a:endParaRPr lang="zh-TW" altLang="en-US" sz="800" dirty="0">
                        <a:solidFill>
                          <a:schemeClr val="bg1">
                            <a:lumMod val="65000"/>
                          </a:schemeClr>
                        </a:solidFill>
                        <a:latin typeface="微軟正黑體" panose="020B0604030504040204" pitchFamily="34" charset="-120"/>
                        <a:ea typeface="微軟正黑體" panose="020B0604030504040204" pitchFamily="34" charset="-120"/>
                      </a:endParaRPr>
                    </a:p>
                  </a:txBody>
                  <a:tcPr>
                    <a:lnL w="12700" cap="flat" cmpd="sng" algn="ctr">
                      <a:noFill/>
                      <a:prstDash val="solid"/>
                      <a:round/>
                      <a:headEnd type="none" w="med" len="med"/>
                      <a:tailEnd type="none" w="med" len="med"/>
                    </a:lnL>
                    <a:solidFill>
                      <a:schemeClr val="bg1"/>
                    </a:solidFill>
                  </a:tcPr>
                </a:tc>
                <a:extLst>
                  <a:ext uri="{0D108BD9-81ED-4DB2-BD59-A6C34878D82A}">
                    <a16:rowId xmlns:a16="http://schemas.microsoft.com/office/drawing/2014/main" val="1202127759"/>
                  </a:ext>
                </a:extLst>
              </a:tr>
              <a:tr h="207611">
                <a:tc>
                  <a:txBody>
                    <a:bodyPr/>
                    <a:lstStyle/>
                    <a:p>
                      <a:r>
                        <a:rPr lang="en-US" altLang="zh-TW" sz="800" dirty="0">
                          <a:latin typeface="微軟正黑體" panose="020B0604030504040204" pitchFamily="34" charset="-120"/>
                          <a:ea typeface="微軟正黑體" panose="020B0604030504040204" pitchFamily="34" charset="-120"/>
                        </a:rPr>
                        <a:t>Wells Fargo</a:t>
                      </a:r>
                      <a:endParaRPr lang="zh-TW" altLang="en-US" sz="800" dirty="0">
                        <a:latin typeface="微軟正黑體" panose="020B0604030504040204" pitchFamily="34" charset="-120"/>
                        <a:ea typeface="微軟正黑體" panose="020B0604030504040204" pitchFamily="34" charset="-120"/>
                      </a:endParaRPr>
                    </a:p>
                  </a:txBody>
                  <a:tcPr>
                    <a:solidFill>
                      <a:schemeClr val="bg1"/>
                    </a:solidFill>
                  </a:tcPr>
                </a:tc>
                <a:tc>
                  <a:txBody>
                    <a:bodyPr/>
                    <a:lstStyle/>
                    <a:p>
                      <a:r>
                        <a:rPr lang="en-US" altLang="zh-TW" sz="800" dirty="0">
                          <a:latin typeface="微軟正黑體" panose="020B0604030504040204" pitchFamily="34" charset="-120"/>
                          <a:ea typeface="微軟正黑體" panose="020B0604030504040204" pitchFamily="34" charset="-120"/>
                        </a:rPr>
                        <a:t>6</a:t>
                      </a:r>
                      <a:endParaRPr lang="zh-TW" altLang="en-US" sz="800" dirty="0">
                        <a:latin typeface="微軟正黑體" panose="020B0604030504040204" pitchFamily="34" charset="-120"/>
                        <a:ea typeface="微軟正黑體" panose="020B0604030504040204" pitchFamily="34" charset="-120"/>
                      </a:endParaRPr>
                    </a:p>
                  </a:txBody>
                  <a:tcPr>
                    <a:lnR w="12700" cap="flat" cmpd="sng" algn="ctr">
                      <a:noFill/>
                      <a:prstDash val="solid"/>
                      <a:round/>
                      <a:headEnd type="none" w="med" len="med"/>
                      <a:tailEnd type="none" w="med" len="med"/>
                    </a:lnR>
                    <a:solidFill>
                      <a:schemeClr val="bg1"/>
                    </a:solidFill>
                  </a:tcPr>
                </a:tc>
                <a:tc>
                  <a:txBody>
                    <a:bodyPr/>
                    <a:lstStyle/>
                    <a:p>
                      <a:pPr algn="r"/>
                      <a:r>
                        <a:rPr lang="zh-TW" altLang="en-US" sz="800" dirty="0">
                          <a:solidFill>
                            <a:schemeClr val="bg1">
                              <a:lumMod val="65000"/>
                            </a:schemeClr>
                          </a:solidFill>
                          <a:latin typeface="微軟正黑體" panose="020B0604030504040204" pitchFamily="34" charset="-120"/>
                          <a:ea typeface="微軟正黑體" panose="020B0604030504040204" pitchFamily="34" charset="-120"/>
                        </a:rPr>
                        <a:t>↓</a:t>
                      </a:r>
                      <a:r>
                        <a:rPr lang="en-US" altLang="zh-TW" sz="800" dirty="0">
                          <a:solidFill>
                            <a:schemeClr val="bg1">
                              <a:lumMod val="65000"/>
                            </a:schemeClr>
                          </a:solidFill>
                          <a:latin typeface="微軟正黑體" panose="020B0604030504040204" pitchFamily="34" charset="-120"/>
                          <a:ea typeface="微軟正黑體" panose="020B0604030504040204" pitchFamily="34" charset="-120"/>
                        </a:rPr>
                        <a:t>2</a:t>
                      </a:r>
                      <a:endParaRPr lang="zh-TW" altLang="en-US" sz="800" dirty="0">
                        <a:solidFill>
                          <a:schemeClr val="bg1">
                            <a:lumMod val="65000"/>
                          </a:schemeClr>
                        </a:solidFill>
                        <a:latin typeface="微軟正黑體" panose="020B0604030504040204" pitchFamily="34" charset="-120"/>
                        <a:ea typeface="微軟正黑體" panose="020B0604030504040204" pitchFamily="34" charset="-120"/>
                      </a:endParaRPr>
                    </a:p>
                  </a:txBody>
                  <a:tcPr>
                    <a:lnL w="12700" cap="flat" cmpd="sng" algn="ctr">
                      <a:noFill/>
                      <a:prstDash val="solid"/>
                      <a:round/>
                      <a:headEnd type="none" w="med" len="med"/>
                      <a:tailEnd type="none" w="med" len="med"/>
                    </a:lnL>
                    <a:solidFill>
                      <a:schemeClr val="bg1"/>
                    </a:solidFill>
                  </a:tcPr>
                </a:tc>
                <a:extLst>
                  <a:ext uri="{0D108BD9-81ED-4DB2-BD59-A6C34878D82A}">
                    <a16:rowId xmlns:a16="http://schemas.microsoft.com/office/drawing/2014/main" val="2831031863"/>
                  </a:ext>
                </a:extLst>
              </a:tr>
              <a:tr h="207611">
                <a:tc>
                  <a:txBody>
                    <a:bodyPr/>
                    <a:lstStyle/>
                    <a:p>
                      <a:r>
                        <a:rPr lang="en-US" altLang="zh-TW" sz="800" dirty="0">
                          <a:latin typeface="微軟正黑體" panose="020B0604030504040204" pitchFamily="34" charset="-120"/>
                          <a:ea typeface="微軟正黑體" panose="020B0604030504040204" pitchFamily="34" charset="-120"/>
                        </a:rPr>
                        <a:t>UBS</a:t>
                      </a:r>
                      <a:endParaRPr lang="zh-TW" altLang="en-US" sz="800" dirty="0">
                        <a:latin typeface="微軟正黑體" panose="020B0604030504040204" pitchFamily="34" charset="-120"/>
                        <a:ea typeface="微軟正黑體" panose="020B0604030504040204" pitchFamily="34" charset="-120"/>
                      </a:endParaRPr>
                    </a:p>
                  </a:txBody>
                  <a:tcPr>
                    <a:solidFill>
                      <a:schemeClr val="bg1"/>
                    </a:solidFill>
                  </a:tcPr>
                </a:tc>
                <a:tc>
                  <a:txBody>
                    <a:bodyPr/>
                    <a:lstStyle/>
                    <a:p>
                      <a:r>
                        <a:rPr lang="en-US" altLang="zh-TW" sz="800" dirty="0">
                          <a:latin typeface="微軟正黑體" panose="020B0604030504040204" pitchFamily="34" charset="-120"/>
                          <a:ea typeface="微軟正黑體" panose="020B0604030504040204" pitchFamily="34" charset="-120"/>
                        </a:rPr>
                        <a:t>7</a:t>
                      </a:r>
                      <a:endParaRPr lang="zh-TW" altLang="en-US" sz="800" dirty="0">
                        <a:latin typeface="微軟正黑體" panose="020B0604030504040204" pitchFamily="34" charset="-120"/>
                        <a:ea typeface="微軟正黑體" panose="020B0604030504040204" pitchFamily="34" charset="-120"/>
                      </a:endParaRPr>
                    </a:p>
                  </a:txBody>
                  <a:tcPr>
                    <a:lnR w="12700" cap="flat" cmpd="sng" algn="ctr">
                      <a:noFill/>
                      <a:prstDash val="solid"/>
                      <a:round/>
                      <a:headEnd type="none" w="med" len="med"/>
                      <a:tailEnd type="none" w="med" len="med"/>
                    </a:lnR>
                    <a:solidFill>
                      <a:schemeClr val="bg1"/>
                    </a:solidFill>
                  </a:tcPr>
                </a:tc>
                <a:tc>
                  <a:txBody>
                    <a:bodyPr/>
                    <a:lstStyle/>
                    <a:p>
                      <a:pPr algn="r"/>
                      <a:r>
                        <a:rPr lang="zh-TW" altLang="en-US" sz="800" dirty="0">
                          <a:solidFill>
                            <a:schemeClr val="bg1">
                              <a:lumMod val="65000"/>
                            </a:schemeClr>
                          </a:solidFill>
                          <a:latin typeface="微軟正黑體" panose="020B0604030504040204" pitchFamily="34" charset="-120"/>
                          <a:ea typeface="微軟正黑體" panose="020B0604030504040204" pitchFamily="34" charset="-120"/>
                        </a:rPr>
                        <a:t>↓</a:t>
                      </a:r>
                      <a:r>
                        <a:rPr lang="en-US" altLang="zh-TW" sz="800" dirty="0">
                          <a:solidFill>
                            <a:schemeClr val="bg1">
                              <a:lumMod val="65000"/>
                            </a:schemeClr>
                          </a:solidFill>
                          <a:latin typeface="微軟正黑體" panose="020B0604030504040204" pitchFamily="34" charset="-120"/>
                          <a:ea typeface="微軟正黑體" panose="020B0604030504040204" pitchFamily="34" charset="-120"/>
                        </a:rPr>
                        <a:t>1</a:t>
                      </a:r>
                      <a:endParaRPr lang="zh-TW" altLang="en-US" sz="800" dirty="0">
                        <a:solidFill>
                          <a:schemeClr val="bg1">
                            <a:lumMod val="65000"/>
                          </a:schemeClr>
                        </a:solidFill>
                        <a:latin typeface="微軟正黑體" panose="020B0604030504040204" pitchFamily="34" charset="-120"/>
                        <a:ea typeface="微軟正黑體" panose="020B0604030504040204" pitchFamily="34" charset="-120"/>
                      </a:endParaRPr>
                    </a:p>
                  </a:txBody>
                  <a:tcPr>
                    <a:lnL w="12700" cap="flat" cmpd="sng" algn="ctr">
                      <a:noFill/>
                      <a:prstDash val="solid"/>
                      <a:round/>
                      <a:headEnd type="none" w="med" len="med"/>
                      <a:tailEnd type="none" w="med" len="med"/>
                    </a:lnL>
                    <a:solidFill>
                      <a:schemeClr val="bg1"/>
                    </a:solidFill>
                  </a:tcPr>
                </a:tc>
                <a:extLst>
                  <a:ext uri="{0D108BD9-81ED-4DB2-BD59-A6C34878D82A}">
                    <a16:rowId xmlns:a16="http://schemas.microsoft.com/office/drawing/2014/main" val="1610726544"/>
                  </a:ext>
                </a:extLst>
              </a:tr>
              <a:tr h="207611">
                <a:tc>
                  <a:txBody>
                    <a:bodyPr/>
                    <a:lstStyle/>
                    <a:p>
                      <a:r>
                        <a:rPr lang="en-US" altLang="zh-TW" sz="800" dirty="0">
                          <a:latin typeface="微軟正黑體" panose="020B0604030504040204" pitchFamily="34" charset="-120"/>
                          <a:ea typeface="微軟正黑體" panose="020B0604030504040204" pitchFamily="34" charset="-120"/>
                        </a:rPr>
                        <a:t>HSBC</a:t>
                      </a:r>
                      <a:endParaRPr lang="zh-TW" altLang="en-US" sz="800" dirty="0">
                        <a:latin typeface="微軟正黑體" panose="020B0604030504040204" pitchFamily="34" charset="-120"/>
                        <a:ea typeface="微軟正黑體" panose="020B0604030504040204" pitchFamily="34" charset="-120"/>
                      </a:endParaRPr>
                    </a:p>
                  </a:txBody>
                  <a:tcPr>
                    <a:solidFill>
                      <a:schemeClr val="bg1"/>
                    </a:solidFill>
                  </a:tcPr>
                </a:tc>
                <a:tc>
                  <a:txBody>
                    <a:bodyPr/>
                    <a:lstStyle/>
                    <a:p>
                      <a:r>
                        <a:rPr lang="en-US" altLang="zh-TW" sz="800" dirty="0">
                          <a:latin typeface="微軟正黑體" panose="020B0604030504040204" pitchFamily="34" charset="-120"/>
                          <a:ea typeface="微軟正黑體" panose="020B0604030504040204" pitchFamily="34" charset="-120"/>
                        </a:rPr>
                        <a:t>8</a:t>
                      </a:r>
                      <a:endParaRPr lang="zh-TW" altLang="en-US" sz="800" dirty="0">
                        <a:latin typeface="微軟正黑體" panose="020B0604030504040204" pitchFamily="34" charset="-120"/>
                        <a:ea typeface="微軟正黑體" panose="020B0604030504040204" pitchFamily="34" charset="-120"/>
                      </a:endParaRPr>
                    </a:p>
                  </a:txBody>
                  <a:tcPr>
                    <a:lnR w="12700" cap="flat" cmpd="sng" algn="ctr">
                      <a:noFill/>
                      <a:prstDash val="solid"/>
                      <a:round/>
                      <a:headEnd type="none" w="med" len="med"/>
                      <a:tailEnd type="none" w="med" len="med"/>
                    </a:lnR>
                    <a:solidFill>
                      <a:schemeClr val="bg1"/>
                    </a:solidFill>
                  </a:tcPr>
                </a:tc>
                <a:tc>
                  <a:txBody>
                    <a:bodyPr/>
                    <a:lstStyle/>
                    <a:p>
                      <a:pPr algn="r"/>
                      <a:r>
                        <a:rPr lang="zh-TW" altLang="en-US" sz="800" dirty="0">
                          <a:solidFill>
                            <a:schemeClr val="bg1">
                              <a:lumMod val="65000"/>
                            </a:schemeClr>
                          </a:solidFill>
                          <a:latin typeface="微軟正黑體" panose="020B0604030504040204" pitchFamily="34" charset="-120"/>
                          <a:ea typeface="微軟正黑體" panose="020B0604030504040204" pitchFamily="34" charset="-120"/>
                        </a:rPr>
                        <a:t>↓</a:t>
                      </a:r>
                      <a:r>
                        <a:rPr lang="en-US" altLang="zh-TW" sz="800" dirty="0">
                          <a:solidFill>
                            <a:schemeClr val="bg1">
                              <a:lumMod val="65000"/>
                            </a:schemeClr>
                          </a:solidFill>
                          <a:latin typeface="微軟正黑體" panose="020B0604030504040204" pitchFamily="34" charset="-120"/>
                          <a:ea typeface="微軟正黑體" panose="020B0604030504040204" pitchFamily="34" charset="-120"/>
                        </a:rPr>
                        <a:t>1</a:t>
                      </a:r>
                      <a:endParaRPr lang="zh-TW" altLang="en-US" sz="800" dirty="0">
                        <a:solidFill>
                          <a:schemeClr val="bg1">
                            <a:lumMod val="65000"/>
                          </a:schemeClr>
                        </a:solidFill>
                        <a:latin typeface="微軟正黑體" panose="020B0604030504040204" pitchFamily="34" charset="-120"/>
                        <a:ea typeface="微軟正黑體" panose="020B0604030504040204" pitchFamily="34" charset="-120"/>
                      </a:endParaRPr>
                    </a:p>
                  </a:txBody>
                  <a:tcPr>
                    <a:lnL w="12700" cap="flat" cmpd="sng" algn="ctr">
                      <a:noFill/>
                      <a:prstDash val="solid"/>
                      <a:round/>
                      <a:headEnd type="none" w="med" len="med"/>
                      <a:tailEnd type="none" w="med" len="med"/>
                    </a:lnL>
                    <a:solidFill>
                      <a:schemeClr val="bg1"/>
                    </a:solidFill>
                  </a:tcPr>
                </a:tc>
                <a:extLst>
                  <a:ext uri="{0D108BD9-81ED-4DB2-BD59-A6C34878D82A}">
                    <a16:rowId xmlns:a16="http://schemas.microsoft.com/office/drawing/2014/main" val="239483420"/>
                  </a:ext>
                </a:extLst>
              </a:tr>
              <a:tr h="20761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800" dirty="0">
                          <a:latin typeface="微軟正黑體" panose="020B0604030504040204" pitchFamily="34" charset="-120"/>
                          <a:ea typeface="微軟正黑體" panose="020B0604030504040204" pitchFamily="34" charset="-120"/>
                        </a:rPr>
                        <a:t>Goldman Sachs</a:t>
                      </a:r>
                      <a:endParaRPr lang="zh-TW" altLang="en-US" sz="800" dirty="0">
                        <a:latin typeface="微軟正黑體" panose="020B0604030504040204" pitchFamily="34" charset="-120"/>
                        <a:ea typeface="微軟正黑體" panose="020B0604030504040204" pitchFamily="34" charset="-120"/>
                      </a:endParaRPr>
                    </a:p>
                  </a:txBody>
                  <a:tcPr>
                    <a:solidFill>
                      <a:schemeClr val="bg1"/>
                    </a:solidFill>
                  </a:tcPr>
                </a:tc>
                <a:tc>
                  <a:txBody>
                    <a:bodyPr/>
                    <a:lstStyle/>
                    <a:p>
                      <a:r>
                        <a:rPr lang="en-US" altLang="zh-TW" sz="800" dirty="0">
                          <a:latin typeface="微軟正黑體" panose="020B0604030504040204" pitchFamily="34" charset="-120"/>
                          <a:ea typeface="微軟正黑體" panose="020B0604030504040204" pitchFamily="34" charset="-120"/>
                        </a:rPr>
                        <a:t>9</a:t>
                      </a:r>
                      <a:endParaRPr lang="zh-TW" altLang="en-US" sz="800" dirty="0">
                        <a:latin typeface="微軟正黑體" panose="020B0604030504040204" pitchFamily="34" charset="-120"/>
                        <a:ea typeface="微軟正黑體" panose="020B0604030504040204" pitchFamily="34" charset="-120"/>
                      </a:endParaRPr>
                    </a:p>
                  </a:txBody>
                  <a:tcPr>
                    <a:lnR w="12700" cap="flat" cmpd="sng" algn="ctr">
                      <a:noFill/>
                      <a:prstDash val="solid"/>
                      <a:round/>
                      <a:headEnd type="none" w="med" len="med"/>
                      <a:tailEnd type="none" w="med" len="med"/>
                    </a:lnR>
                    <a:solidFill>
                      <a:schemeClr val="bg1"/>
                    </a:solidFill>
                  </a:tcPr>
                </a:tc>
                <a:tc>
                  <a:txBody>
                    <a:bodyPr/>
                    <a:lstStyle/>
                    <a:p>
                      <a:pPr algn="r"/>
                      <a:r>
                        <a:rPr lang="zh-TW" altLang="en-US" sz="800" dirty="0">
                          <a:solidFill>
                            <a:schemeClr val="bg1">
                              <a:lumMod val="65000"/>
                            </a:schemeClr>
                          </a:solidFill>
                          <a:latin typeface="微軟正黑體" panose="020B0604030504040204" pitchFamily="34" charset="-120"/>
                          <a:ea typeface="微軟正黑體" panose="020B0604030504040204" pitchFamily="34" charset="-120"/>
                        </a:rPr>
                        <a:t>↑</a:t>
                      </a:r>
                      <a:r>
                        <a:rPr lang="en-US" altLang="zh-TW" sz="800" dirty="0">
                          <a:solidFill>
                            <a:schemeClr val="bg1">
                              <a:lumMod val="65000"/>
                            </a:schemeClr>
                          </a:solidFill>
                          <a:latin typeface="微軟正黑體" panose="020B0604030504040204" pitchFamily="34" charset="-120"/>
                          <a:ea typeface="微軟正黑體" panose="020B0604030504040204" pitchFamily="34" charset="-120"/>
                        </a:rPr>
                        <a:t>2</a:t>
                      </a:r>
                      <a:endParaRPr lang="zh-TW" altLang="en-US" sz="800" dirty="0">
                        <a:solidFill>
                          <a:schemeClr val="bg1">
                            <a:lumMod val="65000"/>
                          </a:schemeClr>
                        </a:solidFill>
                        <a:latin typeface="微軟正黑體" panose="020B0604030504040204" pitchFamily="34" charset="-120"/>
                        <a:ea typeface="微軟正黑體" panose="020B0604030504040204" pitchFamily="34" charset="-120"/>
                      </a:endParaRPr>
                    </a:p>
                  </a:txBody>
                  <a:tcPr>
                    <a:lnL w="12700" cap="flat" cmpd="sng" algn="ctr">
                      <a:noFill/>
                      <a:prstDash val="solid"/>
                      <a:round/>
                      <a:headEnd type="none" w="med" len="med"/>
                      <a:tailEnd type="none" w="med" len="med"/>
                    </a:lnL>
                    <a:solidFill>
                      <a:schemeClr val="bg1"/>
                    </a:solidFill>
                  </a:tcPr>
                </a:tc>
                <a:extLst>
                  <a:ext uri="{0D108BD9-81ED-4DB2-BD59-A6C34878D82A}">
                    <a16:rowId xmlns:a16="http://schemas.microsoft.com/office/drawing/2014/main" val="1236249582"/>
                  </a:ext>
                </a:extLst>
              </a:tr>
              <a:tr h="207611">
                <a:tc>
                  <a:txBody>
                    <a:bodyPr/>
                    <a:lstStyle/>
                    <a:p>
                      <a:r>
                        <a:rPr lang="en-US" altLang="zh-TW" sz="800" dirty="0">
                          <a:latin typeface="微軟正黑體" panose="020B0604030504040204" pitchFamily="34" charset="-120"/>
                          <a:ea typeface="微軟正黑體" panose="020B0604030504040204" pitchFamily="34" charset="-120"/>
                        </a:rPr>
                        <a:t>Bank of America</a:t>
                      </a:r>
                      <a:endParaRPr lang="zh-TW" altLang="en-US" sz="800" dirty="0">
                        <a:latin typeface="微軟正黑體" panose="020B0604030504040204" pitchFamily="34" charset="-120"/>
                        <a:ea typeface="微軟正黑體" panose="020B0604030504040204" pitchFamily="34" charset="-120"/>
                      </a:endParaRPr>
                    </a:p>
                  </a:txBody>
                  <a:tcPr>
                    <a:solidFill>
                      <a:schemeClr val="bg1"/>
                    </a:solidFill>
                  </a:tcPr>
                </a:tc>
                <a:tc>
                  <a:txBody>
                    <a:bodyPr/>
                    <a:lstStyle/>
                    <a:p>
                      <a:r>
                        <a:rPr lang="en-US" altLang="zh-TW" sz="800" dirty="0">
                          <a:latin typeface="微軟正黑體" panose="020B0604030504040204" pitchFamily="34" charset="-120"/>
                          <a:ea typeface="微軟正黑體" panose="020B0604030504040204" pitchFamily="34" charset="-120"/>
                        </a:rPr>
                        <a:t>10</a:t>
                      </a:r>
                      <a:endParaRPr lang="zh-TW" altLang="en-US" sz="800" dirty="0">
                        <a:latin typeface="微軟正黑體" panose="020B0604030504040204" pitchFamily="34" charset="-120"/>
                        <a:ea typeface="微軟正黑體" panose="020B0604030504040204" pitchFamily="34" charset="-120"/>
                      </a:endParaRPr>
                    </a:p>
                  </a:txBody>
                  <a:tcPr>
                    <a:lnR w="12700" cap="flat" cmpd="sng" algn="ctr">
                      <a:noFill/>
                      <a:prstDash val="solid"/>
                      <a:round/>
                      <a:headEnd type="none" w="med" len="med"/>
                      <a:tailEnd type="none" w="med" len="med"/>
                    </a:lnR>
                    <a:solidFill>
                      <a:schemeClr val="bg1"/>
                    </a:solidFill>
                  </a:tcPr>
                </a:tc>
                <a:tc>
                  <a:txBody>
                    <a:bodyPr/>
                    <a:lstStyle/>
                    <a:p>
                      <a:pPr algn="r"/>
                      <a:r>
                        <a:rPr lang="zh-TW" altLang="en-US" sz="800" dirty="0">
                          <a:solidFill>
                            <a:schemeClr val="bg1">
                              <a:lumMod val="65000"/>
                            </a:schemeClr>
                          </a:solidFill>
                          <a:latin typeface="微軟正黑體" panose="020B0604030504040204" pitchFamily="34" charset="-120"/>
                          <a:ea typeface="微軟正黑體" panose="020B0604030504040204" pitchFamily="34" charset="-120"/>
                        </a:rPr>
                        <a:t>↑</a:t>
                      </a:r>
                      <a:r>
                        <a:rPr lang="en-US" altLang="zh-TW" sz="800" dirty="0">
                          <a:solidFill>
                            <a:schemeClr val="bg1">
                              <a:lumMod val="65000"/>
                            </a:schemeClr>
                          </a:solidFill>
                          <a:latin typeface="微軟正黑體" panose="020B0604030504040204" pitchFamily="34" charset="-120"/>
                          <a:ea typeface="微軟正黑體" panose="020B0604030504040204" pitchFamily="34" charset="-120"/>
                        </a:rPr>
                        <a:t>5</a:t>
                      </a:r>
                      <a:endParaRPr lang="zh-TW" altLang="en-US" sz="800" dirty="0">
                        <a:solidFill>
                          <a:schemeClr val="bg1">
                            <a:lumMod val="65000"/>
                          </a:schemeClr>
                        </a:solidFill>
                        <a:latin typeface="微軟正黑體" panose="020B0604030504040204" pitchFamily="34" charset="-120"/>
                        <a:ea typeface="微軟正黑體" panose="020B0604030504040204" pitchFamily="34" charset="-120"/>
                      </a:endParaRPr>
                    </a:p>
                  </a:txBody>
                  <a:tcPr>
                    <a:lnL w="12700" cap="flat" cmpd="sng" algn="ctr">
                      <a:noFill/>
                      <a:prstDash val="solid"/>
                      <a:round/>
                      <a:headEnd type="none" w="med" len="med"/>
                      <a:tailEnd type="none" w="med" len="med"/>
                    </a:lnL>
                    <a:solidFill>
                      <a:schemeClr val="bg1"/>
                    </a:solidFill>
                  </a:tcPr>
                </a:tc>
                <a:extLst>
                  <a:ext uri="{0D108BD9-81ED-4DB2-BD59-A6C34878D82A}">
                    <a16:rowId xmlns:a16="http://schemas.microsoft.com/office/drawing/2014/main" val="2570339789"/>
                  </a:ext>
                </a:extLst>
              </a:tr>
            </a:tbl>
          </a:graphicData>
        </a:graphic>
      </p:graphicFrame>
      <p:graphicFrame>
        <p:nvGraphicFramePr>
          <p:cNvPr id="48" name="表格 32">
            <a:extLst>
              <a:ext uri="{FF2B5EF4-FFF2-40B4-BE49-F238E27FC236}">
                <a16:creationId xmlns:a16="http://schemas.microsoft.com/office/drawing/2014/main" id="{10CD9BC4-1484-4D01-A2CF-81E657BE399F}"/>
              </a:ext>
            </a:extLst>
          </p:cNvPr>
          <p:cNvGraphicFramePr>
            <a:graphicFrameLocks noGrp="1"/>
          </p:cNvGraphicFramePr>
          <p:nvPr>
            <p:extLst>
              <p:ext uri="{D42A27DB-BD31-4B8C-83A1-F6EECF244321}">
                <p14:modId xmlns:p14="http://schemas.microsoft.com/office/powerpoint/2010/main" val="1822631226"/>
              </p:ext>
            </p:extLst>
          </p:nvPr>
        </p:nvGraphicFramePr>
        <p:xfrm>
          <a:off x="6768848" y="3961788"/>
          <a:ext cx="2107328" cy="2346960"/>
        </p:xfrm>
        <a:graphic>
          <a:graphicData uri="http://schemas.openxmlformats.org/drawingml/2006/table">
            <a:tbl>
              <a:tblPr firstRow="1" bandRow="1">
                <a:tableStyleId>{5C22544A-7EE6-4342-B048-85BDC9FD1C3A}</a:tableStyleId>
              </a:tblPr>
              <a:tblGrid>
                <a:gridCol w="1298729">
                  <a:extLst>
                    <a:ext uri="{9D8B030D-6E8A-4147-A177-3AD203B41FA5}">
                      <a16:colId xmlns:a16="http://schemas.microsoft.com/office/drawing/2014/main" val="243358569"/>
                    </a:ext>
                  </a:extLst>
                </a:gridCol>
                <a:gridCol w="300890">
                  <a:extLst>
                    <a:ext uri="{9D8B030D-6E8A-4147-A177-3AD203B41FA5}">
                      <a16:colId xmlns:a16="http://schemas.microsoft.com/office/drawing/2014/main" val="1512715360"/>
                    </a:ext>
                  </a:extLst>
                </a:gridCol>
                <a:gridCol w="507709">
                  <a:extLst>
                    <a:ext uri="{9D8B030D-6E8A-4147-A177-3AD203B41FA5}">
                      <a16:colId xmlns:a16="http://schemas.microsoft.com/office/drawing/2014/main" val="3132558217"/>
                    </a:ext>
                  </a:extLst>
                </a:gridCol>
              </a:tblGrid>
              <a:tr h="207611">
                <a:tc>
                  <a:txBody>
                    <a:bodyPr/>
                    <a:lstStyle/>
                    <a:p>
                      <a:pPr marL="0" algn="l" defTabSz="914400" rtl="0" eaLnBrk="1" latinLnBrk="0" hangingPunct="1"/>
                      <a:r>
                        <a:rPr lang="en-US" altLang="zh-TW" sz="800" b="1" kern="1200" dirty="0">
                          <a:solidFill>
                            <a:schemeClr val="bg1"/>
                          </a:solidFill>
                          <a:latin typeface="微軟正黑體" panose="020B0604030504040204" pitchFamily="34" charset="-120"/>
                          <a:ea typeface="微軟正黑體" panose="020B0604030504040204" pitchFamily="34" charset="-120"/>
                          <a:cs typeface="+mn-cs"/>
                        </a:rPr>
                        <a:t>COMPANY</a:t>
                      </a:r>
                      <a:endParaRPr lang="zh-TW" altLang="en-US" sz="800" b="1" kern="1200" dirty="0">
                        <a:solidFill>
                          <a:schemeClr val="bg1"/>
                        </a:solidFill>
                        <a:latin typeface="微軟正黑體" panose="020B0604030504040204" pitchFamily="34" charset="-120"/>
                        <a:ea typeface="微軟正黑體" panose="020B0604030504040204" pitchFamily="34" charset="-120"/>
                        <a:cs typeface="+mn-cs"/>
                      </a:endParaRPr>
                    </a:p>
                  </a:txBody>
                  <a:tcPr>
                    <a:solidFill>
                      <a:srgbClr val="006F52"/>
                    </a:solidFill>
                  </a:tcPr>
                </a:tc>
                <a:tc gridSpan="2">
                  <a:txBody>
                    <a:bodyPr/>
                    <a:lstStyle/>
                    <a:p>
                      <a:pPr marL="0" algn="l" defTabSz="914400" rtl="0" eaLnBrk="1" latinLnBrk="0" hangingPunct="1"/>
                      <a:r>
                        <a:rPr lang="en-US" altLang="zh-TW" sz="800" b="1" kern="1200" dirty="0">
                          <a:solidFill>
                            <a:schemeClr val="bg1"/>
                          </a:solidFill>
                          <a:latin typeface="微軟正黑體" panose="020B0604030504040204" pitchFamily="34" charset="-120"/>
                          <a:ea typeface="微軟正黑體" panose="020B0604030504040204" pitchFamily="34" charset="-120"/>
                          <a:cs typeface="+mn-cs"/>
                        </a:rPr>
                        <a:t>RANK</a:t>
                      </a:r>
                      <a:endParaRPr lang="zh-TW" altLang="en-US" sz="800" b="1" kern="1200" dirty="0">
                        <a:solidFill>
                          <a:schemeClr val="bg1"/>
                        </a:solidFill>
                        <a:latin typeface="微軟正黑體" panose="020B0604030504040204" pitchFamily="34" charset="-120"/>
                        <a:ea typeface="微軟正黑體" panose="020B0604030504040204" pitchFamily="34" charset="-120"/>
                        <a:cs typeface="+mn-cs"/>
                      </a:endParaRPr>
                    </a:p>
                  </a:txBody>
                  <a:tcPr>
                    <a:solidFill>
                      <a:srgbClr val="006F52"/>
                    </a:solidFill>
                  </a:tcPr>
                </a:tc>
                <a:tc hMerge="1">
                  <a:txBody>
                    <a:bodyPr/>
                    <a:lstStyle/>
                    <a:p>
                      <a:endParaRPr lang="zh-TW" altLang="en-US" sz="1050" dirty="0">
                        <a:solidFill>
                          <a:schemeClr val="tx1"/>
                        </a:solidFill>
                        <a:latin typeface="微軟正黑體" panose="020B0604030504040204" pitchFamily="34" charset="-120"/>
                        <a:ea typeface="微軟正黑體" panose="020B0604030504040204" pitchFamily="34" charset="-120"/>
                      </a:endParaRPr>
                    </a:p>
                  </a:txBody>
                  <a:tcPr>
                    <a:noFill/>
                  </a:tcPr>
                </a:tc>
                <a:extLst>
                  <a:ext uri="{0D108BD9-81ED-4DB2-BD59-A6C34878D82A}">
                    <a16:rowId xmlns:a16="http://schemas.microsoft.com/office/drawing/2014/main" val="574503605"/>
                  </a:ext>
                </a:extLst>
              </a:tr>
              <a:tr h="207611">
                <a:tc>
                  <a:txBody>
                    <a:bodyPr/>
                    <a:lstStyle/>
                    <a:p>
                      <a:r>
                        <a:rPr lang="en-US" altLang="zh-TW" sz="800" dirty="0">
                          <a:latin typeface="微軟正黑體" panose="020B0604030504040204" pitchFamily="34" charset="-120"/>
                          <a:ea typeface="微軟正黑體" panose="020B0604030504040204" pitchFamily="34" charset="-120"/>
                        </a:rPr>
                        <a:t>BNP</a:t>
                      </a:r>
                      <a:r>
                        <a:rPr lang="zh-TW" altLang="en-US" sz="800" dirty="0">
                          <a:latin typeface="微軟正黑體" panose="020B0604030504040204" pitchFamily="34" charset="-120"/>
                          <a:ea typeface="微軟正黑體" panose="020B0604030504040204" pitchFamily="34" charset="-120"/>
                        </a:rPr>
                        <a:t> </a:t>
                      </a:r>
                      <a:r>
                        <a:rPr lang="en-US" altLang="zh-TW" sz="800" dirty="0">
                          <a:latin typeface="微軟正黑體" panose="020B0604030504040204" pitchFamily="34" charset="-120"/>
                          <a:ea typeface="微軟正黑體" panose="020B0604030504040204" pitchFamily="34" charset="-120"/>
                        </a:rPr>
                        <a:t>Paribas</a:t>
                      </a:r>
                      <a:endParaRPr lang="zh-TW" altLang="en-US" sz="800" dirty="0">
                        <a:latin typeface="微軟正黑體" panose="020B0604030504040204" pitchFamily="34" charset="-120"/>
                        <a:ea typeface="微軟正黑體" panose="020B0604030504040204" pitchFamily="34" charset="-120"/>
                      </a:endParaRPr>
                    </a:p>
                  </a:txBody>
                  <a:tcPr>
                    <a:solidFill>
                      <a:schemeClr val="bg1"/>
                    </a:solidFill>
                  </a:tcPr>
                </a:tc>
                <a:tc>
                  <a:txBody>
                    <a:bodyPr/>
                    <a:lstStyle/>
                    <a:p>
                      <a:r>
                        <a:rPr lang="en-US" altLang="zh-TW" sz="800" dirty="0">
                          <a:latin typeface="微軟正黑體" panose="020B0604030504040204" pitchFamily="34" charset="-120"/>
                          <a:ea typeface="微軟正黑體" panose="020B0604030504040204" pitchFamily="34" charset="-120"/>
                        </a:rPr>
                        <a:t>11</a:t>
                      </a:r>
                      <a:endParaRPr lang="zh-TW" altLang="en-US" sz="800" dirty="0">
                        <a:latin typeface="微軟正黑體" panose="020B0604030504040204" pitchFamily="34" charset="-120"/>
                        <a:ea typeface="微軟正黑體" panose="020B0604030504040204" pitchFamily="34" charset="-120"/>
                      </a:endParaRPr>
                    </a:p>
                  </a:txBody>
                  <a:tcPr>
                    <a:lnR w="12700" cap="flat" cmpd="sng" algn="ctr">
                      <a:noFill/>
                      <a:prstDash val="solid"/>
                      <a:round/>
                      <a:headEnd type="none" w="med" len="med"/>
                      <a:tailEnd type="none" w="med" len="med"/>
                    </a:lnR>
                    <a:solidFill>
                      <a:schemeClr val="bg1"/>
                    </a:solidFill>
                  </a:tcPr>
                </a:tc>
                <a:tc>
                  <a:txBody>
                    <a:bodyPr/>
                    <a:lstStyle/>
                    <a:p>
                      <a:pPr algn="r"/>
                      <a:r>
                        <a:rPr lang="zh-TW" altLang="en-US" sz="800" dirty="0">
                          <a:solidFill>
                            <a:schemeClr val="bg1">
                              <a:lumMod val="65000"/>
                            </a:schemeClr>
                          </a:solidFill>
                          <a:latin typeface="微軟正黑體" panose="020B0604030504040204" pitchFamily="34" charset="-120"/>
                          <a:ea typeface="微軟正黑體" panose="020B0604030504040204" pitchFamily="34" charset="-120"/>
                        </a:rPr>
                        <a:t>↑</a:t>
                      </a:r>
                      <a:r>
                        <a:rPr lang="en-US" altLang="zh-TW" sz="800" dirty="0">
                          <a:solidFill>
                            <a:schemeClr val="bg1">
                              <a:lumMod val="65000"/>
                            </a:schemeClr>
                          </a:solidFill>
                          <a:latin typeface="微軟正黑體" panose="020B0604030504040204" pitchFamily="34" charset="-120"/>
                          <a:ea typeface="微軟正黑體" panose="020B0604030504040204" pitchFamily="34" charset="-120"/>
                        </a:rPr>
                        <a:t>1</a:t>
                      </a:r>
                      <a:endParaRPr lang="zh-TW" altLang="en-US" sz="800" dirty="0">
                        <a:solidFill>
                          <a:schemeClr val="bg1">
                            <a:lumMod val="65000"/>
                          </a:schemeClr>
                        </a:solidFill>
                        <a:latin typeface="微軟正黑體" panose="020B0604030504040204" pitchFamily="34" charset="-120"/>
                        <a:ea typeface="微軟正黑體" panose="020B0604030504040204" pitchFamily="34" charset="-120"/>
                      </a:endParaRPr>
                    </a:p>
                  </a:txBody>
                  <a:tcPr>
                    <a:lnL w="12700" cap="flat" cmpd="sng" algn="ctr">
                      <a:noFill/>
                      <a:prstDash val="solid"/>
                      <a:round/>
                      <a:headEnd type="none" w="med" len="med"/>
                      <a:tailEnd type="none" w="med" len="med"/>
                    </a:lnL>
                    <a:solidFill>
                      <a:schemeClr val="bg1"/>
                    </a:solidFill>
                  </a:tcPr>
                </a:tc>
                <a:extLst>
                  <a:ext uri="{0D108BD9-81ED-4DB2-BD59-A6C34878D82A}">
                    <a16:rowId xmlns:a16="http://schemas.microsoft.com/office/drawing/2014/main" val="1074418619"/>
                  </a:ext>
                </a:extLst>
              </a:tr>
              <a:tr h="207611">
                <a:tc>
                  <a:txBody>
                    <a:bodyPr/>
                    <a:lstStyle/>
                    <a:p>
                      <a:r>
                        <a:rPr lang="en-US" altLang="zh-TW" sz="800" dirty="0">
                          <a:latin typeface="微軟正黑體" panose="020B0604030504040204" pitchFamily="34" charset="-120"/>
                          <a:ea typeface="微軟正黑體" panose="020B0604030504040204" pitchFamily="34" charset="-120"/>
                        </a:rPr>
                        <a:t>Citigroup</a:t>
                      </a:r>
                      <a:endParaRPr lang="zh-TW" altLang="en-US" sz="800" dirty="0">
                        <a:latin typeface="微軟正黑體" panose="020B0604030504040204" pitchFamily="34" charset="-120"/>
                        <a:ea typeface="微軟正黑體" panose="020B0604030504040204" pitchFamily="34" charset="-120"/>
                      </a:endParaRPr>
                    </a:p>
                  </a:txBody>
                  <a:tcPr>
                    <a:solidFill>
                      <a:schemeClr val="bg1"/>
                    </a:solidFill>
                  </a:tcPr>
                </a:tc>
                <a:tc>
                  <a:txBody>
                    <a:bodyPr/>
                    <a:lstStyle/>
                    <a:p>
                      <a:r>
                        <a:rPr lang="en-US" altLang="zh-TW" sz="800" dirty="0">
                          <a:latin typeface="微軟正黑體" panose="020B0604030504040204" pitchFamily="34" charset="-120"/>
                          <a:ea typeface="微軟正黑體" panose="020B0604030504040204" pitchFamily="34" charset="-120"/>
                        </a:rPr>
                        <a:t>12</a:t>
                      </a:r>
                      <a:endParaRPr lang="zh-TW" altLang="en-US" sz="800" dirty="0">
                        <a:latin typeface="微軟正黑體" panose="020B0604030504040204" pitchFamily="34" charset="-120"/>
                        <a:ea typeface="微軟正黑體" panose="020B0604030504040204" pitchFamily="34" charset="-120"/>
                      </a:endParaRPr>
                    </a:p>
                  </a:txBody>
                  <a:tcPr>
                    <a:lnR w="12700" cap="flat" cmpd="sng" algn="ctr">
                      <a:noFill/>
                      <a:prstDash val="solid"/>
                      <a:round/>
                      <a:headEnd type="none" w="med" len="med"/>
                      <a:tailEnd type="none" w="med" len="med"/>
                    </a:lnR>
                    <a:solidFill>
                      <a:schemeClr val="bg1"/>
                    </a:solidFill>
                  </a:tcPr>
                </a:tc>
                <a:tc>
                  <a:txBody>
                    <a:bodyPr/>
                    <a:lstStyle/>
                    <a:p>
                      <a:pPr algn="r"/>
                      <a:r>
                        <a:rPr lang="zh-TW" altLang="en-US" sz="800" dirty="0">
                          <a:solidFill>
                            <a:schemeClr val="bg1">
                              <a:lumMod val="65000"/>
                            </a:schemeClr>
                          </a:solidFill>
                          <a:latin typeface="微軟正黑體" panose="020B0604030504040204" pitchFamily="34" charset="-120"/>
                          <a:ea typeface="微軟正黑體" panose="020B0604030504040204" pitchFamily="34" charset="-120"/>
                        </a:rPr>
                        <a:t>↓</a:t>
                      </a:r>
                      <a:r>
                        <a:rPr lang="en-US" altLang="zh-TW" sz="800" dirty="0">
                          <a:solidFill>
                            <a:schemeClr val="bg1">
                              <a:lumMod val="65000"/>
                            </a:schemeClr>
                          </a:solidFill>
                          <a:latin typeface="微軟正黑體" panose="020B0604030504040204" pitchFamily="34" charset="-120"/>
                          <a:ea typeface="微軟正黑體" panose="020B0604030504040204" pitchFamily="34" charset="-120"/>
                        </a:rPr>
                        <a:t>4</a:t>
                      </a:r>
                      <a:endParaRPr lang="zh-TW" altLang="en-US" sz="800" dirty="0">
                        <a:solidFill>
                          <a:schemeClr val="bg1">
                            <a:lumMod val="65000"/>
                          </a:schemeClr>
                        </a:solidFill>
                        <a:latin typeface="微軟正黑體" panose="020B0604030504040204" pitchFamily="34" charset="-120"/>
                        <a:ea typeface="微軟正黑體" panose="020B0604030504040204" pitchFamily="34" charset="-120"/>
                      </a:endParaRPr>
                    </a:p>
                  </a:txBody>
                  <a:tcPr>
                    <a:lnL w="12700" cap="flat" cmpd="sng" algn="ctr">
                      <a:noFill/>
                      <a:prstDash val="solid"/>
                      <a:round/>
                      <a:headEnd type="none" w="med" len="med"/>
                      <a:tailEnd type="none" w="med" len="med"/>
                    </a:lnL>
                    <a:solidFill>
                      <a:schemeClr val="bg1"/>
                    </a:solidFill>
                  </a:tcPr>
                </a:tc>
                <a:extLst>
                  <a:ext uri="{0D108BD9-81ED-4DB2-BD59-A6C34878D82A}">
                    <a16:rowId xmlns:a16="http://schemas.microsoft.com/office/drawing/2014/main" val="4092064408"/>
                  </a:ext>
                </a:extLst>
              </a:tr>
              <a:tr h="210175">
                <a:tc>
                  <a:txBody>
                    <a:bodyPr/>
                    <a:lstStyle/>
                    <a:p>
                      <a:r>
                        <a:rPr lang="en-US" altLang="zh-TW" sz="800" dirty="0">
                          <a:latin typeface="微軟正黑體" panose="020B0604030504040204" pitchFamily="34" charset="-120"/>
                          <a:ea typeface="微軟正黑體" panose="020B0604030504040204" pitchFamily="34" charset="-120"/>
                        </a:rPr>
                        <a:t>TD Bank</a:t>
                      </a:r>
                      <a:endParaRPr lang="zh-TW" altLang="en-US" sz="800" dirty="0">
                        <a:latin typeface="微軟正黑體" panose="020B0604030504040204" pitchFamily="34" charset="-120"/>
                        <a:ea typeface="微軟正黑體" panose="020B0604030504040204" pitchFamily="34" charset="-120"/>
                      </a:endParaRPr>
                    </a:p>
                  </a:txBody>
                  <a:tcPr>
                    <a:solidFill>
                      <a:schemeClr val="bg1"/>
                    </a:solidFill>
                  </a:tcPr>
                </a:tc>
                <a:tc>
                  <a:txBody>
                    <a:bodyPr/>
                    <a:lstStyle/>
                    <a:p>
                      <a:r>
                        <a:rPr lang="en-US" altLang="zh-TW" sz="800" dirty="0">
                          <a:latin typeface="微軟正黑體" panose="020B0604030504040204" pitchFamily="34" charset="-120"/>
                          <a:ea typeface="微軟正黑體" panose="020B0604030504040204" pitchFamily="34" charset="-120"/>
                        </a:rPr>
                        <a:t>13</a:t>
                      </a:r>
                      <a:endParaRPr lang="zh-TW" altLang="en-US" sz="800" dirty="0">
                        <a:latin typeface="微軟正黑體" panose="020B0604030504040204" pitchFamily="34" charset="-120"/>
                        <a:ea typeface="微軟正黑體" panose="020B0604030504040204" pitchFamily="34" charset="-120"/>
                      </a:endParaRPr>
                    </a:p>
                  </a:txBody>
                  <a:tcPr>
                    <a:lnR w="12700" cap="flat" cmpd="sng" algn="ctr">
                      <a:noFill/>
                      <a:prstDash val="solid"/>
                      <a:round/>
                      <a:headEnd type="none" w="med" len="med"/>
                      <a:tailEnd type="none" w="med" len="med"/>
                    </a:lnR>
                    <a:solidFill>
                      <a:schemeClr val="bg1"/>
                    </a:solidFill>
                  </a:tcPr>
                </a:tc>
                <a:tc>
                  <a:txBody>
                    <a:bodyPr/>
                    <a:lstStyle/>
                    <a:p>
                      <a:pPr algn="r"/>
                      <a:r>
                        <a:rPr lang="zh-TW" altLang="en-US" sz="800" dirty="0">
                          <a:solidFill>
                            <a:schemeClr val="bg1">
                              <a:lumMod val="65000"/>
                            </a:schemeClr>
                          </a:solidFill>
                          <a:latin typeface="微軟正黑體" panose="020B0604030504040204" pitchFamily="34" charset="-120"/>
                          <a:ea typeface="微軟正黑體" panose="020B0604030504040204" pitchFamily="34" charset="-120"/>
                        </a:rPr>
                        <a:t>↓</a:t>
                      </a:r>
                      <a:r>
                        <a:rPr lang="en-US" altLang="zh-TW" sz="800" dirty="0">
                          <a:solidFill>
                            <a:schemeClr val="bg1">
                              <a:lumMod val="65000"/>
                            </a:schemeClr>
                          </a:solidFill>
                          <a:latin typeface="微軟正黑體" panose="020B0604030504040204" pitchFamily="34" charset="-120"/>
                          <a:ea typeface="微軟正黑體" panose="020B0604030504040204" pitchFamily="34" charset="-120"/>
                        </a:rPr>
                        <a:t>4</a:t>
                      </a:r>
                      <a:endParaRPr lang="zh-TW" altLang="en-US" sz="800" dirty="0">
                        <a:solidFill>
                          <a:schemeClr val="bg1">
                            <a:lumMod val="65000"/>
                          </a:schemeClr>
                        </a:solidFill>
                        <a:latin typeface="微軟正黑體" panose="020B0604030504040204" pitchFamily="34" charset="-120"/>
                        <a:ea typeface="微軟正黑體" panose="020B0604030504040204" pitchFamily="34" charset="-120"/>
                      </a:endParaRPr>
                    </a:p>
                  </a:txBody>
                  <a:tcPr>
                    <a:lnL w="12700" cap="flat" cmpd="sng" algn="ctr">
                      <a:noFill/>
                      <a:prstDash val="solid"/>
                      <a:round/>
                      <a:headEnd type="none" w="med" len="med"/>
                      <a:tailEnd type="none" w="med" len="med"/>
                    </a:lnL>
                    <a:solidFill>
                      <a:schemeClr val="bg1"/>
                    </a:solidFill>
                  </a:tcPr>
                </a:tc>
                <a:extLst>
                  <a:ext uri="{0D108BD9-81ED-4DB2-BD59-A6C34878D82A}">
                    <a16:rowId xmlns:a16="http://schemas.microsoft.com/office/drawing/2014/main" val="2429666131"/>
                  </a:ext>
                </a:extLst>
              </a:tr>
              <a:tr h="207611">
                <a:tc>
                  <a:txBody>
                    <a:bodyPr/>
                    <a:lstStyle/>
                    <a:p>
                      <a:r>
                        <a:rPr lang="en-US" altLang="zh-TW" sz="800" dirty="0">
                          <a:latin typeface="微軟正黑體" panose="020B0604030504040204" pitchFamily="34" charset="-120"/>
                          <a:ea typeface="微軟正黑體" panose="020B0604030504040204" pitchFamily="34" charset="-120"/>
                        </a:rPr>
                        <a:t>BBVA</a:t>
                      </a:r>
                      <a:endParaRPr lang="zh-TW" altLang="en-US" sz="800" dirty="0">
                        <a:latin typeface="微軟正黑體" panose="020B0604030504040204" pitchFamily="34" charset="-120"/>
                        <a:ea typeface="微軟正黑體" panose="020B0604030504040204" pitchFamily="34" charset="-120"/>
                      </a:endParaRPr>
                    </a:p>
                  </a:txBody>
                  <a:tcPr>
                    <a:solidFill>
                      <a:schemeClr val="bg1"/>
                    </a:solidFill>
                  </a:tcPr>
                </a:tc>
                <a:tc>
                  <a:txBody>
                    <a:bodyPr/>
                    <a:lstStyle/>
                    <a:p>
                      <a:r>
                        <a:rPr lang="en-US" altLang="zh-TW" sz="800" dirty="0">
                          <a:latin typeface="微軟正黑體" panose="020B0604030504040204" pitchFamily="34" charset="-120"/>
                          <a:ea typeface="微軟正黑體" panose="020B0604030504040204" pitchFamily="34" charset="-120"/>
                        </a:rPr>
                        <a:t>14</a:t>
                      </a:r>
                      <a:endParaRPr lang="zh-TW" altLang="en-US" sz="800" dirty="0">
                        <a:latin typeface="微軟正黑體" panose="020B0604030504040204" pitchFamily="34" charset="-120"/>
                        <a:ea typeface="微軟正黑體" panose="020B0604030504040204" pitchFamily="34" charset="-120"/>
                      </a:endParaRPr>
                    </a:p>
                  </a:txBody>
                  <a:tcPr>
                    <a:lnR w="12700" cap="flat" cmpd="sng" algn="ctr">
                      <a:noFill/>
                      <a:prstDash val="solid"/>
                      <a:round/>
                      <a:headEnd type="none" w="med" len="med"/>
                      <a:tailEnd type="none" w="med" len="med"/>
                    </a:lnR>
                    <a:solidFill>
                      <a:schemeClr val="bg1"/>
                    </a:solidFill>
                  </a:tcPr>
                </a:tc>
                <a:tc>
                  <a:txBody>
                    <a:bodyPr/>
                    <a:lstStyle/>
                    <a:p>
                      <a:pPr algn="r"/>
                      <a:r>
                        <a:rPr lang="zh-TW" altLang="en-US" sz="800" dirty="0">
                          <a:solidFill>
                            <a:schemeClr val="bg1">
                              <a:lumMod val="65000"/>
                            </a:schemeClr>
                          </a:solidFill>
                          <a:latin typeface="微軟正黑體" panose="020B0604030504040204" pitchFamily="34" charset="-120"/>
                          <a:ea typeface="微軟正黑體" panose="020B0604030504040204" pitchFamily="34" charset="-120"/>
                        </a:rPr>
                        <a:t>↓</a:t>
                      </a:r>
                      <a:r>
                        <a:rPr lang="en-US" altLang="zh-TW" sz="800" dirty="0">
                          <a:solidFill>
                            <a:schemeClr val="bg1">
                              <a:lumMod val="65000"/>
                            </a:schemeClr>
                          </a:solidFill>
                          <a:latin typeface="微軟正黑體" panose="020B0604030504040204" pitchFamily="34" charset="-120"/>
                          <a:ea typeface="微軟正黑體" panose="020B0604030504040204" pitchFamily="34" charset="-120"/>
                        </a:rPr>
                        <a:t>1</a:t>
                      </a:r>
                      <a:endParaRPr lang="zh-TW" altLang="en-US" sz="800" dirty="0">
                        <a:solidFill>
                          <a:schemeClr val="bg1">
                            <a:lumMod val="65000"/>
                          </a:schemeClr>
                        </a:solidFill>
                        <a:latin typeface="微軟正黑體" panose="020B0604030504040204" pitchFamily="34" charset="-120"/>
                        <a:ea typeface="微軟正黑體" panose="020B0604030504040204" pitchFamily="34" charset="-120"/>
                      </a:endParaRPr>
                    </a:p>
                  </a:txBody>
                  <a:tcPr>
                    <a:lnL w="12700" cap="flat" cmpd="sng" algn="ctr">
                      <a:noFill/>
                      <a:prstDash val="solid"/>
                      <a:round/>
                      <a:headEnd type="none" w="med" len="med"/>
                      <a:tailEnd type="none" w="med" len="med"/>
                    </a:lnL>
                    <a:solidFill>
                      <a:schemeClr val="bg1"/>
                    </a:solidFill>
                  </a:tcPr>
                </a:tc>
                <a:extLst>
                  <a:ext uri="{0D108BD9-81ED-4DB2-BD59-A6C34878D82A}">
                    <a16:rowId xmlns:a16="http://schemas.microsoft.com/office/drawing/2014/main" val="4115941680"/>
                  </a:ext>
                </a:extLst>
              </a:tr>
              <a:tr h="207611">
                <a:tc>
                  <a:txBody>
                    <a:bodyPr/>
                    <a:lstStyle/>
                    <a:p>
                      <a:r>
                        <a:rPr lang="en-US" altLang="zh-TW" sz="800" dirty="0">
                          <a:latin typeface="微軟正黑體" panose="020B0604030504040204" pitchFamily="34" charset="-120"/>
                          <a:ea typeface="微軟正黑體" panose="020B0604030504040204" pitchFamily="34" charset="-120"/>
                        </a:rPr>
                        <a:t>Lloyds Banking Group</a:t>
                      </a:r>
                      <a:endParaRPr lang="zh-TW" altLang="en-US" sz="800" dirty="0">
                        <a:latin typeface="微軟正黑體" panose="020B0604030504040204" pitchFamily="34" charset="-120"/>
                        <a:ea typeface="微軟正黑體" panose="020B0604030504040204" pitchFamily="34" charset="-120"/>
                      </a:endParaRPr>
                    </a:p>
                  </a:txBody>
                  <a:tcPr>
                    <a:solidFill>
                      <a:schemeClr val="bg1"/>
                    </a:solidFill>
                  </a:tcPr>
                </a:tc>
                <a:tc>
                  <a:txBody>
                    <a:bodyPr/>
                    <a:lstStyle/>
                    <a:p>
                      <a:r>
                        <a:rPr lang="en-US" altLang="zh-TW" sz="800" dirty="0">
                          <a:latin typeface="微軟正黑體" panose="020B0604030504040204" pitchFamily="34" charset="-120"/>
                          <a:ea typeface="微軟正黑體" panose="020B0604030504040204" pitchFamily="34" charset="-120"/>
                        </a:rPr>
                        <a:t>15</a:t>
                      </a:r>
                      <a:endParaRPr lang="zh-TW" altLang="en-US" sz="800" dirty="0">
                        <a:latin typeface="微軟正黑體" panose="020B0604030504040204" pitchFamily="34" charset="-120"/>
                        <a:ea typeface="微軟正黑體" panose="020B0604030504040204" pitchFamily="34" charset="-120"/>
                      </a:endParaRPr>
                    </a:p>
                  </a:txBody>
                  <a:tcPr>
                    <a:lnR w="12700" cap="flat" cmpd="sng" algn="ctr">
                      <a:noFill/>
                      <a:prstDash val="solid"/>
                      <a:round/>
                      <a:headEnd type="none" w="med" len="med"/>
                      <a:tailEnd type="none" w="med" len="med"/>
                    </a:lnR>
                    <a:solidFill>
                      <a:schemeClr val="bg1"/>
                    </a:solidFill>
                  </a:tcPr>
                </a:tc>
                <a:tc>
                  <a:txBody>
                    <a:bodyPr/>
                    <a:lstStyle/>
                    <a:p>
                      <a:pPr algn="r"/>
                      <a:r>
                        <a:rPr lang="zh-TW" altLang="en-US" sz="800" dirty="0">
                          <a:solidFill>
                            <a:schemeClr val="bg1">
                              <a:lumMod val="65000"/>
                            </a:schemeClr>
                          </a:solidFill>
                          <a:latin typeface="微軟正黑體" panose="020B0604030504040204" pitchFamily="34" charset="-120"/>
                          <a:ea typeface="微軟正黑體" panose="020B0604030504040204" pitchFamily="34" charset="-120"/>
                        </a:rPr>
                        <a:t>↑</a:t>
                      </a:r>
                      <a:r>
                        <a:rPr lang="en-US" altLang="zh-TW" sz="800" dirty="0">
                          <a:solidFill>
                            <a:schemeClr val="bg1">
                              <a:lumMod val="65000"/>
                            </a:schemeClr>
                          </a:solidFill>
                          <a:latin typeface="微軟正黑體" panose="020B0604030504040204" pitchFamily="34" charset="-120"/>
                          <a:ea typeface="微軟正黑體" panose="020B0604030504040204" pitchFamily="34" charset="-120"/>
                        </a:rPr>
                        <a:t>12</a:t>
                      </a:r>
                      <a:endParaRPr lang="zh-TW" altLang="en-US" sz="800" dirty="0">
                        <a:solidFill>
                          <a:schemeClr val="bg1">
                            <a:lumMod val="65000"/>
                          </a:schemeClr>
                        </a:solidFill>
                        <a:latin typeface="微軟正黑體" panose="020B0604030504040204" pitchFamily="34" charset="-120"/>
                        <a:ea typeface="微軟正黑體" panose="020B0604030504040204" pitchFamily="34" charset="-120"/>
                      </a:endParaRPr>
                    </a:p>
                  </a:txBody>
                  <a:tcPr>
                    <a:lnL w="12700" cap="flat" cmpd="sng" algn="ctr">
                      <a:noFill/>
                      <a:prstDash val="solid"/>
                      <a:round/>
                      <a:headEnd type="none" w="med" len="med"/>
                      <a:tailEnd type="none" w="med" len="med"/>
                    </a:lnL>
                    <a:solidFill>
                      <a:schemeClr val="bg1"/>
                    </a:solidFill>
                  </a:tcPr>
                </a:tc>
                <a:extLst>
                  <a:ext uri="{0D108BD9-81ED-4DB2-BD59-A6C34878D82A}">
                    <a16:rowId xmlns:a16="http://schemas.microsoft.com/office/drawing/2014/main" val="1202127759"/>
                  </a:ext>
                </a:extLst>
              </a:tr>
              <a:tr h="207611">
                <a:tc>
                  <a:txBody>
                    <a:bodyPr/>
                    <a:lstStyle/>
                    <a:p>
                      <a:r>
                        <a:rPr lang="en-US" altLang="zh-TW" sz="800" dirty="0">
                          <a:latin typeface="微軟正黑體" panose="020B0604030504040204" pitchFamily="34" charset="-120"/>
                          <a:ea typeface="微軟正黑體" panose="020B0604030504040204" pitchFamily="34" charset="-120"/>
                        </a:rPr>
                        <a:t>NatWest</a:t>
                      </a:r>
                      <a:endParaRPr lang="zh-TW" altLang="en-US" sz="800" dirty="0">
                        <a:latin typeface="微軟正黑體" panose="020B0604030504040204" pitchFamily="34" charset="-120"/>
                        <a:ea typeface="微軟正黑體" panose="020B0604030504040204" pitchFamily="34" charset="-120"/>
                      </a:endParaRPr>
                    </a:p>
                  </a:txBody>
                  <a:tcPr>
                    <a:solidFill>
                      <a:schemeClr val="bg1"/>
                    </a:solidFill>
                  </a:tcPr>
                </a:tc>
                <a:tc>
                  <a:txBody>
                    <a:bodyPr/>
                    <a:lstStyle/>
                    <a:p>
                      <a:r>
                        <a:rPr lang="en-US" altLang="zh-TW" sz="800" dirty="0">
                          <a:latin typeface="微軟正黑體" panose="020B0604030504040204" pitchFamily="34" charset="-120"/>
                          <a:ea typeface="微軟正黑體" panose="020B0604030504040204" pitchFamily="34" charset="-120"/>
                        </a:rPr>
                        <a:t>16</a:t>
                      </a:r>
                      <a:endParaRPr lang="zh-TW" altLang="en-US" sz="800" dirty="0">
                        <a:latin typeface="微軟正黑體" panose="020B0604030504040204" pitchFamily="34" charset="-120"/>
                        <a:ea typeface="微軟正黑體" panose="020B0604030504040204" pitchFamily="34" charset="-120"/>
                      </a:endParaRPr>
                    </a:p>
                  </a:txBody>
                  <a:tcPr>
                    <a:lnR w="12700" cap="flat" cmpd="sng" algn="ctr">
                      <a:noFill/>
                      <a:prstDash val="solid"/>
                      <a:round/>
                      <a:headEnd type="none" w="med" len="med"/>
                      <a:tailEnd type="none" w="med" len="med"/>
                    </a:lnR>
                    <a:solidFill>
                      <a:schemeClr val="bg1"/>
                    </a:solidFill>
                  </a:tcPr>
                </a:tc>
                <a:tc>
                  <a:txBody>
                    <a:bodyPr/>
                    <a:lstStyle/>
                    <a:p>
                      <a:pPr algn="r"/>
                      <a:r>
                        <a:rPr lang="zh-TW" altLang="en-US" sz="800" dirty="0">
                          <a:solidFill>
                            <a:schemeClr val="bg1">
                              <a:lumMod val="65000"/>
                            </a:schemeClr>
                          </a:solidFill>
                          <a:latin typeface="微軟正黑體" panose="020B0604030504040204" pitchFamily="34" charset="-120"/>
                          <a:ea typeface="微軟正黑體" panose="020B0604030504040204" pitchFamily="34" charset="-120"/>
                        </a:rPr>
                        <a:t>↑</a:t>
                      </a:r>
                      <a:r>
                        <a:rPr lang="en-US" altLang="zh-TW" sz="800" dirty="0">
                          <a:solidFill>
                            <a:schemeClr val="bg1">
                              <a:lumMod val="65000"/>
                            </a:schemeClr>
                          </a:solidFill>
                          <a:latin typeface="微軟正黑體" panose="020B0604030504040204" pitchFamily="34" charset="-120"/>
                          <a:ea typeface="微軟正黑體" panose="020B0604030504040204" pitchFamily="34" charset="-120"/>
                        </a:rPr>
                        <a:t>2</a:t>
                      </a:r>
                      <a:endParaRPr lang="zh-TW" altLang="en-US" sz="800" dirty="0">
                        <a:solidFill>
                          <a:schemeClr val="bg1">
                            <a:lumMod val="65000"/>
                          </a:schemeClr>
                        </a:solidFill>
                        <a:latin typeface="微軟正黑體" panose="020B0604030504040204" pitchFamily="34" charset="-120"/>
                        <a:ea typeface="微軟正黑體" panose="020B0604030504040204" pitchFamily="34" charset="-120"/>
                      </a:endParaRPr>
                    </a:p>
                  </a:txBody>
                  <a:tcPr>
                    <a:lnL w="12700" cap="flat" cmpd="sng" algn="ctr">
                      <a:noFill/>
                      <a:prstDash val="solid"/>
                      <a:round/>
                      <a:headEnd type="none" w="med" len="med"/>
                      <a:tailEnd type="none" w="med" len="med"/>
                    </a:lnL>
                    <a:solidFill>
                      <a:schemeClr val="bg1"/>
                    </a:solidFill>
                  </a:tcPr>
                </a:tc>
                <a:extLst>
                  <a:ext uri="{0D108BD9-81ED-4DB2-BD59-A6C34878D82A}">
                    <a16:rowId xmlns:a16="http://schemas.microsoft.com/office/drawing/2014/main" val="2831031863"/>
                  </a:ext>
                </a:extLst>
              </a:tr>
              <a:tr h="207611">
                <a:tc>
                  <a:txBody>
                    <a:bodyPr/>
                    <a:lstStyle/>
                    <a:p>
                      <a:r>
                        <a:rPr lang="en-US" altLang="zh-TW" sz="800" dirty="0">
                          <a:latin typeface="微軟正黑體" panose="020B0604030504040204" pitchFamily="34" charset="-120"/>
                          <a:ea typeface="微軟正黑體" panose="020B0604030504040204" pitchFamily="34" charset="-120"/>
                        </a:rPr>
                        <a:t>BNY</a:t>
                      </a:r>
                      <a:endParaRPr lang="zh-TW" altLang="en-US" sz="800" dirty="0">
                        <a:latin typeface="微軟正黑體" panose="020B0604030504040204" pitchFamily="34" charset="-120"/>
                        <a:ea typeface="微軟正黑體" panose="020B0604030504040204" pitchFamily="34" charset="-120"/>
                      </a:endParaRPr>
                    </a:p>
                  </a:txBody>
                  <a:tcPr>
                    <a:solidFill>
                      <a:schemeClr val="bg1"/>
                    </a:solidFill>
                  </a:tcPr>
                </a:tc>
                <a:tc>
                  <a:txBody>
                    <a:bodyPr/>
                    <a:lstStyle/>
                    <a:p>
                      <a:r>
                        <a:rPr lang="en-US" altLang="zh-TW" sz="800" dirty="0">
                          <a:latin typeface="微軟正黑體" panose="020B0604030504040204" pitchFamily="34" charset="-120"/>
                          <a:ea typeface="微軟正黑體" panose="020B0604030504040204" pitchFamily="34" charset="-120"/>
                        </a:rPr>
                        <a:t>17</a:t>
                      </a:r>
                      <a:endParaRPr lang="zh-TW" altLang="en-US" sz="800" dirty="0">
                        <a:latin typeface="微軟正黑體" panose="020B0604030504040204" pitchFamily="34" charset="-120"/>
                        <a:ea typeface="微軟正黑體" panose="020B0604030504040204" pitchFamily="34" charset="-120"/>
                      </a:endParaRPr>
                    </a:p>
                  </a:txBody>
                  <a:tcPr>
                    <a:lnR w="12700" cap="flat" cmpd="sng" algn="ctr">
                      <a:noFill/>
                      <a:prstDash val="solid"/>
                      <a:round/>
                      <a:headEnd type="none" w="med" len="med"/>
                      <a:tailEnd type="none" w="med" len="med"/>
                    </a:lnR>
                    <a:solidFill>
                      <a:schemeClr val="bg1"/>
                    </a:solidFill>
                  </a:tcPr>
                </a:tc>
                <a:tc>
                  <a:txBody>
                    <a:bodyPr/>
                    <a:lstStyle/>
                    <a:p>
                      <a:pPr algn="r"/>
                      <a:r>
                        <a:rPr lang="zh-TW" altLang="en-US" sz="800" dirty="0">
                          <a:solidFill>
                            <a:schemeClr val="bg1">
                              <a:lumMod val="65000"/>
                            </a:schemeClr>
                          </a:solidFill>
                          <a:latin typeface="微軟正黑體" panose="020B0604030504040204" pitchFamily="34" charset="-120"/>
                          <a:ea typeface="微軟正黑體" panose="020B0604030504040204" pitchFamily="34" charset="-120"/>
                        </a:rPr>
                        <a:t>↓</a:t>
                      </a:r>
                      <a:r>
                        <a:rPr lang="en-US" altLang="zh-TW" sz="800" dirty="0">
                          <a:solidFill>
                            <a:schemeClr val="bg1">
                              <a:lumMod val="65000"/>
                            </a:schemeClr>
                          </a:solidFill>
                          <a:latin typeface="微軟正黑體" panose="020B0604030504040204" pitchFamily="34" charset="-120"/>
                          <a:ea typeface="微軟正黑體" panose="020B0604030504040204" pitchFamily="34" charset="-120"/>
                        </a:rPr>
                        <a:t>3</a:t>
                      </a:r>
                      <a:endParaRPr lang="zh-TW" altLang="en-US" sz="800" dirty="0">
                        <a:solidFill>
                          <a:schemeClr val="bg1">
                            <a:lumMod val="65000"/>
                          </a:schemeClr>
                        </a:solidFill>
                        <a:latin typeface="微軟正黑體" panose="020B0604030504040204" pitchFamily="34" charset="-120"/>
                        <a:ea typeface="微軟正黑體" panose="020B0604030504040204" pitchFamily="34" charset="-120"/>
                      </a:endParaRPr>
                    </a:p>
                  </a:txBody>
                  <a:tcPr>
                    <a:lnL w="12700" cap="flat" cmpd="sng" algn="ctr">
                      <a:noFill/>
                      <a:prstDash val="solid"/>
                      <a:round/>
                      <a:headEnd type="none" w="med" len="med"/>
                      <a:tailEnd type="none" w="med" len="med"/>
                    </a:lnL>
                    <a:solidFill>
                      <a:schemeClr val="bg1"/>
                    </a:solidFill>
                  </a:tcPr>
                </a:tc>
                <a:extLst>
                  <a:ext uri="{0D108BD9-81ED-4DB2-BD59-A6C34878D82A}">
                    <a16:rowId xmlns:a16="http://schemas.microsoft.com/office/drawing/2014/main" val="1610726544"/>
                  </a:ext>
                </a:extLst>
              </a:tr>
              <a:tr h="207611">
                <a:tc>
                  <a:txBody>
                    <a:bodyPr/>
                    <a:lstStyle/>
                    <a:p>
                      <a:r>
                        <a:rPr lang="en-US" altLang="zh-TW" sz="800" dirty="0">
                          <a:latin typeface="微軟正黑體" panose="020B0604030504040204" pitchFamily="34" charset="-120"/>
                          <a:ea typeface="微軟正黑體" panose="020B0604030504040204" pitchFamily="34" charset="-120"/>
                        </a:rPr>
                        <a:t>DBS</a:t>
                      </a:r>
                      <a:endParaRPr lang="zh-TW" altLang="en-US" sz="800" dirty="0">
                        <a:latin typeface="微軟正黑體" panose="020B0604030504040204" pitchFamily="34" charset="-120"/>
                        <a:ea typeface="微軟正黑體" panose="020B0604030504040204" pitchFamily="34" charset="-120"/>
                      </a:endParaRPr>
                    </a:p>
                  </a:txBody>
                  <a:tcPr>
                    <a:solidFill>
                      <a:schemeClr val="bg1"/>
                    </a:solidFill>
                  </a:tcPr>
                </a:tc>
                <a:tc>
                  <a:txBody>
                    <a:bodyPr/>
                    <a:lstStyle/>
                    <a:p>
                      <a:r>
                        <a:rPr lang="en-US" altLang="zh-TW" sz="800" dirty="0">
                          <a:latin typeface="微軟正黑體" panose="020B0604030504040204" pitchFamily="34" charset="-120"/>
                          <a:ea typeface="微軟正黑體" panose="020B0604030504040204" pitchFamily="34" charset="-120"/>
                        </a:rPr>
                        <a:t>18</a:t>
                      </a:r>
                      <a:endParaRPr lang="zh-TW" altLang="en-US" sz="800" dirty="0">
                        <a:latin typeface="微軟正黑體" panose="020B0604030504040204" pitchFamily="34" charset="-120"/>
                        <a:ea typeface="微軟正黑體" panose="020B0604030504040204" pitchFamily="34" charset="-120"/>
                      </a:endParaRPr>
                    </a:p>
                  </a:txBody>
                  <a:tcPr>
                    <a:lnR w="12700" cap="flat" cmpd="sng" algn="ctr">
                      <a:noFill/>
                      <a:prstDash val="solid"/>
                      <a:round/>
                      <a:headEnd type="none" w="med" len="med"/>
                      <a:tailEnd type="none" w="med" len="med"/>
                    </a:lnR>
                    <a:solidFill>
                      <a:schemeClr val="bg1"/>
                    </a:solidFill>
                  </a:tcPr>
                </a:tc>
                <a:tc>
                  <a:txBody>
                    <a:bodyPr/>
                    <a:lstStyle/>
                    <a:p>
                      <a:pPr algn="r"/>
                      <a:r>
                        <a:rPr lang="zh-TW" altLang="en-US" sz="800" dirty="0">
                          <a:solidFill>
                            <a:schemeClr val="bg1">
                              <a:lumMod val="65000"/>
                            </a:schemeClr>
                          </a:solidFill>
                          <a:latin typeface="微軟正黑體" panose="020B0604030504040204" pitchFamily="34" charset="-120"/>
                          <a:ea typeface="微軟正黑體" panose="020B0604030504040204" pitchFamily="34" charset="-120"/>
                        </a:rPr>
                        <a:t>↓</a:t>
                      </a:r>
                      <a:r>
                        <a:rPr lang="en-US" altLang="zh-TW" sz="800" dirty="0">
                          <a:solidFill>
                            <a:schemeClr val="bg1">
                              <a:lumMod val="65000"/>
                            </a:schemeClr>
                          </a:solidFill>
                          <a:latin typeface="微軟正黑體" panose="020B0604030504040204" pitchFamily="34" charset="-120"/>
                          <a:ea typeface="微軟正黑體" panose="020B0604030504040204" pitchFamily="34" charset="-120"/>
                        </a:rPr>
                        <a:t>2</a:t>
                      </a:r>
                      <a:endParaRPr lang="zh-TW" altLang="en-US" sz="800" dirty="0">
                        <a:solidFill>
                          <a:schemeClr val="bg1">
                            <a:lumMod val="65000"/>
                          </a:schemeClr>
                        </a:solidFill>
                        <a:latin typeface="微軟正黑體" panose="020B0604030504040204" pitchFamily="34" charset="-120"/>
                        <a:ea typeface="微軟正黑體" panose="020B0604030504040204" pitchFamily="34" charset="-120"/>
                      </a:endParaRPr>
                    </a:p>
                  </a:txBody>
                  <a:tcPr>
                    <a:lnL w="12700" cap="flat" cmpd="sng" algn="ctr">
                      <a:noFill/>
                      <a:prstDash val="solid"/>
                      <a:round/>
                      <a:headEnd type="none" w="med" len="med"/>
                      <a:tailEnd type="none" w="med" len="med"/>
                    </a:lnL>
                    <a:solidFill>
                      <a:schemeClr val="bg1"/>
                    </a:solidFill>
                  </a:tcPr>
                </a:tc>
                <a:extLst>
                  <a:ext uri="{0D108BD9-81ED-4DB2-BD59-A6C34878D82A}">
                    <a16:rowId xmlns:a16="http://schemas.microsoft.com/office/drawing/2014/main" val="239483420"/>
                  </a:ext>
                </a:extLst>
              </a:tr>
              <a:tr h="20761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800" dirty="0">
                          <a:latin typeface="微軟正黑體" panose="020B0604030504040204" pitchFamily="34" charset="-120"/>
                          <a:ea typeface="微軟正黑體" panose="020B0604030504040204" pitchFamily="34" charset="-120"/>
                        </a:rPr>
                        <a:t>Bank of Montreal</a:t>
                      </a:r>
                      <a:endParaRPr lang="zh-TW" altLang="en-US" sz="800" dirty="0">
                        <a:latin typeface="微軟正黑體" panose="020B0604030504040204" pitchFamily="34" charset="-120"/>
                        <a:ea typeface="微軟正黑體" panose="020B0604030504040204" pitchFamily="34" charset="-120"/>
                      </a:endParaRPr>
                    </a:p>
                  </a:txBody>
                  <a:tcPr>
                    <a:solidFill>
                      <a:schemeClr val="bg1"/>
                    </a:solidFill>
                  </a:tcPr>
                </a:tc>
                <a:tc>
                  <a:txBody>
                    <a:bodyPr/>
                    <a:lstStyle/>
                    <a:p>
                      <a:r>
                        <a:rPr lang="en-US" altLang="zh-TW" sz="800" dirty="0">
                          <a:latin typeface="微軟正黑體" panose="020B0604030504040204" pitchFamily="34" charset="-120"/>
                          <a:ea typeface="微軟正黑體" panose="020B0604030504040204" pitchFamily="34" charset="-120"/>
                        </a:rPr>
                        <a:t>19</a:t>
                      </a:r>
                      <a:endParaRPr lang="zh-TW" altLang="en-US" sz="800" dirty="0">
                        <a:latin typeface="微軟正黑體" panose="020B0604030504040204" pitchFamily="34" charset="-120"/>
                        <a:ea typeface="微軟正黑體" panose="020B0604030504040204" pitchFamily="34" charset="-120"/>
                      </a:endParaRPr>
                    </a:p>
                  </a:txBody>
                  <a:tcPr>
                    <a:lnR w="12700" cap="flat" cmpd="sng" algn="ctr">
                      <a:noFill/>
                      <a:prstDash val="solid"/>
                      <a:round/>
                      <a:headEnd type="none" w="med" len="med"/>
                      <a:tailEnd type="none" w="med" len="med"/>
                    </a:lnR>
                    <a:solidFill>
                      <a:schemeClr val="bg1"/>
                    </a:solidFill>
                  </a:tcPr>
                </a:tc>
                <a:tc>
                  <a:txBody>
                    <a:bodyPr/>
                    <a:lstStyle/>
                    <a:p>
                      <a:pPr algn="r"/>
                      <a:r>
                        <a:rPr lang="zh-TW" altLang="en-US" sz="800" dirty="0">
                          <a:solidFill>
                            <a:schemeClr val="bg1">
                              <a:lumMod val="65000"/>
                            </a:schemeClr>
                          </a:solidFill>
                          <a:latin typeface="微軟正黑體" panose="020B0604030504040204" pitchFamily="34" charset="-120"/>
                          <a:ea typeface="微軟正黑體" panose="020B0604030504040204" pitchFamily="34" charset="-120"/>
                        </a:rPr>
                        <a:t>↑</a:t>
                      </a:r>
                      <a:r>
                        <a:rPr lang="en-US" altLang="zh-TW" sz="800" dirty="0">
                          <a:solidFill>
                            <a:schemeClr val="bg1">
                              <a:lumMod val="65000"/>
                            </a:schemeClr>
                          </a:solidFill>
                          <a:latin typeface="微軟正黑體" panose="020B0604030504040204" pitchFamily="34" charset="-120"/>
                          <a:ea typeface="微軟正黑體" panose="020B0604030504040204" pitchFamily="34" charset="-120"/>
                        </a:rPr>
                        <a:t>5</a:t>
                      </a:r>
                      <a:endParaRPr lang="zh-TW" altLang="en-US" sz="800" dirty="0">
                        <a:solidFill>
                          <a:schemeClr val="bg1">
                            <a:lumMod val="65000"/>
                          </a:schemeClr>
                        </a:solidFill>
                        <a:latin typeface="微軟正黑體" panose="020B0604030504040204" pitchFamily="34" charset="-120"/>
                        <a:ea typeface="微軟正黑體" panose="020B0604030504040204" pitchFamily="34" charset="-120"/>
                      </a:endParaRPr>
                    </a:p>
                  </a:txBody>
                  <a:tcPr>
                    <a:lnL w="12700" cap="flat" cmpd="sng" algn="ctr">
                      <a:noFill/>
                      <a:prstDash val="solid"/>
                      <a:round/>
                      <a:headEnd type="none" w="med" len="med"/>
                      <a:tailEnd type="none" w="med" len="med"/>
                    </a:lnL>
                    <a:solidFill>
                      <a:schemeClr val="bg1"/>
                    </a:solidFill>
                  </a:tcPr>
                </a:tc>
                <a:extLst>
                  <a:ext uri="{0D108BD9-81ED-4DB2-BD59-A6C34878D82A}">
                    <a16:rowId xmlns:a16="http://schemas.microsoft.com/office/drawing/2014/main" val="1236249582"/>
                  </a:ext>
                </a:extLst>
              </a:tr>
              <a:tr h="207611">
                <a:tc>
                  <a:txBody>
                    <a:bodyPr/>
                    <a:lstStyle/>
                    <a:p>
                      <a:r>
                        <a:rPr lang="en-US" altLang="zh-TW" sz="800" dirty="0">
                          <a:latin typeface="微軟正黑體" panose="020B0604030504040204" pitchFamily="34" charset="-120"/>
                          <a:ea typeface="微軟正黑體" panose="020B0604030504040204" pitchFamily="34" charset="-120"/>
                        </a:rPr>
                        <a:t>ING</a:t>
                      </a:r>
                      <a:endParaRPr lang="zh-TW" altLang="en-US" sz="800" dirty="0">
                        <a:latin typeface="微軟正黑體" panose="020B0604030504040204" pitchFamily="34" charset="-120"/>
                        <a:ea typeface="微軟正黑體" panose="020B0604030504040204" pitchFamily="34" charset="-120"/>
                      </a:endParaRPr>
                    </a:p>
                  </a:txBody>
                  <a:tcPr>
                    <a:solidFill>
                      <a:schemeClr val="bg1"/>
                    </a:solidFill>
                  </a:tcPr>
                </a:tc>
                <a:tc>
                  <a:txBody>
                    <a:bodyPr/>
                    <a:lstStyle/>
                    <a:p>
                      <a:r>
                        <a:rPr lang="en-US" altLang="zh-TW" sz="800" dirty="0">
                          <a:latin typeface="微軟正黑體" panose="020B0604030504040204" pitchFamily="34" charset="-120"/>
                          <a:ea typeface="微軟正黑體" panose="020B0604030504040204" pitchFamily="34" charset="-120"/>
                        </a:rPr>
                        <a:t>20</a:t>
                      </a:r>
                      <a:endParaRPr lang="zh-TW" altLang="en-US" sz="800" dirty="0">
                        <a:latin typeface="微軟正黑體" panose="020B0604030504040204" pitchFamily="34" charset="-120"/>
                        <a:ea typeface="微軟正黑體" panose="020B0604030504040204" pitchFamily="34" charset="-120"/>
                      </a:endParaRPr>
                    </a:p>
                  </a:txBody>
                  <a:tcPr>
                    <a:lnR w="12700" cap="flat" cmpd="sng" algn="ctr">
                      <a:noFill/>
                      <a:prstDash val="solid"/>
                      <a:round/>
                      <a:headEnd type="none" w="med" len="med"/>
                      <a:tailEnd type="none" w="med" len="med"/>
                    </a:lnR>
                    <a:solidFill>
                      <a:schemeClr val="bg1"/>
                    </a:solidFill>
                  </a:tcPr>
                </a:tc>
                <a:tc>
                  <a:txBody>
                    <a:bodyPr/>
                    <a:lstStyle/>
                    <a:p>
                      <a:pPr algn="r"/>
                      <a:r>
                        <a:rPr lang="zh-TW" altLang="en-US" sz="800" dirty="0">
                          <a:solidFill>
                            <a:schemeClr val="bg1">
                              <a:lumMod val="65000"/>
                            </a:schemeClr>
                          </a:solidFill>
                          <a:latin typeface="微軟正黑體" panose="020B0604030504040204" pitchFamily="34" charset="-120"/>
                          <a:ea typeface="微軟正黑體" panose="020B0604030504040204" pitchFamily="34" charset="-120"/>
                        </a:rPr>
                        <a:t>↓</a:t>
                      </a:r>
                      <a:r>
                        <a:rPr lang="en-US" altLang="zh-TW" sz="800" dirty="0">
                          <a:solidFill>
                            <a:schemeClr val="bg1">
                              <a:lumMod val="65000"/>
                            </a:schemeClr>
                          </a:solidFill>
                          <a:latin typeface="微軟正黑體" panose="020B0604030504040204" pitchFamily="34" charset="-120"/>
                          <a:ea typeface="微軟正黑體" panose="020B0604030504040204" pitchFamily="34" charset="-120"/>
                        </a:rPr>
                        <a:t>3</a:t>
                      </a:r>
                      <a:endParaRPr lang="zh-TW" altLang="en-US" sz="800" dirty="0">
                        <a:solidFill>
                          <a:schemeClr val="bg1">
                            <a:lumMod val="65000"/>
                          </a:schemeClr>
                        </a:solidFill>
                        <a:latin typeface="微軟正黑體" panose="020B0604030504040204" pitchFamily="34" charset="-120"/>
                        <a:ea typeface="微軟正黑體" panose="020B0604030504040204" pitchFamily="34" charset="-120"/>
                      </a:endParaRPr>
                    </a:p>
                  </a:txBody>
                  <a:tcPr>
                    <a:lnL w="12700" cap="flat" cmpd="sng" algn="ctr">
                      <a:noFill/>
                      <a:prstDash val="solid"/>
                      <a:round/>
                      <a:headEnd type="none" w="med" len="med"/>
                      <a:tailEnd type="none" w="med" len="med"/>
                    </a:lnL>
                    <a:solidFill>
                      <a:schemeClr val="bg1"/>
                    </a:solidFill>
                  </a:tcPr>
                </a:tc>
                <a:extLst>
                  <a:ext uri="{0D108BD9-81ED-4DB2-BD59-A6C34878D82A}">
                    <a16:rowId xmlns:a16="http://schemas.microsoft.com/office/drawing/2014/main" val="2570339789"/>
                  </a:ext>
                </a:extLst>
              </a:tr>
            </a:tbl>
          </a:graphicData>
        </a:graphic>
      </p:graphicFrame>
      <p:sp>
        <p:nvSpPr>
          <p:cNvPr id="49" name="矩形 48">
            <a:extLst>
              <a:ext uri="{FF2B5EF4-FFF2-40B4-BE49-F238E27FC236}">
                <a16:creationId xmlns:a16="http://schemas.microsoft.com/office/drawing/2014/main" id="{15628E7D-21C2-44F9-8139-A3ED934B358E}"/>
              </a:ext>
            </a:extLst>
          </p:cNvPr>
          <p:cNvSpPr/>
          <p:nvPr/>
        </p:nvSpPr>
        <p:spPr>
          <a:xfrm>
            <a:off x="275829" y="5229200"/>
            <a:ext cx="4149869" cy="218490"/>
          </a:xfrm>
          <a:prstGeom prst="rect">
            <a:avLst/>
          </a:prstGeom>
          <a:noFill/>
          <a:ln w="1905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2" name="矩形 51">
            <a:extLst>
              <a:ext uri="{FF2B5EF4-FFF2-40B4-BE49-F238E27FC236}">
                <a16:creationId xmlns:a16="http://schemas.microsoft.com/office/drawing/2014/main" id="{7CAACF76-E7C0-46B6-B939-884F2D66BEF5}"/>
              </a:ext>
            </a:extLst>
          </p:cNvPr>
          <p:cNvSpPr/>
          <p:nvPr/>
        </p:nvSpPr>
        <p:spPr>
          <a:xfrm>
            <a:off x="6768848" y="5016345"/>
            <a:ext cx="2123631" cy="218490"/>
          </a:xfrm>
          <a:prstGeom prst="rect">
            <a:avLst/>
          </a:prstGeom>
          <a:noFill/>
          <a:ln w="1905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3" name="矩形 52">
            <a:extLst>
              <a:ext uri="{FF2B5EF4-FFF2-40B4-BE49-F238E27FC236}">
                <a16:creationId xmlns:a16="http://schemas.microsoft.com/office/drawing/2014/main" id="{D5E0A844-FE5E-4FEA-B437-5C51C85A3985}"/>
              </a:ext>
            </a:extLst>
          </p:cNvPr>
          <p:cNvSpPr/>
          <p:nvPr/>
        </p:nvSpPr>
        <p:spPr>
          <a:xfrm>
            <a:off x="4645177" y="1856989"/>
            <a:ext cx="3683092" cy="219557"/>
          </a:xfrm>
          <a:prstGeom prst="rect">
            <a:avLst/>
          </a:prstGeom>
          <a:noFill/>
          <a:ln w="1905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5" name="文字方塊 54">
            <a:extLst>
              <a:ext uri="{FF2B5EF4-FFF2-40B4-BE49-F238E27FC236}">
                <a16:creationId xmlns:a16="http://schemas.microsoft.com/office/drawing/2014/main" id="{467A6B4B-A2AC-430A-88C3-6ADD3392E8DA}"/>
              </a:ext>
            </a:extLst>
          </p:cNvPr>
          <p:cNvSpPr txBox="1"/>
          <p:nvPr/>
        </p:nvSpPr>
        <p:spPr>
          <a:xfrm>
            <a:off x="7833496" y="3260439"/>
            <a:ext cx="527158" cy="169277"/>
          </a:xfrm>
          <a:prstGeom prst="rect">
            <a:avLst/>
          </a:prstGeom>
          <a:noFill/>
        </p:spPr>
        <p:txBody>
          <a:bodyPr wrap="square">
            <a:spAutoFit/>
          </a:bodyPr>
          <a:lstStyle/>
          <a:p>
            <a:r>
              <a:rPr lang="en-US" altLang="zh-TW" sz="500" b="1" dirty="0">
                <a:latin typeface="微軟正黑體" panose="020B0604030504040204" pitchFamily="34" charset="-120"/>
                <a:ea typeface="微軟正黑體" panose="020B0604030504040204" pitchFamily="34" charset="-120"/>
              </a:rPr>
              <a:t>(</a:t>
            </a:r>
            <a:r>
              <a:rPr lang="zh-TW" altLang="en-US" sz="500" b="1" dirty="0">
                <a:latin typeface="微軟正黑體" panose="020B0604030504040204" pitchFamily="34" charset="-120"/>
                <a:ea typeface="微軟正黑體" panose="020B0604030504040204" pitchFamily="34" charset="-120"/>
              </a:rPr>
              <a:t>百萬客戶</a:t>
            </a:r>
            <a:r>
              <a:rPr lang="en-US" altLang="zh-TW" sz="500" b="1" dirty="0">
                <a:latin typeface="微軟正黑體" panose="020B0604030504040204" pitchFamily="34" charset="-120"/>
                <a:ea typeface="微軟正黑體" panose="020B0604030504040204" pitchFamily="34" charset="-120"/>
              </a:rPr>
              <a:t>)</a:t>
            </a:r>
            <a:endParaRPr lang="zh-TW" altLang="en-US" sz="500" b="1"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8225762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p:cNvSpPr>
            <a:spLocks noGrp="1"/>
          </p:cNvSpPr>
          <p:nvPr>
            <p:ph type="sldNum" sz="quarter" idx="12"/>
          </p:nvPr>
        </p:nvSpPr>
        <p:spPr/>
        <p:txBody>
          <a:bodyPr/>
          <a:lstStyle/>
          <a:p>
            <a:pPr>
              <a:defRPr/>
            </a:pPr>
            <a:fld id="{186220AF-483D-4EE9-B065-23EEF407C225}" type="slidenum">
              <a:rPr lang="zh-TW" altLang="en-US" smtClean="0"/>
              <a:pPr>
                <a:defRPr/>
              </a:pPr>
              <a:t>4</a:t>
            </a:fld>
            <a:endParaRPr lang="zh-TW" altLang="en-US"/>
          </a:p>
        </p:txBody>
      </p:sp>
      <p:sp>
        <p:nvSpPr>
          <p:cNvPr id="13" name="標題 1">
            <a:extLst>
              <a:ext uri="{FF2B5EF4-FFF2-40B4-BE49-F238E27FC236}">
                <a16:creationId xmlns:a16="http://schemas.microsoft.com/office/drawing/2014/main" id="{7FA876EA-016F-C943-9D37-BCF80403BE81}"/>
              </a:ext>
            </a:extLst>
          </p:cNvPr>
          <p:cNvSpPr txBox="1">
            <a:spLocks noChangeArrowheads="1"/>
          </p:cNvSpPr>
          <p:nvPr/>
        </p:nvSpPr>
        <p:spPr>
          <a:xfrm>
            <a:off x="1907704" y="243209"/>
            <a:ext cx="5328592" cy="475060"/>
          </a:xfrm>
          <a:prstGeom prst="rect">
            <a:avLst/>
          </a:prstGeom>
        </p:spPr>
        <p:txBody>
          <a:bodyPr anchor="ctr" anchorCtr="0">
            <a:noAutofit/>
          </a:bodyPr>
          <a:lstStyle>
            <a:lvl1pPr algn="l" defTabSz="914400" rtl="0" eaLnBrk="1" latinLnBrk="0" hangingPunct="1">
              <a:spcBef>
                <a:spcPct val="0"/>
              </a:spcBef>
              <a:buNone/>
              <a:defRPr sz="2800" b="1" kern="1200">
                <a:solidFill>
                  <a:schemeClr val="tx2">
                    <a:lumMod val="75000"/>
                  </a:schemeClr>
                </a:solidFill>
                <a:latin typeface="微軟正黑體" pitchFamily="34" charset="-120"/>
                <a:ea typeface="微軟正黑體" pitchFamily="34" charset="-120"/>
                <a:cs typeface="+mj-cs"/>
              </a:defRPr>
            </a:lvl1pPr>
          </a:lstStyle>
          <a:p>
            <a:pPr algn="ctr">
              <a:defRPr/>
            </a:pPr>
            <a:r>
              <a:rPr lang="zh-TW" altLang="en-US" sz="2000" dirty="0">
                <a:solidFill>
                  <a:srgbClr val="EE8300"/>
                </a:solidFill>
              </a:rPr>
              <a:t>核心業務穩健，營收、獲利持續創高</a:t>
            </a:r>
          </a:p>
        </p:txBody>
      </p:sp>
      <p:sp>
        <p:nvSpPr>
          <p:cNvPr id="21" name="文字方塊 30">
            <a:extLst>
              <a:ext uri="{FF2B5EF4-FFF2-40B4-BE49-F238E27FC236}">
                <a16:creationId xmlns:a16="http://schemas.microsoft.com/office/drawing/2014/main" id="{7DB08F83-B110-3044-A817-3A8E4D3E13EB}"/>
              </a:ext>
            </a:extLst>
          </p:cNvPr>
          <p:cNvSpPr txBox="1">
            <a:spLocks noChangeArrowheads="1"/>
          </p:cNvSpPr>
          <p:nvPr/>
        </p:nvSpPr>
        <p:spPr bwMode="auto">
          <a:xfrm>
            <a:off x="2267743" y="6427457"/>
            <a:ext cx="5328593" cy="338554"/>
          </a:xfrm>
          <a:prstGeom prst="rect">
            <a:avLst/>
          </a:prstGeom>
        </p:spPr>
        <p:txBody>
          <a:bodyPr wrap="square">
            <a:spAutoFit/>
          </a:bodyPr>
          <a:lstStyle>
            <a:defPPr>
              <a:defRPr lang="zh-TW"/>
            </a:defPPr>
            <a:lvl1pPr algn="r">
              <a:defRPr sz="800">
                <a:solidFill>
                  <a:schemeClr val="bg1"/>
                </a:solidFill>
                <a:latin typeface="微軟正黑體" panose="020B0604030504040204" pitchFamily="34" charset="-120"/>
                <a:ea typeface="微軟正黑體" panose="020B0604030504040204" pitchFamily="34" charset="-120"/>
              </a:defRPr>
            </a:lvl1pPr>
          </a:lstStyle>
          <a:p>
            <a:pPr algn="l"/>
            <a:r>
              <a:rPr lang="zh-TW" altLang="en-US" dirty="0"/>
              <a:t>資料來源：：</a:t>
            </a:r>
            <a:r>
              <a:rPr lang="zh-TW" altLang="en-US" dirty="0">
                <a:hlinkClick r:id="rId3"/>
              </a:rPr>
              <a:t>年報</a:t>
            </a:r>
            <a:r>
              <a:rPr lang="zh-TW" altLang="en-US" dirty="0"/>
              <a:t>、台新證券整理</a:t>
            </a:r>
            <a:endParaRPr lang="en-US" altLang="zh-TW" dirty="0"/>
          </a:p>
          <a:p>
            <a:pPr algn="l"/>
            <a:r>
              <a:rPr lang="zh-TW" altLang="en-US" dirty="0"/>
              <a:t>註：可比淨營收於官方財報乃指「法定營業收入」排除重組及其他項目後的「基本營業收入」</a:t>
            </a:r>
            <a:endParaRPr lang="en-US" altLang="zh-TW" dirty="0"/>
          </a:p>
        </p:txBody>
      </p:sp>
      <p:sp>
        <p:nvSpPr>
          <p:cNvPr id="22" name="圓角矩形 6">
            <a:extLst>
              <a:ext uri="{FF2B5EF4-FFF2-40B4-BE49-F238E27FC236}">
                <a16:creationId xmlns:a16="http://schemas.microsoft.com/office/drawing/2014/main" id="{392231BF-9B38-4A0E-AD7B-49E14464E6CF}"/>
              </a:ext>
            </a:extLst>
          </p:cNvPr>
          <p:cNvSpPr/>
          <p:nvPr/>
        </p:nvSpPr>
        <p:spPr>
          <a:xfrm>
            <a:off x="174551" y="894384"/>
            <a:ext cx="4397449" cy="5376085"/>
          </a:xfrm>
          <a:prstGeom prst="roundRect">
            <a:avLst>
              <a:gd name="adj" fmla="val 0"/>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23" name="圓角矩形 22">
            <a:extLst>
              <a:ext uri="{FF2B5EF4-FFF2-40B4-BE49-F238E27FC236}">
                <a16:creationId xmlns:a16="http://schemas.microsoft.com/office/drawing/2014/main" id="{FD8B5EF8-9D31-4BB3-ABDB-62CC4B194F6C}"/>
              </a:ext>
            </a:extLst>
          </p:cNvPr>
          <p:cNvSpPr/>
          <p:nvPr/>
        </p:nvSpPr>
        <p:spPr>
          <a:xfrm>
            <a:off x="336253" y="764704"/>
            <a:ext cx="994152" cy="282744"/>
          </a:xfrm>
          <a:prstGeom prst="roundRect">
            <a:avLst/>
          </a:prstGeom>
          <a:solidFill>
            <a:srgbClr val="006F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200" b="1" dirty="0">
                <a:solidFill>
                  <a:schemeClr val="bg1"/>
                </a:solidFill>
                <a:latin typeface="微軟正黑體" panose="020B0604030504040204" pitchFamily="34" charset="-120"/>
                <a:ea typeface="微軟正黑體" panose="020B0604030504040204" pitchFamily="34" charset="-120"/>
              </a:rPr>
              <a:t>年度財務</a:t>
            </a:r>
          </a:p>
        </p:txBody>
      </p:sp>
      <p:sp>
        <p:nvSpPr>
          <p:cNvPr id="25" name="矩形 24"/>
          <p:cNvSpPr/>
          <p:nvPr/>
        </p:nvSpPr>
        <p:spPr>
          <a:xfrm>
            <a:off x="4733702" y="894384"/>
            <a:ext cx="4192815" cy="5376085"/>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31" name="文字方塊 30">
            <a:extLst>
              <a:ext uri="{FF2B5EF4-FFF2-40B4-BE49-F238E27FC236}">
                <a16:creationId xmlns:a16="http://schemas.microsoft.com/office/drawing/2014/main" id="{B9F59D76-85D1-7949-37B3-BDE7232D9601}"/>
              </a:ext>
            </a:extLst>
          </p:cNvPr>
          <p:cNvSpPr txBox="1"/>
          <p:nvPr/>
        </p:nvSpPr>
        <p:spPr>
          <a:xfrm>
            <a:off x="300497" y="1142077"/>
            <a:ext cx="4127487" cy="2205155"/>
          </a:xfrm>
          <a:prstGeom prst="rect">
            <a:avLst/>
          </a:prstGeom>
          <a:noFill/>
        </p:spPr>
        <p:txBody>
          <a:bodyPr wrap="square" rtlCol="0">
            <a:spAutoFit/>
          </a:bodyPr>
          <a:lstStyle>
            <a:defPPr>
              <a:defRPr lang="zh-TW"/>
            </a:defPPr>
            <a:lvl1pPr algn="just">
              <a:lnSpc>
                <a:spcPts val="1800"/>
              </a:lnSpc>
              <a:spcBef>
                <a:spcPts val="450"/>
              </a:spcBef>
              <a:defRPr sz="1200" b="1">
                <a:latin typeface="+mn-ea"/>
              </a:defRPr>
            </a:lvl1pPr>
          </a:lstStyle>
          <a:p>
            <a:pPr>
              <a:lnSpc>
                <a:spcPts val="1600"/>
              </a:lnSpc>
              <a:spcBef>
                <a:spcPts val="600"/>
              </a:spcBef>
            </a:pPr>
            <a:r>
              <a:rPr lang="en-US" altLang="zh-TW" dirty="0">
                <a:solidFill>
                  <a:srgbClr val="FF0000"/>
                </a:solidFill>
                <a:latin typeface="微軟正黑體" panose="020B0604030504040204" pitchFamily="34" charset="-120"/>
                <a:ea typeface="微軟正黑體" panose="020B0604030504040204" pitchFamily="34" charset="-120"/>
              </a:rPr>
              <a:t>FY25</a:t>
            </a:r>
            <a:r>
              <a:rPr lang="zh-TW" altLang="en-US" dirty="0">
                <a:solidFill>
                  <a:srgbClr val="FF0000"/>
                </a:solidFill>
                <a:latin typeface="微軟正黑體" panose="020B0604030504040204" pitchFamily="34" charset="-120"/>
                <a:ea typeface="微軟正黑體" panose="020B0604030504040204" pitchFamily="34" charset="-120"/>
              </a:rPr>
              <a:t>淨營收年增</a:t>
            </a:r>
            <a:r>
              <a:rPr lang="en-US" altLang="zh-TW" dirty="0">
                <a:solidFill>
                  <a:srgbClr val="FF0000"/>
                </a:solidFill>
                <a:latin typeface="微軟正黑體" panose="020B0604030504040204" pitchFamily="34" charset="-120"/>
                <a:ea typeface="微軟正黑體" panose="020B0604030504040204" pitchFamily="34" charset="-120"/>
              </a:rPr>
              <a:t>8%</a:t>
            </a:r>
            <a:r>
              <a:rPr lang="zh-TW" altLang="en-US" dirty="0">
                <a:solidFill>
                  <a:srgbClr val="FF0000"/>
                </a:solidFill>
                <a:latin typeface="微軟正黑體" panose="020B0604030504040204" pitchFamily="34" charset="-120"/>
                <a:ea typeface="微軟正黑體" panose="020B0604030504040204" pitchFamily="34" charset="-120"/>
              </a:rPr>
              <a:t>至</a:t>
            </a:r>
            <a:r>
              <a:rPr lang="en-US" altLang="zh-TW" dirty="0">
                <a:solidFill>
                  <a:srgbClr val="FF0000"/>
                </a:solidFill>
                <a:latin typeface="微軟正黑體" panose="020B0604030504040204" pitchFamily="34" charset="-120"/>
                <a:ea typeface="微軟正黑體" panose="020B0604030504040204" pitchFamily="34" charset="-120"/>
              </a:rPr>
              <a:t>184.3</a:t>
            </a:r>
            <a:r>
              <a:rPr lang="zh-TW" altLang="en-US" dirty="0">
                <a:solidFill>
                  <a:srgbClr val="FF0000"/>
                </a:solidFill>
                <a:latin typeface="微軟正黑體" panose="020B0604030504040204" pitchFamily="34" charset="-120"/>
                <a:ea typeface="微軟正黑體" panose="020B0604030504040204" pitchFamily="34" charset="-120"/>
              </a:rPr>
              <a:t>億英鎊</a:t>
            </a:r>
            <a:r>
              <a:rPr lang="zh-TW" altLang="en-US" b="0" dirty="0">
                <a:latin typeface="微軟正黑體" panose="020B0604030504040204" pitchFamily="34" charset="-120"/>
                <a:ea typeface="微軟正黑體" panose="020B0604030504040204" pitchFamily="34" charset="-120"/>
              </a:rPr>
              <a:t>，係受惠</a:t>
            </a:r>
            <a:r>
              <a:rPr lang="en-US" altLang="zh-TW" b="0" dirty="0">
                <a:latin typeface="微軟正黑體" panose="020B0604030504040204" pitchFamily="34" charset="-120"/>
                <a:ea typeface="微軟正黑體" panose="020B0604030504040204" pitchFamily="34" charset="-120"/>
              </a:rPr>
              <a:t>1)</a:t>
            </a:r>
            <a:r>
              <a:rPr lang="zh-TW" altLang="en-US" b="0" dirty="0">
                <a:latin typeface="微軟正黑體" panose="020B0604030504040204" pitchFamily="34" charset="-120"/>
                <a:ea typeface="微軟正黑體" panose="020B0604030504040204" pitchFamily="34" charset="-120"/>
              </a:rPr>
              <a:t>利息收益資產的平均水平提高及利差擴大，帶動淨利息收入年增</a:t>
            </a:r>
            <a:r>
              <a:rPr lang="en-US" altLang="zh-TW" b="0" dirty="0">
                <a:latin typeface="微軟正黑體" panose="020B0604030504040204" pitchFamily="34" charset="-120"/>
                <a:ea typeface="微軟正黑體" panose="020B0604030504040204" pitchFamily="34" charset="-120"/>
              </a:rPr>
              <a:t>6%</a:t>
            </a:r>
            <a:r>
              <a:rPr lang="zh-TW" altLang="en-US" b="0" dirty="0">
                <a:latin typeface="微軟正黑體" panose="020B0604030504040204" pitchFamily="34" charset="-120"/>
                <a:ea typeface="微軟正黑體" panose="020B0604030504040204" pitchFamily="34" charset="-120"/>
              </a:rPr>
              <a:t>；</a:t>
            </a:r>
            <a:r>
              <a:rPr lang="en-US" altLang="zh-TW" b="0" dirty="0">
                <a:latin typeface="微軟正黑體" panose="020B0604030504040204" pitchFamily="34" charset="-120"/>
                <a:ea typeface="微軟正黑體" panose="020B0604030504040204" pitchFamily="34" charset="-120"/>
              </a:rPr>
              <a:t>2)</a:t>
            </a:r>
            <a:r>
              <a:rPr lang="zh-TW" altLang="en-US" b="0" dirty="0">
                <a:latin typeface="微軟正黑體" panose="020B0604030504040204" pitchFamily="34" charset="-120"/>
                <a:ea typeface="微軟正黑體" panose="020B0604030504040204" pitchFamily="34" charset="-120"/>
              </a:rPr>
              <a:t>零售業務中英國汽車金融表現改善，主要來自車隊增長和平均車輛租賃價值提高，以及淨費用和佣金收入增加。</a:t>
            </a:r>
            <a:endParaRPr lang="en-US" altLang="zh-TW" b="0" dirty="0">
              <a:latin typeface="微軟正黑體" panose="020B0604030504040204" pitchFamily="34" charset="-120"/>
              <a:ea typeface="微軟正黑體" panose="020B0604030504040204" pitchFamily="34" charset="-120"/>
            </a:endParaRPr>
          </a:p>
          <a:p>
            <a:pPr>
              <a:lnSpc>
                <a:spcPts val="1600"/>
              </a:lnSpc>
              <a:spcBef>
                <a:spcPts val="600"/>
              </a:spcBef>
            </a:pPr>
            <a:r>
              <a:rPr lang="zh-TW" altLang="en-US" dirty="0">
                <a:solidFill>
                  <a:srgbClr val="FF0000"/>
                </a:solidFill>
                <a:latin typeface="微軟正黑體" panose="020B0604030504040204" pitchFamily="34" charset="-120"/>
                <a:ea typeface="微軟正黑體" panose="020B0604030504040204" pitchFamily="34" charset="-120"/>
              </a:rPr>
              <a:t>普通股可分配淨利年增</a:t>
            </a:r>
            <a:r>
              <a:rPr lang="en-US" altLang="zh-TW" dirty="0">
                <a:solidFill>
                  <a:srgbClr val="FF0000"/>
                </a:solidFill>
                <a:latin typeface="微軟正黑體" panose="020B0604030504040204" pitchFamily="34" charset="-120"/>
                <a:ea typeface="微軟正黑體" panose="020B0604030504040204" pitchFamily="34" charset="-120"/>
              </a:rPr>
              <a:t>%</a:t>
            </a:r>
            <a:r>
              <a:rPr lang="zh-TW" altLang="en-US" dirty="0">
                <a:solidFill>
                  <a:srgbClr val="FF0000"/>
                </a:solidFill>
                <a:latin typeface="微軟正黑體" panose="020B0604030504040204" pitchFamily="34" charset="-120"/>
                <a:ea typeface="微軟正黑體" panose="020B0604030504040204" pitchFamily="34" charset="-120"/>
              </a:rPr>
              <a:t>至</a:t>
            </a:r>
            <a:r>
              <a:rPr lang="en-US" altLang="zh-TW" dirty="0">
                <a:solidFill>
                  <a:srgbClr val="FF0000"/>
                </a:solidFill>
                <a:latin typeface="微軟正黑體" panose="020B0604030504040204" pitchFamily="34" charset="-120"/>
                <a:ea typeface="微軟正黑體" panose="020B0604030504040204" pitchFamily="34" charset="-120"/>
              </a:rPr>
              <a:t>38.6</a:t>
            </a:r>
            <a:r>
              <a:rPr lang="zh-TW" altLang="en-US" dirty="0">
                <a:solidFill>
                  <a:srgbClr val="FF0000"/>
                </a:solidFill>
                <a:latin typeface="微軟正黑體" panose="020B0604030504040204" pitchFamily="34" charset="-120"/>
                <a:ea typeface="微軟正黑體" panose="020B0604030504040204" pitchFamily="34" charset="-120"/>
              </a:rPr>
              <a:t>億美元</a:t>
            </a:r>
            <a:r>
              <a:rPr lang="zh-TW" altLang="en-US" b="0" dirty="0">
                <a:latin typeface="微軟正黑體" panose="020B0604030504040204" pitchFamily="34" charset="-120"/>
                <a:ea typeface="微軟正黑體" panose="020B0604030504040204" pitchFamily="34" charset="-120"/>
              </a:rPr>
              <a:t>，在零售業務方面，</a:t>
            </a:r>
            <a:r>
              <a:rPr lang="en-US" altLang="zh-TW" b="0" dirty="0">
                <a:latin typeface="微軟正黑體" panose="020B0604030504040204" pitchFamily="34" charset="-120"/>
                <a:ea typeface="微軟正黑體" panose="020B0604030504040204" pitchFamily="34" charset="-120"/>
              </a:rPr>
              <a:t>2025</a:t>
            </a:r>
            <a:r>
              <a:rPr lang="zh-TW" altLang="en-US" b="0" dirty="0">
                <a:latin typeface="微軟正黑體" panose="020B0604030504040204" pitchFamily="34" charset="-120"/>
                <a:ea typeface="微軟正黑體" panose="020B0604030504040204" pitchFamily="34" charset="-120"/>
              </a:rPr>
              <a:t>年的損失反映了強勁的業務表現以及校準和模型改進的收益，並且包括債務出售。在商業銀行業務方面，上半年因少數個案導致的較高損失，被第一階段和第二階段模型校準的釋放所抵消，這些校準反映了良好的信貸表現並降低了全年利率。</a:t>
            </a:r>
          </a:p>
        </p:txBody>
      </p:sp>
      <p:graphicFrame>
        <p:nvGraphicFramePr>
          <p:cNvPr id="45" name="圖表 44"/>
          <p:cNvGraphicFramePr/>
          <p:nvPr>
            <p:extLst>
              <p:ext uri="{D42A27DB-BD31-4B8C-83A1-F6EECF244321}">
                <p14:modId xmlns:p14="http://schemas.microsoft.com/office/powerpoint/2010/main" val="2247645829"/>
              </p:ext>
            </p:extLst>
          </p:nvPr>
        </p:nvGraphicFramePr>
        <p:xfrm>
          <a:off x="4871909" y="1377562"/>
          <a:ext cx="3916399" cy="1808884"/>
        </p:xfrm>
        <a:graphic>
          <a:graphicData uri="http://schemas.openxmlformats.org/drawingml/2006/chart">
            <c:chart xmlns:c="http://schemas.openxmlformats.org/drawingml/2006/chart" xmlns:r="http://schemas.openxmlformats.org/officeDocument/2006/relationships" r:id="rId4"/>
          </a:graphicData>
        </a:graphic>
      </p:graphicFrame>
      <p:pic>
        <p:nvPicPr>
          <p:cNvPr id="17" name="圖片 16">
            <a:extLst>
              <a:ext uri="{FF2B5EF4-FFF2-40B4-BE49-F238E27FC236}">
                <a16:creationId xmlns:a16="http://schemas.microsoft.com/office/drawing/2014/main" id="{9CA36B64-DAB2-4BED-A804-2E2505C4187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740352" y="12728"/>
            <a:ext cx="1008112" cy="679968"/>
          </a:xfrm>
          <a:prstGeom prst="rect">
            <a:avLst/>
          </a:prstGeom>
        </p:spPr>
      </p:pic>
      <p:graphicFrame>
        <p:nvGraphicFramePr>
          <p:cNvPr id="18" name="表格 17">
            <a:extLst>
              <a:ext uri="{FF2B5EF4-FFF2-40B4-BE49-F238E27FC236}">
                <a16:creationId xmlns:a16="http://schemas.microsoft.com/office/drawing/2014/main" id="{B340002A-2129-4E61-A37E-7593C95C9629}"/>
              </a:ext>
            </a:extLst>
          </p:cNvPr>
          <p:cNvGraphicFramePr>
            <a:graphicFrameLocks noGrp="1"/>
          </p:cNvGraphicFramePr>
          <p:nvPr>
            <p:extLst>
              <p:ext uri="{D42A27DB-BD31-4B8C-83A1-F6EECF244321}">
                <p14:modId xmlns:p14="http://schemas.microsoft.com/office/powerpoint/2010/main" val="1961863983"/>
              </p:ext>
            </p:extLst>
          </p:nvPr>
        </p:nvGraphicFramePr>
        <p:xfrm>
          <a:off x="5418524" y="3325428"/>
          <a:ext cx="2808312" cy="2677344"/>
        </p:xfrm>
        <a:graphic>
          <a:graphicData uri="http://schemas.openxmlformats.org/drawingml/2006/table">
            <a:tbl>
              <a:tblPr firstRow="1" bandRow="1">
                <a:tableStyleId>{5C22544A-7EE6-4342-B048-85BDC9FD1C3A}</a:tableStyleId>
              </a:tblPr>
              <a:tblGrid>
                <a:gridCol w="858255">
                  <a:extLst>
                    <a:ext uri="{9D8B030D-6E8A-4147-A177-3AD203B41FA5}">
                      <a16:colId xmlns:a16="http://schemas.microsoft.com/office/drawing/2014/main" val="2981576668"/>
                    </a:ext>
                  </a:extLst>
                </a:gridCol>
                <a:gridCol w="508413">
                  <a:extLst>
                    <a:ext uri="{9D8B030D-6E8A-4147-A177-3AD203B41FA5}">
                      <a16:colId xmlns:a16="http://schemas.microsoft.com/office/drawing/2014/main" val="1265696024"/>
                    </a:ext>
                  </a:extLst>
                </a:gridCol>
                <a:gridCol w="127403">
                  <a:extLst>
                    <a:ext uri="{9D8B030D-6E8A-4147-A177-3AD203B41FA5}">
                      <a16:colId xmlns:a16="http://schemas.microsoft.com/office/drawing/2014/main" val="191966002"/>
                    </a:ext>
                  </a:extLst>
                </a:gridCol>
                <a:gridCol w="222436">
                  <a:extLst>
                    <a:ext uri="{9D8B030D-6E8A-4147-A177-3AD203B41FA5}">
                      <a16:colId xmlns:a16="http://schemas.microsoft.com/office/drawing/2014/main" val="4273430004"/>
                    </a:ext>
                  </a:extLst>
                </a:gridCol>
                <a:gridCol w="472072">
                  <a:extLst>
                    <a:ext uri="{9D8B030D-6E8A-4147-A177-3AD203B41FA5}">
                      <a16:colId xmlns:a16="http://schemas.microsoft.com/office/drawing/2014/main" val="2019496008"/>
                    </a:ext>
                  </a:extLst>
                </a:gridCol>
                <a:gridCol w="619733">
                  <a:extLst>
                    <a:ext uri="{9D8B030D-6E8A-4147-A177-3AD203B41FA5}">
                      <a16:colId xmlns:a16="http://schemas.microsoft.com/office/drawing/2014/main" val="3215520484"/>
                    </a:ext>
                  </a:extLst>
                </a:gridCol>
              </a:tblGrid>
              <a:tr h="214825">
                <a:tc rowSpan="2" gridSpan="2">
                  <a:txBody>
                    <a:bodyPr/>
                    <a:lstStyle/>
                    <a:p>
                      <a:r>
                        <a:rPr lang="zh-TW" altLang="en-US" sz="900" dirty="0">
                          <a:solidFill>
                            <a:schemeClr val="tx1"/>
                          </a:solidFill>
                          <a:latin typeface="微軟正黑體" panose="020B0604030504040204" pitchFamily="34" charset="-120"/>
                          <a:ea typeface="微軟正黑體" panose="020B0604030504040204" pitchFamily="34" charset="-120"/>
                        </a:rPr>
                        <a:t> 百萬英鎊</a:t>
                      </a: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rgbClr val="333334"/>
                      </a:solidFill>
                      <a:prstDash val="solid"/>
                      <a:round/>
                      <a:headEnd type="none" w="med" len="med"/>
                      <a:tailEnd type="none" w="med" len="med"/>
                    </a:lnB>
                    <a:lnTlToBr w="12700" cmpd="sng">
                      <a:noFill/>
                      <a:prstDash val="solid"/>
                    </a:lnTlToBr>
                    <a:lnBlToTr w="12700" cmpd="sng">
                      <a:noFill/>
                      <a:prstDash val="solid"/>
                    </a:lnBlToTr>
                    <a:solidFill>
                      <a:srgbClr val="F3F6F5"/>
                    </a:solidFill>
                  </a:tcPr>
                </a:tc>
                <a:tc rowSpan="2" hMerge="1">
                  <a:txBody>
                    <a:bodyPr/>
                    <a:lstStyle/>
                    <a:p>
                      <a:endParaRPr lang="zh-TW" altLang="en-US"/>
                    </a:p>
                  </a:txBody>
                  <a:tcPr/>
                </a:tc>
                <a:tc gridSpan="4">
                  <a:txBody>
                    <a:bodyPr/>
                    <a:lstStyle/>
                    <a:p>
                      <a:pPr algn="ctr"/>
                      <a:r>
                        <a:rPr lang="zh-TW" altLang="en-US" sz="900" dirty="0">
                          <a:solidFill>
                            <a:schemeClr val="tx1"/>
                          </a:solidFill>
                          <a:latin typeface="微軟正黑體" panose="020B0604030504040204" pitchFamily="34" charset="-120"/>
                          <a:ea typeface="微軟正黑體" panose="020B0604030504040204" pitchFamily="34" charset="-120"/>
                        </a:rPr>
                        <a:t>截至</a:t>
                      </a:r>
                      <a:r>
                        <a:rPr lang="en-US" altLang="zh-TW" sz="900" dirty="0">
                          <a:solidFill>
                            <a:schemeClr val="tx1"/>
                          </a:solidFill>
                          <a:latin typeface="微軟正黑體" panose="020B0604030504040204" pitchFamily="34" charset="-120"/>
                          <a:ea typeface="微軟正黑體" panose="020B0604030504040204" pitchFamily="34" charset="-120"/>
                        </a:rPr>
                        <a:t>12</a:t>
                      </a:r>
                      <a:r>
                        <a:rPr lang="zh-TW" altLang="en-US" sz="900" dirty="0">
                          <a:solidFill>
                            <a:schemeClr val="tx1"/>
                          </a:solidFill>
                          <a:latin typeface="微軟正黑體" panose="020B0604030504040204" pitchFamily="34" charset="-120"/>
                          <a:ea typeface="微軟正黑體" panose="020B0604030504040204" pitchFamily="34" charset="-120"/>
                        </a:rPr>
                        <a:t>月</a:t>
                      </a:r>
                      <a:r>
                        <a:rPr lang="en-US" altLang="zh-TW" sz="900" dirty="0">
                          <a:solidFill>
                            <a:schemeClr val="tx1"/>
                          </a:solidFill>
                          <a:latin typeface="微軟正黑體" panose="020B0604030504040204" pitchFamily="34" charset="-120"/>
                          <a:ea typeface="微軟正黑體" panose="020B0604030504040204" pitchFamily="34" charset="-120"/>
                        </a:rPr>
                        <a:t>31</a:t>
                      </a:r>
                      <a:r>
                        <a:rPr lang="zh-TW" altLang="en-US" sz="900" dirty="0">
                          <a:solidFill>
                            <a:schemeClr val="tx1"/>
                          </a:solidFill>
                          <a:latin typeface="微軟正黑體" panose="020B0604030504040204" pitchFamily="34" charset="-120"/>
                          <a:ea typeface="微軟正黑體" panose="020B0604030504040204" pitchFamily="34" charset="-120"/>
                        </a:rPr>
                        <a:t>日止年度</a:t>
                      </a: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rgbClr val="F3F6F5"/>
                    </a:solidFill>
                  </a:tcPr>
                </a:tc>
                <a:tc hMerge="1">
                  <a:txBody>
                    <a:bodyPr/>
                    <a:lstStyle/>
                    <a:p>
                      <a:pPr algn="ctr"/>
                      <a:endParaRPr lang="zh-TW" altLang="en-US" sz="900" dirty="0">
                        <a:solidFill>
                          <a:schemeClr val="tx1"/>
                        </a:solidFill>
                        <a:latin typeface="微軟正黑體" panose="020B0604030504040204" pitchFamily="34" charset="-120"/>
                        <a:ea typeface="微軟正黑體" panose="020B0604030504040204" pitchFamily="34" charset="-120"/>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rgbClr val="F3F6F5"/>
                    </a:solidFill>
                  </a:tcPr>
                </a:tc>
                <a:tc hMerge="1">
                  <a:txBody>
                    <a:bodyPr/>
                    <a:lstStyle/>
                    <a:p>
                      <a:endParaRPr lang="zh-TW" altLang="en-US"/>
                    </a:p>
                  </a:txBody>
                  <a:tcPr/>
                </a:tc>
                <a:tc hMerge="1">
                  <a:txBody>
                    <a:bodyPr/>
                    <a:lstStyle/>
                    <a:p>
                      <a:endParaRPr lang="zh-TW" altLang="en-US" sz="1200" dirty="0"/>
                    </a:p>
                  </a:txBody>
                  <a:tcPr>
                    <a:lnL w="6350" cap="flat" cmpd="sng" algn="ctr">
                      <a:solidFill>
                        <a:schemeClr val="tx1">
                          <a:lumMod val="75000"/>
                          <a:lumOff val="25000"/>
                        </a:schemeClr>
                      </a:solidFill>
                      <a:prstDash val="solid"/>
                      <a:round/>
                      <a:headEnd type="none" w="med" len="med"/>
                      <a:tailEnd type="none" w="med" len="med"/>
                    </a:lnL>
                    <a:lnR w="6350" cap="flat" cmpd="sng" algn="ctr">
                      <a:solidFill>
                        <a:schemeClr val="tx1">
                          <a:lumMod val="75000"/>
                          <a:lumOff val="2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82992138"/>
                  </a:ext>
                </a:extLst>
              </a:tr>
              <a:tr h="312544">
                <a:tc gridSpan="2" vMerge="1">
                  <a:txBody>
                    <a:bodyPr/>
                    <a:lstStyle/>
                    <a:p>
                      <a:endParaRPr lang="zh-TW" altLang="en-US" sz="1100" dirty="0">
                        <a:solidFill>
                          <a:schemeClr val="tx1"/>
                        </a:solidFill>
                        <a:latin typeface="微軟正黑體" panose="020B0604030504040204" pitchFamily="34" charset="-120"/>
                        <a:ea typeface="微軟正黑體" panose="020B0604030504040204" pitchFamily="34" charset="-120"/>
                      </a:endParaRPr>
                    </a:p>
                  </a:txBody>
                  <a:tcPr>
                    <a:lnL w="6350" cap="flat" cmpd="sng" algn="ctr">
                      <a:solidFill>
                        <a:schemeClr val="tx1">
                          <a:lumMod val="75000"/>
                          <a:lumOff val="25000"/>
                        </a:schemeClr>
                      </a:solidFill>
                      <a:prstDash val="solid"/>
                      <a:round/>
                      <a:headEnd type="none" w="med" len="med"/>
                      <a:tailEnd type="none" w="med" len="med"/>
                    </a:lnL>
                    <a:lnR w="6350" cap="flat" cmpd="sng" algn="ctr">
                      <a:solidFill>
                        <a:schemeClr val="tx1">
                          <a:lumMod val="75000"/>
                          <a:lumOff val="2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endParaRPr lang="zh-TW" altLang="en-US"/>
                    </a:p>
                  </a:txBody>
                  <a:tcPr/>
                </a:tc>
                <a:tc gridSpan="3">
                  <a:txBody>
                    <a:bodyPr/>
                    <a:lstStyle/>
                    <a:p>
                      <a:pPr algn="r"/>
                      <a:r>
                        <a:rPr lang="en-US" altLang="zh-TW" sz="900" dirty="0">
                          <a:solidFill>
                            <a:schemeClr val="tx1"/>
                          </a:solidFill>
                          <a:latin typeface="微軟正黑體" panose="020B0604030504040204" pitchFamily="34" charset="-120"/>
                          <a:ea typeface="微軟正黑體" panose="020B0604030504040204" pitchFamily="34" charset="-120"/>
                        </a:rPr>
                        <a:t>2025</a:t>
                      </a:r>
                      <a:r>
                        <a:rPr lang="zh-TW" altLang="en-US" sz="900" dirty="0">
                          <a:solidFill>
                            <a:schemeClr val="tx1"/>
                          </a:solidFill>
                          <a:latin typeface="微軟正黑體" panose="020B0604030504040204" pitchFamily="34" charset="-120"/>
                          <a:ea typeface="微軟正黑體" panose="020B0604030504040204" pitchFamily="34" charset="-120"/>
                        </a:rPr>
                        <a:t>年</a:t>
                      </a:r>
                      <a:endParaRPr lang="en-US" altLang="zh-TW" sz="900" dirty="0">
                        <a:solidFill>
                          <a:schemeClr val="tx1"/>
                        </a:solidFill>
                        <a:latin typeface="微軟正黑體" panose="020B0604030504040204" pitchFamily="34" charset="-120"/>
                        <a:ea typeface="微軟正黑體" panose="020B0604030504040204" pitchFamily="34" charset="-120"/>
                      </a:endParaRPr>
                    </a:p>
                  </a:txBody>
                  <a:tcPr marL="36000" marR="36000" marT="0" marB="0" anchor="ctr">
                    <a:lnL w="6350" cap="flat" cmpd="sng" algn="ctr">
                      <a:noFill/>
                      <a:prstDash val="solid"/>
                      <a:round/>
                      <a:headEnd type="none" w="med" len="med"/>
                      <a:tailEnd type="none" w="med" len="med"/>
                    </a:lnL>
                    <a:lnR w="6350" cap="flat" cmpd="sng" algn="ctr">
                      <a:solidFill>
                        <a:srgbClr val="F3F6F5"/>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12700" cap="flat" cmpd="sng" algn="ctr">
                      <a:solidFill>
                        <a:srgbClr val="333334"/>
                      </a:solidFill>
                      <a:prstDash val="solid"/>
                      <a:round/>
                      <a:headEnd type="none" w="med" len="med"/>
                      <a:tailEnd type="none" w="med" len="med"/>
                    </a:lnB>
                    <a:lnTlToBr w="12700" cmpd="sng">
                      <a:noFill/>
                      <a:prstDash val="solid"/>
                    </a:lnTlToBr>
                    <a:lnBlToTr w="12700" cmpd="sng">
                      <a:noFill/>
                      <a:prstDash val="solid"/>
                    </a:lnBlToTr>
                    <a:solidFill>
                      <a:srgbClr val="F3F6F5"/>
                    </a:solidFill>
                  </a:tcPr>
                </a:tc>
                <a:tc hMerge="1">
                  <a:txBody>
                    <a:bodyPr/>
                    <a:lstStyle/>
                    <a:p>
                      <a:pPr algn="r"/>
                      <a:endParaRPr lang="en-US" altLang="zh-TW" sz="900" dirty="0">
                        <a:solidFill>
                          <a:schemeClr val="tx1"/>
                        </a:solidFill>
                        <a:latin typeface="微軟正黑體" panose="020B0604030504040204" pitchFamily="34" charset="-120"/>
                        <a:ea typeface="微軟正黑體" panose="020B0604030504040204" pitchFamily="34" charset="-120"/>
                      </a:endParaRPr>
                    </a:p>
                  </a:txBody>
                  <a:tcPr marL="36000" marR="36000" marT="0" marB="0" anchor="ctr">
                    <a:lnL w="6350" cap="flat" cmpd="sng" algn="ctr">
                      <a:noFill/>
                      <a:prstDash val="solid"/>
                      <a:round/>
                      <a:headEnd type="none" w="med" len="med"/>
                      <a:tailEnd type="none" w="med" len="med"/>
                    </a:lnL>
                    <a:lnR w="6350" cap="flat" cmpd="sng" algn="ctr">
                      <a:solidFill>
                        <a:srgbClr val="F3F6F5"/>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12700" cap="flat" cmpd="sng" algn="ctr">
                      <a:solidFill>
                        <a:srgbClr val="333334"/>
                      </a:solidFill>
                      <a:prstDash val="solid"/>
                      <a:round/>
                      <a:headEnd type="none" w="med" len="med"/>
                      <a:tailEnd type="none" w="med" len="med"/>
                    </a:lnB>
                    <a:lnTlToBr w="12700" cmpd="sng">
                      <a:noFill/>
                      <a:prstDash val="solid"/>
                    </a:lnTlToBr>
                    <a:lnBlToTr w="12700" cmpd="sng">
                      <a:noFill/>
                      <a:prstDash val="solid"/>
                    </a:lnBlToTr>
                    <a:solidFill>
                      <a:srgbClr val="F3F6F5"/>
                    </a:solidFill>
                  </a:tcPr>
                </a:tc>
                <a:tc hMerge="1">
                  <a:txBody>
                    <a:bodyPr/>
                    <a:lstStyle/>
                    <a:p>
                      <a:endParaRPr lang="zh-TW" altLang="en-US"/>
                    </a:p>
                  </a:txBody>
                  <a:tcPr/>
                </a:tc>
                <a:tc>
                  <a:txBody>
                    <a:bodyPr/>
                    <a:lstStyle/>
                    <a:p>
                      <a:pPr algn="r"/>
                      <a:r>
                        <a:rPr lang="en-US" altLang="zh-TW" sz="900" dirty="0">
                          <a:solidFill>
                            <a:schemeClr val="tx1"/>
                          </a:solidFill>
                          <a:latin typeface="微軟正黑體" panose="020B0604030504040204" pitchFamily="34" charset="-120"/>
                          <a:ea typeface="微軟正黑體" panose="020B0604030504040204" pitchFamily="34" charset="-120"/>
                        </a:rPr>
                        <a:t>2024</a:t>
                      </a:r>
                      <a:r>
                        <a:rPr lang="zh-TW" altLang="en-US" sz="900" dirty="0">
                          <a:solidFill>
                            <a:schemeClr val="tx1"/>
                          </a:solidFill>
                          <a:latin typeface="微軟正黑體" panose="020B0604030504040204" pitchFamily="34" charset="-120"/>
                          <a:ea typeface="微軟正黑體" panose="020B0604030504040204" pitchFamily="34" charset="-120"/>
                        </a:rPr>
                        <a:t>年</a:t>
                      </a:r>
                    </a:p>
                  </a:txBody>
                  <a:tcPr marL="36000" marR="36000" marT="0" marB="0" anchor="ctr">
                    <a:lnL w="6350" cap="flat" cmpd="sng" algn="ctr">
                      <a:solidFill>
                        <a:srgbClr val="F3F6F5"/>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12700" cap="flat" cmpd="sng" algn="ctr">
                      <a:solidFill>
                        <a:srgbClr val="333334"/>
                      </a:solidFill>
                      <a:prstDash val="solid"/>
                      <a:round/>
                      <a:headEnd type="none" w="med" len="med"/>
                      <a:tailEnd type="none" w="med" len="med"/>
                    </a:lnB>
                    <a:lnTlToBr w="12700" cmpd="sng">
                      <a:noFill/>
                      <a:prstDash val="solid"/>
                    </a:lnTlToBr>
                    <a:lnBlToTr w="12700" cmpd="sng">
                      <a:noFill/>
                      <a:prstDash val="solid"/>
                    </a:lnBlToTr>
                    <a:solidFill>
                      <a:srgbClr val="F3F6F5"/>
                    </a:solidFill>
                  </a:tcPr>
                </a:tc>
                <a:extLst>
                  <a:ext uri="{0D108BD9-81ED-4DB2-BD59-A6C34878D82A}">
                    <a16:rowId xmlns:a16="http://schemas.microsoft.com/office/drawing/2014/main" val="1350491767"/>
                  </a:ext>
                </a:extLst>
              </a:tr>
              <a:tr h="312544">
                <a:tc>
                  <a:txBody>
                    <a:bodyPr/>
                    <a:lstStyle/>
                    <a:p>
                      <a:r>
                        <a:rPr lang="zh-TW" altLang="en-US" sz="900" b="1" dirty="0">
                          <a:solidFill>
                            <a:schemeClr val="tx1"/>
                          </a:solidFill>
                          <a:latin typeface="微軟正黑體" panose="020B0604030504040204" pitchFamily="34" charset="-120"/>
                          <a:ea typeface="微軟正黑體" panose="020B0604030504040204" pitchFamily="34" charset="-120"/>
                        </a:rPr>
                        <a:t>列帳基準</a:t>
                      </a: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rgbClr val="333334"/>
                      </a:solidFill>
                      <a:prstDash val="solid"/>
                      <a:round/>
                      <a:headEnd type="none" w="med" len="med"/>
                      <a:tailEnd type="none" w="med" len="med"/>
                    </a:lnT>
                    <a:lnB w="12700" cap="flat" cmpd="sng" algn="ctr">
                      <a:solidFill>
                        <a:srgbClr val="333334"/>
                      </a:solidFill>
                      <a:prstDash val="solid"/>
                      <a:round/>
                      <a:headEnd type="none" w="med" len="med"/>
                      <a:tailEnd type="none" w="med" len="med"/>
                    </a:lnB>
                    <a:lnTlToBr w="12700" cmpd="sng">
                      <a:noFill/>
                      <a:prstDash val="solid"/>
                    </a:lnTlToBr>
                    <a:lnBlToTr w="12700" cmpd="sng">
                      <a:noFill/>
                      <a:prstDash val="solid"/>
                    </a:lnBlToTr>
                    <a:solidFill>
                      <a:srgbClr val="F3F6F5"/>
                    </a:solidFill>
                  </a:tcPr>
                </a:tc>
                <a:tc gridSpan="3">
                  <a:txBody>
                    <a:bodyPr/>
                    <a:lstStyle/>
                    <a:p>
                      <a:endParaRPr lang="zh-TW" altLang="en-US" sz="900" b="1" dirty="0">
                        <a:solidFill>
                          <a:schemeClr val="tx1"/>
                        </a:solidFill>
                        <a:latin typeface="微軟正黑體" panose="020B0604030504040204" pitchFamily="34" charset="-120"/>
                        <a:ea typeface="微軟正黑體" panose="020B0604030504040204" pitchFamily="34" charset="-120"/>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rgbClr val="333334"/>
                      </a:solidFill>
                      <a:prstDash val="solid"/>
                      <a:round/>
                      <a:headEnd type="none" w="med" len="med"/>
                      <a:tailEnd type="none" w="med" len="med"/>
                    </a:lnT>
                    <a:lnB w="12700" cap="flat" cmpd="sng" algn="ctr">
                      <a:solidFill>
                        <a:srgbClr val="333334"/>
                      </a:solidFill>
                      <a:prstDash val="solid"/>
                      <a:round/>
                      <a:headEnd type="none" w="med" len="med"/>
                      <a:tailEnd type="none" w="med" len="med"/>
                    </a:lnB>
                    <a:lnTlToBr w="12700" cmpd="sng">
                      <a:noFill/>
                      <a:prstDash val="solid"/>
                    </a:lnTlToBr>
                    <a:lnBlToTr w="12700" cmpd="sng">
                      <a:noFill/>
                      <a:prstDash val="solid"/>
                    </a:lnBlToTr>
                    <a:solidFill>
                      <a:srgbClr val="F3F6F5"/>
                    </a:solidFill>
                  </a:tcPr>
                </a:tc>
                <a:tc hMerge="1">
                  <a:txBody>
                    <a:bodyPr/>
                    <a:lstStyle/>
                    <a:p>
                      <a:endParaRPr lang="zh-TW" altLang="en-US"/>
                    </a:p>
                  </a:txBody>
                  <a:tcPr/>
                </a:tc>
                <a:tc hMerge="1">
                  <a:txBody>
                    <a:bodyPr/>
                    <a:lstStyle/>
                    <a:p>
                      <a:endParaRPr lang="zh-TW" altLang="en-US" dirty="0"/>
                    </a:p>
                  </a:txBody>
                  <a:tcPr/>
                </a:tc>
                <a:tc gridSpan="2">
                  <a:txBody>
                    <a:bodyPr/>
                    <a:lstStyle/>
                    <a:p>
                      <a:endParaRPr lang="zh-TW" altLang="en-US" sz="900" b="1" dirty="0">
                        <a:solidFill>
                          <a:schemeClr val="tx1"/>
                        </a:solidFill>
                        <a:latin typeface="微軟正黑體" panose="020B0604030504040204" pitchFamily="34" charset="-120"/>
                        <a:ea typeface="微軟正黑體" panose="020B0604030504040204" pitchFamily="34" charset="-120"/>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rgbClr val="333334"/>
                      </a:solidFill>
                      <a:prstDash val="solid"/>
                      <a:round/>
                      <a:headEnd type="none" w="med" len="med"/>
                      <a:tailEnd type="none" w="med" len="med"/>
                    </a:lnT>
                    <a:lnB w="12700" cap="flat" cmpd="sng" algn="ctr">
                      <a:solidFill>
                        <a:srgbClr val="333334"/>
                      </a:solidFill>
                      <a:prstDash val="solid"/>
                      <a:round/>
                      <a:headEnd type="none" w="med" len="med"/>
                      <a:tailEnd type="none" w="med" len="med"/>
                    </a:lnB>
                    <a:lnTlToBr w="12700" cmpd="sng">
                      <a:noFill/>
                      <a:prstDash val="solid"/>
                    </a:lnTlToBr>
                    <a:lnBlToTr w="12700" cmpd="sng">
                      <a:noFill/>
                      <a:prstDash val="solid"/>
                    </a:lnBlToTr>
                    <a:solidFill>
                      <a:srgbClr val="F3F6F5"/>
                    </a:solidFill>
                  </a:tcPr>
                </a:tc>
                <a:tc hMerge="1">
                  <a:txBody>
                    <a:bodyPr/>
                    <a:lstStyle/>
                    <a:p>
                      <a:endParaRPr lang="zh-TW" altLang="en-US" dirty="0">
                        <a:solidFill>
                          <a:schemeClr val="tx1"/>
                        </a:solidFill>
                        <a:latin typeface="微軟正黑體" panose="020B0604030504040204" pitchFamily="34" charset="-120"/>
                        <a:ea typeface="微軟正黑體" panose="020B0604030504040204" pitchFamily="34" charset="-120"/>
                      </a:endParaRPr>
                    </a:p>
                  </a:txBody>
                  <a:tcPr>
                    <a:lnL w="6350" cap="flat" cmpd="sng" algn="ctr">
                      <a:solidFill>
                        <a:schemeClr val="tx1">
                          <a:lumMod val="75000"/>
                          <a:lumOff val="25000"/>
                        </a:schemeClr>
                      </a:solidFill>
                      <a:prstDash val="solid"/>
                      <a:round/>
                      <a:headEnd type="none" w="med" len="med"/>
                      <a:tailEnd type="none" w="med" len="med"/>
                    </a:lnL>
                    <a:lnR w="6350" cap="flat" cmpd="sng" algn="ctr">
                      <a:solidFill>
                        <a:schemeClr val="tx1">
                          <a:lumMod val="75000"/>
                          <a:lumOff val="2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89003784"/>
                  </a:ext>
                </a:extLst>
              </a:tr>
              <a:tr h="312544">
                <a:tc gridSpan="3">
                  <a:txBody>
                    <a:bodyPr/>
                    <a:lstStyle/>
                    <a:p>
                      <a:r>
                        <a:rPr lang="zh-TW" altLang="en-US" sz="900" dirty="0">
                          <a:solidFill>
                            <a:schemeClr val="tx1"/>
                          </a:solidFill>
                          <a:latin typeface="微軟正黑體" panose="020B0604030504040204" pitchFamily="34" charset="-120"/>
                          <a:ea typeface="微軟正黑體" panose="020B0604030504040204" pitchFamily="34" charset="-120"/>
                        </a:rPr>
                        <a:t>收入</a:t>
                      </a:r>
                    </a:p>
                  </a:txBody>
                  <a:tcPr marL="36000" marR="36000" marT="0" marB="0" anchor="ctr">
                    <a:lnL w="6350" cap="flat" cmpd="sng" algn="ctr">
                      <a:noFill/>
                      <a:prstDash val="solid"/>
                      <a:round/>
                      <a:headEnd type="none" w="med" len="med"/>
                      <a:tailEnd type="none" w="med" len="med"/>
                    </a:lnL>
                    <a:lnR w="6350" cap="flat" cmpd="sng" algn="ctr">
                      <a:solidFill>
                        <a:srgbClr val="F3F6F5"/>
                      </a:solidFill>
                      <a:prstDash val="solid"/>
                      <a:round/>
                      <a:headEnd type="none" w="med" len="med"/>
                      <a:tailEnd type="none" w="med" len="med"/>
                    </a:lnR>
                    <a:lnT w="12700" cap="flat" cmpd="sng" algn="ctr">
                      <a:solidFill>
                        <a:srgbClr val="333334"/>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rgbClr val="F3F6F5"/>
                    </a:solidFill>
                  </a:tcPr>
                </a:tc>
                <a:tc hMerge="1">
                  <a:txBody>
                    <a:bodyPr/>
                    <a:lstStyle/>
                    <a:p>
                      <a:endParaRPr lang="zh-TW" altLang="en-US"/>
                    </a:p>
                  </a:txBody>
                  <a:tcPr/>
                </a:tc>
                <a:tc hMerge="1">
                  <a:txBody>
                    <a:bodyPr/>
                    <a:lstStyle/>
                    <a:p>
                      <a:endParaRPr lang="zh-TW" altLang="en-US"/>
                    </a:p>
                  </a:txBody>
                  <a:tcPr/>
                </a:tc>
                <a:tc gridSpan="2">
                  <a:txBody>
                    <a:bodyPr/>
                    <a:lstStyle/>
                    <a:p>
                      <a:pPr algn="r"/>
                      <a:r>
                        <a:rPr lang="en-US" altLang="zh-TW" sz="900" dirty="0">
                          <a:solidFill>
                            <a:schemeClr val="tx1"/>
                          </a:solidFill>
                          <a:latin typeface="微軟正黑體" panose="020B0604030504040204" pitchFamily="34" charset="-120"/>
                          <a:ea typeface="微軟正黑體" panose="020B0604030504040204" pitchFamily="34" charset="-120"/>
                        </a:rPr>
                        <a:t>18,429</a:t>
                      </a:r>
                      <a:endParaRPr lang="zh-TW" altLang="en-US" sz="900" dirty="0">
                        <a:solidFill>
                          <a:schemeClr val="tx1"/>
                        </a:solidFill>
                        <a:latin typeface="微軟正黑體" panose="020B0604030504040204" pitchFamily="34" charset="-120"/>
                        <a:ea typeface="微軟正黑體" panose="020B0604030504040204" pitchFamily="34" charset="-120"/>
                      </a:endParaRPr>
                    </a:p>
                  </a:txBody>
                  <a:tcPr marL="36000" marR="36000" marT="0" marB="0" anchor="ctr">
                    <a:lnL w="6350" cap="flat" cmpd="sng" algn="ctr">
                      <a:solidFill>
                        <a:srgbClr val="F3F6F5"/>
                      </a:solidFill>
                      <a:prstDash val="solid"/>
                      <a:round/>
                      <a:headEnd type="none" w="med" len="med"/>
                      <a:tailEnd type="none" w="med" len="med"/>
                    </a:lnL>
                    <a:lnR w="6350" cap="flat" cmpd="sng" algn="ctr">
                      <a:solidFill>
                        <a:srgbClr val="F3F6F5"/>
                      </a:solidFill>
                      <a:prstDash val="solid"/>
                      <a:round/>
                      <a:headEnd type="none" w="med" len="med"/>
                      <a:tailEnd type="none" w="med" len="med"/>
                    </a:lnR>
                    <a:lnT w="12700" cap="flat" cmpd="sng" algn="ctr">
                      <a:solidFill>
                        <a:srgbClr val="333334"/>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rgbClr val="F3F6F5"/>
                    </a:solidFill>
                  </a:tcPr>
                </a:tc>
                <a:tc hMerge="1">
                  <a:txBody>
                    <a:bodyPr/>
                    <a:lstStyle/>
                    <a:p>
                      <a:endParaRPr lang="zh-TW" altLang="en-US"/>
                    </a:p>
                  </a:txBody>
                  <a:tcPr/>
                </a:tc>
                <a:tc>
                  <a:txBody>
                    <a:bodyPr/>
                    <a:lstStyle/>
                    <a:p>
                      <a:pPr algn="r"/>
                      <a:r>
                        <a:rPr lang="en-US" altLang="zh-TW" sz="900" dirty="0">
                          <a:solidFill>
                            <a:schemeClr val="tx1"/>
                          </a:solidFill>
                          <a:latin typeface="微軟正黑體" panose="020B0604030504040204" pitchFamily="34" charset="-120"/>
                          <a:ea typeface="微軟正黑體" panose="020B0604030504040204" pitchFamily="34" charset="-120"/>
                        </a:rPr>
                        <a:t>17,071</a:t>
                      </a:r>
                      <a:endParaRPr lang="zh-TW" altLang="en-US" sz="900" dirty="0">
                        <a:solidFill>
                          <a:schemeClr val="tx1"/>
                        </a:solidFill>
                        <a:latin typeface="微軟正黑體" panose="020B0604030504040204" pitchFamily="34" charset="-120"/>
                        <a:ea typeface="微軟正黑體" panose="020B0604030504040204" pitchFamily="34" charset="-120"/>
                      </a:endParaRPr>
                    </a:p>
                  </a:txBody>
                  <a:tcPr marL="36000" marR="36000" marT="0" marB="0" anchor="ctr">
                    <a:lnL w="6350" cap="flat" cmpd="sng" algn="ctr">
                      <a:solidFill>
                        <a:srgbClr val="F3F6F5"/>
                      </a:solidFill>
                      <a:prstDash val="solid"/>
                      <a:round/>
                      <a:headEnd type="none" w="med" len="med"/>
                      <a:tailEnd type="none" w="med" len="med"/>
                    </a:lnL>
                    <a:lnR w="6350" cap="flat" cmpd="sng" algn="ctr">
                      <a:noFill/>
                      <a:prstDash val="solid"/>
                      <a:round/>
                      <a:headEnd type="none" w="med" len="med"/>
                      <a:tailEnd type="none" w="med" len="med"/>
                    </a:lnR>
                    <a:lnT w="12700" cap="flat" cmpd="sng" algn="ctr">
                      <a:solidFill>
                        <a:srgbClr val="333334"/>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rgbClr val="F3F6F5"/>
                    </a:solidFill>
                  </a:tcPr>
                </a:tc>
                <a:extLst>
                  <a:ext uri="{0D108BD9-81ED-4DB2-BD59-A6C34878D82A}">
                    <a16:rowId xmlns:a16="http://schemas.microsoft.com/office/drawing/2014/main" val="1190511922"/>
                  </a:ext>
                </a:extLst>
              </a:tr>
              <a:tr h="260614">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900" dirty="0">
                          <a:solidFill>
                            <a:schemeClr val="tx1"/>
                          </a:solidFill>
                          <a:latin typeface="微軟正黑體" panose="020B0604030504040204" pitchFamily="34" charset="-120"/>
                          <a:ea typeface="微軟正黑體" panose="020B0604030504040204" pitchFamily="34" charset="-120"/>
                        </a:rPr>
                        <a:t>營業支出</a:t>
                      </a:r>
                    </a:p>
                  </a:txBody>
                  <a:tcPr marL="36000" marR="36000" marT="0" marB="0" anchor="ctr">
                    <a:lnL w="6350" cap="flat" cmpd="sng" algn="ctr">
                      <a:noFill/>
                      <a:prstDash val="solid"/>
                      <a:round/>
                      <a:headEnd type="none" w="med" len="med"/>
                      <a:tailEnd type="none" w="med" len="med"/>
                    </a:lnL>
                    <a:lnR w="6350" cap="flat" cmpd="sng" algn="ctr">
                      <a:solidFill>
                        <a:srgbClr val="F3F6F5"/>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rgbClr val="F3F6F5"/>
                    </a:solidFill>
                  </a:tcPr>
                </a:tc>
                <a:tc hMerge="1">
                  <a:txBody>
                    <a:bodyPr/>
                    <a:lstStyle/>
                    <a:p>
                      <a:endParaRPr lang="zh-TW" altLang="en-US"/>
                    </a:p>
                  </a:txBody>
                  <a:tcPr/>
                </a:tc>
                <a:tc hMerge="1">
                  <a:txBody>
                    <a:bodyPr/>
                    <a:lstStyle/>
                    <a:p>
                      <a:endParaRPr lang="zh-TW" altLang="en-US"/>
                    </a:p>
                  </a:txBody>
                  <a:tcPr/>
                </a:tc>
                <a:tc gridSpan="2">
                  <a:txBody>
                    <a:bodyPr/>
                    <a:lstStyle/>
                    <a:p>
                      <a:pPr algn="r"/>
                      <a:r>
                        <a:rPr lang="en-US" altLang="zh-TW" sz="900" dirty="0">
                          <a:solidFill>
                            <a:schemeClr val="tx1"/>
                          </a:solidFill>
                          <a:latin typeface="微軟正黑體" panose="020B0604030504040204" pitchFamily="34" charset="-120"/>
                          <a:ea typeface="微軟正黑體" panose="020B0604030504040204" pitchFamily="34" charset="-120"/>
                        </a:rPr>
                        <a:t>(12,165)</a:t>
                      </a:r>
                      <a:endParaRPr lang="zh-TW" altLang="en-US" sz="900" dirty="0">
                        <a:solidFill>
                          <a:schemeClr val="tx1"/>
                        </a:solidFill>
                        <a:latin typeface="微軟正黑體" panose="020B0604030504040204" pitchFamily="34" charset="-120"/>
                        <a:ea typeface="微軟正黑體" panose="020B0604030504040204" pitchFamily="34" charset="-120"/>
                      </a:endParaRPr>
                    </a:p>
                  </a:txBody>
                  <a:tcPr marL="36000" marR="36000" marT="0" marB="0" anchor="ctr">
                    <a:lnL w="6350" cap="flat" cmpd="sng" algn="ctr">
                      <a:solidFill>
                        <a:srgbClr val="F3F6F5"/>
                      </a:solidFill>
                      <a:prstDash val="solid"/>
                      <a:round/>
                      <a:headEnd type="none" w="med" len="med"/>
                      <a:tailEnd type="none" w="med" len="med"/>
                    </a:lnL>
                    <a:lnR w="6350" cap="flat" cmpd="sng" algn="ctr">
                      <a:solidFill>
                        <a:srgbClr val="F3F6F5"/>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rgbClr val="F3F6F5"/>
                    </a:solidFill>
                  </a:tcPr>
                </a:tc>
                <a:tc hMerge="1">
                  <a:txBody>
                    <a:bodyPr/>
                    <a:lstStyle/>
                    <a:p>
                      <a:endParaRPr lang="zh-TW" altLang="en-US"/>
                    </a:p>
                  </a:txBody>
                  <a:tcPr/>
                </a:tc>
                <a:tc>
                  <a:txBody>
                    <a:bodyPr/>
                    <a:lstStyle/>
                    <a:p>
                      <a:pPr algn="r"/>
                      <a:r>
                        <a:rPr lang="en-US" altLang="zh-TW" sz="900" dirty="0">
                          <a:solidFill>
                            <a:schemeClr val="tx1"/>
                          </a:solidFill>
                          <a:latin typeface="微軟正黑體" panose="020B0604030504040204" pitchFamily="34" charset="-120"/>
                          <a:ea typeface="微軟正黑體" panose="020B0604030504040204" pitchFamily="34" charset="-120"/>
                        </a:rPr>
                        <a:t>(11,927)</a:t>
                      </a:r>
                      <a:endParaRPr lang="zh-TW" altLang="en-US" sz="900" dirty="0">
                        <a:solidFill>
                          <a:schemeClr val="tx1"/>
                        </a:solidFill>
                        <a:latin typeface="微軟正黑體" panose="020B0604030504040204" pitchFamily="34" charset="-120"/>
                        <a:ea typeface="微軟正黑體" panose="020B0604030504040204" pitchFamily="34" charset="-120"/>
                      </a:endParaRPr>
                    </a:p>
                  </a:txBody>
                  <a:tcPr marL="36000" marR="36000" marT="0" marB="0" anchor="ctr">
                    <a:lnL w="6350" cap="flat" cmpd="sng" algn="ctr">
                      <a:solidFill>
                        <a:srgbClr val="F3F6F5"/>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rgbClr val="F3F6F5"/>
                    </a:solidFill>
                  </a:tcPr>
                </a:tc>
                <a:extLst>
                  <a:ext uri="{0D108BD9-81ED-4DB2-BD59-A6C34878D82A}">
                    <a16:rowId xmlns:a16="http://schemas.microsoft.com/office/drawing/2014/main" val="998417283"/>
                  </a:ext>
                </a:extLst>
              </a:tr>
              <a:tr h="326641">
                <a:tc gridSpan="3">
                  <a:txBody>
                    <a:bodyPr/>
                    <a:lstStyle/>
                    <a:p>
                      <a:r>
                        <a:rPr lang="zh-TW" altLang="en-US" sz="900" dirty="0">
                          <a:solidFill>
                            <a:schemeClr val="tx1"/>
                          </a:solidFill>
                          <a:latin typeface="微軟正黑體" panose="020B0604030504040204" pitchFamily="34" charset="-120"/>
                          <a:ea typeface="微軟正黑體" panose="020B0604030504040204" pitchFamily="34" charset="-120"/>
                        </a:rPr>
                        <a:t>預期信貸損失及其他信貸減值準備變動</a:t>
                      </a:r>
                    </a:p>
                  </a:txBody>
                  <a:tcPr marL="36000" marR="36000" marT="0" marB="0" anchor="ctr">
                    <a:lnL w="6350" cap="flat" cmpd="sng" algn="ctr">
                      <a:noFill/>
                      <a:prstDash val="solid"/>
                      <a:round/>
                      <a:headEnd type="none" w="med" len="med"/>
                      <a:tailEnd type="none" w="med" len="med"/>
                    </a:lnL>
                    <a:lnR w="6350" cap="flat" cmpd="sng" algn="ctr">
                      <a:solidFill>
                        <a:srgbClr val="F3F6F5"/>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rgbClr val="F3F6F5"/>
                    </a:solidFill>
                  </a:tcPr>
                </a:tc>
                <a:tc hMerge="1">
                  <a:txBody>
                    <a:bodyPr/>
                    <a:lstStyle/>
                    <a:p>
                      <a:endParaRPr lang="zh-TW" altLang="en-US"/>
                    </a:p>
                  </a:txBody>
                  <a:tcPr/>
                </a:tc>
                <a:tc hMerge="1">
                  <a:txBody>
                    <a:bodyPr/>
                    <a:lstStyle/>
                    <a:p>
                      <a:endParaRPr lang="zh-TW" altLang="en-US"/>
                    </a:p>
                  </a:txBody>
                  <a:tcPr/>
                </a:tc>
                <a:tc gridSpan="2">
                  <a:txBody>
                    <a:bodyPr/>
                    <a:lstStyle/>
                    <a:p>
                      <a:pPr algn="r"/>
                      <a:r>
                        <a:rPr lang="en-US" altLang="zh-TW" sz="900" dirty="0">
                          <a:solidFill>
                            <a:schemeClr val="tx1"/>
                          </a:solidFill>
                          <a:latin typeface="微軟正黑體" panose="020B0604030504040204" pitchFamily="34" charset="-120"/>
                          <a:ea typeface="微軟正黑體" panose="020B0604030504040204" pitchFamily="34" charset="-120"/>
                        </a:rPr>
                        <a:t>(792)</a:t>
                      </a:r>
                      <a:endParaRPr lang="zh-TW" altLang="en-US" sz="900" dirty="0">
                        <a:solidFill>
                          <a:schemeClr val="tx1"/>
                        </a:solidFill>
                        <a:latin typeface="微軟正黑體" panose="020B0604030504040204" pitchFamily="34" charset="-120"/>
                        <a:ea typeface="微軟正黑體" panose="020B0604030504040204" pitchFamily="34" charset="-120"/>
                      </a:endParaRPr>
                    </a:p>
                  </a:txBody>
                  <a:tcPr marL="36000" marR="36000" marT="0" marB="0" anchor="ctr">
                    <a:lnL w="6350" cap="flat" cmpd="sng" algn="ctr">
                      <a:solidFill>
                        <a:srgbClr val="F3F6F5"/>
                      </a:solidFill>
                      <a:prstDash val="solid"/>
                      <a:round/>
                      <a:headEnd type="none" w="med" len="med"/>
                      <a:tailEnd type="none" w="med" len="med"/>
                    </a:lnL>
                    <a:lnR w="6350" cap="flat" cmpd="sng" algn="ctr">
                      <a:solidFill>
                        <a:srgbClr val="F3F6F5"/>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rgbClr val="F3F6F5"/>
                    </a:solidFill>
                  </a:tcPr>
                </a:tc>
                <a:tc hMerge="1">
                  <a:txBody>
                    <a:bodyPr/>
                    <a:lstStyle/>
                    <a:p>
                      <a:endParaRPr lang="zh-TW" altLang="en-US"/>
                    </a:p>
                  </a:txBody>
                  <a:tcPr/>
                </a:tc>
                <a:tc>
                  <a:txBody>
                    <a:bodyPr/>
                    <a:lstStyle/>
                    <a:p>
                      <a:pPr algn="r"/>
                      <a:r>
                        <a:rPr lang="en-US" altLang="zh-TW" sz="900" dirty="0">
                          <a:solidFill>
                            <a:schemeClr val="tx1"/>
                          </a:solidFill>
                          <a:latin typeface="微軟正黑體" panose="020B0604030504040204" pitchFamily="34" charset="-120"/>
                          <a:ea typeface="微軟正黑體" panose="020B0604030504040204" pitchFamily="34" charset="-120"/>
                        </a:rPr>
                        <a:t>(456)</a:t>
                      </a:r>
                      <a:endParaRPr lang="zh-TW" altLang="en-US" sz="900" dirty="0">
                        <a:solidFill>
                          <a:schemeClr val="tx1"/>
                        </a:solidFill>
                        <a:latin typeface="微軟正黑體" panose="020B0604030504040204" pitchFamily="34" charset="-120"/>
                        <a:ea typeface="微軟正黑體" panose="020B0604030504040204" pitchFamily="34" charset="-120"/>
                      </a:endParaRPr>
                    </a:p>
                  </a:txBody>
                  <a:tcPr marL="36000" marR="36000" marT="0" marB="0" anchor="ctr">
                    <a:lnL w="6350" cap="flat" cmpd="sng" algn="ctr">
                      <a:solidFill>
                        <a:srgbClr val="F3F6F5"/>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rgbClr val="F3F6F5"/>
                    </a:solidFill>
                  </a:tcPr>
                </a:tc>
                <a:extLst>
                  <a:ext uri="{0D108BD9-81ED-4DB2-BD59-A6C34878D82A}">
                    <a16:rowId xmlns:a16="http://schemas.microsoft.com/office/drawing/2014/main" val="556270656"/>
                  </a:ext>
                </a:extLst>
              </a:tr>
              <a:tr h="312544">
                <a:tc gridSpan="3">
                  <a:txBody>
                    <a:bodyPr/>
                    <a:lstStyle/>
                    <a:p>
                      <a:r>
                        <a:rPr lang="zh-TW" altLang="en-US" sz="900" b="1" dirty="0">
                          <a:solidFill>
                            <a:schemeClr val="tx1"/>
                          </a:solidFill>
                          <a:latin typeface="微軟正黑體" panose="020B0604030504040204" pitchFamily="34" charset="-120"/>
                          <a:ea typeface="微軟正黑體" panose="020B0604030504040204" pitchFamily="34" charset="-120"/>
                        </a:rPr>
                        <a:t>除稅前利潤</a:t>
                      </a:r>
                    </a:p>
                  </a:txBody>
                  <a:tcPr marL="36000" marR="36000" marT="0" marB="0" anchor="ctr">
                    <a:lnL w="6350" cap="flat" cmpd="sng" algn="ctr">
                      <a:noFill/>
                      <a:prstDash val="solid"/>
                      <a:round/>
                      <a:headEnd type="none" w="med" len="med"/>
                      <a:tailEnd type="none" w="med" len="med"/>
                    </a:lnL>
                    <a:lnR w="6350" cap="flat" cmpd="sng" algn="ctr">
                      <a:solidFill>
                        <a:srgbClr val="F3F6F5"/>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rgbClr val="F3F6F5"/>
                    </a:solidFill>
                  </a:tcPr>
                </a:tc>
                <a:tc hMerge="1">
                  <a:txBody>
                    <a:bodyPr/>
                    <a:lstStyle/>
                    <a:p>
                      <a:endParaRPr lang="zh-TW" altLang="en-US"/>
                    </a:p>
                  </a:txBody>
                  <a:tcPr/>
                </a:tc>
                <a:tc hMerge="1">
                  <a:txBody>
                    <a:bodyPr/>
                    <a:lstStyle/>
                    <a:p>
                      <a:endParaRPr lang="zh-TW" altLang="en-US"/>
                    </a:p>
                  </a:txBody>
                  <a:tcPr/>
                </a:tc>
                <a:tc gridSpan="2">
                  <a:txBody>
                    <a:bodyPr/>
                    <a:lstStyle/>
                    <a:p>
                      <a:pPr algn="r"/>
                      <a:r>
                        <a:rPr lang="en-US" altLang="zh-TW" sz="900" dirty="0">
                          <a:solidFill>
                            <a:schemeClr val="tx1"/>
                          </a:solidFill>
                          <a:latin typeface="微軟正黑體" panose="020B0604030504040204" pitchFamily="34" charset="-120"/>
                          <a:ea typeface="微軟正黑體" panose="020B0604030504040204" pitchFamily="34" charset="-120"/>
                        </a:rPr>
                        <a:t>5,472</a:t>
                      </a:r>
                      <a:endParaRPr lang="zh-TW" altLang="en-US" sz="900" dirty="0">
                        <a:solidFill>
                          <a:schemeClr val="tx1"/>
                        </a:solidFill>
                        <a:latin typeface="微軟正黑體" panose="020B0604030504040204" pitchFamily="34" charset="-120"/>
                        <a:ea typeface="微軟正黑體" panose="020B0604030504040204" pitchFamily="34" charset="-120"/>
                      </a:endParaRPr>
                    </a:p>
                  </a:txBody>
                  <a:tcPr marL="36000" marR="36000" marT="0" marB="0" anchor="ctr">
                    <a:lnL w="6350" cap="flat" cmpd="sng" algn="ctr">
                      <a:solidFill>
                        <a:srgbClr val="F3F6F5"/>
                      </a:solidFill>
                      <a:prstDash val="solid"/>
                      <a:round/>
                      <a:headEnd type="none" w="med" len="med"/>
                      <a:tailEnd type="none" w="med" len="med"/>
                    </a:lnL>
                    <a:lnR w="6350" cap="flat" cmpd="sng" algn="ctr">
                      <a:solidFill>
                        <a:srgbClr val="F3F6F5"/>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rgbClr val="F3F6F5"/>
                    </a:solidFill>
                  </a:tcPr>
                </a:tc>
                <a:tc hMerge="1">
                  <a:txBody>
                    <a:bodyPr/>
                    <a:lstStyle/>
                    <a:p>
                      <a:endParaRPr lang="zh-TW" altLang="en-US"/>
                    </a:p>
                  </a:txBody>
                  <a:tcPr/>
                </a:tc>
                <a:tc>
                  <a:txBody>
                    <a:bodyPr/>
                    <a:lstStyle/>
                    <a:p>
                      <a:pPr algn="r"/>
                      <a:r>
                        <a:rPr lang="en-US" altLang="zh-TW" sz="900" dirty="0">
                          <a:solidFill>
                            <a:schemeClr val="tx1"/>
                          </a:solidFill>
                          <a:latin typeface="微軟正黑體" panose="020B0604030504040204" pitchFamily="34" charset="-120"/>
                          <a:ea typeface="微軟正黑體" panose="020B0604030504040204" pitchFamily="34" charset="-120"/>
                        </a:rPr>
                        <a:t>4,688</a:t>
                      </a:r>
                      <a:endParaRPr lang="zh-TW" altLang="en-US" sz="900" dirty="0">
                        <a:solidFill>
                          <a:schemeClr val="tx1"/>
                        </a:solidFill>
                        <a:latin typeface="微軟正黑體" panose="020B0604030504040204" pitchFamily="34" charset="-120"/>
                        <a:ea typeface="微軟正黑體" panose="020B0604030504040204" pitchFamily="34" charset="-120"/>
                      </a:endParaRPr>
                    </a:p>
                  </a:txBody>
                  <a:tcPr marL="36000" marR="36000" marT="0" marB="0" anchor="ctr">
                    <a:lnL w="6350" cap="flat" cmpd="sng" algn="ctr">
                      <a:solidFill>
                        <a:srgbClr val="F3F6F5"/>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rgbClr val="F3F6F5"/>
                    </a:solidFill>
                  </a:tcPr>
                </a:tc>
                <a:extLst>
                  <a:ext uri="{0D108BD9-81ED-4DB2-BD59-A6C34878D82A}">
                    <a16:rowId xmlns:a16="http://schemas.microsoft.com/office/drawing/2014/main" val="3648447123"/>
                  </a:ext>
                </a:extLst>
              </a:tr>
              <a:tr h="312544">
                <a:tc gridSpan="3">
                  <a:txBody>
                    <a:bodyPr/>
                    <a:lstStyle/>
                    <a:p>
                      <a:r>
                        <a:rPr lang="zh-TW" altLang="en-US" sz="900" dirty="0">
                          <a:solidFill>
                            <a:schemeClr val="tx1"/>
                          </a:solidFill>
                          <a:latin typeface="微軟正黑體" panose="020B0604030504040204" pitchFamily="34" charset="-120"/>
                          <a:ea typeface="微軟正黑體" panose="020B0604030504040204" pitchFamily="34" charset="-120"/>
                        </a:rPr>
                        <a:t>稅項支出</a:t>
                      </a:r>
                    </a:p>
                  </a:txBody>
                  <a:tcPr marL="36000" marR="36000" marT="0" marB="0" anchor="ctr">
                    <a:lnL w="6350" cap="flat" cmpd="sng" algn="ctr">
                      <a:noFill/>
                      <a:prstDash val="solid"/>
                      <a:round/>
                      <a:headEnd type="none" w="med" len="med"/>
                      <a:tailEnd type="none" w="med" len="med"/>
                    </a:lnL>
                    <a:lnR w="6350" cap="flat" cmpd="sng" algn="ctr">
                      <a:solidFill>
                        <a:srgbClr val="F3F6F5"/>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rgbClr val="F3F6F5"/>
                    </a:solidFill>
                  </a:tcPr>
                </a:tc>
                <a:tc hMerge="1">
                  <a:txBody>
                    <a:bodyPr/>
                    <a:lstStyle/>
                    <a:p>
                      <a:endParaRPr lang="zh-TW" altLang="en-US"/>
                    </a:p>
                  </a:txBody>
                  <a:tcPr/>
                </a:tc>
                <a:tc hMerge="1">
                  <a:txBody>
                    <a:bodyPr/>
                    <a:lstStyle/>
                    <a:p>
                      <a:endParaRPr lang="zh-TW" altLang="en-US"/>
                    </a:p>
                  </a:txBody>
                  <a:tcPr/>
                </a:tc>
                <a:tc gridSpan="2">
                  <a:txBody>
                    <a:bodyPr/>
                    <a:lstStyle/>
                    <a:p>
                      <a:pPr algn="r"/>
                      <a:r>
                        <a:rPr lang="en-US" altLang="zh-TW" sz="900" dirty="0">
                          <a:solidFill>
                            <a:schemeClr val="tx1"/>
                          </a:solidFill>
                          <a:latin typeface="微軟正黑體" panose="020B0604030504040204" pitchFamily="34" charset="-120"/>
                          <a:ea typeface="微軟正黑體" panose="020B0604030504040204" pitchFamily="34" charset="-120"/>
                        </a:rPr>
                        <a:t>(1,616)</a:t>
                      </a:r>
                      <a:endParaRPr lang="zh-TW" altLang="en-US" sz="900" dirty="0">
                        <a:solidFill>
                          <a:schemeClr val="tx1"/>
                        </a:solidFill>
                        <a:latin typeface="微軟正黑體" panose="020B0604030504040204" pitchFamily="34" charset="-120"/>
                        <a:ea typeface="微軟正黑體" panose="020B0604030504040204" pitchFamily="34" charset="-120"/>
                      </a:endParaRPr>
                    </a:p>
                  </a:txBody>
                  <a:tcPr marL="36000" marR="36000" marT="0" marB="0" anchor="ctr">
                    <a:lnL w="6350" cap="flat" cmpd="sng" algn="ctr">
                      <a:solidFill>
                        <a:srgbClr val="F3F6F5"/>
                      </a:solidFill>
                      <a:prstDash val="solid"/>
                      <a:round/>
                      <a:headEnd type="none" w="med" len="med"/>
                      <a:tailEnd type="none" w="med" len="med"/>
                    </a:lnL>
                    <a:lnR w="6350" cap="flat" cmpd="sng" algn="ctr">
                      <a:solidFill>
                        <a:srgbClr val="F3F6F5"/>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rgbClr val="F3F6F5"/>
                    </a:solidFill>
                  </a:tcPr>
                </a:tc>
                <a:tc hMerge="1">
                  <a:txBody>
                    <a:bodyPr/>
                    <a:lstStyle/>
                    <a:p>
                      <a:endParaRPr lang="zh-TW" altLang="en-US"/>
                    </a:p>
                  </a:txBody>
                  <a:tcPr/>
                </a:tc>
                <a:tc>
                  <a:txBody>
                    <a:bodyPr/>
                    <a:lstStyle/>
                    <a:p>
                      <a:pPr algn="r"/>
                      <a:r>
                        <a:rPr lang="en-US" altLang="zh-TW" sz="900" dirty="0">
                          <a:solidFill>
                            <a:schemeClr val="tx1"/>
                          </a:solidFill>
                          <a:latin typeface="微軟正黑體" panose="020B0604030504040204" pitchFamily="34" charset="-120"/>
                          <a:ea typeface="微軟正黑體" panose="020B0604030504040204" pitchFamily="34" charset="-120"/>
                        </a:rPr>
                        <a:t>(1,202)</a:t>
                      </a:r>
                      <a:endParaRPr lang="zh-TW" altLang="en-US" sz="900" dirty="0">
                        <a:solidFill>
                          <a:schemeClr val="tx1"/>
                        </a:solidFill>
                        <a:latin typeface="微軟正黑體" panose="020B0604030504040204" pitchFamily="34" charset="-120"/>
                        <a:ea typeface="微軟正黑體" panose="020B0604030504040204" pitchFamily="34" charset="-120"/>
                      </a:endParaRPr>
                    </a:p>
                  </a:txBody>
                  <a:tcPr marL="36000" marR="36000" marT="0" marB="0" anchor="ctr">
                    <a:lnL w="6350" cap="flat" cmpd="sng" algn="ctr">
                      <a:solidFill>
                        <a:srgbClr val="F3F6F5"/>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rgbClr val="F3F6F5"/>
                    </a:solidFill>
                  </a:tcPr>
                </a:tc>
                <a:extLst>
                  <a:ext uri="{0D108BD9-81ED-4DB2-BD59-A6C34878D82A}">
                    <a16:rowId xmlns:a16="http://schemas.microsoft.com/office/drawing/2014/main" val="3380936470"/>
                  </a:ext>
                </a:extLst>
              </a:tr>
              <a:tr h="312544">
                <a:tc gridSpan="3">
                  <a:txBody>
                    <a:bodyPr/>
                    <a:lstStyle/>
                    <a:p>
                      <a:r>
                        <a:rPr lang="zh-TW" altLang="en-US" sz="900" b="1" dirty="0">
                          <a:solidFill>
                            <a:schemeClr val="tx1"/>
                          </a:solidFill>
                          <a:latin typeface="微軟正黑體" panose="020B0604030504040204" pitchFamily="34" charset="-120"/>
                          <a:ea typeface="微軟正黑體" panose="020B0604030504040204" pitchFamily="34" charset="-120"/>
                        </a:rPr>
                        <a:t>除稅後利潤</a:t>
                      </a:r>
                    </a:p>
                  </a:txBody>
                  <a:tcPr marL="36000" marR="36000" marT="0" marB="0" anchor="ctr">
                    <a:lnL w="6350" cap="flat" cmpd="sng" algn="ctr">
                      <a:noFill/>
                      <a:prstDash val="solid"/>
                      <a:round/>
                      <a:headEnd type="none" w="med" len="med"/>
                      <a:tailEnd type="none" w="med" len="med"/>
                    </a:lnL>
                    <a:lnR w="6350" cap="flat" cmpd="sng" algn="ctr">
                      <a:solidFill>
                        <a:srgbClr val="F3F6F5"/>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12700" cap="flat" cmpd="sng" algn="ctr">
                      <a:solidFill>
                        <a:srgbClr val="333334"/>
                      </a:solidFill>
                      <a:prstDash val="solid"/>
                      <a:round/>
                      <a:headEnd type="none" w="med" len="med"/>
                      <a:tailEnd type="none" w="med" len="med"/>
                    </a:lnB>
                    <a:lnTlToBr w="12700" cmpd="sng">
                      <a:noFill/>
                      <a:prstDash val="solid"/>
                    </a:lnTlToBr>
                    <a:lnBlToTr w="12700" cmpd="sng">
                      <a:noFill/>
                      <a:prstDash val="solid"/>
                    </a:lnBlToTr>
                    <a:solidFill>
                      <a:srgbClr val="F3F6F5"/>
                    </a:solidFill>
                  </a:tcPr>
                </a:tc>
                <a:tc hMerge="1">
                  <a:txBody>
                    <a:bodyPr/>
                    <a:lstStyle/>
                    <a:p>
                      <a:endParaRPr lang="zh-TW" altLang="en-US"/>
                    </a:p>
                  </a:txBody>
                  <a:tcPr/>
                </a:tc>
                <a:tc hMerge="1">
                  <a:txBody>
                    <a:bodyPr/>
                    <a:lstStyle/>
                    <a:p>
                      <a:endParaRPr lang="zh-TW" altLang="en-US"/>
                    </a:p>
                  </a:txBody>
                  <a:tcPr/>
                </a:tc>
                <a:tc gridSpan="2">
                  <a:txBody>
                    <a:bodyPr/>
                    <a:lstStyle/>
                    <a:p>
                      <a:pPr algn="r"/>
                      <a:r>
                        <a:rPr lang="en-US" altLang="zh-TW" sz="900" dirty="0">
                          <a:solidFill>
                            <a:schemeClr val="tx1"/>
                          </a:solidFill>
                          <a:latin typeface="微軟正黑體" panose="020B0604030504040204" pitchFamily="34" charset="-120"/>
                          <a:ea typeface="微軟正黑體" panose="020B0604030504040204" pitchFamily="34" charset="-120"/>
                        </a:rPr>
                        <a:t>3,856</a:t>
                      </a:r>
                      <a:endParaRPr lang="zh-TW" altLang="en-US" sz="900" dirty="0">
                        <a:solidFill>
                          <a:schemeClr val="tx1"/>
                        </a:solidFill>
                        <a:latin typeface="微軟正黑體" panose="020B0604030504040204" pitchFamily="34" charset="-120"/>
                        <a:ea typeface="微軟正黑體" panose="020B0604030504040204" pitchFamily="34" charset="-120"/>
                      </a:endParaRPr>
                    </a:p>
                  </a:txBody>
                  <a:tcPr marL="36000" marR="36000" marT="0" marB="0" anchor="ctr">
                    <a:lnL w="6350" cap="flat" cmpd="sng" algn="ctr">
                      <a:solidFill>
                        <a:srgbClr val="F3F6F5"/>
                      </a:solidFill>
                      <a:prstDash val="solid"/>
                      <a:round/>
                      <a:headEnd type="none" w="med" len="med"/>
                      <a:tailEnd type="none" w="med" len="med"/>
                    </a:lnL>
                    <a:lnR w="6350" cap="flat" cmpd="sng" algn="ctr">
                      <a:solidFill>
                        <a:srgbClr val="F3F6F5"/>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12700" cap="flat" cmpd="sng" algn="ctr">
                      <a:solidFill>
                        <a:srgbClr val="333334"/>
                      </a:solidFill>
                      <a:prstDash val="solid"/>
                      <a:round/>
                      <a:headEnd type="none" w="med" len="med"/>
                      <a:tailEnd type="none" w="med" len="med"/>
                    </a:lnB>
                    <a:lnTlToBr w="12700" cmpd="sng">
                      <a:noFill/>
                      <a:prstDash val="solid"/>
                    </a:lnTlToBr>
                    <a:lnBlToTr w="12700" cmpd="sng">
                      <a:noFill/>
                      <a:prstDash val="solid"/>
                    </a:lnBlToTr>
                    <a:solidFill>
                      <a:srgbClr val="F3F6F5"/>
                    </a:solidFill>
                  </a:tcPr>
                </a:tc>
                <a:tc hMerge="1">
                  <a:txBody>
                    <a:bodyPr/>
                    <a:lstStyle/>
                    <a:p>
                      <a:endParaRPr lang="zh-TW" altLang="en-US"/>
                    </a:p>
                  </a:txBody>
                  <a:tcPr/>
                </a:tc>
                <a:tc>
                  <a:txBody>
                    <a:bodyPr/>
                    <a:lstStyle/>
                    <a:p>
                      <a:pPr algn="r"/>
                      <a:r>
                        <a:rPr lang="en-US" altLang="zh-TW" sz="900" dirty="0">
                          <a:solidFill>
                            <a:schemeClr val="tx1"/>
                          </a:solidFill>
                          <a:latin typeface="微軟正黑體" panose="020B0604030504040204" pitchFamily="34" charset="-120"/>
                          <a:ea typeface="微軟正黑體" panose="020B0604030504040204" pitchFamily="34" charset="-120"/>
                        </a:rPr>
                        <a:t>3,486</a:t>
                      </a:r>
                      <a:endParaRPr lang="zh-TW" altLang="en-US" sz="900" dirty="0">
                        <a:solidFill>
                          <a:schemeClr val="tx1"/>
                        </a:solidFill>
                        <a:latin typeface="微軟正黑體" panose="020B0604030504040204" pitchFamily="34" charset="-120"/>
                        <a:ea typeface="微軟正黑體" panose="020B0604030504040204" pitchFamily="34" charset="-120"/>
                      </a:endParaRPr>
                    </a:p>
                  </a:txBody>
                  <a:tcPr marL="36000" marR="36000" marT="0" marB="0" anchor="ctr">
                    <a:lnL w="6350" cap="flat" cmpd="sng" algn="ctr">
                      <a:solidFill>
                        <a:srgbClr val="F3F6F5"/>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12700" cap="flat" cmpd="sng" algn="ctr">
                      <a:solidFill>
                        <a:srgbClr val="333334"/>
                      </a:solidFill>
                      <a:prstDash val="solid"/>
                      <a:round/>
                      <a:headEnd type="none" w="med" len="med"/>
                      <a:tailEnd type="none" w="med" len="med"/>
                    </a:lnB>
                    <a:lnTlToBr w="12700" cmpd="sng">
                      <a:noFill/>
                      <a:prstDash val="solid"/>
                    </a:lnTlToBr>
                    <a:lnBlToTr w="12700" cmpd="sng">
                      <a:noFill/>
                      <a:prstDash val="solid"/>
                    </a:lnBlToTr>
                    <a:solidFill>
                      <a:srgbClr val="F3F6F5"/>
                    </a:solidFill>
                  </a:tcPr>
                </a:tc>
                <a:extLst>
                  <a:ext uri="{0D108BD9-81ED-4DB2-BD59-A6C34878D82A}">
                    <a16:rowId xmlns:a16="http://schemas.microsoft.com/office/drawing/2014/main" val="546418830"/>
                  </a:ext>
                </a:extLst>
              </a:tr>
            </a:tbl>
          </a:graphicData>
        </a:graphic>
      </p:graphicFrame>
      <p:sp>
        <p:nvSpPr>
          <p:cNvPr id="19" name="矩形 18">
            <a:extLst>
              <a:ext uri="{FF2B5EF4-FFF2-40B4-BE49-F238E27FC236}">
                <a16:creationId xmlns:a16="http://schemas.microsoft.com/office/drawing/2014/main" id="{5F2C0D75-4F88-4E5B-92AA-7CF8B9B99DAB}"/>
              </a:ext>
            </a:extLst>
          </p:cNvPr>
          <p:cNvSpPr/>
          <p:nvPr/>
        </p:nvSpPr>
        <p:spPr>
          <a:xfrm>
            <a:off x="5996839" y="1123343"/>
            <a:ext cx="1678665" cy="276999"/>
          </a:xfrm>
          <a:prstGeom prst="rect">
            <a:avLst/>
          </a:prstGeom>
        </p:spPr>
        <p:txBody>
          <a:bodyPr wrap="none">
            <a:spAutoFit/>
          </a:bodyPr>
          <a:lstStyle/>
          <a:p>
            <a:r>
              <a:rPr lang="zh-TW" altLang="en-US" sz="1200" b="1" dirty="0">
                <a:latin typeface="微軟正黑體" panose="020B0604030504040204" pitchFamily="34" charset="-120"/>
                <a:ea typeface="微軟正黑體" panose="020B0604030504040204" pitchFamily="34" charset="-120"/>
              </a:rPr>
              <a:t>除稅前利潤</a:t>
            </a:r>
            <a:r>
              <a:rPr lang="en-US" altLang="zh-TW" sz="1200" b="1" dirty="0">
                <a:latin typeface="微軟正黑體" panose="020B0604030504040204" pitchFamily="34" charset="-120"/>
                <a:ea typeface="微軟正黑體" panose="020B0604030504040204" pitchFamily="34" charset="-120"/>
              </a:rPr>
              <a:t>(</a:t>
            </a:r>
            <a:r>
              <a:rPr lang="zh-TW" altLang="en-US" sz="1200" b="1" dirty="0">
                <a:latin typeface="微軟正黑體" panose="020B0604030504040204" pitchFamily="34" charset="-120"/>
                <a:ea typeface="微軟正黑體" panose="020B0604030504040204" pitchFamily="34" charset="-120"/>
              </a:rPr>
              <a:t>列帳基準</a:t>
            </a:r>
            <a:r>
              <a:rPr lang="en-US" altLang="zh-TW" sz="1200" b="1" dirty="0">
                <a:latin typeface="微軟正黑體" panose="020B0604030504040204" pitchFamily="34" charset="-120"/>
                <a:ea typeface="微軟正黑體" panose="020B0604030504040204" pitchFamily="34" charset="-120"/>
              </a:rPr>
              <a:t>)</a:t>
            </a:r>
            <a:endParaRPr lang="zh-TW" altLang="en-US" sz="1200" b="1"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8065116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圖表 13">
            <a:extLst>
              <a:ext uri="{FF2B5EF4-FFF2-40B4-BE49-F238E27FC236}">
                <a16:creationId xmlns:a16="http://schemas.microsoft.com/office/drawing/2014/main" id="{894D0280-C8F1-482B-834C-4A8FE8F03A17}"/>
              </a:ext>
            </a:extLst>
          </p:cNvPr>
          <p:cNvGraphicFramePr/>
          <p:nvPr>
            <p:extLst>
              <p:ext uri="{D42A27DB-BD31-4B8C-83A1-F6EECF244321}">
                <p14:modId xmlns:p14="http://schemas.microsoft.com/office/powerpoint/2010/main" val="4095598932"/>
              </p:ext>
            </p:extLst>
          </p:nvPr>
        </p:nvGraphicFramePr>
        <p:xfrm>
          <a:off x="4998941" y="1182379"/>
          <a:ext cx="3790519" cy="2142867"/>
        </p:xfrm>
        <a:graphic>
          <a:graphicData uri="http://schemas.openxmlformats.org/drawingml/2006/chart">
            <c:chart xmlns:c="http://schemas.openxmlformats.org/drawingml/2006/chart" xmlns:r="http://schemas.openxmlformats.org/officeDocument/2006/relationships" r:id="rId3"/>
          </a:graphicData>
        </a:graphic>
      </p:graphicFrame>
      <p:sp>
        <p:nvSpPr>
          <p:cNvPr id="4" name="投影片編號版面配置區 3">
            <a:extLst>
              <a:ext uri="{FF2B5EF4-FFF2-40B4-BE49-F238E27FC236}">
                <a16:creationId xmlns:a16="http://schemas.microsoft.com/office/drawing/2014/main" id="{46F166C5-8AE6-7D40-8727-37F08F3A6FF5}"/>
              </a:ext>
            </a:extLst>
          </p:cNvPr>
          <p:cNvSpPr>
            <a:spLocks noGrp="1"/>
          </p:cNvSpPr>
          <p:nvPr>
            <p:ph type="sldNum" sz="quarter" idx="10"/>
          </p:nvPr>
        </p:nvSpPr>
        <p:spPr/>
        <p:txBody>
          <a:bodyPr/>
          <a:lstStyle/>
          <a:p>
            <a:fld id="{415482FC-CF5F-466A-B8B6-BC3733E92023}" type="slidenum">
              <a:rPr lang="zh-TW" altLang="en-US" smtClean="0"/>
              <a:pPr/>
              <a:t>5</a:t>
            </a:fld>
            <a:endParaRPr lang="zh-TW" altLang="en-US" dirty="0"/>
          </a:p>
        </p:txBody>
      </p:sp>
      <p:sp>
        <p:nvSpPr>
          <p:cNvPr id="21" name="標題 1">
            <a:extLst>
              <a:ext uri="{FF2B5EF4-FFF2-40B4-BE49-F238E27FC236}">
                <a16:creationId xmlns:a16="http://schemas.microsoft.com/office/drawing/2014/main" id="{BE53B65A-0EAA-6F4B-AB2E-EBDCF8C6D3DE}"/>
              </a:ext>
            </a:extLst>
          </p:cNvPr>
          <p:cNvSpPr txBox="1">
            <a:spLocks noChangeArrowheads="1"/>
          </p:cNvSpPr>
          <p:nvPr/>
        </p:nvSpPr>
        <p:spPr>
          <a:xfrm>
            <a:off x="1907704" y="228798"/>
            <a:ext cx="5400600" cy="475060"/>
          </a:xfrm>
          <a:prstGeom prst="rect">
            <a:avLst/>
          </a:prstGeom>
        </p:spPr>
        <p:txBody>
          <a:bodyPr anchor="ctr" anchorCtr="0">
            <a:noAutofit/>
          </a:bodyPr>
          <a:lstStyle>
            <a:defPPr>
              <a:defRPr lang="zh-TW"/>
            </a:defPPr>
            <a:lvl1pPr algn="ctr">
              <a:spcBef>
                <a:spcPct val="0"/>
              </a:spcBef>
              <a:buNone/>
              <a:defRPr sz="2000" b="1">
                <a:solidFill>
                  <a:schemeClr val="tx2">
                    <a:lumMod val="75000"/>
                  </a:schemeClr>
                </a:solidFill>
                <a:latin typeface="微軟正黑體" pitchFamily="34" charset="-120"/>
                <a:ea typeface="微軟正黑體" pitchFamily="34" charset="-120"/>
                <a:cs typeface="+mj-cs"/>
              </a:defRPr>
            </a:lvl1pPr>
          </a:lstStyle>
          <a:p>
            <a:r>
              <a:rPr lang="zh-TW" altLang="en-US" dirty="0">
                <a:solidFill>
                  <a:srgbClr val="EE8300"/>
                </a:solidFill>
              </a:rPr>
              <a:t>渣打前景俏，穆迪調整評等至「正向」</a:t>
            </a:r>
          </a:p>
        </p:txBody>
      </p:sp>
      <p:sp>
        <p:nvSpPr>
          <p:cNvPr id="26" name="文字方塊 30">
            <a:extLst>
              <a:ext uri="{FF2B5EF4-FFF2-40B4-BE49-F238E27FC236}">
                <a16:creationId xmlns:a16="http://schemas.microsoft.com/office/drawing/2014/main" id="{E9C0BFBE-AEFA-4FB1-BDBB-2B98311C47CD}"/>
              </a:ext>
            </a:extLst>
          </p:cNvPr>
          <p:cNvSpPr txBox="1">
            <a:spLocks noChangeArrowheads="1"/>
          </p:cNvSpPr>
          <p:nvPr/>
        </p:nvSpPr>
        <p:spPr bwMode="auto">
          <a:xfrm>
            <a:off x="3275856" y="6440265"/>
            <a:ext cx="4339395" cy="215444"/>
          </a:xfrm>
          <a:prstGeom prst="rect">
            <a:avLst/>
          </a:prstGeom>
        </p:spPr>
        <p:txBody>
          <a:bodyPr wrap="square">
            <a:spAutoFit/>
          </a:bodyPr>
          <a:lstStyle>
            <a:defPPr>
              <a:defRPr lang="zh-TW"/>
            </a:defPPr>
            <a:lvl1pPr algn="r">
              <a:defRPr sz="800">
                <a:solidFill>
                  <a:schemeClr val="bg1"/>
                </a:solidFill>
                <a:latin typeface="微軟正黑體" panose="020B0604030504040204" pitchFamily="34" charset="-120"/>
                <a:ea typeface="微軟正黑體" panose="020B0604030504040204" pitchFamily="34" charset="-120"/>
              </a:defRPr>
            </a:lvl1pPr>
          </a:lstStyle>
          <a:p>
            <a:pPr>
              <a:spcBef>
                <a:spcPct val="0"/>
              </a:spcBef>
              <a:buClrTx/>
              <a:buNone/>
            </a:pPr>
            <a:r>
              <a:rPr lang="zh-TW" altLang="en-US" dirty="0"/>
              <a:t>資料來源：</a:t>
            </a:r>
            <a:r>
              <a:rPr lang="zh-TW" altLang="en-US" dirty="0">
                <a:latin typeface="+mj-ea"/>
              </a:rPr>
              <a:t>彭博、信評機構</a:t>
            </a:r>
          </a:p>
        </p:txBody>
      </p:sp>
      <p:graphicFrame>
        <p:nvGraphicFramePr>
          <p:cNvPr id="23" name="表格 22">
            <a:extLst>
              <a:ext uri="{FF2B5EF4-FFF2-40B4-BE49-F238E27FC236}">
                <a16:creationId xmlns:a16="http://schemas.microsoft.com/office/drawing/2014/main" id="{9CE931C1-0D5C-412A-BBFC-4406B7D100F7}"/>
              </a:ext>
            </a:extLst>
          </p:cNvPr>
          <p:cNvGraphicFramePr>
            <a:graphicFrameLocks noGrp="1"/>
          </p:cNvGraphicFramePr>
          <p:nvPr>
            <p:extLst>
              <p:ext uri="{D42A27DB-BD31-4B8C-83A1-F6EECF244321}">
                <p14:modId xmlns:p14="http://schemas.microsoft.com/office/powerpoint/2010/main" val="150881100"/>
              </p:ext>
            </p:extLst>
          </p:nvPr>
        </p:nvGraphicFramePr>
        <p:xfrm>
          <a:off x="264415" y="787769"/>
          <a:ext cx="4523610" cy="5491156"/>
        </p:xfrm>
        <a:graphic>
          <a:graphicData uri="http://schemas.openxmlformats.org/drawingml/2006/table">
            <a:tbl>
              <a:tblPr firstRow="1" bandRow="1">
                <a:tableStyleId>{912C8C85-51F0-491E-9774-3900AFEF0FD7}</a:tableStyleId>
              </a:tblPr>
              <a:tblGrid>
                <a:gridCol w="1229433">
                  <a:extLst>
                    <a:ext uri="{9D8B030D-6E8A-4147-A177-3AD203B41FA5}">
                      <a16:colId xmlns:a16="http://schemas.microsoft.com/office/drawing/2014/main" val="20000"/>
                    </a:ext>
                  </a:extLst>
                </a:gridCol>
                <a:gridCol w="1098059">
                  <a:extLst>
                    <a:ext uri="{9D8B030D-6E8A-4147-A177-3AD203B41FA5}">
                      <a16:colId xmlns:a16="http://schemas.microsoft.com/office/drawing/2014/main" val="20001"/>
                    </a:ext>
                  </a:extLst>
                </a:gridCol>
                <a:gridCol w="1291236">
                  <a:extLst>
                    <a:ext uri="{9D8B030D-6E8A-4147-A177-3AD203B41FA5}">
                      <a16:colId xmlns:a16="http://schemas.microsoft.com/office/drawing/2014/main" val="20002"/>
                    </a:ext>
                  </a:extLst>
                </a:gridCol>
                <a:gridCol w="904882">
                  <a:extLst>
                    <a:ext uri="{9D8B030D-6E8A-4147-A177-3AD203B41FA5}">
                      <a16:colId xmlns:a16="http://schemas.microsoft.com/office/drawing/2014/main" val="20003"/>
                    </a:ext>
                  </a:extLst>
                </a:gridCol>
              </a:tblGrid>
              <a:tr h="257375">
                <a:tc>
                  <a:txBody>
                    <a:bodyPr/>
                    <a:lstStyle/>
                    <a:p>
                      <a:pPr algn="ctr"/>
                      <a:r>
                        <a:rPr lang="zh-TW" altLang="en-US" sz="1000" dirty="0">
                          <a:solidFill>
                            <a:schemeClr val="bg1"/>
                          </a:solidFill>
                          <a:latin typeface="微軟正黑體" panose="020B0604030504040204" pitchFamily="34" charset="-120"/>
                          <a:ea typeface="微軟正黑體" panose="020B0604030504040204" pitchFamily="34" charset="-120"/>
                        </a:rPr>
                        <a:t>信用評等</a:t>
                      </a:r>
                    </a:p>
                  </a:txBody>
                  <a:tcPr anchor="ctr"/>
                </a:tc>
                <a:tc>
                  <a:txBody>
                    <a:bodyPr/>
                    <a:lstStyle/>
                    <a:p>
                      <a:pPr algn="ctr"/>
                      <a:r>
                        <a:rPr lang="zh-TW" altLang="en-US" sz="1100" dirty="0">
                          <a:latin typeface="微軟正黑體" panose="020B0604030504040204" pitchFamily="34" charset="-120"/>
                          <a:ea typeface="微軟正黑體" panose="020B0604030504040204" pitchFamily="34" charset="-120"/>
                        </a:rPr>
                        <a:t>穆迪</a:t>
                      </a:r>
                      <a:endParaRPr lang="zh-TW" altLang="en-US" sz="1100" b="1" dirty="0">
                        <a:solidFill>
                          <a:schemeClr val="bg1"/>
                        </a:solidFill>
                        <a:latin typeface="微軟正黑體" panose="020B0604030504040204" pitchFamily="34" charset="-120"/>
                        <a:ea typeface="微軟正黑體" panose="020B0604030504040204" pitchFamily="34" charset="-120"/>
                      </a:endParaRPr>
                    </a:p>
                  </a:txBody>
                  <a:tcPr anchor="ctr"/>
                </a:tc>
                <a:tc>
                  <a:txBody>
                    <a:bodyPr/>
                    <a:lstStyle/>
                    <a:p>
                      <a:pPr algn="ctr"/>
                      <a:r>
                        <a:rPr lang="zh-TW" altLang="en-US" sz="1100" dirty="0">
                          <a:latin typeface="微軟正黑體" panose="020B0604030504040204" pitchFamily="34" charset="-120"/>
                          <a:ea typeface="微軟正黑體" panose="020B0604030504040204" pitchFamily="34" charset="-120"/>
                        </a:rPr>
                        <a:t>標普</a:t>
                      </a:r>
                      <a:endParaRPr lang="zh-TW" altLang="en-US" sz="1100" b="1" dirty="0">
                        <a:solidFill>
                          <a:schemeClr val="bg1"/>
                        </a:solidFill>
                        <a:latin typeface="微軟正黑體" panose="020B0604030504040204" pitchFamily="34" charset="-120"/>
                        <a:ea typeface="微軟正黑體" panose="020B0604030504040204" pitchFamily="34" charset="-120"/>
                      </a:endParaRPr>
                    </a:p>
                  </a:txBody>
                  <a:tcPr anchor="ctr"/>
                </a:tc>
                <a:tc>
                  <a:txBody>
                    <a:bodyPr/>
                    <a:lstStyle/>
                    <a:p>
                      <a:pPr algn="ctr"/>
                      <a:r>
                        <a:rPr lang="zh-TW" altLang="en-US" sz="1100" dirty="0">
                          <a:latin typeface="微軟正黑體" panose="020B0604030504040204" pitchFamily="34" charset="-120"/>
                          <a:ea typeface="微軟正黑體" panose="020B0604030504040204" pitchFamily="34" charset="-120"/>
                        </a:rPr>
                        <a:t>惠譽</a:t>
                      </a:r>
                      <a:endParaRPr lang="zh-TW" altLang="en-US" sz="1100" b="1" dirty="0">
                        <a:solidFill>
                          <a:schemeClr val="bg1"/>
                        </a:solidFill>
                        <a:latin typeface="微軟正黑體" panose="020B0604030504040204" pitchFamily="34" charset="-120"/>
                        <a:ea typeface="微軟正黑體" panose="020B0604030504040204" pitchFamily="34" charset="-120"/>
                      </a:endParaRPr>
                    </a:p>
                  </a:txBody>
                  <a:tcPr anchor="ctr"/>
                </a:tc>
                <a:extLst>
                  <a:ext uri="{0D108BD9-81ED-4DB2-BD59-A6C34878D82A}">
                    <a16:rowId xmlns:a16="http://schemas.microsoft.com/office/drawing/2014/main" val="10000"/>
                  </a:ext>
                </a:extLst>
              </a:tr>
              <a:tr h="393633">
                <a:tc>
                  <a:txBody>
                    <a:bodyPr/>
                    <a:lstStyle/>
                    <a:p>
                      <a:pPr algn="ctr"/>
                      <a:r>
                        <a:rPr lang="zh-TW" altLang="en-US" sz="1000" dirty="0">
                          <a:solidFill>
                            <a:schemeClr val="tx1"/>
                          </a:solidFill>
                          <a:latin typeface="微軟正黑體" panose="020B0604030504040204" pitchFamily="34" charset="-120"/>
                          <a:ea typeface="微軟正黑體" panose="020B0604030504040204" pitchFamily="34" charset="-120"/>
                        </a:rPr>
                        <a:t>優先無擔保</a:t>
                      </a:r>
                      <a:endParaRPr lang="en-US" altLang="zh-TW" sz="1000" dirty="0">
                        <a:solidFill>
                          <a:schemeClr val="tx1"/>
                        </a:solidFill>
                        <a:latin typeface="微軟正黑體" panose="020B0604030504040204" pitchFamily="34" charset="-120"/>
                        <a:ea typeface="微軟正黑體" panose="020B0604030504040204" pitchFamily="34" charset="-120"/>
                      </a:endParaRPr>
                    </a:p>
                    <a:p>
                      <a:pPr algn="ctr"/>
                      <a:r>
                        <a:rPr lang="zh-TW" altLang="en-US" sz="1000" dirty="0">
                          <a:solidFill>
                            <a:schemeClr val="tx1"/>
                          </a:solidFill>
                          <a:latin typeface="微軟正黑體" panose="020B0604030504040204" pitchFamily="34" charset="-120"/>
                          <a:ea typeface="微軟正黑體" panose="020B0604030504040204" pitchFamily="34" charset="-120"/>
                        </a:rPr>
                        <a:t>債信評等</a:t>
                      </a:r>
                    </a:p>
                  </a:txBody>
                  <a:tcPr anchor="ctr"/>
                </a:tc>
                <a:tc>
                  <a:txBody>
                    <a:bodyPr/>
                    <a:lstStyle/>
                    <a:p>
                      <a:pPr algn="ctr" fontAlgn="ctr"/>
                      <a:r>
                        <a:rPr lang="en-US"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A1</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TW" sz="1100" b="0" dirty="0">
                          <a:solidFill>
                            <a:schemeClr val="tx1"/>
                          </a:solidFill>
                          <a:latin typeface="微軟正黑體" panose="020B0604030504040204" pitchFamily="34" charset="-120"/>
                          <a:ea typeface="微軟正黑體" panose="020B0604030504040204" pitchFamily="34" charset="-120"/>
                        </a:rPr>
                        <a:t>A</a:t>
                      </a:r>
                      <a:r>
                        <a:rPr lang="en-US" sz="1100" b="0" i="0" u="none" strike="noStrike" dirty="0">
                          <a:solidFill>
                            <a:srgbClr val="000000"/>
                          </a:solidFill>
                          <a:effectLst/>
                          <a:latin typeface="微軟正黑體" panose="020B0604030504040204" pitchFamily="34" charset="-120"/>
                          <a:ea typeface="微軟正黑體" panose="020B0604030504040204" pitchFamily="34" charset="-120"/>
                        </a:rPr>
                        <a:t>+</a:t>
                      </a:r>
                    </a:p>
                  </a:txBody>
                  <a:tcPr marL="9525" marR="9525" marT="9525" marB="0" anchor="ctr"/>
                </a:tc>
                <a:tc>
                  <a:txBody>
                    <a:bodyPr/>
                    <a:lstStyle/>
                    <a:p>
                      <a:pPr algn="ctr" fontAlgn="ctr"/>
                      <a:r>
                        <a:rPr lang="en-US" sz="1100" b="0" i="0" u="none" strike="noStrike" dirty="0">
                          <a:solidFill>
                            <a:srgbClr val="000000"/>
                          </a:solidFill>
                          <a:effectLst/>
                          <a:latin typeface="微軟正黑體" panose="020B0604030504040204" pitchFamily="34" charset="-120"/>
                          <a:ea typeface="微軟正黑體" panose="020B0604030504040204" pitchFamily="34" charset="-120"/>
                        </a:rPr>
                        <a:t>A</a:t>
                      </a:r>
                      <a:r>
                        <a:rPr lang="en-US" altLang="zh-TW" sz="1100" b="0" i="0" u="none" strike="noStrike" dirty="0">
                          <a:solidFill>
                            <a:srgbClr val="000000"/>
                          </a:solidFill>
                          <a:effectLst/>
                          <a:latin typeface="微軟正黑體" panose="020B0604030504040204" pitchFamily="34" charset="-120"/>
                          <a:ea typeface="微軟正黑體" panose="020B0604030504040204" pitchFamily="34" charset="-120"/>
                        </a:rPr>
                        <a:t>+</a:t>
                      </a:r>
                      <a:endParaRPr lang="en-US" sz="11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9525" marR="9525" marT="9525" marB="0" anchor="ctr"/>
                </a:tc>
                <a:extLst>
                  <a:ext uri="{0D108BD9-81ED-4DB2-BD59-A6C34878D82A}">
                    <a16:rowId xmlns:a16="http://schemas.microsoft.com/office/drawing/2014/main" val="10002"/>
                  </a:ext>
                </a:extLst>
              </a:tr>
              <a:tr h="242236">
                <a:tc>
                  <a:txBody>
                    <a:bodyPr/>
                    <a:lstStyle/>
                    <a:p>
                      <a:pPr algn="ctr"/>
                      <a:r>
                        <a:rPr lang="zh-TW" altLang="en-US" sz="1000" dirty="0">
                          <a:solidFill>
                            <a:schemeClr val="tx1"/>
                          </a:solidFill>
                          <a:latin typeface="微軟正黑體" panose="020B0604030504040204" pitchFamily="34" charset="-120"/>
                          <a:ea typeface="微軟正黑體" panose="020B0604030504040204" pitchFamily="34" charset="-120"/>
                        </a:rPr>
                        <a:t>評等展望</a:t>
                      </a:r>
                    </a:p>
                  </a:txBody>
                  <a:tcPr anchor="ctr"/>
                </a:tc>
                <a:tc>
                  <a:txBody>
                    <a:bodyPr/>
                    <a:lstStyle/>
                    <a:p>
                      <a:pPr algn="ctr" fontAlgn="ctr"/>
                      <a:r>
                        <a:rPr lang="zh-TW" altLang="en-US" sz="1100" b="0" i="0" u="none" strike="noStrike" dirty="0">
                          <a:solidFill>
                            <a:srgbClr val="000000"/>
                          </a:solidFill>
                          <a:effectLst/>
                          <a:latin typeface="微軟正黑體" panose="020B0604030504040204" pitchFamily="34" charset="-120"/>
                          <a:ea typeface="微軟正黑體" panose="020B0604030504040204" pitchFamily="34" charset="-120"/>
                        </a:rPr>
                        <a:t>穩定</a:t>
                      </a:r>
                    </a:p>
                  </a:txBody>
                  <a:tcPr marL="9525" marR="9525" marT="9525" marB="0" anchor="ctr"/>
                </a:tc>
                <a:tc>
                  <a:txBody>
                    <a:bodyPr/>
                    <a:lstStyle/>
                    <a:p>
                      <a:pPr algn="ctr" fontAlgn="ctr"/>
                      <a:r>
                        <a:rPr lang="zh-TW" altLang="en-US" sz="1100" b="0" i="0" u="none" strike="noStrike" dirty="0">
                          <a:solidFill>
                            <a:srgbClr val="000000"/>
                          </a:solidFill>
                          <a:effectLst/>
                          <a:latin typeface="微軟正黑體" panose="020B0604030504040204" pitchFamily="34" charset="-120"/>
                          <a:ea typeface="微軟正黑體" panose="020B0604030504040204" pitchFamily="34" charset="-120"/>
                        </a:rPr>
                        <a:t>穩定</a:t>
                      </a:r>
                    </a:p>
                  </a:txBody>
                  <a:tcPr marL="9525" marR="9525" marT="9525" marB="0" anchor="ctr"/>
                </a:tc>
                <a:tc>
                  <a:txBody>
                    <a:bodyPr/>
                    <a:lstStyle/>
                    <a:p>
                      <a:pPr marL="0" algn="ctr" defTabSz="914400" rtl="0" eaLnBrk="1" fontAlgn="ctr" latinLnBrk="0" hangingPunct="1"/>
                      <a:r>
                        <a:rPr lang="zh-TW" altLang="en-US"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穩定</a:t>
                      </a:r>
                    </a:p>
                  </a:txBody>
                  <a:tcPr marL="9525" marR="9525" marT="9525" marB="0" anchor="ctr"/>
                </a:tc>
                <a:extLst>
                  <a:ext uri="{0D108BD9-81ED-4DB2-BD59-A6C34878D82A}">
                    <a16:rowId xmlns:a16="http://schemas.microsoft.com/office/drawing/2014/main" val="3186735443"/>
                  </a:ext>
                </a:extLst>
              </a:tr>
              <a:tr h="242236">
                <a:tc>
                  <a:txBody>
                    <a:bodyPr/>
                    <a:lstStyle/>
                    <a:p>
                      <a:pPr algn="ctr"/>
                      <a:r>
                        <a:rPr lang="zh-TW" altLang="en-US" sz="1000" dirty="0">
                          <a:solidFill>
                            <a:schemeClr val="tx1"/>
                          </a:solidFill>
                          <a:latin typeface="微軟正黑體" panose="020B0604030504040204" pitchFamily="34" charset="-120"/>
                          <a:ea typeface="微軟正黑體" panose="020B0604030504040204" pitchFamily="34" charset="-120"/>
                        </a:rPr>
                        <a:t>展望發佈日</a:t>
                      </a:r>
                    </a:p>
                  </a:txBody>
                  <a:tcPr anchor="ctr"/>
                </a:tc>
                <a:tc>
                  <a:txBody>
                    <a:bodyPr/>
                    <a:lstStyle/>
                    <a:p>
                      <a:pPr algn="ctr" fontAlgn="ctr"/>
                      <a:r>
                        <a:rPr lang="en-US" altLang="zh-TW" sz="1100" b="0" i="0" u="none" strike="noStrike" dirty="0">
                          <a:solidFill>
                            <a:srgbClr val="000000"/>
                          </a:solidFill>
                          <a:effectLst/>
                          <a:latin typeface="微軟正黑體" panose="020B0604030504040204" pitchFamily="34" charset="-120"/>
                          <a:ea typeface="微軟正黑體" panose="020B0604030504040204" pitchFamily="34" charset="-120"/>
                        </a:rPr>
                        <a:t>2025/5/20</a:t>
                      </a:r>
                    </a:p>
                  </a:txBody>
                  <a:tcPr marL="9525" marR="9525" marT="9525" marB="0" anchor="ctr"/>
                </a:tc>
                <a:tc>
                  <a:txBody>
                    <a:bodyPr/>
                    <a:lstStyle/>
                    <a:p>
                      <a:pPr algn="ctr" fontAlgn="ctr"/>
                      <a:r>
                        <a:rPr lang="en-US" altLang="zh-TW" sz="1100" b="0" i="0" u="none" strike="noStrike" dirty="0">
                          <a:solidFill>
                            <a:srgbClr val="000000"/>
                          </a:solidFill>
                          <a:effectLst/>
                          <a:latin typeface="微軟正黑體" panose="020B0604030504040204" pitchFamily="34" charset="-120"/>
                          <a:ea typeface="微軟正黑體" panose="020B0604030504040204" pitchFamily="34" charset="-120"/>
                        </a:rPr>
                        <a:t>2025/12/23</a:t>
                      </a:r>
                    </a:p>
                  </a:txBody>
                  <a:tcPr marL="9525" marR="9525" marT="9525" marB="0" anchor="ctr"/>
                </a:tc>
                <a:tc>
                  <a:txBody>
                    <a:bodyPr/>
                    <a:lstStyle/>
                    <a:p>
                      <a:pPr marL="0" algn="ctr" defTabSz="914400" rtl="0" eaLnBrk="1" fontAlgn="ctr" latinLnBrk="0" hangingPunct="1"/>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2025/11/13</a:t>
                      </a:r>
                    </a:p>
                  </a:txBody>
                  <a:tcPr marL="9525" marR="9525" marT="9525" marB="0" anchor="ctr"/>
                </a:tc>
                <a:extLst>
                  <a:ext uri="{0D108BD9-81ED-4DB2-BD59-A6C34878D82A}">
                    <a16:rowId xmlns:a16="http://schemas.microsoft.com/office/drawing/2014/main" val="10003"/>
                  </a:ext>
                </a:extLst>
              </a:tr>
              <a:tr h="4348156">
                <a:tc gridSpan="4">
                  <a:txBody>
                    <a:bodyPr/>
                    <a:lstStyle/>
                    <a:p>
                      <a:pPr marL="0" marR="0" lvl="0" indent="0" algn="just" defTabSz="914400" rtl="0" eaLnBrk="1" fontAlgn="auto" latinLnBrk="0" hangingPunct="1">
                        <a:lnSpc>
                          <a:spcPts val="1600"/>
                        </a:lnSpc>
                        <a:spcBef>
                          <a:spcPts val="300"/>
                        </a:spcBef>
                        <a:spcAft>
                          <a:spcPts val="0"/>
                        </a:spcAft>
                        <a:buClrTx/>
                        <a:buSzTx/>
                        <a:buFont typeface="Wingdings" panose="05000000000000000000" pitchFamily="2" charset="2"/>
                        <a:buNone/>
                        <a:tabLst/>
                        <a:defRPr/>
                      </a:pPr>
                      <a:r>
                        <a:rPr kumimoji="0" lang="zh-TW" altLang="en-US" sz="1100" b="1" i="0" u="none" strike="noStrike" kern="1200" cap="none" spc="0" normalizeH="0" baseline="0" noProof="0" dirty="0">
                          <a:ln>
                            <a:noFill/>
                          </a:ln>
                          <a:solidFill>
                            <a:srgbClr val="000000"/>
                          </a:solidFill>
                          <a:effectLst/>
                          <a:uLnTx/>
                          <a:uFillTx/>
                          <a:latin typeface="微軟正黑體"/>
                          <a:ea typeface="微軟正黑體"/>
                          <a:cs typeface="+mn-cs"/>
                        </a:rPr>
                        <a:t>標普觀點</a:t>
                      </a:r>
                      <a:endParaRPr kumimoji="0" lang="en-US" altLang="zh-TW" sz="1100" b="1" i="0" u="none" strike="noStrike" kern="1200" cap="none" spc="0" normalizeH="0" baseline="0" noProof="0" dirty="0">
                        <a:ln>
                          <a:noFill/>
                        </a:ln>
                        <a:solidFill>
                          <a:srgbClr val="000000"/>
                        </a:solidFill>
                        <a:effectLst/>
                        <a:uLnTx/>
                        <a:uFillTx/>
                        <a:latin typeface="微軟正黑體"/>
                        <a:ea typeface="微軟正黑體"/>
                        <a:cs typeface="+mn-cs"/>
                      </a:endParaRPr>
                    </a:p>
                    <a:p>
                      <a:pPr marL="171450" marR="0" lvl="0" indent="-171450" algn="just" defTabSz="914400" rtl="0" eaLnBrk="1" fontAlgn="auto" latinLnBrk="0" hangingPunct="1">
                        <a:lnSpc>
                          <a:spcPts val="1600"/>
                        </a:lnSpc>
                        <a:spcBef>
                          <a:spcPts val="300"/>
                        </a:spcBef>
                        <a:spcAft>
                          <a:spcPts val="0"/>
                        </a:spcAft>
                        <a:buClrTx/>
                        <a:buSzTx/>
                        <a:buFont typeface="Wingdings" panose="05000000000000000000" pitchFamily="2" charset="2"/>
                        <a:buChar char="n"/>
                        <a:tabLst/>
                        <a:defRPr/>
                      </a:pPr>
                      <a:r>
                        <a:rPr kumimoji="0" lang="zh-TW" altLang="en-US" sz="1100" b="0" i="0" u="none" strike="noStrike" kern="1200" cap="none" spc="0" normalizeH="0" baseline="0" noProof="0" dirty="0">
                          <a:ln>
                            <a:noFill/>
                          </a:ln>
                          <a:solidFill>
                            <a:srgbClr val="000000"/>
                          </a:solidFill>
                          <a:effectLst/>
                          <a:uLnTx/>
                          <a:uFillTx/>
                          <a:latin typeface="微軟正黑體"/>
                          <a:ea typeface="微軟正黑體"/>
                          <a:cs typeface="+mn-cs"/>
                        </a:rPr>
                        <a:t>標普於報告中指出，</a:t>
                      </a:r>
                      <a:r>
                        <a:rPr lang="zh-TW" altLang="en-US" sz="1100" dirty="0">
                          <a:latin typeface="微軟正黑體" panose="020B0604030504040204" pitchFamily="34" charset="-120"/>
                          <a:ea typeface="微軟正黑體" panose="020B0604030504040204" pitchFamily="34" charset="-120"/>
                        </a:rPr>
                        <a:t>駿懋</a:t>
                      </a:r>
                      <a:r>
                        <a:rPr kumimoji="0" lang="zh-TW" altLang="en-US" sz="1100" b="0" i="0" u="none" strike="noStrike" kern="1200" cap="none" spc="0" normalizeH="0" baseline="0" noProof="0" dirty="0">
                          <a:ln>
                            <a:noFill/>
                          </a:ln>
                          <a:solidFill>
                            <a:srgbClr val="000000"/>
                          </a:solidFill>
                          <a:effectLst/>
                          <a:uLnTx/>
                          <a:uFillTx/>
                          <a:latin typeface="微軟正黑體"/>
                          <a:ea typeface="微軟正黑體"/>
                          <a:cs typeface="+mn-cs"/>
                        </a:rPr>
                        <a:t>大型的客戶貸款組合以住宅抵押貸款為主，但也包括信用卡等風險較高的部分。隨著英國資產質量正常化，資產可能出現逾期和違約的情況。即便如此，穩健的承保、抵押貸款組合中較低的貸款價值比（</a:t>
                      </a:r>
                      <a:r>
                        <a:rPr kumimoji="0" lang="en-US" altLang="zh-TW" sz="1100" b="0" i="0" u="none" strike="noStrike" kern="1200" cap="none" spc="0" normalizeH="0" baseline="0" noProof="0" dirty="0">
                          <a:ln>
                            <a:noFill/>
                          </a:ln>
                          <a:solidFill>
                            <a:srgbClr val="000000"/>
                          </a:solidFill>
                          <a:effectLst/>
                          <a:uLnTx/>
                          <a:uFillTx/>
                          <a:latin typeface="微軟正黑體"/>
                          <a:ea typeface="微軟正黑體"/>
                          <a:cs typeface="+mn-cs"/>
                        </a:rPr>
                        <a:t>LTV</a:t>
                      </a:r>
                      <a:r>
                        <a:rPr kumimoji="0" lang="zh-TW" altLang="en-US" sz="1100" b="0" i="0" u="none" strike="noStrike" kern="1200" cap="none" spc="0" normalizeH="0" baseline="0" noProof="0" dirty="0">
                          <a:ln>
                            <a:noFill/>
                          </a:ln>
                          <a:solidFill>
                            <a:srgbClr val="000000"/>
                          </a:solidFill>
                          <a:effectLst/>
                          <a:uLnTx/>
                          <a:uFillTx/>
                          <a:latin typeface="微軟正黑體"/>
                          <a:ea typeface="微軟正黑體"/>
                          <a:cs typeface="+mn-cs"/>
                        </a:rPr>
                        <a:t>）以及強韌的消費者資產負債表應該能支撐 </a:t>
                      </a:r>
                      <a:r>
                        <a:rPr kumimoji="0" lang="en-US" altLang="zh-TW" sz="1100" b="0" i="0" u="none" strike="noStrike" kern="1200" cap="none" spc="0" normalizeH="0" baseline="0" noProof="0" dirty="0">
                          <a:ln>
                            <a:noFill/>
                          </a:ln>
                          <a:solidFill>
                            <a:srgbClr val="000000"/>
                          </a:solidFill>
                          <a:effectLst/>
                          <a:uLnTx/>
                          <a:uFillTx/>
                          <a:latin typeface="微軟正黑體"/>
                          <a:ea typeface="微軟正黑體"/>
                          <a:cs typeface="+mn-cs"/>
                        </a:rPr>
                        <a:t>LB </a:t>
                      </a:r>
                      <a:r>
                        <a:rPr kumimoji="0" lang="zh-TW" altLang="en-US" sz="1100" b="0" i="0" u="none" strike="noStrike" kern="1200" cap="none" spc="0" normalizeH="0" baseline="0" noProof="0" dirty="0">
                          <a:ln>
                            <a:noFill/>
                          </a:ln>
                          <a:solidFill>
                            <a:srgbClr val="000000"/>
                          </a:solidFill>
                          <a:effectLst/>
                          <a:uLnTx/>
                          <a:uFillTx/>
                          <a:latin typeface="微軟正黑體"/>
                          <a:ea typeface="微軟正黑體"/>
                          <a:cs typeface="+mn-cs"/>
                        </a:rPr>
                        <a:t>的整體資產質量。</a:t>
                      </a:r>
                      <a:endParaRPr kumimoji="0" lang="en-US" altLang="zh-TW" sz="1100" b="0" i="0" u="none" strike="noStrike" kern="1200" cap="none" spc="0" normalizeH="0" baseline="0" noProof="0" dirty="0">
                        <a:ln>
                          <a:noFill/>
                        </a:ln>
                        <a:solidFill>
                          <a:srgbClr val="000000"/>
                        </a:solidFill>
                        <a:effectLst/>
                        <a:uLnTx/>
                        <a:uFillTx/>
                        <a:latin typeface="微軟正黑體"/>
                        <a:ea typeface="微軟正黑體"/>
                        <a:cs typeface="+mn-cs"/>
                      </a:endParaRPr>
                    </a:p>
                    <a:p>
                      <a:pPr marL="0" marR="0" lvl="0" indent="0" algn="just" defTabSz="914400" rtl="0" eaLnBrk="1" fontAlgn="auto" latinLnBrk="0" hangingPunct="1">
                        <a:lnSpc>
                          <a:spcPts val="1600"/>
                        </a:lnSpc>
                        <a:spcBef>
                          <a:spcPts val="600"/>
                        </a:spcBef>
                        <a:spcAft>
                          <a:spcPts val="0"/>
                        </a:spcAft>
                        <a:buClrTx/>
                        <a:buSzTx/>
                        <a:buFont typeface="Wingdings" panose="05000000000000000000" pitchFamily="2" charset="2"/>
                        <a:buNone/>
                        <a:tabLst/>
                        <a:defRPr/>
                      </a:pPr>
                      <a:r>
                        <a:rPr kumimoji="0" lang="zh-TW" altLang="en-US" sz="1100" b="1" i="0" u="none" strike="noStrike" kern="1200" cap="none" spc="0" normalizeH="0" baseline="0" noProof="0" dirty="0">
                          <a:ln>
                            <a:noFill/>
                          </a:ln>
                          <a:solidFill>
                            <a:srgbClr val="000000"/>
                          </a:solidFill>
                          <a:effectLst/>
                          <a:uLnTx/>
                          <a:uFillTx/>
                          <a:latin typeface="微軟正黑體"/>
                          <a:ea typeface="微軟正黑體"/>
                          <a:cs typeface="+mn-cs"/>
                        </a:rPr>
                        <a:t>穆迪觀點</a:t>
                      </a:r>
                      <a:endParaRPr kumimoji="0" lang="en-US" altLang="zh-TW" sz="1100" b="1" i="0" u="none" strike="noStrike" kern="1200" cap="none" spc="0" normalizeH="0" baseline="0" noProof="0" dirty="0">
                        <a:ln>
                          <a:noFill/>
                        </a:ln>
                        <a:solidFill>
                          <a:srgbClr val="000000"/>
                        </a:solidFill>
                        <a:effectLst/>
                        <a:uLnTx/>
                        <a:uFillTx/>
                        <a:latin typeface="微軟正黑體"/>
                        <a:ea typeface="微軟正黑體"/>
                        <a:cs typeface="+mn-cs"/>
                      </a:endParaRPr>
                    </a:p>
                    <a:p>
                      <a:pPr marL="171450" marR="0" lvl="0" indent="-171450" algn="just" defTabSz="914400" rtl="0" eaLnBrk="1" fontAlgn="auto" latinLnBrk="0" hangingPunct="1">
                        <a:lnSpc>
                          <a:spcPts val="1600"/>
                        </a:lnSpc>
                        <a:spcBef>
                          <a:spcPts val="300"/>
                        </a:spcBef>
                        <a:spcAft>
                          <a:spcPts val="0"/>
                        </a:spcAft>
                        <a:buClrTx/>
                        <a:buSzTx/>
                        <a:buFont typeface="Wingdings" panose="05000000000000000000" pitchFamily="2" charset="2"/>
                        <a:buChar char="n"/>
                        <a:tabLst/>
                        <a:defRPr/>
                      </a:pPr>
                      <a:r>
                        <a:rPr kumimoji="0" lang="zh-TW" altLang="en-US" sz="1100" b="0" i="0" u="none" strike="noStrike" kern="1200" cap="none" spc="0" normalizeH="0" baseline="0" noProof="0" dirty="0">
                          <a:ln>
                            <a:noFill/>
                          </a:ln>
                          <a:solidFill>
                            <a:srgbClr val="000000"/>
                          </a:solidFill>
                          <a:effectLst/>
                          <a:uLnTx/>
                          <a:uFillTx/>
                          <a:latin typeface="微軟正黑體"/>
                          <a:ea typeface="微軟正黑體"/>
                          <a:cs typeface="+mn-cs"/>
                        </a:rPr>
                        <a:t>穆迪的評等基於低違約損失率以及來自英國政府的支援可能性在高級解困損失</a:t>
                      </a:r>
                      <a:r>
                        <a:rPr kumimoji="0" lang="en-US" altLang="zh-TW" sz="1100" b="0" i="0" u="none" strike="noStrike" kern="1200" cap="none" spc="0" normalizeH="0" baseline="0" noProof="0" dirty="0">
                          <a:ln>
                            <a:noFill/>
                          </a:ln>
                          <a:solidFill>
                            <a:srgbClr val="000000"/>
                          </a:solidFill>
                          <a:effectLst/>
                          <a:uLnTx/>
                          <a:uFillTx/>
                          <a:latin typeface="微軟正黑體"/>
                          <a:ea typeface="微軟正黑體"/>
                          <a:cs typeface="+mn-cs"/>
                        </a:rPr>
                        <a:t>(Advanced</a:t>
                      </a:r>
                      <a:r>
                        <a:rPr kumimoji="0" lang="zh-TW" altLang="en-US" sz="1100" b="0" i="0" u="none" strike="noStrike" kern="1200" cap="none" spc="0" normalizeH="0" baseline="0" noProof="0" dirty="0">
                          <a:ln>
                            <a:noFill/>
                          </a:ln>
                          <a:solidFill>
                            <a:srgbClr val="000000"/>
                          </a:solidFill>
                          <a:effectLst/>
                          <a:uLnTx/>
                          <a:uFillTx/>
                          <a:latin typeface="微軟正黑體"/>
                          <a:ea typeface="微軟正黑體"/>
                          <a:cs typeface="+mn-cs"/>
                        </a:rPr>
                        <a:t> </a:t>
                      </a:r>
                      <a:r>
                        <a:rPr kumimoji="0" lang="en-US" altLang="zh-TW" sz="1100" b="0" i="0" u="none" strike="noStrike" kern="1200" cap="none" spc="0" normalizeH="0" baseline="0" noProof="0" dirty="0">
                          <a:ln>
                            <a:noFill/>
                          </a:ln>
                          <a:solidFill>
                            <a:srgbClr val="000000"/>
                          </a:solidFill>
                          <a:effectLst/>
                          <a:uLnTx/>
                          <a:uFillTx/>
                          <a:latin typeface="微軟正黑體"/>
                          <a:ea typeface="微軟正黑體"/>
                          <a:cs typeface="+mn-cs"/>
                        </a:rPr>
                        <a:t>LGF)</a:t>
                      </a:r>
                      <a:r>
                        <a:rPr kumimoji="0" lang="zh-TW" altLang="en-US" sz="1100" b="0" i="0" u="none" strike="noStrike" kern="1200" cap="none" spc="0" normalizeH="0" baseline="0" noProof="0" dirty="0">
                          <a:ln>
                            <a:noFill/>
                          </a:ln>
                          <a:solidFill>
                            <a:srgbClr val="000000"/>
                          </a:solidFill>
                          <a:effectLst/>
                          <a:uLnTx/>
                          <a:uFillTx/>
                          <a:latin typeface="微軟正黑體"/>
                          <a:ea typeface="微軟正黑體"/>
                          <a:cs typeface="+mn-cs"/>
                        </a:rPr>
                        <a:t>分析中分別調高一個等級。</a:t>
                      </a:r>
                    </a:p>
                    <a:p>
                      <a:pPr marL="171450" marR="0" lvl="0" indent="-171450" algn="just" defTabSz="914400" rtl="0" eaLnBrk="1" fontAlgn="auto" latinLnBrk="0" hangingPunct="1">
                        <a:lnSpc>
                          <a:spcPts val="1600"/>
                        </a:lnSpc>
                        <a:spcBef>
                          <a:spcPts val="300"/>
                        </a:spcBef>
                        <a:spcAft>
                          <a:spcPts val="0"/>
                        </a:spcAft>
                        <a:buClrTx/>
                        <a:buSzTx/>
                        <a:buFont typeface="Wingdings" panose="05000000000000000000" pitchFamily="2" charset="2"/>
                        <a:buChar char="n"/>
                        <a:tabLst/>
                        <a:defRPr/>
                      </a:pPr>
                      <a:r>
                        <a:rPr kumimoji="0" lang="zh-TW" altLang="en-US" sz="1100" b="0" i="0" u="none" strike="noStrike" kern="1200" cap="none" spc="0" normalizeH="0" baseline="0" noProof="0" dirty="0">
                          <a:ln>
                            <a:noFill/>
                          </a:ln>
                          <a:solidFill>
                            <a:srgbClr val="000000"/>
                          </a:solidFill>
                          <a:effectLst/>
                          <a:uLnTx/>
                          <a:uFillTx/>
                          <a:latin typeface="微軟正黑體"/>
                          <a:ea typeface="微軟正黑體"/>
                          <a:cs typeface="+mn-cs"/>
                        </a:rPr>
                        <a:t>穆迪表示，駿懋銀行</a:t>
                      </a:r>
                      <a:r>
                        <a:rPr kumimoji="0" lang="en-US" altLang="zh-TW" sz="1100" b="0" i="0" u="none" strike="noStrike" kern="1200" cap="none" spc="0" normalizeH="0" baseline="0" noProof="0" dirty="0">
                          <a:ln>
                            <a:noFill/>
                          </a:ln>
                          <a:solidFill>
                            <a:srgbClr val="000000"/>
                          </a:solidFill>
                          <a:effectLst/>
                          <a:uLnTx/>
                          <a:uFillTx/>
                          <a:latin typeface="微軟正黑體"/>
                          <a:ea typeface="微軟正黑體"/>
                          <a:cs typeface="+mn-cs"/>
                        </a:rPr>
                        <a:t>a3</a:t>
                      </a:r>
                      <a:r>
                        <a:rPr kumimoji="0" lang="zh-TW" altLang="en-US" sz="1100" b="0" i="0" u="none" strike="noStrike" kern="1200" cap="none" spc="0" normalizeH="0" baseline="0" noProof="0" dirty="0">
                          <a:ln>
                            <a:noFill/>
                          </a:ln>
                          <a:solidFill>
                            <a:srgbClr val="000000"/>
                          </a:solidFill>
                          <a:effectLst/>
                          <a:uLnTx/>
                          <a:uFillTx/>
                          <a:latin typeface="微軟正黑體"/>
                          <a:ea typeface="微軟正黑體"/>
                          <a:cs typeface="+mn-cs"/>
                        </a:rPr>
                        <a:t>的基準信用評估</a:t>
                      </a:r>
                      <a:r>
                        <a:rPr kumimoji="0" lang="en-US" altLang="zh-TW" sz="1100" b="0" i="0" u="none" strike="noStrike" kern="1200" cap="none" spc="0" normalizeH="0" baseline="0" noProof="0" dirty="0">
                          <a:ln>
                            <a:noFill/>
                          </a:ln>
                          <a:solidFill>
                            <a:srgbClr val="000000"/>
                          </a:solidFill>
                          <a:effectLst/>
                          <a:uLnTx/>
                          <a:uFillTx/>
                          <a:latin typeface="微軟正黑體"/>
                          <a:ea typeface="微軟正黑體"/>
                          <a:cs typeface="+mn-cs"/>
                        </a:rPr>
                        <a:t>(BCA)</a:t>
                      </a:r>
                      <a:r>
                        <a:rPr kumimoji="0" lang="zh-TW" altLang="en-US" sz="1100" b="0" i="0" u="none" strike="noStrike" kern="1200" cap="none" spc="0" normalizeH="0" baseline="0" noProof="0" dirty="0">
                          <a:ln>
                            <a:noFill/>
                          </a:ln>
                          <a:solidFill>
                            <a:srgbClr val="000000"/>
                          </a:solidFill>
                          <a:effectLst/>
                          <a:uLnTx/>
                          <a:uFillTx/>
                          <a:latin typeface="微軟正黑體"/>
                          <a:ea typeface="微軟正黑體"/>
                          <a:cs typeface="+mn-cs"/>
                        </a:rPr>
                        <a:t>，反映了其強健的資產質量、穩定的零售資金來源和充裕的流動性，以及盈利前景受到戰略性收入和成本措施的支持。穆迪認為</a:t>
                      </a:r>
                      <a:r>
                        <a:rPr kumimoji="0" lang="en-US" altLang="zh-TW" sz="1100" b="0" i="0" u="none" strike="noStrike" kern="1200" cap="none" spc="0" normalizeH="0" baseline="0" noProof="0" dirty="0">
                          <a:ln>
                            <a:noFill/>
                          </a:ln>
                          <a:solidFill>
                            <a:srgbClr val="000000"/>
                          </a:solidFill>
                          <a:effectLst/>
                          <a:uLnTx/>
                          <a:uFillTx/>
                          <a:latin typeface="微軟正黑體"/>
                          <a:ea typeface="微軟正黑體"/>
                          <a:cs typeface="+mn-cs"/>
                        </a:rPr>
                        <a:t>LB</a:t>
                      </a:r>
                      <a:r>
                        <a:rPr kumimoji="0" lang="zh-TW" altLang="en-US" sz="1100" b="0" i="0" u="none" strike="noStrike" kern="1200" cap="none" spc="0" normalizeH="0" baseline="0" noProof="0" dirty="0">
                          <a:ln>
                            <a:noFill/>
                          </a:ln>
                          <a:solidFill>
                            <a:srgbClr val="000000"/>
                          </a:solidFill>
                          <a:effectLst/>
                          <a:uLnTx/>
                          <a:uFillTx/>
                          <a:latin typeface="微軟正黑體"/>
                          <a:ea typeface="微軟正黑體"/>
                          <a:cs typeface="+mn-cs"/>
                        </a:rPr>
                        <a:t>的資本充足，但也隨著</a:t>
                      </a:r>
                      <a:r>
                        <a:rPr kumimoji="0" lang="en-US" altLang="zh-TW" sz="1100" b="0" i="0" u="none" strike="noStrike" kern="1200" cap="none" spc="0" normalizeH="0" baseline="0" noProof="0" dirty="0">
                          <a:ln>
                            <a:noFill/>
                          </a:ln>
                          <a:solidFill>
                            <a:srgbClr val="000000"/>
                          </a:solidFill>
                          <a:effectLst/>
                          <a:uLnTx/>
                          <a:uFillTx/>
                          <a:latin typeface="微軟正黑體"/>
                          <a:ea typeface="微軟正黑體"/>
                          <a:cs typeface="+mn-cs"/>
                        </a:rPr>
                        <a:t>LBG</a:t>
                      </a:r>
                      <a:r>
                        <a:rPr kumimoji="0" lang="zh-TW" altLang="en-US" sz="1100" b="0" i="0" u="none" strike="noStrike" kern="1200" cap="none" spc="0" normalizeH="0" baseline="0" noProof="0" dirty="0">
                          <a:ln>
                            <a:noFill/>
                          </a:ln>
                          <a:solidFill>
                            <a:srgbClr val="000000"/>
                          </a:solidFill>
                          <a:effectLst/>
                          <a:uLnTx/>
                          <a:uFillTx/>
                          <a:latin typeface="微軟正黑體"/>
                          <a:ea typeface="微軟正黑體"/>
                          <a:cs typeface="+mn-cs"/>
                        </a:rPr>
                        <a:t>的資本分配計劃而下降。</a:t>
                      </a:r>
                      <a:endParaRPr kumimoji="0" lang="en-US" altLang="zh-TW" sz="1100" b="0" i="0" u="none" strike="noStrike" kern="1200" cap="none" spc="0" normalizeH="0" baseline="0" noProof="0" dirty="0">
                        <a:ln>
                          <a:noFill/>
                        </a:ln>
                        <a:solidFill>
                          <a:srgbClr val="000000"/>
                        </a:solidFill>
                        <a:effectLst/>
                        <a:uLnTx/>
                        <a:uFillTx/>
                        <a:latin typeface="微軟正黑體"/>
                        <a:ea typeface="微軟正黑體"/>
                        <a:cs typeface="+mn-cs"/>
                      </a:endParaRPr>
                    </a:p>
                    <a:p>
                      <a:pPr marL="0" marR="0" lvl="0" indent="0" algn="just" defTabSz="914400" rtl="0" eaLnBrk="1" fontAlgn="auto" latinLnBrk="0" hangingPunct="1">
                        <a:lnSpc>
                          <a:spcPts val="1600"/>
                        </a:lnSpc>
                        <a:spcBef>
                          <a:spcPts val="300"/>
                        </a:spcBef>
                        <a:spcAft>
                          <a:spcPts val="0"/>
                        </a:spcAft>
                        <a:buClrTx/>
                        <a:buSzTx/>
                        <a:buFont typeface="Wingdings" panose="05000000000000000000" pitchFamily="2" charset="2"/>
                        <a:buNone/>
                        <a:tabLst/>
                        <a:defRPr/>
                      </a:pPr>
                      <a:r>
                        <a:rPr kumimoji="0" lang="zh-TW" altLang="en-US" sz="1100" b="1" i="0" u="none" strike="noStrike" kern="1200" cap="none" spc="0" normalizeH="0" baseline="0" noProof="0" dirty="0">
                          <a:ln>
                            <a:noFill/>
                          </a:ln>
                          <a:solidFill>
                            <a:srgbClr val="000000"/>
                          </a:solidFill>
                          <a:effectLst/>
                          <a:uLnTx/>
                          <a:uFillTx/>
                          <a:latin typeface="微軟正黑體"/>
                          <a:ea typeface="微軟正黑體"/>
                          <a:cs typeface="+mn-cs"/>
                        </a:rPr>
                        <a:t>惠譽觀點</a:t>
                      </a:r>
                      <a:endParaRPr kumimoji="0" lang="en-US" altLang="zh-TW" sz="1100" b="1" i="0" u="none" strike="noStrike" kern="1200" cap="none" spc="0" normalizeH="0" baseline="0" noProof="0" dirty="0">
                        <a:ln>
                          <a:noFill/>
                        </a:ln>
                        <a:solidFill>
                          <a:srgbClr val="000000"/>
                        </a:solidFill>
                        <a:effectLst/>
                        <a:uLnTx/>
                        <a:uFillTx/>
                        <a:latin typeface="微軟正黑體"/>
                        <a:ea typeface="微軟正黑體"/>
                        <a:cs typeface="+mn-cs"/>
                      </a:endParaRPr>
                    </a:p>
                    <a:p>
                      <a:pPr marL="171450" marR="0" lvl="0" indent="-171450" algn="just" defTabSz="914400" rtl="0" eaLnBrk="1" fontAlgn="auto" latinLnBrk="0" hangingPunct="1">
                        <a:lnSpc>
                          <a:spcPts val="1600"/>
                        </a:lnSpc>
                        <a:spcBef>
                          <a:spcPts val="300"/>
                        </a:spcBef>
                        <a:spcAft>
                          <a:spcPts val="0"/>
                        </a:spcAft>
                        <a:buClrTx/>
                        <a:buSzTx/>
                        <a:buFont typeface="Wingdings" panose="05000000000000000000" pitchFamily="2" charset="2"/>
                        <a:buChar char="n"/>
                        <a:tabLst/>
                        <a:defRPr/>
                      </a:pPr>
                      <a:r>
                        <a:rPr kumimoji="0" lang="zh-TW" altLang="en-US" sz="1100" b="0" i="0" u="none" strike="noStrike" kern="1200" cap="none" spc="0" normalizeH="0" baseline="0" noProof="0" dirty="0">
                          <a:ln>
                            <a:noFill/>
                          </a:ln>
                          <a:solidFill>
                            <a:srgbClr val="000000"/>
                          </a:solidFill>
                          <a:effectLst/>
                          <a:uLnTx/>
                          <a:uFillTx/>
                          <a:latin typeface="微軟正黑體"/>
                          <a:ea typeface="微軟正黑體"/>
                          <a:cs typeface="+mn-cs"/>
                        </a:rPr>
                        <a:t>評等反映</a:t>
                      </a:r>
                      <a:r>
                        <a:rPr lang="zh-TW" altLang="en-US" sz="1100" dirty="0">
                          <a:latin typeface="微軟正黑體" panose="020B0604030504040204" pitchFamily="34" charset="-120"/>
                          <a:ea typeface="微軟正黑體" panose="020B0604030504040204" pitchFamily="34" charset="-120"/>
                        </a:rPr>
                        <a:t>勞埃德銀行集團</a:t>
                      </a:r>
                      <a:r>
                        <a:rPr kumimoji="0" lang="zh-TW" altLang="en-US" sz="1100" b="0" i="0" u="none" strike="noStrike" kern="1200" cap="none" spc="0" normalizeH="0" baseline="0" noProof="0" dirty="0">
                          <a:ln>
                            <a:noFill/>
                          </a:ln>
                          <a:solidFill>
                            <a:srgbClr val="000000"/>
                          </a:solidFill>
                          <a:effectLst/>
                          <a:uLnTx/>
                          <a:uFillTx/>
                          <a:latin typeface="微軟正黑體"/>
                          <a:ea typeface="微軟正黑體"/>
                          <a:cs typeface="+mn-cs"/>
                        </a:rPr>
                        <a:t>強健的資產質量，不良貸款比率保持低於</a:t>
                      </a:r>
                      <a:r>
                        <a:rPr kumimoji="0" lang="en-US" altLang="zh-TW" sz="1100" b="0" i="0" u="none" strike="noStrike" kern="1200" cap="none" spc="0" normalizeH="0" baseline="0" noProof="0" dirty="0">
                          <a:ln>
                            <a:noFill/>
                          </a:ln>
                          <a:solidFill>
                            <a:srgbClr val="000000"/>
                          </a:solidFill>
                          <a:effectLst/>
                          <a:uLnTx/>
                          <a:uFillTx/>
                          <a:latin typeface="微軟正黑體"/>
                          <a:ea typeface="微軟正黑體"/>
                          <a:cs typeface="+mn-cs"/>
                        </a:rPr>
                        <a:t>2%</a:t>
                      </a:r>
                      <a:r>
                        <a:rPr kumimoji="0" lang="zh-TW" altLang="en-US" sz="1100" b="0" i="0" u="none" strike="noStrike" kern="1200" cap="none" spc="0" normalizeH="0" baseline="0" noProof="0" dirty="0">
                          <a:ln>
                            <a:noFill/>
                          </a:ln>
                          <a:solidFill>
                            <a:srgbClr val="000000"/>
                          </a:solidFill>
                          <a:effectLst/>
                          <a:uLnTx/>
                          <a:uFillTx/>
                          <a:latin typeface="微軟正黑體"/>
                          <a:ea typeface="微軟正黑體"/>
                          <a:cs typeface="+mn-cs"/>
                        </a:rPr>
                        <a:t>，並受到利率下降的支持。</a:t>
                      </a:r>
                      <a:endParaRPr kumimoji="0" lang="en-US" altLang="zh-TW" sz="1100" b="0" i="0" u="none" strike="noStrike" kern="1200" cap="none" spc="0" normalizeH="0" baseline="0" noProof="0" dirty="0">
                        <a:ln>
                          <a:noFill/>
                        </a:ln>
                        <a:solidFill>
                          <a:srgbClr val="000000"/>
                        </a:solidFill>
                        <a:effectLst/>
                        <a:uLnTx/>
                        <a:uFillTx/>
                        <a:latin typeface="微軟正黑體"/>
                        <a:ea typeface="微軟正黑體"/>
                        <a:cs typeface="+mn-cs"/>
                      </a:endParaRPr>
                    </a:p>
                    <a:p>
                      <a:pPr marL="171450" marR="0" lvl="0" indent="-171450" algn="just" defTabSz="914400" rtl="0" eaLnBrk="1" fontAlgn="auto" latinLnBrk="0" hangingPunct="1">
                        <a:lnSpc>
                          <a:spcPts val="1600"/>
                        </a:lnSpc>
                        <a:spcBef>
                          <a:spcPts val="300"/>
                        </a:spcBef>
                        <a:spcAft>
                          <a:spcPts val="0"/>
                        </a:spcAft>
                        <a:buClrTx/>
                        <a:buSzTx/>
                        <a:buFont typeface="Wingdings" panose="05000000000000000000" pitchFamily="2" charset="2"/>
                        <a:buChar char="n"/>
                        <a:tabLst/>
                        <a:defRPr/>
                      </a:pPr>
                      <a:r>
                        <a:rPr kumimoji="0" lang="zh-TW" altLang="en-US" sz="1100" b="0" i="0" u="none" strike="noStrike" kern="1200" cap="none" spc="0" normalizeH="0" baseline="0" noProof="0" dirty="0">
                          <a:ln>
                            <a:noFill/>
                          </a:ln>
                          <a:solidFill>
                            <a:srgbClr val="000000"/>
                          </a:solidFill>
                          <a:effectLst/>
                          <a:uLnTx/>
                          <a:uFillTx/>
                          <a:latin typeface="微軟正黑體"/>
                          <a:ea typeface="微軟正黑體"/>
                          <a:cs typeface="+mn-cs"/>
                        </a:rPr>
                        <a:t>惠譽表示盈利能力穩定強勁，並且與英國及歐洲的同業相比表現良好。收入多元化及對非利息收入業務的策略性投資，也應有助於支持盈利能力。</a:t>
                      </a:r>
                    </a:p>
                  </a:txBody>
                  <a:tcPr/>
                </a:tc>
                <a:tc hMerge="1">
                  <a:txBody>
                    <a:bodyPr/>
                    <a:lstStyle/>
                    <a:p>
                      <a:pPr algn="ctr"/>
                      <a:endParaRPr lang="zh-TW" altLang="en-US" sz="1400" dirty="0">
                        <a:latin typeface="微軟正黑體" panose="020B0604030504040204" pitchFamily="34" charset="-120"/>
                        <a:ea typeface="微軟正黑體" panose="020B0604030504040204" pitchFamily="34" charset="-120"/>
                      </a:endParaRPr>
                    </a:p>
                  </a:txBody>
                  <a:tcPr anchor="ctr"/>
                </a:tc>
                <a:tc hMerge="1">
                  <a:txBody>
                    <a:bodyPr/>
                    <a:lstStyle/>
                    <a:p>
                      <a:pPr algn="ctr"/>
                      <a:endParaRPr lang="zh-TW" altLang="en-US" sz="1400" dirty="0">
                        <a:latin typeface="微軟正黑體" panose="020B0604030504040204" pitchFamily="34" charset="-120"/>
                        <a:ea typeface="微軟正黑體" panose="020B0604030504040204" pitchFamily="34" charset="-120"/>
                      </a:endParaRPr>
                    </a:p>
                  </a:txBody>
                  <a:tcPr anchor="ctr"/>
                </a:tc>
                <a:tc hMerge="1">
                  <a:txBody>
                    <a:bodyPr/>
                    <a:lstStyle/>
                    <a:p>
                      <a:pPr marL="285750" indent="-285750" algn="l">
                        <a:buFont typeface="Wingdings" panose="05000000000000000000" pitchFamily="2" charset="2"/>
                        <a:buChar char="n"/>
                      </a:pPr>
                      <a:endParaRPr lang="zh-TW" altLang="en-US" sz="1400" dirty="0">
                        <a:latin typeface="微軟正黑體" panose="020B0604030504040204" pitchFamily="34" charset="-120"/>
                        <a:ea typeface="微軟正黑體" panose="020B0604030504040204" pitchFamily="34" charset="-120"/>
                      </a:endParaRPr>
                    </a:p>
                  </a:txBody>
                  <a:tcPr anchor="ctr"/>
                </a:tc>
                <a:extLst>
                  <a:ext uri="{0D108BD9-81ED-4DB2-BD59-A6C34878D82A}">
                    <a16:rowId xmlns:a16="http://schemas.microsoft.com/office/drawing/2014/main" val="10004"/>
                  </a:ext>
                </a:extLst>
              </a:tr>
            </a:tbl>
          </a:graphicData>
        </a:graphic>
      </p:graphicFrame>
      <p:sp>
        <p:nvSpPr>
          <p:cNvPr id="41" name="文字方塊 40">
            <a:extLst>
              <a:ext uri="{FF2B5EF4-FFF2-40B4-BE49-F238E27FC236}">
                <a16:creationId xmlns:a16="http://schemas.microsoft.com/office/drawing/2014/main" id="{8C9F8EB3-9F16-450F-B357-A824662354E8}"/>
              </a:ext>
            </a:extLst>
          </p:cNvPr>
          <p:cNvSpPr txBox="1"/>
          <p:nvPr/>
        </p:nvSpPr>
        <p:spPr>
          <a:xfrm>
            <a:off x="5139438" y="3284984"/>
            <a:ext cx="3773269" cy="246221"/>
          </a:xfrm>
          <a:prstGeom prst="rect">
            <a:avLst/>
          </a:prstGeom>
          <a:noFill/>
        </p:spPr>
        <p:txBody>
          <a:bodyPr wrap="square" rtlCol="0">
            <a:spAutoFit/>
          </a:bodyPr>
          <a:lstStyle/>
          <a:p>
            <a:r>
              <a:rPr lang="zh-TW" altLang="en-US" sz="1000" dirty="0">
                <a:latin typeface="微軟正黑體" panose="020B0604030504040204" pitchFamily="34" charset="-120"/>
                <a:ea typeface="微軟正黑體" panose="020B0604030504040204" pitchFamily="34" charset="-120"/>
              </a:rPr>
              <a:t>註：駿懋</a:t>
            </a:r>
            <a:r>
              <a:rPr lang="en-US" altLang="zh-TW" sz="1000" dirty="0">
                <a:latin typeface="微軟正黑體" panose="020B0604030504040204" pitchFamily="34" charset="-120"/>
                <a:ea typeface="微軟正黑體" panose="020B0604030504040204" pitchFamily="34" charset="-120"/>
              </a:rPr>
              <a:t>CET1 ratio</a:t>
            </a:r>
            <a:r>
              <a:rPr lang="zh-TW" altLang="en-US" sz="1000" dirty="0">
                <a:latin typeface="微軟正黑體" panose="020B0604030504040204" pitchFamily="34" charset="-120"/>
                <a:ea typeface="微軟正黑體" panose="020B0604030504040204" pitchFamily="34" charset="-120"/>
              </a:rPr>
              <a:t>的最低監管要求為</a:t>
            </a:r>
            <a:r>
              <a:rPr lang="en-US" altLang="zh-TW" sz="1000" dirty="0">
                <a:latin typeface="微軟正黑體" panose="020B0604030504040204" pitchFamily="34" charset="-120"/>
                <a:ea typeface="微軟正黑體" panose="020B0604030504040204" pitchFamily="34" charset="-120"/>
              </a:rPr>
              <a:t>10.6%</a:t>
            </a:r>
            <a:endParaRPr lang="zh-TW" altLang="en-US" sz="1000" dirty="0">
              <a:latin typeface="微軟正黑體" panose="020B0604030504040204" pitchFamily="34" charset="-120"/>
              <a:ea typeface="微軟正黑體" panose="020B0604030504040204" pitchFamily="34" charset="-120"/>
            </a:endParaRPr>
          </a:p>
        </p:txBody>
      </p:sp>
      <p:graphicFrame>
        <p:nvGraphicFramePr>
          <p:cNvPr id="16" name="圖表 15">
            <a:extLst>
              <a:ext uri="{FF2B5EF4-FFF2-40B4-BE49-F238E27FC236}">
                <a16:creationId xmlns:a16="http://schemas.microsoft.com/office/drawing/2014/main" id="{44F469CA-A76D-4BEB-9337-633DDBC1632E}"/>
              </a:ext>
            </a:extLst>
          </p:cNvPr>
          <p:cNvGraphicFramePr/>
          <p:nvPr>
            <p:extLst>
              <p:ext uri="{D42A27DB-BD31-4B8C-83A1-F6EECF244321}">
                <p14:modId xmlns:p14="http://schemas.microsoft.com/office/powerpoint/2010/main" val="1503038906"/>
              </p:ext>
            </p:extLst>
          </p:nvPr>
        </p:nvGraphicFramePr>
        <p:xfrm>
          <a:off x="4998941" y="4094929"/>
          <a:ext cx="3842537" cy="2142868"/>
        </p:xfrm>
        <a:graphic>
          <a:graphicData uri="http://schemas.openxmlformats.org/drawingml/2006/chart">
            <c:chart xmlns:c="http://schemas.openxmlformats.org/drawingml/2006/chart" xmlns:r="http://schemas.openxmlformats.org/officeDocument/2006/relationships" r:id="rId4"/>
          </a:graphicData>
        </a:graphic>
      </p:graphicFrame>
      <p:sp>
        <p:nvSpPr>
          <p:cNvPr id="18" name="圓角矩形 42">
            <a:extLst>
              <a:ext uri="{FF2B5EF4-FFF2-40B4-BE49-F238E27FC236}">
                <a16:creationId xmlns:a16="http://schemas.microsoft.com/office/drawing/2014/main" id="{E9007CCC-DCF2-4178-A0BC-B90D76E8E6B8}"/>
              </a:ext>
            </a:extLst>
          </p:cNvPr>
          <p:cNvSpPr/>
          <p:nvPr/>
        </p:nvSpPr>
        <p:spPr>
          <a:xfrm>
            <a:off x="4998941" y="796450"/>
            <a:ext cx="3790519" cy="344262"/>
          </a:xfrm>
          <a:prstGeom prst="roundRect">
            <a:avLst/>
          </a:prstGeom>
          <a:solidFill>
            <a:srgbClr val="006F52"/>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TW" altLang="en-US" sz="1400" b="1" i="0" u="none" strike="noStrike" kern="0" cap="none" spc="0" normalizeH="0" baseline="0" noProof="0" dirty="0">
                <a:ln>
                  <a:noFill/>
                </a:ln>
                <a:solidFill>
                  <a:srgbClr val="FFFFFF"/>
                </a:solidFill>
                <a:effectLst/>
                <a:uLnTx/>
                <a:uFillTx/>
                <a:latin typeface="微軟正黑體" panose="020B0604030504040204" pitchFamily="34" charset="-120"/>
                <a:ea typeface="微軟正黑體" panose="020B0604030504040204" pitchFamily="34" charset="-120"/>
                <a:cs typeface="+mn-cs"/>
              </a:rPr>
              <a:t>資本水位持穩</a:t>
            </a:r>
            <a:endParaRPr kumimoji="0" lang="en-US" altLang="zh-TW" sz="1400" b="1" i="0" u="none" strike="noStrike" kern="0" cap="none" spc="0" normalizeH="0" baseline="0" noProof="0" dirty="0">
              <a:ln>
                <a:noFill/>
              </a:ln>
              <a:solidFill>
                <a:srgbClr val="FFFFFF"/>
              </a:solidFill>
              <a:effectLst/>
              <a:uLnTx/>
              <a:uFillTx/>
              <a:latin typeface="微軟正黑體" panose="020B0604030504040204" pitchFamily="34" charset="-120"/>
              <a:ea typeface="微軟正黑體" panose="020B0604030504040204" pitchFamily="34" charset="-120"/>
              <a:cs typeface="+mn-cs"/>
            </a:endParaRPr>
          </a:p>
        </p:txBody>
      </p:sp>
      <p:sp>
        <p:nvSpPr>
          <p:cNvPr id="19" name="圓角矩形 42">
            <a:extLst>
              <a:ext uri="{FF2B5EF4-FFF2-40B4-BE49-F238E27FC236}">
                <a16:creationId xmlns:a16="http://schemas.microsoft.com/office/drawing/2014/main" id="{E9007CCC-DCF2-4178-A0BC-B90D76E8E6B8}"/>
              </a:ext>
            </a:extLst>
          </p:cNvPr>
          <p:cNvSpPr/>
          <p:nvPr/>
        </p:nvSpPr>
        <p:spPr>
          <a:xfrm>
            <a:off x="4998942" y="3532754"/>
            <a:ext cx="3790518" cy="472310"/>
          </a:xfrm>
          <a:prstGeom prst="roundRect">
            <a:avLst/>
          </a:prstGeom>
          <a:solidFill>
            <a:srgbClr val="006F52"/>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TW" altLang="en-US" sz="1400" b="1" i="0" u="none" strike="noStrike" kern="0" cap="none" spc="0" normalizeH="0" baseline="0" noProof="0" dirty="0">
                <a:ln>
                  <a:noFill/>
                </a:ln>
                <a:solidFill>
                  <a:srgbClr val="FFFFFF"/>
                </a:solidFill>
                <a:effectLst/>
                <a:uLnTx/>
                <a:uFillTx/>
                <a:latin typeface="微軟正黑體" panose="020B0604030504040204" pitchFamily="34" charset="-120"/>
                <a:ea typeface="微軟正黑體" panose="020B0604030504040204" pitchFamily="34" charset="-120"/>
                <a:cs typeface="+mn-cs"/>
              </a:rPr>
              <a:t>淨債務槓桿為負值</a:t>
            </a:r>
            <a:endParaRPr kumimoji="0" lang="en-US" altLang="zh-TW" sz="1400" b="1" i="0" u="none" strike="noStrike" kern="0" cap="none" spc="0" normalizeH="0" baseline="0" noProof="0" dirty="0">
              <a:ln>
                <a:noFill/>
              </a:ln>
              <a:solidFill>
                <a:srgbClr val="FFFFFF"/>
              </a:solidFill>
              <a:effectLst/>
              <a:uLnTx/>
              <a:uFillTx/>
              <a:latin typeface="微軟正黑體" panose="020B0604030504040204" pitchFamily="34" charset="-120"/>
              <a:ea typeface="微軟正黑體" panose="020B0604030504040204" pitchFamily="34" charset="-120"/>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zh-TW" altLang="en-US" sz="1400" b="1" i="0" u="none" strike="noStrike" kern="0" cap="none" spc="0" normalizeH="0" baseline="0" noProof="0" dirty="0">
                <a:ln>
                  <a:noFill/>
                </a:ln>
                <a:solidFill>
                  <a:srgbClr val="FFFFFF"/>
                </a:solidFill>
                <a:effectLst/>
                <a:uLnTx/>
                <a:uFillTx/>
                <a:latin typeface="微軟正黑體" panose="020B0604030504040204" pitchFamily="34" charset="-120"/>
                <a:ea typeface="微軟正黑體" panose="020B0604030504040204" pitchFamily="34" charset="-120"/>
                <a:cs typeface="+mn-cs"/>
              </a:rPr>
              <a:t>意味流動資金大於債務，展現良好的流動性</a:t>
            </a:r>
            <a:endParaRPr kumimoji="0" lang="en-US" altLang="zh-TW" sz="1400" b="1" i="0" u="none" strike="noStrike" kern="0" cap="none" spc="0" normalizeH="0" baseline="0" noProof="0" dirty="0">
              <a:ln>
                <a:noFill/>
              </a:ln>
              <a:solidFill>
                <a:srgbClr val="FFFFFF"/>
              </a:solidFill>
              <a:effectLst/>
              <a:uLnTx/>
              <a:uFillTx/>
              <a:latin typeface="微軟正黑體" panose="020B0604030504040204" pitchFamily="34" charset="-120"/>
              <a:ea typeface="微軟正黑體" panose="020B0604030504040204" pitchFamily="34" charset="-120"/>
              <a:cs typeface="+mn-cs"/>
            </a:endParaRPr>
          </a:p>
        </p:txBody>
      </p:sp>
      <p:pic>
        <p:nvPicPr>
          <p:cNvPr id="13" name="圖片 12">
            <a:extLst>
              <a:ext uri="{FF2B5EF4-FFF2-40B4-BE49-F238E27FC236}">
                <a16:creationId xmlns:a16="http://schemas.microsoft.com/office/drawing/2014/main" id="{FE87FDF2-A015-4EBE-9BA8-767B61FF169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740352" y="12728"/>
            <a:ext cx="1008112" cy="679968"/>
          </a:xfrm>
          <a:prstGeom prst="rect">
            <a:avLst/>
          </a:prstGeom>
        </p:spPr>
      </p:pic>
    </p:spTree>
    <p:extLst>
      <p:ext uri="{BB962C8B-B14F-4D97-AF65-F5344CB8AC3E}">
        <p14:creationId xmlns:p14="http://schemas.microsoft.com/office/powerpoint/2010/main" val="137956299"/>
      </p:ext>
    </p:extLst>
  </p:cSld>
  <p:clrMapOvr>
    <a:masterClrMapping/>
  </p:clrMapOvr>
</p:sld>
</file>

<file path=ppt/theme/theme1.xml><?xml version="1.0" encoding="utf-8"?>
<a:theme xmlns:a="http://schemas.openxmlformats.org/drawingml/2006/main" name="1_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宣紙">
      <a:majorFont>
        <a:latin typeface="Constantia"/>
        <a:ea typeface=""/>
        <a:cs typeface=""/>
        <a:font script="Jpan" typeface="HG明朝E"/>
        <a:font script="Hang" typeface="궁서"/>
        <a:font script="Hans" typeface="华文新魏"/>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onstantia"/>
        <a:ea typeface=""/>
        <a:cs typeface=""/>
        <a:font script="Jpan" typeface="HG明朝E"/>
        <a:font script="Hang" typeface="궁서"/>
        <a:font script="Hans" typeface="华文新魏"/>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複委託4">
    <a:dk1>
      <a:srgbClr val="000000"/>
    </a:dk1>
    <a:lt1>
      <a:srgbClr val="FFFFFF"/>
    </a:lt1>
    <a:dk2>
      <a:srgbClr val="7F7F7F"/>
    </a:dk2>
    <a:lt2>
      <a:srgbClr val="C00000"/>
    </a:lt2>
    <a:accent1>
      <a:srgbClr val="C95E0D"/>
    </a:accent1>
    <a:accent2>
      <a:srgbClr val="704C61"/>
    </a:accent2>
    <a:accent3>
      <a:srgbClr val="C0CBD1"/>
    </a:accent3>
    <a:accent4>
      <a:srgbClr val="8994A6"/>
    </a:accent4>
    <a:accent5>
      <a:srgbClr val="C39E64"/>
    </a:accent5>
    <a:accent6>
      <a:srgbClr val="B8B1A7"/>
    </a:accent6>
    <a:hlink>
      <a:srgbClr val="0070C0"/>
    </a:hlink>
    <a:folHlink>
      <a:srgbClr val="000000"/>
    </a:folHlink>
  </a:clrScheme>
  <a:fontScheme name="台新投顧">
    <a:majorFont>
      <a:latin typeface="微軟正黑體"/>
      <a:ea typeface="微軟正黑體"/>
      <a:cs typeface=""/>
    </a:majorFont>
    <a:minorFont>
      <a:latin typeface="微軟正黑體"/>
      <a:ea typeface="微軟正黑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複委託4">
    <a:dk1>
      <a:srgbClr val="000000"/>
    </a:dk1>
    <a:lt1>
      <a:srgbClr val="FFFFFF"/>
    </a:lt1>
    <a:dk2>
      <a:srgbClr val="7F7F7F"/>
    </a:dk2>
    <a:lt2>
      <a:srgbClr val="C00000"/>
    </a:lt2>
    <a:accent1>
      <a:srgbClr val="C95E0D"/>
    </a:accent1>
    <a:accent2>
      <a:srgbClr val="704C61"/>
    </a:accent2>
    <a:accent3>
      <a:srgbClr val="C0CBD1"/>
    </a:accent3>
    <a:accent4>
      <a:srgbClr val="8994A6"/>
    </a:accent4>
    <a:accent5>
      <a:srgbClr val="C39E64"/>
    </a:accent5>
    <a:accent6>
      <a:srgbClr val="B8B1A7"/>
    </a:accent6>
    <a:hlink>
      <a:srgbClr val="0070C0"/>
    </a:hlink>
    <a:folHlink>
      <a:srgbClr val="000000"/>
    </a:folHlink>
  </a:clrScheme>
  <a:fontScheme name="台新投顧">
    <a:majorFont>
      <a:latin typeface="微軟正黑體"/>
      <a:ea typeface="微軟正黑體"/>
      <a:cs typeface=""/>
    </a:majorFont>
    <a:minorFont>
      <a:latin typeface="微軟正黑體"/>
      <a:ea typeface="微軟正黑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emplate/>
  <TotalTime>5697</TotalTime>
  <Words>3612</Words>
  <Application>Microsoft Office PowerPoint</Application>
  <PresentationFormat>如螢幕大小 (4:3)</PresentationFormat>
  <Paragraphs>304</Paragraphs>
  <Slides>5</Slides>
  <Notes>4</Notes>
  <HiddenSlides>0</HiddenSlides>
  <MMClips>0</MMClips>
  <ScaleCrop>false</ScaleCrop>
  <HeadingPairs>
    <vt:vector size="6" baseType="variant">
      <vt:variant>
        <vt:lpstr>使用字型</vt:lpstr>
      </vt:variant>
      <vt:variant>
        <vt:i4>12</vt:i4>
      </vt:variant>
      <vt:variant>
        <vt:lpstr>佈景主題</vt:lpstr>
      </vt:variant>
      <vt:variant>
        <vt:i4>1</vt:i4>
      </vt:variant>
      <vt:variant>
        <vt:lpstr>投影片標題</vt:lpstr>
      </vt:variant>
      <vt:variant>
        <vt:i4>5</vt:i4>
      </vt:variant>
    </vt:vector>
  </HeadingPairs>
  <TitlesOfParts>
    <vt:vector size="18" baseType="lpstr">
      <vt:lpstr>GilroyForBOE</vt:lpstr>
      <vt:lpstr>GT America</vt:lpstr>
      <vt:lpstr>GT Ultra Lloyds Light</vt:lpstr>
      <vt:lpstr>GT Ultra Median Regular</vt:lpstr>
      <vt:lpstr>GT Ultra Standard Regular</vt:lpstr>
      <vt:lpstr>inherit</vt:lpstr>
      <vt:lpstr>微軟正黑體</vt:lpstr>
      <vt:lpstr>標楷體</vt:lpstr>
      <vt:lpstr>Arial</vt:lpstr>
      <vt:lpstr>Calibri</vt:lpstr>
      <vt:lpstr>Constantia</vt:lpstr>
      <vt:lpstr>Wingdings</vt:lpstr>
      <vt:lpstr>1_Office 佈景主題</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台新B2B Team</dc:creator>
  <cp:lastModifiedBy>張軒愷</cp:lastModifiedBy>
  <cp:revision>11259</cp:revision>
  <cp:lastPrinted>2021-03-31T07:17:07Z</cp:lastPrinted>
  <dcterms:created xsi:type="dcterms:W3CDTF">2013-05-02T15:04:30Z</dcterms:created>
  <dcterms:modified xsi:type="dcterms:W3CDTF">2026-04-28T02:07:04Z</dcterms:modified>
</cp:coreProperties>
</file>