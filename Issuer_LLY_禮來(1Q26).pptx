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3.xml" ContentType="application/vnd.openxmlformats-officedocument.presentationml.notesSlide+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charts/chart7.xml" ContentType="application/vnd.openxmlformats-officedocument.drawingml.chart+xml"/>
  <Override PartName="/ppt/charts/chart8.xml" ContentType="application/vnd.openxmlformats-officedocument.drawingml.chart+xml"/>
  <Override PartName="/ppt/notesSlides/notesSlide4.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8"/>
  </p:notesMasterIdLst>
  <p:handoutMasterIdLst>
    <p:handoutMasterId r:id="rId9"/>
  </p:handoutMasterIdLst>
  <p:sldIdLst>
    <p:sldId id="1358" r:id="rId2"/>
    <p:sldId id="1359" r:id="rId3"/>
    <p:sldId id="1363" r:id="rId4"/>
    <p:sldId id="1364" r:id="rId5"/>
    <p:sldId id="1365" r:id="rId6"/>
    <p:sldId id="1338" r:id="rId7"/>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A71824B8-F3CE-4E38-AD2B-803D36CA02E5}">
          <p14:sldIdLst>
            <p14:sldId id="1358"/>
            <p14:sldId id="1359"/>
            <p14:sldId id="1363"/>
            <p14:sldId id="1364"/>
            <p14:sldId id="1365"/>
            <p14:sldId id="1338"/>
          </p14:sldIdLst>
        </p14:section>
      </p14:sectionLst>
    </p:ext>
    <p:ext uri="{EFAFB233-063F-42B5-8137-9DF3F51BA10A}">
      <p15:sldGuideLst xmlns:p15="http://schemas.microsoft.com/office/powerpoint/2012/main">
        <p15:guide id="1" orient="horz" pos="2160" userDrawn="1">
          <p15:clr>
            <a:srgbClr val="A4A3A4"/>
          </p15:clr>
        </p15:guide>
        <p15:guide id="2" orient="horz" pos="482" userDrawn="1">
          <p15:clr>
            <a:srgbClr val="A4A3A4"/>
          </p15:clr>
        </p15:guide>
        <p15:guide id="3" orient="horz" pos="590" userDrawn="1">
          <p15:clr>
            <a:srgbClr val="A4A3A4"/>
          </p15:clr>
        </p15:guide>
        <p15:guide id="4" pos="2880" userDrawn="1">
          <p15:clr>
            <a:srgbClr val="A4A3A4"/>
          </p15:clr>
        </p15:guide>
        <p15:guide id="5" pos="295" userDrawn="1">
          <p15:clr>
            <a:srgbClr val="A4A3A4"/>
          </p15:clr>
        </p15:guide>
        <p15:guide id="6" pos="5468" userDrawn="1">
          <p15:clr>
            <a:srgbClr val="A4A3A4"/>
          </p15:clr>
        </p15:guide>
        <p15:guide id="7" orient="horz" pos="1071" userDrawn="1">
          <p15:clr>
            <a:srgbClr val="A4A3A4"/>
          </p15:clr>
        </p15:guide>
        <p15:guide id="8" pos="5465"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guide id="3" orient="horz" pos="3130" userDrawn="1">
          <p15:clr>
            <a:srgbClr val="A4A3A4"/>
          </p15:clr>
        </p15:guide>
        <p15:guide id="4"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建宇 陳" initials="建宇"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BFBFBF"/>
    <a:srgbClr val="D9D9D9"/>
    <a:srgbClr val="A6A6A6"/>
    <a:srgbClr val="C80000"/>
    <a:srgbClr val="F9F9F9"/>
    <a:srgbClr val="FFF7F7"/>
    <a:srgbClr val="FFEFEF"/>
    <a:srgbClr val="383838"/>
    <a:srgbClr val="5858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淺色樣式 2 - 輔色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淺色樣式 2 - 輔色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0" autoAdjust="0"/>
    <p:restoredTop sz="61520" autoAdjust="0"/>
  </p:normalViewPr>
  <p:slideViewPr>
    <p:cSldViewPr showGuides="1">
      <p:cViewPr varScale="1">
        <p:scale>
          <a:sx n="106" d="100"/>
          <a:sy n="106" d="100"/>
        </p:scale>
        <p:origin x="126" y="246"/>
      </p:cViewPr>
      <p:guideLst>
        <p:guide orient="horz" pos="2160"/>
        <p:guide orient="horz" pos="482"/>
        <p:guide orient="horz" pos="590"/>
        <p:guide pos="2880"/>
        <p:guide pos="295"/>
        <p:guide pos="5468"/>
        <p:guide orient="horz" pos="1071"/>
        <p:guide pos="546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p:cViewPr varScale="1">
        <p:scale>
          <a:sx n="80" d="100"/>
          <a:sy n="80" d="100"/>
        </p:scale>
        <p:origin x="-3996" y="-96"/>
      </p:cViewPr>
      <p:guideLst>
        <p:guide orient="horz" pos="3126"/>
        <p:guide pos="2141"/>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4.528289864455614E-2"/>
          <c:y val="3.068370296725904E-2"/>
          <c:w val="0.58767466710805683"/>
          <c:h val="0.96931629703274091"/>
        </c:manualLayout>
      </c:layout>
      <c:doughnutChart>
        <c:varyColors val="1"/>
        <c:ser>
          <c:idx val="0"/>
          <c:order val="0"/>
          <c:dPt>
            <c:idx val="0"/>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01-BA3C-45B5-B414-35A99D9E65D5}"/>
              </c:ext>
            </c:extLst>
          </c:dPt>
          <c:dPt>
            <c:idx val="1"/>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3-BA3C-45B5-B414-35A99D9E65D5}"/>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5-BA3C-45B5-B414-35A99D9E65D5}"/>
              </c:ext>
            </c:extLst>
          </c:dPt>
          <c:dPt>
            <c:idx val="3"/>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7-BA3C-45B5-B414-35A99D9E65D5}"/>
              </c:ext>
            </c:extLst>
          </c:dPt>
          <c:dPt>
            <c:idx val="4"/>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9-BA3C-45B5-B414-35A99D9E65D5}"/>
              </c:ext>
            </c:extLst>
          </c:dPt>
          <c:dLbls>
            <c:dLbl>
              <c:idx val="3"/>
              <c:layout>
                <c:manualLayout>
                  <c:x val="-4.6507097276002841E-3"/>
                  <c:y val="-5.3696480192703316E-2"/>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400" b="1" i="0" u="none" strike="noStrike" kern="1200" baseline="0">
                      <a:solidFill>
                        <a:schemeClr val="bg1"/>
                      </a:solidFill>
                      <a:latin typeface="微軟正黑體" panose="020B0604030504040204" pitchFamily="34" charset="-120"/>
                      <a:ea typeface="微軟正黑體" panose="020B0604030504040204" pitchFamily="34" charset="-120"/>
                      <a:cs typeface="+mn-cs"/>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BA3C-45B5-B414-35A99D9E65D5}"/>
                </c:ext>
              </c:extLst>
            </c:dLbl>
            <c:dLbl>
              <c:idx val="4"/>
              <c:delete val="1"/>
              <c:extLst>
                <c:ext xmlns:c15="http://schemas.microsoft.com/office/drawing/2012/chart" uri="{CE6537A1-D6FC-4f65-9D91-7224C49458BB}"/>
                <c:ext xmlns:c16="http://schemas.microsoft.com/office/drawing/2014/chart" uri="{C3380CC4-5D6E-409C-BE32-E72D297353CC}">
                  <c16:uniqueId val="{00000009-BA3C-45B5-B414-35A99D9E65D5}"/>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微軟正黑體" panose="020B0604030504040204" pitchFamily="34" charset="-120"/>
                    <a:ea typeface="微軟正黑體" panose="020B0604030504040204" pitchFamily="34" charset="-120"/>
                    <a:cs typeface="+mn-cs"/>
                  </a:defRPr>
                </a:pPr>
                <a:endParaRPr lang="zh-TW"/>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工作表4!$D$4:$D$8</c:f>
              <c:strCache>
                <c:ptCount val="5"/>
                <c:pt idx="0">
                  <c:v>心血管代謝</c:v>
                </c:pt>
                <c:pt idx="1">
                  <c:v>腫瘤學</c:v>
                </c:pt>
                <c:pt idx="2">
                  <c:v>免疫學</c:v>
                </c:pt>
                <c:pt idx="3">
                  <c:v>神經科學</c:v>
                </c:pt>
                <c:pt idx="4">
                  <c:v>其他</c:v>
                </c:pt>
              </c:strCache>
            </c:strRef>
          </c:cat>
          <c:val>
            <c:numRef>
              <c:f>工作表4!$E$4:$E$8</c:f>
              <c:numCache>
                <c:formatCode>General</c:formatCode>
                <c:ptCount val="5"/>
                <c:pt idx="0">
                  <c:v>48221</c:v>
                </c:pt>
                <c:pt idx="1">
                  <c:v>9376</c:v>
                </c:pt>
                <c:pt idx="2">
                  <c:v>5247</c:v>
                </c:pt>
                <c:pt idx="3">
                  <c:v>1391</c:v>
                </c:pt>
                <c:pt idx="4">
                  <c:v>944</c:v>
                </c:pt>
              </c:numCache>
            </c:numRef>
          </c:val>
          <c:extLst>
            <c:ext xmlns:c16="http://schemas.microsoft.com/office/drawing/2014/chart" uri="{C3380CC4-5D6E-409C-BE32-E72D297353CC}">
              <c16:uniqueId val="{0000000A-BA3C-45B5-B414-35A99D9E65D5}"/>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r"/>
      <c:layout>
        <c:manualLayout>
          <c:xMode val="edge"/>
          <c:yMode val="edge"/>
          <c:x val="0.63638407684876708"/>
          <c:y val="7.6113099645929383E-2"/>
          <c:w val="0.33571166478563164"/>
          <c:h val="0.89320319738681153"/>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4.8686842258729027E-3"/>
          <c:y val="3.0299470068444062E-5"/>
          <c:w val="0.6267154270619405"/>
          <c:h val="0.98350286608252568"/>
        </c:manualLayout>
      </c:layout>
      <c:doughnutChart>
        <c:varyColors val="1"/>
        <c:ser>
          <c:idx val="0"/>
          <c:order val="0"/>
          <c:dPt>
            <c:idx val="0"/>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01-C4A3-4923-AAB9-12D2EE9B5D19}"/>
              </c:ext>
            </c:extLst>
          </c:dPt>
          <c:dPt>
            <c:idx val="1"/>
            <c:bubble3D val="0"/>
            <c:spPr>
              <a:solidFill>
                <a:schemeClr val="bg2">
                  <a:lumMod val="75000"/>
                </a:schemeClr>
              </a:solidFill>
              <a:ln w="19050">
                <a:solidFill>
                  <a:schemeClr val="lt1"/>
                </a:solidFill>
              </a:ln>
              <a:effectLst/>
            </c:spPr>
            <c:extLst>
              <c:ext xmlns:c16="http://schemas.microsoft.com/office/drawing/2014/chart" uri="{C3380CC4-5D6E-409C-BE32-E72D297353CC}">
                <c16:uniqueId val="{00000003-C4A3-4923-AAB9-12D2EE9B5D19}"/>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4-457B-43E0-9EEF-FE758A6C71B7}"/>
              </c:ext>
            </c:extLst>
          </c:dPt>
          <c:dPt>
            <c:idx val="3"/>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5-457B-43E0-9EEF-FE758A6C71B7}"/>
              </c:ext>
            </c:extLst>
          </c:dPt>
          <c:dPt>
            <c:idx val="4"/>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6-457B-43E0-9EEF-FE758A6C71B7}"/>
              </c:ext>
            </c:extLst>
          </c:dPt>
          <c:dLbls>
            <c:dLbl>
              <c:idx val="2"/>
              <c:layout>
                <c:manualLayout>
                  <c:x val="-2.502115962632968E-2"/>
                  <c:y val="-3.141251182606869E-2"/>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chemeClr val="bg1"/>
                      </a:solidFill>
                      <a:latin typeface="+mn-lt"/>
                      <a:ea typeface="+mn-ea"/>
                      <a:cs typeface="+mn-cs"/>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4-457B-43E0-9EEF-FE758A6C71B7}"/>
                </c:ext>
              </c:extLst>
            </c:dLbl>
            <c:dLbl>
              <c:idx val="3"/>
              <c:layout>
                <c:manualLayout>
                  <c:x val="-1.5012695775797801E-2"/>
                  <c:y val="-3.1412511826068676E-2"/>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chemeClr val="bg1"/>
                      </a:solidFill>
                      <a:latin typeface="+mn-lt"/>
                      <a:ea typeface="+mn-ea"/>
                      <a:cs typeface="+mn-cs"/>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57B-43E0-9EEF-FE758A6C71B7}"/>
                </c:ext>
              </c:extLst>
            </c:dLbl>
            <c:dLbl>
              <c:idx val="4"/>
              <c:tx>
                <c:rich>
                  <a:bodyPr/>
                  <a:lstStyle/>
                  <a:p>
                    <a:fld id="{23DCE2FC-995B-46AF-9B37-6854B77CC7B8}" type="PERCENTAGE">
                      <a:rPr lang="en-US" altLang="zh-TW">
                        <a:solidFill>
                          <a:schemeClr val="tx1"/>
                        </a:solidFill>
                      </a:rPr>
                      <a:pPr/>
                      <a:t>[百分比]</a:t>
                    </a:fld>
                    <a:endParaRPr lang="zh-TW" alt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457B-43E0-9EEF-FE758A6C71B7}"/>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zh-TW"/>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工作表1!$C$13:$C$17</c:f>
              <c:strCache>
                <c:ptCount val="5"/>
                <c:pt idx="0">
                  <c:v>美國</c:v>
                </c:pt>
                <c:pt idx="1">
                  <c:v>歐洲</c:v>
                </c:pt>
                <c:pt idx="2">
                  <c:v>日本</c:v>
                </c:pt>
                <c:pt idx="3">
                  <c:v>中國</c:v>
                </c:pt>
                <c:pt idx="4">
                  <c:v>其他</c:v>
                </c:pt>
              </c:strCache>
            </c:strRef>
          </c:cat>
          <c:val>
            <c:numRef>
              <c:f>工作表1!$D$13:$D$17</c:f>
              <c:numCache>
                <c:formatCode>_-* #,##0_-;\-* #,##0_-;_-* "-"??_-;_-@_-</c:formatCode>
                <c:ptCount val="5"/>
                <c:pt idx="0">
                  <c:v>43481</c:v>
                </c:pt>
                <c:pt idx="1">
                  <c:v>11558</c:v>
                </c:pt>
                <c:pt idx="2">
                  <c:v>2132</c:v>
                </c:pt>
                <c:pt idx="3">
                  <c:v>1951</c:v>
                </c:pt>
                <c:pt idx="4">
                  <c:v>6057</c:v>
                </c:pt>
              </c:numCache>
            </c:numRef>
          </c:val>
          <c:extLst>
            <c:ext xmlns:c16="http://schemas.microsoft.com/office/drawing/2014/chart" uri="{C3380CC4-5D6E-409C-BE32-E72D297353CC}">
              <c16:uniqueId val="{00000004-C4A3-4923-AAB9-12D2EE9B5D19}"/>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184646150427731E-2"/>
          <c:y val="0.13251074702677565"/>
          <c:w val="0.8362285142920628"/>
          <c:h val="0.70350603956565994"/>
        </c:manualLayout>
      </c:layout>
      <c:barChart>
        <c:barDir val="col"/>
        <c:grouping val="clustered"/>
        <c:varyColors val="0"/>
        <c:ser>
          <c:idx val="0"/>
          <c:order val="0"/>
          <c:tx>
            <c:strRef>
              <c:f>工作表1!$B$1</c:f>
              <c:strCache>
                <c:ptCount val="1"/>
                <c:pt idx="0">
                  <c:v>數列 1</c:v>
                </c:pt>
              </c:strCache>
            </c:strRef>
          </c:tx>
          <c:spPr>
            <a:solidFill>
              <a:schemeClr val="accent1"/>
            </a:solidFill>
            <a:ln>
              <a:noFill/>
            </a:ln>
            <a:effectLst/>
          </c:spPr>
          <c:invertIfNegative val="0"/>
          <c:dPt>
            <c:idx val="0"/>
            <c:invertIfNegative val="0"/>
            <c:bubble3D val="0"/>
            <c:spPr>
              <a:solidFill>
                <a:schemeClr val="bg1">
                  <a:lumMod val="65000"/>
                </a:schemeClr>
              </a:solidFill>
              <a:ln>
                <a:noFill/>
              </a:ln>
              <a:effectLst/>
            </c:spPr>
            <c:extLst>
              <c:ext xmlns:c16="http://schemas.microsoft.com/office/drawing/2014/chart" uri="{C3380CC4-5D6E-409C-BE32-E72D297353CC}">
                <c16:uniqueId val="{00000003-73C1-4148-8385-54E7C5F1D6BC}"/>
              </c:ext>
            </c:extLst>
          </c:dPt>
          <c:dPt>
            <c:idx val="1"/>
            <c:invertIfNegative val="0"/>
            <c:bubble3D val="0"/>
            <c:spPr>
              <a:solidFill>
                <a:srgbClr val="C80000"/>
              </a:solidFill>
              <a:ln>
                <a:noFill/>
              </a:ln>
              <a:effectLst/>
            </c:spPr>
            <c:extLst>
              <c:ext xmlns:c16="http://schemas.microsoft.com/office/drawing/2014/chart" uri="{C3380CC4-5D6E-409C-BE32-E72D297353CC}">
                <c16:uniqueId val="{00000004-73C1-4148-8385-54E7C5F1D6BC}"/>
              </c:ext>
            </c:extLst>
          </c:dPt>
          <c:dLbls>
            <c:dLbl>
              <c:idx val="0"/>
              <c:layout>
                <c:manualLayout>
                  <c:x val="-1.6840623296910126E-17"/>
                  <c:y val="1.9738703089495591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0.35354636521867938"/>
                      <c:h val="8.0928682666931928E-2"/>
                    </c:manualLayout>
                  </c15:layout>
                </c:ext>
                <c:ext xmlns:c16="http://schemas.microsoft.com/office/drawing/2014/chart" uri="{C3380CC4-5D6E-409C-BE32-E72D297353CC}">
                  <c16:uniqueId val="{00000003-73C1-4148-8385-54E7C5F1D6BC}"/>
                </c:ext>
              </c:extLst>
            </c:dLbl>
            <c:dLbl>
              <c:idx val="1"/>
              <c:layout>
                <c:manualLayout>
                  <c:x val="-1.1804243972892575E-3"/>
                  <c:y val="1.9738962127593847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0.42467272154945745"/>
                      <c:h val="8.7508250363430434E-2"/>
                    </c:manualLayout>
                  </c15:layout>
                </c:ext>
                <c:ext xmlns:c16="http://schemas.microsoft.com/office/drawing/2014/chart" uri="{C3380CC4-5D6E-409C-BE32-E72D297353CC}">
                  <c16:uniqueId val="{00000004-73C1-4148-8385-54E7C5F1D6B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工作表1!$A$2:$A$3</c:f>
              <c:numCache>
                <c:formatCode>General</c:formatCode>
                <c:ptCount val="2"/>
                <c:pt idx="0">
                  <c:v>2024</c:v>
                </c:pt>
                <c:pt idx="1">
                  <c:v>2030</c:v>
                </c:pt>
              </c:numCache>
            </c:numRef>
          </c:cat>
          <c:val>
            <c:numRef>
              <c:f>工作表1!$B$2:$B$3</c:f>
              <c:numCache>
                <c:formatCode>General</c:formatCode>
                <c:ptCount val="2"/>
                <c:pt idx="0">
                  <c:v>148</c:v>
                </c:pt>
                <c:pt idx="1">
                  <c:v>1050</c:v>
                </c:pt>
              </c:numCache>
            </c:numRef>
          </c:val>
          <c:extLst>
            <c:ext xmlns:c16="http://schemas.microsoft.com/office/drawing/2014/chart" uri="{C3380CC4-5D6E-409C-BE32-E72D297353CC}">
              <c16:uniqueId val="{00000000-73C1-4148-8385-54E7C5F1D6BC}"/>
            </c:ext>
          </c:extLst>
        </c:ser>
        <c:dLbls>
          <c:dLblPos val="outEnd"/>
          <c:showLegendKey val="0"/>
          <c:showVal val="1"/>
          <c:showCatName val="0"/>
          <c:showSerName val="0"/>
          <c:showPercent val="0"/>
          <c:showBubbleSize val="0"/>
        </c:dLbls>
        <c:gapWidth val="150"/>
        <c:overlap val="-100"/>
        <c:axId val="1025108496"/>
        <c:axId val="1025108824"/>
      </c:barChart>
      <c:catAx>
        <c:axId val="1025108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zh-TW"/>
          </a:p>
        </c:txPr>
        <c:crossAx val="1025108824"/>
        <c:crosses val="autoZero"/>
        <c:auto val="1"/>
        <c:lblAlgn val="ctr"/>
        <c:lblOffset val="100"/>
        <c:noMultiLvlLbl val="0"/>
      </c:catAx>
      <c:valAx>
        <c:axId val="1025108824"/>
        <c:scaling>
          <c:orientation val="minMax"/>
        </c:scaling>
        <c:delete val="1"/>
        <c:axPos val="l"/>
        <c:numFmt formatCode="General" sourceLinked="1"/>
        <c:majorTickMark val="none"/>
        <c:minorTickMark val="none"/>
        <c:tickLblPos val="nextTo"/>
        <c:crossAx val="10251084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184646150427731E-2"/>
          <c:y val="0.23028486937744855"/>
          <c:w val="0.8362285142920628"/>
          <c:h val="0.60573106250174846"/>
        </c:manualLayout>
      </c:layout>
      <c:barChart>
        <c:barDir val="col"/>
        <c:grouping val="clustered"/>
        <c:varyColors val="0"/>
        <c:ser>
          <c:idx val="0"/>
          <c:order val="0"/>
          <c:tx>
            <c:strRef>
              <c:f>工作表1!$B$1</c:f>
              <c:strCache>
                <c:ptCount val="1"/>
                <c:pt idx="0">
                  <c:v>數列 1</c:v>
                </c:pt>
              </c:strCache>
            </c:strRef>
          </c:tx>
          <c:spPr>
            <a:solidFill>
              <a:schemeClr val="accent1"/>
            </a:solidFill>
            <a:ln>
              <a:noFill/>
            </a:ln>
            <a:effectLst/>
          </c:spPr>
          <c:invertIfNegative val="0"/>
          <c:dPt>
            <c:idx val="0"/>
            <c:invertIfNegative val="0"/>
            <c:bubble3D val="0"/>
            <c:spPr>
              <a:solidFill>
                <a:srgbClr val="C80000"/>
              </a:solidFill>
              <a:ln>
                <a:noFill/>
              </a:ln>
              <a:effectLst/>
            </c:spPr>
            <c:extLst>
              <c:ext xmlns:c16="http://schemas.microsoft.com/office/drawing/2014/chart" uri="{C3380CC4-5D6E-409C-BE32-E72D297353CC}">
                <c16:uniqueId val="{00000003-73C1-4148-8385-54E7C5F1D6BC}"/>
              </c:ext>
            </c:extLst>
          </c:dPt>
          <c:dPt>
            <c:idx val="1"/>
            <c:invertIfNegative val="0"/>
            <c:bubble3D val="0"/>
            <c:spPr>
              <a:solidFill>
                <a:srgbClr val="C80000"/>
              </a:solidFill>
              <a:ln>
                <a:noFill/>
              </a:ln>
              <a:effectLst/>
            </c:spPr>
            <c:extLst>
              <c:ext xmlns:c16="http://schemas.microsoft.com/office/drawing/2014/chart" uri="{C3380CC4-5D6E-409C-BE32-E72D297353CC}">
                <c16:uniqueId val="{00000004-73C1-4148-8385-54E7C5F1D6BC}"/>
              </c:ext>
            </c:extLst>
          </c:dPt>
          <c:dLbls>
            <c:dLbl>
              <c:idx val="0"/>
              <c:layout>
                <c:manualLayout>
                  <c:x val="-1.4696862385660887E-2"/>
                  <c:y val="3.9477665217089453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0.57981404843906226"/>
                      <c:h val="0.16606828865962286"/>
                    </c:manualLayout>
                  </c15:layout>
                </c:ext>
                <c:ext xmlns:c16="http://schemas.microsoft.com/office/drawing/2014/chart" uri="{C3380CC4-5D6E-409C-BE32-E72D297353CC}">
                  <c16:uniqueId val="{00000003-73C1-4148-8385-54E7C5F1D6BC}"/>
                </c:ext>
              </c:extLst>
            </c:dLbl>
            <c:dLbl>
              <c:idx val="1"/>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extLst>
                <c:ext xmlns:c16="http://schemas.microsoft.com/office/drawing/2014/chart" uri="{C3380CC4-5D6E-409C-BE32-E72D297353CC}">
                  <c16:uniqueId val="{00000004-73C1-4148-8385-54E7C5F1D6B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工作表1!$A$3</c:f>
              <c:numCache>
                <c:formatCode>General</c:formatCode>
                <c:ptCount val="1"/>
                <c:pt idx="0">
                  <c:v>2030</c:v>
                </c:pt>
              </c:numCache>
            </c:numRef>
          </c:cat>
          <c:val>
            <c:numRef>
              <c:f>工作表1!$B$3</c:f>
              <c:numCache>
                <c:formatCode>_-* #,##0_-;\-* #,##0_-;_-* "-"??_-;_-@_-</c:formatCode>
                <c:ptCount val="1"/>
                <c:pt idx="0">
                  <c:v>950</c:v>
                </c:pt>
              </c:numCache>
            </c:numRef>
          </c:val>
          <c:extLst>
            <c:ext xmlns:c16="http://schemas.microsoft.com/office/drawing/2014/chart" uri="{C3380CC4-5D6E-409C-BE32-E72D297353CC}">
              <c16:uniqueId val="{00000000-73C1-4148-8385-54E7C5F1D6BC}"/>
            </c:ext>
          </c:extLst>
        </c:ser>
        <c:dLbls>
          <c:dLblPos val="outEnd"/>
          <c:showLegendKey val="0"/>
          <c:showVal val="1"/>
          <c:showCatName val="0"/>
          <c:showSerName val="0"/>
          <c:showPercent val="0"/>
          <c:showBubbleSize val="0"/>
        </c:dLbls>
        <c:gapWidth val="325"/>
        <c:overlap val="-100"/>
        <c:axId val="1025108496"/>
        <c:axId val="1025108824"/>
      </c:barChart>
      <c:catAx>
        <c:axId val="1025108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zh-TW"/>
          </a:p>
        </c:txPr>
        <c:crossAx val="1025108824"/>
        <c:crosses val="autoZero"/>
        <c:auto val="1"/>
        <c:lblAlgn val="ctr"/>
        <c:lblOffset val="100"/>
        <c:noMultiLvlLbl val="0"/>
      </c:catAx>
      <c:valAx>
        <c:axId val="1025108824"/>
        <c:scaling>
          <c:orientation val="minMax"/>
        </c:scaling>
        <c:delete val="1"/>
        <c:axPos val="l"/>
        <c:numFmt formatCode="_-* #,##0_-;\-* #,##0_-;_-* &quot;-&quot;??_-;_-@_-" sourceLinked="1"/>
        <c:majorTickMark val="none"/>
        <c:minorTickMark val="none"/>
        <c:tickLblPos val="nextTo"/>
        <c:crossAx val="10251084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184646150427731E-2"/>
          <c:y val="8.1614481846414386E-2"/>
          <c:w val="0.8362285142920628"/>
          <c:h val="0.75440132743246469"/>
        </c:manualLayout>
      </c:layout>
      <c:barChart>
        <c:barDir val="col"/>
        <c:grouping val="clustered"/>
        <c:varyColors val="0"/>
        <c:ser>
          <c:idx val="0"/>
          <c:order val="0"/>
          <c:tx>
            <c:strRef>
              <c:f>工作表1!$B$1</c:f>
              <c:strCache>
                <c:ptCount val="1"/>
                <c:pt idx="0">
                  <c:v>數列 1</c:v>
                </c:pt>
              </c:strCache>
            </c:strRef>
          </c:tx>
          <c:spPr>
            <a:solidFill>
              <a:schemeClr val="accent1"/>
            </a:solidFill>
            <a:ln>
              <a:noFill/>
            </a:ln>
            <a:effectLst/>
          </c:spPr>
          <c:invertIfNegative val="0"/>
          <c:dPt>
            <c:idx val="0"/>
            <c:invertIfNegative val="0"/>
            <c:bubble3D val="0"/>
            <c:spPr>
              <a:solidFill>
                <a:srgbClr val="C80000"/>
              </a:solidFill>
              <a:ln>
                <a:noFill/>
              </a:ln>
              <a:effectLst/>
            </c:spPr>
            <c:extLst>
              <c:ext xmlns:c16="http://schemas.microsoft.com/office/drawing/2014/chart" uri="{C3380CC4-5D6E-409C-BE32-E72D297353CC}">
                <c16:uniqueId val="{00000003-73C1-4148-8385-54E7C5F1D6BC}"/>
              </c:ext>
            </c:extLst>
          </c:dPt>
          <c:dPt>
            <c:idx val="1"/>
            <c:invertIfNegative val="0"/>
            <c:bubble3D val="0"/>
            <c:spPr>
              <a:solidFill>
                <a:srgbClr val="C80000"/>
              </a:solidFill>
              <a:ln>
                <a:noFill/>
              </a:ln>
              <a:effectLst/>
            </c:spPr>
            <c:extLst>
              <c:ext xmlns:c16="http://schemas.microsoft.com/office/drawing/2014/chart" uri="{C3380CC4-5D6E-409C-BE32-E72D297353CC}">
                <c16:uniqueId val="{00000004-73C1-4148-8385-54E7C5F1D6BC}"/>
              </c:ext>
            </c:extLst>
          </c:dPt>
          <c:dLbls>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layout>
                    <c:manualLayout>
                      <c:w val="0.4892778117246232"/>
                      <c:h val="0.19453459660305611"/>
                    </c:manualLayout>
                  </c15:layout>
                </c:ext>
                <c:ext xmlns:c16="http://schemas.microsoft.com/office/drawing/2014/chart" uri="{C3380CC4-5D6E-409C-BE32-E72D297353CC}">
                  <c16:uniqueId val="{00000003-73C1-4148-8385-54E7C5F1D6BC}"/>
                </c:ext>
              </c:extLst>
            </c:dLbl>
            <c:dLbl>
              <c:idx val="1"/>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extLst>
                <c:ext xmlns:c16="http://schemas.microsoft.com/office/drawing/2014/chart" uri="{C3380CC4-5D6E-409C-BE32-E72D297353CC}">
                  <c16:uniqueId val="{00000004-73C1-4148-8385-54E7C5F1D6B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工作表1!$A$3</c:f>
              <c:numCache>
                <c:formatCode>General</c:formatCode>
                <c:ptCount val="1"/>
                <c:pt idx="0">
                  <c:v>2032</c:v>
                </c:pt>
              </c:numCache>
            </c:numRef>
          </c:cat>
          <c:val>
            <c:numRef>
              <c:f>工作表1!$B$3</c:f>
              <c:numCache>
                <c:formatCode>_-* #,##0_-;\-* #,##0_-;_-* "-"??_-;_-@_-</c:formatCode>
                <c:ptCount val="1"/>
                <c:pt idx="0">
                  <c:v>1400</c:v>
                </c:pt>
              </c:numCache>
            </c:numRef>
          </c:val>
          <c:extLst>
            <c:ext xmlns:c16="http://schemas.microsoft.com/office/drawing/2014/chart" uri="{C3380CC4-5D6E-409C-BE32-E72D297353CC}">
              <c16:uniqueId val="{00000000-73C1-4148-8385-54E7C5F1D6BC}"/>
            </c:ext>
          </c:extLst>
        </c:ser>
        <c:dLbls>
          <c:dLblPos val="outEnd"/>
          <c:showLegendKey val="0"/>
          <c:showVal val="1"/>
          <c:showCatName val="0"/>
          <c:showSerName val="0"/>
          <c:showPercent val="0"/>
          <c:showBubbleSize val="0"/>
        </c:dLbls>
        <c:gapWidth val="325"/>
        <c:overlap val="-100"/>
        <c:axId val="1025108496"/>
        <c:axId val="1025108824"/>
      </c:barChart>
      <c:catAx>
        <c:axId val="1025108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zh-TW"/>
          </a:p>
        </c:txPr>
        <c:crossAx val="1025108824"/>
        <c:crosses val="autoZero"/>
        <c:auto val="1"/>
        <c:lblAlgn val="ctr"/>
        <c:lblOffset val="100"/>
        <c:noMultiLvlLbl val="0"/>
      </c:catAx>
      <c:valAx>
        <c:axId val="1025108824"/>
        <c:scaling>
          <c:orientation val="minMax"/>
        </c:scaling>
        <c:delete val="1"/>
        <c:axPos val="l"/>
        <c:numFmt formatCode="_-* #,##0_-;\-* #,##0_-;_-* &quot;-&quot;??_-;_-@_-" sourceLinked="1"/>
        <c:majorTickMark val="none"/>
        <c:minorTickMark val="none"/>
        <c:tickLblPos val="nextTo"/>
        <c:crossAx val="10251084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5086661794216857E-2"/>
          <c:y val="0.24703490845837134"/>
          <c:w val="0.92982667641156624"/>
          <c:h val="0.59982693500570627"/>
        </c:manualLayout>
      </c:layout>
      <c:barChart>
        <c:barDir val="col"/>
        <c:grouping val="clustered"/>
        <c:varyColors val="0"/>
        <c:ser>
          <c:idx val="1"/>
          <c:order val="1"/>
          <c:tx>
            <c:strRef>
              <c:f>工作表2!$C$5</c:f>
              <c:strCache>
                <c:ptCount val="1"/>
                <c:pt idx="0">
                  <c:v>普通股可分配淨利</c:v>
                </c:pt>
              </c:strCache>
            </c:strRef>
          </c:tx>
          <c:spPr>
            <a:solidFill>
              <a:srgbClr val="C00000"/>
            </a:solidFill>
            <a:ln>
              <a:noFill/>
            </a:ln>
            <a:effectLst/>
          </c:spPr>
          <c:invertIfNegative val="0"/>
          <c:dLbls>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193-47F9-90B3-A3D50C01E05F}"/>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193-47F9-90B3-A3D50C01E05F}"/>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DD-4D5C-ADCD-2385F89CCF5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工作表2!$F$3:$L$3</c:f>
              <c:strCache>
                <c:ptCount val="7"/>
                <c:pt idx="0">
                  <c:v>FY19</c:v>
                </c:pt>
                <c:pt idx="1">
                  <c:v>FY20</c:v>
                </c:pt>
                <c:pt idx="2">
                  <c:v>FY21</c:v>
                </c:pt>
                <c:pt idx="3">
                  <c:v>FY22</c:v>
                </c:pt>
                <c:pt idx="4">
                  <c:v>FY23</c:v>
                </c:pt>
                <c:pt idx="5">
                  <c:v>FY24</c:v>
                </c:pt>
                <c:pt idx="6">
                  <c:v>FY25</c:v>
                </c:pt>
              </c:strCache>
            </c:strRef>
          </c:cat>
          <c:val>
            <c:numRef>
              <c:f>工作表2!$F$5:$L$5</c:f>
              <c:numCache>
                <c:formatCode>_-* #,##0_-;\-* #,##0_-;_-* "-"??_-;_-@_-</c:formatCode>
                <c:ptCount val="7"/>
                <c:pt idx="0">
                  <c:v>8318</c:v>
                </c:pt>
                <c:pt idx="1">
                  <c:v>6194</c:v>
                </c:pt>
                <c:pt idx="2">
                  <c:v>5582</c:v>
                </c:pt>
                <c:pt idx="3">
                  <c:v>6245</c:v>
                </c:pt>
                <c:pt idx="4">
                  <c:v>5240</c:v>
                </c:pt>
                <c:pt idx="5">
                  <c:v>10590</c:v>
                </c:pt>
                <c:pt idx="6">
                  <c:v>20640</c:v>
                </c:pt>
              </c:numCache>
            </c:numRef>
          </c:val>
          <c:extLst>
            <c:ext xmlns:c16="http://schemas.microsoft.com/office/drawing/2014/chart" uri="{C3380CC4-5D6E-409C-BE32-E72D297353CC}">
              <c16:uniqueId val="{00000001-2193-47F9-90B3-A3D50C01E05F}"/>
            </c:ext>
          </c:extLst>
        </c:ser>
        <c:dLbls>
          <c:showLegendKey val="0"/>
          <c:showVal val="0"/>
          <c:showCatName val="0"/>
          <c:showSerName val="0"/>
          <c:showPercent val="0"/>
          <c:showBubbleSize val="0"/>
        </c:dLbls>
        <c:gapWidth val="86"/>
        <c:axId val="310700288"/>
        <c:axId val="273092608"/>
      </c:barChart>
      <c:lineChart>
        <c:grouping val="standard"/>
        <c:varyColors val="0"/>
        <c:ser>
          <c:idx val="0"/>
          <c:order val="0"/>
          <c:tx>
            <c:strRef>
              <c:f>工作表2!$C$4</c:f>
              <c:strCache>
                <c:ptCount val="1"/>
                <c:pt idx="0">
                  <c:v>營收</c:v>
                </c:pt>
              </c:strCache>
            </c:strRef>
          </c:tx>
          <c:spPr>
            <a:ln w="19050" cap="rnd">
              <a:solidFill>
                <a:srgbClr val="000000">
                  <a:lumMod val="65000"/>
                  <a:lumOff val="35000"/>
                </a:srgbClr>
              </a:solidFill>
              <a:round/>
            </a:ln>
            <a:effectLst/>
          </c:spPr>
          <c:marker>
            <c:symbol val="circle"/>
            <c:size val="5"/>
            <c:spPr>
              <a:solidFill>
                <a:sysClr val="window" lastClr="FFFFFF"/>
              </a:solidFill>
              <a:ln w="19050">
                <a:solidFill>
                  <a:srgbClr val="000000">
                    <a:lumMod val="65000"/>
                    <a:lumOff val="35000"/>
                  </a:srgbClr>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2-2193-47F9-90B3-A3D50C01E05F}"/>
                </c:ext>
              </c:extLst>
            </c:dLbl>
            <c:dLbl>
              <c:idx val="1"/>
              <c:delete val="1"/>
              <c:extLst>
                <c:ext xmlns:c15="http://schemas.microsoft.com/office/drawing/2012/chart" uri="{CE6537A1-D6FC-4f65-9D91-7224C49458BB}"/>
                <c:ext xmlns:c16="http://schemas.microsoft.com/office/drawing/2014/chart" uri="{C3380CC4-5D6E-409C-BE32-E72D297353CC}">
                  <c16:uniqueId val="{00000003-2193-47F9-90B3-A3D50C01E05F}"/>
                </c:ext>
              </c:extLst>
            </c:dLbl>
            <c:dLbl>
              <c:idx val="2"/>
              <c:delete val="1"/>
              <c:extLst>
                <c:ext xmlns:c15="http://schemas.microsoft.com/office/drawing/2012/chart" uri="{CE6537A1-D6FC-4f65-9D91-7224C49458BB}"/>
                <c:ext xmlns:c16="http://schemas.microsoft.com/office/drawing/2014/chart" uri="{C3380CC4-5D6E-409C-BE32-E72D297353CC}">
                  <c16:uniqueId val="{00000004-2193-47F9-90B3-A3D50C01E05F}"/>
                </c:ext>
              </c:extLst>
            </c:dLbl>
            <c:dLbl>
              <c:idx val="3"/>
              <c:delete val="1"/>
              <c:extLst>
                <c:ext xmlns:c15="http://schemas.microsoft.com/office/drawing/2012/chart" uri="{CE6537A1-D6FC-4f65-9D91-7224C49458BB}"/>
                <c:ext xmlns:c16="http://schemas.microsoft.com/office/drawing/2014/chart" uri="{C3380CC4-5D6E-409C-BE32-E72D297353CC}">
                  <c16:uniqueId val="{00000005-2193-47F9-90B3-A3D50C01E05F}"/>
                </c:ext>
              </c:extLst>
            </c:dLbl>
            <c:dLbl>
              <c:idx val="4"/>
              <c:delete val="1"/>
              <c:extLst>
                <c:ext xmlns:c15="http://schemas.microsoft.com/office/drawing/2012/chart" uri="{CE6537A1-D6FC-4f65-9D91-7224C49458BB}"/>
                <c:ext xmlns:c16="http://schemas.microsoft.com/office/drawing/2014/chart" uri="{C3380CC4-5D6E-409C-BE32-E72D297353CC}">
                  <c16:uniqueId val="{00000006-2193-47F9-90B3-A3D50C01E05F}"/>
                </c:ext>
              </c:extLst>
            </c:dLbl>
            <c:dLbl>
              <c:idx val="5"/>
              <c:layout>
                <c:manualLayout>
                  <c:x val="-8.8118753213588724E-2"/>
                  <c:y val="-5.18768504597492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541-43D8-8241-BF5DA1D4651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工作表2!$F$3:$L$3</c:f>
              <c:strCache>
                <c:ptCount val="7"/>
                <c:pt idx="0">
                  <c:v>FY19</c:v>
                </c:pt>
                <c:pt idx="1">
                  <c:v>FY20</c:v>
                </c:pt>
                <c:pt idx="2">
                  <c:v>FY21</c:v>
                </c:pt>
                <c:pt idx="3">
                  <c:v>FY22</c:v>
                </c:pt>
                <c:pt idx="4">
                  <c:v>FY23</c:v>
                </c:pt>
                <c:pt idx="5">
                  <c:v>FY24</c:v>
                </c:pt>
                <c:pt idx="6">
                  <c:v>FY25</c:v>
                </c:pt>
              </c:strCache>
            </c:strRef>
          </c:cat>
          <c:val>
            <c:numRef>
              <c:f>工作表2!$F$4:$L$4</c:f>
              <c:numCache>
                <c:formatCode>_-* #,##0_-;\-* #,##0_-;_-* "-"??_-;_-@_-</c:formatCode>
                <c:ptCount val="7"/>
                <c:pt idx="0">
                  <c:v>22320</c:v>
                </c:pt>
                <c:pt idx="1">
                  <c:v>24540</c:v>
                </c:pt>
                <c:pt idx="2">
                  <c:v>28318</c:v>
                </c:pt>
                <c:pt idx="3">
                  <c:v>28541</c:v>
                </c:pt>
                <c:pt idx="4">
                  <c:v>34124</c:v>
                </c:pt>
                <c:pt idx="5">
                  <c:v>45043</c:v>
                </c:pt>
                <c:pt idx="6">
                  <c:v>65179</c:v>
                </c:pt>
              </c:numCache>
            </c:numRef>
          </c:val>
          <c:smooth val="0"/>
          <c:extLst>
            <c:ext xmlns:c16="http://schemas.microsoft.com/office/drawing/2014/chart" uri="{C3380CC4-5D6E-409C-BE32-E72D297353CC}">
              <c16:uniqueId val="{00000008-2193-47F9-90B3-A3D50C01E05F}"/>
            </c:ext>
          </c:extLst>
        </c:ser>
        <c:dLbls>
          <c:showLegendKey val="0"/>
          <c:showVal val="0"/>
          <c:showCatName val="0"/>
          <c:showSerName val="0"/>
          <c:showPercent val="0"/>
          <c:showBubbleSize val="0"/>
        </c:dLbls>
        <c:marker val="1"/>
        <c:smooth val="0"/>
        <c:axId val="273095296"/>
        <c:axId val="273093760"/>
      </c:lineChart>
      <c:catAx>
        <c:axId val="310700288"/>
        <c:scaling>
          <c:orientation val="minMax"/>
        </c:scaling>
        <c:delete val="0"/>
        <c:axPos val="b"/>
        <c:numFmt formatCode="General" sourceLinked="1"/>
        <c:majorTickMark val="in"/>
        <c:minorTickMark val="none"/>
        <c:tickLblPos val="nextTo"/>
        <c:spPr>
          <a:noFill/>
          <a:ln w="9525" cap="flat" cmpd="sng" algn="ctr">
            <a:solidFill>
              <a:schemeClr val="tx1">
                <a:lumMod val="75000"/>
                <a:lumOff val="2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273092608"/>
        <c:crosses val="autoZero"/>
        <c:auto val="1"/>
        <c:lblAlgn val="ctr"/>
        <c:lblOffset val="100"/>
        <c:noMultiLvlLbl val="0"/>
      </c:catAx>
      <c:valAx>
        <c:axId val="273092608"/>
        <c:scaling>
          <c:orientation val="minMax"/>
          <c:max val="30000"/>
        </c:scaling>
        <c:delete val="0"/>
        <c:axPos val="l"/>
        <c:numFmt formatCode="_-* #,##0_-;\-* #,##0_-;_-* &quot;-&quot;??_-;_-@_-"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zh-TW"/>
          </a:p>
        </c:txPr>
        <c:crossAx val="310700288"/>
        <c:crosses val="autoZero"/>
        <c:crossBetween val="between"/>
      </c:valAx>
      <c:valAx>
        <c:axId val="273093760"/>
        <c:scaling>
          <c:orientation val="minMax"/>
        </c:scaling>
        <c:delete val="0"/>
        <c:axPos val="r"/>
        <c:numFmt formatCode="_-* #,##0_-;\-* #,##0_-;_-* &quot;-&quot;??_-;_-@_-"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zh-TW"/>
          </a:p>
        </c:txPr>
        <c:crossAx val="273095296"/>
        <c:crosses val="max"/>
        <c:crossBetween val="between"/>
      </c:valAx>
      <c:catAx>
        <c:axId val="273095296"/>
        <c:scaling>
          <c:orientation val="minMax"/>
        </c:scaling>
        <c:delete val="1"/>
        <c:axPos val="b"/>
        <c:numFmt formatCode="General" sourceLinked="1"/>
        <c:majorTickMark val="out"/>
        <c:minorTickMark val="none"/>
        <c:tickLblPos val="nextTo"/>
        <c:crossAx val="273093760"/>
        <c:crosses val="autoZero"/>
        <c:auto val="1"/>
        <c:lblAlgn val="ctr"/>
        <c:lblOffset val="100"/>
        <c:noMultiLvlLbl val="0"/>
      </c:catAx>
      <c:spPr>
        <a:noFill/>
        <a:ln>
          <a:noFill/>
        </a:ln>
        <a:effectLst/>
      </c:spPr>
    </c:plotArea>
    <c:legend>
      <c:legendPos val="t"/>
      <c:layout>
        <c:manualLayout>
          <c:xMode val="edge"/>
          <c:yMode val="edge"/>
          <c:x val="0.18804767968414468"/>
          <c:y val="4.1132935634424606E-2"/>
          <c:w val="0.6047664614712287"/>
          <c:h val="0.14456604025180375"/>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xPr>
        <a:bodyPr/>
        <a:lstStyle/>
        <a:p>
          <a:pPr>
            <a:defRPr>
              <a:latin typeface="微軟正黑體" panose="020B0604030504040204" pitchFamily="34" charset="-120"/>
              <a:ea typeface="微軟正黑體" panose="020B0604030504040204" pitchFamily="34" charset="-120"/>
            </a:defRPr>
          </a:pPr>
          <a:endParaRPr lang="zh-TW"/>
        </a:p>
      </c:txPr>
    </c:title>
    <c:autoTitleDeleted val="0"/>
    <c:plotArea>
      <c:layout/>
      <c:barChart>
        <c:barDir val="col"/>
        <c:grouping val="clustered"/>
        <c:varyColors val="0"/>
        <c:ser>
          <c:idx val="0"/>
          <c:order val="0"/>
          <c:tx>
            <c:strRef>
              <c:f>工作表1!$A$2</c:f>
              <c:strCache>
                <c:ptCount val="1"/>
                <c:pt idx="0">
                  <c:v>營收(百萬 USD)</c:v>
                </c:pt>
              </c:strCache>
            </c:strRef>
          </c:tx>
          <c:spPr>
            <a:solidFill>
              <a:schemeClr val="bg1">
                <a:lumMod val="85000"/>
              </a:schemeClr>
            </a:solidFill>
          </c:spPr>
          <c:invertIfNegative val="0"/>
          <c:dPt>
            <c:idx val="4"/>
            <c:invertIfNegative val="0"/>
            <c:bubble3D val="0"/>
            <c:spPr>
              <a:solidFill>
                <a:srgbClr val="C00000"/>
              </a:solidFill>
            </c:spPr>
            <c:extLst>
              <c:ext xmlns:c16="http://schemas.microsoft.com/office/drawing/2014/chart" uri="{C3380CC4-5D6E-409C-BE32-E72D297353CC}">
                <c16:uniqueId val="{00000001-48DB-44D3-B056-B8C93BC546CF}"/>
              </c:ext>
            </c:extLst>
          </c:dPt>
          <c:dPt>
            <c:idx val="5"/>
            <c:invertIfNegative val="0"/>
            <c:bubble3D val="0"/>
            <c:spPr>
              <a:solidFill>
                <a:schemeClr val="bg2">
                  <a:lumMod val="50000"/>
                </a:schemeClr>
              </a:solidFill>
            </c:spPr>
            <c:extLst>
              <c:ext xmlns:c16="http://schemas.microsoft.com/office/drawing/2014/chart" uri="{C3380CC4-5D6E-409C-BE32-E72D297353CC}">
                <c16:uniqueId val="{00000003-48DB-44D3-B056-B8C93BC546CF}"/>
              </c:ext>
            </c:extLst>
          </c:dPt>
          <c:dLbls>
            <c:spPr>
              <a:noFill/>
              <a:ln>
                <a:noFill/>
              </a:ln>
              <a:effectLst/>
            </c:spPr>
            <c:txPr>
              <a:bodyPr/>
              <a:lstStyle/>
              <a:p>
                <a:pPr>
                  <a:defRPr sz="900">
                    <a:latin typeface="微軟正黑體" panose="020B0604030504040204" pitchFamily="34" charset="-120"/>
                    <a:ea typeface="微軟正黑體" panose="020B0604030504040204"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工作表1!$M$1:$Q$1</c:f>
              <c:strCache>
                <c:ptCount val="5"/>
                <c:pt idx="0">
                  <c:v>1Q25</c:v>
                </c:pt>
                <c:pt idx="1">
                  <c:v>2Q25</c:v>
                </c:pt>
                <c:pt idx="2">
                  <c:v>3Q25</c:v>
                </c:pt>
                <c:pt idx="3">
                  <c:v>4Q25</c:v>
                </c:pt>
                <c:pt idx="4">
                  <c:v>1Q26</c:v>
                </c:pt>
              </c:strCache>
            </c:strRef>
          </c:cat>
          <c:val>
            <c:numRef>
              <c:f>工作表1!$M$2:$Q$2</c:f>
              <c:numCache>
                <c:formatCode>#,##0</c:formatCode>
                <c:ptCount val="5"/>
                <c:pt idx="0">
                  <c:v>12729</c:v>
                </c:pt>
                <c:pt idx="1">
                  <c:v>15558</c:v>
                </c:pt>
                <c:pt idx="2">
                  <c:v>17601</c:v>
                </c:pt>
                <c:pt idx="3">
                  <c:v>19292</c:v>
                </c:pt>
                <c:pt idx="4">
                  <c:v>19799</c:v>
                </c:pt>
              </c:numCache>
            </c:numRef>
          </c:val>
          <c:extLst>
            <c:ext xmlns:c16="http://schemas.microsoft.com/office/drawing/2014/chart" uri="{C3380CC4-5D6E-409C-BE32-E72D297353CC}">
              <c16:uniqueId val="{00000004-48DB-44D3-B056-B8C93BC546CF}"/>
            </c:ext>
          </c:extLst>
        </c:ser>
        <c:dLbls>
          <c:showLegendKey val="0"/>
          <c:showVal val="0"/>
          <c:showCatName val="0"/>
          <c:showSerName val="0"/>
          <c:showPercent val="0"/>
          <c:showBubbleSize val="0"/>
        </c:dLbls>
        <c:gapWidth val="67"/>
        <c:axId val="182353280"/>
        <c:axId val="182408320"/>
      </c:barChart>
      <c:catAx>
        <c:axId val="182353280"/>
        <c:scaling>
          <c:orientation val="minMax"/>
        </c:scaling>
        <c:delete val="0"/>
        <c:axPos val="b"/>
        <c:numFmt formatCode="[$-409]d\-mmm;@" sourceLinked="0"/>
        <c:majorTickMark val="out"/>
        <c:minorTickMark val="none"/>
        <c:tickLblPos val="nextTo"/>
        <c:txPr>
          <a:bodyPr/>
          <a:lstStyle/>
          <a:p>
            <a:pPr>
              <a:defRPr sz="800">
                <a:latin typeface="微軟正黑體" panose="020B0604030504040204" pitchFamily="34" charset="-120"/>
                <a:ea typeface="微軟正黑體" panose="020B0604030504040204" pitchFamily="34" charset="-120"/>
              </a:defRPr>
            </a:pPr>
            <a:endParaRPr lang="zh-TW"/>
          </a:p>
        </c:txPr>
        <c:crossAx val="182408320"/>
        <c:crosses val="autoZero"/>
        <c:auto val="1"/>
        <c:lblAlgn val="ctr"/>
        <c:lblOffset val="100"/>
        <c:noMultiLvlLbl val="0"/>
      </c:catAx>
      <c:valAx>
        <c:axId val="182408320"/>
        <c:scaling>
          <c:orientation val="minMax"/>
        </c:scaling>
        <c:delete val="1"/>
        <c:axPos val="l"/>
        <c:numFmt formatCode="#,##0" sourceLinked="1"/>
        <c:majorTickMark val="out"/>
        <c:minorTickMark val="none"/>
        <c:tickLblPos val="nextTo"/>
        <c:crossAx val="182353280"/>
        <c:crosses val="autoZero"/>
        <c:crossBetween val="between"/>
      </c:valAx>
    </c:plotArea>
    <c:plotVisOnly val="1"/>
    <c:dispBlanksAs val="gap"/>
    <c:showDLblsOverMax val="0"/>
  </c:chart>
  <c:txPr>
    <a:bodyPr/>
    <a:lstStyle/>
    <a:p>
      <a:pPr>
        <a:defRPr sz="1000"/>
      </a:pPr>
      <a:endParaRPr lang="zh-TW"/>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nSpc>
                <a:spcPts val="1500"/>
              </a:lnSpc>
              <a:defRPr sz="1200">
                <a:latin typeface="微軟正黑體" panose="020B0604030504040204" pitchFamily="34" charset="-120"/>
                <a:ea typeface="微軟正黑體" panose="020B0604030504040204" pitchFamily="34" charset="-120"/>
              </a:defRPr>
            </a:pPr>
            <a:r>
              <a:rPr lang="zh-TW" altLang="en-US" dirty="0"/>
              <a:t> 普通股可分配淨利</a:t>
            </a:r>
            <a:r>
              <a:rPr lang="en-US" altLang="zh-TW" dirty="0"/>
              <a:t>(</a:t>
            </a:r>
            <a:r>
              <a:rPr lang="zh-TW" altLang="en-US" dirty="0"/>
              <a:t>百萬 </a:t>
            </a:r>
            <a:r>
              <a:rPr lang="en-US" altLang="zh-TW" dirty="0"/>
              <a:t>USD)</a:t>
            </a:r>
          </a:p>
        </c:rich>
      </c:tx>
      <c:overlay val="0"/>
    </c:title>
    <c:autoTitleDeleted val="0"/>
    <c:plotArea>
      <c:layout>
        <c:manualLayout>
          <c:layoutTarget val="inner"/>
          <c:xMode val="edge"/>
          <c:yMode val="edge"/>
          <c:x val="3.9515608361352643E-2"/>
          <c:y val="0.34881686994985434"/>
          <c:w val="0.9209687832772947"/>
          <c:h val="0.50117590382551958"/>
        </c:manualLayout>
      </c:layout>
      <c:barChart>
        <c:barDir val="col"/>
        <c:grouping val="clustered"/>
        <c:varyColors val="0"/>
        <c:ser>
          <c:idx val="0"/>
          <c:order val="0"/>
          <c:tx>
            <c:strRef>
              <c:f>工作表1!$A$2</c:f>
              <c:strCache>
                <c:ptCount val="1"/>
                <c:pt idx="0">
                  <c:v> 普通股可分配淨利(百萬 USD)</c:v>
                </c:pt>
              </c:strCache>
            </c:strRef>
          </c:tx>
          <c:spPr>
            <a:solidFill>
              <a:schemeClr val="bg1">
                <a:lumMod val="85000"/>
              </a:schemeClr>
            </a:solidFill>
          </c:spPr>
          <c:invertIfNegative val="0"/>
          <c:dPt>
            <c:idx val="4"/>
            <c:invertIfNegative val="0"/>
            <c:bubble3D val="0"/>
            <c:spPr>
              <a:solidFill>
                <a:srgbClr val="C00000"/>
              </a:solidFill>
            </c:spPr>
            <c:extLst>
              <c:ext xmlns:c16="http://schemas.microsoft.com/office/drawing/2014/chart" uri="{C3380CC4-5D6E-409C-BE32-E72D297353CC}">
                <c16:uniqueId val="{00000001-E5E5-4FD8-AFE9-180675F60B33}"/>
              </c:ext>
            </c:extLst>
          </c:dPt>
          <c:dPt>
            <c:idx val="5"/>
            <c:invertIfNegative val="0"/>
            <c:bubble3D val="0"/>
            <c:spPr>
              <a:solidFill>
                <a:schemeClr val="bg2">
                  <a:lumMod val="50000"/>
                </a:schemeClr>
              </a:solidFill>
            </c:spPr>
            <c:extLst>
              <c:ext xmlns:c16="http://schemas.microsoft.com/office/drawing/2014/chart" uri="{C3380CC4-5D6E-409C-BE32-E72D297353CC}">
                <c16:uniqueId val="{00000003-E5E5-4FD8-AFE9-180675F60B33}"/>
              </c:ext>
            </c:extLst>
          </c:dPt>
          <c:dLbls>
            <c:dLbl>
              <c:idx val="0"/>
              <c:layout>
                <c:manualLayout>
                  <c:x val="0"/>
                  <c:y val="2.75235799681772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5E5-4FD8-AFE9-180675F60B33}"/>
                </c:ext>
              </c:extLst>
            </c:dLbl>
            <c:dLbl>
              <c:idx val="2"/>
              <c:layout>
                <c:manualLayout>
                  <c:x val="0"/>
                  <c:y val="5.910758256185448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5E5-4FD8-AFE9-180675F60B33}"/>
                </c:ext>
              </c:extLst>
            </c:dLbl>
            <c:dLbl>
              <c:idx val="3"/>
              <c:layout>
                <c:manualLayout>
                  <c:x val="6.6554589436790962E-3"/>
                  <c:y val="1.29794939325975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5E5-4FD8-AFE9-180675F60B33}"/>
                </c:ext>
              </c:extLst>
            </c:dLbl>
            <c:numFmt formatCode="#,##0_ ;[Red]\-#,##0\ " sourceLinked="0"/>
            <c:spPr>
              <a:noFill/>
              <a:ln>
                <a:noFill/>
              </a:ln>
              <a:effectLst/>
            </c:spPr>
            <c:txPr>
              <a:bodyPr/>
              <a:lstStyle/>
              <a:p>
                <a:pPr>
                  <a:defRPr sz="900">
                    <a:latin typeface="微軟正黑體" panose="020B0604030504040204" pitchFamily="34" charset="-120"/>
                    <a:ea typeface="微軟正黑體" panose="020B0604030504040204"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工作表1!$M$1:$Q$1</c:f>
              <c:strCache>
                <c:ptCount val="5"/>
                <c:pt idx="0">
                  <c:v>1Q25</c:v>
                </c:pt>
                <c:pt idx="1">
                  <c:v>2Q25</c:v>
                </c:pt>
                <c:pt idx="2">
                  <c:v>3Q25</c:v>
                </c:pt>
                <c:pt idx="3">
                  <c:v>4Q25</c:v>
                </c:pt>
                <c:pt idx="4">
                  <c:v>1Q26</c:v>
                </c:pt>
              </c:strCache>
            </c:strRef>
          </c:cat>
          <c:val>
            <c:numRef>
              <c:f>工作表1!$M$2:$Q$2</c:f>
              <c:numCache>
                <c:formatCode>0_);[Red]\(0\)</c:formatCode>
                <c:ptCount val="5"/>
                <c:pt idx="0">
                  <c:v>2759</c:v>
                </c:pt>
                <c:pt idx="1">
                  <c:v>5661</c:v>
                </c:pt>
                <c:pt idx="2">
                  <c:v>5583</c:v>
                </c:pt>
                <c:pt idx="3">
                  <c:v>6636</c:v>
                </c:pt>
                <c:pt idx="4">
                  <c:v>7396</c:v>
                </c:pt>
              </c:numCache>
            </c:numRef>
          </c:val>
          <c:extLst>
            <c:ext xmlns:c16="http://schemas.microsoft.com/office/drawing/2014/chart" uri="{C3380CC4-5D6E-409C-BE32-E72D297353CC}">
              <c16:uniqueId val="{00000007-E5E5-4FD8-AFE9-180675F60B33}"/>
            </c:ext>
          </c:extLst>
        </c:ser>
        <c:dLbls>
          <c:showLegendKey val="0"/>
          <c:showVal val="0"/>
          <c:showCatName val="0"/>
          <c:showSerName val="0"/>
          <c:showPercent val="0"/>
          <c:showBubbleSize val="0"/>
        </c:dLbls>
        <c:gapWidth val="67"/>
        <c:axId val="182537600"/>
        <c:axId val="182539392"/>
      </c:barChart>
      <c:catAx>
        <c:axId val="182537600"/>
        <c:scaling>
          <c:orientation val="minMax"/>
        </c:scaling>
        <c:delete val="0"/>
        <c:axPos val="b"/>
        <c:numFmt formatCode="General" sourceLinked="0"/>
        <c:majorTickMark val="out"/>
        <c:minorTickMark val="none"/>
        <c:tickLblPos val="low"/>
        <c:spPr>
          <a:noFill/>
        </c:spPr>
        <c:txPr>
          <a:bodyPr/>
          <a:lstStyle/>
          <a:p>
            <a:pPr>
              <a:defRPr sz="800">
                <a:latin typeface="微軟正黑體" panose="020B0604030504040204" pitchFamily="34" charset="-120"/>
                <a:ea typeface="微軟正黑體" panose="020B0604030504040204" pitchFamily="34" charset="-120"/>
              </a:defRPr>
            </a:pPr>
            <a:endParaRPr lang="zh-TW"/>
          </a:p>
        </c:txPr>
        <c:crossAx val="182539392"/>
        <c:crosses val="autoZero"/>
        <c:auto val="1"/>
        <c:lblAlgn val="ctr"/>
        <c:lblOffset val="100"/>
        <c:noMultiLvlLbl val="0"/>
      </c:catAx>
      <c:valAx>
        <c:axId val="182539392"/>
        <c:scaling>
          <c:orientation val="minMax"/>
        </c:scaling>
        <c:delete val="1"/>
        <c:axPos val="l"/>
        <c:numFmt formatCode="0_);[Red]\(0\)" sourceLinked="1"/>
        <c:majorTickMark val="out"/>
        <c:minorTickMark val="none"/>
        <c:tickLblPos val="nextTo"/>
        <c:crossAx val="182537600"/>
        <c:crosses val="autoZero"/>
        <c:crossBetween val="between"/>
      </c:valAx>
    </c:plotArea>
    <c:plotVisOnly val="1"/>
    <c:dispBlanksAs val="gap"/>
    <c:showDLblsOverMax val="0"/>
  </c:chart>
  <c:txPr>
    <a:bodyPr/>
    <a:lstStyle/>
    <a:p>
      <a:pPr>
        <a:defRPr sz="1000"/>
      </a:pPr>
      <a:endParaRPr lang="zh-TW"/>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4827306139615635E-2"/>
          <c:y val="0.24438576308448076"/>
          <c:w val="0.98517269386038431"/>
          <c:h val="0.64096885261277292"/>
        </c:manualLayout>
      </c:layout>
      <c:barChart>
        <c:barDir val="col"/>
        <c:grouping val="clustered"/>
        <c:varyColors val="0"/>
        <c:ser>
          <c:idx val="0"/>
          <c:order val="0"/>
          <c:tx>
            <c:strRef>
              <c:f>工作表1!$A$2</c:f>
              <c:strCache>
                <c:ptCount val="1"/>
                <c:pt idx="0">
                  <c:v>自由現金流</c:v>
                </c:pt>
              </c:strCache>
            </c:strRef>
          </c:tx>
          <c:spPr>
            <a:solidFill>
              <a:srgbClr val="C00000"/>
            </a:solidFill>
          </c:spPr>
          <c:invertIfNegative val="0"/>
          <c:dLbls>
            <c:dLbl>
              <c:idx val="2"/>
              <c:layout>
                <c:manualLayout>
                  <c:x val="0"/>
                  <c:y val="1.7263073379842335E-2"/>
                </c:manualLayout>
              </c:layout>
              <c:tx>
                <c:rich>
                  <a:bodyPr anchorCtr="0"/>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prstClr val="black"/>
                        </a:solidFill>
                        <a:latin typeface="微軟正黑體" panose="020B0604030504040204" pitchFamily="34" charset="-120"/>
                        <a:ea typeface="微軟正黑體" panose="020B0604030504040204" pitchFamily="34" charset="-120"/>
                        <a:cs typeface="+mn-cs"/>
                      </a:defRPr>
                    </a:pPr>
                    <a:fld id="{62D9F2AF-CFED-46BD-B7FA-98185AD20D33}" type="VALUE">
                      <a:rPr lang="en-US" altLang="zh-TW" smtClean="0"/>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prstClr val="black"/>
                          </a:solidFill>
                          <a:latin typeface="微軟正黑體" panose="020B0604030504040204" pitchFamily="34" charset="-120"/>
                          <a:ea typeface="微軟正黑體" panose="020B0604030504040204" pitchFamily="34" charset="-120"/>
                          <a:cs typeface="+mn-cs"/>
                        </a:defRPr>
                      </a:pPr>
                      <a:t>[值]</a:t>
                    </a:fld>
                    <a:endParaRPr lang="zh-TW" altLang="en-US"/>
                  </a:p>
                </c:rich>
              </c:tx>
              <c:spPr>
                <a:noFill/>
                <a:ln>
                  <a:noFill/>
                </a:ln>
                <a:effectLst/>
              </c:sp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5B49-4AF3-AE8D-23261941FF1F}"/>
                </c:ext>
              </c:extLst>
            </c:dLbl>
            <c:dLbl>
              <c:idx val="3"/>
              <c:tx>
                <c:rich>
                  <a:bodyPr/>
                  <a:lstStyle/>
                  <a:p>
                    <a:fld id="{18951E71-4F9C-44CC-A770-C0704B9DD482}" type="VALUE">
                      <a:rPr lang="en-US" altLang="zh-TW" smtClean="0"/>
                      <a:pPr/>
                      <a:t>[值]</a:t>
                    </a:fld>
                    <a:endParaRPr lang="zh-TW"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1B5-4FBA-8905-98DE8962A36E}"/>
                </c:ext>
              </c:extLst>
            </c:dLbl>
            <c:spPr>
              <a:noFill/>
              <a:ln>
                <a:noFill/>
              </a:ln>
              <a:effectLst/>
            </c:spPr>
            <c:txPr>
              <a:bodyPr/>
              <a:lstStyle/>
              <a:p>
                <a:pPr>
                  <a:defRPr sz="1000">
                    <a:latin typeface="微軟正黑體" panose="020B0604030504040204" pitchFamily="34" charset="-120"/>
                    <a:ea typeface="微軟正黑體" panose="020B0604030504040204"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工作表1!$G$1:$L$1</c:f>
              <c:strCache>
                <c:ptCount val="6"/>
                <c:pt idx="0">
                  <c:v>FY24</c:v>
                </c:pt>
                <c:pt idx="1">
                  <c:v>FY25</c:v>
                </c:pt>
                <c:pt idx="2">
                  <c:v>FY26</c:v>
                </c:pt>
                <c:pt idx="3">
                  <c:v>FY27</c:v>
                </c:pt>
                <c:pt idx="4">
                  <c:v>FY28</c:v>
                </c:pt>
                <c:pt idx="5">
                  <c:v>FY29</c:v>
                </c:pt>
              </c:strCache>
            </c:strRef>
          </c:cat>
          <c:val>
            <c:numRef>
              <c:f>工作表1!$G$2:$L$2</c:f>
              <c:numCache>
                <c:formatCode>#,##0</c:formatCode>
                <c:ptCount val="6"/>
                <c:pt idx="0">
                  <c:v>3928</c:v>
                </c:pt>
                <c:pt idx="1">
                  <c:v>9335</c:v>
                </c:pt>
                <c:pt idx="2">
                  <c:v>16897</c:v>
                </c:pt>
                <c:pt idx="3">
                  <c:v>27006</c:v>
                </c:pt>
                <c:pt idx="4">
                  <c:v>31813</c:v>
                </c:pt>
                <c:pt idx="5">
                  <c:v>35805</c:v>
                </c:pt>
              </c:numCache>
            </c:numRef>
          </c:val>
          <c:extLst>
            <c:ext xmlns:c16="http://schemas.microsoft.com/office/drawing/2014/chart" uri="{C3380CC4-5D6E-409C-BE32-E72D297353CC}">
              <c16:uniqueId val="{00000000-AEF9-4F95-B546-BD8E67DC4FA4}"/>
            </c:ext>
          </c:extLst>
        </c:ser>
        <c:dLbls>
          <c:showLegendKey val="0"/>
          <c:showVal val="0"/>
          <c:showCatName val="0"/>
          <c:showSerName val="0"/>
          <c:showPercent val="0"/>
          <c:showBubbleSize val="0"/>
        </c:dLbls>
        <c:gapWidth val="100"/>
        <c:axId val="45171456"/>
        <c:axId val="45172992"/>
      </c:barChart>
      <c:lineChart>
        <c:grouping val="stacked"/>
        <c:varyColors val="0"/>
        <c:ser>
          <c:idx val="1"/>
          <c:order val="1"/>
          <c:tx>
            <c:strRef>
              <c:f>工作表1!$A$3</c:f>
              <c:strCache>
                <c:ptCount val="1"/>
                <c:pt idx="0">
                  <c:v>營收</c:v>
                </c:pt>
              </c:strCache>
            </c:strRef>
          </c:tx>
          <c:spPr>
            <a:ln w="19050">
              <a:solidFill>
                <a:schemeClr val="tx1">
                  <a:lumMod val="65000"/>
                  <a:lumOff val="35000"/>
                </a:schemeClr>
              </a:solidFill>
            </a:ln>
          </c:spPr>
          <c:marker>
            <c:symbol val="circle"/>
            <c:size val="7"/>
            <c:spPr>
              <a:solidFill>
                <a:schemeClr val="bg1"/>
              </a:solidFill>
              <a:ln w="19050">
                <a:solidFill>
                  <a:schemeClr val="tx1">
                    <a:lumMod val="65000"/>
                    <a:lumOff val="35000"/>
                  </a:schemeClr>
                </a:solidFill>
              </a:ln>
            </c:spPr>
          </c:marker>
          <c:dLbls>
            <c:dLbl>
              <c:idx val="0"/>
              <c:layout>
                <c:manualLayout>
                  <c:x val="-7.0359487118119735E-2"/>
                  <c:y val="-7.51674307854108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43A-4AB1-9092-36864B4B8671}"/>
                </c:ext>
              </c:extLst>
            </c:dLbl>
            <c:dLbl>
              <c:idx val="1"/>
              <c:layout>
                <c:manualLayout>
                  <c:x val="-7.7395527459305141E-2"/>
                  <c:y val="-7.51674307854108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43A-4AB1-9092-36864B4B8671}"/>
                </c:ext>
              </c:extLst>
            </c:dLbl>
            <c:dLbl>
              <c:idx val="2"/>
              <c:layout>
                <c:manualLayout>
                  <c:x val="-7.7044407453818867E-2"/>
                  <c:y val="-7.51674307854109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43A-4AB1-9092-36864B4B8671}"/>
                </c:ext>
              </c:extLst>
            </c:dLbl>
            <c:dLbl>
              <c:idx val="3"/>
              <c:layout>
                <c:manualLayout>
                  <c:x val="-8.0211470003304225E-2"/>
                  <c:y val="-8.09495408458270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43A-4AB1-9092-36864B4B8671}"/>
                </c:ext>
              </c:extLst>
            </c:dLbl>
            <c:dLbl>
              <c:idx val="4"/>
              <c:layout>
                <c:manualLayout>
                  <c:x val="-8.0562590008790583E-2"/>
                  <c:y val="-6.93853207249947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43A-4AB1-9092-36864B4B8671}"/>
                </c:ext>
              </c:extLst>
            </c:dLbl>
            <c:dLbl>
              <c:idx val="5"/>
              <c:layout>
                <c:manualLayout>
                  <c:x val="-2.6722526667539478E-2"/>
                  <c:y val="-6.93853207249946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43A-4AB1-9092-36864B4B8671}"/>
                </c:ext>
              </c:extLst>
            </c:dLbl>
            <c:dLbl>
              <c:idx val="6"/>
              <c:layout>
                <c:manualLayout>
                  <c:x val="-8.0913410185837684E-2"/>
                  <c:y val="-5.78211006041622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43A-4AB1-9092-36864B4B8671}"/>
                </c:ext>
              </c:extLst>
            </c:dLbl>
            <c:dLbl>
              <c:idx val="7"/>
              <c:layout>
                <c:manualLayout>
                  <c:x val="-1.0553923067717959E-2"/>
                  <c:y val="-4.62568804833297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43A-4AB1-9092-36864B4B8671}"/>
                </c:ext>
              </c:extLst>
            </c:dLbl>
            <c:numFmt formatCode="#,##0_ ;[Red]\-#,##0\ " sourceLinked="0"/>
            <c:spPr>
              <a:noFill/>
              <a:ln>
                <a:noFill/>
              </a:ln>
              <a:effectLst/>
            </c:spPr>
            <c:txPr>
              <a:bodyPr/>
              <a:lstStyle/>
              <a:p>
                <a:pPr>
                  <a:defRPr sz="900">
                    <a:latin typeface="微軟正黑體" panose="020B0604030504040204" pitchFamily="34" charset="-120"/>
                    <a:ea typeface="微軟正黑體" panose="020B0604030504040204"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工作表1!$G$1:$L$1</c:f>
              <c:strCache>
                <c:ptCount val="6"/>
                <c:pt idx="0">
                  <c:v>FY24</c:v>
                </c:pt>
                <c:pt idx="1">
                  <c:v>FY25</c:v>
                </c:pt>
                <c:pt idx="2">
                  <c:v>FY26</c:v>
                </c:pt>
                <c:pt idx="3">
                  <c:v>FY27</c:v>
                </c:pt>
                <c:pt idx="4">
                  <c:v>FY28</c:v>
                </c:pt>
                <c:pt idx="5">
                  <c:v>FY29</c:v>
                </c:pt>
              </c:strCache>
            </c:strRef>
          </c:cat>
          <c:val>
            <c:numRef>
              <c:f>工作表1!$G$3:$L$3</c:f>
              <c:numCache>
                <c:formatCode>#,##0</c:formatCode>
                <c:ptCount val="6"/>
                <c:pt idx="0">
                  <c:v>45043</c:v>
                </c:pt>
                <c:pt idx="1">
                  <c:v>65179</c:v>
                </c:pt>
                <c:pt idx="2">
                  <c:v>83909</c:v>
                </c:pt>
                <c:pt idx="3">
                  <c:v>94980</c:v>
                </c:pt>
                <c:pt idx="4">
                  <c:v>105000</c:v>
                </c:pt>
                <c:pt idx="5">
                  <c:v>111402</c:v>
                </c:pt>
              </c:numCache>
            </c:numRef>
          </c:val>
          <c:smooth val="0"/>
          <c:extLst>
            <c:ext xmlns:c16="http://schemas.microsoft.com/office/drawing/2014/chart" uri="{C3380CC4-5D6E-409C-BE32-E72D297353CC}">
              <c16:uniqueId val="{00000001-AEF9-4F95-B546-BD8E67DC4FA4}"/>
            </c:ext>
          </c:extLst>
        </c:ser>
        <c:dLbls>
          <c:showLegendKey val="0"/>
          <c:showVal val="0"/>
          <c:showCatName val="0"/>
          <c:showSerName val="0"/>
          <c:showPercent val="0"/>
          <c:showBubbleSize val="0"/>
        </c:dLbls>
        <c:marker val="1"/>
        <c:smooth val="0"/>
        <c:axId val="45171456"/>
        <c:axId val="45172992"/>
      </c:lineChart>
      <c:catAx>
        <c:axId val="45171456"/>
        <c:scaling>
          <c:orientation val="minMax"/>
        </c:scaling>
        <c:delete val="0"/>
        <c:axPos val="b"/>
        <c:numFmt formatCode="General" sourceLinked="0"/>
        <c:majorTickMark val="out"/>
        <c:minorTickMark val="none"/>
        <c:tickLblPos val="low"/>
        <c:txPr>
          <a:bodyPr/>
          <a:lstStyle/>
          <a:p>
            <a:pPr>
              <a:defRPr sz="900">
                <a:latin typeface="微軟正黑體" panose="020B0604030504040204" pitchFamily="34" charset="-120"/>
                <a:ea typeface="微軟正黑體" panose="020B0604030504040204" pitchFamily="34" charset="-120"/>
              </a:defRPr>
            </a:pPr>
            <a:endParaRPr lang="zh-TW"/>
          </a:p>
        </c:txPr>
        <c:crossAx val="45172992"/>
        <c:crosses val="autoZero"/>
        <c:auto val="1"/>
        <c:lblAlgn val="ctr"/>
        <c:lblOffset val="100"/>
        <c:noMultiLvlLbl val="0"/>
      </c:catAx>
      <c:valAx>
        <c:axId val="45172992"/>
        <c:scaling>
          <c:orientation val="minMax"/>
        </c:scaling>
        <c:delete val="1"/>
        <c:axPos val="l"/>
        <c:numFmt formatCode="#,##0" sourceLinked="1"/>
        <c:majorTickMark val="out"/>
        <c:minorTickMark val="none"/>
        <c:tickLblPos val="nextTo"/>
        <c:crossAx val="45171456"/>
        <c:crosses val="autoZero"/>
        <c:crossBetween val="between"/>
      </c:valAx>
    </c:plotArea>
    <c:legend>
      <c:legendPos val="t"/>
      <c:layout>
        <c:manualLayout>
          <c:xMode val="edge"/>
          <c:yMode val="edge"/>
          <c:x val="0.23153180320545036"/>
          <c:y val="4.349330504500485E-3"/>
          <c:w val="0.5446808510638298"/>
          <c:h val="0.11082529377216666"/>
        </c:manualLayout>
      </c:layout>
      <c:overlay val="0"/>
      <c:txPr>
        <a:bodyPr/>
        <a:lstStyle/>
        <a:p>
          <a:pPr>
            <a:defRPr b="1">
              <a:latin typeface="微軟正黑體" panose="020B0604030504040204" pitchFamily="34" charset="-120"/>
              <a:ea typeface="微軟正黑體" panose="020B0604030504040204" pitchFamily="34" charset="-120"/>
            </a:defRPr>
          </a:pPr>
          <a:endParaRPr lang="zh-TW"/>
        </a:p>
      </c:txPr>
    </c:legend>
    <c:plotVisOnly val="1"/>
    <c:dispBlanksAs val="gap"/>
    <c:showDLblsOverMax val="0"/>
  </c:chart>
  <c:txPr>
    <a:bodyPr/>
    <a:lstStyle/>
    <a:p>
      <a:pPr>
        <a:defRPr sz="1000"/>
      </a:pPr>
      <a:endParaRPr lang="zh-TW"/>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3.7241482759267239E-2"/>
          <c:y val="0.25364971023499938"/>
          <c:w val="0.91634072712954451"/>
          <c:h val="0.59062945990427784"/>
        </c:manualLayout>
      </c:layout>
      <c:barChart>
        <c:barDir val="col"/>
        <c:grouping val="clustered"/>
        <c:varyColors val="0"/>
        <c:ser>
          <c:idx val="0"/>
          <c:order val="0"/>
          <c:tx>
            <c:strRef>
              <c:f>工作表1!$A$2</c:f>
              <c:strCache>
                <c:ptCount val="1"/>
                <c:pt idx="0">
                  <c:v>總負債/EBITDA</c:v>
                </c:pt>
              </c:strCache>
            </c:strRef>
          </c:tx>
          <c:spPr>
            <a:solidFill>
              <a:srgbClr val="C00000"/>
            </a:solidFill>
          </c:spPr>
          <c:invertIfNegative val="0"/>
          <c:dLbls>
            <c:numFmt formatCode="#,##0.0_);[Red]\(#,##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工作表1!$F$1:$M$1</c:f>
              <c:strCache>
                <c:ptCount val="8"/>
                <c:pt idx="0">
                  <c:v>FY22</c:v>
                </c:pt>
                <c:pt idx="1">
                  <c:v>FY23</c:v>
                </c:pt>
                <c:pt idx="2">
                  <c:v>FY24</c:v>
                </c:pt>
                <c:pt idx="3">
                  <c:v>FY25</c:v>
                </c:pt>
                <c:pt idx="4">
                  <c:v>FY26</c:v>
                </c:pt>
                <c:pt idx="5">
                  <c:v>FY27</c:v>
                </c:pt>
                <c:pt idx="6">
                  <c:v>FY28</c:v>
                </c:pt>
                <c:pt idx="7">
                  <c:v>FY29</c:v>
                </c:pt>
              </c:strCache>
            </c:strRef>
          </c:cat>
          <c:val>
            <c:numRef>
              <c:f>工作表1!$F$2:$M$2</c:f>
              <c:numCache>
                <c:formatCode>General</c:formatCode>
                <c:ptCount val="8"/>
                <c:pt idx="0">
                  <c:v>1.4</c:v>
                </c:pt>
                <c:pt idx="1">
                  <c:v>1.8</c:v>
                </c:pt>
                <c:pt idx="2">
                  <c:v>1.5</c:v>
                </c:pt>
                <c:pt idx="3">
                  <c:v>1.1000000000000001</c:v>
                </c:pt>
                <c:pt idx="4">
                  <c:v>1.1000000000000001</c:v>
                </c:pt>
                <c:pt idx="5">
                  <c:v>0.9</c:v>
                </c:pt>
                <c:pt idx="6">
                  <c:v>0.6</c:v>
                </c:pt>
                <c:pt idx="7">
                  <c:v>0.4</c:v>
                </c:pt>
              </c:numCache>
            </c:numRef>
          </c:val>
          <c:extLst>
            <c:ext xmlns:c16="http://schemas.microsoft.com/office/drawing/2014/chart" uri="{C3380CC4-5D6E-409C-BE32-E72D297353CC}">
              <c16:uniqueId val="{00000004-75D3-4090-A5B9-78B770C74A86}"/>
            </c:ext>
          </c:extLst>
        </c:ser>
        <c:dLbls>
          <c:showLegendKey val="0"/>
          <c:showVal val="0"/>
          <c:showCatName val="0"/>
          <c:showSerName val="0"/>
          <c:showPercent val="0"/>
          <c:showBubbleSize val="0"/>
        </c:dLbls>
        <c:gapWidth val="135"/>
        <c:axId val="273398784"/>
        <c:axId val="310145792"/>
      </c:barChart>
      <c:catAx>
        <c:axId val="273398784"/>
        <c:scaling>
          <c:orientation val="minMax"/>
        </c:scaling>
        <c:delete val="0"/>
        <c:axPos val="b"/>
        <c:numFmt formatCode="General" sourceLinked="0"/>
        <c:majorTickMark val="out"/>
        <c:minorTickMark val="none"/>
        <c:tickLblPos val="nextTo"/>
        <c:txPr>
          <a:bodyPr/>
          <a:lstStyle/>
          <a:p>
            <a:pPr>
              <a:defRPr sz="900"/>
            </a:pPr>
            <a:endParaRPr lang="zh-TW"/>
          </a:p>
        </c:txPr>
        <c:crossAx val="310145792"/>
        <c:crosses val="autoZero"/>
        <c:auto val="1"/>
        <c:lblAlgn val="ctr"/>
        <c:lblOffset val="100"/>
        <c:noMultiLvlLbl val="0"/>
      </c:catAx>
      <c:valAx>
        <c:axId val="310145792"/>
        <c:scaling>
          <c:orientation val="minMax"/>
        </c:scaling>
        <c:delete val="1"/>
        <c:axPos val="l"/>
        <c:numFmt formatCode="General" sourceLinked="1"/>
        <c:majorTickMark val="out"/>
        <c:minorTickMark val="none"/>
        <c:tickLblPos val="nextTo"/>
        <c:crossAx val="273398784"/>
        <c:crosses val="autoZero"/>
        <c:crossBetween val="between"/>
      </c:valAx>
    </c:plotArea>
    <c:legend>
      <c:legendPos val="r"/>
      <c:layout>
        <c:manualLayout>
          <c:xMode val="edge"/>
          <c:yMode val="edge"/>
          <c:x val="0.3519317777300407"/>
          <c:y val="5.3163943810823899E-2"/>
          <c:w val="0.30022660855916061"/>
          <c:h val="9.3515498132725014E-2"/>
        </c:manualLayout>
      </c:layout>
      <c:overlay val="0"/>
      <c:txPr>
        <a:bodyPr/>
        <a:lstStyle/>
        <a:p>
          <a:pPr>
            <a:defRPr b="1"/>
          </a:pPr>
          <a:endParaRPr lang="zh-TW"/>
        </a:p>
      </c:txPr>
    </c:legend>
    <c:plotVisOnly val="1"/>
    <c:dispBlanksAs val="gap"/>
    <c:showDLblsOverMax val="0"/>
  </c:chart>
  <c:txPr>
    <a:bodyPr/>
    <a:lstStyle/>
    <a:p>
      <a:pPr>
        <a:defRPr sz="1000">
          <a:latin typeface="微軟正黑體" panose="020B0604030504040204" pitchFamily="34" charset="-120"/>
          <a:ea typeface="微軟正黑體" panose="020B0604030504040204" pitchFamily="34" charset="-120"/>
        </a:defRPr>
      </a:pPr>
      <a:endParaRPr lang="zh-TW"/>
    </a:p>
  </c:txPr>
  <c:externalData r:id="rId1">
    <c:autoUpdate val="0"/>
  </c:externalData>
  <c:userShapes r:id="rId2"/>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0.0017</cdr:x>
      <cdr:y>0.04904</cdr:y>
    </cdr:from>
    <cdr:to>
      <cdr:x>0.16427</cdr:x>
      <cdr:y>0.15505</cdr:y>
    </cdr:to>
    <cdr:sp macro="" textlink="">
      <cdr:nvSpPr>
        <cdr:cNvPr id="8" name="文字方塊 23"/>
        <cdr:cNvSpPr txBox="1"/>
      </cdr:nvSpPr>
      <cdr:spPr>
        <a:xfrm xmlns:a="http://schemas.openxmlformats.org/drawingml/2006/main">
          <a:off x="7178" y="116632"/>
          <a:ext cx="686403" cy="252106"/>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倍</a:t>
          </a:r>
          <a:r>
            <a:rPr lang="en-US" altLang="zh-TW" sz="1000" dirty="0">
              <a:latin typeface="微軟正黑體" panose="020B0604030504040204" pitchFamily="34" charset="-120"/>
              <a:ea typeface="微軟正黑體" panose="020B0604030504040204" pitchFamily="34" charset="-120"/>
            </a:rPr>
            <a:t>)</a:t>
          </a:r>
          <a:endParaRPr lang="zh-TW" altLang="en-US" sz="1000" dirty="0">
            <a:latin typeface="微軟正黑體" panose="020B0604030504040204" pitchFamily="34" charset="-120"/>
            <a:ea typeface="微軟正黑體" panose="020B0604030504040204" pitchFamily="34" charset="-120"/>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2"/>
            <a:ext cx="2950052" cy="497126"/>
          </a:xfrm>
          <a:prstGeom prst="rect">
            <a:avLst/>
          </a:prstGeom>
        </p:spPr>
        <p:txBody>
          <a:bodyPr vert="horz" lIns="91468" tIns="45733" rIns="91468" bIns="45733" rtlCol="0"/>
          <a:lstStyle>
            <a:lvl1pPr algn="l">
              <a:defRPr sz="1200"/>
            </a:lvl1pPr>
          </a:lstStyle>
          <a:p>
            <a:endParaRPr lang="zh-TW" altLang="en-US"/>
          </a:p>
        </p:txBody>
      </p:sp>
      <p:sp>
        <p:nvSpPr>
          <p:cNvPr id="3" name="日期版面配置區 2"/>
          <p:cNvSpPr>
            <a:spLocks noGrp="1"/>
          </p:cNvSpPr>
          <p:nvPr>
            <p:ph type="dt" sz="quarter" idx="1"/>
          </p:nvPr>
        </p:nvSpPr>
        <p:spPr>
          <a:xfrm>
            <a:off x="3855563" y="2"/>
            <a:ext cx="2950051" cy="497126"/>
          </a:xfrm>
          <a:prstGeom prst="rect">
            <a:avLst/>
          </a:prstGeom>
        </p:spPr>
        <p:txBody>
          <a:bodyPr vert="horz" lIns="91468" tIns="45733" rIns="91468" bIns="45733" rtlCol="0"/>
          <a:lstStyle>
            <a:lvl1pPr algn="r">
              <a:defRPr sz="1200"/>
            </a:lvl1pPr>
          </a:lstStyle>
          <a:p>
            <a:fld id="{DB0088FA-AB4C-4EE3-831C-E6A5D9B6A47F}" type="datetimeFigureOut">
              <a:rPr lang="zh-TW" altLang="en-US" smtClean="0"/>
              <a:t>2026/5/7</a:t>
            </a:fld>
            <a:endParaRPr lang="zh-TW" altLang="en-US"/>
          </a:p>
        </p:txBody>
      </p:sp>
      <p:sp>
        <p:nvSpPr>
          <p:cNvPr id="4" name="頁尾版面配置區 3"/>
          <p:cNvSpPr>
            <a:spLocks noGrp="1"/>
          </p:cNvSpPr>
          <p:nvPr>
            <p:ph type="ftr" sz="quarter" idx="2"/>
          </p:nvPr>
        </p:nvSpPr>
        <p:spPr>
          <a:xfrm>
            <a:off x="0" y="9440624"/>
            <a:ext cx="2950052" cy="497126"/>
          </a:xfrm>
          <a:prstGeom prst="rect">
            <a:avLst/>
          </a:prstGeom>
        </p:spPr>
        <p:txBody>
          <a:bodyPr vert="horz" lIns="91468" tIns="45733" rIns="91468" bIns="45733"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563" y="9440624"/>
            <a:ext cx="2950051" cy="497126"/>
          </a:xfrm>
          <a:prstGeom prst="rect">
            <a:avLst/>
          </a:prstGeom>
        </p:spPr>
        <p:txBody>
          <a:bodyPr vert="horz" lIns="91468" tIns="45733" rIns="91468" bIns="45733" rtlCol="0" anchor="b"/>
          <a:lstStyle>
            <a:lvl1pPr algn="r">
              <a:defRPr sz="1200"/>
            </a:lvl1pPr>
          </a:lstStyle>
          <a:p>
            <a:fld id="{E6DE1C6A-2ED3-47EA-84F1-8271108DD2DB}" type="slidenum">
              <a:rPr lang="zh-TW" altLang="en-US" smtClean="0"/>
              <a:t>‹#›</a:t>
            </a:fld>
            <a:endParaRPr lang="zh-TW" altLang="en-US"/>
          </a:p>
        </p:txBody>
      </p:sp>
    </p:spTree>
    <p:extLst>
      <p:ext uri="{BB962C8B-B14F-4D97-AF65-F5344CB8AC3E}">
        <p14:creationId xmlns:p14="http://schemas.microsoft.com/office/powerpoint/2010/main" val="2103890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9" y="2"/>
            <a:ext cx="2949786" cy="496967"/>
          </a:xfrm>
          <a:prstGeom prst="rect">
            <a:avLst/>
          </a:prstGeom>
        </p:spPr>
        <p:txBody>
          <a:bodyPr vert="horz" lIns="91160" tIns="45572" rIns="91160" bIns="45572" rtlCol="0"/>
          <a:lstStyle>
            <a:lvl1pPr algn="l">
              <a:defRPr sz="1200"/>
            </a:lvl1pPr>
          </a:lstStyle>
          <a:p>
            <a:endParaRPr lang="zh-TW" altLang="en-US"/>
          </a:p>
        </p:txBody>
      </p:sp>
      <p:sp>
        <p:nvSpPr>
          <p:cNvPr id="3" name="日期版面配置區 2"/>
          <p:cNvSpPr>
            <a:spLocks noGrp="1"/>
          </p:cNvSpPr>
          <p:nvPr>
            <p:ph type="dt" idx="1"/>
          </p:nvPr>
        </p:nvSpPr>
        <p:spPr>
          <a:xfrm>
            <a:off x="3855839" y="2"/>
            <a:ext cx="2949786" cy="496967"/>
          </a:xfrm>
          <a:prstGeom prst="rect">
            <a:avLst/>
          </a:prstGeom>
        </p:spPr>
        <p:txBody>
          <a:bodyPr vert="horz" lIns="91160" tIns="45572" rIns="91160" bIns="45572" rtlCol="0"/>
          <a:lstStyle>
            <a:lvl1pPr algn="r">
              <a:defRPr sz="1200"/>
            </a:lvl1pPr>
          </a:lstStyle>
          <a:p>
            <a:fld id="{35708A9D-C909-4D66-A4DC-8E952B844F82}" type="datetimeFigureOut">
              <a:rPr lang="zh-TW" altLang="en-US" smtClean="0"/>
              <a:t>2026/5/7</a:t>
            </a:fld>
            <a:endParaRPr lang="zh-TW" altLang="en-US"/>
          </a:p>
        </p:txBody>
      </p:sp>
      <p:sp>
        <p:nvSpPr>
          <p:cNvPr id="4" name="投影片圖像版面配置區 3"/>
          <p:cNvSpPr>
            <a:spLocks noGrp="1" noRot="1" noChangeAspect="1"/>
          </p:cNvSpPr>
          <p:nvPr>
            <p:ph type="sldImg" idx="2"/>
          </p:nvPr>
        </p:nvSpPr>
        <p:spPr>
          <a:xfrm>
            <a:off x="919163" y="746125"/>
            <a:ext cx="4968875" cy="3725863"/>
          </a:xfrm>
          <a:prstGeom prst="rect">
            <a:avLst/>
          </a:prstGeom>
          <a:noFill/>
          <a:ln w="12700">
            <a:solidFill>
              <a:prstClr val="black"/>
            </a:solidFill>
          </a:ln>
        </p:spPr>
        <p:txBody>
          <a:bodyPr vert="horz" lIns="91160" tIns="45572" rIns="91160" bIns="45572" rtlCol="0" anchor="ctr"/>
          <a:lstStyle/>
          <a:p>
            <a:endParaRPr lang="zh-TW" altLang="en-US"/>
          </a:p>
        </p:txBody>
      </p:sp>
      <p:sp>
        <p:nvSpPr>
          <p:cNvPr id="5" name="備忘稿版面配置區 4"/>
          <p:cNvSpPr>
            <a:spLocks noGrp="1"/>
          </p:cNvSpPr>
          <p:nvPr>
            <p:ph type="body" sz="quarter" idx="3"/>
          </p:nvPr>
        </p:nvSpPr>
        <p:spPr>
          <a:xfrm>
            <a:off x="680721" y="4721186"/>
            <a:ext cx="5445760" cy="4472702"/>
          </a:xfrm>
          <a:prstGeom prst="rect">
            <a:avLst/>
          </a:prstGeom>
        </p:spPr>
        <p:txBody>
          <a:bodyPr vert="horz" lIns="91160" tIns="45572" rIns="91160" bIns="45572"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29" y="9440676"/>
            <a:ext cx="2949786" cy="496967"/>
          </a:xfrm>
          <a:prstGeom prst="rect">
            <a:avLst/>
          </a:prstGeom>
        </p:spPr>
        <p:txBody>
          <a:bodyPr vert="horz" lIns="91160" tIns="45572" rIns="91160" bIns="45572"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9" y="9440676"/>
            <a:ext cx="2949786" cy="496967"/>
          </a:xfrm>
          <a:prstGeom prst="rect">
            <a:avLst/>
          </a:prstGeom>
        </p:spPr>
        <p:txBody>
          <a:bodyPr vert="horz" lIns="91160" tIns="45572" rIns="91160" bIns="45572" rtlCol="0" anchor="b"/>
          <a:lstStyle>
            <a:lvl1pPr algn="r">
              <a:defRPr sz="1200"/>
            </a:lvl1pPr>
          </a:lstStyle>
          <a:p>
            <a:fld id="{677EE9C5-7ACF-43E8-ABC9-16737D2E075F}" type="slidenum">
              <a:rPr lang="zh-TW" altLang="en-US" smtClean="0"/>
              <a:t>‹#›</a:t>
            </a:fld>
            <a:endParaRPr lang="zh-TW" altLang="en-US"/>
          </a:p>
        </p:txBody>
      </p:sp>
    </p:spTree>
    <p:extLst>
      <p:ext uri="{BB962C8B-B14F-4D97-AF65-F5344CB8AC3E}">
        <p14:creationId xmlns:p14="http://schemas.microsoft.com/office/powerpoint/2010/main" val="225193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pPr defTabSz="915496">
              <a:defRPr/>
            </a:pP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以下變更</a:t>
            </a:r>
            <a:r>
              <a:rPr lang="en-US" altLang="zh-TW" dirty="0">
                <a:latin typeface="微軟正黑體" panose="020B0604030504040204" pitchFamily="34" charset="-120"/>
                <a:ea typeface="微軟正黑體" panose="020B0604030504040204" pitchFamily="34" charset="-120"/>
              </a:rPr>
              <a:t>-------------------------------------------------------------</a:t>
            </a: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官網</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https://investor.lilly.com/news-releases/news-release-details/fda-approves-lillys-foundayotm-orforglipron-only-glp-1-pill#:~:text=INDIANAPOLIS%2C%20April%201%2C%202026%20%2FPRNewswire%2F%20--%20Eli%20Lilly,with%20obesity%2C%20or%20overweight%20with%20weight-related%20medical%20problems.</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The Motley Fool</a:t>
            </a: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https://www.fool.com/investing/2026/05/04/eli-lilly-just-announced-fantastic-news-for-shareh/?msockid=28937ebe7f4a67190b5c69807e7d66d9</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新聞</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https://www.newswire.ca/news-releases/health-canada-authorizes-lilly-s-kisunla-tm-donanemab-a-new-treatment-for-early-alzheimer-s-disease-864804092.html</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FY25</a:t>
            </a:r>
            <a:r>
              <a:rPr lang="zh-TW" altLang="en-US" dirty="0">
                <a:latin typeface="微軟正黑體" panose="020B0604030504040204" pitchFamily="34" charset="-120"/>
                <a:ea typeface="微軟正黑體" panose="020B0604030504040204" pitchFamily="34" charset="-120"/>
              </a:rPr>
              <a:t>財報</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https://delivery-p137454-e1438138.adobeaemcloud.com/adobe/assets/urn:aaid:aem:abeeb05f-ef8f-4daf-88cf-3e0c9df144e0/renditions/original/as/2026-YIR_Mar13-FINAL.pdf?assetname=2026-YIR_Mar13-FINAL.pdf</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Companies</a:t>
            </a:r>
            <a:r>
              <a:rPr lang="zh-TW" altLang="en-US" dirty="0">
                <a:latin typeface="微軟正黑體" panose="020B0604030504040204" pitchFamily="34" charset="-120"/>
                <a:ea typeface="微軟正黑體" panose="020B0604030504040204" pitchFamily="34" charset="-120"/>
              </a:rPr>
              <a:t> </a:t>
            </a:r>
            <a:r>
              <a:rPr lang="en-US" altLang="zh-TW" dirty="0" err="1">
                <a:latin typeface="微軟正黑體" panose="020B0604030504040204" pitchFamily="34" charset="-120"/>
                <a:ea typeface="微軟正黑體" panose="020B0604030504040204" pitchFamily="34" charset="-120"/>
              </a:rPr>
              <a:t>Marketcap</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https://companiesmarketcap.com/pharmaceuticals/largest-pharmaceutical-companies-by-market-cap/</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1Q26</a:t>
            </a: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earning call</a:t>
            </a: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https://investor.lilly.com/static-files/587c9bd3-6551-45c3-989d-ab60c49036bb</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sz="1200" dirty="0">
                <a:latin typeface="微軟正黑體" panose="020B0604030504040204" pitchFamily="34" charset="-120"/>
                <a:ea typeface="微軟正黑體" panose="020B0604030504040204" pitchFamily="34" charset="-120"/>
              </a:rPr>
              <a:t>Drug discovery and development</a:t>
            </a:r>
          </a:p>
          <a:p>
            <a:pPr defTabSz="915496">
              <a:defRPr/>
            </a:pPr>
            <a:r>
              <a:rPr lang="en-US" altLang="zh-TW" dirty="0">
                <a:latin typeface="微軟正黑體" panose="020B0604030504040204" pitchFamily="34" charset="-120"/>
                <a:ea typeface="微軟正黑體" panose="020B0604030504040204" pitchFamily="34" charset="-120"/>
              </a:rPr>
              <a:t>https://www.drugdiscoverytrends.com/pharma-50-2026-the-top-spot-in-pharma-rarely-lasts-lilly-is-betting-it-can-change-that/</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sz="1200" dirty="0" err="1">
                <a:solidFill>
                  <a:srgbClr val="000000"/>
                </a:solidFill>
                <a:ea typeface="微軟正黑體" panose="020B0604030504040204" pitchFamily="34" charset="-120"/>
              </a:rPr>
              <a:t>Kisunla</a:t>
            </a:r>
            <a:r>
              <a:rPr lang="zh-TW" altLang="en-US" sz="1200" dirty="0">
                <a:solidFill>
                  <a:srgbClr val="000000"/>
                </a:solidFill>
                <a:ea typeface="微軟正黑體" panose="020B0604030504040204" pitchFamily="34" charset="-120"/>
              </a:rPr>
              <a:t>新聞</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https://news.cnyes.com/news/id/6077424</a:t>
            </a:r>
          </a:p>
          <a:p>
            <a:pPr defTabSz="915496">
              <a:defRPr/>
            </a:pPr>
            <a:r>
              <a:rPr lang="en-US" altLang="zh-TW" dirty="0">
                <a:latin typeface="微軟正黑體" panose="020B0604030504040204" pitchFamily="34" charset="-120"/>
                <a:ea typeface="微軟正黑體" panose="020B0604030504040204" pitchFamily="34" charset="-120"/>
              </a:rPr>
              <a:t>--------------------------------------------------------------------------------------------------------------</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zh-TW" altLang="en-US" sz="1200" dirty="0">
                <a:latin typeface="微軟正黑體" panose="020B0604030504040204" pitchFamily="34" charset="-120"/>
              </a:rPr>
              <a:t>同年</a:t>
            </a:r>
            <a:r>
              <a:rPr lang="en-US" altLang="zh-TW" sz="1200" dirty="0">
                <a:latin typeface="微軟正黑體" panose="020B0604030504040204" pitchFamily="34" charset="-120"/>
              </a:rPr>
              <a:t>4</a:t>
            </a:r>
            <a:r>
              <a:rPr lang="zh-TW" altLang="en-US" sz="1200" dirty="0">
                <a:latin typeface="微軟正黑體" panose="020B0604030504040204" pitchFamily="34" charset="-120"/>
              </a:rPr>
              <a:t>月，禮來推出的口服減肥藥「</a:t>
            </a:r>
            <a:r>
              <a:rPr lang="en-US" altLang="zh-TW" sz="1200" dirty="0" err="1">
                <a:latin typeface="微軟正黑體" panose="020B0604030504040204" pitchFamily="34" charset="-120"/>
              </a:rPr>
              <a:t>Foundayo</a:t>
            </a:r>
            <a:r>
              <a:rPr lang="zh-TW" altLang="en-US" sz="1200" dirty="0">
                <a:latin typeface="微軟正黑體" panose="020B0604030504040204" pitchFamily="34" charset="-120"/>
              </a:rPr>
              <a:t>」獲批上市。</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b="0" i="0" dirty="0">
                <a:solidFill>
                  <a:srgbClr val="212121"/>
                </a:solidFill>
                <a:effectLst/>
                <a:latin typeface="Roboto" panose="02000000000000000000" pitchFamily="2" charset="0"/>
              </a:rPr>
              <a:t>(</a:t>
            </a:r>
            <a:r>
              <a:rPr lang="zh-TW" altLang="en-US" b="0" i="0" dirty="0">
                <a:solidFill>
                  <a:srgbClr val="212121"/>
                </a:solidFill>
                <a:effectLst/>
                <a:latin typeface="Roboto" panose="02000000000000000000" pitchFamily="2" charset="0"/>
              </a:rPr>
              <a:t>官網</a:t>
            </a:r>
            <a:r>
              <a:rPr lang="en-US" altLang="zh-TW" b="0" i="0" dirty="0">
                <a:solidFill>
                  <a:srgbClr val="212121"/>
                </a:solidFill>
                <a:effectLst/>
                <a:latin typeface="Roboto" panose="02000000000000000000" pitchFamily="2" charset="0"/>
              </a:rPr>
              <a:t>) FDA approves Lilly's </a:t>
            </a:r>
            <a:r>
              <a:rPr lang="en-US" altLang="zh-TW" b="0" i="0" dirty="0" err="1">
                <a:solidFill>
                  <a:srgbClr val="212121"/>
                </a:solidFill>
                <a:effectLst/>
                <a:latin typeface="Roboto" panose="02000000000000000000" pitchFamily="2" charset="0"/>
              </a:rPr>
              <a:t>Foundayo</a:t>
            </a:r>
            <a:r>
              <a:rPr lang="en-US" altLang="zh-TW" b="0" i="0" dirty="0">
                <a:solidFill>
                  <a:srgbClr val="212121"/>
                </a:solidFill>
                <a:effectLst/>
                <a:latin typeface="Roboto" panose="02000000000000000000" pitchFamily="2" charset="0"/>
              </a:rPr>
              <a:t>™ (</a:t>
            </a:r>
            <a:r>
              <a:rPr lang="en-US" altLang="zh-TW" b="0" i="0" dirty="0" err="1">
                <a:solidFill>
                  <a:srgbClr val="212121"/>
                </a:solidFill>
                <a:effectLst/>
                <a:latin typeface="Roboto" panose="02000000000000000000" pitchFamily="2" charset="0"/>
              </a:rPr>
              <a:t>orforglipron</a:t>
            </a:r>
            <a:r>
              <a:rPr lang="en-US" altLang="zh-TW" b="0" i="0" dirty="0">
                <a:solidFill>
                  <a:srgbClr val="212121"/>
                </a:solidFill>
                <a:effectLst/>
                <a:latin typeface="Roboto" panose="02000000000000000000" pitchFamily="2" charset="0"/>
              </a:rPr>
              <a:t>)</a:t>
            </a:r>
            <a:endParaRPr lang="en-US" altLang="zh-TW" b="0" i="0" dirty="0">
              <a:solidFill>
                <a:srgbClr val="212121"/>
              </a:solidFill>
              <a:effectLst/>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zh-TW" altLang="en-US" sz="1600" dirty="0">
                <a:latin typeface="微軟正黑體" panose="020B0604030504040204" pitchFamily="34" charset="-120"/>
              </a:rPr>
              <a:t>於</a:t>
            </a:r>
            <a:r>
              <a:rPr lang="en-US" altLang="zh-TW" sz="1600" dirty="0">
                <a:latin typeface="微軟正黑體" panose="020B0604030504040204" pitchFamily="34" charset="-120"/>
              </a:rPr>
              <a:t>2026</a:t>
            </a:r>
            <a:r>
              <a:rPr lang="zh-TW" altLang="en-US" sz="1600" dirty="0">
                <a:latin typeface="微軟正黑體" panose="020B0604030504040204" pitchFamily="34" charset="-120"/>
              </a:rPr>
              <a:t>年成功</a:t>
            </a:r>
            <a:r>
              <a:rPr lang="zh-TW" altLang="en-US" sz="1200" b="0" i="0" dirty="0">
                <a:solidFill>
                  <a:srgbClr val="3C4043"/>
                </a:solidFill>
                <a:effectLst/>
                <a:latin typeface="Google Sans"/>
              </a:rPr>
              <a:t>納入聯邦醫保的報銷範圍</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(FY25</a:t>
            </a:r>
            <a:r>
              <a:rPr lang="zh-TW" altLang="en-US" dirty="0">
                <a:latin typeface="微軟正黑體" panose="020B0604030504040204" pitchFamily="34" charset="-120"/>
                <a:ea typeface="微軟正黑體" panose="020B0604030504040204" pitchFamily="34" charset="-120"/>
              </a:rPr>
              <a:t>財報</a:t>
            </a:r>
            <a:r>
              <a:rPr lang="en-US" altLang="zh-TW" dirty="0">
                <a:latin typeface="微軟正黑體" panose="020B0604030504040204" pitchFamily="34" charset="-120"/>
                <a:ea typeface="微軟正黑體" panose="020B0604030504040204" pitchFamily="34" charset="-120"/>
              </a:rPr>
              <a:t>, P5)Lilly announced an agreement with the U.S. government to expand access to its obesity medicines and reduce patient costs, including Medicare and participating state Medicaid program access for </a:t>
            </a:r>
            <a:r>
              <a:rPr lang="en-US" altLang="zh-TW" dirty="0" err="1">
                <a:latin typeface="微軟正黑體" panose="020B0604030504040204" pitchFamily="34" charset="-120"/>
                <a:ea typeface="微軟正黑體" panose="020B0604030504040204" pitchFamily="34" charset="-120"/>
              </a:rPr>
              <a:t>Zepbound</a:t>
            </a:r>
            <a:r>
              <a:rPr lang="en-US" altLang="zh-TW" dirty="0">
                <a:latin typeface="微軟正黑體" panose="020B0604030504040204" pitchFamily="34" charset="-120"/>
                <a:ea typeface="微軟正黑體" panose="020B0604030504040204" pitchFamily="34" charset="-120"/>
              </a:rPr>
              <a:t>.</a:t>
            </a:r>
          </a:p>
          <a:p>
            <a:pPr defTabSz="915496">
              <a:defRPr/>
            </a:pPr>
            <a:endParaRPr lang="en-US" altLang="zh-TW" b="0" i="0" dirty="0">
              <a:solidFill>
                <a:srgbClr val="212121"/>
              </a:solidFill>
              <a:effectLst/>
              <a:latin typeface="Roboto" panose="02000000000000000000" pitchFamily="2" charset="0"/>
            </a:endParaRPr>
          </a:p>
          <a:p>
            <a:pPr defTabSz="915496">
              <a:defRPr/>
            </a:pPr>
            <a:r>
              <a:rPr lang="zh-TW" altLang="en-US" sz="1200" dirty="0">
                <a:latin typeface="微軟正黑體" panose="020B0604030504040204" pitchFamily="34" charset="-120"/>
              </a:rPr>
              <a:t>臨床試驗結果顯示，服用最高劑量的受試者平均減重</a:t>
            </a:r>
            <a:r>
              <a:rPr lang="en-US" altLang="zh-TW" sz="1200" dirty="0">
                <a:latin typeface="微軟正黑體" panose="020B0604030504040204" pitchFamily="34" charset="-120"/>
              </a:rPr>
              <a:t>27.3</a:t>
            </a:r>
            <a:r>
              <a:rPr lang="zh-TW" altLang="en-US" sz="1200" dirty="0">
                <a:latin typeface="微軟正黑體" panose="020B0604030504040204" pitchFamily="34" charset="-120"/>
              </a:rPr>
              <a:t>磅，遠優於安慰劑組的</a:t>
            </a:r>
            <a:r>
              <a:rPr lang="en-US" altLang="zh-TW" sz="1200" dirty="0">
                <a:latin typeface="微軟正黑體" panose="020B0604030504040204" pitchFamily="34" charset="-120"/>
              </a:rPr>
              <a:t>2.2</a:t>
            </a:r>
            <a:r>
              <a:rPr lang="zh-TW" altLang="en-US" sz="1200" dirty="0">
                <a:latin typeface="微軟正黑體" panose="020B0604030504040204" pitchFamily="34" charset="-120"/>
              </a:rPr>
              <a:t>磅。</a:t>
            </a:r>
            <a:endParaRPr lang="en-US" altLang="zh-TW" b="0" i="0" dirty="0">
              <a:solidFill>
                <a:srgbClr val="212121"/>
              </a:solidFill>
              <a:effectLst/>
              <a:latin typeface="Roboto" panose="02000000000000000000" pitchFamily="2" charset="0"/>
            </a:endParaRPr>
          </a:p>
          <a:p>
            <a:pPr defTabSz="915496">
              <a:defRPr/>
            </a:pPr>
            <a:r>
              <a:rPr lang="en-US" altLang="zh-TW" b="0" i="0" dirty="0">
                <a:solidFill>
                  <a:srgbClr val="212121"/>
                </a:solidFill>
                <a:effectLst/>
                <a:latin typeface="Roboto" panose="02000000000000000000" pitchFamily="2" charset="0"/>
              </a:rPr>
              <a:t>(</a:t>
            </a:r>
            <a:r>
              <a:rPr lang="zh-TW" altLang="en-US" b="0" i="0" dirty="0">
                <a:solidFill>
                  <a:srgbClr val="212121"/>
                </a:solidFill>
                <a:effectLst/>
                <a:latin typeface="Roboto" panose="02000000000000000000" pitchFamily="2" charset="0"/>
              </a:rPr>
              <a:t>官網</a:t>
            </a:r>
            <a:r>
              <a:rPr lang="en-US" altLang="zh-TW" b="0" i="0" dirty="0">
                <a:solidFill>
                  <a:srgbClr val="212121"/>
                </a:solidFill>
                <a:effectLst/>
                <a:latin typeface="Roboto" panose="02000000000000000000" pitchFamily="2" charset="0"/>
              </a:rPr>
              <a:t>) In the ATTAIN-1 trial, individuals taking the highest dose of </a:t>
            </a:r>
            <a:r>
              <a:rPr lang="en-US" altLang="zh-TW" b="0" i="0" dirty="0" err="1">
                <a:solidFill>
                  <a:srgbClr val="212121"/>
                </a:solidFill>
                <a:effectLst/>
                <a:latin typeface="Roboto" panose="02000000000000000000" pitchFamily="2" charset="0"/>
              </a:rPr>
              <a:t>Foundayo</a:t>
            </a:r>
            <a:r>
              <a:rPr lang="en-US" altLang="zh-TW" b="0" i="0" dirty="0">
                <a:solidFill>
                  <a:srgbClr val="212121"/>
                </a:solidFill>
                <a:effectLst/>
                <a:latin typeface="Roboto" panose="02000000000000000000" pitchFamily="2" charset="0"/>
              </a:rPr>
              <a:t> and who stayed on treatment lost an average of 27.3 pounds (12.4%) compared to 2.2 pounds (0.9%) with placebo</a:t>
            </a:r>
            <a:endParaRPr lang="en-US" altLang="zh-TW"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rPr>
              <a:t>相較於其競爭對手</a:t>
            </a:r>
            <a:r>
              <a:rPr kumimoji="0" lang="zh-CN" altLang="en-US" sz="12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諾和諾德</a:t>
            </a:r>
            <a:r>
              <a:rPr kumimoji="0" lang="zh-TW" altLang="en-US" sz="12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的減肥藥</a:t>
            </a:r>
            <a:r>
              <a:rPr lang="zh-TW" altLang="en-US" sz="1200" dirty="0">
                <a:latin typeface="微軟正黑體" panose="020B0604030504040204" pitchFamily="34" charset="-120"/>
              </a:rPr>
              <a:t>「</a:t>
            </a:r>
            <a:r>
              <a:rPr lang="en-US" altLang="zh-TW" sz="1200" dirty="0" err="1">
                <a:latin typeface="微軟正黑體" panose="020B0604030504040204" pitchFamily="34" charset="-120"/>
              </a:rPr>
              <a:t>Wegovy</a:t>
            </a:r>
            <a:r>
              <a:rPr lang="zh-TW" altLang="en-US" sz="1200" dirty="0">
                <a:latin typeface="微軟正黑體" panose="020B0604030504040204" pitchFamily="34" charset="-120"/>
              </a:rPr>
              <a:t>」，</a:t>
            </a:r>
            <a:r>
              <a:rPr lang="en-US" altLang="zh-TW" sz="1200" dirty="0" err="1">
                <a:latin typeface="微軟正黑體" panose="020B0604030504040204" pitchFamily="34" charset="-120"/>
              </a:rPr>
              <a:t>Foundayo</a:t>
            </a:r>
            <a:r>
              <a:rPr lang="zh-TW" altLang="en-US" sz="1200" dirty="0">
                <a:latin typeface="微軟正黑體" panose="020B0604030504040204" pitchFamily="34" charset="-120"/>
              </a:rPr>
              <a:t>因飲食無限制而更具便利性，助力禮來在美國減肥藥市場奪下</a:t>
            </a:r>
            <a:r>
              <a:rPr lang="en-US" altLang="zh-TW" sz="1200" dirty="0">
                <a:latin typeface="微軟正黑體" panose="020B0604030504040204" pitchFamily="34" charset="-120"/>
              </a:rPr>
              <a:t>60%</a:t>
            </a:r>
            <a:r>
              <a:rPr lang="zh-TW" altLang="en-US" sz="1200" dirty="0">
                <a:latin typeface="微軟正黑體" panose="020B0604030504040204" pitchFamily="34" charset="-120"/>
              </a:rPr>
              <a:t>的領導地位。</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(The Motley Fool) What about competition with </a:t>
            </a:r>
            <a:r>
              <a:rPr lang="en-US" altLang="zh-TW" dirty="0" err="1">
                <a:latin typeface="微軟正黑體" panose="020B0604030504040204" pitchFamily="34" charset="-120"/>
                <a:ea typeface="微軟正黑體" panose="020B0604030504040204" pitchFamily="34" charset="-120"/>
              </a:rPr>
              <a:t>Novo's</a:t>
            </a:r>
            <a:r>
              <a:rPr lang="en-US" altLang="zh-TW" dirty="0">
                <a:latin typeface="微軟正黑體" panose="020B0604030504040204" pitchFamily="34" charset="-120"/>
                <a:ea typeface="微軟正黑體" panose="020B0604030504040204" pitchFamily="34" charset="-120"/>
              </a:rPr>
              <a:t> oral </a:t>
            </a:r>
            <a:r>
              <a:rPr lang="en-US" altLang="zh-TW" dirty="0" err="1">
                <a:latin typeface="微軟正黑體" panose="020B0604030504040204" pitchFamily="34" charset="-120"/>
                <a:ea typeface="微軟正黑體" panose="020B0604030504040204" pitchFamily="34" charset="-120"/>
              </a:rPr>
              <a:t>Wegovy</a:t>
            </a:r>
            <a:r>
              <a:rPr lang="en-US" altLang="zh-TW" dirty="0">
                <a:latin typeface="微軟正黑體" panose="020B0604030504040204" pitchFamily="34" charset="-120"/>
                <a:ea typeface="微軟正黑體" panose="020B0604030504040204" pitchFamily="34" charset="-120"/>
              </a:rPr>
              <a:t>? </a:t>
            </a:r>
            <a:r>
              <a:rPr lang="en-US" altLang="zh-TW" dirty="0" err="1">
                <a:latin typeface="微軟正黑體" panose="020B0604030504040204" pitchFamily="34" charset="-120"/>
                <a:ea typeface="微軟正黑體" panose="020B0604030504040204" pitchFamily="34" charset="-120"/>
              </a:rPr>
              <a:t>Foundayo</a:t>
            </a:r>
            <a:r>
              <a:rPr lang="en-US" altLang="zh-TW" dirty="0">
                <a:latin typeface="微軟正黑體" panose="020B0604030504040204" pitchFamily="34" charset="-120"/>
                <a:ea typeface="微軟正黑體" panose="020B0604030504040204" pitchFamily="34" charset="-120"/>
              </a:rPr>
              <a:t> offers one particular advantage: While oral </a:t>
            </a:r>
            <a:r>
              <a:rPr lang="en-US" altLang="zh-TW" dirty="0" err="1">
                <a:latin typeface="微軟正黑體" panose="020B0604030504040204" pitchFamily="34" charset="-120"/>
                <a:ea typeface="微軟正黑體" panose="020B0604030504040204" pitchFamily="34" charset="-120"/>
              </a:rPr>
              <a:t>Wegovy</a:t>
            </a:r>
            <a:r>
              <a:rPr lang="en-US" altLang="zh-TW" dirty="0">
                <a:latin typeface="微軟正黑體" panose="020B0604030504040204" pitchFamily="34" charset="-120"/>
                <a:ea typeface="微軟正黑體" panose="020B0604030504040204" pitchFamily="34" charset="-120"/>
              </a:rPr>
              <a:t> must be taken on an empty stomach, </a:t>
            </a:r>
            <a:r>
              <a:rPr lang="en-US" altLang="zh-TW" dirty="0" err="1">
                <a:latin typeface="微軟正黑體" panose="020B0604030504040204" pitchFamily="34" charset="-120"/>
                <a:ea typeface="微軟正黑體" panose="020B0604030504040204" pitchFamily="34" charset="-120"/>
              </a:rPr>
              <a:t>Foundayo</a:t>
            </a:r>
            <a:r>
              <a:rPr lang="en-US" altLang="zh-TW" dirty="0">
                <a:latin typeface="微軟正黑體" panose="020B0604030504040204" pitchFamily="34" charset="-120"/>
                <a:ea typeface="微軟正黑體" panose="020B0604030504040204" pitchFamily="34" charset="-120"/>
              </a:rPr>
              <a:t> doesn't come with food and beverage restrictions. </a:t>
            </a:r>
            <a:r>
              <a:rPr lang="en-US" altLang="zh-TW" b="0" i="0" dirty="0">
                <a:solidFill>
                  <a:srgbClr val="1C1D20"/>
                </a:solidFill>
                <a:effectLst/>
                <a:latin typeface="Roboto" panose="02000000000000000000" pitchFamily="2" charset="0"/>
              </a:rPr>
              <a:t>This adds to the convenience for patients.</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b="0" i="0" dirty="0">
                <a:solidFill>
                  <a:srgbClr val="1C1D20"/>
                </a:solidFill>
                <a:effectLst/>
                <a:latin typeface="Roboto" panose="02000000000000000000" pitchFamily="2" charset="0"/>
              </a:rPr>
              <a:t>(</a:t>
            </a:r>
            <a:r>
              <a:rPr lang="en-US" altLang="zh-TW" dirty="0">
                <a:latin typeface="微軟正黑體" panose="020B0604030504040204" pitchFamily="34" charset="-120"/>
                <a:ea typeface="微軟正黑體" panose="020B0604030504040204" pitchFamily="34" charset="-120"/>
              </a:rPr>
              <a:t>The Motley Fool)</a:t>
            </a:r>
            <a:r>
              <a:rPr lang="en-US" altLang="zh-TW" b="0" i="0" dirty="0">
                <a:solidFill>
                  <a:srgbClr val="1C1D20"/>
                </a:solidFill>
                <a:effectLst/>
                <a:latin typeface="Roboto" panose="02000000000000000000" pitchFamily="2" charset="0"/>
              </a:rPr>
              <a:t> In the U.S. market for this class of medicines, Lilly now holds 60% market share.</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sz="1200" dirty="0">
              <a:solidFill>
                <a:srgbClr val="000000"/>
              </a:solidFill>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sz="1200" dirty="0">
                <a:solidFill>
                  <a:srgbClr val="000000"/>
                </a:solidFill>
                <a:ea typeface="微軟正黑體" panose="020B0604030504040204" pitchFamily="34" charset="-120"/>
              </a:rPr>
              <a:t>臨床</a:t>
            </a:r>
            <a:r>
              <a:rPr kumimoji="0" lang="zh-TW" altLang="en-US" sz="1200" b="0" i="0" u="none" strike="noStrike" kern="1200" cap="none" spc="0" normalizeH="0" baseline="0" noProof="0" dirty="0">
                <a:ln>
                  <a:noFill/>
                </a:ln>
                <a:solidFill>
                  <a:srgbClr val="000000"/>
                </a:solidFill>
                <a:effectLst/>
                <a:uLnTx/>
                <a:uFillTx/>
                <a:ea typeface="微軟正黑體" panose="020B0604030504040204" pitchFamily="34" charset="-120"/>
              </a:rPr>
              <a:t>結果顯示</a:t>
            </a:r>
            <a:r>
              <a:rPr lang="zh-TW" altLang="en-US" sz="1200" b="0" i="0" dirty="0">
                <a:solidFill>
                  <a:srgbClr val="3C4043"/>
                </a:solidFill>
                <a:effectLst/>
              </a:rPr>
              <a:t>患者</a:t>
            </a:r>
            <a:r>
              <a:rPr kumimoji="0" lang="zh-TW" altLang="en-US" sz="1200" b="0" i="0" u="none" strike="noStrike" kern="1200" cap="none" spc="0" normalizeH="0" baseline="0" noProof="0" dirty="0">
                <a:ln>
                  <a:noFill/>
                </a:ln>
                <a:solidFill>
                  <a:srgbClr val="000000"/>
                </a:solidFill>
                <a:effectLst/>
                <a:uLnTx/>
                <a:uFillTx/>
                <a:ea typeface="微軟正黑體" panose="020B0604030504040204" pitchFamily="34" charset="-120"/>
              </a:rPr>
              <a:t>的認知功能下降速度延緩了</a:t>
            </a:r>
            <a:r>
              <a:rPr kumimoji="0" lang="en-US" altLang="zh-TW" sz="1200" b="0" i="0" u="none" strike="noStrike" kern="1200" cap="none" spc="0" normalizeH="0" baseline="0" noProof="0" dirty="0">
                <a:ln>
                  <a:noFill/>
                </a:ln>
                <a:solidFill>
                  <a:srgbClr val="000000"/>
                </a:solidFill>
                <a:effectLst/>
                <a:uLnTx/>
                <a:uFillTx/>
                <a:ea typeface="微軟正黑體" panose="020B0604030504040204" pitchFamily="34" charset="-120"/>
              </a:rPr>
              <a:t>35%</a:t>
            </a:r>
            <a:r>
              <a:rPr lang="zh-TW" altLang="en-US" sz="1200" b="0" i="0" dirty="0">
                <a:solidFill>
                  <a:schemeClr val="tx1">
                    <a:lumMod val="95000"/>
                    <a:lumOff val="5000"/>
                  </a:schemeClr>
                </a:solidFill>
                <a:effectLst/>
                <a:ea typeface="微軟正黑體" panose="020B0604030504040204" pitchFamily="34" charset="-120"/>
              </a:rPr>
              <a:t>，</a:t>
            </a:r>
            <a:r>
              <a:rPr kumimoji="0" lang="zh-TW" altLang="en-US" sz="1200" b="0" i="0" u="none" strike="noStrike" kern="1200" cap="none" spc="0" normalizeH="0" baseline="0" noProof="0" dirty="0">
                <a:ln>
                  <a:noFill/>
                </a:ln>
                <a:solidFill>
                  <a:srgbClr val="000000"/>
                </a:solidFill>
                <a:effectLst/>
                <a:uLnTx/>
                <a:uFillTx/>
                <a:ea typeface="微軟正黑體" panose="020B0604030504040204" pitchFamily="34" charset="-120"/>
              </a:rPr>
              <a:t>為早期階段療效最為顯著的藥物</a:t>
            </a:r>
            <a:r>
              <a:rPr lang="zh-TW" altLang="en-US" sz="1200" dirty="0">
                <a:solidFill>
                  <a:srgbClr val="000000"/>
                </a:solidFill>
                <a:ea typeface="微軟正黑體" panose="020B0604030504040204" pitchFamily="34" charset="-120"/>
              </a:rPr>
              <a:t>。</a:t>
            </a:r>
            <a:endParaRPr lang="en-US" altLang="zh-TW" sz="1200" dirty="0">
              <a:solidFill>
                <a:srgbClr val="000000"/>
              </a:solidFill>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新聞</a:t>
            </a:r>
            <a:r>
              <a:rPr lang="en-US" altLang="zh-TW" dirty="0">
                <a:latin typeface="微軟正黑體" panose="020B0604030504040204" pitchFamily="34" charset="-120"/>
                <a:ea typeface="微軟正黑體" panose="020B0604030504040204" pitchFamily="34" charset="-120"/>
              </a:rPr>
              <a:t>)</a:t>
            </a:r>
            <a:r>
              <a:rPr lang="en-US" altLang="zh-TW" b="0" i="0" dirty="0">
                <a:solidFill>
                  <a:srgbClr val="373737"/>
                </a:solidFill>
                <a:effectLst/>
                <a:latin typeface="proxima-nova"/>
              </a:rPr>
              <a:t>  </a:t>
            </a:r>
            <a:r>
              <a:rPr lang="en-US" altLang="zh-TW" sz="1200" dirty="0">
                <a:solidFill>
                  <a:srgbClr val="000000"/>
                </a:solidFill>
                <a:latin typeface="微軟正黑體" panose="020B0604030504040204" pitchFamily="34" charset="-120"/>
                <a:ea typeface="微軟正黑體" panose="020B0604030504040204" pitchFamily="34" charset="-120"/>
              </a:rPr>
              <a:t>patients in the earliest stages of disease, including those with mild cognitive impairment (MCI), experienced the greatest benefit. Over 18 months, participants who were less advanced in their disease showed a 35 per cent slowing of decline on the integrated Alzheimer's Disease Rating Scale (</a:t>
            </a:r>
            <a:r>
              <a:rPr lang="en-US" altLang="zh-TW" sz="1200" dirty="0" err="1">
                <a:solidFill>
                  <a:srgbClr val="000000"/>
                </a:solidFill>
                <a:latin typeface="微軟正黑體" panose="020B0604030504040204" pitchFamily="34" charset="-120"/>
                <a:ea typeface="微軟正黑體" panose="020B0604030504040204" pitchFamily="34" charset="-120"/>
              </a:rPr>
              <a:t>iADRS</a:t>
            </a:r>
            <a:r>
              <a:rPr lang="en-US" altLang="zh-TW" sz="1200" dirty="0">
                <a:solidFill>
                  <a:srgbClr val="000000"/>
                </a:solidFill>
                <a:latin typeface="微軟正黑體" panose="020B0604030504040204" pitchFamily="34" charset="-120"/>
                <a:ea typeface="微軟正黑體" panose="020B0604030504040204" pitchFamily="34" charset="-120"/>
              </a:rPr>
              <a:t>), which assesses memory, thinking and daily functioning, while the overall population showed a 22 per cent slowing. </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sz="1200" dirty="0">
              <a:solidFill>
                <a:srgbClr val="000000"/>
              </a:solidFill>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sz="1200" dirty="0">
                <a:solidFill>
                  <a:srgbClr val="000000"/>
                </a:solidFill>
                <a:latin typeface="微軟正黑體" panose="020B0604030504040204" pitchFamily="34" charset="-120"/>
                <a:ea typeface="微軟正黑體" panose="020B0604030504040204" pitchFamily="34" charset="-120"/>
              </a:rPr>
              <a:t>該藥物已在</a:t>
            </a:r>
            <a:r>
              <a:rPr lang="en-US" altLang="zh-TW" sz="1200" dirty="0">
                <a:solidFill>
                  <a:srgbClr val="000000"/>
                </a:solidFill>
                <a:latin typeface="微軟正黑體" panose="020B0604030504040204" pitchFamily="34" charset="-120"/>
                <a:ea typeface="微軟正黑體" panose="020B0604030504040204" pitchFamily="34" charset="-120"/>
              </a:rPr>
              <a:t>49</a:t>
            </a:r>
            <a:r>
              <a:rPr lang="zh-TW" altLang="en-US" sz="1200" dirty="0">
                <a:solidFill>
                  <a:srgbClr val="000000"/>
                </a:solidFill>
                <a:latin typeface="微軟正黑體" panose="020B0604030504040204" pitchFamily="34" charset="-120"/>
                <a:ea typeface="微軟正黑體" panose="020B0604030504040204" pitchFamily="34" charset="-120"/>
              </a:rPr>
              <a:t>個國家獲得</a:t>
            </a:r>
            <a:r>
              <a:rPr kumimoji="0" lang="zh-TW" altLang="en-US" sz="120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核准</a:t>
            </a:r>
            <a:r>
              <a:rPr lang="zh-TW" altLang="en-US" sz="1200" dirty="0">
                <a:solidFill>
                  <a:srgbClr val="000000"/>
                </a:solidFill>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新聞</a:t>
            </a:r>
            <a:r>
              <a:rPr lang="en-US" altLang="zh-TW" dirty="0">
                <a:latin typeface="微軟正黑體" panose="020B0604030504040204" pitchFamily="34" charset="-120"/>
                <a:ea typeface="微軟正黑體" panose="020B0604030504040204" pitchFamily="34" charset="-120"/>
              </a:rPr>
              <a:t>)</a:t>
            </a:r>
            <a:r>
              <a:rPr lang="en-US" altLang="zh-TW" b="0" i="0" dirty="0">
                <a:solidFill>
                  <a:srgbClr val="373737"/>
                </a:solidFill>
                <a:effectLst/>
                <a:latin typeface="proxima-nova"/>
              </a:rPr>
              <a:t>  In addition to Canada, </a:t>
            </a:r>
            <a:r>
              <a:rPr lang="en-US" altLang="zh-TW" b="0" i="0" dirty="0" err="1">
                <a:solidFill>
                  <a:srgbClr val="373737"/>
                </a:solidFill>
                <a:effectLst/>
                <a:latin typeface="proxima-nova"/>
              </a:rPr>
              <a:t>Kisunla</a:t>
            </a:r>
            <a:r>
              <a:rPr lang="en-US" altLang="zh-TW" b="0" i="0" dirty="0">
                <a:solidFill>
                  <a:srgbClr val="373737"/>
                </a:solidFill>
                <a:effectLst/>
                <a:latin typeface="proxima-nova"/>
              </a:rPr>
              <a:t> is approved in 48 markets, globally.</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(FY25</a:t>
            </a:r>
            <a:r>
              <a:rPr lang="zh-TW" altLang="en-US" dirty="0">
                <a:latin typeface="微軟正黑體" panose="020B0604030504040204" pitchFamily="34" charset="-120"/>
                <a:ea typeface="微軟正黑體" panose="020B0604030504040204" pitchFamily="34" charset="-120"/>
              </a:rPr>
              <a:t>財報</a:t>
            </a:r>
            <a:r>
              <a:rPr lang="en-US" altLang="zh-TW" dirty="0">
                <a:latin typeface="微軟正黑體" panose="020B0604030504040204" pitchFamily="34" charset="-120"/>
                <a:ea typeface="微軟正黑體" panose="020B0604030504040204" pitchFamily="34" charset="-120"/>
              </a:rPr>
              <a:t>, P65)</a:t>
            </a:r>
            <a:r>
              <a:rPr lang="zh-TW" altLang="en-US" dirty="0">
                <a:latin typeface="微軟正黑體" panose="020B0604030504040204" pitchFamily="34" charset="-120"/>
                <a:ea typeface="微軟正黑體" panose="020B0604030504040204" pitchFamily="34" charset="-120"/>
              </a:rPr>
              <a:t>看藥品銷售排名</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(FY25</a:t>
            </a:r>
            <a:r>
              <a:rPr lang="zh-TW" altLang="en-US" dirty="0">
                <a:latin typeface="微軟正黑體" panose="020B0604030504040204" pitchFamily="34" charset="-120"/>
                <a:ea typeface="微軟正黑體" panose="020B0604030504040204" pitchFamily="34" charset="-120"/>
              </a:rPr>
              <a:t>財報</a:t>
            </a:r>
            <a:r>
              <a:rPr lang="en-US" altLang="zh-TW" dirty="0">
                <a:latin typeface="微軟正黑體" panose="020B0604030504040204" pitchFamily="34" charset="-120"/>
                <a:ea typeface="微軟正黑體" panose="020B0604030504040204" pitchFamily="34" charset="-120"/>
              </a:rPr>
              <a:t>, P65)</a:t>
            </a:r>
            <a:r>
              <a:rPr lang="zh-TW" altLang="en-US" dirty="0">
                <a:latin typeface="微軟正黑體" panose="020B0604030504040204" pitchFamily="34" charset="-120"/>
                <a:ea typeface="微軟正黑體" panose="020B0604030504040204" pitchFamily="34" charset="-120"/>
              </a:rPr>
              <a:t>兩張</a:t>
            </a:r>
            <a:r>
              <a:rPr lang="en-US" altLang="zh-TW" dirty="0">
                <a:latin typeface="微軟正黑體" panose="020B0604030504040204" pitchFamily="34" charset="-120"/>
                <a:ea typeface="微軟正黑體" panose="020B0604030504040204" pitchFamily="34" charset="-120"/>
              </a:rPr>
              <a:t>Segment</a:t>
            </a:r>
            <a:r>
              <a:rPr lang="zh-TW" altLang="en-US" dirty="0">
                <a:latin typeface="微軟正黑體" panose="020B0604030504040204" pitchFamily="34" charset="-120"/>
                <a:ea typeface="微軟正黑體" panose="020B0604030504040204" pitchFamily="34" charset="-120"/>
              </a:rPr>
              <a:t>的圖</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(Companies</a:t>
            </a:r>
            <a:r>
              <a:rPr lang="zh-TW" altLang="en-US" dirty="0">
                <a:latin typeface="微軟正黑體" panose="020B0604030504040204" pitchFamily="34" charset="-120"/>
                <a:ea typeface="微軟正黑體" panose="020B0604030504040204" pitchFamily="34" charset="-120"/>
              </a:rPr>
              <a:t> </a:t>
            </a:r>
            <a:r>
              <a:rPr lang="en-US" altLang="zh-TW" dirty="0" err="1">
                <a:latin typeface="微軟正黑體" panose="020B0604030504040204" pitchFamily="34" charset="-120"/>
                <a:ea typeface="微軟正黑體" panose="020B0604030504040204" pitchFamily="34" charset="-120"/>
              </a:rPr>
              <a:t>Marketcap</a:t>
            </a:r>
            <a:r>
              <a:rPr lang="en-US" altLang="zh-TW" dirty="0">
                <a:latin typeface="微軟正黑體" panose="020B0604030504040204" pitchFamily="34" charset="-120"/>
                <a:ea typeface="微軟正黑體" panose="020B0604030504040204" pitchFamily="34" charset="-120"/>
              </a:rPr>
              <a:t>) </a:t>
            </a:r>
            <a:r>
              <a:rPr lang="zh-TW" altLang="en-US" sz="1400" b="0" dirty="0">
                <a:solidFill>
                  <a:schemeClr val="tx1">
                    <a:lumMod val="95000"/>
                    <a:lumOff val="5000"/>
                  </a:schemeClr>
                </a:solidFill>
                <a:latin typeface="微軟正黑體" panose="020B0604030504040204" pitchFamily="34" charset="-120"/>
                <a:ea typeface="微軟正黑體" panose="020B0604030504040204" pitchFamily="34" charset="-120"/>
              </a:rPr>
              <a:t>全球製藥企業市值排名</a:t>
            </a:r>
            <a:endParaRPr lang="en-US" altLang="zh-TW" sz="1400" b="0"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(1Q26</a:t>
            </a: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earning call, </a:t>
            </a:r>
            <a:r>
              <a:rPr lang="en-US" altLang="zh-TW" b="0" dirty="0">
                <a:latin typeface="微軟正黑體" panose="020B0604030504040204" pitchFamily="34" charset="-120"/>
                <a:ea typeface="微軟正黑體" panose="020B0604030504040204" pitchFamily="34" charset="-120"/>
              </a:rPr>
              <a:t>P9</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美國腸促胰素類藥物市佔率約</a:t>
            </a:r>
            <a:r>
              <a:rPr lang="en-US" altLang="zh-TW" dirty="0">
                <a:latin typeface="微軟正黑體" panose="020B0604030504040204" pitchFamily="34" charset="-120"/>
                <a:ea typeface="微軟正黑體" panose="020B0604030504040204" pitchFamily="34" charset="-120"/>
              </a:rPr>
              <a:t>60.1%</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sz="1200" dirty="0">
                <a:latin typeface="微軟正黑體" panose="020B0604030504040204" pitchFamily="34" charset="-120"/>
                <a:ea typeface="微軟正黑體" panose="020B0604030504040204" pitchFamily="34" charset="-120"/>
              </a:rPr>
              <a:t>(Drug discovery and development)</a:t>
            </a:r>
            <a:r>
              <a:rPr lang="zh-TW" altLang="en-US" sz="1200" dirty="0">
                <a:latin typeface="微軟正黑體" panose="020B0604030504040204" pitchFamily="34" charset="-120"/>
                <a:ea typeface="微軟正黑體" panose="020B0604030504040204" pitchFamily="34" charset="-120"/>
              </a:rPr>
              <a:t> </a:t>
            </a:r>
            <a:r>
              <a:rPr lang="zh-TW" altLang="en-US" sz="1200" b="0" dirty="0">
                <a:solidFill>
                  <a:schemeClr val="tx1">
                    <a:lumMod val="95000"/>
                    <a:lumOff val="5000"/>
                  </a:schemeClr>
                </a:solidFill>
                <a:latin typeface="微軟正黑體" panose="020B0604030504040204" pitchFamily="34" charset="-120"/>
                <a:ea typeface="微軟正黑體" panose="020B0604030504040204" pitchFamily="34" charset="-120"/>
              </a:rPr>
              <a:t>全球製藥企業營收排名</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677EE9C5-7ACF-43E8-ABC9-16737D2E075F}" type="slidenum">
              <a:rPr lang="zh-TW" altLang="en-US" smtClean="0"/>
              <a:t>2</a:t>
            </a:fld>
            <a:endParaRPr lang="zh-TW" altLang="en-US" dirty="0"/>
          </a:p>
        </p:txBody>
      </p:sp>
    </p:spTree>
    <p:extLst>
      <p:ext uri="{BB962C8B-B14F-4D97-AF65-F5344CB8AC3E}">
        <p14:creationId xmlns:p14="http://schemas.microsoft.com/office/powerpoint/2010/main" val="1180522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dirty="0"/>
              <a:t>2025/4/11 GS</a:t>
            </a:r>
            <a:r>
              <a:rPr lang="zh-TW" altLang="en-US" dirty="0"/>
              <a:t>預測</a:t>
            </a:r>
            <a:endParaRPr lang="en-US" altLang="zh-TW" dirty="0"/>
          </a:p>
          <a:p>
            <a:pPr algn="l"/>
            <a:r>
              <a:rPr lang="en-US" altLang="zh-TW" dirty="0"/>
              <a:t>https://www.barrons.com/articles/zepbound-wegovy-novo-eli-lilly-weight-loss-drug-sales-be5d27d1</a:t>
            </a:r>
          </a:p>
          <a:p>
            <a:pPr algn="l"/>
            <a:endParaRPr lang="en-US" altLang="zh-TW" dirty="0"/>
          </a:p>
          <a:p>
            <a:pPr algn="l"/>
            <a:r>
              <a:rPr lang="en-US" altLang="zh-TW" dirty="0"/>
              <a:t>2024/5/7 MS</a:t>
            </a:r>
            <a:r>
              <a:rPr lang="zh-TW" altLang="en-US" dirty="0"/>
              <a:t>預測</a:t>
            </a:r>
            <a:endParaRPr lang="en-US" altLang="zh-TW" dirty="0"/>
          </a:p>
          <a:p>
            <a:pPr algn="l"/>
            <a:r>
              <a:rPr lang="en-US" altLang="zh-TW" dirty="0"/>
              <a:t>https://www.morganstanley.com/ideas/obesity-drugs-market-expanded-opportunity</a:t>
            </a:r>
          </a:p>
          <a:p>
            <a:pPr algn="l"/>
            <a:endParaRPr lang="en-US" altLang="zh-TW" dirty="0"/>
          </a:p>
          <a:p>
            <a:pPr algn="l"/>
            <a:r>
              <a:rPr lang="en-US" altLang="zh-TW" dirty="0"/>
              <a:t>2025/1/1</a:t>
            </a:r>
            <a:r>
              <a:rPr lang="en-US" altLang="zh-TW" baseline="0" dirty="0"/>
              <a:t> JP</a:t>
            </a:r>
            <a:r>
              <a:rPr lang="zh-TW" altLang="en-US" baseline="0" dirty="0"/>
              <a:t>預測</a:t>
            </a:r>
            <a:endParaRPr lang="en-US" altLang="zh-TW" baseline="0" dirty="0"/>
          </a:p>
          <a:p>
            <a:pPr algn="l"/>
            <a:r>
              <a:rPr lang="en-US" altLang="zh-TW" dirty="0"/>
              <a:t>https://am.jpmorgan.com/content/dam/jpm-am-aem/global/en/insights/eye-on-the-market/the-alchemists-amv.pdf</a:t>
            </a:r>
          </a:p>
          <a:p>
            <a:pPr algn="l"/>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以下變更</a:t>
            </a:r>
            <a:r>
              <a:rPr lang="en-US" altLang="zh-TW" dirty="0">
                <a:latin typeface="微軟正黑體" panose="020B0604030504040204" pitchFamily="34" charset="-120"/>
                <a:ea typeface="微軟正黑體" panose="020B0604030504040204" pitchFamily="34" charset="-120"/>
              </a:rPr>
              <a:t>-------------------------------------------------------------</a:t>
            </a:r>
            <a:endParaRPr lang="en-US" altLang="zh-TW" dirty="0"/>
          </a:p>
          <a:p>
            <a:pPr defTabSz="915496">
              <a:defRPr/>
            </a:pPr>
            <a:r>
              <a:rPr lang="en-US" altLang="zh-TW" dirty="0">
                <a:latin typeface="微軟正黑體" panose="020B0604030504040204" pitchFamily="34" charset="-120"/>
                <a:ea typeface="微軟正黑體" panose="020B0604030504040204" pitchFamily="34" charset="-120"/>
              </a:rPr>
              <a:t>Companies</a:t>
            </a:r>
            <a:r>
              <a:rPr lang="zh-TW" altLang="en-US" dirty="0">
                <a:latin typeface="微軟正黑體" panose="020B0604030504040204" pitchFamily="34" charset="-120"/>
                <a:ea typeface="微軟正黑體" panose="020B0604030504040204" pitchFamily="34" charset="-120"/>
              </a:rPr>
              <a:t> </a:t>
            </a:r>
            <a:r>
              <a:rPr lang="en-US" altLang="zh-TW" dirty="0" err="1">
                <a:latin typeface="微軟正黑體" panose="020B0604030504040204" pitchFamily="34" charset="-120"/>
                <a:ea typeface="微軟正黑體" panose="020B0604030504040204" pitchFamily="34" charset="-120"/>
              </a:rPr>
              <a:t>Marketcap</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https://companiesmarketcap.com/pharmaceuticals/largest-pharmaceutical-companies-by-market-cap/</a:t>
            </a:r>
          </a:p>
          <a:p>
            <a:pPr algn="l"/>
            <a:endParaRPr lang="en-US" altLang="zh-TW" dirty="0"/>
          </a:p>
          <a:p>
            <a:pPr defTabSz="915496">
              <a:defRPr/>
            </a:pPr>
            <a:r>
              <a:rPr lang="en-US" altLang="zh-TW" dirty="0">
                <a:latin typeface="微軟正黑體" panose="020B0604030504040204" pitchFamily="34" charset="-120"/>
                <a:ea typeface="微軟正黑體" panose="020B0604030504040204" pitchFamily="34" charset="-120"/>
              </a:rPr>
              <a:t>1Q26</a:t>
            </a: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earning call</a:t>
            </a: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https://investor.lilly.com/static-files/587c9bd3-6551-45c3-989d-ab60c49036bb</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sz="1200" dirty="0">
                <a:latin typeface="微軟正黑體" panose="020B0604030504040204" pitchFamily="34" charset="-120"/>
                <a:ea typeface="微軟正黑體" panose="020B0604030504040204" pitchFamily="34" charset="-120"/>
              </a:rPr>
              <a:t>Drug discovery and development</a:t>
            </a:r>
          </a:p>
          <a:p>
            <a:pPr defTabSz="915496">
              <a:defRPr/>
            </a:pPr>
            <a:r>
              <a:rPr lang="en-US" altLang="zh-TW" dirty="0">
                <a:latin typeface="微軟正黑體" panose="020B0604030504040204" pitchFamily="34" charset="-120"/>
                <a:ea typeface="微軟正黑體" panose="020B0604030504040204" pitchFamily="34" charset="-120"/>
              </a:rPr>
              <a:t>https://www.drugdiscoverytrends.com/pharma-50-2026-the-top-spot-in-pharma-rarely-lasts-lilly-is-betting-it-can-change-that/</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(Companies</a:t>
            </a:r>
            <a:r>
              <a:rPr lang="zh-TW" altLang="en-US" dirty="0">
                <a:latin typeface="微軟正黑體" panose="020B0604030504040204" pitchFamily="34" charset="-120"/>
                <a:ea typeface="微軟正黑體" panose="020B0604030504040204" pitchFamily="34" charset="-120"/>
              </a:rPr>
              <a:t> </a:t>
            </a:r>
            <a:r>
              <a:rPr lang="en-US" altLang="zh-TW" dirty="0" err="1">
                <a:latin typeface="微軟正黑體" panose="020B0604030504040204" pitchFamily="34" charset="-120"/>
                <a:ea typeface="微軟正黑體" panose="020B0604030504040204" pitchFamily="34" charset="-120"/>
              </a:rPr>
              <a:t>Marketcap</a:t>
            </a:r>
            <a:r>
              <a:rPr lang="en-US" altLang="zh-TW" dirty="0">
                <a:latin typeface="微軟正黑體" panose="020B0604030504040204" pitchFamily="34" charset="-120"/>
                <a:ea typeface="微軟正黑體" panose="020B0604030504040204" pitchFamily="34" charset="-120"/>
              </a:rPr>
              <a:t>) </a:t>
            </a:r>
            <a:r>
              <a:rPr lang="zh-TW" altLang="en-US" sz="1400" b="0" dirty="0">
                <a:solidFill>
                  <a:schemeClr val="tx1">
                    <a:lumMod val="95000"/>
                    <a:lumOff val="5000"/>
                  </a:schemeClr>
                </a:solidFill>
                <a:latin typeface="微軟正黑體" panose="020B0604030504040204" pitchFamily="34" charset="-120"/>
                <a:ea typeface="微軟正黑體" panose="020B0604030504040204" pitchFamily="34" charset="-120"/>
              </a:rPr>
              <a:t>全球製藥企業市值排名</a:t>
            </a:r>
            <a:endParaRPr lang="en-US" altLang="zh-TW" dirty="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latin typeface="微軟正黑體" panose="020B0604030504040204" pitchFamily="34" charset="-120"/>
                <a:ea typeface="微軟正黑體" panose="020B0604030504040204" pitchFamily="34" charset="-120"/>
              </a:rPr>
              <a:t>(Drug discovery and development)</a:t>
            </a:r>
            <a:r>
              <a:rPr lang="zh-TW" altLang="en-US" sz="1200" dirty="0">
                <a:latin typeface="微軟正黑體" panose="020B0604030504040204" pitchFamily="34" charset="-120"/>
                <a:ea typeface="微軟正黑體" panose="020B0604030504040204" pitchFamily="34" charset="-120"/>
              </a:rPr>
              <a:t> </a:t>
            </a:r>
            <a:r>
              <a:rPr lang="zh-TW" altLang="en-US" sz="1200" b="0" dirty="0">
                <a:solidFill>
                  <a:schemeClr val="tx1">
                    <a:lumMod val="95000"/>
                    <a:lumOff val="5000"/>
                  </a:schemeClr>
                </a:solidFill>
                <a:latin typeface="微軟正黑體" panose="020B0604030504040204" pitchFamily="34" charset="-120"/>
                <a:ea typeface="微軟正黑體" panose="020B0604030504040204" pitchFamily="34" charset="-120"/>
              </a:rPr>
              <a:t>全球製藥企業營收排名</a:t>
            </a:r>
            <a:endParaRPr lang="en-US" altLang="zh-TW" dirty="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(1Q26</a:t>
            </a: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earning call, P25 P26)</a:t>
            </a:r>
            <a:r>
              <a:rPr lang="zh-TW" altLang="en-US" sz="1200" b="0" dirty="0"/>
              <a:t>美國處方簽市占</a:t>
            </a:r>
            <a:r>
              <a:rPr lang="en-US" altLang="zh-TW" sz="1200" b="0" dirty="0"/>
              <a:t>(%)</a:t>
            </a:r>
            <a:r>
              <a:rPr lang="zh-TW" altLang="en-US" sz="1200" b="0" dirty="0"/>
              <a:t>及總處方量圖</a:t>
            </a:r>
            <a:endParaRPr lang="en-US" altLang="zh-TW"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dirty="0">
              <a:latin typeface="微軟正黑體" panose="020B0604030504040204" pitchFamily="34" charset="-120"/>
              <a:ea typeface="微軟正黑體" panose="020B0604030504040204" pitchFamily="34" charset="-120"/>
            </a:endParaRPr>
          </a:p>
          <a:p>
            <a:pPr algn="l"/>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3</a:t>
            </a:fld>
            <a:endParaRPr lang="zh-TW" altLang="en-US"/>
          </a:p>
        </p:txBody>
      </p:sp>
    </p:spTree>
    <p:extLst>
      <p:ext uri="{BB962C8B-B14F-4D97-AF65-F5344CB8AC3E}">
        <p14:creationId xmlns:p14="http://schemas.microsoft.com/office/powerpoint/2010/main" val="3897634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r>
              <a:rPr lang="en-US" altLang="zh-TW" dirty="0"/>
              <a:t>FY25</a:t>
            </a:r>
          </a:p>
          <a:p>
            <a:r>
              <a:rPr lang="en-US" altLang="zh-TW" dirty="0"/>
              <a:t>https://investor.lilly.com/static-files/0d64699c-0cc7-490e-9152-b2ba1de08634</a:t>
            </a:r>
          </a:p>
          <a:p>
            <a:endParaRPr lang="en-US" altLang="zh-TW" dirty="0"/>
          </a:p>
          <a:p>
            <a:r>
              <a:rPr lang="en-US" altLang="zh-TW" dirty="0"/>
              <a:t>CNBC</a:t>
            </a:r>
          </a:p>
          <a:p>
            <a:r>
              <a:rPr lang="en-US" altLang="zh-TW" dirty="0"/>
              <a:t>https://www.cnbc.com/2026/01/30/eli-lilly-ceo-david-ricks-medicare-coverage-obesity-pills.html?msockid=28937ebe7f4a67190b5c69807e7d66d9</a:t>
            </a:r>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solidFill>
                  <a:srgbClr val="FF0000"/>
                </a:solidFill>
                <a:latin typeface="微軟正黑體" panose="020B0604030504040204" pitchFamily="34" charset="-120"/>
                <a:ea typeface="微軟正黑體" panose="020B0604030504040204" pitchFamily="34" charset="-120"/>
              </a:rPr>
              <a:t>2025</a:t>
            </a:r>
            <a:r>
              <a:rPr lang="zh-TW" altLang="en-US" sz="1200" b="0" dirty="0">
                <a:solidFill>
                  <a:srgbClr val="FF0000"/>
                </a:solidFill>
                <a:latin typeface="微軟正黑體" panose="020B0604030504040204" pitchFamily="34" charset="-120"/>
                <a:ea typeface="微軟正黑體" panose="020B0604030504040204" pitchFamily="34" charset="-120"/>
              </a:rPr>
              <a:t>年營收年增</a:t>
            </a:r>
            <a:r>
              <a:rPr lang="en-US" altLang="zh-TW" sz="1200" b="0" dirty="0">
                <a:solidFill>
                  <a:srgbClr val="FF0000"/>
                </a:solidFill>
                <a:latin typeface="微軟正黑體" panose="020B0604030504040204" pitchFamily="34" charset="-120"/>
                <a:ea typeface="微軟正黑體" panose="020B0604030504040204" pitchFamily="34" charset="-120"/>
              </a:rPr>
              <a:t>45%</a:t>
            </a:r>
            <a:r>
              <a:rPr lang="zh-TW" altLang="en-US" sz="1200" b="0" dirty="0">
                <a:solidFill>
                  <a:srgbClr val="FF0000"/>
                </a:solidFill>
                <a:latin typeface="微軟正黑體" panose="020B0604030504040204" pitchFamily="34" charset="-120"/>
                <a:ea typeface="微軟正黑體" panose="020B0604030504040204" pitchFamily="34" charset="-120"/>
              </a:rPr>
              <a:t>至</a:t>
            </a:r>
            <a:r>
              <a:rPr lang="en-US" altLang="zh-TW" sz="1200" b="0" dirty="0">
                <a:solidFill>
                  <a:srgbClr val="FF0000"/>
                </a:solidFill>
                <a:latin typeface="微軟正黑體" panose="020B0604030504040204" pitchFamily="34" charset="-120"/>
                <a:ea typeface="微軟正黑體" panose="020B0604030504040204" pitchFamily="34" charset="-120"/>
              </a:rPr>
              <a:t>652</a:t>
            </a:r>
            <a:r>
              <a:rPr lang="zh-TW" altLang="en-US" sz="1200" b="0" dirty="0">
                <a:solidFill>
                  <a:srgbClr val="FF0000"/>
                </a:solidFill>
                <a:latin typeface="微軟正黑體" panose="020B0604030504040204" pitchFamily="34" charset="-120"/>
                <a:ea typeface="微軟正黑體" panose="020B0604030504040204" pitchFamily="34" charset="-120"/>
              </a:rPr>
              <a:t>億美元</a:t>
            </a:r>
            <a:r>
              <a:rPr lang="zh-TW" altLang="en-US" sz="1200" b="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反映</a:t>
            </a: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以糖尿病藥物</a:t>
            </a:r>
            <a:r>
              <a:rPr lang="en-US" altLang="zh-TW" sz="1200" dirty="0" err="1">
                <a:latin typeface="微軟正黑體" panose="020B0604030504040204" pitchFamily="34" charset="-120"/>
                <a:ea typeface="微軟正黑體" panose="020B0604030504040204" pitchFamily="34" charset="-120"/>
              </a:rPr>
              <a:t>Mounjaro</a:t>
            </a:r>
            <a:r>
              <a:rPr lang="zh-TW" altLang="en-US" sz="1200" dirty="0">
                <a:latin typeface="微軟正黑體" panose="020B0604030504040204" pitchFamily="34" charset="-120"/>
                <a:ea typeface="微軟正黑體" panose="020B0604030504040204" pitchFamily="34" charset="-120"/>
              </a:rPr>
              <a:t>及減肥藥</a:t>
            </a:r>
            <a:r>
              <a:rPr lang="en-US" altLang="zh-TW" sz="1200" dirty="0" err="1">
                <a:latin typeface="微軟正黑體" panose="020B0604030504040204" pitchFamily="34" charset="-120"/>
                <a:ea typeface="微軟正黑體" panose="020B0604030504040204" pitchFamily="34" charset="-120"/>
              </a:rPr>
              <a:t>Zepbound</a:t>
            </a:r>
            <a:r>
              <a:rPr lang="zh-TW" altLang="en-US" sz="1200" dirty="0">
                <a:latin typeface="微軟正黑體" panose="020B0604030504040204" pitchFamily="34" charset="-120"/>
                <a:ea typeface="微軟正黑體" panose="020B0604030504040204" pitchFamily="34" charset="-120"/>
              </a:rPr>
              <a:t>為核心的</a:t>
            </a:r>
            <a:r>
              <a:rPr lang="zh-TW" altLang="en-US" sz="1200" spc="-1" dirty="0">
                <a:latin typeface="微軟正黑體" panose="020B0604030504040204" pitchFamily="34" charset="-120"/>
                <a:ea typeface="微軟正黑體" panose="020B0604030504040204" pitchFamily="34" charset="-120"/>
              </a:rPr>
              <a:t>腸泌素產品組合需求強勁，帶動整體銷量增長</a:t>
            </a:r>
            <a:r>
              <a:rPr lang="en-US" altLang="zh-TW" sz="1200" spc="-1" dirty="0">
                <a:latin typeface="微軟正黑體" panose="020B0604030504040204" pitchFamily="34" charset="-120"/>
                <a:ea typeface="微軟正黑體" panose="020B0604030504040204" pitchFamily="34" charset="-120"/>
              </a:rPr>
              <a:t>50%</a:t>
            </a:r>
            <a:r>
              <a:rPr lang="zh-TW" altLang="en-US" sz="1200" spc="-1"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惟部份被較低的售價所抵銷。</a:t>
            </a:r>
            <a:endParaRPr lang="en-US" altLang="zh-TW" dirty="0"/>
          </a:p>
          <a:p>
            <a:r>
              <a:rPr lang="en-US" altLang="zh-TW" dirty="0"/>
              <a:t>(FY25, P43) Revenue increased in 2025 driven primarily by increased volume, partially offset by lower realized prices. The increased volume and lower realized prices in 2025 were primarily driven by </a:t>
            </a:r>
            <a:r>
              <a:rPr lang="en-US" altLang="zh-TW" dirty="0" err="1"/>
              <a:t>Mounjaro</a:t>
            </a:r>
            <a:r>
              <a:rPr lang="en-US" altLang="zh-TW" dirty="0"/>
              <a:t> and </a:t>
            </a:r>
            <a:r>
              <a:rPr lang="en-US" altLang="zh-TW" dirty="0" err="1"/>
              <a:t>Zepbound</a:t>
            </a:r>
            <a:r>
              <a:rPr lang="en-US" altLang="zh-TW" dirty="0"/>
              <a:t>. </a:t>
            </a:r>
          </a:p>
          <a:p>
            <a:r>
              <a:rPr lang="en-US" altLang="zh-TW" dirty="0"/>
              <a:t>(FY25, P50) </a:t>
            </a:r>
            <a:r>
              <a:rPr lang="en-US" altLang="zh-TW" sz="1200" spc="-1" dirty="0">
                <a:latin typeface="微軟正黑體" panose="020B0604030504040204" pitchFamily="34" charset="-120"/>
                <a:ea typeface="微軟正黑體" panose="020B0604030504040204" pitchFamily="34" charset="-120"/>
              </a:rPr>
              <a:t>V</a:t>
            </a:r>
            <a:r>
              <a:rPr lang="en-US" altLang="zh-TW" dirty="0"/>
              <a:t>olume</a:t>
            </a:r>
            <a:r>
              <a:rPr lang="zh-TW" altLang="en-US" sz="1200" spc="-1" dirty="0">
                <a:latin typeface="微軟正黑體" panose="020B0604030504040204" pitchFamily="34" charset="-120"/>
                <a:ea typeface="微軟正黑體" panose="020B0604030504040204" pitchFamily="34" charset="-120"/>
              </a:rPr>
              <a:t>增長</a:t>
            </a:r>
            <a:r>
              <a:rPr lang="en-US" altLang="zh-TW" sz="1200" spc="-1" dirty="0">
                <a:latin typeface="微軟正黑體" panose="020B0604030504040204" pitchFamily="34" charset="-120"/>
                <a:ea typeface="微軟正黑體" panose="020B0604030504040204" pitchFamily="34" charset="-120"/>
              </a:rPr>
              <a:t>50%</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r>
              <a:rPr lang="zh-TW" altLang="en-US" sz="1200" dirty="0">
                <a:latin typeface="微軟正黑體" panose="020B0604030504040204" pitchFamily="34" charset="-120"/>
                <a:ea typeface="微軟正黑體" panose="020B0604030504040204" pitchFamily="34" charset="-120"/>
              </a:rPr>
              <a:t>主要反映</a:t>
            </a: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有利的產品組合及生產成本的改善帶動毛利率提升</a:t>
            </a:r>
            <a:r>
              <a:rPr lang="en-US" altLang="zh-TW" sz="1200" dirty="0">
                <a:latin typeface="微軟正黑體" panose="020B0604030504040204" pitchFamily="34" charset="-120"/>
                <a:ea typeface="微軟正黑體" panose="020B0604030504040204" pitchFamily="34" charset="-120"/>
              </a:rPr>
              <a:t>1.7</a:t>
            </a:r>
            <a:r>
              <a:rPr lang="zh-TW" altLang="en-US" sz="1200" dirty="0">
                <a:latin typeface="微軟正黑體" panose="020B0604030504040204" pitchFamily="34" charset="-120"/>
                <a:ea typeface="微軟正黑體" panose="020B0604030504040204" pitchFamily="34" charset="-120"/>
              </a:rPr>
              <a:t>個百分點至</a:t>
            </a:r>
            <a:r>
              <a:rPr lang="en-US" altLang="zh-TW" sz="1200" dirty="0">
                <a:latin typeface="微軟正黑體" panose="020B0604030504040204" pitchFamily="34" charset="-120"/>
                <a:ea typeface="微軟正黑體" panose="020B0604030504040204" pitchFamily="34" charset="-120"/>
              </a:rPr>
              <a:t>83%</a:t>
            </a:r>
            <a:r>
              <a:rPr lang="zh-TW" altLang="en-US"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2)</a:t>
            </a:r>
            <a:r>
              <a:rPr lang="zh-TW" altLang="en-US" sz="1200" spc="-1" dirty="0">
                <a:latin typeface="微軟正黑體" panose="020B0604030504040204" pitchFamily="34" charset="-120"/>
                <a:ea typeface="微軟正黑體" panose="020B0604030504040204" pitchFamily="34" charset="-120"/>
              </a:rPr>
              <a:t>研發及管銷費用僅年增</a:t>
            </a:r>
            <a:r>
              <a:rPr lang="en-US" altLang="zh-TW" sz="1200" spc="-1" dirty="0">
                <a:latin typeface="微軟正黑體" panose="020B0604030504040204" pitchFamily="34" charset="-120"/>
                <a:ea typeface="微軟正黑體" panose="020B0604030504040204" pitchFamily="34" charset="-120"/>
              </a:rPr>
              <a:t>21%</a:t>
            </a:r>
            <a:r>
              <a:rPr lang="zh-TW" altLang="en-US" sz="1200" spc="-1" dirty="0">
                <a:latin typeface="微軟正黑體" panose="020B0604030504040204" pitchFamily="34" charset="-120"/>
                <a:ea typeface="微軟正黑體" panose="020B0604030504040204" pitchFamily="34" charset="-120"/>
              </a:rPr>
              <a:t>及</a:t>
            </a:r>
            <a:r>
              <a:rPr lang="en-US" altLang="zh-TW" sz="1200" spc="-1" dirty="0">
                <a:latin typeface="微軟正黑體" panose="020B0604030504040204" pitchFamily="34" charset="-120"/>
                <a:ea typeface="微軟正黑體" panose="020B0604030504040204" pitchFamily="34" charset="-120"/>
              </a:rPr>
              <a:t>29%</a:t>
            </a:r>
            <a:r>
              <a:rPr lang="zh-TW" altLang="en-US" sz="1200" spc="-1"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上升幅度小於營收成長幅度</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(FY25, P43) Net income and earnings per share increased in 2025, primarily due to higher gross margin, partially offset by increased marketing, selling, and administrative expenses and research and development expenses.</a:t>
            </a:r>
          </a:p>
          <a:p>
            <a:r>
              <a:rPr lang="en-US" altLang="zh-TW" dirty="0"/>
              <a:t>(FY25, P50) Gross margin as a percent of revenue in 2025 increased 1.7 percentage points compared with 2024, primarily driven by favorable product mix and improved cost of production, partially offset by lower realized prices. Research and development expenses increased 21 percent in 2025, primarily driven by continued investments in our early and late-stage portfolio. Marketing, selling, and administrative expenses increased 29 percent in 2025, primarily driven by promotional efforts supporting ongoing and planned launches.</a:t>
            </a:r>
          </a:p>
          <a:p>
            <a:endParaRPr lang="en-US" altLang="zh-TW" dirty="0"/>
          </a:p>
          <a:p>
            <a:r>
              <a:rPr lang="zh-TW" altLang="en-US" sz="1200" spc="-1" dirty="0">
                <a:solidFill>
                  <a:srgbClr val="000000"/>
                </a:solidFill>
                <a:latin typeface="微軟正黑體" panose="020B0604030504040204" pitchFamily="34" charset="-120"/>
                <a:ea typeface="微軟正黑體" panose="020B0604030504040204" pitchFamily="34" charset="-120"/>
              </a:rPr>
              <a:t>隨著聯邦醫保納入肥胖症治療給付，減重市場規模將進一步擴大。</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(CNBC)</a:t>
            </a:r>
            <a:r>
              <a:rPr lang="zh-TW" altLang="en-US" dirty="0"/>
              <a:t> </a:t>
            </a:r>
            <a:r>
              <a:rPr lang="en-US" altLang="zh-TW" dirty="0"/>
              <a:t>Medicare coverage of obesity treatments is a long-awaited move that some health experts say could broaden the market for the medicines and spur more private insurers to cover them.</a:t>
            </a:r>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4</a:t>
            </a:fld>
            <a:endParaRPr lang="zh-TW" altLang="en-US"/>
          </a:p>
        </p:txBody>
      </p:sp>
    </p:spTree>
    <p:extLst>
      <p:ext uri="{BB962C8B-B14F-4D97-AF65-F5344CB8AC3E}">
        <p14:creationId xmlns:p14="http://schemas.microsoft.com/office/powerpoint/2010/main" val="1921534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標普</a:t>
            </a:r>
            <a:endParaRPr lang="en-US" altLang="zh-TW" dirty="0"/>
          </a:p>
          <a:p>
            <a:r>
              <a:rPr lang="en-US" altLang="zh-TW" dirty="0"/>
              <a:t>https://www.capitaliq.spglobal.com/web/client?auth=inherit#ratingsdirect/creditResearch?rid=3554423</a:t>
            </a:r>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latin typeface="微軟正黑體" panose="020B0604030504040204" pitchFamily="34" charset="-120"/>
                <a:ea typeface="微軟正黑體" panose="020B0604030504040204" pitchFamily="34" charset="-120"/>
              </a:rPr>
              <a:t>(</a:t>
            </a:r>
            <a:r>
              <a:rPr lang="zh-TW" altLang="en-US" dirty="0"/>
              <a:t>標普</a:t>
            </a:r>
            <a:r>
              <a:rPr lang="en-US" altLang="zh-TW" sz="1200" b="0" dirty="0">
                <a:latin typeface="微軟正黑體" panose="020B0604030504040204" pitchFamily="34" charset="-120"/>
                <a:ea typeface="微軟正黑體" panose="020B0604030504040204" pitchFamily="34" charset="-120"/>
              </a:rPr>
              <a:t>)</a:t>
            </a:r>
            <a:r>
              <a:rPr lang="zh-TW" altLang="en-US" sz="1200" b="0" dirty="0">
                <a:latin typeface="微軟正黑體" panose="020B0604030504040204" pitchFamily="34" charset="-120"/>
                <a:ea typeface="微軟正黑體" panose="020B0604030504040204" pitchFamily="34" charset="-120"/>
              </a:rPr>
              <a:t> 槓桿倍數圖 </a:t>
            </a:r>
            <a:r>
              <a:rPr lang="en-US" altLang="zh-TW" sz="1200" b="0" dirty="0">
                <a:latin typeface="微軟正黑體" panose="020B0604030504040204" pitchFamily="34" charset="-120"/>
                <a:ea typeface="微軟正黑體" panose="020B0604030504040204" pitchFamily="34" charset="-120"/>
              </a:rPr>
              <a:t>/ </a:t>
            </a:r>
            <a:r>
              <a:rPr lang="zh-TW" altLang="en-US" sz="1200" b="0" dirty="0">
                <a:latin typeface="微軟正黑體" panose="020B0604030504040204" pitchFamily="34" charset="-120"/>
                <a:ea typeface="微軟正黑體" panose="020B0604030504040204" pitchFamily="34" charset="-120"/>
              </a:rPr>
              <a:t>自由現金流及營收圖</a:t>
            </a:r>
            <a:endParaRPr lang="zh-TW" altLang="en-US" b="0"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5</a:t>
            </a:fld>
            <a:endParaRPr lang="zh-TW" altLang="en-US"/>
          </a:p>
        </p:txBody>
      </p:sp>
    </p:spTree>
    <p:extLst>
      <p:ext uri="{BB962C8B-B14F-4D97-AF65-F5344CB8AC3E}">
        <p14:creationId xmlns:p14="http://schemas.microsoft.com/office/powerpoint/2010/main" val="16825056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標題投影片">
    <p:spTree>
      <p:nvGrpSpPr>
        <p:cNvPr id="1" name=""/>
        <p:cNvGrpSpPr/>
        <p:nvPr/>
      </p:nvGrpSpPr>
      <p:grpSpPr>
        <a:xfrm>
          <a:off x="0" y="0"/>
          <a:ext cx="0" cy="0"/>
          <a:chOff x="0" y="0"/>
          <a:chExt cx="0" cy="0"/>
        </a:xfrm>
      </p:grpSpPr>
      <p:sp>
        <p:nvSpPr>
          <p:cNvPr id="11" name="副標題 2"/>
          <p:cNvSpPr>
            <a:spLocks noGrp="1"/>
          </p:cNvSpPr>
          <p:nvPr>
            <p:ph type="subTitle" idx="1"/>
          </p:nvPr>
        </p:nvSpPr>
        <p:spPr>
          <a:xfrm>
            <a:off x="1926186" y="3501008"/>
            <a:ext cx="4320000" cy="432048"/>
          </a:xfrm>
          <a:prstGeom prst="rect">
            <a:avLst/>
          </a:prstGeom>
        </p:spPr>
        <p:txBody>
          <a:bodyPr>
            <a:noAutofit/>
          </a:bodyPr>
          <a:lstStyle>
            <a:lvl1pPr marL="0" marR="0" indent="0" algn="l" defTabSz="685800" rtl="0" eaLnBrk="1" fontAlgn="auto" latinLnBrk="0" hangingPunct="1">
              <a:lnSpc>
                <a:spcPct val="100000"/>
              </a:lnSpc>
              <a:spcBef>
                <a:spcPct val="20000"/>
              </a:spcBef>
              <a:spcAft>
                <a:spcPts val="0"/>
              </a:spcAft>
              <a:buClrTx/>
              <a:buSzTx/>
              <a:buFontTx/>
              <a:buNone/>
              <a:tabLst/>
              <a:defRPr sz="1800" b="1">
                <a:solidFill>
                  <a:schemeClr val="bg1">
                    <a:lumMod val="50000"/>
                  </a:schemeClr>
                </a:solidFill>
                <a:latin typeface="微軟正黑體" pitchFamily="34" charset="-120"/>
                <a:ea typeface="微軟正黑體" pitchFamily="34" charset="-12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dirty="0"/>
              <a:t>按一下以編輯母片副標題樣式</a:t>
            </a:r>
          </a:p>
        </p:txBody>
      </p:sp>
      <p:sp>
        <p:nvSpPr>
          <p:cNvPr id="17" name="標題 1"/>
          <p:cNvSpPr>
            <a:spLocks noGrp="1"/>
          </p:cNvSpPr>
          <p:nvPr>
            <p:ph type="ctrTitle"/>
          </p:nvPr>
        </p:nvSpPr>
        <p:spPr>
          <a:xfrm>
            <a:off x="1871700" y="2771403"/>
            <a:ext cx="4860000" cy="576064"/>
          </a:xfrm>
          <a:prstGeom prst="rect">
            <a:avLst/>
          </a:prstGeom>
        </p:spPr>
        <p:txBody>
          <a:bodyPr>
            <a:noAutofit/>
          </a:bodyPr>
          <a:lstStyle>
            <a:lvl1pPr algn="l">
              <a:defRPr sz="3000" b="1">
                <a:solidFill>
                  <a:schemeClr val="bg1">
                    <a:lumMod val="50000"/>
                  </a:schemeClr>
                </a:solidFill>
                <a:latin typeface="微軟正黑體" pitchFamily="34" charset="-120"/>
                <a:ea typeface="微軟正黑體" pitchFamily="34" charset="-120"/>
              </a:defRPr>
            </a:lvl1pPr>
          </a:lstStyle>
          <a:p>
            <a:r>
              <a:rPr lang="zh-TW" altLang="en-US" dirty="0"/>
              <a:t>按一下以編輯母片標題樣式</a:t>
            </a:r>
          </a:p>
        </p:txBody>
      </p:sp>
      <p:pic>
        <p:nvPicPr>
          <p:cNvPr id="3" name="图片 2">
            <a:extLst>
              <a:ext uri="{FF2B5EF4-FFF2-40B4-BE49-F238E27FC236}">
                <a16:creationId xmlns:a16="http://schemas.microsoft.com/office/drawing/2014/main" id="{7A7DB523-7990-4024-ADA2-E061F0DAD6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32240" y="2845174"/>
            <a:ext cx="1584176" cy="583155"/>
          </a:xfrm>
          <a:prstGeom prst="rect">
            <a:avLst/>
          </a:prstGeom>
        </p:spPr>
      </p:pic>
      <p:cxnSp>
        <p:nvCxnSpPr>
          <p:cNvPr id="9" name="直接连接符 14">
            <a:extLst>
              <a:ext uri="{FF2B5EF4-FFF2-40B4-BE49-F238E27FC236}">
                <a16:creationId xmlns:a16="http://schemas.microsoft.com/office/drawing/2014/main" id="{EC0A9803-A926-48F3-9681-2B42C0C06D43}"/>
              </a:ext>
            </a:extLst>
          </p:cNvPr>
          <p:cNvCxnSpPr>
            <a:cxnSpLocks/>
          </p:cNvCxnSpPr>
          <p:nvPr userDrawn="1"/>
        </p:nvCxnSpPr>
        <p:spPr>
          <a:xfrm flipH="1">
            <a:off x="0" y="3429000"/>
            <a:ext cx="8082390"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cxnSp>
        <p:nvCxnSpPr>
          <p:cNvPr id="12"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5964485"/>
            <a:ext cx="3550109" cy="0"/>
          </a:xfrm>
          <a:prstGeom prst="line">
            <a:avLst/>
          </a:prstGeom>
          <a:ln w="28575">
            <a:gradFill flip="none" rotWithShape="1">
              <a:gsLst>
                <a:gs pos="100000">
                  <a:schemeClr val="bg1">
                    <a:lumMod val="75000"/>
                    <a:alpha val="0"/>
                  </a:schemeClr>
                </a:gs>
                <a:gs pos="0">
                  <a:schemeClr val="bg1">
                    <a:lumMod val="85000"/>
                  </a:schemeClr>
                </a:gs>
              </a:gsLst>
              <a:lin ang="0" scaled="1"/>
              <a:tileRect/>
            </a:gra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sp>
        <p:nvSpPr>
          <p:cNvPr id="10" name="文字方塊 9"/>
          <p:cNvSpPr txBox="1"/>
          <p:nvPr userDrawn="1"/>
        </p:nvSpPr>
        <p:spPr>
          <a:xfrm>
            <a:off x="6246186" y="3429000"/>
            <a:ext cx="1890210" cy="300082"/>
          </a:xfrm>
          <a:prstGeom prst="rect">
            <a:avLst/>
          </a:prstGeom>
          <a:noFill/>
        </p:spPr>
        <p:txBody>
          <a:bodyPr wrap="square" rtlCol="0">
            <a:spAutoFit/>
          </a:bodyPr>
          <a:lstStyle/>
          <a:p>
            <a:pPr algn="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B2B</a:t>
            </a:r>
            <a:r>
              <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 </a:t>
            </a: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TEAM</a:t>
            </a:r>
            <a:endPar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endParaRPr>
          </a:p>
        </p:txBody>
      </p:sp>
      <p:sp>
        <p:nvSpPr>
          <p:cNvPr id="4" name="文字方塊 3"/>
          <p:cNvSpPr txBox="1"/>
          <p:nvPr userDrawn="1"/>
        </p:nvSpPr>
        <p:spPr>
          <a:xfrm>
            <a:off x="497592" y="5579948"/>
            <a:ext cx="2608406" cy="300082"/>
          </a:xfrm>
          <a:prstGeom prst="rect">
            <a:avLst/>
          </a:prstGeom>
          <a:noFill/>
        </p:spPr>
        <p:txBody>
          <a:bodyPr wrap="none" rtlCol="0">
            <a:spAutoFit/>
          </a:bodyPr>
          <a:lstStyle/>
          <a:p>
            <a:r>
              <a:rPr lang="zh-TW" altLang="en-US" sz="1350" b="1" dirty="0">
                <a:solidFill>
                  <a:schemeClr val="bg1">
                    <a:lumMod val="50000"/>
                  </a:schemeClr>
                </a:solidFill>
              </a:rPr>
              <a:t>國外固定利率債券發行機構簡介</a:t>
            </a:r>
          </a:p>
        </p:txBody>
      </p:sp>
    </p:spTree>
    <p:extLst>
      <p:ext uri="{BB962C8B-B14F-4D97-AF65-F5344CB8AC3E}">
        <p14:creationId xmlns:p14="http://schemas.microsoft.com/office/powerpoint/2010/main" val="549964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5" y="980728"/>
            <a:ext cx="8213303" cy="5220000"/>
          </a:xfrm>
          <a:prstGeom prst="rect">
            <a:avLst/>
          </a:prstGeom>
        </p:spPr>
        <p:txBody>
          <a:bodyPr/>
          <a:lstStyle>
            <a:lvl1pPr marL="257175" indent="-257175">
              <a:buFont typeface="Wingdings" panose="05000000000000000000" pitchFamily="2" charset="2"/>
              <a:buChar char="n"/>
              <a:defRPr sz="1800">
                <a:latin typeface="微軟正黑體" pitchFamily="34" charset="-120"/>
                <a:ea typeface="微軟正黑體" pitchFamily="34" charset="-120"/>
              </a:defRPr>
            </a:lvl1pPr>
            <a:lvl2pPr>
              <a:defRPr sz="1500" b="0">
                <a:latin typeface="微軟正黑體" pitchFamily="34" charset="-120"/>
                <a:ea typeface="微軟正黑體" pitchFamily="34" charset="-120"/>
              </a:defRPr>
            </a:lvl2pPr>
            <a:lvl3pPr>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zh-TW" altLang="en-US" dirty="0"/>
          </a:p>
        </p:txBody>
      </p:sp>
      <p:sp>
        <p:nvSpPr>
          <p:cNvPr id="11" name="投影片編號版面配置區 10"/>
          <p:cNvSpPr>
            <a:spLocks noGrp="1"/>
          </p:cNvSpPr>
          <p:nvPr>
            <p:ph type="sldNum" sz="quarter" idx="10"/>
          </p:nvPr>
        </p:nvSpPr>
        <p:spPr>
          <a:xfrm>
            <a:off x="197514" y="6525344"/>
            <a:ext cx="395064" cy="288032"/>
          </a:xfrm>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358115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073CA6E-B980-4BED-B859-79E8C0786146}"/>
              </a:ext>
            </a:extLst>
          </p:cNvPr>
          <p:cNvSpPr/>
          <p:nvPr userDrawn="1"/>
        </p:nvSpPr>
        <p:spPr>
          <a:xfrm>
            <a:off x="6732240" y="0"/>
            <a:ext cx="241176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cxnSp>
        <p:nvCxnSpPr>
          <p:cNvPr id="4" name="直接连接符 14">
            <a:extLst>
              <a:ext uri="{FF2B5EF4-FFF2-40B4-BE49-F238E27FC236}">
                <a16:creationId xmlns:a16="http://schemas.microsoft.com/office/drawing/2014/main" id="{7D116BA9-9B78-42D3-9A3A-32518048A7C5}"/>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pic>
        <p:nvPicPr>
          <p:cNvPr id="9" name="圖片 8" descr="一張含有 文字 的圖片&#10;&#10;自動產生的描述">
            <a:extLst>
              <a:ext uri="{FF2B5EF4-FFF2-40B4-BE49-F238E27FC236}">
                <a16:creationId xmlns:a16="http://schemas.microsoft.com/office/drawing/2014/main" id="{EDD6439E-0668-40EB-8EE8-43DD01AC00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8248" y="6497912"/>
            <a:ext cx="753090" cy="171448"/>
          </a:xfrm>
          <a:prstGeom prst="rect">
            <a:avLst/>
          </a:prstGeom>
        </p:spPr>
      </p:pic>
      <p:pic>
        <p:nvPicPr>
          <p:cNvPr id="14" name="圖片 13">
            <a:extLst>
              <a:ext uri="{FF2B5EF4-FFF2-40B4-BE49-F238E27FC236}">
                <a16:creationId xmlns:a16="http://schemas.microsoft.com/office/drawing/2014/main" id="{077F17E0-39B1-4EAF-8142-AA65E5998D1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2177" b="35515"/>
          <a:stretch/>
        </p:blipFill>
        <p:spPr>
          <a:xfrm>
            <a:off x="8483570" y="6432163"/>
            <a:ext cx="605138" cy="225344"/>
          </a:xfrm>
          <a:prstGeom prst="rect">
            <a:avLst/>
          </a:prstGeom>
        </p:spPr>
      </p:pic>
      <p:sp>
        <p:nvSpPr>
          <p:cNvPr id="7" name="矩形 6">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8" name="圖片 7"/>
          <p:cNvPicPr>
            <a:picLocks noChangeAspect="1"/>
          </p:cNvPicPr>
          <p:nvPr userDrawn="1"/>
        </p:nvPicPr>
        <p:blipFill>
          <a:blip r:embed="rId4"/>
          <a:stretch>
            <a:fillRect/>
          </a:stretch>
        </p:blipFill>
        <p:spPr>
          <a:xfrm>
            <a:off x="7308304" y="-16771"/>
            <a:ext cx="1999661" cy="256054"/>
          </a:xfrm>
          <a:prstGeom prst="rect">
            <a:avLst/>
          </a:prstGeom>
        </p:spPr>
      </p:pic>
    </p:spTree>
    <p:extLst>
      <p:ext uri="{BB962C8B-B14F-4D97-AF65-F5344CB8AC3E}">
        <p14:creationId xmlns:p14="http://schemas.microsoft.com/office/powerpoint/2010/main" val="326120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90618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txBody>
          <a:bodyPr>
            <a:noAutofit/>
          </a:bodyPr>
          <a:lstStyle>
            <a:lvl1pPr marL="214313" indent="-214313"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txBody>
          <a:bodyPr>
            <a:noAutofit/>
          </a:bodyPr>
          <a:lstStyle>
            <a:lvl1pPr marL="257175" indent="-257175"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548317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兩項物件">
    <p:spTree>
      <p:nvGrpSpPr>
        <p:cNvPr id="1" name=""/>
        <p:cNvGrpSpPr/>
        <p:nvPr/>
      </p:nvGrpSpPr>
      <p:grpSpPr>
        <a:xfrm>
          <a:off x="0" y="0"/>
          <a:ext cx="0" cy="0"/>
          <a:chOff x="0" y="0"/>
          <a:chExt cx="0" cy="0"/>
        </a:xfrm>
      </p:grpSpPr>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9" name="內容版面配置區 8"/>
          <p:cNvSpPr>
            <a:spLocks noGrp="1"/>
          </p:cNvSpPr>
          <p:nvPr>
            <p:ph sz="quarter" idx="20"/>
          </p:nvPr>
        </p:nvSpPr>
        <p:spPr>
          <a:xfrm>
            <a:off x="475060" y="1017312"/>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6" name="內容版面配置區 8"/>
          <p:cNvSpPr>
            <a:spLocks noGrp="1"/>
          </p:cNvSpPr>
          <p:nvPr>
            <p:ph sz="quarter" idx="21"/>
          </p:nvPr>
        </p:nvSpPr>
        <p:spPr>
          <a:xfrm>
            <a:off x="4626456" y="1053296"/>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01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b="1">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4" y="1268761"/>
            <a:ext cx="8219256" cy="5040560"/>
          </a:xfrm>
          <a:prstGeom prst="rect">
            <a:avLst/>
          </a:prstGeom>
        </p:spPr>
        <p:txBody>
          <a:bodyPr/>
          <a:lstStyle>
            <a:lvl1pPr>
              <a:defRPr sz="1800">
                <a:latin typeface="微軟正黑體" pitchFamily="34" charset="-120"/>
                <a:ea typeface="微軟正黑體" pitchFamily="34" charset="-120"/>
              </a:defRPr>
            </a:lvl1pPr>
            <a:lvl2pPr marL="557213" indent="-214313">
              <a:buFont typeface="Wingdings" panose="05000000000000000000" pitchFamily="2" charset="2"/>
              <a:buChar char="Ø"/>
              <a:defRPr sz="1500" b="0">
                <a:latin typeface="微軟正黑體" pitchFamily="34" charset="-120"/>
                <a:ea typeface="微軟正黑體" pitchFamily="34" charset="-120"/>
              </a:defRPr>
            </a:lvl2pPr>
            <a:lvl3pPr marL="857250" indent="-171450">
              <a:buFont typeface="Wingdings" panose="05000000000000000000" pitchFamily="2" charset="2"/>
              <a:buChar char="ü"/>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633048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6" name="內容版面配置區 3"/>
          <p:cNvSpPr>
            <a:spLocks noGrp="1"/>
          </p:cNvSpPr>
          <p:nvPr>
            <p:ph sz="half" idx="2"/>
          </p:nvPr>
        </p:nvSpPr>
        <p:spPr>
          <a:xfrm>
            <a:off x="467544"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9"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73600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73600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68315" y="1268760"/>
            <a:ext cx="8208143" cy="1224136"/>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7"/>
          <p:cNvSpPr>
            <a:spLocks noGrp="1"/>
          </p:cNvSpPr>
          <p:nvPr>
            <p:ph type="body" sz="quarter" idx="12"/>
          </p:nvPr>
        </p:nvSpPr>
        <p:spPr>
          <a:xfrm>
            <a:off x="467544" y="6192000"/>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977986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0" name="文字版面配置區 2"/>
          <p:cNvSpPr>
            <a:spLocks noGrp="1"/>
          </p:cNvSpPr>
          <p:nvPr>
            <p:ph type="body" sz="quarter" idx="17"/>
          </p:nvPr>
        </p:nvSpPr>
        <p:spPr>
          <a:xfrm>
            <a:off x="468314"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1" name="內容版面配置區 3"/>
          <p:cNvSpPr>
            <a:spLocks noGrp="1"/>
          </p:cNvSpPr>
          <p:nvPr>
            <p:ph sz="half" idx="16"/>
          </p:nvPr>
        </p:nvSpPr>
        <p:spPr>
          <a:xfrm>
            <a:off x="4644009"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2" name="文字版面配置區 2"/>
          <p:cNvSpPr>
            <a:spLocks noGrp="1"/>
          </p:cNvSpPr>
          <p:nvPr>
            <p:ph type="body" sz="quarter" idx="18"/>
          </p:nvPr>
        </p:nvSpPr>
        <p:spPr>
          <a:xfrm>
            <a:off x="467546" y="126876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3" name="文字版面配置區 2"/>
          <p:cNvSpPr>
            <a:spLocks noGrp="1"/>
          </p:cNvSpPr>
          <p:nvPr>
            <p:ph type="body" sz="quarter" idx="19"/>
          </p:nvPr>
        </p:nvSpPr>
        <p:spPr>
          <a:xfrm>
            <a:off x="4644779" y="126876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6" name="文字版面配置區 2"/>
          <p:cNvSpPr>
            <a:spLocks noGrp="1"/>
          </p:cNvSpPr>
          <p:nvPr>
            <p:ph type="body" sz="quarter" idx="20"/>
          </p:nvPr>
        </p:nvSpPr>
        <p:spPr>
          <a:xfrm>
            <a:off x="4644779"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7" name="文字版面配置區 7"/>
          <p:cNvSpPr>
            <a:spLocks noGrp="1"/>
          </p:cNvSpPr>
          <p:nvPr>
            <p:ph type="body" sz="quarter" idx="1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18" name="內容版面配置區 3"/>
          <p:cNvSpPr>
            <a:spLocks noGrp="1"/>
          </p:cNvSpPr>
          <p:nvPr>
            <p:ph sz="half" idx="21"/>
          </p:nvPr>
        </p:nvSpPr>
        <p:spPr>
          <a:xfrm>
            <a:off x="467544"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Tree>
    <p:extLst>
      <p:ext uri="{BB962C8B-B14F-4D97-AF65-F5344CB8AC3E}">
        <p14:creationId xmlns:p14="http://schemas.microsoft.com/office/powerpoint/2010/main" val="36355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4" name="文字版面配置區 2"/>
          <p:cNvSpPr>
            <a:spLocks noGrp="1"/>
          </p:cNvSpPr>
          <p:nvPr>
            <p:ph type="body" sz="quarter" idx="18"/>
          </p:nvPr>
        </p:nvSpPr>
        <p:spPr>
          <a:xfrm>
            <a:off x="467546" y="1268760"/>
            <a:ext cx="4031679" cy="792088"/>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2"/>
          <p:cNvSpPr>
            <a:spLocks noGrp="1"/>
          </p:cNvSpPr>
          <p:nvPr>
            <p:ph type="body" sz="quarter" idx="19"/>
          </p:nvPr>
        </p:nvSpPr>
        <p:spPr>
          <a:xfrm>
            <a:off x="4644779" y="1268760"/>
            <a:ext cx="4031679" cy="792088"/>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9" name="文字版面配置區 7"/>
          <p:cNvSpPr>
            <a:spLocks noGrp="1"/>
          </p:cNvSpPr>
          <p:nvPr>
            <p:ph type="body" sz="quarter" idx="12"/>
          </p:nvPr>
        </p:nvSpPr>
        <p:spPr>
          <a:xfrm>
            <a:off x="467544" y="5229201"/>
            <a:ext cx="8208912" cy="720080"/>
          </a:xfrm>
          <a:prstGeom prst="rect">
            <a:avLst/>
          </a:prstGeom>
        </p:spPr>
        <p:txBody>
          <a:bodyPr>
            <a:normAutofit/>
          </a:bodyPr>
          <a:lstStyle>
            <a:lvl1pPr marL="128588" indent="-128588">
              <a:buFont typeface="Arial" pitchFamily="34" charset="0"/>
              <a:buChar char="•"/>
              <a:defRPr sz="900">
                <a:latin typeface="微軟正黑體" pitchFamily="34" charset="-120"/>
                <a:ea typeface="微軟正黑體" pitchFamily="34" charset="-120"/>
              </a:defRPr>
            </a:lvl1pPr>
          </a:lstStyle>
          <a:p>
            <a:pPr lvl="0"/>
            <a:r>
              <a:rPr lang="zh-TW" altLang="en-US"/>
              <a:t>按一下以編輯母片文字樣式</a:t>
            </a:r>
          </a:p>
        </p:txBody>
      </p:sp>
      <p:sp>
        <p:nvSpPr>
          <p:cNvPr id="20" name="內容版面配置區 3"/>
          <p:cNvSpPr>
            <a:spLocks noGrp="1"/>
          </p:cNvSpPr>
          <p:nvPr>
            <p:ph sz="half" idx="20"/>
          </p:nvPr>
        </p:nvSpPr>
        <p:spPr>
          <a:xfrm>
            <a:off x="4644009"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1" name="內容版面配置區 3"/>
          <p:cNvSpPr>
            <a:spLocks noGrp="1"/>
          </p:cNvSpPr>
          <p:nvPr>
            <p:ph sz="half" idx="2"/>
          </p:nvPr>
        </p:nvSpPr>
        <p:spPr>
          <a:xfrm>
            <a:off x="467544"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 name="投影片編號版面配置區 1"/>
          <p:cNvSpPr>
            <a:spLocks noGrp="1"/>
          </p:cNvSpPr>
          <p:nvPr>
            <p:ph type="sldNum" sz="quarter" idx="21"/>
          </p:nvPr>
        </p:nvSpPr>
        <p:spPr/>
        <p:txBody>
          <a:bodyPr/>
          <a:lstStyle/>
          <a:p>
            <a:fld id="{415482FC-CF5F-466A-B8B6-BC3733E92023}" type="slidenum">
              <a:rPr lang="zh-TW" altLang="en-US" smtClean="0"/>
              <a:pPr/>
              <a:t>‹#›</a:t>
            </a:fld>
            <a:endParaRPr lang="zh-TW" altLang="en-US" dirty="0"/>
          </a:p>
        </p:txBody>
      </p:sp>
      <p:sp>
        <p:nvSpPr>
          <p:cNvPr id="10" name="文字版面配置區 7"/>
          <p:cNvSpPr>
            <a:spLocks noGrp="1"/>
          </p:cNvSpPr>
          <p:nvPr>
            <p:ph type="body" sz="quarter" idx="2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Tree>
    <p:extLst>
      <p:ext uri="{BB962C8B-B14F-4D97-AF65-F5344CB8AC3E}">
        <p14:creationId xmlns:p14="http://schemas.microsoft.com/office/powerpoint/2010/main" val="445683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8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8" name="文字版面配置區 3"/>
          <p:cNvSpPr>
            <a:spLocks noGrp="1"/>
          </p:cNvSpPr>
          <p:nvPr>
            <p:ph type="body" sz="half" idx="2"/>
          </p:nvPr>
        </p:nvSpPr>
        <p:spPr>
          <a:xfrm>
            <a:off x="5597355" y="1268761"/>
            <a:ext cx="3079103" cy="4608512"/>
          </a:xfrm>
          <a:prstGeom prst="rect">
            <a:avLst/>
          </a:prstGeom>
        </p:spPr>
        <p:txBody>
          <a:bodyPr>
            <a:normAutofit/>
          </a:bodyPr>
          <a:lstStyle>
            <a:lvl1pPr marL="214313" indent="-214313">
              <a:buFont typeface="Arial" pitchFamily="34" charset="0"/>
              <a:buChar char="•"/>
              <a:defRPr sz="1200">
                <a:latin typeface="微軟正黑體" pitchFamily="34" charset="-120"/>
                <a:ea typeface="微軟正黑體" pitchFamily="34" charset="-12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按一下以編輯母片文字樣式</a:t>
            </a:r>
          </a:p>
        </p:txBody>
      </p:sp>
      <p:sp>
        <p:nvSpPr>
          <p:cNvPr id="10" name="內容版面配置區 3"/>
          <p:cNvSpPr>
            <a:spLocks noGrp="1"/>
          </p:cNvSpPr>
          <p:nvPr>
            <p:ph sz="half" idx="10"/>
          </p:nvPr>
        </p:nvSpPr>
        <p:spPr>
          <a:xfrm>
            <a:off x="467545" y="1268760"/>
            <a:ext cx="5040560" cy="4248472"/>
          </a:xfrm>
          <a:prstGeom prst="rect">
            <a:avLst/>
          </a:prstGeom>
        </p:spPr>
        <p:txBody>
          <a:bodyPr/>
          <a:lstStyle>
            <a:lvl1pPr>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20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1" name="文字版面配置區 7"/>
          <p:cNvSpPr>
            <a:spLocks noGrp="1"/>
          </p:cNvSpPr>
          <p:nvPr>
            <p:ph type="body" sz="quarter" idx="12"/>
          </p:nvPr>
        </p:nvSpPr>
        <p:spPr>
          <a:xfrm>
            <a:off x="467545" y="5589241"/>
            <a:ext cx="5040560"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2" name="投影片編號版面配置區 1"/>
          <p:cNvSpPr>
            <a:spLocks noGrp="1"/>
          </p:cNvSpPr>
          <p:nvPr>
            <p:ph type="sldNum" sz="quarter" idx="13"/>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784869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9_免責聲明">
    <p:spTree>
      <p:nvGrpSpPr>
        <p:cNvPr id="1" name=""/>
        <p:cNvGrpSpPr/>
        <p:nvPr/>
      </p:nvGrpSpPr>
      <p:grpSpPr>
        <a:xfrm>
          <a:off x="0" y="0"/>
          <a:ext cx="0" cy="0"/>
          <a:chOff x="0" y="0"/>
          <a:chExt cx="0" cy="0"/>
        </a:xfrm>
      </p:grpSpPr>
      <p:sp>
        <p:nvSpPr>
          <p:cNvPr id="2" name="投影片編號版面配置區 1"/>
          <p:cNvSpPr>
            <a:spLocks noGrp="1"/>
          </p:cNvSpPr>
          <p:nvPr>
            <p:ph type="sldNum" sz="quarter" idx="18"/>
          </p:nvPr>
        </p:nvSpPr>
        <p:spPr/>
        <p:txBody>
          <a:bodyPr/>
          <a:lstStyle/>
          <a:p>
            <a:fld id="{415482FC-CF5F-466A-B8B6-BC3733E92023}" type="slidenum">
              <a:rPr lang="zh-TW" altLang="en-US" smtClean="0"/>
              <a:pPr/>
              <a:t>‹#›</a:t>
            </a:fld>
            <a:endParaRPr lang="zh-TW" altLang="en-US" dirty="0"/>
          </a:p>
        </p:txBody>
      </p:sp>
      <p:sp>
        <p:nvSpPr>
          <p:cNvPr id="3" name="矩形 2"/>
          <p:cNvSpPr/>
          <p:nvPr/>
        </p:nvSpPr>
        <p:spPr>
          <a:xfrm>
            <a:off x="518013" y="836715"/>
            <a:ext cx="7992888" cy="507831"/>
          </a:xfrm>
          <a:prstGeom prst="rect">
            <a:avLst/>
          </a:prstGeom>
        </p:spPr>
        <p:txBody>
          <a:bodyPr wrap="square">
            <a:spAutoFit/>
          </a:bodyPr>
          <a:lstStyle/>
          <a:p>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endParaRPr lang="en-US" altLang="zh-TW" sz="1350" dirty="0">
              <a:latin typeface="微軟正黑體" pitchFamily="34" charset="-120"/>
              <a:ea typeface="微軟正黑體" pitchFamily="34" charset="-120"/>
            </a:endParaRPr>
          </a:p>
        </p:txBody>
      </p:sp>
      <p:sp>
        <p:nvSpPr>
          <p:cNvPr id="5" name="矩形 4"/>
          <p:cNvSpPr/>
          <p:nvPr userDrawn="1"/>
        </p:nvSpPr>
        <p:spPr>
          <a:xfrm>
            <a:off x="518013" y="836712"/>
            <a:ext cx="7992888" cy="2169825"/>
          </a:xfrm>
          <a:prstGeom prst="rect">
            <a:avLst/>
          </a:prstGeom>
        </p:spPr>
        <p:txBody>
          <a:bodyPr wrap="square">
            <a:spAutoFit/>
          </a:bodyPr>
          <a:lstStyle/>
          <a:p>
            <a:pPr algn="just"/>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免責聲明</a:t>
            </a:r>
            <a:r>
              <a:rPr lang="en-US" altLang="zh-TW" sz="1350" dirty="0">
                <a:latin typeface="微軟正黑體" pitchFamily="34" charset="-120"/>
                <a:ea typeface="微軟正黑體" pitchFamily="34" charset="-120"/>
              </a:rPr>
              <a:t>:</a:t>
            </a:r>
          </a:p>
          <a:p>
            <a:pPr algn="just"/>
            <a:r>
              <a:rPr lang="zh-TW" altLang="en-US" sz="1350" dirty="0">
                <a:latin typeface="微軟正黑體" pitchFamily="34" charset="-120"/>
                <a:ea typeface="微軟正黑體" pitchFamily="34" charset="-120"/>
              </a:rPr>
              <a:t>台新證券投資顧問股份有限公司 </a:t>
            </a:r>
            <a:r>
              <a:rPr lang="en-US" altLang="zh-TW" sz="1350" dirty="0">
                <a:latin typeface="微軟正黑體" pitchFamily="34" charset="-120"/>
                <a:ea typeface="微軟正黑體" pitchFamily="34" charset="-120"/>
              </a:rPr>
              <a:t>(02)5589-9558  Fax:(02)3707-6769  </a:t>
            </a:r>
            <a:r>
              <a:rPr lang="zh-TW" altLang="en-US" sz="1350" dirty="0">
                <a:latin typeface="微軟正黑體" pitchFamily="34" charset="-120"/>
                <a:ea typeface="微軟正黑體" pitchFamily="34" charset="-120"/>
              </a:rPr>
              <a:t>地址</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台北市仁愛路四段</a:t>
            </a:r>
            <a:r>
              <a:rPr lang="en-US" altLang="zh-TW" sz="1350" dirty="0">
                <a:latin typeface="微軟正黑體" pitchFamily="34" charset="-120"/>
                <a:ea typeface="微軟正黑體" pitchFamily="34" charset="-120"/>
              </a:rPr>
              <a:t>118</a:t>
            </a:r>
            <a:r>
              <a:rPr lang="zh-TW" altLang="en-US" sz="1350" dirty="0">
                <a:latin typeface="微軟正黑體" pitchFamily="34" charset="-120"/>
                <a:ea typeface="微軟正黑體" pitchFamily="34" charset="-120"/>
              </a:rPr>
              <a:t>號</a:t>
            </a:r>
            <a:r>
              <a:rPr lang="en-US" altLang="zh-TW" sz="1350" dirty="0">
                <a:latin typeface="微軟正黑體" pitchFamily="34" charset="-120"/>
                <a:ea typeface="微軟正黑體" pitchFamily="34" charset="-120"/>
              </a:rPr>
              <a:t>16</a:t>
            </a:r>
            <a:r>
              <a:rPr lang="zh-TW" altLang="en-US" sz="1350" dirty="0">
                <a:latin typeface="微軟正黑體" pitchFamily="34" charset="-120"/>
                <a:ea typeface="微軟正黑體" pitchFamily="34" charset="-120"/>
              </a:rPr>
              <a:t>樓  一百零八金管投顧新字第零壹柒號。本報告所載係根據各項市場資訊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加以整理、彙集及研究分析。僅供參考，本公司不保證其正確性及完整性。內容如涉及有價證券或金融商品相關記載或說明，並不構成要約、招攬、宣傳、建議或推薦買賣等任何形式之表示，投資人如參考本報告進行相關投資或交易，應自行承擔所有損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本公司不負任何法律責任。另本公司同時擔任木星基金總代理人，惟本公司投資研究部門與招攬木星基金之業務部門，不相隸屬且予適當區隔，不致侵害客戶利益。此外，非經本公司同意，不得將本報告內容之部份或全部加以複製、轉載或散布。</a:t>
            </a:r>
            <a:endParaRPr lang="en-US" altLang="zh-TW" sz="1350" dirty="0">
              <a:latin typeface="微軟正黑體" pitchFamily="34" charset="-120"/>
              <a:ea typeface="微軟正黑體" pitchFamily="34" charset="-120"/>
            </a:endParaRPr>
          </a:p>
        </p:txBody>
      </p:sp>
    </p:spTree>
    <p:extLst>
      <p:ext uri="{BB962C8B-B14F-4D97-AF65-F5344CB8AC3E}">
        <p14:creationId xmlns:p14="http://schemas.microsoft.com/office/powerpoint/2010/main" val="1203142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E5235B85-5498-4692-A86C-ACF9771605B4}" type="datetime1">
              <a:rPr lang="zh-TW" altLang="en-US" smtClean="0">
                <a:solidFill>
                  <a:prstClr val="black">
                    <a:tint val="75000"/>
                  </a:prstClr>
                </a:solidFill>
              </a:rPr>
              <a:t>2026/5/7</a:t>
            </a:fld>
            <a:endParaRPr lang="zh-TW" altLang="en-US">
              <a:solidFill>
                <a:prstClr val="black">
                  <a:tint val="75000"/>
                </a:prstClr>
              </a:solidFill>
            </a:endParaRPr>
          </a:p>
        </p:txBody>
      </p:sp>
      <p:sp>
        <p:nvSpPr>
          <p:cNvPr id="3"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4" name="投影片編號版面配置區 5"/>
          <p:cNvSpPr>
            <a:spLocks noGrp="1"/>
          </p:cNvSpPr>
          <p:nvPr>
            <p:ph type="sldNum" sz="quarter" idx="12"/>
          </p:nvPr>
        </p:nvSpPr>
        <p:spPr/>
        <p:txBody>
          <a:bodyPr/>
          <a:lstStyle>
            <a:lvl1pPr>
              <a:defRPr/>
            </a:lvl1pPr>
          </a:lstStyle>
          <a:p>
            <a:pPr>
              <a:defRPr/>
            </a:pPr>
            <a:fld id="{186220AF-483D-4EE9-B065-23EEF407C225}" type="slidenum">
              <a:rPr lang="zh-TW" altLang="en-US"/>
              <a:pPr>
                <a:defRPr/>
              </a:pPr>
              <a:t>‹#›</a:t>
            </a:fld>
            <a:endParaRPr lang="zh-TW" altLang="en-US"/>
          </a:p>
        </p:txBody>
      </p:sp>
    </p:spTree>
    <p:extLst>
      <p:ext uri="{BB962C8B-B14F-4D97-AF65-F5344CB8AC3E}">
        <p14:creationId xmlns:p14="http://schemas.microsoft.com/office/powerpoint/2010/main" val="1120641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投影片編號版面配置區 5"/>
          <p:cNvSpPr>
            <a:spLocks noGrp="1"/>
          </p:cNvSpPr>
          <p:nvPr>
            <p:ph type="sldNum" sz="quarter" idx="4"/>
          </p:nvPr>
        </p:nvSpPr>
        <p:spPr>
          <a:xfrm>
            <a:off x="197514" y="6381328"/>
            <a:ext cx="395064" cy="288032"/>
          </a:xfrm>
          <a:prstGeom prst="rect">
            <a:avLst/>
          </a:prstGeom>
        </p:spPr>
        <p:txBody>
          <a:bodyPr/>
          <a:lstStyle>
            <a:lvl1pPr>
              <a:defRPr sz="900">
                <a:latin typeface="Arial" pitchFamily="34" charset="0"/>
                <a:cs typeface="Arial" pitchFamily="34" charset="0"/>
              </a:defRPr>
            </a:lvl1pPr>
          </a:lstStyle>
          <a:p>
            <a:fld id="{415482FC-CF5F-466A-B8B6-BC3733E92023}" type="slidenum">
              <a:rPr lang="zh-TW" altLang="en-US" smtClean="0"/>
              <a:pPr/>
              <a:t>‹#›</a:t>
            </a:fld>
            <a:endParaRPr lang="zh-TW" altLang="en-US" dirty="0"/>
          </a:p>
        </p:txBody>
      </p:sp>
      <p:cxnSp>
        <p:nvCxnSpPr>
          <p:cNvPr id="7"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grpSp>
        <p:nvGrpSpPr>
          <p:cNvPr id="9" name="群組 8"/>
          <p:cNvGrpSpPr/>
          <p:nvPr userDrawn="1"/>
        </p:nvGrpSpPr>
        <p:grpSpPr>
          <a:xfrm>
            <a:off x="7758354" y="6435561"/>
            <a:ext cx="1253784" cy="233799"/>
            <a:chOff x="2747814" y="218978"/>
            <a:chExt cx="3060153" cy="491493"/>
          </a:xfrm>
        </p:grpSpPr>
        <p:pic>
          <p:nvPicPr>
            <p:cNvPr id="14" name="Picture 2" descr="台新綜合證券股份有限公司等包銷聯上實業股份有限公司國內第三次無擔保轉">
              <a:extLst>
                <a:ext uri="{FF2B5EF4-FFF2-40B4-BE49-F238E27FC236}">
                  <a16:creationId xmlns:a16="http://schemas.microsoft.com/office/drawing/2014/main" id="{2FD9BB75-12CC-AE4F-BABA-8091371005B8}"/>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2747814" y="350046"/>
              <a:ext cx="1583173" cy="360425"/>
            </a:xfrm>
            <a:prstGeom prst="rect">
              <a:avLst/>
            </a:prstGeom>
            <a:noFill/>
            <a:extLst>
              <a:ext uri="{909E8E84-426E-40DD-AFC4-6F175D3DCCD1}">
                <a14:hiddenFill xmlns:a14="http://schemas.microsoft.com/office/drawing/2010/main">
                  <a:solidFill>
                    <a:srgbClr val="FFFFFF"/>
                  </a:solidFill>
                </a14:hiddenFill>
              </a:ext>
            </a:extLst>
          </p:spPr>
        </p:pic>
        <p:pic>
          <p:nvPicPr>
            <p:cNvPr id="15" name="圖片 14"/>
            <p:cNvPicPr>
              <a:picLocks noChangeAspect="1"/>
            </p:cNvPicPr>
            <p:nvPr/>
          </p:nvPicPr>
          <p:blipFill rotWithShape="1">
            <a:blip r:embed="rId16" cstate="screen">
              <a:extLst>
                <a:ext uri="{28A0092B-C50C-407E-A947-70E740481C1C}">
                  <a14:useLocalDpi xmlns:a14="http://schemas.microsoft.com/office/drawing/2010/main"/>
                </a:ext>
              </a:extLst>
            </a:blip>
            <a:srcRect r="72177" b="35515"/>
            <a:stretch/>
          </p:blipFill>
          <p:spPr>
            <a:xfrm>
              <a:off x="4330987" y="218978"/>
              <a:ext cx="1476980" cy="473718"/>
            </a:xfrm>
            <a:prstGeom prst="rect">
              <a:avLst/>
            </a:prstGeom>
          </p:spPr>
        </p:pic>
      </p:grpSp>
      <p:sp>
        <p:nvSpPr>
          <p:cNvPr id="11" name="矩形 10">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16" name="圖片 15"/>
          <p:cNvPicPr>
            <a:picLocks noChangeAspect="1"/>
          </p:cNvPicPr>
          <p:nvPr userDrawn="1"/>
        </p:nvPicPr>
        <p:blipFill>
          <a:blip r:embed="rId17"/>
          <a:stretch>
            <a:fillRect/>
          </a:stretch>
        </p:blipFill>
        <p:spPr>
          <a:xfrm>
            <a:off x="7308304" y="-16771"/>
            <a:ext cx="1999661" cy="256054"/>
          </a:xfrm>
          <a:prstGeom prst="rect">
            <a:avLst/>
          </a:prstGeom>
        </p:spPr>
      </p:pic>
    </p:spTree>
    <p:extLst>
      <p:ext uri="{BB962C8B-B14F-4D97-AF65-F5344CB8AC3E}">
        <p14:creationId xmlns:p14="http://schemas.microsoft.com/office/powerpoint/2010/main" val="2055990614"/>
      </p:ext>
    </p:extLst>
  </p:cSld>
  <p:clrMap bg1="lt1" tx1="dk1" bg2="lt2" tx2="dk2" accent1="accent1" accent2="accent2" accent3="accent3" accent4="accent4" accent5="accent5" accent6="accent6" hlink="hlink" folHlink="folHlink"/>
  <p:sldLayoutIdLst>
    <p:sldLayoutId id="2147483669" r:id="rId1"/>
    <p:sldLayoutId id="2147483678" r:id="rId2"/>
    <p:sldLayoutId id="2147483682" r:id="rId3"/>
    <p:sldLayoutId id="2147483681" r:id="rId4"/>
    <p:sldLayoutId id="2147483679" r:id="rId5"/>
    <p:sldLayoutId id="2147483680" r:id="rId6"/>
    <p:sldLayoutId id="2147483671" r:id="rId7"/>
    <p:sldLayoutId id="2147483673" r:id="rId8"/>
    <p:sldLayoutId id="2147483674" r:id="rId9"/>
    <p:sldLayoutId id="2147483675" r:id="rId10"/>
    <p:sldLayoutId id="2147483676" r:id="rId11"/>
    <p:sldLayoutId id="2147483677" r:id="rId12"/>
    <p:sldLayoutId id="2147483683" r:id="rId13"/>
  </p:sldLayoutIdLst>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chart" Target="../charts/chart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chart" Target="../charts/chart5.xml"/><Relationship Id="rId13" Type="http://schemas.openxmlformats.org/officeDocument/2006/relationships/image" Target="../media/image15.png"/><Relationship Id="rId18" Type="http://schemas.openxmlformats.org/officeDocument/2006/relationships/image" Target="../media/image18.png"/><Relationship Id="rId3" Type="http://schemas.openxmlformats.org/officeDocument/2006/relationships/chart" Target="../charts/chart3.xml"/><Relationship Id="rId21" Type="http://schemas.openxmlformats.org/officeDocument/2006/relationships/image" Target="../media/image21.png"/><Relationship Id="rId7" Type="http://schemas.openxmlformats.org/officeDocument/2006/relationships/image" Target="../media/image10.png"/><Relationship Id="rId12" Type="http://schemas.openxmlformats.org/officeDocument/2006/relationships/image" Target="../media/image14.png"/><Relationship Id="rId17" Type="http://schemas.microsoft.com/office/2007/relationships/hdphoto" Target="../media/hdphoto2.wdp"/><Relationship Id="rId2" Type="http://schemas.openxmlformats.org/officeDocument/2006/relationships/notesSlide" Target="../notesSlides/notesSlide2.xml"/><Relationship Id="rId16" Type="http://schemas.openxmlformats.org/officeDocument/2006/relationships/image" Target="../media/image17.png"/><Relationship Id="rId20"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chart" Target="../charts/chart4.xml"/><Relationship Id="rId11" Type="http://schemas.openxmlformats.org/officeDocument/2006/relationships/image" Target="../media/image13.png"/><Relationship Id="rId24" Type="http://schemas.openxmlformats.org/officeDocument/2006/relationships/image" Target="../media/image24.png"/><Relationship Id="rId5" Type="http://schemas.openxmlformats.org/officeDocument/2006/relationships/image" Target="../media/image9.png"/><Relationship Id="rId15" Type="http://schemas.openxmlformats.org/officeDocument/2006/relationships/image" Target="../media/image16.png"/><Relationship Id="rId23" Type="http://schemas.openxmlformats.org/officeDocument/2006/relationships/image" Target="../media/image23.png"/><Relationship Id="rId10" Type="http://schemas.openxmlformats.org/officeDocument/2006/relationships/image" Target="../media/image12.png"/><Relationship Id="rId19" Type="http://schemas.openxmlformats.org/officeDocument/2006/relationships/image" Target="../media/image19.png"/><Relationship Id="rId4" Type="http://schemas.openxmlformats.org/officeDocument/2006/relationships/image" Target="../media/image6.png"/><Relationship Id="rId9" Type="http://schemas.openxmlformats.org/officeDocument/2006/relationships/image" Target="../media/image11.png"/><Relationship Id="rId14" Type="http://schemas.microsoft.com/office/2007/relationships/hdphoto" Target="../media/hdphoto1.wdp"/><Relationship Id="rId22"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chart" Target="../charts/chart8.xml"/><Relationship Id="rId4" Type="http://schemas.openxmlformats.org/officeDocument/2006/relationships/chart" Target="../charts/chart7.xml"/></Relationships>
</file>

<file path=ppt/slides/_rels/slide5.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chart" Target="../charts/chart9.xml"/><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25.png"/><Relationship Id="rId4" Type="http://schemas.openxmlformats.org/officeDocument/2006/relationships/chart" Target="../charts/chart10.xml"/><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A2DD3E55-BAC7-0634-2298-0F5A747D2B32}"/>
              </a:ext>
            </a:extLst>
          </p:cNvPr>
          <p:cNvPicPr>
            <a:picLocks noChangeAspect="1"/>
          </p:cNvPicPr>
          <p:nvPr/>
        </p:nvPicPr>
        <p:blipFill>
          <a:blip r:embed="rId2"/>
          <a:stretch>
            <a:fillRect/>
          </a:stretch>
        </p:blipFill>
        <p:spPr>
          <a:xfrm>
            <a:off x="539552" y="2420888"/>
            <a:ext cx="1733188" cy="946320"/>
          </a:xfrm>
          <a:prstGeom prst="rect">
            <a:avLst/>
          </a:prstGeom>
        </p:spPr>
      </p:pic>
      <p:sp>
        <p:nvSpPr>
          <p:cNvPr id="3" name="副標題 2"/>
          <p:cNvSpPr>
            <a:spLocks noGrp="1"/>
          </p:cNvSpPr>
          <p:nvPr>
            <p:ph type="subTitle" idx="1"/>
          </p:nvPr>
        </p:nvSpPr>
        <p:spPr>
          <a:xfrm>
            <a:off x="2664328" y="3483648"/>
            <a:ext cx="2555744" cy="349749"/>
          </a:xfrm>
        </p:spPr>
        <p:txBody>
          <a:bodyPr/>
          <a:lstStyle/>
          <a:p>
            <a:r>
              <a:rPr lang="en-US" altLang="zh-TW" dirty="0"/>
              <a:t>Eli Lilly and Company</a:t>
            </a:r>
          </a:p>
        </p:txBody>
      </p:sp>
      <p:sp>
        <p:nvSpPr>
          <p:cNvPr id="4" name="標題 3"/>
          <p:cNvSpPr>
            <a:spLocks noGrp="1"/>
          </p:cNvSpPr>
          <p:nvPr>
            <p:ph type="ctrTitle"/>
          </p:nvPr>
        </p:nvSpPr>
        <p:spPr>
          <a:xfrm>
            <a:off x="2664328" y="2935160"/>
            <a:ext cx="1691680" cy="439193"/>
          </a:xfrm>
        </p:spPr>
        <p:txBody>
          <a:bodyPr/>
          <a:lstStyle/>
          <a:p>
            <a:r>
              <a:rPr lang="zh-TW" altLang="en-US" sz="2800" dirty="0"/>
              <a:t>禮來公司</a:t>
            </a:r>
          </a:p>
        </p:txBody>
      </p:sp>
      <p:graphicFrame>
        <p:nvGraphicFramePr>
          <p:cNvPr id="6" name="表格 5">
            <a:extLst>
              <a:ext uri="{FF2B5EF4-FFF2-40B4-BE49-F238E27FC236}">
                <a16:creationId xmlns:a16="http://schemas.microsoft.com/office/drawing/2014/main" id="{3151A333-5905-4DD6-8633-414D0873274C}"/>
              </a:ext>
            </a:extLst>
          </p:cNvPr>
          <p:cNvGraphicFramePr>
            <a:graphicFrameLocks noGrp="1"/>
          </p:cNvGraphicFramePr>
          <p:nvPr>
            <p:extLst>
              <p:ext uri="{D42A27DB-BD31-4B8C-83A1-F6EECF244321}">
                <p14:modId xmlns:p14="http://schemas.microsoft.com/office/powerpoint/2010/main" val="438136896"/>
              </p:ext>
            </p:extLst>
          </p:nvPr>
        </p:nvGraphicFramePr>
        <p:xfrm>
          <a:off x="1115616" y="4149080"/>
          <a:ext cx="6819900" cy="740352"/>
        </p:xfrm>
        <a:graphic>
          <a:graphicData uri="http://schemas.openxmlformats.org/drawingml/2006/table">
            <a:tbl>
              <a:tblPr/>
              <a:tblGrid>
                <a:gridCol w="927100">
                  <a:extLst>
                    <a:ext uri="{9D8B030D-6E8A-4147-A177-3AD203B41FA5}">
                      <a16:colId xmlns:a16="http://schemas.microsoft.com/office/drawing/2014/main" val="2431230819"/>
                    </a:ext>
                  </a:extLst>
                </a:gridCol>
                <a:gridCol w="927100">
                  <a:extLst>
                    <a:ext uri="{9D8B030D-6E8A-4147-A177-3AD203B41FA5}">
                      <a16:colId xmlns:a16="http://schemas.microsoft.com/office/drawing/2014/main" val="4186104954"/>
                    </a:ext>
                  </a:extLst>
                </a:gridCol>
                <a:gridCol w="810096">
                  <a:extLst>
                    <a:ext uri="{9D8B030D-6E8A-4147-A177-3AD203B41FA5}">
                      <a16:colId xmlns:a16="http://schemas.microsoft.com/office/drawing/2014/main" val="1983523619"/>
                    </a:ext>
                  </a:extLst>
                </a:gridCol>
                <a:gridCol w="504056">
                  <a:extLst>
                    <a:ext uri="{9D8B030D-6E8A-4147-A177-3AD203B41FA5}">
                      <a16:colId xmlns:a16="http://schemas.microsoft.com/office/drawing/2014/main" val="949459868"/>
                    </a:ext>
                  </a:extLst>
                </a:gridCol>
                <a:gridCol w="1797348">
                  <a:extLst>
                    <a:ext uri="{9D8B030D-6E8A-4147-A177-3AD203B41FA5}">
                      <a16:colId xmlns:a16="http://schemas.microsoft.com/office/drawing/2014/main" val="1946720866"/>
                    </a:ext>
                  </a:extLst>
                </a:gridCol>
                <a:gridCol w="927100">
                  <a:extLst>
                    <a:ext uri="{9D8B030D-6E8A-4147-A177-3AD203B41FA5}">
                      <a16:colId xmlns:a16="http://schemas.microsoft.com/office/drawing/2014/main" val="1238084409"/>
                    </a:ext>
                  </a:extLst>
                </a:gridCol>
                <a:gridCol w="927100">
                  <a:extLst>
                    <a:ext uri="{9D8B030D-6E8A-4147-A177-3AD203B41FA5}">
                      <a16:colId xmlns:a16="http://schemas.microsoft.com/office/drawing/2014/main" val="3617222459"/>
                    </a:ext>
                  </a:extLst>
                </a:gridCol>
              </a:tblGrid>
              <a:tr h="254069">
                <a:tc>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商品</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發行機構</a:t>
                      </a:r>
                      <a:endParaRPr lang="en-US" altLang="zh-TW" sz="11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票息</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幣別</a:t>
                      </a:r>
                    </a:p>
                  </a:txBody>
                  <a:tcPr marL="9525" marR="9525" marT="9525" marB="0" anchor="ctr">
                    <a:lnL>
                      <a:noFill/>
                    </a:lnL>
                    <a:lnR>
                      <a:noFill/>
                    </a:lnR>
                    <a:lnT>
                      <a:noFill/>
                    </a:lnT>
                    <a:lnB>
                      <a:noFill/>
                    </a:lnB>
                    <a:solidFill>
                      <a:srgbClr val="C00000"/>
                    </a:solidFill>
                  </a:tcPr>
                </a:tc>
                <a:tc>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信用評等</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償債順位</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到期日</a:t>
                      </a:r>
                      <a:endPar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9525" marR="9525" marT="9525" marB="0" anchor="ctr">
                    <a:lnL>
                      <a:noFill/>
                    </a:lnL>
                    <a:lnR>
                      <a:noFill/>
                    </a:lnR>
                    <a:lnT>
                      <a:noFill/>
                    </a:lnT>
                    <a:lnB>
                      <a:noFill/>
                    </a:lnB>
                    <a:solidFill>
                      <a:srgbClr val="C00000"/>
                    </a:solidFill>
                  </a:tcPr>
                </a:tc>
                <a:extLst>
                  <a:ext uri="{0D108BD9-81ED-4DB2-BD59-A6C34878D82A}">
                    <a16:rowId xmlns:a16="http://schemas.microsoft.com/office/drawing/2014/main" val="2608105475"/>
                  </a:ext>
                </a:extLst>
              </a:tr>
              <a:tr h="254069">
                <a:tc>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代號</a:t>
                      </a:r>
                    </a:p>
                  </a:txBody>
                  <a:tcPr marL="9525" marR="9525" marT="9525" marB="0" anchor="ctr">
                    <a:lnL>
                      <a:noFill/>
                    </a:lnL>
                    <a:lnR>
                      <a:noFill/>
                    </a:lnR>
                    <a:lnT>
                      <a:noFill/>
                    </a:lnT>
                    <a:lnB>
                      <a:noFill/>
                    </a:lnB>
                    <a:solidFill>
                      <a:srgbClr val="C00000"/>
                    </a:solidFill>
                  </a:tcPr>
                </a:tc>
                <a:tc vMerge="1">
                  <a:txBody>
                    <a:bodyPr/>
                    <a:lstStyle/>
                    <a:p>
                      <a:endParaRPr lang="zh-TW" altLang="en-US"/>
                    </a:p>
                  </a:txBody>
                  <a:tcPr/>
                </a:tc>
                <a:tc vMerge="1">
                  <a:txBody>
                    <a:bodyPr/>
                    <a:lstStyle/>
                    <a:p>
                      <a:endParaRPr lang="zh-TW" altLang="en-US"/>
                    </a:p>
                  </a:txBody>
                  <a:tcPr/>
                </a:tc>
                <a:tc vMerge="1">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幣別</a:t>
                      </a:r>
                    </a:p>
                  </a:txBody>
                  <a:tcPr marL="9525" marR="9525" marT="9525" marB="0" anchor="ctr">
                    <a:lnL>
                      <a:noFill/>
                    </a:lnL>
                    <a:lnR>
                      <a:noFill/>
                    </a:lnR>
                    <a:lnT>
                      <a:noFill/>
                    </a:lnT>
                    <a:lnB>
                      <a:noFill/>
                    </a:lnB>
                    <a:solidFill>
                      <a:srgbClr val="C00000"/>
                    </a:solidFill>
                  </a:tcPr>
                </a:tc>
                <a:tc>
                  <a:txBody>
                    <a:bodyPr/>
                    <a:lstStyle/>
                    <a:p>
                      <a:pPr algn="ctr" rtl="0" fontAlgn="ctr"/>
                      <a:r>
                        <a:rPr lang="en-US" sz="1100" b="1" i="0" u="none" strike="noStrike" dirty="0">
                          <a:solidFill>
                            <a:srgbClr val="FFFFFF"/>
                          </a:solidFill>
                          <a:effectLst/>
                          <a:latin typeface="微軟正黑體" panose="020B0604030504040204" pitchFamily="34" charset="-120"/>
                          <a:ea typeface="微軟正黑體" panose="020B0604030504040204" pitchFamily="34" charset="-120"/>
                        </a:rPr>
                        <a:t>Moody/ S&amp;P / Fitch</a:t>
                      </a:r>
                    </a:p>
                  </a:txBody>
                  <a:tcPr marL="9525" marR="9525" marT="9525" marB="0" anchor="ctr">
                    <a:lnL>
                      <a:noFill/>
                    </a:lnL>
                    <a:lnR>
                      <a:noFill/>
                    </a:lnR>
                    <a:lnT>
                      <a:noFill/>
                    </a:lnT>
                    <a:lnB>
                      <a:noFill/>
                    </a:lnB>
                    <a:solidFill>
                      <a:srgbClr val="C00000"/>
                    </a:solid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33559202"/>
                  </a:ext>
                </a:extLst>
              </a:tr>
              <a:tr h="232214">
                <a:tc>
                  <a:txBody>
                    <a:bodyPr/>
                    <a:lstStyle/>
                    <a:p>
                      <a:pPr algn="ctr" rtl="0" fontAlgn="ctr"/>
                      <a:r>
                        <a:rPr lang="en-US" sz="1000" b="0" i="0" u="none" strike="noStrike" dirty="0">
                          <a:solidFill>
                            <a:srgbClr val="000000"/>
                          </a:solidFill>
                          <a:effectLst/>
                          <a:latin typeface="Arial" panose="020B0604020202020204" pitchFamily="34" charset="0"/>
                          <a:ea typeface="新細明體" panose="02020500000000000000" pitchFamily="18" charset="-120"/>
                        </a:rPr>
                        <a:t>CBRR</a:t>
                      </a:r>
                    </a:p>
                  </a:txBody>
                  <a:tcPr marL="9525" marR="9525" marT="9525" marB="0" anchor="ctr">
                    <a:lnL>
                      <a:noFill/>
                    </a:lnL>
                    <a:lnR>
                      <a:noFill/>
                    </a:lnR>
                    <a:lnT>
                      <a:noFill/>
                    </a:lnT>
                    <a:lnB>
                      <a:noFill/>
                    </a:lnB>
                    <a:solidFill>
                      <a:srgbClr val="F2F2F2"/>
                    </a:solidFill>
                  </a:tcPr>
                </a:tc>
                <a:tc>
                  <a:txBody>
                    <a:bodyPr/>
                    <a:lstStyle/>
                    <a:p>
                      <a:pPr algn="ctr" rtl="0"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禮來公司</a:t>
                      </a:r>
                    </a:p>
                  </a:txBody>
                  <a:tcPr marL="9525" marR="9525" marT="9525" marB="0" anchor="ctr">
                    <a:lnL>
                      <a:noFill/>
                    </a:lnL>
                    <a:lnR>
                      <a:noFill/>
                    </a:lnR>
                    <a:lnT>
                      <a:noFill/>
                    </a:lnT>
                    <a:lnB>
                      <a:noFill/>
                    </a:lnB>
                  </a:tcPr>
                </a:tc>
                <a:tc>
                  <a:txBody>
                    <a:bodyPr/>
                    <a:lstStyle/>
                    <a:p>
                      <a:pPr algn="ctr" rtl="0"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5.1</a:t>
                      </a:r>
                    </a:p>
                  </a:txBody>
                  <a:tcPr marL="9525" marR="9525" marT="9525" marB="0" anchor="ctr">
                    <a:lnL>
                      <a:noFill/>
                    </a:lnL>
                    <a:lnR>
                      <a:noFill/>
                    </a:lnR>
                    <a:lnT>
                      <a:noFill/>
                    </a:lnT>
                    <a:lnB>
                      <a:noFill/>
                    </a:lnB>
                  </a:tcPr>
                </a:tc>
                <a:tc>
                  <a:txBody>
                    <a:bodyPr/>
                    <a:lstStyle/>
                    <a:p>
                      <a:pPr algn="ctr" rtl="0" fontAlgn="ctr"/>
                      <a:r>
                        <a:rPr lang="en-US" sz="1000" b="0" i="0" u="none" strike="noStrike">
                          <a:solidFill>
                            <a:srgbClr val="000000"/>
                          </a:solidFill>
                          <a:effectLst/>
                          <a:latin typeface="微軟正黑體" panose="020B0604030504040204" pitchFamily="34" charset="-120"/>
                          <a:ea typeface="微軟正黑體" panose="020B0604030504040204" pitchFamily="34" charset="-120"/>
                        </a:rPr>
                        <a:t>USD</a:t>
                      </a:r>
                    </a:p>
                  </a:txBody>
                  <a:tcPr marL="9525" marR="9525" marT="9525" marB="0" anchor="ctr">
                    <a:lnL>
                      <a:noFill/>
                    </a:lnL>
                    <a:lnR>
                      <a:noFill/>
                    </a:lnR>
                    <a:lnT>
                      <a:noFill/>
                    </a:lnT>
                    <a:lnB>
                      <a:noFill/>
                    </a:lnB>
                  </a:tcPr>
                </a:tc>
                <a:tc>
                  <a:txBody>
                    <a:bodyPr/>
                    <a:lstStyle/>
                    <a:p>
                      <a:pPr algn="ctr"/>
                      <a:r>
                        <a:rPr lang="pt-BR" altLang="zh-TW" sz="1000" dirty="0"/>
                        <a:t>Aa3</a:t>
                      </a:r>
                      <a:r>
                        <a:rPr lang="en-US" altLang="zh-TW" sz="1000" dirty="0"/>
                        <a:t>/AA-/--</a:t>
                      </a:r>
                      <a:endParaRPr lang="pt-BR" altLang="zh-TW" sz="1000" dirty="0"/>
                    </a:p>
                  </a:txBody>
                  <a:tcPr marL="9525" marR="9525" marT="9525" marB="0" anchor="ctr">
                    <a:lnL>
                      <a:noFill/>
                    </a:lnL>
                    <a:lnR>
                      <a:noFill/>
                    </a:lnR>
                    <a:lnT>
                      <a:noFill/>
                    </a:lnT>
                    <a:lnB>
                      <a:noFill/>
                    </a:lnB>
                  </a:tcPr>
                </a:tc>
                <a:tc>
                  <a:txBody>
                    <a:bodyPr/>
                    <a:lstStyle/>
                    <a:p>
                      <a:pPr algn="ctr" rtl="0" fontAlgn="ctr"/>
                      <a:r>
                        <a:rPr lang="en-US" sz="1000" b="0" i="0" u="none" strike="noStrike" dirty="0">
                          <a:solidFill>
                            <a:srgbClr val="000000"/>
                          </a:solidFill>
                          <a:effectLst/>
                          <a:latin typeface="微軟正黑體" panose="020B0604030504040204" pitchFamily="34" charset="-120"/>
                          <a:ea typeface="微軟正黑體" panose="020B0604030504040204" pitchFamily="34" charset="-120"/>
                        </a:rPr>
                        <a:t>Sr Unsecured</a:t>
                      </a:r>
                    </a:p>
                  </a:txBody>
                  <a:tcPr marL="9525" marR="9525" marT="9525" marB="0" anchor="ctr">
                    <a:lnL>
                      <a:noFill/>
                    </a:lnL>
                    <a:lnR>
                      <a:noFill/>
                    </a:lnR>
                    <a:lnT>
                      <a:noFill/>
                    </a:lnT>
                    <a:lnB>
                      <a:noFill/>
                    </a:lnB>
                  </a:tcPr>
                </a:tc>
                <a:tc>
                  <a:txBody>
                    <a:bodyPr/>
                    <a:lstStyle/>
                    <a:p>
                      <a:pPr algn="ctr" rtl="0"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2064/2/9</a:t>
                      </a: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2605237132"/>
                  </a:ext>
                </a:extLst>
              </a:tr>
            </a:tbl>
          </a:graphicData>
        </a:graphic>
      </p:graphicFrame>
    </p:spTree>
    <p:extLst>
      <p:ext uri="{BB962C8B-B14F-4D97-AF65-F5344CB8AC3E}">
        <p14:creationId xmlns:p14="http://schemas.microsoft.com/office/powerpoint/2010/main" val="2447386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1B0C7A66-F8C5-36C2-9F37-0674936DACEB}"/>
              </a:ext>
            </a:extLst>
          </p:cNvPr>
          <p:cNvPicPr>
            <a:picLocks noChangeAspect="1"/>
          </p:cNvPicPr>
          <p:nvPr/>
        </p:nvPicPr>
        <p:blipFill>
          <a:blip r:embed="rId3"/>
          <a:stretch>
            <a:fillRect/>
          </a:stretch>
        </p:blipFill>
        <p:spPr>
          <a:xfrm>
            <a:off x="7254428" y="468631"/>
            <a:ext cx="1411889" cy="770891"/>
          </a:xfrm>
          <a:prstGeom prst="rect">
            <a:avLst/>
          </a:prstGeom>
        </p:spPr>
      </p:pic>
      <p:sp>
        <p:nvSpPr>
          <p:cNvPr id="47" name="矩形 46">
            <a:extLst>
              <a:ext uri="{FF2B5EF4-FFF2-40B4-BE49-F238E27FC236}">
                <a16:creationId xmlns:a16="http://schemas.microsoft.com/office/drawing/2014/main" id="{2699700B-649E-4B41-BD33-38C3C73BF142}"/>
              </a:ext>
            </a:extLst>
          </p:cNvPr>
          <p:cNvSpPr/>
          <p:nvPr/>
        </p:nvSpPr>
        <p:spPr>
          <a:xfrm>
            <a:off x="473084" y="4530893"/>
            <a:ext cx="5935044" cy="1874800"/>
          </a:xfrm>
          <a:prstGeom prst="rect">
            <a:avLst/>
          </a:prstGeom>
          <a:noFill/>
          <a:ln>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18" name="直線接點 17">
            <a:extLst>
              <a:ext uri="{FF2B5EF4-FFF2-40B4-BE49-F238E27FC236}">
                <a16:creationId xmlns:a16="http://schemas.microsoft.com/office/drawing/2014/main" id="{A04FBD28-E6A3-4645-9422-603BD8C266EB}"/>
              </a:ext>
            </a:extLst>
          </p:cNvPr>
          <p:cNvCxnSpPr/>
          <p:nvPr/>
        </p:nvCxnSpPr>
        <p:spPr>
          <a:xfrm>
            <a:off x="7076640" y="1268760"/>
            <a:ext cx="1715711" cy="0"/>
          </a:xfrm>
          <a:prstGeom prst="line">
            <a:avLst/>
          </a:prstGeom>
          <a:ln w="19050">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pic>
        <p:nvPicPr>
          <p:cNvPr id="27" name="圖片 26">
            <a:extLst>
              <a:ext uri="{FF2B5EF4-FFF2-40B4-BE49-F238E27FC236}">
                <a16:creationId xmlns:a16="http://schemas.microsoft.com/office/drawing/2014/main" id="{812C6449-9CF8-4E1F-B004-6A52F2380BE4}"/>
              </a:ext>
            </a:extLst>
          </p:cNvPr>
          <p:cNvPicPr>
            <a:picLocks noChangeAspect="1"/>
          </p:cNvPicPr>
          <p:nvPr/>
        </p:nvPicPr>
        <p:blipFill>
          <a:blip r:embed="rId4"/>
          <a:stretch>
            <a:fillRect/>
          </a:stretch>
        </p:blipFill>
        <p:spPr>
          <a:xfrm>
            <a:off x="473083" y="964792"/>
            <a:ext cx="5935045" cy="3435308"/>
          </a:xfrm>
          <a:prstGeom prst="rect">
            <a:avLst/>
          </a:prstGeom>
        </p:spPr>
      </p:pic>
      <p:sp>
        <p:nvSpPr>
          <p:cNvPr id="30" name="標題 38">
            <a:extLst>
              <a:ext uri="{FF2B5EF4-FFF2-40B4-BE49-F238E27FC236}">
                <a16:creationId xmlns:a16="http://schemas.microsoft.com/office/drawing/2014/main" id="{D0FCD71C-3094-47DE-B012-FBB187335D3D}"/>
              </a:ext>
            </a:extLst>
          </p:cNvPr>
          <p:cNvSpPr txBox="1">
            <a:spLocks/>
          </p:cNvSpPr>
          <p:nvPr/>
        </p:nvSpPr>
        <p:spPr>
          <a:xfrm>
            <a:off x="448055" y="189928"/>
            <a:ext cx="1603666" cy="540000"/>
          </a:xfrm>
          <a:prstGeom prst="rect">
            <a:avLst/>
          </a:prstGeom>
        </p:spPr>
        <p:txBody>
          <a:bodyPr anchor="b">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r>
              <a:rPr lang="zh-TW" altLang="en-US" sz="2400" dirty="0"/>
              <a:t>禮來公司</a:t>
            </a:r>
            <a:endParaRPr lang="zh-TW" altLang="en-US" sz="2000" dirty="0"/>
          </a:p>
        </p:txBody>
      </p:sp>
      <p:pic>
        <p:nvPicPr>
          <p:cNvPr id="31" name="圖片 30">
            <a:extLst>
              <a:ext uri="{FF2B5EF4-FFF2-40B4-BE49-F238E27FC236}">
                <a16:creationId xmlns:a16="http://schemas.microsoft.com/office/drawing/2014/main" id="{DA6EE68A-0572-4D43-A46B-756CDAED3F81}"/>
              </a:ext>
            </a:extLst>
          </p:cNvPr>
          <p:cNvPicPr>
            <a:picLocks noChangeAspect="1"/>
          </p:cNvPicPr>
          <p:nvPr/>
        </p:nvPicPr>
        <p:blipFill>
          <a:blip r:embed="rId5"/>
          <a:stretch>
            <a:fillRect/>
          </a:stretch>
        </p:blipFill>
        <p:spPr>
          <a:xfrm>
            <a:off x="638492" y="789727"/>
            <a:ext cx="1225403" cy="370364"/>
          </a:xfrm>
          <a:prstGeom prst="rect">
            <a:avLst/>
          </a:prstGeom>
        </p:spPr>
      </p:pic>
      <p:sp>
        <p:nvSpPr>
          <p:cNvPr id="44" name="圓角矩形 36">
            <a:extLst>
              <a:ext uri="{FF2B5EF4-FFF2-40B4-BE49-F238E27FC236}">
                <a16:creationId xmlns:a16="http://schemas.microsoft.com/office/drawing/2014/main" id="{5260B2CD-FEE4-47F6-BD3F-4145A777A1CE}"/>
              </a:ext>
            </a:extLst>
          </p:cNvPr>
          <p:cNvSpPr/>
          <p:nvPr/>
        </p:nvSpPr>
        <p:spPr>
          <a:xfrm>
            <a:off x="638492" y="4437112"/>
            <a:ext cx="5589692" cy="2767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心血管代謝領域的專家，營收以美國為主要市場</a:t>
            </a:r>
          </a:p>
        </p:txBody>
      </p:sp>
      <p:sp>
        <p:nvSpPr>
          <p:cNvPr id="25" name="文字版面配置區 15">
            <a:extLst>
              <a:ext uri="{FF2B5EF4-FFF2-40B4-BE49-F238E27FC236}">
                <a16:creationId xmlns:a16="http://schemas.microsoft.com/office/drawing/2014/main" id="{11A04B46-DE0C-4282-BFCA-6BA92CADD11B}"/>
              </a:ext>
            </a:extLst>
          </p:cNvPr>
          <p:cNvSpPr txBox="1">
            <a:spLocks/>
          </p:cNvSpPr>
          <p:nvPr/>
        </p:nvSpPr>
        <p:spPr>
          <a:xfrm>
            <a:off x="473083" y="1022458"/>
            <a:ext cx="5899117" cy="3342646"/>
          </a:xfrm>
          <a:prstGeom prst="rect">
            <a:avLst/>
          </a:prstGeom>
        </p:spPr>
        <p:txBody>
          <a:bodyPr>
            <a:no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just">
              <a:lnSpc>
                <a:spcPts val="1400"/>
              </a:lnSpc>
              <a:spcBef>
                <a:spcPts val="300"/>
              </a:spcBef>
              <a:buNone/>
            </a:pPr>
            <a:r>
              <a:rPr lang="zh-TW" altLang="en-US" sz="1100" dirty="0">
                <a:latin typeface="微軟正黑體" panose="020B0604030504040204" pitchFamily="34" charset="-120"/>
                <a:ea typeface="微軟正黑體" panose="020B0604030504040204" pitchFamily="34" charset="-120"/>
              </a:rPr>
              <a:t>禮來公司</a:t>
            </a:r>
            <a:r>
              <a:rPr lang="en-US" altLang="zh-TW" sz="1100" dirty="0">
                <a:latin typeface="微軟正黑體" panose="020B0604030504040204" pitchFamily="34" charset="-120"/>
                <a:ea typeface="微軟正黑體" panose="020B0604030504040204" pitchFamily="34" charset="-120"/>
              </a:rPr>
              <a:t>(Eli Lilly &amp; Co)</a:t>
            </a:r>
            <a:r>
              <a:rPr lang="zh-TW" altLang="en-US" sz="1100" dirty="0">
                <a:latin typeface="微軟正黑體" panose="020B0604030504040204" pitchFamily="34" charset="-120"/>
                <a:ea typeface="微軟正黑體" panose="020B0604030504040204" pitchFamily="34" charset="-120"/>
              </a:rPr>
              <a:t>成立於</a:t>
            </a:r>
            <a:r>
              <a:rPr lang="en-US" altLang="zh-TW" sz="1100" dirty="0">
                <a:latin typeface="微軟正黑體" panose="020B0604030504040204" pitchFamily="34" charset="-120"/>
                <a:ea typeface="微軟正黑體" panose="020B0604030504040204" pitchFamily="34" charset="-120"/>
              </a:rPr>
              <a:t>1876</a:t>
            </a:r>
            <a:r>
              <a:rPr lang="zh-TW" altLang="en-US" sz="1100" dirty="0">
                <a:latin typeface="微軟正黑體" panose="020B0604030504040204" pitchFamily="34" charset="-120"/>
                <a:ea typeface="微軟正黑體" panose="020B0604030504040204" pitchFamily="34" charset="-120"/>
              </a:rPr>
              <a:t>年，總部位於美國印第安那州，為全球性的製藥公司，專門研發、生產，並銷售各式藥物，在糖尿病、腫瘤學</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癌症</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和免疫學等領域擁有強大的市場地位。旗下知名藥物有治療憂鬱症的百憂解、乳癌藥物</a:t>
            </a:r>
            <a:r>
              <a:rPr lang="zh-TW" altLang="en-US" sz="1100" b="0" i="0" dirty="0">
                <a:effectLst/>
                <a:latin typeface="微軟正黑體" panose="020B0604030504040204" pitchFamily="34" charset="-120"/>
                <a:ea typeface="微軟正黑體" panose="020B0604030504040204" pitchFamily="34" charset="-120"/>
              </a:rPr>
              <a:t>捷癌寧</a:t>
            </a:r>
            <a:r>
              <a:rPr lang="zh-TW" altLang="en-US" sz="1100" dirty="0">
                <a:latin typeface="微軟正黑體" panose="020B0604030504040204" pitchFamily="34" charset="-120"/>
                <a:ea typeface="微軟正黑體" panose="020B0604030504040204" pitchFamily="34" charset="-120"/>
              </a:rPr>
              <a:t>、糖尿病藥物</a:t>
            </a:r>
            <a:r>
              <a:rPr lang="zh-TW" altLang="en-US" sz="1100" dirty="0">
                <a:latin typeface="微軟正黑體" panose="020B0604030504040204" pitchFamily="34" charset="-120"/>
              </a:rPr>
              <a:t>「</a:t>
            </a:r>
            <a:r>
              <a:rPr lang="en-US" altLang="zh-TW" sz="1100" dirty="0" err="1">
                <a:latin typeface="微軟正黑體" panose="020B0604030504040204" pitchFamily="34" charset="-120"/>
                <a:ea typeface="微軟正黑體" panose="020B0604030504040204" pitchFamily="34" charset="-120"/>
              </a:rPr>
              <a:t>Mounjaro</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猛健樂</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rPr>
              <a:t>」</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主要用於治療糖尿病，</a:t>
            </a:r>
            <a:r>
              <a:rPr lang="zh-TW" altLang="en-US" sz="1100" b="0" i="0" kern="1200" dirty="0">
                <a:solidFill>
                  <a:schemeClr val="tx1"/>
                </a:solidFill>
                <a:effectLst/>
                <a:latin typeface="微軟正黑體" panose="020B0604030504040204" pitchFamily="34" charset="-120"/>
                <a:ea typeface="微軟正黑體" panose="020B0604030504040204" pitchFamily="34" charset="-120"/>
              </a:rPr>
              <a:t>仿</a:t>
            </a:r>
            <a:r>
              <a:rPr lang="en-US" altLang="zh-TW" sz="1100" b="0" i="0" kern="1200" dirty="0">
                <a:solidFill>
                  <a:schemeClr val="tx1"/>
                </a:solidFill>
                <a:effectLst/>
                <a:latin typeface="微軟正黑體" panose="020B0604030504040204" pitchFamily="34" charset="-120"/>
                <a:ea typeface="微軟正黑體" panose="020B0604030504040204" pitchFamily="34" charset="-120"/>
              </a:rPr>
              <a:t>GLP-1</a:t>
            </a:r>
            <a:r>
              <a:rPr lang="zh-TW" altLang="en-US" sz="1100" b="0" i="0" kern="1200" dirty="0">
                <a:solidFill>
                  <a:schemeClr val="tx1"/>
                </a:solidFill>
                <a:effectLst/>
                <a:latin typeface="微軟正黑體" panose="020B0604030504040204" pitchFamily="34" charset="-120"/>
                <a:ea typeface="微軟正黑體" panose="020B0604030504040204" pitchFamily="34" charset="-120"/>
              </a:rPr>
              <a:t>及</a:t>
            </a:r>
            <a:r>
              <a:rPr lang="en-US" altLang="zh-TW" sz="1100" b="0" i="0" kern="1200" dirty="0">
                <a:solidFill>
                  <a:schemeClr val="tx1"/>
                </a:solidFill>
                <a:effectLst/>
                <a:latin typeface="微軟正黑體" panose="020B0604030504040204" pitchFamily="34" charset="-120"/>
                <a:ea typeface="微軟正黑體" panose="020B0604030504040204" pitchFamily="34" charset="-120"/>
              </a:rPr>
              <a:t>GIP</a:t>
            </a:r>
            <a:r>
              <a:rPr lang="zh-TW" altLang="en-US" sz="1100" b="0" i="0" kern="1200" dirty="0">
                <a:solidFill>
                  <a:schemeClr val="tx1"/>
                </a:solidFill>
                <a:effectLst/>
                <a:latin typeface="微軟正黑體" panose="020B0604030504040204" pitchFamily="34" charset="-120"/>
                <a:ea typeface="微軟正黑體" panose="020B0604030504040204" pitchFamily="34" charset="-120"/>
              </a:rPr>
              <a:t>兩種胃腸賀爾蒙的藥物，可增加飽足感並減緩腸胃清空速度，也被用於治療減重</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，以及減重藥物</a:t>
            </a:r>
            <a:r>
              <a:rPr lang="zh-TW" altLang="en-US" sz="1100" dirty="0">
                <a:latin typeface="微軟正黑體" panose="020B0604030504040204" pitchFamily="34" charset="-120"/>
              </a:rPr>
              <a:t>「</a:t>
            </a:r>
            <a:r>
              <a:rPr lang="en-US" altLang="zh-TW" sz="1100" dirty="0" err="1">
                <a:latin typeface="微軟正黑體" panose="020B0604030504040204" pitchFamily="34" charset="-120"/>
                <a:ea typeface="微軟正黑體" panose="020B0604030504040204" pitchFamily="34" charset="-120"/>
              </a:rPr>
              <a:t>Zepbound</a:t>
            </a:r>
            <a:r>
              <a:rPr lang="zh-TW" altLang="en-US" sz="1100" dirty="0">
                <a:latin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等。</a:t>
            </a:r>
            <a:endParaRPr lang="en-US" altLang="zh-TW" sz="1100" dirty="0">
              <a:latin typeface="微軟正黑體" panose="020B0604030504040204" pitchFamily="34" charset="-120"/>
              <a:ea typeface="微軟正黑體" panose="020B0604030504040204" pitchFamily="34" charset="-120"/>
            </a:endParaRPr>
          </a:p>
          <a:p>
            <a:pPr marL="0" indent="0" algn="just">
              <a:lnSpc>
                <a:spcPts val="1400"/>
              </a:lnSpc>
              <a:spcBef>
                <a:spcPts val="300"/>
              </a:spcBef>
              <a:buNone/>
            </a:pPr>
            <a:r>
              <a:rPr lang="zh-TW" altLang="en-US" sz="1100" dirty="0">
                <a:latin typeface="微軟正黑體" panose="020B0604030504040204" pitchFamily="34" charset="-120"/>
              </a:rPr>
              <a:t>自</a:t>
            </a:r>
            <a:r>
              <a:rPr lang="en-US" altLang="zh-TW" sz="1100" dirty="0">
                <a:latin typeface="微軟正黑體" panose="020B0604030504040204" pitchFamily="34" charset="-120"/>
              </a:rPr>
              <a:t>2022</a:t>
            </a:r>
            <a:r>
              <a:rPr lang="zh-TW" altLang="en-US" sz="1100" dirty="0">
                <a:latin typeface="微軟正黑體" panose="020B0604030504040204" pitchFamily="34" charset="-120"/>
              </a:rPr>
              <a:t>年推出「</a:t>
            </a:r>
            <a:r>
              <a:rPr lang="en-US" altLang="zh-TW" sz="1100" dirty="0" err="1">
                <a:latin typeface="微軟正黑體" panose="020B0604030504040204" pitchFamily="34" charset="-120"/>
              </a:rPr>
              <a:t>Mounjaro</a:t>
            </a:r>
            <a:r>
              <a:rPr lang="zh-TW" altLang="en-US" sz="1100" dirty="0">
                <a:latin typeface="微軟正黑體" panose="020B0604030504040204" pitchFamily="34" charset="-120"/>
              </a:rPr>
              <a:t>」以來，該藥品已成為禮來銷售金額最高的藥品；隨後，與其成份相同但專供減重的「</a:t>
            </a:r>
            <a:r>
              <a:rPr lang="en-US" altLang="zh-TW" sz="1100" dirty="0" err="1">
                <a:latin typeface="微軟正黑體" panose="020B0604030504040204" pitchFamily="34" charset="-120"/>
              </a:rPr>
              <a:t>Zepbound</a:t>
            </a:r>
            <a:r>
              <a:rPr lang="zh-TW" altLang="en-US" sz="1100" dirty="0">
                <a:latin typeface="微軟正黑體" panose="020B0604030504040204" pitchFamily="34" charset="-120"/>
              </a:rPr>
              <a:t>」於</a:t>
            </a:r>
            <a:r>
              <a:rPr lang="en-US" altLang="zh-TW" sz="1100" dirty="0">
                <a:latin typeface="微軟正黑體" panose="020B0604030504040204" pitchFamily="34" charset="-120"/>
              </a:rPr>
              <a:t>2023</a:t>
            </a:r>
            <a:r>
              <a:rPr lang="zh-TW" altLang="en-US" sz="1100" dirty="0">
                <a:latin typeface="微軟正黑體" panose="020B0604030504040204" pitchFamily="34" charset="-120"/>
              </a:rPr>
              <a:t>年</a:t>
            </a:r>
            <a:r>
              <a:rPr lang="en-US" altLang="zh-TW" sz="1100" dirty="0">
                <a:latin typeface="微軟正黑體" panose="020B0604030504040204" pitchFamily="34" charset="-120"/>
              </a:rPr>
              <a:t>11</a:t>
            </a:r>
            <a:r>
              <a:rPr lang="zh-TW" altLang="en-US" sz="1100" dirty="0">
                <a:latin typeface="微軟正黑體" panose="020B0604030504040204" pitchFamily="34" charset="-120"/>
              </a:rPr>
              <a:t>月獲美國</a:t>
            </a:r>
            <a:r>
              <a:rPr lang="en-US" altLang="zh-TW" sz="1100" dirty="0">
                <a:latin typeface="微軟正黑體" panose="020B0604030504040204" pitchFamily="34" charset="-120"/>
              </a:rPr>
              <a:t>FDA</a:t>
            </a:r>
            <a:r>
              <a:rPr lang="zh-TW" altLang="en-US" sz="1100" dirty="0">
                <a:latin typeface="微軟正黑體" panose="020B0604030504040204" pitchFamily="34" charset="-120"/>
              </a:rPr>
              <a:t>批准上市，並於</a:t>
            </a:r>
            <a:r>
              <a:rPr lang="en-US" altLang="zh-TW" sz="1100" dirty="0">
                <a:latin typeface="微軟正黑體" panose="020B0604030504040204" pitchFamily="34" charset="-120"/>
              </a:rPr>
              <a:t>2026</a:t>
            </a:r>
            <a:r>
              <a:rPr lang="zh-TW" altLang="en-US" sz="1100" dirty="0">
                <a:latin typeface="微軟正黑體" panose="020B0604030504040204" pitchFamily="34" charset="-120"/>
              </a:rPr>
              <a:t>年成功</a:t>
            </a:r>
            <a:r>
              <a:rPr lang="zh-TW" altLang="en-US" sz="1100" b="0" i="0" dirty="0">
                <a:solidFill>
                  <a:srgbClr val="3C4043"/>
                </a:solidFill>
                <a:effectLst/>
                <a:latin typeface="Google Sans"/>
              </a:rPr>
              <a:t>納入聯邦醫保的報銷範圍</a:t>
            </a:r>
            <a:r>
              <a:rPr lang="zh-TW" altLang="en-US" sz="1100" b="0" i="0" dirty="0">
                <a:solidFill>
                  <a:srgbClr val="3C4043"/>
                </a:solidFill>
                <a:effectLst/>
                <a:latin typeface="微軟正黑體" panose="020B0604030504040204" pitchFamily="34" charset="-120"/>
              </a:rPr>
              <a:t>。</a:t>
            </a:r>
            <a:r>
              <a:rPr lang="en-US" altLang="zh-TW" sz="1100" dirty="0">
                <a:latin typeface="微軟正黑體" panose="020B0604030504040204" pitchFamily="34" charset="-120"/>
              </a:rPr>
              <a:t>2026</a:t>
            </a:r>
            <a:r>
              <a:rPr lang="zh-TW" altLang="en-US" sz="1100" dirty="0">
                <a:latin typeface="微軟正黑體" panose="020B0604030504040204" pitchFamily="34" charset="-120"/>
              </a:rPr>
              <a:t>年</a:t>
            </a:r>
            <a:r>
              <a:rPr lang="en-US" altLang="zh-TW" sz="1100" dirty="0">
                <a:latin typeface="微軟正黑體" panose="020B0604030504040204" pitchFamily="34" charset="-120"/>
              </a:rPr>
              <a:t>4</a:t>
            </a:r>
            <a:r>
              <a:rPr lang="zh-TW" altLang="en-US" sz="1100" dirty="0">
                <a:latin typeface="微軟正黑體" panose="020B0604030504040204" pitchFamily="34" charset="-120"/>
              </a:rPr>
              <a:t>月，禮來推出的口服減肥藥「</a:t>
            </a:r>
            <a:r>
              <a:rPr lang="en-US" altLang="zh-TW" sz="1100" dirty="0" err="1">
                <a:latin typeface="微軟正黑體" panose="020B0604030504040204" pitchFamily="34" charset="-120"/>
              </a:rPr>
              <a:t>Foundayo</a:t>
            </a:r>
            <a:r>
              <a:rPr lang="zh-TW" altLang="en-US" sz="1100" dirty="0">
                <a:latin typeface="微軟正黑體" panose="020B0604030504040204" pitchFamily="34" charset="-120"/>
              </a:rPr>
              <a:t>」獲批上市更進一步強化其競爭優勢 </a:t>
            </a:r>
            <a:r>
              <a:rPr lang="en-US" altLang="zh-TW" sz="1100" dirty="0">
                <a:latin typeface="微軟正黑體" panose="020B0604030504040204" pitchFamily="34" charset="-120"/>
              </a:rPr>
              <a:t>:</a:t>
            </a:r>
            <a:r>
              <a:rPr lang="zh-TW" altLang="en-US" sz="1100" dirty="0">
                <a:latin typeface="微軟正黑體" panose="020B0604030504040204" pitchFamily="34" charset="-120"/>
              </a:rPr>
              <a:t> 臨床試驗結果顯示，服用最高劑量的受試者平均減重</a:t>
            </a:r>
            <a:r>
              <a:rPr lang="en-US" altLang="zh-TW" sz="1100" dirty="0">
                <a:latin typeface="微軟正黑體" panose="020B0604030504040204" pitchFamily="34" charset="-120"/>
              </a:rPr>
              <a:t>27.3</a:t>
            </a:r>
            <a:r>
              <a:rPr lang="zh-TW" altLang="en-US" sz="1100" dirty="0">
                <a:latin typeface="微軟正黑體" panose="020B0604030504040204" pitchFamily="34" charset="-120"/>
              </a:rPr>
              <a:t>磅，遠優於安慰劑組的</a:t>
            </a:r>
            <a:r>
              <a:rPr lang="en-US" altLang="zh-TW" sz="1100" dirty="0">
                <a:latin typeface="微軟正黑體" panose="020B0604030504040204" pitchFamily="34" charset="-120"/>
              </a:rPr>
              <a:t>2.2</a:t>
            </a:r>
            <a:r>
              <a:rPr lang="zh-TW" altLang="en-US" sz="1100" dirty="0">
                <a:latin typeface="微軟正黑體" panose="020B0604030504040204" pitchFamily="34" charset="-120"/>
              </a:rPr>
              <a:t>磅。相較於其競爭對手</a:t>
            </a:r>
            <a:r>
              <a:rPr kumimoji="0" lang="zh-CN"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諾和諾德</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的減重藥</a:t>
            </a:r>
            <a:r>
              <a:rPr lang="en-US" altLang="zh-TW" sz="1100" dirty="0" err="1">
                <a:latin typeface="微軟正黑體" panose="020B0604030504040204" pitchFamily="34" charset="-120"/>
              </a:rPr>
              <a:t>Wegovy</a:t>
            </a:r>
            <a:r>
              <a:rPr lang="zh-TW" altLang="en-US" sz="1100" dirty="0">
                <a:solidFill>
                  <a:srgbClr val="000000"/>
                </a:solidFill>
                <a:latin typeface="微軟正黑體" panose="020B0604030504040204" pitchFamily="34" charset="-120"/>
                <a:ea typeface="微軟正黑體" panose="020B0604030504040204" pitchFamily="34" charset="-120"/>
              </a:rPr>
              <a:t>口服版</a:t>
            </a:r>
            <a:r>
              <a:rPr lang="zh-TW" altLang="en-US" sz="1100" dirty="0">
                <a:latin typeface="微軟正黑體" panose="020B0604030504040204" pitchFamily="34" charset="-120"/>
              </a:rPr>
              <a:t>，「</a:t>
            </a:r>
            <a:r>
              <a:rPr lang="en-US" altLang="zh-TW" sz="1100" dirty="0" err="1">
                <a:latin typeface="微軟正黑體" panose="020B0604030504040204" pitchFamily="34" charset="-120"/>
              </a:rPr>
              <a:t>Foundayo</a:t>
            </a:r>
            <a:r>
              <a:rPr lang="zh-TW" altLang="en-US" sz="1100" dirty="0">
                <a:latin typeface="微軟正黑體" panose="020B0604030504040204" pitchFamily="34" charset="-120"/>
              </a:rPr>
              <a:t>」因飲食無限制而更具便利性，助力禮來在美國減肥藥市場奪下市占</a:t>
            </a:r>
            <a:r>
              <a:rPr lang="en-US" altLang="zh-TW" sz="1100" dirty="0">
                <a:latin typeface="微軟正黑體" panose="020B0604030504040204" pitchFamily="34" charset="-120"/>
              </a:rPr>
              <a:t>60%</a:t>
            </a:r>
            <a:r>
              <a:rPr lang="zh-TW" altLang="en-US" sz="1100" dirty="0">
                <a:latin typeface="微軟正黑體" panose="020B0604030504040204" pitchFamily="34" charset="-120"/>
              </a:rPr>
              <a:t>的領導地位。</a:t>
            </a:r>
            <a:endParaRPr lang="zh-TW" altLang="en-US" sz="1100" dirty="0">
              <a:latin typeface="微軟正黑體" panose="020B0604030504040204" pitchFamily="34" charset="-120"/>
              <a:ea typeface="微軟正黑體" panose="020B0604030504040204" pitchFamily="34" charset="-120"/>
            </a:endParaRPr>
          </a:p>
          <a:p>
            <a:pPr algn="just">
              <a:lnSpc>
                <a:spcPts val="1400"/>
              </a:lnSpc>
              <a:spcBef>
                <a:spcPts val="300"/>
              </a:spcBef>
              <a:buFont typeface="Wingdings" panose="05000000000000000000" pitchFamily="2" charset="2"/>
              <a:buChar char="ü"/>
              <a:defRPr/>
            </a:pPr>
            <a:r>
              <a:rPr kumimoji="0" lang="zh-TW" altLang="en-US" sz="1100" b="1" i="0" u="none" strike="noStrike" kern="1200" cap="none" spc="0" normalizeH="0" baseline="0" noProof="0" dirty="0">
                <a:ln>
                  <a:noFill/>
                </a:ln>
                <a:solidFill>
                  <a:srgbClr val="000000"/>
                </a:solidFill>
                <a:effectLst/>
                <a:uLnTx/>
                <a:uFillTx/>
                <a:ea typeface="微軟正黑體" panose="020B0604030504040204" pitchFamily="34" charset="-120"/>
              </a:rPr>
              <a:t>阿茲海默症新藥上市：</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阿茲海默症突破性新療法「</a:t>
            </a:r>
            <a:r>
              <a:rPr lang="en-US" altLang="zh-TW" sz="1100" dirty="0">
                <a:solidFill>
                  <a:srgbClr val="000000"/>
                </a:solidFill>
                <a:ea typeface="微軟正黑體" panose="020B0604030504040204" pitchFamily="34" charset="-120"/>
              </a:rPr>
              <a:t>Kisunla(</a:t>
            </a:r>
            <a:r>
              <a:rPr lang="en-US" altLang="zh-TW" sz="1100" dirty="0" err="1">
                <a:solidFill>
                  <a:srgbClr val="000000"/>
                </a:solidFill>
                <a:ea typeface="微軟正黑體" panose="020B0604030504040204" pitchFamily="34" charset="-120"/>
              </a:rPr>
              <a:t>donanemab-azbt</a:t>
            </a:r>
            <a:r>
              <a:rPr lang="en-US" altLang="zh-TW" sz="1100" dirty="0">
                <a:solidFill>
                  <a:srgbClr val="000000"/>
                </a:solidFill>
                <a:ea typeface="微軟正黑體" panose="020B0604030504040204" pitchFamily="34" charset="-120"/>
              </a:rPr>
              <a:t>)</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」在</a:t>
            </a:r>
            <a:r>
              <a:rPr lang="en-US" altLang="zh-TW" sz="1100" dirty="0">
                <a:solidFill>
                  <a:srgbClr val="000000"/>
                </a:solidFill>
                <a:ea typeface="微軟正黑體" panose="020B0604030504040204" pitchFamily="34" charset="-120"/>
              </a:rPr>
              <a:t>2024</a:t>
            </a:r>
            <a:r>
              <a:rPr lang="zh-TW" altLang="en-US" sz="1100" dirty="0">
                <a:solidFill>
                  <a:srgbClr val="000000"/>
                </a:solidFill>
                <a:ea typeface="微軟正黑體" panose="020B0604030504040204" pitchFamily="34" charset="-120"/>
              </a:rPr>
              <a:t>年</a:t>
            </a:r>
            <a:r>
              <a:rPr lang="en-US" altLang="zh-TW" sz="1100" dirty="0">
                <a:solidFill>
                  <a:srgbClr val="000000"/>
                </a:solidFill>
                <a:ea typeface="微軟正黑體" panose="020B0604030504040204" pitchFamily="34" charset="-120"/>
              </a:rPr>
              <a:t>7</a:t>
            </a:r>
            <a:r>
              <a:rPr lang="zh-TW" altLang="en-US" sz="1100" dirty="0">
                <a:solidFill>
                  <a:srgbClr val="000000"/>
                </a:solidFill>
                <a:ea typeface="微軟正黑體" panose="020B0604030504040204" pitchFamily="34" charset="-120"/>
              </a:rPr>
              <a:t>月獲</a:t>
            </a:r>
            <a:r>
              <a:rPr lang="en-US" altLang="zh-TW" sz="1100" dirty="0">
                <a:solidFill>
                  <a:srgbClr val="000000"/>
                </a:solidFill>
                <a:ea typeface="微軟正黑體" panose="020B0604030504040204" pitchFamily="34" charset="-120"/>
              </a:rPr>
              <a:t>FDA</a:t>
            </a:r>
            <a:r>
              <a:rPr lang="zh-TW" altLang="en-US" sz="1100" dirty="0">
                <a:solidFill>
                  <a:srgbClr val="000000"/>
                </a:solidFill>
                <a:ea typeface="微軟正黑體" panose="020B0604030504040204" pitchFamily="34" charset="-120"/>
              </a:rPr>
              <a:t>核准上市，臨床</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結果顯示</a:t>
            </a:r>
            <a:r>
              <a:rPr lang="zh-TW" altLang="en-US" sz="1100" b="0" i="0" dirty="0">
                <a:solidFill>
                  <a:srgbClr val="3C4043"/>
                </a:solidFill>
                <a:effectLst/>
              </a:rPr>
              <a:t>患者</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的認知功能下降速度延緩了</a:t>
            </a:r>
            <a:r>
              <a:rPr kumimoji="0" lang="en-US" altLang="zh-TW" sz="1100" b="0" i="0" u="none" strike="noStrike" kern="1200" cap="none" spc="0" normalizeH="0" baseline="0" noProof="0" dirty="0">
                <a:ln>
                  <a:noFill/>
                </a:ln>
                <a:solidFill>
                  <a:srgbClr val="000000"/>
                </a:solidFill>
                <a:effectLst/>
                <a:uLnTx/>
                <a:uFillTx/>
                <a:ea typeface="微軟正黑體" panose="020B0604030504040204" pitchFamily="34" charset="-120"/>
              </a:rPr>
              <a:t>35%</a:t>
            </a:r>
            <a:r>
              <a:rPr lang="zh-TW" altLang="en-US" sz="1100" b="0" i="0" dirty="0">
                <a:solidFill>
                  <a:schemeClr val="tx1">
                    <a:lumMod val="95000"/>
                    <a:lumOff val="5000"/>
                  </a:schemeClr>
                </a:solidFill>
                <a:effectLst/>
                <a:ea typeface="微軟正黑體" panose="020B0604030504040204" pitchFamily="34" charset="-120"/>
              </a:rPr>
              <a:t>，</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為早期階段療效最為顯著的藥物</a:t>
            </a:r>
            <a:r>
              <a:rPr lang="zh-TW" altLang="en-US" sz="1100" dirty="0">
                <a:solidFill>
                  <a:srgbClr val="000000"/>
                </a:solidFill>
                <a:ea typeface="微軟正黑體" panose="020B0604030504040204" pitchFamily="34" charset="-120"/>
              </a:rPr>
              <a:t>。目前，該藥物已在</a:t>
            </a:r>
            <a:r>
              <a:rPr lang="en-US" altLang="zh-TW" sz="1100" dirty="0">
                <a:solidFill>
                  <a:srgbClr val="000000"/>
                </a:solidFill>
                <a:ea typeface="微軟正黑體" panose="020B0604030504040204" pitchFamily="34" charset="-120"/>
              </a:rPr>
              <a:t>49</a:t>
            </a:r>
            <a:r>
              <a:rPr lang="zh-TW" altLang="en-US" sz="1100" dirty="0">
                <a:solidFill>
                  <a:srgbClr val="000000"/>
                </a:solidFill>
                <a:ea typeface="微軟正黑體" panose="020B0604030504040204" pitchFamily="34" charset="-120"/>
              </a:rPr>
              <a:t>個國家獲得</a:t>
            </a:r>
            <a:r>
              <a:rPr kumimoji="0" lang="zh-TW" altLang="en-US" sz="1100" i="0" u="none" strike="noStrike" kern="1200" cap="none" spc="0" normalizeH="0" baseline="0" noProof="0" dirty="0">
                <a:ln>
                  <a:noFill/>
                </a:ln>
                <a:solidFill>
                  <a:srgbClr val="000000"/>
                </a:solidFill>
                <a:effectLst/>
                <a:uLnTx/>
                <a:uFillTx/>
                <a:ea typeface="微軟正黑體" panose="020B0604030504040204" pitchFamily="34" charset="-120"/>
              </a:rPr>
              <a:t>核准</a:t>
            </a:r>
            <a:r>
              <a:rPr lang="zh-TW" altLang="en-US" sz="1100" dirty="0">
                <a:solidFill>
                  <a:srgbClr val="000000"/>
                </a:solidFill>
                <a:ea typeface="微軟正黑體" panose="020B0604030504040204" pitchFamily="34" charset="-120"/>
              </a:rPr>
              <a:t>。彭博行業研究預計到</a:t>
            </a:r>
            <a:r>
              <a:rPr lang="en-US" altLang="zh-TW" sz="1100" dirty="0">
                <a:solidFill>
                  <a:srgbClr val="000000"/>
                </a:solidFill>
                <a:ea typeface="微軟正黑體" panose="020B0604030504040204" pitchFamily="34" charset="-120"/>
              </a:rPr>
              <a:t>2030</a:t>
            </a:r>
            <a:r>
              <a:rPr lang="zh-TW" altLang="en-US" sz="1100" dirty="0">
                <a:solidFill>
                  <a:srgbClr val="000000"/>
                </a:solidFill>
                <a:ea typeface="微軟正黑體" panose="020B0604030504040204" pitchFamily="34" charset="-120"/>
              </a:rPr>
              <a:t>年</a:t>
            </a:r>
            <a:r>
              <a:rPr lang="en-US" altLang="zh-TW" sz="1100" dirty="0" err="1">
                <a:solidFill>
                  <a:srgbClr val="000000"/>
                </a:solidFill>
                <a:ea typeface="微軟正黑體" panose="020B0604030504040204" pitchFamily="34" charset="-120"/>
              </a:rPr>
              <a:t>Kisunla</a:t>
            </a:r>
            <a:r>
              <a:rPr lang="zh-TW" altLang="en-US" sz="1100" dirty="0">
                <a:solidFill>
                  <a:srgbClr val="000000"/>
                </a:solidFill>
                <a:ea typeface="微軟正黑體" panose="020B0604030504040204" pitchFamily="34" charset="-120"/>
              </a:rPr>
              <a:t>可創造約</a:t>
            </a:r>
            <a:r>
              <a:rPr lang="en-US" altLang="zh-TW" sz="1100" dirty="0">
                <a:solidFill>
                  <a:srgbClr val="000000"/>
                </a:solidFill>
                <a:ea typeface="微軟正黑體" panose="020B0604030504040204" pitchFamily="34" charset="-120"/>
              </a:rPr>
              <a:t>20</a:t>
            </a:r>
            <a:r>
              <a:rPr lang="zh-TW" altLang="en-US" sz="1100" dirty="0">
                <a:solidFill>
                  <a:srgbClr val="000000"/>
                </a:solidFill>
                <a:ea typeface="微軟正黑體" panose="020B0604030504040204" pitchFamily="34" charset="-120"/>
              </a:rPr>
              <a:t>億美元銷售額。</a:t>
            </a:r>
            <a:endParaRPr kumimoji="0" lang="en-US" altLang="zh-TW" sz="1100" b="0" i="0" u="none" strike="noStrike" kern="1200" cap="none" spc="0" normalizeH="0" baseline="0" noProof="0" dirty="0">
              <a:ln>
                <a:noFill/>
              </a:ln>
              <a:solidFill>
                <a:srgbClr val="000000"/>
              </a:solidFill>
              <a:effectLst/>
              <a:uLnTx/>
              <a:uFillTx/>
              <a:ea typeface="微軟正黑體" panose="020B0604030504040204" pitchFamily="34" charset="-120"/>
            </a:endParaRPr>
          </a:p>
          <a:p>
            <a:pPr marL="257175" marR="0" lvl="0" indent="-257175" algn="just" defTabSz="685800" rtl="0" eaLnBrk="1" fontAlgn="auto" latinLnBrk="0" hangingPunct="1">
              <a:lnSpc>
                <a:spcPts val="1400"/>
              </a:lnSpc>
              <a:spcBef>
                <a:spcPts val="300"/>
              </a:spcBef>
              <a:buClrTx/>
              <a:buSzTx/>
              <a:buFont typeface="Wingdings" panose="05000000000000000000" pitchFamily="2" charset="2"/>
              <a:buChar char="ü"/>
              <a:tabLst/>
              <a:defRPr/>
            </a:pPr>
            <a:r>
              <a:rPr kumimoji="0" lang="zh-TW" altLang="en-US" sz="1100" b="1" i="0" u="none" strike="noStrike" kern="1200" cap="none" spc="0" normalizeH="0" baseline="0" noProof="0" dirty="0">
                <a:ln>
                  <a:noFill/>
                </a:ln>
                <a:solidFill>
                  <a:srgbClr val="000000"/>
                </a:solidFill>
                <a:effectLst/>
                <a:uLnTx/>
                <a:uFillTx/>
                <a:ea typeface="微軟正黑體" panose="020B0604030504040204" pitchFamily="34" charset="-120"/>
              </a:rPr>
              <a:t>抗肥胖市場增長可期</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：據</a:t>
            </a:r>
            <a:r>
              <a:rPr lang="zh-TW" altLang="en-US" sz="1100" dirty="0">
                <a:solidFill>
                  <a:srgbClr val="000000"/>
                </a:solidFill>
                <a:ea typeface="微軟正黑體" panose="020B0604030504040204" pitchFamily="34" charset="-120"/>
              </a:rPr>
              <a:t>大摩</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研究，</a:t>
            </a:r>
            <a:r>
              <a:rPr kumimoji="0" lang="en-US" altLang="zh-TW" sz="1100" b="0" i="0" u="none" strike="noStrike" kern="1200" cap="none" spc="0" normalizeH="0" baseline="0" noProof="0" dirty="0">
                <a:ln>
                  <a:noFill/>
                </a:ln>
                <a:solidFill>
                  <a:srgbClr val="000000"/>
                </a:solidFill>
                <a:effectLst/>
                <a:uLnTx/>
                <a:uFillTx/>
                <a:ea typeface="微軟正黑體" panose="020B0604030504040204" pitchFamily="34" charset="-120"/>
              </a:rPr>
              <a:t>2030</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年全球抗肥胖藥物的市場</a:t>
            </a:r>
            <a:r>
              <a:rPr lang="zh-TW" altLang="en-US" sz="1100" noProof="0" dirty="0">
                <a:solidFill>
                  <a:srgbClr val="000000"/>
                </a:solidFill>
                <a:ea typeface="微軟正黑體" panose="020B0604030504040204" pitchFamily="34" charset="-120"/>
              </a:rPr>
              <a:t>規模</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將達到</a:t>
            </a:r>
            <a:r>
              <a:rPr kumimoji="0" lang="en-US" altLang="zh-TW" sz="1100" b="0" i="0" u="none" strike="noStrike" kern="1200" cap="none" spc="0" normalizeH="0" baseline="0" noProof="0" dirty="0">
                <a:ln>
                  <a:noFill/>
                </a:ln>
                <a:solidFill>
                  <a:srgbClr val="000000"/>
                </a:solidFill>
                <a:effectLst/>
                <a:uLnTx/>
                <a:uFillTx/>
                <a:ea typeface="微軟正黑體" panose="020B0604030504040204" pitchFamily="34" charset="-120"/>
              </a:rPr>
              <a:t>1,050</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億美元</a:t>
            </a:r>
            <a:r>
              <a:rPr kumimoji="0" lang="en-US" altLang="zh-TW" sz="1100" b="0" i="0" u="none" strike="noStrike" kern="1200" cap="none" spc="0" normalizeH="0" baseline="0" noProof="0" dirty="0">
                <a:ln>
                  <a:noFill/>
                </a:ln>
                <a:solidFill>
                  <a:srgbClr val="000000"/>
                </a:solidFill>
                <a:effectLst/>
                <a:uLnTx/>
                <a:uFillTx/>
                <a:ea typeface="微軟正黑體" panose="020B0604030504040204" pitchFamily="34" charset="-120"/>
              </a:rPr>
              <a:t>(</a:t>
            </a:r>
            <a:r>
              <a:rPr lang="zh-TW" altLang="en-US" sz="1100" noProof="0" dirty="0">
                <a:solidFill>
                  <a:srgbClr val="000000"/>
                </a:solidFill>
                <a:ea typeface="微軟正黑體" panose="020B0604030504040204" pitchFamily="34" charset="-120"/>
              </a:rPr>
              <a:t>小摩</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則估計</a:t>
            </a:r>
            <a:r>
              <a:rPr kumimoji="0" lang="en-US" altLang="zh-TW" sz="1100" b="0" i="0" u="none" strike="noStrike" kern="1200" cap="none" spc="0" normalizeH="0" baseline="0" noProof="0" dirty="0">
                <a:ln>
                  <a:noFill/>
                </a:ln>
                <a:solidFill>
                  <a:srgbClr val="000000"/>
                </a:solidFill>
                <a:effectLst/>
                <a:uLnTx/>
                <a:uFillTx/>
                <a:ea typeface="微軟正黑體" panose="020B0604030504040204" pitchFamily="34" charset="-120"/>
              </a:rPr>
              <a:t>GLP-1</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等減肥藥物在</a:t>
            </a:r>
            <a:r>
              <a:rPr kumimoji="0" lang="en-US" altLang="zh-TW" sz="1100" b="0" i="0" u="none" strike="noStrike" kern="1200" cap="none" spc="0" normalizeH="0" baseline="0" noProof="0" dirty="0">
                <a:ln>
                  <a:noFill/>
                </a:ln>
                <a:solidFill>
                  <a:srgbClr val="000000"/>
                </a:solidFill>
                <a:effectLst/>
                <a:uLnTx/>
                <a:uFillTx/>
                <a:ea typeface="微軟正黑體" panose="020B0604030504040204" pitchFamily="34" charset="-120"/>
              </a:rPr>
              <a:t>2032</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年的銷售額將達到</a:t>
            </a:r>
            <a:r>
              <a:rPr kumimoji="0" lang="en-US" altLang="zh-TW" sz="1100" b="0" i="0" u="none" strike="noStrike" kern="1200" cap="none" spc="0" normalizeH="0" baseline="0" noProof="0" dirty="0">
                <a:ln>
                  <a:noFill/>
                </a:ln>
                <a:solidFill>
                  <a:srgbClr val="000000"/>
                </a:solidFill>
                <a:effectLst/>
                <a:uLnTx/>
                <a:uFillTx/>
                <a:ea typeface="微軟正黑體" panose="020B0604030504040204" pitchFamily="34" charset="-120"/>
              </a:rPr>
              <a:t>1,400</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億美元</a:t>
            </a:r>
            <a:r>
              <a:rPr kumimoji="0" lang="en-US" altLang="zh-TW" sz="1100" b="0" i="0" u="none" strike="noStrike" kern="1200" cap="none" spc="0" normalizeH="0" baseline="0" noProof="0" dirty="0">
                <a:ln>
                  <a:noFill/>
                </a:ln>
                <a:solidFill>
                  <a:srgbClr val="000000"/>
                </a:solidFill>
                <a:effectLst/>
                <a:uLnTx/>
                <a:uFillTx/>
                <a:ea typeface="微軟正黑體" panose="020B0604030504040204" pitchFamily="34" charset="-120"/>
              </a:rPr>
              <a:t>)</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，目前普遍認為</a:t>
            </a:r>
            <a:r>
              <a:rPr kumimoji="0" lang="zh-CN" altLang="en-US" sz="1100" b="0" i="0" u="none" strike="noStrike" kern="1200" cap="none" spc="0" normalizeH="0" baseline="0" noProof="0" dirty="0">
                <a:ln>
                  <a:noFill/>
                </a:ln>
                <a:solidFill>
                  <a:srgbClr val="000000"/>
                </a:solidFill>
                <a:effectLst/>
                <a:uLnTx/>
                <a:uFillTx/>
                <a:ea typeface="微軟正黑體" panose="020B0604030504040204" pitchFamily="34" charset="-120"/>
              </a:rPr>
              <a:t>禮來和諾和諾德</a:t>
            </a:r>
            <a:r>
              <a:rPr kumimoji="0" lang="en-US" altLang="zh-CN" sz="1100" b="0" i="0" u="none" strike="noStrike" kern="1200" cap="none" spc="0" normalizeH="0" baseline="0" noProof="0" dirty="0">
                <a:ln>
                  <a:noFill/>
                </a:ln>
                <a:solidFill>
                  <a:srgbClr val="000000"/>
                </a:solidFill>
                <a:effectLst/>
                <a:uLnTx/>
                <a:uFillTx/>
                <a:ea typeface="微軟正黑體" panose="020B0604030504040204" pitchFamily="34" charset="-120"/>
              </a:rPr>
              <a:t>(Novo Nordisk)</a:t>
            </a:r>
            <a:r>
              <a:rPr kumimoji="0" lang="zh-CN" altLang="en-US" sz="1100" b="0" i="0" u="none" strike="noStrike" kern="1200" cap="none" spc="0" normalizeH="0" baseline="0" noProof="0" dirty="0">
                <a:ln>
                  <a:noFill/>
                </a:ln>
                <a:solidFill>
                  <a:srgbClr val="000000"/>
                </a:solidFill>
                <a:effectLst/>
                <a:uLnTx/>
                <a:uFillTx/>
                <a:ea typeface="微軟正黑體" panose="020B0604030504040204" pitchFamily="34" charset="-120"/>
              </a:rPr>
              <a:t>爲</a:t>
            </a:r>
            <a:r>
              <a:rPr lang="zh-TW" altLang="en-US" sz="1100" dirty="0">
                <a:solidFill>
                  <a:srgbClr val="000000"/>
                </a:solidFill>
                <a:ea typeface="微軟正黑體" panose="020B0604030504040204" pitchFamily="34" charset="-120"/>
              </a:rPr>
              <a:t>該</a:t>
            </a:r>
            <a:r>
              <a:rPr kumimoji="0" lang="zh-CN" altLang="en-US" sz="1100" b="0" i="0" u="none" strike="noStrike" kern="1200" cap="none" spc="0" normalizeH="0" baseline="0" noProof="0" dirty="0">
                <a:ln>
                  <a:noFill/>
                </a:ln>
                <a:solidFill>
                  <a:srgbClr val="000000"/>
                </a:solidFill>
                <a:effectLst/>
                <a:uLnTx/>
                <a:uFillTx/>
                <a:ea typeface="微軟正黑體" panose="020B0604030504040204" pitchFamily="34" charset="-120"/>
              </a:rPr>
              <a:t>市場的</a:t>
            </a:r>
            <a:r>
              <a:rPr kumimoji="0" lang="zh-TW" altLang="en-US" sz="1100" b="0" i="0" u="none" strike="noStrike" kern="1200" cap="none" spc="0" normalizeH="0" baseline="0" noProof="0" dirty="0">
                <a:ln>
                  <a:noFill/>
                </a:ln>
                <a:solidFill>
                  <a:srgbClr val="000000"/>
                </a:solidFill>
                <a:effectLst/>
                <a:uLnTx/>
                <a:uFillTx/>
                <a:ea typeface="微軟正黑體" panose="020B0604030504040204" pitchFamily="34" charset="-120"/>
              </a:rPr>
              <a:t>領銜企業。</a:t>
            </a:r>
            <a:endParaRPr kumimoji="0" lang="en-US" altLang="zh-TW" sz="1100" b="0" i="0" u="none" strike="noStrike" kern="1200" cap="none" spc="0" normalizeH="0" baseline="0" noProof="0" dirty="0">
              <a:ln>
                <a:noFill/>
              </a:ln>
              <a:solidFill>
                <a:srgbClr val="000000"/>
              </a:solidFill>
              <a:effectLst/>
              <a:uLnTx/>
              <a:uFillTx/>
              <a:ea typeface="微軟正黑體" panose="020B0604030504040204" pitchFamily="34" charset="-120"/>
            </a:endParaRPr>
          </a:p>
        </p:txBody>
      </p:sp>
      <p:sp>
        <p:nvSpPr>
          <p:cNvPr id="26" name="文字方塊 25">
            <a:extLst>
              <a:ext uri="{FF2B5EF4-FFF2-40B4-BE49-F238E27FC236}">
                <a16:creationId xmlns:a16="http://schemas.microsoft.com/office/drawing/2014/main" id="{12CE7869-9130-14C3-36AE-B47C1CD1FB14}"/>
              </a:ext>
            </a:extLst>
          </p:cNvPr>
          <p:cNvSpPr txBox="1"/>
          <p:nvPr/>
        </p:nvSpPr>
        <p:spPr>
          <a:xfrm>
            <a:off x="6742780" y="1445796"/>
            <a:ext cx="2437731" cy="646331"/>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600" dirty="0">
                <a:latin typeface="微軟正黑體" panose="020B0604030504040204" pitchFamily="34" charset="-120"/>
                <a:ea typeface="微軟正黑體" panose="020B0604030504040204" pitchFamily="34" charset="-120"/>
              </a:rPr>
              <a:t>#1</a:t>
            </a:r>
            <a:endParaRPr lang="zh-TW" altLang="en-US" sz="3600" dirty="0">
              <a:latin typeface="微軟正黑體" panose="020B0604030504040204" pitchFamily="34" charset="-120"/>
              <a:ea typeface="微軟正黑體" panose="020B0604030504040204" pitchFamily="34" charset="-120"/>
            </a:endParaRPr>
          </a:p>
        </p:txBody>
      </p:sp>
      <p:sp>
        <p:nvSpPr>
          <p:cNvPr id="32" name="矩形 31">
            <a:extLst>
              <a:ext uri="{FF2B5EF4-FFF2-40B4-BE49-F238E27FC236}">
                <a16:creationId xmlns:a16="http://schemas.microsoft.com/office/drawing/2014/main" id="{1295D466-78DC-0033-E838-5CF4F47ADBF1}"/>
              </a:ext>
            </a:extLst>
          </p:cNvPr>
          <p:cNvSpPr/>
          <p:nvPr/>
        </p:nvSpPr>
        <p:spPr>
          <a:xfrm>
            <a:off x="6742780" y="2089945"/>
            <a:ext cx="2401220" cy="707886"/>
          </a:xfrm>
          <a:prstGeom prst="rect">
            <a:avLst/>
          </a:prstGeom>
        </p:spPr>
        <p:txBody>
          <a:bodyPr wrap="square">
            <a:spAutoFit/>
          </a:bodyPr>
          <a:lstStyle/>
          <a:p>
            <a:pPr algn="ct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全球製藥企業</a:t>
            </a:r>
            <a:b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b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市值排名</a:t>
            </a:r>
            <a:b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br>
            <a:r>
              <a:rPr lang="en-US" altLang="zh-TW" sz="1100" dirty="0">
                <a:solidFill>
                  <a:schemeClr val="tx1">
                    <a:lumMod val="95000"/>
                    <a:lumOff val="5000"/>
                  </a:schemeClr>
                </a:solidFill>
                <a:latin typeface="微軟正黑體" panose="020B0604030504040204" pitchFamily="34" charset="-120"/>
                <a:ea typeface="微軟正黑體" panose="020B0604030504040204" pitchFamily="34" charset="-120"/>
              </a:rPr>
              <a:t>(2026/5/5)</a:t>
            </a:r>
            <a:endPar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endParaRPr>
          </a:p>
        </p:txBody>
      </p:sp>
      <p:sp>
        <p:nvSpPr>
          <p:cNvPr id="33" name="文字方塊 32">
            <a:extLst>
              <a:ext uri="{FF2B5EF4-FFF2-40B4-BE49-F238E27FC236}">
                <a16:creationId xmlns:a16="http://schemas.microsoft.com/office/drawing/2014/main" id="{52CD2D27-CA51-D3A9-CD77-9F2D88FD5F46}"/>
              </a:ext>
            </a:extLst>
          </p:cNvPr>
          <p:cNvSpPr txBox="1"/>
          <p:nvPr/>
        </p:nvSpPr>
        <p:spPr>
          <a:xfrm>
            <a:off x="6734190" y="3254835"/>
            <a:ext cx="2446321" cy="646331"/>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600" dirty="0">
                <a:latin typeface="微軟正黑體" panose="020B0604030504040204" pitchFamily="34" charset="-120"/>
                <a:ea typeface="微軟正黑體" panose="020B0604030504040204" pitchFamily="34" charset="-120"/>
              </a:rPr>
              <a:t>#1</a:t>
            </a:r>
          </a:p>
        </p:txBody>
      </p:sp>
      <p:sp>
        <p:nvSpPr>
          <p:cNvPr id="34" name="矩形 33">
            <a:extLst>
              <a:ext uri="{FF2B5EF4-FFF2-40B4-BE49-F238E27FC236}">
                <a16:creationId xmlns:a16="http://schemas.microsoft.com/office/drawing/2014/main" id="{9871A728-8B91-3BC7-37BB-51F93F6FA8D8}"/>
              </a:ext>
            </a:extLst>
          </p:cNvPr>
          <p:cNvSpPr/>
          <p:nvPr/>
        </p:nvSpPr>
        <p:spPr>
          <a:xfrm>
            <a:off x="6742781" y="3905970"/>
            <a:ext cx="2401220" cy="692497"/>
          </a:xfrm>
          <a:prstGeom prst="rect">
            <a:avLst/>
          </a:prstGeom>
        </p:spPr>
        <p:txBody>
          <a:bodyPr wrap="square">
            <a:spAutoFit/>
          </a:bodyPr>
          <a:lstStyle/>
          <a:p>
            <a:pPr algn="ctr"/>
            <a:r>
              <a:rPr lang="zh-TW" altLang="en-US" sz="1400" b="1" dirty="0">
                <a:latin typeface="微軟正黑體" panose="020B0604030504040204" pitchFamily="34" charset="-120"/>
                <a:ea typeface="微軟正黑體" panose="020B0604030504040204" pitchFamily="34" charset="-120"/>
              </a:rPr>
              <a:t>美國腸泌素類藥物</a:t>
            </a:r>
            <a:endParaRPr lang="en-US" altLang="zh-TW" sz="1400" b="1" dirty="0">
              <a:latin typeface="微軟正黑體" panose="020B0604030504040204" pitchFamily="34" charset="-120"/>
              <a:ea typeface="微軟正黑體" panose="020B0604030504040204" pitchFamily="34" charset="-120"/>
            </a:endParaRPr>
          </a:p>
          <a:p>
            <a:pPr algn="ctr"/>
            <a:r>
              <a:rPr lang="zh-TW" altLang="en-US" sz="1400" b="1" dirty="0">
                <a:latin typeface="微軟正黑體" panose="020B0604030504040204" pitchFamily="34" charset="-120"/>
                <a:ea typeface="微軟正黑體" panose="020B0604030504040204" pitchFamily="34" charset="-120"/>
              </a:rPr>
              <a:t>市佔率約</a:t>
            </a:r>
            <a:r>
              <a:rPr lang="en-US" altLang="zh-TW" sz="1400" b="1" dirty="0">
                <a:latin typeface="微軟正黑體" panose="020B0604030504040204" pitchFamily="34" charset="-120"/>
                <a:ea typeface="微軟正黑體" panose="020B0604030504040204" pitchFamily="34" charset="-120"/>
              </a:rPr>
              <a:t>60.1%</a:t>
            </a:r>
            <a:br>
              <a:rPr lang="en-US" altLang="zh-TW" sz="1400" b="1" dirty="0">
                <a:latin typeface="微軟正黑體" panose="020B0604030504040204" pitchFamily="34" charset="-120"/>
                <a:ea typeface="微軟正黑體" panose="020B0604030504040204" pitchFamily="34" charset="-120"/>
              </a:rPr>
            </a:br>
            <a:r>
              <a:rPr lang="en-US" altLang="zh-TW" sz="1100" dirty="0">
                <a:latin typeface="微軟正黑體" panose="020B0604030504040204" pitchFamily="34" charset="-120"/>
                <a:ea typeface="微軟正黑體" panose="020B0604030504040204" pitchFamily="34" charset="-120"/>
              </a:rPr>
              <a:t>(IQVIA, 2026/3)</a:t>
            </a:r>
            <a:endParaRPr lang="zh-TW" altLang="en-US" sz="1400" dirty="0">
              <a:latin typeface="微軟正黑體" panose="020B0604030504040204" pitchFamily="34" charset="-120"/>
              <a:ea typeface="微軟正黑體" panose="020B0604030504040204" pitchFamily="34" charset="-120"/>
            </a:endParaRPr>
          </a:p>
        </p:txBody>
      </p:sp>
      <p:sp>
        <p:nvSpPr>
          <p:cNvPr id="35" name="矩形 34">
            <a:extLst>
              <a:ext uri="{FF2B5EF4-FFF2-40B4-BE49-F238E27FC236}">
                <a16:creationId xmlns:a16="http://schemas.microsoft.com/office/drawing/2014/main" id="{BCCB7ACA-2C25-3CBC-D9B3-8A7C9AD2E292}"/>
              </a:ext>
            </a:extLst>
          </p:cNvPr>
          <p:cNvSpPr/>
          <p:nvPr/>
        </p:nvSpPr>
        <p:spPr>
          <a:xfrm>
            <a:off x="6742780" y="5744869"/>
            <a:ext cx="2437731" cy="692497"/>
          </a:xfrm>
          <a:prstGeom prst="rect">
            <a:avLst/>
          </a:prstGeom>
        </p:spPr>
        <p:txBody>
          <a:bodyPr wrap="square">
            <a:spAutoFit/>
          </a:bodyPr>
          <a:lstStyle/>
          <a:p>
            <a:pPr algn="ct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全球製藥企業</a:t>
            </a:r>
            <a:b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b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營收</a:t>
            </a:r>
            <a:r>
              <a:rPr lang="en-US" altLang="zh-TW" sz="1400" b="1" baseline="30000" dirty="0">
                <a:solidFill>
                  <a:schemeClr val="tx1">
                    <a:lumMod val="95000"/>
                    <a:lumOff val="5000"/>
                  </a:schemeClr>
                </a:solidFill>
                <a:latin typeface="微軟正黑體" panose="020B0604030504040204" pitchFamily="34" charset="-120"/>
                <a:ea typeface="微軟正黑體" panose="020B0604030504040204" pitchFamily="34" charset="-120"/>
              </a:rPr>
              <a:t>[</a:t>
            </a:r>
            <a:r>
              <a:rPr lang="zh-TW" altLang="en-US" sz="1400" b="1" baseline="30000" dirty="0">
                <a:solidFill>
                  <a:schemeClr val="tx1">
                    <a:lumMod val="95000"/>
                    <a:lumOff val="5000"/>
                  </a:schemeClr>
                </a:solidFill>
                <a:latin typeface="微軟正黑體" panose="020B0604030504040204" pitchFamily="34" charset="-120"/>
                <a:ea typeface="微軟正黑體" panose="020B0604030504040204" pitchFamily="34" charset="-120"/>
              </a:rPr>
              <a:t>註</a:t>
            </a:r>
            <a:r>
              <a:rPr lang="en-US" altLang="zh-TW" sz="1400" b="1" baseline="30000" dirty="0">
                <a:solidFill>
                  <a:schemeClr val="tx1">
                    <a:lumMod val="95000"/>
                    <a:lumOff val="5000"/>
                  </a:schemeClr>
                </a:solidFill>
                <a:latin typeface="微軟正黑體" panose="020B0604030504040204" pitchFamily="34" charset="-120"/>
                <a:ea typeface="微軟正黑體" panose="020B0604030504040204" pitchFamily="34" charset="-120"/>
              </a:rPr>
              <a:t>]</a:t>
            </a: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排名</a:t>
            </a:r>
            <a:b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br>
            <a:r>
              <a:rPr lang="en-US" altLang="zh-TW" sz="1100" dirty="0">
                <a:solidFill>
                  <a:schemeClr val="tx1">
                    <a:lumMod val="95000"/>
                    <a:lumOff val="5000"/>
                  </a:schemeClr>
                </a:solidFill>
                <a:latin typeface="微軟正黑體" panose="020B0604030504040204" pitchFamily="34" charset="-120"/>
                <a:ea typeface="微軟正黑體" panose="020B0604030504040204" pitchFamily="34" charset="-120"/>
              </a:rPr>
              <a:t>(FY2025)</a:t>
            </a:r>
            <a:endPar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endParaRPr>
          </a:p>
        </p:txBody>
      </p:sp>
      <p:sp>
        <p:nvSpPr>
          <p:cNvPr id="37" name="文字方塊 36">
            <a:extLst>
              <a:ext uri="{FF2B5EF4-FFF2-40B4-BE49-F238E27FC236}">
                <a16:creationId xmlns:a16="http://schemas.microsoft.com/office/drawing/2014/main" id="{43C56B68-C2ED-3C8F-DFD5-EAF8B14A3781}"/>
              </a:ext>
            </a:extLst>
          </p:cNvPr>
          <p:cNvSpPr txBox="1"/>
          <p:nvPr/>
        </p:nvSpPr>
        <p:spPr>
          <a:xfrm>
            <a:off x="6742780" y="5098294"/>
            <a:ext cx="2437731" cy="646331"/>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600" dirty="0">
                <a:latin typeface="微軟正黑體" panose="020B0604030504040204" pitchFamily="34" charset="-120"/>
                <a:ea typeface="微軟正黑體" panose="020B0604030504040204" pitchFamily="34" charset="-120"/>
              </a:rPr>
              <a:t>#1</a:t>
            </a:r>
          </a:p>
        </p:txBody>
      </p:sp>
      <p:graphicFrame>
        <p:nvGraphicFramePr>
          <p:cNvPr id="3" name="圖表 2">
            <a:extLst>
              <a:ext uri="{FF2B5EF4-FFF2-40B4-BE49-F238E27FC236}">
                <a16:creationId xmlns:a16="http://schemas.microsoft.com/office/drawing/2014/main" id="{991E2E0A-409D-FD66-8936-19C25B247E09}"/>
              </a:ext>
            </a:extLst>
          </p:cNvPr>
          <p:cNvGraphicFramePr>
            <a:graphicFrameLocks/>
          </p:cNvGraphicFramePr>
          <p:nvPr>
            <p:extLst>
              <p:ext uri="{D42A27DB-BD31-4B8C-83A1-F6EECF244321}">
                <p14:modId xmlns:p14="http://schemas.microsoft.com/office/powerpoint/2010/main" val="2523258199"/>
              </p:ext>
            </p:extLst>
          </p:nvPr>
        </p:nvGraphicFramePr>
        <p:xfrm>
          <a:off x="477845" y="4739003"/>
          <a:ext cx="2730766" cy="1655602"/>
        </p:xfrm>
        <a:graphic>
          <a:graphicData uri="http://schemas.openxmlformats.org/drawingml/2006/chart">
            <c:chart xmlns:c="http://schemas.openxmlformats.org/drawingml/2006/chart" xmlns:r="http://schemas.openxmlformats.org/officeDocument/2006/relationships" r:id="rId6"/>
          </a:graphicData>
        </a:graphic>
      </p:graphicFrame>
      <p:sp>
        <p:nvSpPr>
          <p:cNvPr id="5" name="文字方塊 4">
            <a:extLst>
              <a:ext uri="{FF2B5EF4-FFF2-40B4-BE49-F238E27FC236}">
                <a16:creationId xmlns:a16="http://schemas.microsoft.com/office/drawing/2014/main" id="{26219CF5-F720-F3D8-CA66-501C414733EA}"/>
              </a:ext>
            </a:extLst>
          </p:cNvPr>
          <p:cNvSpPr txBox="1"/>
          <p:nvPr/>
        </p:nvSpPr>
        <p:spPr>
          <a:xfrm>
            <a:off x="954621" y="5247819"/>
            <a:ext cx="864096" cy="646331"/>
          </a:xfrm>
          <a:prstGeom prst="rect">
            <a:avLst/>
          </a:prstGeom>
          <a:noFill/>
        </p:spPr>
        <p:txBody>
          <a:bodyPr wrap="square" rtlCol="0">
            <a:spAutoFit/>
          </a:bodyPr>
          <a:lstStyle/>
          <a:p>
            <a:pPr algn="ctr"/>
            <a:r>
              <a:rPr lang="en-US" altLang="zh-TW" sz="1200" dirty="0">
                <a:latin typeface="微軟正黑體" panose="020B0604030504040204" pitchFamily="34" charset="-120"/>
                <a:ea typeface="微軟正黑體" panose="020B0604030504040204" pitchFamily="34" charset="-120"/>
              </a:rPr>
              <a:t>FY25</a:t>
            </a:r>
            <a:r>
              <a:rPr lang="zh-TW" altLang="en-US" sz="1200" dirty="0">
                <a:latin typeface="微軟正黑體" panose="020B0604030504040204" pitchFamily="34" charset="-120"/>
                <a:ea typeface="微軟正黑體" panose="020B0604030504040204" pitchFamily="34" charset="-120"/>
              </a:rPr>
              <a:t>營收</a:t>
            </a:r>
            <a:br>
              <a:rPr lang="en-US" altLang="zh-TW" sz="1200" dirty="0">
                <a:latin typeface="微軟正黑體" panose="020B0604030504040204" pitchFamily="34" charset="-120"/>
                <a:ea typeface="微軟正黑體" panose="020B0604030504040204" pitchFamily="34" charset="-120"/>
              </a:rPr>
            </a:br>
            <a:r>
              <a:rPr lang="zh-TW" altLang="en-US" sz="1200" dirty="0">
                <a:latin typeface="微軟正黑體" panose="020B0604030504040204" pitchFamily="34" charset="-120"/>
                <a:ea typeface="微軟正黑體" panose="020B0604030504040204" pitchFamily="34" charset="-120"/>
              </a:rPr>
              <a:t>按領域</a:t>
            </a:r>
            <a:br>
              <a:rPr lang="en-US" altLang="zh-TW" sz="1200" dirty="0">
                <a:latin typeface="微軟正黑體" panose="020B0604030504040204" pitchFamily="34" charset="-120"/>
                <a:ea typeface="微軟正黑體" panose="020B0604030504040204" pitchFamily="34" charset="-120"/>
              </a:rPr>
            </a:br>
            <a:r>
              <a:rPr lang="en-US" altLang="zh-TW" sz="1200" dirty="0">
                <a:latin typeface="微軟正黑體" panose="020B0604030504040204" pitchFamily="34" charset="-120"/>
                <a:ea typeface="微軟正黑體" panose="020B0604030504040204" pitchFamily="34" charset="-120"/>
              </a:rPr>
              <a:t>$652</a:t>
            </a:r>
            <a:r>
              <a:rPr lang="zh-TW" altLang="en-US" sz="1200" dirty="0">
                <a:latin typeface="微軟正黑體" panose="020B0604030504040204" pitchFamily="34" charset="-120"/>
                <a:ea typeface="微軟正黑體" panose="020B0604030504040204" pitchFamily="34" charset="-120"/>
              </a:rPr>
              <a:t>億</a:t>
            </a:r>
          </a:p>
        </p:txBody>
      </p:sp>
      <p:graphicFrame>
        <p:nvGraphicFramePr>
          <p:cNvPr id="6" name="圖表 5">
            <a:extLst>
              <a:ext uri="{FF2B5EF4-FFF2-40B4-BE49-F238E27FC236}">
                <a16:creationId xmlns:a16="http://schemas.microsoft.com/office/drawing/2014/main" id="{682154F3-D1DA-049E-1B11-9DE46A515AD9}"/>
              </a:ext>
            </a:extLst>
          </p:cNvPr>
          <p:cNvGraphicFramePr>
            <a:graphicFrameLocks/>
          </p:cNvGraphicFramePr>
          <p:nvPr>
            <p:extLst>
              <p:ext uri="{D42A27DB-BD31-4B8C-83A1-F6EECF244321}">
                <p14:modId xmlns:p14="http://schemas.microsoft.com/office/powerpoint/2010/main" val="1294533345"/>
              </p:ext>
            </p:extLst>
          </p:nvPr>
        </p:nvGraphicFramePr>
        <p:xfrm>
          <a:off x="3393377" y="4794143"/>
          <a:ext cx="2537852" cy="1617190"/>
        </p:xfrm>
        <a:graphic>
          <a:graphicData uri="http://schemas.openxmlformats.org/drawingml/2006/chart">
            <c:chart xmlns:c="http://schemas.openxmlformats.org/drawingml/2006/chart" xmlns:r="http://schemas.openxmlformats.org/officeDocument/2006/relationships" r:id="rId7"/>
          </a:graphicData>
        </a:graphic>
      </p:graphicFrame>
      <p:sp>
        <p:nvSpPr>
          <p:cNvPr id="7" name="文字方塊 6">
            <a:extLst>
              <a:ext uri="{FF2B5EF4-FFF2-40B4-BE49-F238E27FC236}">
                <a16:creationId xmlns:a16="http://schemas.microsoft.com/office/drawing/2014/main" id="{457C3742-37C4-213D-42FA-70333065CA0A}"/>
              </a:ext>
            </a:extLst>
          </p:cNvPr>
          <p:cNvSpPr txBox="1"/>
          <p:nvPr/>
        </p:nvSpPr>
        <p:spPr>
          <a:xfrm>
            <a:off x="3764175" y="5251552"/>
            <a:ext cx="864096" cy="646331"/>
          </a:xfrm>
          <a:prstGeom prst="rect">
            <a:avLst/>
          </a:prstGeom>
          <a:noFill/>
        </p:spPr>
        <p:txBody>
          <a:bodyPr wrap="square" rtlCol="0">
            <a:spAutoFit/>
          </a:bodyPr>
          <a:lstStyle/>
          <a:p>
            <a:pPr algn="ctr"/>
            <a:r>
              <a:rPr lang="en-US" altLang="zh-TW" sz="1200" dirty="0">
                <a:latin typeface="微軟正黑體" panose="020B0604030504040204" pitchFamily="34" charset="-120"/>
                <a:ea typeface="微軟正黑體" panose="020B0604030504040204" pitchFamily="34" charset="-120"/>
              </a:rPr>
              <a:t>FY25</a:t>
            </a:r>
            <a:r>
              <a:rPr lang="zh-TW" altLang="en-US" sz="1200" dirty="0">
                <a:latin typeface="微軟正黑體" panose="020B0604030504040204" pitchFamily="34" charset="-120"/>
                <a:ea typeface="微軟正黑體" panose="020B0604030504040204" pitchFamily="34" charset="-120"/>
              </a:rPr>
              <a:t>營收</a:t>
            </a:r>
            <a:br>
              <a:rPr lang="en-US" altLang="zh-TW" sz="1200" dirty="0">
                <a:latin typeface="微軟正黑體" panose="020B0604030504040204" pitchFamily="34" charset="-120"/>
                <a:ea typeface="微軟正黑體" panose="020B0604030504040204" pitchFamily="34" charset="-120"/>
              </a:rPr>
            </a:br>
            <a:r>
              <a:rPr lang="zh-TW" altLang="en-US" sz="1200" dirty="0">
                <a:latin typeface="微軟正黑體" panose="020B0604030504040204" pitchFamily="34" charset="-120"/>
                <a:ea typeface="微軟正黑體" panose="020B0604030504040204" pitchFamily="34" charset="-120"/>
              </a:rPr>
              <a:t>按地區</a:t>
            </a:r>
            <a:br>
              <a:rPr lang="en-US" altLang="zh-TW" sz="1200" dirty="0">
                <a:latin typeface="微軟正黑體" panose="020B0604030504040204" pitchFamily="34" charset="-120"/>
                <a:ea typeface="微軟正黑體" panose="020B0604030504040204" pitchFamily="34" charset="-120"/>
              </a:rPr>
            </a:br>
            <a:r>
              <a:rPr lang="en-US" altLang="zh-TW" sz="1200" dirty="0">
                <a:latin typeface="微軟正黑體" panose="020B0604030504040204" pitchFamily="34" charset="-120"/>
                <a:ea typeface="微軟正黑體" panose="020B0604030504040204" pitchFamily="34" charset="-120"/>
              </a:rPr>
              <a:t>$652</a:t>
            </a:r>
            <a:r>
              <a:rPr lang="zh-TW" altLang="en-US" sz="1200" dirty="0">
                <a:latin typeface="微軟正黑體" panose="020B0604030504040204" pitchFamily="34" charset="-120"/>
                <a:ea typeface="微軟正黑體" panose="020B0604030504040204" pitchFamily="34" charset="-120"/>
              </a:rPr>
              <a:t>億</a:t>
            </a:r>
          </a:p>
        </p:txBody>
      </p:sp>
      <p:sp>
        <p:nvSpPr>
          <p:cNvPr id="21" name="矩形 20">
            <a:extLst>
              <a:ext uri="{FF2B5EF4-FFF2-40B4-BE49-F238E27FC236}">
                <a16:creationId xmlns:a16="http://schemas.microsoft.com/office/drawing/2014/main" id="{705ADE1F-E065-4EC3-B187-F821455018F2}"/>
              </a:ext>
            </a:extLst>
          </p:cNvPr>
          <p:cNvSpPr/>
          <p:nvPr/>
        </p:nvSpPr>
        <p:spPr>
          <a:xfrm>
            <a:off x="395047" y="6535367"/>
            <a:ext cx="7273298" cy="369332"/>
          </a:xfrm>
          <a:prstGeom prst="rect">
            <a:avLst/>
          </a:prstGeom>
        </p:spPr>
        <p:txBody>
          <a:bodyPr wrap="square">
            <a:spAutoFit/>
          </a:bodyPr>
          <a:lstStyle/>
          <a:p>
            <a:r>
              <a:rPr lang="zh-TW" altLang="en-US" sz="900" dirty="0"/>
              <a:t>註</a:t>
            </a:r>
            <a:r>
              <a:rPr lang="zh-TW" altLang="en-US" sz="900" dirty="0">
                <a:latin typeface="微軟正黑體" panose="020B0604030504040204" pitchFamily="34" charset="-120"/>
                <a:ea typeface="微軟正黑體" panose="020B0604030504040204" pitchFamily="34" charset="-120"/>
              </a:rPr>
              <a:t>：按藥品收入計，不包括非藥品部門</a:t>
            </a:r>
            <a:endParaRPr lang="en-US" altLang="zh-TW" sz="900" dirty="0">
              <a:latin typeface="微軟正黑體" panose="020B0604030504040204" pitchFamily="34" charset="-120"/>
              <a:ea typeface="微軟正黑體" panose="020B0604030504040204" pitchFamily="34" charset="-120"/>
            </a:endParaRPr>
          </a:p>
          <a:p>
            <a:r>
              <a:rPr lang="zh-TW" altLang="en-US" sz="900" dirty="0">
                <a:latin typeface="微軟正黑體" panose="020B0604030504040204" pitchFamily="34" charset="-120"/>
                <a:ea typeface="微軟正黑體" panose="020B0604030504040204" pitchFamily="34" charset="-120"/>
              </a:rPr>
              <a:t>資料來源：彭博、標普</a:t>
            </a:r>
            <a:r>
              <a:rPr lang="en-US" altLang="zh-TW" sz="900" dirty="0">
                <a:latin typeface="微軟正黑體" panose="020B0604030504040204" pitchFamily="34" charset="-120"/>
                <a:ea typeface="微軟正黑體" panose="020B0604030504040204" pitchFamily="34" charset="-120"/>
              </a:rPr>
              <a:t>、Drug discovery and development</a:t>
            </a:r>
            <a:r>
              <a:rPr lang="zh-TW" altLang="en-US" sz="900" dirty="0">
                <a:latin typeface="微軟正黑體" panose="020B0604030504040204" pitchFamily="34" charset="-120"/>
                <a:ea typeface="微軟正黑體" panose="020B0604030504040204" pitchFamily="34" charset="-120"/>
              </a:rPr>
              <a:t>、</a:t>
            </a:r>
            <a:r>
              <a:rPr lang="en-US" altLang="zh-TW" sz="900" dirty="0">
                <a:latin typeface="微軟正黑體" panose="020B0604030504040204" pitchFamily="34" charset="-120"/>
                <a:ea typeface="微軟正黑體" panose="020B0604030504040204" pitchFamily="34" charset="-120"/>
              </a:rPr>
              <a:t>Companies Market Cap</a:t>
            </a:r>
            <a:r>
              <a:rPr lang="zh-TW" altLang="en-US" sz="900" dirty="0">
                <a:latin typeface="微軟正黑體" panose="020B0604030504040204" pitchFamily="34" charset="-120"/>
                <a:ea typeface="微軟正黑體" panose="020B0604030504040204" pitchFamily="34" charset="-120"/>
              </a:rPr>
              <a:t>、</a:t>
            </a:r>
            <a:r>
              <a:rPr lang="en-US" altLang="zh-TW" sz="900" dirty="0">
                <a:latin typeface="微軟正黑體" panose="020B0604030504040204" pitchFamily="34" charset="-120"/>
                <a:ea typeface="微軟正黑體" panose="020B0604030504040204" pitchFamily="34" charset="-120"/>
              </a:rPr>
              <a:t> IQVIA </a:t>
            </a:r>
            <a:r>
              <a:rPr lang="zh-TW" altLang="en-US" sz="900" dirty="0">
                <a:latin typeface="微軟正黑體" panose="020B0604030504040204" pitchFamily="34" charset="-120"/>
                <a:ea typeface="微軟正黑體" panose="020B0604030504040204" pitchFamily="34" charset="-120"/>
              </a:rPr>
              <a:t>、新聞整理</a:t>
            </a:r>
            <a:endParaRPr lang="en-US" altLang="zh-TW" sz="900" dirty="0">
              <a:latin typeface="微軟正黑體" panose="020B0604030504040204" pitchFamily="34" charset="-120"/>
              <a:ea typeface="微軟正黑體" panose="020B0604030504040204" pitchFamily="34" charset="-120"/>
            </a:endParaRPr>
          </a:p>
        </p:txBody>
      </p:sp>
      <p:sp>
        <p:nvSpPr>
          <p:cNvPr id="8" name="文字方塊 7"/>
          <p:cNvSpPr txBox="1"/>
          <p:nvPr/>
        </p:nvSpPr>
        <p:spPr>
          <a:xfrm>
            <a:off x="1211171" y="4676297"/>
            <a:ext cx="370045" cy="169277"/>
          </a:xfrm>
          <a:prstGeom prst="rect">
            <a:avLst/>
          </a:prstGeom>
          <a:noFill/>
        </p:spPr>
        <p:txBody>
          <a:bodyPr wrap="square" rtlCol="0">
            <a:spAutoFit/>
          </a:bodyPr>
          <a:lstStyle/>
          <a:p>
            <a:r>
              <a:rPr lang="en-US" altLang="zh-TW" sz="500" b="1" dirty="0">
                <a:solidFill>
                  <a:schemeClr val="tx1">
                    <a:lumMod val="65000"/>
                    <a:lumOff val="35000"/>
                  </a:schemeClr>
                </a:solidFill>
              </a:rPr>
              <a:t>2%</a:t>
            </a:r>
            <a:endParaRPr lang="zh-TW" altLang="en-US" sz="500" b="1" dirty="0">
              <a:solidFill>
                <a:schemeClr val="tx1">
                  <a:lumMod val="65000"/>
                  <a:lumOff val="35000"/>
                </a:schemeClr>
              </a:solidFill>
            </a:endParaRPr>
          </a:p>
        </p:txBody>
      </p:sp>
      <p:sp>
        <p:nvSpPr>
          <p:cNvPr id="22" name="投影片編號版面配置區 3">
            <a:extLst>
              <a:ext uri="{FF2B5EF4-FFF2-40B4-BE49-F238E27FC236}">
                <a16:creationId xmlns:a16="http://schemas.microsoft.com/office/drawing/2014/main" id="{E9BC1E29-929C-479F-B32F-4DA6711F8A91}"/>
              </a:ext>
            </a:extLst>
          </p:cNvPr>
          <p:cNvSpPr>
            <a:spLocks noGrp="1"/>
          </p:cNvSpPr>
          <p:nvPr>
            <p:ph type="sldNum" sz="quarter" idx="10"/>
          </p:nvPr>
        </p:nvSpPr>
        <p:spPr>
          <a:xfrm>
            <a:off x="197514" y="6381328"/>
            <a:ext cx="395064" cy="288032"/>
          </a:xfrm>
        </p:spPr>
        <p:txBody>
          <a:bodyPr/>
          <a:lstStyle/>
          <a:p>
            <a:fld id="{415482FC-CF5F-466A-B8B6-BC3733E92023}" type="slidenum">
              <a:rPr lang="zh-TW" altLang="en-US" smtClean="0"/>
              <a:pPr/>
              <a:t>2</a:t>
            </a:fld>
            <a:endParaRPr lang="zh-TW" altLang="en-US" dirty="0"/>
          </a:p>
        </p:txBody>
      </p:sp>
    </p:spTree>
    <p:extLst>
      <p:ext uri="{BB962C8B-B14F-4D97-AF65-F5344CB8AC3E}">
        <p14:creationId xmlns:p14="http://schemas.microsoft.com/office/powerpoint/2010/main" val="1637459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圖表 15"/>
          <p:cNvGraphicFramePr/>
          <p:nvPr>
            <p:extLst>
              <p:ext uri="{D42A27DB-BD31-4B8C-83A1-F6EECF244321}">
                <p14:modId xmlns:p14="http://schemas.microsoft.com/office/powerpoint/2010/main" val="2173222839"/>
              </p:ext>
            </p:extLst>
          </p:nvPr>
        </p:nvGraphicFramePr>
        <p:xfrm>
          <a:off x="6294525" y="4476939"/>
          <a:ext cx="864096" cy="1879357"/>
        </p:xfrm>
        <a:graphic>
          <a:graphicData uri="http://schemas.openxmlformats.org/drawingml/2006/chart">
            <c:chart xmlns:c="http://schemas.openxmlformats.org/drawingml/2006/chart" xmlns:r="http://schemas.openxmlformats.org/officeDocument/2006/relationships" r:id="rId3"/>
          </a:graphicData>
        </a:graphic>
      </p:graphicFrame>
      <p:sp>
        <p:nvSpPr>
          <p:cNvPr id="47" name="圓角矩形 46"/>
          <p:cNvSpPr/>
          <p:nvPr/>
        </p:nvSpPr>
        <p:spPr>
          <a:xfrm>
            <a:off x="7158121" y="4204488"/>
            <a:ext cx="875953" cy="2091795"/>
          </a:xfrm>
          <a:prstGeom prst="roundRect">
            <a:avLst/>
          </a:prstGeom>
          <a:solidFill>
            <a:srgbClr val="F9F9F9"/>
          </a:solidFill>
          <a:ln>
            <a:noFill/>
          </a:ln>
          <a:effectLst>
            <a:outerShdw blurRad="508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圓角矩形 21"/>
          <p:cNvSpPr/>
          <p:nvPr/>
        </p:nvSpPr>
        <p:spPr>
          <a:xfrm>
            <a:off x="8088535" y="4204489"/>
            <a:ext cx="875953" cy="2091796"/>
          </a:xfrm>
          <a:prstGeom prst="roundRect">
            <a:avLst/>
          </a:prstGeom>
          <a:solidFill>
            <a:srgbClr val="FFF7F7"/>
          </a:solidFill>
          <a:ln>
            <a:noFill/>
          </a:ln>
          <a:effectLst>
            <a:outerShdw blurRad="508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a:extLst>
              <a:ext uri="{FF2B5EF4-FFF2-40B4-BE49-F238E27FC236}">
                <a16:creationId xmlns:a16="http://schemas.microsoft.com/office/drawing/2014/main" id="{D644ACBC-B65B-3138-32DD-3326C951B046}"/>
              </a:ext>
            </a:extLst>
          </p:cNvPr>
          <p:cNvPicPr>
            <a:picLocks noChangeAspect="1"/>
          </p:cNvPicPr>
          <p:nvPr/>
        </p:nvPicPr>
        <p:blipFill>
          <a:blip r:embed="rId4"/>
          <a:stretch>
            <a:fillRect/>
          </a:stretch>
        </p:blipFill>
        <p:spPr>
          <a:xfrm>
            <a:off x="7873092" y="219906"/>
            <a:ext cx="940536" cy="513532"/>
          </a:xfrm>
          <a:prstGeom prst="rect">
            <a:avLst/>
          </a:prstGeom>
        </p:spPr>
      </p:pic>
      <p:sp>
        <p:nvSpPr>
          <p:cNvPr id="4" name="投影片編號版面配置區 3">
            <a:extLst>
              <a:ext uri="{FF2B5EF4-FFF2-40B4-BE49-F238E27FC236}">
                <a16:creationId xmlns:a16="http://schemas.microsoft.com/office/drawing/2014/main" id="{E9BC1E29-929C-479F-B32F-4DA6711F8A91}"/>
              </a:ext>
            </a:extLst>
          </p:cNvPr>
          <p:cNvSpPr>
            <a:spLocks noGrp="1"/>
          </p:cNvSpPr>
          <p:nvPr>
            <p:ph type="sldNum" sz="quarter" idx="10"/>
          </p:nvPr>
        </p:nvSpPr>
        <p:spPr/>
        <p:txBody>
          <a:bodyPr/>
          <a:lstStyle/>
          <a:p>
            <a:fld id="{415482FC-CF5F-466A-B8B6-BC3733E92023}" type="slidenum">
              <a:rPr lang="zh-TW" altLang="en-US" smtClean="0"/>
              <a:pPr/>
              <a:t>3</a:t>
            </a:fld>
            <a:endParaRPr lang="zh-TW" altLang="en-US" dirty="0"/>
          </a:p>
        </p:txBody>
      </p:sp>
      <p:sp>
        <p:nvSpPr>
          <p:cNvPr id="5" name="標題 1">
            <a:extLst>
              <a:ext uri="{FF2B5EF4-FFF2-40B4-BE49-F238E27FC236}">
                <a16:creationId xmlns:a16="http://schemas.microsoft.com/office/drawing/2014/main" id="{60C28753-0A00-4E34-83C6-C4D758C2A7D2}"/>
              </a:ext>
            </a:extLst>
          </p:cNvPr>
          <p:cNvSpPr txBox="1">
            <a:spLocks/>
          </p:cNvSpPr>
          <p:nvPr/>
        </p:nvSpPr>
        <p:spPr bwMode="auto">
          <a:xfrm>
            <a:off x="229944" y="161162"/>
            <a:ext cx="776452" cy="633413"/>
          </a:xfrm>
          <a:prstGeom prst="rect">
            <a:avLst/>
          </a:prstGeom>
          <a:solidFill>
            <a:srgbClr val="C00000"/>
          </a:solidFill>
          <a:ln>
            <a:noFill/>
          </a:ln>
        </p:spPr>
        <p:txBody>
          <a:bodyPr anchor="ctr">
            <a:noAutofit/>
          </a:bodyPr>
          <a:lstStyle>
            <a:lvl1pPr algn="l" rtl="0" eaLnBrk="0" fontAlgn="base" hangingPunct="0">
              <a:spcBef>
                <a:spcPct val="0"/>
              </a:spcBef>
              <a:spcAft>
                <a:spcPct val="0"/>
              </a:spcAft>
              <a:defRPr kumimoji="1" sz="3000" b="1">
                <a:solidFill>
                  <a:schemeClr val="tx2"/>
                </a:solidFill>
                <a:latin typeface="+mj-lt"/>
                <a:ea typeface="+mj-ea"/>
                <a:cs typeface="+mj-cs"/>
              </a:defRPr>
            </a:lvl1pPr>
            <a:lvl2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algn="l" rtl="0" fontAlgn="base">
              <a:spcBef>
                <a:spcPct val="0"/>
              </a:spcBef>
              <a:spcAft>
                <a:spcPct val="0"/>
              </a:spcAft>
              <a:defRPr kumimoji="1" sz="3000" b="1">
                <a:solidFill>
                  <a:schemeClr val="tx2"/>
                </a:solidFill>
                <a:latin typeface="標楷體" pitchFamily="65" charset="-120"/>
                <a:ea typeface="標楷體" pitchFamily="65" charset="-120"/>
              </a:defRPr>
            </a:lvl6pPr>
            <a:lvl7pPr marL="914400" algn="l" rtl="0" fontAlgn="base">
              <a:spcBef>
                <a:spcPct val="0"/>
              </a:spcBef>
              <a:spcAft>
                <a:spcPct val="0"/>
              </a:spcAft>
              <a:defRPr kumimoji="1" sz="3000" b="1">
                <a:solidFill>
                  <a:schemeClr val="tx2"/>
                </a:solidFill>
                <a:latin typeface="標楷體" pitchFamily="65" charset="-120"/>
                <a:ea typeface="標楷體" pitchFamily="65" charset="-120"/>
              </a:defRPr>
            </a:lvl7pPr>
            <a:lvl8pPr marL="1371600" algn="l" rtl="0" fontAlgn="base">
              <a:spcBef>
                <a:spcPct val="0"/>
              </a:spcBef>
              <a:spcAft>
                <a:spcPct val="0"/>
              </a:spcAft>
              <a:defRPr kumimoji="1" sz="3000" b="1">
                <a:solidFill>
                  <a:schemeClr val="tx2"/>
                </a:solidFill>
                <a:latin typeface="標楷體" pitchFamily="65" charset="-120"/>
                <a:ea typeface="標楷體" pitchFamily="65" charset="-120"/>
              </a:defRPr>
            </a:lvl8pPr>
            <a:lvl9pPr marL="1828800" algn="l" rtl="0" fontAlgn="base">
              <a:spcBef>
                <a:spcPct val="0"/>
              </a:spcBef>
              <a:spcAft>
                <a:spcPct val="0"/>
              </a:spcAft>
              <a:defRPr kumimoji="1" sz="3000" b="1">
                <a:solidFill>
                  <a:schemeClr val="tx2"/>
                </a:solidFill>
                <a:latin typeface="標楷體" pitchFamily="65" charset="-120"/>
                <a:ea typeface="標楷體" pitchFamily="65" charset="-120"/>
              </a:defRPr>
            </a:lvl9pPr>
          </a:lstStyle>
          <a:p>
            <a:pPr algn="ctr">
              <a:defRPr/>
            </a:pPr>
            <a:r>
              <a:rPr lang="zh-TW" altLang="en-US" sz="2000" kern="0" dirty="0">
                <a:solidFill>
                  <a:schemeClr val="bg1"/>
                </a:solidFill>
              </a:rPr>
              <a:t>市場地位</a:t>
            </a:r>
          </a:p>
        </p:txBody>
      </p:sp>
      <p:sp>
        <p:nvSpPr>
          <p:cNvPr id="6" name="標題 1">
            <a:extLst>
              <a:ext uri="{FF2B5EF4-FFF2-40B4-BE49-F238E27FC236}">
                <a16:creationId xmlns:a16="http://schemas.microsoft.com/office/drawing/2014/main" id="{8A190DF9-3093-4C79-BE60-4ED0D15A2C3B}"/>
              </a:ext>
            </a:extLst>
          </p:cNvPr>
          <p:cNvSpPr txBox="1">
            <a:spLocks noChangeArrowheads="1"/>
          </p:cNvSpPr>
          <p:nvPr/>
        </p:nvSpPr>
        <p:spPr>
          <a:xfrm>
            <a:off x="1053599" y="142648"/>
            <a:ext cx="4886553"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tabLst>
                <a:tab pos="5473700" algn="l"/>
              </a:tabLst>
              <a:defRPr/>
            </a:pPr>
            <a:r>
              <a:rPr lang="zh-TW" altLang="en-US" sz="2400" dirty="0"/>
              <a:t>製藥巨頭，稱霸減重領域計日成功</a:t>
            </a:r>
          </a:p>
        </p:txBody>
      </p:sp>
      <p:sp>
        <p:nvSpPr>
          <p:cNvPr id="20" name="矩形 19">
            <a:extLst>
              <a:ext uri="{FF2B5EF4-FFF2-40B4-BE49-F238E27FC236}">
                <a16:creationId xmlns:a16="http://schemas.microsoft.com/office/drawing/2014/main" id="{705ADE1F-E065-4EC3-B187-F821455018F2}"/>
              </a:ext>
            </a:extLst>
          </p:cNvPr>
          <p:cNvSpPr/>
          <p:nvPr/>
        </p:nvSpPr>
        <p:spPr>
          <a:xfrm>
            <a:off x="395047" y="6535367"/>
            <a:ext cx="7268632" cy="369332"/>
          </a:xfrm>
          <a:prstGeom prst="rect">
            <a:avLst/>
          </a:prstGeom>
        </p:spPr>
        <p:txBody>
          <a:bodyPr wrap="square">
            <a:spAutoFit/>
          </a:bodyPr>
          <a:lstStyle/>
          <a:p>
            <a:r>
              <a:rPr lang="zh-TW" altLang="en-US" sz="900" dirty="0">
                <a:solidFill>
                  <a:prstClr val="black"/>
                </a:solidFill>
                <a:latin typeface="微軟正黑體" panose="020B0604030504040204" pitchFamily="34" charset="-120"/>
                <a:ea typeface="微軟正黑體" panose="020B0604030504040204" pitchFamily="34" charset="-120"/>
              </a:rPr>
              <a:t>資料來源：</a:t>
            </a:r>
            <a:r>
              <a:rPr lang="en-US" altLang="zh-TW" sz="900" dirty="0">
                <a:latin typeface="微軟正黑體" panose="020B0604030504040204" pitchFamily="34" charset="-120"/>
                <a:ea typeface="微軟正黑體" panose="020B0604030504040204" pitchFamily="34" charset="-120"/>
              </a:rPr>
              <a:t> Companies Market Cap</a:t>
            </a:r>
            <a:r>
              <a:rPr lang="zh-TW" altLang="en-US" sz="900" dirty="0">
                <a:latin typeface="微軟正黑體" panose="020B0604030504040204" pitchFamily="34" charset="-120"/>
                <a:ea typeface="微軟正黑體" panose="020B0604030504040204" pitchFamily="34" charset="-120"/>
              </a:rPr>
              <a:t>、</a:t>
            </a:r>
            <a:r>
              <a:rPr lang="en-US" altLang="zh-TW" sz="900" dirty="0">
                <a:latin typeface="微軟正黑體" panose="020B0604030504040204" pitchFamily="34" charset="-120"/>
                <a:ea typeface="微軟正黑體" panose="020B0604030504040204" pitchFamily="34" charset="-120"/>
              </a:rPr>
              <a:t> IQVIA </a:t>
            </a:r>
            <a:r>
              <a:rPr lang="zh-TW" altLang="en-US" sz="900" dirty="0">
                <a:solidFill>
                  <a:prstClr val="black"/>
                </a:solidFill>
                <a:latin typeface="微軟正黑體" panose="020B0604030504040204" pitchFamily="34" charset="-120"/>
                <a:ea typeface="微軟正黑體" panose="020B0604030504040204" pitchFamily="34" charset="-120"/>
              </a:rPr>
              <a:t>、季報、</a:t>
            </a:r>
            <a:r>
              <a:rPr lang="en-US" altLang="zh-TW" sz="900" dirty="0">
                <a:solidFill>
                  <a:prstClr val="black"/>
                </a:solidFill>
                <a:latin typeface="微軟正黑體" panose="020B0604030504040204" pitchFamily="34" charset="-120"/>
                <a:ea typeface="微軟正黑體" panose="020B0604030504040204" pitchFamily="34" charset="-120"/>
              </a:rPr>
              <a:t>Gartner</a:t>
            </a:r>
            <a:r>
              <a:rPr lang="zh-TW" altLang="en-US" sz="900" dirty="0">
                <a:solidFill>
                  <a:prstClr val="black"/>
                </a:solidFill>
                <a:latin typeface="微軟正黑體" panose="020B0604030504040204" pitchFamily="34" charset="-120"/>
                <a:ea typeface="微軟正黑體" panose="020B0604030504040204" pitchFamily="34" charset="-120"/>
              </a:rPr>
              <a:t>、</a:t>
            </a:r>
            <a:r>
              <a:rPr lang="en-US" altLang="zh-TW" sz="900" dirty="0">
                <a:solidFill>
                  <a:prstClr val="black"/>
                </a:solidFill>
                <a:latin typeface="微軟正黑體" panose="020B0604030504040204" pitchFamily="34" charset="-120"/>
                <a:ea typeface="微軟正黑體" panose="020B0604030504040204" pitchFamily="34" charset="-120"/>
              </a:rPr>
              <a:t>Mercury</a:t>
            </a:r>
            <a:r>
              <a:rPr lang="zh-TW" altLang="en-US" sz="900" dirty="0">
                <a:solidFill>
                  <a:prstClr val="black"/>
                </a:solidFill>
                <a:latin typeface="微軟正黑體" panose="020B0604030504040204" pitchFamily="34" charset="-120"/>
                <a:ea typeface="微軟正黑體" panose="020B0604030504040204" pitchFamily="34" charset="-120"/>
              </a:rPr>
              <a:t>、</a:t>
            </a:r>
            <a:r>
              <a:rPr lang="en-US" altLang="zh-TW" sz="900" dirty="0">
                <a:solidFill>
                  <a:prstClr val="black"/>
                </a:solidFill>
                <a:latin typeface="微軟正黑體" panose="020B0604030504040204" pitchFamily="34" charset="-120"/>
                <a:ea typeface="微軟正黑體" panose="020B0604030504040204" pitchFamily="34" charset="-120"/>
              </a:rPr>
              <a:t>Jon Peddie Research|</a:t>
            </a:r>
            <a:r>
              <a:rPr lang="zh-TW" altLang="en-US" sz="900" dirty="0">
                <a:solidFill>
                  <a:prstClr val="black"/>
                </a:solidFill>
                <a:latin typeface="微軟正黑體" panose="020B0604030504040204" pitchFamily="34" charset="-120"/>
                <a:ea typeface="微軟正黑體" panose="020B0604030504040204" pitchFamily="34" charset="-120"/>
              </a:rPr>
              <a:t>註：</a:t>
            </a:r>
            <a:r>
              <a:rPr lang="en-US" altLang="zh-TW" sz="900" dirty="0">
                <a:solidFill>
                  <a:prstClr val="black"/>
                </a:solidFill>
                <a:latin typeface="微軟正黑體" panose="020B0604030504040204" pitchFamily="34" charset="-120"/>
                <a:ea typeface="微軟正黑體" panose="020B0604030504040204" pitchFamily="34" charset="-120"/>
              </a:rPr>
              <a:t>2030</a:t>
            </a:r>
            <a:r>
              <a:rPr lang="zh-TW" altLang="en-US" sz="900" dirty="0">
                <a:solidFill>
                  <a:prstClr val="black"/>
                </a:solidFill>
                <a:latin typeface="微軟正黑體" panose="020B0604030504040204" pitchFamily="34" charset="-120"/>
                <a:ea typeface="微軟正黑體" panose="020B0604030504040204" pitchFamily="34" charset="-120"/>
              </a:rPr>
              <a:t>年數字前為大摩估計，</a:t>
            </a:r>
            <a:r>
              <a:rPr lang="en-US" altLang="zh-TW" sz="900" dirty="0">
                <a:solidFill>
                  <a:prstClr val="black"/>
                </a:solidFill>
                <a:latin typeface="微軟正黑體" panose="020B0604030504040204" pitchFamily="34" charset="-120"/>
                <a:ea typeface="微軟正黑體" panose="020B0604030504040204" pitchFamily="34" charset="-120"/>
              </a:rPr>
              <a:t>2030</a:t>
            </a:r>
            <a:r>
              <a:rPr lang="zh-TW" altLang="en-US" sz="900" dirty="0">
                <a:solidFill>
                  <a:prstClr val="black"/>
                </a:solidFill>
                <a:latin typeface="微軟正黑體" panose="020B0604030504040204" pitchFamily="34" charset="-120"/>
                <a:ea typeface="微軟正黑體" panose="020B0604030504040204" pitchFamily="34" charset="-120"/>
              </a:rPr>
              <a:t>年數字為高盛估計，</a:t>
            </a:r>
            <a:r>
              <a:rPr lang="en-US" altLang="zh-TW" sz="900" dirty="0">
                <a:solidFill>
                  <a:prstClr val="black"/>
                </a:solidFill>
                <a:latin typeface="微軟正黑體" panose="020B0604030504040204" pitchFamily="34" charset="-120"/>
                <a:ea typeface="微軟正黑體" panose="020B0604030504040204" pitchFamily="34" charset="-120"/>
              </a:rPr>
              <a:t>2032</a:t>
            </a:r>
            <a:r>
              <a:rPr lang="zh-TW" altLang="en-US" sz="900" dirty="0">
                <a:solidFill>
                  <a:prstClr val="black"/>
                </a:solidFill>
                <a:latin typeface="微軟正黑體" panose="020B0604030504040204" pitchFamily="34" charset="-120"/>
                <a:ea typeface="微軟正黑體" panose="020B0604030504040204" pitchFamily="34" charset="-120"/>
              </a:rPr>
              <a:t>年的</a:t>
            </a:r>
            <a:r>
              <a:rPr lang="en-US" altLang="zh-TW" sz="900" dirty="0">
                <a:solidFill>
                  <a:prstClr val="black"/>
                </a:solidFill>
                <a:latin typeface="微軟正黑體" panose="020B0604030504040204" pitchFamily="34" charset="-120"/>
                <a:ea typeface="微軟正黑體" panose="020B0604030504040204" pitchFamily="34" charset="-120"/>
              </a:rPr>
              <a:t>1,400</a:t>
            </a:r>
            <a:r>
              <a:rPr lang="zh-TW" altLang="en-US" sz="900" dirty="0">
                <a:solidFill>
                  <a:prstClr val="black"/>
                </a:solidFill>
                <a:latin typeface="微軟正黑體" panose="020B0604030504040204" pitchFamily="34" charset="-120"/>
                <a:ea typeface="微軟正黑體" panose="020B0604030504040204" pitchFamily="34" charset="-120"/>
              </a:rPr>
              <a:t>億美元為小摩估計</a:t>
            </a:r>
          </a:p>
        </p:txBody>
      </p:sp>
      <p:sp>
        <p:nvSpPr>
          <p:cNvPr id="25" name="圓角矩形 29">
            <a:extLst>
              <a:ext uri="{FF2B5EF4-FFF2-40B4-BE49-F238E27FC236}">
                <a16:creationId xmlns:a16="http://schemas.microsoft.com/office/drawing/2014/main" id="{6373E1F3-4EED-4FCA-BB27-DF4DDB91702B}"/>
              </a:ext>
            </a:extLst>
          </p:cNvPr>
          <p:cNvSpPr/>
          <p:nvPr/>
        </p:nvSpPr>
        <p:spPr>
          <a:xfrm>
            <a:off x="229944" y="875705"/>
            <a:ext cx="4142777"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市值最高製藥企業</a:t>
            </a:r>
            <a:r>
              <a:rPr lang="en-US" altLang="zh-TW" sz="1100" dirty="0">
                <a:latin typeface="微軟正黑體" panose="020B0604030504040204" pitchFamily="34" charset="-120"/>
                <a:ea typeface="微軟正黑體" panose="020B0604030504040204" pitchFamily="34" charset="-120"/>
              </a:rPr>
              <a:t>(2026/5/5)</a:t>
            </a:r>
            <a:r>
              <a:rPr lang="zh-TW" altLang="en-US" sz="1400" b="1" dirty="0">
                <a:latin typeface="微軟正黑體" panose="020B0604030504040204" pitchFamily="34" charset="-120"/>
                <a:ea typeface="微軟正黑體" panose="020B0604030504040204" pitchFamily="34" charset="-120"/>
              </a:rPr>
              <a:t>，全球第</a:t>
            </a:r>
            <a:r>
              <a:rPr lang="en-US" altLang="zh-TW" sz="1400" b="1" dirty="0">
                <a:latin typeface="微軟正黑體" panose="020B0604030504040204" pitchFamily="34" charset="-120"/>
                <a:ea typeface="微軟正黑體" panose="020B0604030504040204" pitchFamily="34" charset="-120"/>
              </a:rPr>
              <a:t>1</a:t>
            </a:r>
            <a:r>
              <a:rPr lang="zh-TW" altLang="en-US" sz="1400" b="1" dirty="0">
                <a:latin typeface="微軟正黑體" panose="020B0604030504040204" pitchFamily="34" charset="-120"/>
                <a:ea typeface="微軟正黑體" panose="020B0604030504040204" pitchFamily="34" charset="-120"/>
              </a:rPr>
              <a:t>大</a:t>
            </a:r>
          </a:p>
        </p:txBody>
      </p:sp>
      <p:sp>
        <p:nvSpPr>
          <p:cNvPr id="21" name="圓角矩形 28">
            <a:extLst>
              <a:ext uri="{FF2B5EF4-FFF2-40B4-BE49-F238E27FC236}">
                <a16:creationId xmlns:a16="http://schemas.microsoft.com/office/drawing/2014/main" id="{0FA361D8-9398-466F-BAB3-DC85EF29E324}"/>
              </a:ext>
            </a:extLst>
          </p:cNvPr>
          <p:cNvSpPr/>
          <p:nvPr/>
        </p:nvSpPr>
        <p:spPr>
          <a:xfrm>
            <a:off x="229943" y="3573016"/>
            <a:ext cx="8583685"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糖尿病及減重藥品已成為禮來最重要產品組合</a:t>
            </a:r>
          </a:p>
        </p:txBody>
      </p:sp>
      <p:graphicFrame>
        <p:nvGraphicFramePr>
          <p:cNvPr id="37" name="表格 36">
            <a:extLst>
              <a:ext uri="{FF2B5EF4-FFF2-40B4-BE49-F238E27FC236}">
                <a16:creationId xmlns:a16="http://schemas.microsoft.com/office/drawing/2014/main" id="{BFC91DB0-667B-2259-DAA4-6252BD34F536}"/>
              </a:ext>
            </a:extLst>
          </p:cNvPr>
          <p:cNvGraphicFramePr>
            <a:graphicFrameLocks noGrp="1"/>
          </p:cNvGraphicFramePr>
          <p:nvPr>
            <p:extLst>
              <p:ext uri="{D42A27DB-BD31-4B8C-83A1-F6EECF244321}">
                <p14:modId xmlns:p14="http://schemas.microsoft.com/office/powerpoint/2010/main" val="3686706669"/>
              </p:ext>
            </p:extLst>
          </p:nvPr>
        </p:nvGraphicFramePr>
        <p:xfrm>
          <a:off x="5628664" y="7040426"/>
          <a:ext cx="2742120" cy="1435527"/>
        </p:xfrm>
        <a:graphic>
          <a:graphicData uri="http://schemas.openxmlformats.org/drawingml/2006/table">
            <a:tbl>
              <a:tblPr/>
              <a:tblGrid>
                <a:gridCol w="821713">
                  <a:extLst>
                    <a:ext uri="{9D8B030D-6E8A-4147-A177-3AD203B41FA5}">
                      <a16:colId xmlns:a16="http://schemas.microsoft.com/office/drawing/2014/main" val="3319831711"/>
                    </a:ext>
                  </a:extLst>
                </a:gridCol>
                <a:gridCol w="651728">
                  <a:extLst>
                    <a:ext uri="{9D8B030D-6E8A-4147-A177-3AD203B41FA5}">
                      <a16:colId xmlns:a16="http://schemas.microsoft.com/office/drawing/2014/main" val="970047916"/>
                    </a:ext>
                  </a:extLst>
                </a:gridCol>
                <a:gridCol w="643888">
                  <a:extLst>
                    <a:ext uri="{9D8B030D-6E8A-4147-A177-3AD203B41FA5}">
                      <a16:colId xmlns:a16="http://schemas.microsoft.com/office/drawing/2014/main" val="1282107002"/>
                    </a:ext>
                  </a:extLst>
                </a:gridCol>
                <a:gridCol w="624791">
                  <a:extLst>
                    <a:ext uri="{9D8B030D-6E8A-4147-A177-3AD203B41FA5}">
                      <a16:colId xmlns:a16="http://schemas.microsoft.com/office/drawing/2014/main" val="3575657221"/>
                    </a:ext>
                  </a:extLst>
                </a:gridCol>
              </a:tblGrid>
              <a:tr h="423453">
                <a:tc>
                  <a:txBody>
                    <a:bodyPr/>
                    <a:lstStyle/>
                    <a:p>
                      <a:pPr algn="ctr" fontAlgn="ctr"/>
                      <a:r>
                        <a:rPr lang="zh-TW" altLang="en-US" sz="1100" b="1" i="0" u="none" strike="noStrike" dirty="0">
                          <a:solidFill>
                            <a:schemeClr val="bg1"/>
                          </a:solidFill>
                          <a:effectLst/>
                          <a:latin typeface="微軟正黑體" panose="020B0604030504040204" pitchFamily="34" charset="-120"/>
                          <a:ea typeface="微軟正黑體" panose="020B0604030504040204" pitchFamily="34" charset="-120"/>
                        </a:rPr>
                        <a:t>藥品名稱</a:t>
                      </a:r>
                    </a:p>
                  </a:txBody>
                  <a:tcPr marL="6350" marR="6350" marT="6350" marB="0" anchor="ctr">
                    <a:lnL>
                      <a:noFill/>
                    </a:lnL>
                    <a:lnR>
                      <a:noFill/>
                    </a:lnR>
                    <a:lnT>
                      <a:noFill/>
                    </a:lnT>
                    <a:lnB>
                      <a:noFill/>
                    </a:lnB>
                    <a:solidFill>
                      <a:schemeClr val="tx2">
                        <a:lumMod val="75000"/>
                      </a:schemeClr>
                    </a:solidFill>
                  </a:tcPr>
                </a:tc>
                <a:tc>
                  <a:txBody>
                    <a:bodyPr/>
                    <a:lstStyle/>
                    <a:p>
                      <a:pPr algn="ctr" fontAlgn="ctr"/>
                      <a:r>
                        <a:rPr lang="zh-TW" altLang="en-US" sz="1100" b="1" i="0" u="none" strike="noStrike" dirty="0">
                          <a:solidFill>
                            <a:schemeClr val="bg1"/>
                          </a:solidFill>
                          <a:effectLst/>
                          <a:latin typeface="微軟正黑體" panose="020B0604030504040204" pitchFamily="34" charset="-120"/>
                          <a:ea typeface="微軟正黑體" panose="020B0604030504040204" pitchFamily="34" charset="-120"/>
                        </a:rPr>
                        <a:t>適用領域</a:t>
                      </a:r>
                    </a:p>
                  </a:txBody>
                  <a:tcPr marL="6350" marR="6350" marT="6350" marB="0" anchor="ctr">
                    <a:lnL>
                      <a:noFill/>
                    </a:lnL>
                    <a:lnR>
                      <a:noFill/>
                    </a:lnR>
                    <a:lnT>
                      <a:noFill/>
                    </a:lnT>
                    <a:lnB>
                      <a:noFill/>
                    </a:lnB>
                    <a:solidFill>
                      <a:schemeClr val="tx2">
                        <a:lumMod val="75000"/>
                      </a:schemeClr>
                    </a:solidFill>
                  </a:tcPr>
                </a:tc>
                <a:tc>
                  <a:txBody>
                    <a:bodyPr/>
                    <a:lstStyle/>
                    <a:p>
                      <a:pPr algn="ctr" fontAlgn="ctr"/>
                      <a:r>
                        <a:rPr lang="en-US" altLang="zh-TW" sz="1100" b="1" i="0" u="none" strike="noStrike" dirty="0">
                          <a:solidFill>
                            <a:schemeClr val="bg1"/>
                          </a:solidFill>
                          <a:effectLst/>
                          <a:latin typeface="微軟正黑體" panose="020B0604030504040204" pitchFamily="34" charset="-120"/>
                          <a:ea typeface="微軟正黑體" panose="020B0604030504040204" pitchFamily="34" charset="-120"/>
                        </a:rPr>
                        <a:t>FY</a:t>
                      </a:r>
                      <a:r>
                        <a:rPr lang="en-US" sz="1100" b="1" i="0" u="none" strike="noStrike" dirty="0">
                          <a:solidFill>
                            <a:schemeClr val="bg1"/>
                          </a:solidFill>
                          <a:effectLst/>
                          <a:latin typeface="微軟正黑體" panose="020B0604030504040204" pitchFamily="34" charset="-120"/>
                          <a:ea typeface="微軟正黑體" panose="020B0604030504040204" pitchFamily="34" charset="-120"/>
                        </a:rPr>
                        <a:t>25</a:t>
                      </a:r>
                      <a:r>
                        <a:rPr lang="zh-TW" altLang="en-US" sz="1100" b="1" i="0" u="none" strike="noStrike" dirty="0">
                          <a:solidFill>
                            <a:schemeClr val="bg1"/>
                          </a:solidFill>
                          <a:effectLst/>
                          <a:latin typeface="微軟正黑體" panose="020B0604030504040204" pitchFamily="34" charset="-120"/>
                          <a:ea typeface="微軟正黑體" panose="020B0604030504040204" pitchFamily="34" charset="-120"/>
                        </a:rPr>
                        <a:t>收入</a:t>
                      </a:r>
                      <a:br>
                        <a:rPr lang="en-US" altLang="zh-TW" sz="1100" b="1" i="0" u="none" strike="noStrike" dirty="0">
                          <a:solidFill>
                            <a:schemeClr val="bg1"/>
                          </a:solidFill>
                          <a:effectLst/>
                          <a:latin typeface="微軟正黑體" panose="020B0604030504040204" pitchFamily="34" charset="-120"/>
                          <a:ea typeface="微軟正黑體" panose="020B0604030504040204" pitchFamily="34" charset="-120"/>
                        </a:rPr>
                      </a:br>
                      <a:r>
                        <a:rPr lang="en-US" altLang="zh-TW" sz="1000" b="0" i="0" u="none" strike="noStrike" dirty="0">
                          <a:solidFill>
                            <a:schemeClr val="bg1"/>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chemeClr val="bg1"/>
                          </a:solidFill>
                          <a:effectLst/>
                          <a:latin typeface="微軟正黑體" panose="020B0604030504040204" pitchFamily="34" charset="-120"/>
                          <a:ea typeface="微軟正黑體" panose="020B0604030504040204" pitchFamily="34" charset="-120"/>
                        </a:rPr>
                        <a:t>百萬</a:t>
                      </a:r>
                      <a:r>
                        <a:rPr lang="en-US" altLang="zh-TW" sz="1000" b="0" i="0" u="none" strike="noStrike" dirty="0">
                          <a:solidFill>
                            <a:schemeClr val="bg1"/>
                          </a:solidFill>
                          <a:effectLst/>
                          <a:latin typeface="微軟正黑體" panose="020B0604030504040204" pitchFamily="34" charset="-120"/>
                          <a:ea typeface="微軟正黑體" panose="020B0604030504040204" pitchFamily="34" charset="-120"/>
                        </a:rPr>
                        <a:t>USD)</a:t>
                      </a:r>
                      <a:endParaRPr lang="en-US" altLang="zh-TW" sz="1200" b="0" i="0" u="none" strike="noStrike" dirty="0">
                        <a:solidFill>
                          <a:schemeClr val="bg1"/>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tx2">
                        <a:lumMod val="75000"/>
                      </a:schemeClr>
                    </a:solidFill>
                  </a:tcPr>
                </a:tc>
                <a:tc>
                  <a:txBody>
                    <a:bodyPr/>
                    <a:lstStyle/>
                    <a:p>
                      <a:pPr algn="ctr" fontAlgn="ctr"/>
                      <a:r>
                        <a:rPr lang="zh-TW" altLang="en-US" sz="1200" b="1" i="0" u="none" strike="noStrike" dirty="0">
                          <a:solidFill>
                            <a:schemeClr val="bg1"/>
                          </a:solidFill>
                          <a:effectLst/>
                          <a:latin typeface="微軟正黑體" panose="020B0604030504040204" pitchFamily="34" charset="-120"/>
                          <a:ea typeface="微軟正黑體" panose="020B0604030504040204" pitchFamily="34" charset="-120"/>
                        </a:rPr>
                        <a:t>年成長率</a:t>
                      </a:r>
                      <a:endParaRPr lang="en-US" altLang="zh-TW" sz="1200" b="1" i="0" u="none" strike="noStrike" dirty="0">
                        <a:solidFill>
                          <a:schemeClr val="bg1"/>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tx2">
                        <a:lumMod val="75000"/>
                      </a:schemeClr>
                    </a:solidFill>
                  </a:tcPr>
                </a:tc>
                <a:extLst>
                  <a:ext uri="{0D108BD9-81ED-4DB2-BD59-A6C34878D82A}">
                    <a16:rowId xmlns:a16="http://schemas.microsoft.com/office/drawing/2014/main" val="2209849978"/>
                  </a:ext>
                </a:extLst>
              </a:tr>
              <a:tr h="506037">
                <a:tc>
                  <a:txBody>
                    <a:bodyPr/>
                    <a:lstStyle/>
                    <a:p>
                      <a:pPr algn="ctr" fontAlgn="ctr"/>
                      <a:r>
                        <a:rPr lang="en-US" sz="1000" b="1" i="0" u="none" strike="noStrike" dirty="0" err="1">
                          <a:solidFill>
                            <a:srgbClr val="000000"/>
                          </a:solidFill>
                          <a:effectLst/>
                          <a:latin typeface="微軟正黑體" panose="020B0604030504040204" pitchFamily="34" charset="-120"/>
                          <a:ea typeface="微軟正黑體" panose="020B0604030504040204" pitchFamily="34" charset="-120"/>
                        </a:rPr>
                        <a:t>Mounjaro</a:t>
                      </a:r>
                      <a:endParaRPr 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noFill/>
                  </a:tcPr>
                </a:tc>
                <a:tc>
                  <a:txBody>
                    <a:bodyPr/>
                    <a:lstStyle/>
                    <a:p>
                      <a:pPr algn="ctr" fontAlgn="ctr"/>
                      <a:r>
                        <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rPr>
                        <a:t>糖尿病</a:t>
                      </a:r>
                      <a:br>
                        <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rPr>
                      </a:br>
                      <a:r>
                        <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rPr>
                        <a:t>減重</a:t>
                      </a:r>
                    </a:p>
                  </a:txBody>
                  <a:tcPr marL="6350" marR="6350" marT="6350" marB="0" anchor="ctr">
                    <a:lnL>
                      <a:noFill/>
                    </a:lnL>
                    <a:lnR>
                      <a:noFill/>
                    </a:lnR>
                    <a:lnT>
                      <a:noFill/>
                    </a:lnT>
                    <a:lnB>
                      <a:noFill/>
                    </a:lnB>
                    <a:noFill/>
                  </a:tcPr>
                </a:tc>
                <a:tc>
                  <a:txBody>
                    <a:bodyPr/>
                    <a:lstStyle/>
                    <a:p>
                      <a:pPr algn="ctr" fontAlgn="ctr"/>
                      <a:r>
                        <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rPr>
                        <a:t>22,965</a:t>
                      </a:r>
                    </a:p>
                  </a:txBody>
                  <a:tcPr marL="6350" marR="6350" marT="6350" marB="0" anchor="ctr">
                    <a:lnL>
                      <a:noFill/>
                    </a:lnL>
                    <a:lnR>
                      <a:noFill/>
                    </a:lnR>
                    <a:lnT>
                      <a:noFill/>
                    </a:lnT>
                    <a:lnB>
                      <a:noFill/>
                    </a:lnB>
                    <a:noFill/>
                  </a:tcPr>
                </a:tc>
                <a:tc>
                  <a:txBody>
                    <a:bodyPr/>
                    <a:lstStyle/>
                    <a:p>
                      <a:pPr algn="ctr" fontAlgn="ctr"/>
                      <a:r>
                        <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rPr>
                        <a:t>99%</a:t>
                      </a:r>
                    </a:p>
                  </a:txBody>
                  <a:tcPr marL="6350" marR="6350" marT="6350" marB="0" anchor="ctr">
                    <a:lnL>
                      <a:noFill/>
                    </a:lnL>
                    <a:lnR>
                      <a:noFill/>
                    </a:lnR>
                    <a:lnT>
                      <a:noFill/>
                    </a:lnT>
                    <a:lnB>
                      <a:noFill/>
                    </a:lnB>
                    <a:noFill/>
                  </a:tcPr>
                </a:tc>
                <a:extLst>
                  <a:ext uri="{0D108BD9-81ED-4DB2-BD59-A6C34878D82A}">
                    <a16:rowId xmlns:a16="http://schemas.microsoft.com/office/drawing/2014/main" val="2631973945"/>
                  </a:ext>
                </a:extLst>
              </a:tr>
              <a:tr h="506037">
                <a:tc>
                  <a:txBody>
                    <a:bodyPr/>
                    <a:lstStyle/>
                    <a:p>
                      <a:pPr algn="ctr" fontAlgn="ctr"/>
                      <a:r>
                        <a:rPr lang="en-US" altLang="zh-TW" sz="1000" b="1" i="0" u="none" strike="noStrike" dirty="0" err="1">
                          <a:solidFill>
                            <a:srgbClr val="000000"/>
                          </a:solidFill>
                          <a:effectLst/>
                          <a:latin typeface="微軟正黑體" panose="020B0604030504040204" pitchFamily="34" charset="-120"/>
                          <a:ea typeface="微軟正黑體" panose="020B0604030504040204" pitchFamily="34" charset="-120"/>
                        </a:rPr>
                        <a:t>Zepbound</a:t>
                      </a:r>
                      <a:endParaRPr 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no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rPr>
                        <a:t>減重</a:t>
                      </a:r>
                    </a:p>
                  </a:txBody>
                  <a:tcPr marL="6350" marR="6350" marT="6350" marB="0" anchor="ctr">
                    <a:lnL>
                      <a:noFill/>
                    </a:lnL>
                    <a:lnR>
                      <a:noFill/>
                    </a:lnR>
                    <a:lnT>
                      <a:noFill/>
                    </a:lnT>
                    <a:lnB>
                      <a:noFill/>
                    </a:lnB>
                    <a:noFill/>
                  </a:tcPr>
                </a:tc>
                <a:tc>
                  <a:txBody>
                    <a:bodyPr/>
                    <a:lstStyle/>
                    <a:p>
                      <a:pPr algn="ctr" fontAlgn="ctr"/>
                      <a:r>
                        <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rPr>
                        <a:t>13,542</a:t>
                      </a:r>
                    </a:p>
                  </a:txBody>
                  <a:tcPr marL="6350" marR="6350" marT="6350" marB="0" anchor="ctr">
                    <a:lnL>
                      <a:noFill/>
                    </a:lnL>
                    <a:lnR>
                      <a:noFill/>
                    </a:lnR>
                    <a:lnT>
                      <a:noFill/>
                    </a:lnT>
                    <a:lnB>
                      <a:noFill/>
                    </a:lnB>
                    <a:noFill/>
                  </a:tcPr>
                </a:tc>
                <a:tc>
                  <a:txBody>
                    <a:bodyPr/>
                    <a:lstStyle/>
                    <a:p>
                      <a:pPr algn="ctr" fontAlgn="ctr"/>
                      <a:r>
                        <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rPr>
                        <a:t>175%</a:t>
                      </a:r>
                    </a:p>
                  </a:txBody>
                  <a:tcPr marL="6350" marR="6350" marT="6350" marB="0" anchor="ctr">
                    <a:lnL>
                      <a:noFill/>
                    </a:lnL>
                    <a:lnR>
                      <a:noFill/>
                    </a:lnR>
                    <a:lnT>
                      <a:noFill/>
                    </a:lnT>
                    <a:lnB>
                      <a:noFill/>
                    </a:lnB>
                    <a:noFill/>
                  </a:tcPr>
                </a:tc>
                <a:extLst>
                  <a:ext uri="{0D108BD9-81ED-4DB2-BD59-A6C34878D82A}">
                    <a16:rowId xmlns:a16="http://schemas.microsoft.com/office/drawing/2014/main" val="248281937"/>
                  </a:ext>
                </a:extLst>
              </a:tr>
            </a:tbl>
          </a:graphicData>
        </a:graphic>
      </p:graphicFrame>
      <p:pic>
        <p:nvPicPr>
          <p:cNvPr id="3" name="Picture 2" descr="File:Morgan Stanley Logo.png - Wikimedia Common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85223" y="4296453"/>
            <a:ext cx="838086" cy="209522"/>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p:cNvSpPr/>
          <p:nvPr/>
        </p:nvSpPr>
        <p:spPr>
          <a:xfrm>
            <a:off x="6369782" y="3948777"/>
            <a:ext cx="2294218" cy="276999"/>
          </a:xfrm>
          <a:prstGeom prst="rect">
            <a:avLst/>
          </a:prstGeom>
          <a:noFill/>
        </p:spPr>
        <p:txBody>
          <a:bodyPr wrap="square" rtlCol="0">
            <a:spAutoFit/>
          </a:bodyPr>
          <a:lstStyle/>
          <a:p>
            <a:pPr algn="ctr"/>
            <a:r>
              <a:rPr lang="zh-TW" altLang="en-US" sz="1100" b="1" dirty="0"/>
              <a:t>預期減重藥物</a:t>
            </a:r>
            <a:r>
              <a:rPr lang="zh-TW" altLang="en-US" sz="1100" b="1"/>
              <a:t>市場規模</a:t>
            </a:r>
            <a:r>
              <a:rPr lang="en-US" altLang="zh-TW" sz="1100" b="1" dirty="0"/>
              <a:t>(</a:t>
            </a:r>
            <a:r>
              <a:rPr lang="zh-TW" altLang="en-US" sz="1100" b="1"/>
              <a:t>億美元</a:t>
            </a:r>
            <a:r>
              <a:rPr lang="en-US" altLang="zh-TW" sz="1100" b="1" dirty="0"/>
              <a:t>)</a:t>
            </a:r>
            <a:endParaRPr lang="zh-TW" altLang="en-US" sz="1100" b="1" dirty="0"/>
          </a:p>
        </p:txBody>
      </p:sp>
      <p:graphicFrame>
        <p:nvGraphicFramePr>
          <p:cNvPr id="41" name="圖表 40"/>
          <p:cNvGraphicFramePr/>
          <p:nvPr>
            <p:extLst>
              <p:ext uri="{D42A27DB-BD31-4B8C-83A1-F6EECF244321}">
                <p14:modId xmlns:p14="http://schemas.microsoft.com/office/powerpoint/2010/main" val="2422258184"/>
              </p:ext>
            </p:extLst>
          </p:nvPr>
        </p:nvGraphicFramePr>
        <p:xfrm>
          <a:off x="7158121" y="4687617"/>
          <a:ext cx="864096" cy="1632687"/>
        </p:xfrm>
        <a:graphic>
          <a:graphicData uri="http://schemas.openxmlformats.org/drawingml/2006/chart">
            <c:chart xmlns:c="http://schemas.openxmlformats.org/drawingml/2006/chart" xmlns:r="http://schemas.openxmlformats.org/officeDocument/2006/relationships" r:id="rId6"/>
          </a:graphicData>
        </a:graphic>
      </p:graphicFrame>
      <p:pic>
        <p:nvPicPr>
          <p:cNvPr id="1028" name="Picture 4" descr="Goldman Sachs"/>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16048" b="16238"/>
          <a:stretch/>
        </p:blipFill>
        <p:spPr bwMode="auto">
          <a:xfrm>
            <a:off x="7380313" y="4293096"/>
            <a:ext cx="516150" cy="21545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5" name="圖表 44"/>
          <p:cNvGraphicFramePr/>
          <p:nvPr>
            <p:extLst>
              <p:ext uri="{D42A27DB-BD31-4B8C-83A1-F6EECF244321}">
                <p14:modId xmlns:p14="http://schemas.microsoft.com/office/powerpoint/2010/main" val="2190348780"/>
              </p:ext>
            </p:extLst>
          </p:nvPr>
        </p:nvGraphicFramePr>
        <p:xfrm>
          <a:off x="8082965" y="4476940"/>
          <a:ext cx="864096" cy="1901415"/>
        </p:xfrm>
        <a:graphic>
          <a:graphicData uri="http://schemas.openxmlformats.org/drawingml/2006/chart">
            <c:chart xmlns:c="http://schemas.openxmlformats.org/drawingml/2006/chart" xmlns:r="http://schemas.openxmlformats.org/officeDocument/2006/relationships" r:id="rId8"/>
          </a:graphicData>
        </a:graphic>
      </p:graphicFrame>
      <p:pic>
        <p:nvPicPr>
          <p:cNvPr id="1030" name="Picture 6" descr="File:J P Morgan Logo 2008 1.svg - Wikipedia"/>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229374" y="4363895"/>
            <a:ext cx="629113" cy="134915"/>
          </a:xfrm>
          <a:prstGeom prst="rect">
            <a:avLst/>
          </a:prstGeom>
          <a:noFill/>
          <a:extLst>
            <a:ext uri="{909E8E84-426E-40DD-AFC4-6F175D3DCCD1}">
              <a14:hiddenFill xmlns:a14="http://schemas.microsoft.com/office/drawing/2010/main">
                <a:solidFill>
                  <a:srgbClr val="FFFFFF"/>
                </a:solidFill>
              </a14:hiddenFill>
            </a:ext>
          </a:extLst>
        </p:spPr>
      </p:pic>
      <p:sp>
        <p:nvSpPr>
          <p:cNvPr id="24" name="向右箭號 23"/>
          <p:cNvSpPr/>
          <p:nvPr/>
        </p:nvSpPr>
        <p:spPr>
          <a:xfrm rot="17035485">
            <a:off x="6452447" y="5462035"/>
            <a:ext cx="480588" cy="98935"/>
          </a:xfrm>
          <a:prstGeom prst="rightArrow">
            <a:avLst>
              <a:gd name="adj1" fmla="val 28569"/>
              <a:gd name="adj2" fmla="val 86668"/>
            </a:avLst>
          </a:prstGeom>
          <a:gradFill>
            <a:gsLst>
              <a:gs pos="0">
                <a:srgbClr val="A6A6A6"/>
              </a:gs>
              <a:gs pos="100000">
                <a:srgbClr val="C8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6" name="表格 45">
            <a:extLst>
              <a:ext uri="{FF2B5EF4-FFF2-40B4-BE49-F238E27FC236}">
                <a16:creationId xmlns:a16="http://schemas.microsoft.com/office/drawing/2014/main" id="{9750D705-815E-0641-5B95-64F1A5619A32}"/>
              </a:ext>
            </a:extLst>
          </p:cNvPr>
          <p:cNvGraphicFramePr>
            <a:graphicFrameLocks noGrp="1"/>
          </p:cNvGraphicFramePr>
          <p:nvPr>
            <p:extLst>
              <p:ext uri="{D42A27DB-BD31-4B8C-83A1-F6EECF244321}">
                <p14:modId xmlns:p14="http://schemas.microsoft.com/office/powerpoint/2010/main" val="1002526577"/>
              </p:ext>
            </p:extLst>
          </p:nvPr>
        </p:nvGraphicFramePr>
        <p:xfrm>
          <a:off x="197514" y="1225152"/>
          <a:ext cx="4142777" cy="2226055"/>
        </p:xfrm>
        <a:graphic>
          <a:graphicData uri="http://schemas.openxmlformats.org/drawingml/2006/table">
            <a:tbl>
              <a:tblPr/>
              <a:tblGrid>
                <a:gridCol w="525633">
                  <a:extLst>
                    <a:ext uri="{9D8B030D-6E8A-4147-A177-3AD203B41FA5}">
                      <a16:colId xmlns:a16="http://schemas.microsoft.com/office/drawing/2014/main" val="3291716021"/>
                    </a:ext>
                  </a:extLst>
                </a:gridCol>
                <a:gridCol w="1112549">
                  <a:extLst>
                    <a:ext uri="{9D8B030D-6E8A-4147-A177-3AD203B41FA5}">
                      <a16:colId xmlns:a16="http://schemas.microsoft.com/office/drawing/2014/main" val="2638594282"/>
                    </a:ext>
                  </a:extLst>
                </a:gridCol>
                <a:gridCol w="720080">
                  <a:extLst>
                    <a:ext uri="{9D8B030D-6E8A-4147-A177-3AD203B41FA5}">
                      <a16:colId xmlns:a16="http://schemas.microsoft.com/office/drawing/2014/main" val="1220564882"/>
                    </a:ext>
                  </a:extLst>
                </a:gridCol>
                <a:gridCol w="1008112">
                  <a:extLst>
                    <a:ext uri="{9D8B030D-6E8A-4147-A177-3AD203B41FA5}">
                      <a16:colId xmlns:a16="http://schemas.microsoft.com/office/drawing/2014/main" val="2158646373"/>
                    </a:ext>
                  </a:extLst>
                </a:gridCol>
                <a:gridCol w="776403">
                  <a:extLst>
                    <a:ext uri="{9D8B030D-6E8A-4147-A177-3AD203B41FA5}">
                      <a16:colId xmlns:a16="http://schemas.microsoft.com/office/drawing/2014/main" val="1635383130"/>
                    </a:ext>
                  </a:extLst>
                </a:gridCol>
              </a:tblGrid>
              <a:tr h="370789">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排名</a:t>
                      </a:r>
                    </a:p>
                  </a:txBody>
                  <a:tcPr marL="6350" marR="6350" marT="6350" marB="0" anchor="ctr">
                    <a:lnL>
                      <a:noFill/>
                    </a:lnL>
                    <a:lnR>
                      <a:noFill/>
                    </a:lnR>
                    <a:lnT>
                      <a:noFill/>
                    </a:lnT>
                    <a:lnB>
                      <a:noFill/>
                    </a:lnB>
                    <a:solidFill>
                      <a:schemeClr val="bg1"/>
                    </a:solidFill>
                  </a:tcPr>
                </a:tc>
                <a:tc gridSpan="2">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公司</a:t>
                      </a:r>
                    </a:p>
                  </a:txBody>
                  <a:tcPr marL="6350" marR="6350" marT="6350" marB="0" anchor="ctr">
                    <a:lnL>
                      <a:noFill/>
                    </a:lnL>
                    <a:lnR>
                      <a:noFill/>
                    </a:lnR>
                    <a:lnT>
                      <a:noFill/>
                    </a:lnT>
                    <a:lnB>
                      <a:noFill/>
                    </a:lnB>
                    <a:solidFill>
                      <a:schemeClr val="bg1"/>
                    </a:solidFill>
                  </a:tcPr>
                </a:tc>
                <a:tc hMerge="1">
                  <a:txBody>
                    <a:bodyPr/>
                    <a:lstStyle/>
                    <a:p>
                      <a:endParaRPr lang="zh-TW" altLang="en-US"/>
                    </a:p>
                  </a:txBody>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市值</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億</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6350" marR="6350" marT="6350" marB="0" anchor="ctr">
                    <a:lnL>
                      <a:noFill/>
                    </a:lnL>
                    <a:lnR>
                      <a:noFill/>
                    </a:lnR>
                    <a:lnT>
                      <a:noFill/>
                    </a:lnT>
                    <a:lnB>
                      <a:noFill/>
                    </a:lnB>
                    <a:solidFill>
                      <a:schemeClr val="bg1"/>
                    </a:solidFill>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國家</a:t>
                      </a:r>
                    </a:p>
                  </a:txBody>
                  <a:tcPr marL="6350" marR="6350" marT="6350" marB="0" anchor="ctr">
                    <a:lnL>
                      <a:noFill/>
                    </a:lnL>
                    <a:lnR>
                      <a:noFill/>
                    </a:lnR>
                    <a:lnT>
                      <a:noFill/>
                    </a:lnT>
                    <a:lnB>
                      <a:noFill/>
                    </a:lnB>
                    <a:solidFill>
                      <a:schemeClr val="bg1"/>
                    </a:solidFill>
                  </a:tcPr>
                </a:tc>
                <a:extLst>
                  <a:ext uri="{0D108BD9-81ED-4DB2-BD59-A6C34878D82A}">
                    <a16:rowId xmlns:a16="http://schemas.microsoft.com/office/drawing/2014/main" val="4250816285"/>
                  </a:ext>
                </a:extLst>
              </a:tr>
              <a:tr h="370789">
                <a:tc>
                  <a:txBody>
                    <a:bodyPr/>
                    <a:lstStyle/>
                    <a:p>
                      <a:pPr algn="ctr" fontAlgn="ctr"/>
                      <a:r>
                        <a:rPr lang="en-US" altLang="zh-TW" sz="1400" b="1" i="0" u="none" strike="noStrike" dirty="0">
                          <a:solidFill>
                            <a:srgbClr val="000000"/>
                          </a:solidFill>
                          <a:effectLst/>
                          <a:latin typeface="微軟正黑體" panose="020B0604030504040204" pitchFamily="34" charset="-120"/>
                          <a:ea typeface="微軟正黑體" panose="020B0604030504040204" pitchFamily="34" charset="-120"/>
                        </a:rPr>
                        <a:t>1</a:t>
                      </a:r>
                    </a:p>
                  </a:txBody>
                  <a:tcPr marL="6350" marR="6350" marT="6350" marB="0" anchor="ctr">
                    <a:lnL>
                      <a:noFill/>
                    </a:lnL>
                    <a:lnR>
                      <a:noFill/>
                    </a:lnR>
                    <a:lnT>
                      <a:noFill/>
                    </a:lnT>
                    <a:lnB>
                      <a:noFill/>
                    </a:lnB>
                    <a:solidFill>
                      <a:schemeClr val="bg1"/>
                    </a:solidFill>
                  </a:tcPr>
                </a:tc>
                <a:tc>
                  <a:txBody>
                    <a:bodyPr/>
                    <a:lstStyle/>
                    <a:p>
                      <a:pPr algn="ctr" fontAlgn="ctr"/>
                      <a:endPar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tc>
                  <a:txBody>
                    <a:bodyPr/>
                    <a:lstStyle/>
                    <a:p>
                      <a:pPr algn="ctr" fontAlgn="ct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禮來</a:t>
                      </a:r>
                    </a:p>
                  </a:txBody>
                  <a:tcPr marL="6350" marR="6350" marT="6350" marB="0" anchor="ctr">
                    <a:lnL>
                      <a:noFill/>
                    </a:lnL>
                    <a:lnR>
                      <a:noFill/>
                    </a:lnR>
                    <a:lnT>
                      <a:noFill/>
                    </a:lnT>
                    <a:lnB>
                      <a:noFill/>
                    </a:lnB>
                    <a:solidFill>
                      <a:schemeClr val="bg1"/>
                    </a:solidFill>
                  </a:tcPr>
                </a:tc>
                <a:tc>
                  <a:txBody>
                    <a:bodyPr/>
                    <a:lstStyle/>
                    <a:p>
                      <a:pPr algn="ctr" fontAlgn="ctr"/>
                      <a:r>
                        <a:rPr lang="en-US" altLang="zh-TW" sz="1400" b="1" i="0" u="none" strike="noStrike" dirty="0">
                          <a:solidFill>
                            <a:srgbClr val="000000"/>
                          </a:solidFill>
                          <a:effectLst/>
                          <a:latin typeface="微軟正黑體" panose="020B0604030504040204" pitchFamily="34" charset="-120"/>
                          <a:ea typeface="微軟正黑體" panose="020B0604030504040204" pitchFamily="34" charset="-120"/>
                        </a:rPr>
                        <a:t>8,818</a:t>
                      </a:r>
                    </a:p>
                  </a:txBody>
                  <a:tcPr marL="6350" marR="6350" marT="6350" marB="0" anchor="ctr">
                    <a:lnL>
                      <a:noFill/>
                    </a:lnL>
                    <a:lnR>
                      <a:noFill/>
                    </a:lnR>
                    <a:lnT>
                      <a:noFill/>
                    </a:lnT>
                    <a:lnB>
                      <a:noFill/>
                    </a:lnB>
                    <a:solidFill>
                      <a:schemeClr val="bg1"/>
                    </a:solidFill>
                  </a:tcPr>
                </a:tc>
                <a:tc>
                  <a:txBody>
                    <a:bodyPr/>
                    <a:lstStyle/>
                    <a:p>
                      <a:pPr algn="l" fontAlgn="ctr"/>
                      <a:endPar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extLst>
                  <a:ext uri="{0D108BD9-81ED-4DB2-BD59-A6C34878D82A}">
                    <a16:rowId xmlns:a16="http://schemas.microsoft.com/office/drawing/2014/main" val="1182154982"/>
                  </a:ext>
                </a:extLst>
              </a:tr>
              <a:tr h="370789">
                <a:tc>
                  <a:txBody>
                    <a:bodyPr/>
                    <a:lstStyle/>
                    <a:p>
                      <a:pPr algn="ctr" fontAlgn="ctr"/>
                      <a:r>
                        <a:rPr lang="en-US" altLang="zh-TW"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rPr>
                        <a:t>2</a:t>
                      </a:r>
                    </a:p>
                  </a:txBody>
                  <a:tcPr marL="6350" marR="6350" marT="6350" marB="0" anchor="ctr">
                    <a:lnL>
                      <a:noFill/>
                    </a:lnL>
                    <a:lnR>
                      <a:noFill/>
                    </a:lnR>
                    <a:lnT>
                      <a:noFill/>
                    </a:lnT>
                    <a:lnB>
                      <a:noFill/>
                    </a:lnB>
                    <a:solidFill>
                      <a:schemeClr val="bg1">
                        <a:lumMod val="95000"/>
                      </a:schemeClr>
                    </a:solidFill>
                  </a:tcPr>
                </a:tc>
                <a:tc>
                  <a:txBody>
                    <a:bodyPr/>
                    <a:lstStyle/>
                    <a:p>
                      <a:pPr algn="ctr" fontAlgn="ct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lumMod val="95000"/>
                      </a:schemeClr>
                    </a:solidFill>
                  </a:tcPr>
                </a:tc>
                <a:tc>
                  <a:txBody>
                    <a:bodyPr/>
                    <a:lstStyle/>
                    <a:p>
                      <a:pPr algn="ctr" fontAlgn="ctr"/>
                      <a:r>
                        <a:rPr lang="zh-TW" altLang="en-US"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嬌生</a:t>
                      </a:r>
                    </a:p>
                  </a:txBody>
                  <a:tcPr marL="6350" marR="6350" marT="6350" marB="0" anchor="ctr">
                    <a:lnL>
                      <a:noFill/>
                    </a:lnL>
                    <a:lnR>
                      <a:noFill/>
                    </a:lnR>
                    <a:lnT>
                      <a:noFill/>
                    </a:lnT>
                    <a:lnB>
                      <a:noFill/>
                    </a:lnB>
                    <a:solidFill>
                      <a:schemeClr val="bg1">
                        <a:lumMod val="95000"/>
                      </a:schemeClr>
                    </a:solidFill>
                  </a:tcPr>
                </a:tc>
                <a:tc>
                  <a:txBody>
                    <a:bodyPr/>
                    <a:lstStyle/>
                    <a:p>
                      <a:pPr algn="ctr" fontAlgn="ctr"/>
                      <a:r>
                        <a:rPr lang="en-US" altLang="zh-TW"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5,429</a:t>
                      </a:r>
                    </a:p>
                  </a:txBody>
                  <a:tcPr marL="6350" marR="6350" marT="6350" marB="0" anchor="ctr">
                    <a:lnL>
                      <a:noFill/>
                    </a:lnL>
                    <a:lnR>
                      <a:noFill/>
                    </a:lnR>
                    <a:lnT>
                      <a:noFill/>
                    </a:lnT>
                    <a:lnB>
                      <a:noFill/>
                    </a:lnB>
                    <a:solidFill>
                      <a:schemeClr val="bg1">
                        <a:lumMod val="95000"/>
                      </a:schemeClr>
                    </a:solidFill>
                  </a:tcPr>
                </a:tc>
                <a:tc>
                  <a:txBody>
                    <a:bodyPr/>
                    <a:lstStyle/>
                    <a:p>
                      <a:pPr algn="l" fontAlgn="ct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315664748"/>
                  </a:ext>
                </a:extLst>
              </a:tr>
              <a:tr h="370789">
                <a:tc>
                  <a:txBody>
                    <a:bodyPr/>
                    <a:lstStyle/>
                    <a:p>
                      <a:pPr algn="ctr" fontAlgn="ctr"/>
                      <a:r>
                        <a:rPr lang="en-US" altLang="zh-TW"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rPr>
                        <a:t>3</a:t>
                      </a:r>
                    </a:p>
                  </a:txBody>
                  <a:tcPr marL="6350" marR="6350" marT="6350" marB="0" anchor="ctr">
                    <a:lnL>
                      <a:noFill/>
                    </a:lnL>
                    <a:lnR>
                      <a:noFill/>
                    </a:lnR>
                    <a:lnT>
                      <a:noFill/>
                    </a:lnT>
                    <a:lnB>
                      <a:noFill/>
                    </a:lnB>
                    <a:solidFill>
                      <a:schemeClr val="bg1"/>
                    </a:solidFill>
                  </a:tcPr>
                </a:tc>
                <a:tc>
                  <a:txBody>
                    <a:bodyPr/>
                    <a:lstStyle/>
                    <a:p>
                      <a:pPr algn="ctr" fontAlgn="ct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tc>
                  <a:txBody>
                    <a:bodyPr/>
                    <a:lstStyle/>
                    <a:p>
                      <a:pPr algn="ctr" fontAlgn="ctr"/>
                      <a:r>
                        <a:rPr lang="zh-TW" altLang="en-US"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艾伯維</a:t>
                      </a:r>
                    </a:p>
                  </a:txBody>
                  <a:tcPr marL="6350" marR="6350" marT="6350" marB="0" anchor="ctr">
                    <a:lnL>
                      <a:noFill/>
                    </a:lnL>
                    <a:lnR>
                      <a:noFill/>
                    </a:lnR>
                    <a:lnT>
                      <a:noFill/>
                    </a:lnT>
                    <a:lnB>
                      <a:noFill/>
                    </a:lnB>
                    <a:solidFill>
                      <a:schemeClr val="bg1"/>
                    </a:solidFill>
                  </a:tcPr>
                </a:tc>
                <a:tc>
                  <a:txBody>
                    <a:bodyPr/>
                    <a:lstStyle/>
                    <a:p>
                      <a:pPr algn="ctr" fontAlgn="ctr"/>
                      <a:r>
                        <a:rPr lang="en-US" altLang="zh-TW"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3,646</a:t>
                      </a:r>
                    </a:p>
                  </a:txBody>
                  <a:tcPr marL="6350" marR="6350" marT="6350" marB="0" anchor="ctr">
                    <a:lnL>
                      <a:noFill/>
                    </a:lnL>
                    <a:lnR>
                      <a:noFill/>
                    </a:lnR>
                    <a:lnT>
                      <a:noFill/>
                    </a:lnT>
                    <a:lnB>
                      <a:noFill/>
                    </a:lnB>
                    <a:solidFill>
                      <a:schemeClr val="bg1"/>
                    </a:solidFill>
                  </a:tcPr>
                </a:tc>
                <a:tc>
                  <a:txBody>
                    <a:bodyPr/>
                    <a:lstStyle/>
                    <a:p>
                      <a:pPr algn="l" fontAlgn="ct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extLst>
                  <a:ext uri="{0D108BD9-81ED-4DB2-BD59-A6C34878D82A}">
                    <a16:rowId xmlns:a16="http://schemas.microsoft.com/office/drawing/2014/main" val="2255557687"/>
                  </a:ext>
                </a:extLst>
              </a:tr>
              <a:tr h="370789">
                <a:tc>
                  <a:txBody>
                    <a:bodyPr/>
                    <a:lstStyle/>
                    <a:p>
                      <a:pPr algn="ctr" fontAlgn="ctr"/>
                      <a:r>
                        <a:rPr lang="en-US" altLang="zh-TW"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rPr>
                        <a:t>4</a:t>
                      </a:r>
                    </a:p>
                  </a:txBody>
                  <a:tcPr marL="6350" marR="6350" marT="6350" marB="0" anchor="ctr">
                    <a:lnL>
                      <a:noFill/>
                    </a:lnL>
                    <a:lnR>
                      <a:noFill/>
                    </a:lnR>
                    <a:lnT>
                      <a:noFill/>
                    </a:lnT>
                    <a:lnB>
                      <a:noFill/>
                    </a:lnB>
                    <a:solidFill>
                      <a:schemeClr val="bg1">
                        <a:lumMod val="95000"/>
                      </a:schemeClr>
                    </a:solidFill>
                  </a:tcPr>
                </a:tc>
                <a:tc>
                  <a:txBody>
                    <a:bodyPr/>
                    <a:lstStyle/>
                    <a:p>
                      <a:pPr algn="ctr" fontAlgn="ct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lumMod val="95000"/>
                      </a:schemeClr>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TW" altLang="en-US"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羅氏集團</a:t>
                      </a:r>
                    </a:p>
                  </a:txBody>
                  <a:tcPr marL="6350" marR="6350" marT="6350" marB="0" anchor="ctr">
                    <a:lnL>
                      <a:noFill/>
                    </a:lnL>
                    <a:lnR>
                      <a:noFill/>
                    </a:lnR>
                    <a:lnT>
                      <a:noFill/>
                    </a:lnT>
                    <a:lnB>
                      <a:noFill/>
                    </a:lnB>
                    <a:solidFill>
                      <a:schemeClr val="bg1">
                        <a:lumMod val="95000"/>
                      </a:schemeClr>
                    </a:solidFill>
                  </a:tcPr>
                </a:tc>
                <a:tc>
                  <a:txBody>
                    <a:bodyPr/>
                    <a:lstStyle/>
                    <a:p>
                      <a:pPr algn="ctr" fontAlgn="ctr"/>
                      <a:r>
                        <a:rPr lang="en-US" altLang="zh-TW"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3,373</a:t>
                      </a:r>
                    </a:p>
                  </a:txBody>
                  <a:tcPr marL="6350" marR="6350" marT="6350" marB="0" anchor="ctr">
                    <a:lnL>
                      <a:noFill/>
                    </a:lnL>
                    <a:lnR>
                      <a:noFill/>
                    </a:lnR>
                    <a:lnT>
                      <a:noFill/>
                    </a:lnT>
                    <a:lnB>
                      <a:noFill/>
                    </a:lnB>
                    <a:solidFill>
                      <a:schemeClr val="bg1">
                        <a:lumMod val="95000"/>
                      </a:schemeClr>
                    </a:solidFill>
                  </a:tcPr>
                </a:tc>
                <a:tc>
                  <a:txBody>
                    <a:bodyPr/>
                    <a:lstStyle/>
                    <a:p>
                      <a:pPr algn="l" fontAlgn="ct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375636706"/>
                  </a:ext>
                </a:extLst>
              </a:tr>
              <a:tr h="370789">
                <a:tc>
                  <a:txBody>
                    <a:bodyPr/>
                    <a:lstStyle/>
                    <a:p>
                      <a:pPr algn="ctr" fontAlgn="ctr"/>
                      <a:r>
                        <a:rPr lang="en-US" altLang="zh-TW"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rPr>
                        <a:t>5</a:t>
                      </a:r>
                    </a:p>
                  </a:txBody>
                  <a:tcPr marL="6350" marR="6350" marT="6350" marB="0" anchor="ctr">
                    <a:lnL>
                      <a:noFill/>
                    </a:lnL>
                    <a:lnR>
                      <a:noFill/>
                    </a:lnR>
                    <a:lnT>
                      <a:noFill/>
                    </a:lnT>
                    <a:lnB>
                      <a:noFill/>
                    </a:lnB>
                    <a:solidFill>
                      <a:schemeClr val="bg1"/>
                    </a:solidFill>
                  </a:tcPr>
                </a:tc>
                <a:tc>
                  <a:txBody>
                    <a:bodyPr/>
                    <a:lstStyle/>
                    <a:p>
                      <a:pPr algn="ctr" fontAlgn="ct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zh-TW" altLang="en-US"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阿斯特</a:t>
                      </a:r>
                      <a:endParaRPr lang="en-US" altLang="zh-TW"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endParaRPr>
                    </a:p>
                    <a:p>
                      <a:pPr marL="0" marR="0" lvl="0" indent="0" algn="ctr" defTabSz="685800" rtl="0" eaLnBrk="1" fontAlgn="ctr" latinLnBrk="0" hangingPunct="1">
                        <a:lnSpc>
                          <a:spcPct val="100000"/>
                        </a:lnSpc>
                        <a:spcBef>
                          <a:spcPts val="0"/>
                        </a:spcBef>
                        <a:spcAft>
                          <a:spcPts val="0"/>
                        </a:spcAft>
                        <a:buClrTx/>
                        <a:buSzTx/>
                        <a:buFontTx/>
                        <a:buNone/>
                        <a:tabLst/>
                        <a:defRPr/>
                      </a:pPr>
                      <a:r>
                        <a:rPr lang="zh-TW" altLang="en-US"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捷利康</a:t>
                      </a:r>
                    </a:p>
                  </a:txBody>
                  <a:tcPr marL="6350" marR="6350" marT="6350" marB="0" anchor="ctr">
                    <a:lnL>
                      <a:noFill/>
                    </a:lnL>
                    <a:lnR>
                      <a:noFill/>
                    </a:lnR>
                    <a:lnT>
                      <a:noFill/>
                    </a:lnT>
                    <a:lnB>
                      <a:noFill/>
                    </a:lnB>
                    <a:solidFill>
                      <a:schemeClr val="bg1"/>
                    </a:solidFill>
                  </a:tcPr>
                </a:tc>
                <a:tc>
                  <a:txBody>
                    <a:bodyPr/>
                    <a:lstStyle/>
                    <a:p>
                      <a:pPr algn="ctr" fontAlgn="ctr"/>
                      <a:r>
                        <a:rPr lang="en-US" altLang="zh-TW"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2,810</a:t>
                      </a:r>
                    </a:p>
                  </a:txBody>
                  <a:tcPr marL="6350" marR="6350" marT="6350" marB="0" anchor="ctr">
                    <a:lnL>
                      <a:noFill/>
                    </a:lnL>
                    <a:lnR>
                      <a:noFill/>
                    </a:lnR>
                    <a:lnT>
                      <a:noFill/>
                    </a:lnT>
                    <a:lnB>
                      <a:noFill/>
                    </a:lnB>
                    <a:solidFill>
                      <a:schemeClr val="bg1"/>
                    </a:solidFill>
                  </a:tcPr>
                </a:tc>
                <a:tc>
                  <a:txBody>
                    <a:bodyPr/>
                    <a:lstStyle/>
                    <a:p>
                      <a:pPr algn="l" fontAlgn="ct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extLst>
                  <a:ext uri="{0D108BD9-81ED-4DB2-BD59-A6C34878D82A}">
                    <a16:rowId xmlns:a16="http://schemas.microsoft.com/office/drawing/2014/main" val="3088990159"/>
                  </a:ext>
                </a:extLst>
              </a:tr>
            </a:tbl>
          </a:graphicData>
        </a:graphic>
      </p:graphicFrame>
      <p:pic>
        <p:nvPicPr>
          <p:cNvPr id="51" name="圖片 50">
            <a:extLst>
              <a:ext uri="{FF2B5EF4-FFF2-40B4-BE49-F238E27FC236}">
                <a16:creationId xmlns:a16="http://schemas.microsoft.com/office/drawing/2014/main" id="{58A01317-A979-571E-8378-2E5FA5D01573}"/>
              </a:ext>
            </a:extLst>
          </p:cNvPr>
          <p:cNvPicPr>
            <a:picLocks noChangeAspect="1"/>
          </p:cNvPicPr>
          <p:nvPr/>
        </p:nvPicPr>
        <p:blipFill>
          <a:blip r:embed="rId4"/>
          <a:stretch>
            <a:fillRect/>
          </a:stretch>
        </p:blipFill>
        <p:spPr>
          <a:xfrm>
            <a:off x="943151" y="1637786"/>
            <a:ext cx="536966" cy="293183"/>
          </a:xfrm>
          <a:prstGeom prst="rect">
            <a:avLst/>
          </a:prstGeom>
        </p:spPr>
      </p:pic>
      <p:pic>
        <p:nvPicPr>
          <p:cNvPr id="53" name="圖片 52">
            <a:extLst>
              <a:ext uri="{FF2B5EF4-FFF2-40B4-BE49-F238E27FC236}">
                <a16:creationId xmlns:a16="http://schemas.microsoft.com/office/drawing/2014/main" id="{70306296-60B1-A2DC-299A-64C8652AA54B}"/>
              </a:ext>
            </a:extLst>
          </p:cNvPr>
          <p:cNvPicPr>
            <a:picLocks noChangeAspect="1"/>
          </p:cNvPicPr>
          <p:nvPr/>
        </p:nvPicPr>
        <p:blipFill>
          <a:blip r:embed="rId10"/>
          <a:stretch>
            <a:fillRect/>
          </a:stretch>
        </p:blipFill>
        <p:spPr>
          <a:xfrm>
            <a:off x="689850" y="2083883"/>
            <a:ext cx="1043568" cy="188712"/>
          </a:xfrm>
          <a:prstGeom prst="rect">
            <a:avLst/>
          </a:prstGeom>
        </p:spPr>
      </p:pic>
      <p:pic>
        <p:nvPicPr>
          <p:cNvPr id="55" name="圖片 54">
            <a:extLst>
              <a:ext uri="{FF2B5EF4-FFF2-40B4-BE49-F238E27FC236}">
                <a16:creationId xmlns:a16="http://schemas.microsoft.com/office/drawing/2014/main" id="{C78F3D33-7102-8795-2EEF-53700DB4D201}"/>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757502" y="2435172"/>
            <a:ext cx="825178" cy="216000"/>
          </a:xfrm>
          <a:prstGeom prst="rect">
            <a:avLst/>
          </a:prstGeom>
        </p:spPr>
      </p:pic>
      <p:pic>
        <p:nvPicPr>
          <p:cNvPr id="56" name="圖片 55" descr="一張含有 美國國旗, 旗幟, 國旗日 (美國), 符號 的圖片&#10;&#10;自動產生的描述">
            <a:extLst>
              <a:ext uri="{FF2B5EF4-FFF2-40B4-BE49-F238E27FC236}">
                <a16:creationId xmlns:a16="http://schemas.microsoft.com/office/drawing/2014/main" id="{10CC8A01-9B12-25C2-4979-DE1172CFAB3B}"/>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t="16152" b="16781"/>
          <a:stretch/>
        </p:blipFill>
        <p:spPr>
          <a:xfrm>
            <a:off x="3669769" y="1650713"/>
            <a:ext cx="398589" cy="267327"/>
          </a:xfrm>
          <a:prstGeom prst="rect">
            <a:avLst/>
          </a:prstGeom>
        </p:spPr>
      </p:pic>
      <p:pic>
        <p:nvPicPr>
          <p:cNvPr id="57" name="圖片 56" descr="一張含有 美國國旗, 旗幟, 國旗日 (美國), 符號 的圖片&#10;&#10;自動產生的描述">
            <a:extLst>
              <a:ext uri="{FF2B5EF4-FFF2-40B4-BE49-F238E27FC236}">
                <a16:creationId xmlns:a16="http://schemas.microsoft.com/office/drawing/2014/main" id="{57E21813-3765-AF11-A678-A92F38B1F1BB}"/>
              </a:ext>
            </a:extLst>
          </p:cNvPr>
          <p:cNvPicPr>
            <a:picLocks noChangeAspect="1"/>
          </p:cNvPicPr>
          <p:nvPr/>
        </p:nvPicPr>
        <p:blipFill rotWithShape="1">
          <a:blip r:embed="rId13" cstate="print">
            <a:alphaModFix amt="70000"/>
            <a:extLst>
              <a:ext uri="{BEBA8EAE-BF5A-486C-A8C5-ECC9F3942E4B}">
                <a14:imgProps xmlns:a14="http://schemas.microsoft.com/office/drawing/2010/main">
                  <a14:imgLayer r:embed="rId14">
                    <a14:imgEffect>
                      <a14:brightnessContrast bright="20000" contrast="-20000"/>
                    </a14:imgEffect>
                  </a14:imgLayer>
                </a14:imgProps>
              </a:ext>
              <a:ext uri="{28A0092B-C50C-407E-A947-70E740481C1C}">
                <a14:useLocalDpi xmlns:a14="http://schemas.microsoft.com/office/drawing/2010/main" val="0"/>
              </a:ext>
            </a:extLst>
          </a:blip>
          <a:srcRect t="16152" b="16781"/>
          <a:stretch/>
        </p:blipFill>
        <p:spPr>
          <a:xfrm>
            <a:off x="3669769" y="2022329"/>
            <a:ext cx="398589" cy="267327"/>
          </a:xfrm>
          <a:prstGeom prst="rect">
            <a:avLst/>
          </a:prstGeom>
        </p:spPr>
      </p:pic>
      <p:pic>
        <p:nvPicPr>
          <p:cNvPr id="58" name="圖片 57" descr="一張含有 美國國旗, 旗幟, 國旗日 (美國), 符號 的圖片&#10;&#10;自動產生的描述">
            <a:extLst>
              <a:ext uri="{FF2B5EF4-FFF2-40B4-BE49-F238E27FC236}">
                <a16:creationId xmlns:a16="http://schemas.microsoft.com/office/drawing/2014/main" id="{83441FF5-73C6-1078-6874-D3814FBE0572}"/>
              </a:ext>
            </a:extLst>
          </p:cNvPr>
          <p:cNvPicPr>
            <a:picLocks noChangeAspect="1"/>
          </p:cNvPicPr>
          <p:nvPr/>
        </p:nvPicPr>
        <p:blipFill rotWithShape="1">
          <a:blip r:embed="rId13" cstate="print">
            <a:alphaModFix amt="70000"/>
            <a:extLst>
              <a:ext uri="{BEBA8EAE-BF5A-486C-A8C5-ECC9F3942E4B}">
                <a14:imgProps xmlns:a14="http://schemas.microsoft.com/office/drawing/2010/main">
                  <a14:imgLayer r:embed="rId14">
                    <a14:imgEffect>
                      <a14:brightnessContrast bright="20000" contrast="-20000"/>
                    </a14:imgEffect>
                  </a14:imgLayer>
                </a14:imgProps>
              </a:ext>
              <a:ext uri="{28A0092B-C50C-407E-A947-70E740481C1C}">
                <a14:useLocalDpi xmlns:a14="http://schemas.microsoft.com/office/drawing/2010/main" val="0"/>
              </a:ext>
            </a:extLst>
          </a:blip>
          <a:srcRect t="16152" b="16781"/>
          <a:stretch/>
        </p:blipFill>
        <p:spPr>
          <a:xfrm>
            <a:off x="3671597" y="2383845"/>
            <a:ext cx="398589" cy="267327"/>
          </a:xfrm>
          <a:prstGeom prst="rect">
            <a:avLst/>
          </a:prstGeom>
        </p:spPr>
      </p:pic>
      <p:pic>
        <p:nvPicPr>
          <p:cNvPr id="60" name="Picture 2" descr="File:Roche Logo.svg - Wikimedia Commons"/>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48211" y="2780928"/>
            <a:ext cx="424675" cy="230386"/>
          </a:xfrm>
          <a:prstGeom prst="rect">
            <a:avLst/>
          </a:prstGeom>
          <a:noFill/>
          <a:extLst>
            <a:ext uri="{909E8E84-426E-40DD-AFC4-6F175D3DCCD1}">
              <a14:hiddenFill xmlns:a14="http://schemas.microsoft.com/office/drawing/2010/main">
                <a:solidFill>
                  <a:srgbClr val="FFFFFF"/>
                </a:solidFill>
              </a14:hiddenFill>
            </a:ext>
          </a:extLst>
        </p:spPr>
      </p:pic>
      <p:pic>
        <p:nvPicPr>
          <p:cNvPr id="61" name="圖片 60"/>
          <p:cNvPicPr>
            <a:picLocks noChangeAspect="1"/>
          </p:cNvPicPr>
          <p:nvPr/>
        </p:nvPicPr>
        <p:blipFill rotWithShape="1">
          <a:blip r:embed="rId16" cstate="print">
            <a:alphaModFix amt="35000"/>
            <a:extLst>
              <a:ext uri="{BEBA8EAE-BF5A-486C-A8C5-ECC9F3942E4B}">
                <a14:imgProps xmlns:a14="http://schemas.microsoft.com/office/drawing/2010/main">
                  <a14:imgLayer r:embed="rId17">
                    <a14:imgEffect>
                      <a14:brightnessContrast bright="20000" contrast="-20000"/>
                    </a14:imgEffect>
                  </a14:imgLayer>
                </a14:imgProps>
              </a:ext>
              <a:ext uri="{28A0092B-C50C-407E-A947-70E740481C1C}">
                <a14:useLocalDpi xmlns:a14="http://schemas.microsoft.com/office/drawing/2010/main" val="0"/>
              </a:ext>
            </a:extLst>
          </a:blip>
          <a:srcRect t="17578" b="17578"/>
          <a:stretch/>
        </p:blipFill>
        <p:spPr>
          <a:xfrm>
            <a:off x="3665356" y="2754822"/>
            <a:ext cx="396688" cy="257231"/>
          </a:xfrm>
          <a:prstGeom prst="rect">
            <a:avLst/>
          </a:prstGeom>
        </p:spPr>
      </p:pic>
      <p:pic>
        <p:nvPicPr>
          <p:cNvPr id="2" name="圖片 1">
            <a:extLst>
              <a:ext uri="{FF2B5EF4-FFF2-40B4-BE49-F238E27FC236}">
                <a16:creationId xmlns:a16="http://schemas.microsoft.com/office/drawing/2014/main" id="{3B8975C1-CD7C-4187-92A9-FD100320A89B}"/>
              </a:ext>
            </a:extLst>
          </p:cNvPr>
          <p:cNvPicPr>
            <a:picLocks noChangeAspect="1"/>
          </p:cNvPicPr>
          <p:nvPr/>
        </p:nvPicPr>
        <p:blipFill>
          <a:blip r:embed="rId18">
            <a:alphaModFix amt="35000"/>
          </a:blip>
          <a:stretch>
            <a:fillRect/>
          </a:stretch>
        </p:blipFill>
        <p:spPr>
          <a:xfrm>
            <a:off x="3665356" y="3150991"/>
            <a:ext cx="396799" cy="243437"/>
          </a:xfrm>
          <a:prstGeom prst="rect">
            <a:avLst/>
          </a:prstGeom>
        </p:spPr>
      </p:pic>
      <p:pic>
        <p:nvPicPr>
          <p:cNvPr id="7" name="圖片 6">
            <a:extLst>
              <a:ext uri="{FF2B5EF4-FFF2-40B4-BE49-F238E27FC236}">
                <a16:creationId xmlns:a16="http://schemas.microsoft.com/office/drawing/2014/main" id="{A7C40B26-76AF-4868-AFAF-0C6A076DEFED}"/>
              </a:ext>
            </a:extLst>
          </p:cNvPr>
          <p:cNvPicPr>
            <a:picLocks noChangeAspect="1"/>
          </p:cNvPicPr>
          <p:nvPr/>
        </p:nvPicPr>
        <p:blipFill>
          <a:blip r:embed="rId19"/>
          <a:stretch>
            <a:fillRect/>
          </a:stretch>
        </p:blipFill>
        <p:spPr>
          <a:xfrm>
            <a:off x="611560" y="3140968"/>
            <a:ext cx="1212076" cy="258990"/>
          </a:xfrm>
          <a:prstGeom prst="rect">
            <a:avLst/>
          </a:prstGeom>
        </p:spPr>
      </p:pic>
      <p:pic>
        <p:nvPicPr>
          <p:cNvPr id="27" name="圖片 26">
            <a:extLst>
              <a:ext uri="{FF2B5EF4-FFF2-40B4-BE49-F238E27FC236}">
                <a16:creationId xmlns:a16="http://schemas.microsoft.com/office/drawing/2014/main" id="{356F623E-2667-43C6-9149-49B4D97DA838}"/>
              </a:ext>
            </a:extLst>
          </p:cNvPr>
          <p:cNvPicPr>
            <a:picLocks noChangeAspect="1"/>
          </p:cNvPicPr>
          <p:nvPr/>
        </p:nvPicPr>
        <p:blipFill rotWithShape="1">
          <a:blip r:embed="rId20"/>
          <a:srcRect t="12962"/>
          <a:stretch/>
        </p:blipFill>
        <p:spPr>
          <a:xfrm>
            <a:off x="3059832" y="4204488"/>
            <a:ext cx="3167529" cy="2247693"/>
          </a:xfrm>
          <a:prstGeom prst="rect">
            <a:avLst/>
          </a:prstGeom>
        </p:spPr>
      </p:pic>
      <p:pic>
        <p:nvPicPr>
          <p:cNvPr id="31" name="圖片 30">
            <a:extLst>
              <a:ext uri="{FF2B5EF4-FFF2-40B4-BE49-F238E27FC236}">
                <a16:creationId xmlns:a16="http://schemas.microsoft.com/office/drawing/2014/main" id="{3DF11726-2CD2-46B4-99FE-08D238A332FE}"/>
              </a:ext>
            </a:extLst>
          </p:cNvPr>
          <p:cNvPicPr>
            <a:picLocks noChangeAspect="1"/>
          </p:cNvPicPr>
          <p:nvPr/>
        </p:nvPicPr>
        <p:blipFill rotWithShape="1">
          <a:blip r:embed="rId21"/>
          <a:srcRect t="10861"/>
          <a:stretch/>
        </p:blipFill>
        <p:spPr>
          <a:xfrm>
            <a:off x="38625" y="4165308"/>
            <a:ext cx="3112141" cy="2300931"/>
          </a:xfrm>
          <a:prstGeom prst="rect">
            <a:avLst/>
          </a:prstGeom>
        </p:spPr>
      </p:pic>
      <p:sp>
        <p:nvSpPr>
          <p:cNvPr id="32" name="文字方塊 31">
            <a:extLst>
              <a:ext uri="{FF2B5EF4-FFF2-40B4-BE49-F238E27FC236}">
                <a16:creationId xmlns:a16="http://schemas.microsoft.com/office/drawing/2014/main" id="{09D99D06-A0E2-4BB9-8D68-A0D5B3088B50}"/>
              </a:ext>
            </a:extLst>
          </p:cNvPr>
          <p:cNvSpPr txBox="1"/>
          <p:nvPr/>
        </p:nvSpPr>
        <p:spPr>
          <a:xfrm>
            <a:off x="107503" y="3960692"/>
            <a:ext cx="2886419" cy="261610"/>
          </a:xfrm>
          <a:prstGeom prst="rect">
            <a:avLst/>
          </a:prstGeom>
          <a:noFill/>
        </p:spPr>
        <p:txBody>
          <a:bodyPr wrap="square" rtlCol="0">
            <a:spAutoFit/>
          </a:bodyPr>
          <a:lstStyle/>
          <a:p>
            <a:pPr algn="ctr"/>
            <a:r>
              <a:rPr lang="en-US" altLang="zh-TW" sz="1100" b="1" dirty="0" err="1"/>
              <a:t>Zepbound</a:t>
            </a:r>
            <a:r>
              <a:rPr lang="zh-TW" altLang="en-US" sz="1100" b="1" dirty="0"/>
              <a:t>美國處方簽市占</a:t>
            </a:r>
            <a:r>
              <a:rPr lang="en-US" altLang="zh-TW" sz="1100" b="1" dirty="0"/>
              <a:t>(%)</a:t>
            </a:r>
            <a:r>
              <a:rPr lang="zh-TW" altLang="en-US" sz="1100" b="1" dirty="0"/>
              <a:t>及總處方量</a:t>
            </a:r>
          </a:p>
        </p:txBody>
      </p:sp>
      <p:sp>
        <p:nvSpPr>
          <p:cNvPr id="54" name="文字方塊 53">
            <a:extLst>
              <a:ext uri="{FF2B5EF4-FFF2-40B4-BE49-F238E27FC236}">
                <a16:creationId xmlns:a16="http://schemas.microsoft.com/office/drawing/2014/main" id="{7983587A-B86E-4A34-A020-5EEEC72213F6}"/>
              </a:ext>
            </a:extLst>
          </p:cNvPr>
          <p:cNvSpPr txBox="1"/>
          <p:nvPr/>
        </p:nvSpPr>
        <p:spPr>
          <a:xfrm>
            <a:off x="3185578" y="3955077"/>
            <a:ext cx="2944338" cy="261610"/>
          </a:xfrm>
          <a:prstGeom prst="rect">
            <a:avLst/>
          </a:prstGeom>
          <a:noFill/>
        </p:spPr>
        <p:txBody>
          <a:bodyPr wrap="square" rtlCol="0">
            <a:spAutoFit/>
          </a:bodyPr>
          <a:lstStyle>
            <a:defPPr>
              <a:defRPr lang="zh-TW"/>
            </a:defPPr>
            <a:lvl1pPr algn="ctr">
              <a:defRPr sz="1100" b="1"/>
            </a:lvl1pPr>
          </a:lstStyle>
          <a:p>
            <a:r>
              <a:rPr lang="en-US" altLang="zh-TW" dirty="0" err="1"/>
              <a:t>Mounjaro</a:t>
            </a:r>
            <a:r>
              <a:rPr lang="zh-TW" altLang="en-US" dirty="0"/>
              <a:t>美國處方簽市占</a:t>
            </a:r>
            <a:r>
              <a:rPr lang="en-US" altLang="zh-TW" dirty="0"/>
              <a:t>(%)</a:t>
            </a:r>
            <a:r>
              <a:rPr lang="zh-TW" altLang="en-US" dirty="0"/>
              <a:t>及總處方量</a:t>
            </a:r>
          </a:p>
        </p:txBody>
      </p:sp>
      <p:graphicFrame>
        <p:nvGraphicFramePr>
          <p:cNvPr id="62" name="表格 61">
            <a:extLst>
              <a:ext uri="{FF2B5EF4-FFF2-40B4-BE49-F238E27FC236}">
                <a16:creationId xmlns:a16="http://schemas.microsoft.com/office/drawing/2014/main" id="{B297F4DE-BA4B-455D-BA1D-572CC36BA6D5}"/>
              </a:ext>
            </a:extLst>
          </p:cNvPr>
          <p:cNvGraphicFramePr>
            <a:graphicFrameLocks noGrp="1"/>
          </p:cNvGraphicFramePr>
          <p:nvPr>
            <p:extLst>
              <p:ext uri="{D42A27DB-BD31-4B8C-83A1-F6EECF244321}">
                <p14:modId xmlns:p14="http://schemas.microsoft.com/office/powerpoint/2010/main" val="1445178069"/>
              </p:ext>
            </p:extLst>
          </p:nvPr>
        </p:nvGraphicFramePr>
        <p:xfrm>
          <a:off x="4588843" y="1216190"/>
          <a:ext cx="4142777" cy="2224734"/>
        </p:xfrm>
        <a:graphic>
          <a:graphicData uri="http://schemas.openxmlformats.org/drawingml/2006/table">
            <a:tbl>
              <a:tblPr/>
              <a:tblGrid>
                <a:gridCol w="525633">
                  <a:extLst>
                    <a:ext uri="{9D8B030D-6E8A-4147-A177-3AD203B41FA5}">
                      <a16:colId xmlns:a16="http://schemas.microsoft.com/office/drawing/2014/main" val="3291716021"/>
                    </a:ext>
                  </a:extLst>
                </a:gridCol>
                <a:gridCol w="1473748">
                  <a:extLst>
                    <a:ext uri="{9D8B030D-6E8A-4147-A177-3AD203B41FA5}">
                      <a16:colId xmlns:a16="http://schemas.microsoft.com/office/drawing/2014/main" val="2638594282"/>
                    </a:ext>
                  </a:extLst>
                </a:gridCol>
                <a:gridCol w="1366993">
                  <a:extLst>
                    <a:ext uri="{9D8B030D-6E8A-4147-A177-3AD203B41FA5}">
                      <a16:colId xmlns:a16="http://schemas.microsoft.com/office/drawing/2014/main" val="2158646373"/>
                    </a:ext>
                  </a:extLst>
                </a:gridCol>
                <a:gridCol w="776403">
                  <a:extLst>
                    <a:ext uri="{9D8B030D-6E8A-4147-A177-3AD203B41FA5}">
                      <a16:colId xmlns:a16="http://schemas.microsoft.com/office/drawing/2014/main" val="1635383130"/>
                    </a:ext>
                  </a:extLst>
                </a:gridCol>
              </a:tblGrid>
              <a:tr h="370789">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排名</a:t>
                      </a:r>
                    </a:p>
                  </a:txBody>
                  <a:tcPr marL="6350" marR="6350" marT="6350" marB="0" anchor="ctr">
                    <a:lnL>
                      <a:noFill/>
                    </a:lnL>
                    <a:lnR>
                      <a:noFill/>
                    </a:lnR>
                    <a:lnT>
                      <a:noFill/>
                    </a:lnT>
                    <a:lnB>
                      <a:noFill/>
                    </a:lnB>
                    <a:solidFill>
                      <a:schemeClr val="bg1"/>
                    </a:solidFill>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公司</a:t>
                      </a:r>
                    </a:p>
                  </a:txBody>
                  <a:tcPr marL="6350" marR="6350" marT="6350" marB="0" anchor="ctr">
                    <a:lnL>
                      <a:noFill/>
                    </a:lnL>
                    <a:lnR>
                      <a:noFill/>
                    </a:lnR>
                    <a:lnT>
                      <a:noFill/>
                    </a:lnT>
                    <a:lnB>
                      <a:noFill/>
                    </a:lnB>
                    <a:solidFill>
                      <a:schemeClr val="bg1"/>
                    </a:solidFill>
                  </a:tcPr>
                </a:tc>
                <a:tc>
                  <a:txBody>
                    <a:bodyPr/>
                    <a:lstStyle/>
                    <a:p>
                      <a:pPr algn="ctr" fontAlgn="ct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FY25</a:t>
                      </a: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營收</a:t>
                      </a:r>
                      <a:endPar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國家</a:t>
                      </a:r>
                    </a:p>
                  </a:txBody>
                  <a:tcPr marL="6350" marR="6350" marT="6350" marB="0" anchor="ctr">
                    <a:lnL>
                      <a:noFill/>
                    </a:lnL>
                    <a:lnR>
                      <a:noFill/>
                    </a:lnR>
                    <a:lnT>
                      <a:noFill/>
                    </a:lnT>
                    <a:lnB>
                      <a:noFill/>
                    </a:lnB>
                    <a:solidFill>
                      <a:schemeClr val="bg1"/>
                    </a:solidFill>
                  </a:tcPr>
                </a:tc>
                <a:extLst>
                  <a:ext uri="{0D108BD9-81ED-4DB2-BD59-A6C34878D82A}">
                    <a16:rowId xmlns:a16="http://schemas.microsoft.com/office/drawing/2014/main" val="4250816285"/>
                  </a:ext>
                </a:extLst>
              </a:tr>
              <a:tr h="370789">
                <a:tc>
                  <a:txBody>
                    <a:bodyPr/>
                    <a:lstStyle/>
                    <a:p>
                      <a:pPr algn="ctr" fontAlgn="ctr"/>
                      <a:r>
                        <a:rPr lang="en-US" altLang="zh-TW" sz="1200" b="1" i="0" u="none" strike="noStrike" dirty="0">
                          <a:solidFill>
                            <a:schemeClr val="bg2"/>
                          </a:solidFill>
                          <a:effectLst/>
                          <a:latin typeface="微軟正黑體" panose="020B0604030504040204" pitchFamily="34" charset="-120"/>
                          <a:ea typeface="微軟正黑體" panose="020B0604030504040204" pitchFamily="34" charset="-120"/>
                        </a:rPr>
                        <a:t>1</a:t>
                      </a:r>
                    </a:p>
                  </a:txBody>
                  <a:tcPr marL="6350" marR="6350" marT="6350" marB="0" anchor="ctr">
                    <a:lnL>
                      <a:noFill/>
                    </a:lnL>
                    <a:lnR>
                      <a:noFill/>
                    </a:lnR>
                    <a:lnT>
                      <a:noFill/>
                    </a:lnT>
                    <a:lnB>
                      <a:noFill/>
                    </a:lnB>
                    <a:solidFill>
                      <a:schemeClr val="bg1"/>
                    </a:solidFill>
                  </a:tcPr>
                </a:tc>
                <a:tc>
                  <a:txBody>
                    <a:bodyPr/>
                    <a:lstStyle/>
                    <a:p>
                      <a:pPr lvl="1" algn="r" fontAlgn="ctr"/>
                      <a:r>
                        <a:rPr lang="zh-TW" altLang="en-US" sz="1200" b="1" i="0" u="none" strike="noStrike" dirty="0">
                          <a:solidFill>
                            <a:schemeClr val="bg2"/>
                          </a:solidFill>
                          <a:effectLst/>
                          <a:latin typeface="微軟正黑體" panose="020B0604030504040204" pitchFamily="34" charset="-120"/>
                          <a:ea typeface="微軟正黑體" panose="020B0604030504040204" pitchFamily="34" charset="-120"/>
                        </a:rPr>
                        <a:t>禮來</a:t>
                      </a:r>
                    </a:p>
                  </a:txBody>
                  <a:tcPr marL="6350" marR="6350" marT="6350" marB="0" anchor="ctr">
                    <a:lnL>
                      <a:noFill/>
                    </a:lnL>
                    <a:lnR>
                      <a:noFill/>
                    </a:lnR>
                    <a:lnT>
                      <a:noFill/>
                    </a:lnT>
                    <a:lnB>
                      <a:noFill/>
                    </a:lnB>
                    <a:solidFill>
                      <a:schemeClr val="bg1"/>
                    </a:solidFill>
                  </a:tcPr>
                </a:tc>
                <a:tc>
                  <a:txBody>
                    <a:bodyPr/>
                    <a:lstStyle/>
                    <a:p>
                      <a:pPr algn="ctr" fontAlgn="ctr"/>
                      <a:r>
                        <a:rPr lang="en-US" altLang="zh-TW" sz="1200" b="1" i="0" u="none" strike="noStrike" dirty="0">
                          <a:solidFill>
                            <a:schemeClr val="bg2"/>
                          </a:solidFill>
                          <a:effectLst/>
                          <a:latin typeface="微軟正黑體" panose="020B0604030504040204" pitchFamily="34" charset="-120"/>
                          <a:ea typeface="微軟正黑體" panose="020B0604030504040204" pitchFamily="34" charset="-120"/>
                        </a:rPr>
                        <a:t>$65.2B</a:t>
                      </a:r>
                    </a:p>
                  </a:txBody>
                  <a:tcPr marL="6350" marR="6350" marT="6350" marB="0" anchor="ctr">
                    <a:lnL>
                      <a:noFill/>
                    </a:lnL>
                    <a:lnR>
                      <a:noFill/>
                    </a:lnR>
                    <a:lnT>
                      <a:noFill/>
                    </a:lnT>
                    <a:lnB>
                      <a:noFill/>
                    </a:lnB>
                    <a:solidFill>
                      <a:schemeClr val="bg1"/>
                    </a:solidFill>
                  </a:tcPr>
                </a:tc>
                <a:tc>
                  <a:txBody>
                    <a:bodyPr/>
                    <a:lstStyle/>
                    <a:p>
                      <a:pPr algn="ctr" fontAlgn="ctr"/>
                      <a:r>
                        <a:rPr lang="en-US" altLang="zh-TW" sz="1200" b="1" i="0" u="none" strike="noStrike" dirty="0">
                          <a:solidFill>
                            <a:schemeClr val="bg2"/>
                          </a:solidFill>
                          <a:effectLst/>
                          <a:latin typeface="微軟正黑體" panose="020B0604030504040204" pitchFamily="34" charset="-120"/>
                          <a:ea typeface="微軟正黑體" panose="020B0604030504040204" pitchFamily="34" charset="-120"/>
                        </a:rPr>
                        <a:t>USA</a:t>
                      </a:r>
                      <a:endParaRPr lang="zh-TW" altLang="en-US" sz="1200" b="1" i="0" u="none" strike="noStrike" dirty="0">
                        <a:solidFill>
                          <a:schemeClr val="bg2"/>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extLst>
                  <a:ext uri="{0D108BD9-81ED-4DB2-BD59-A6C34878D82A}">
                    <a16:rowId xmlns:a16="http://schemas.microsoft.com/office/drawing/2014/main" val="1182154982"/>
                  </a:ext>
                </a:extLst>
              </a:tr>
              <a:tr h="370789">
                <a:tc>
                  <a:txBody>
                    <a:bodyPr/>
                    <a:lstStyle/>
                    <a:p>
                      <a:pPr algn="ctr" fontAlgn="ctr"/>
                      <a:r>
                        <a:rPr lang="en-US" altLang="zh-TW"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rPr>
                        <a:t>2</a:t>
                      </a:r>
                    </a:p>
                  </a:txBody>
                  <a:tcPr marL="6350" marR="6350" marT="6350" marB="0" anchor="ctr">
                    <a:lnL>
                      <a:noFill/>
                    </a:lnL>
                    <a:lnR>
                      <a:noFill/>
                    </a:lnR>
                    <a:lnT>
                      <a:noFill/>
                    </a:lnT>
                    <a:lnB>
                      <a:noFill/>
                    </a:lnB>
                    <a:solidFill>
                      <a:schemeClr val="bg1">
                        <a:lumMod val="95000"/>
                      </a:schemeClr>
                    </a:solidFill>
                  </a:tcPr>
                </a:tc>
                <a:tc>
                  <a:txBody>
                    <a:bodyPr/>
                    <a:lstStyle/>
                    <a:p>
                      <a:pPr lvl="1" algn="r" fontAlgn="ctr"/>
                      <a:r>
                        <a:rPr lang="zh-TW" altLang="en-US"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默克</a:t>
                      </a:r>
                    </a:p>
                  </a:txBody>
                  <a:tcPr marL="6350" marR="6350" marT="6350" marB="0" anchor="ctr">
                    <a:lnL>
                      <a:noFill/>
                    </a:lnL>
                    <a:lnR>
                      <a:noFill/>
                    </a:lnR>
                    <a:lnT>
                      <a:noFill/>
                    </a:lnT>
                    <a:lnB>
                      <a:noFill/>
                    </a:lnB>
                    <a:solidFill>
                      <a:schemeClr val="bg1">
                        <a:lumMod val="95000"/>
                      </a:schemeClr>
                    </a:solidFill>
                  </a:tcPr>
                </a:tc>
                <a:tc>
                  <a:txBody>
                    <a:bodyPr/>
                    <a:lstStyle/>
                    <a:p>
                      <a:pPr algn="ctr" fontAlgn="ctr"/>
                      <a:r>
                        <a:rPr lang="en-US" altLang="zh-TW"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$65.0B</a:t>
                      </a:r>
                    </a:p>
                  </a:txBody>
                  <a:tcPr marL="6350" marR="6350" marT="6350" marB="0" anchor="ctr">
                    <a:lnL>
                      <a:noFill/>
                    </a:lnL>
                    <a:lnR>
                      <a:noFill/>
                    </a:lnR>
                    <a:lnT>
                      <a:noFill/>
                    </a:lnT>
                    <a:lnB>
                      <a:noFill/>
                    </a:lnB>
                    <a:solidFill>
                      <a:schemeClr val="bg1">
                        <a:lumMod val="95000"/>
                      </a:schemeClr>
                    </a:solidFill>
                  </a:tcPr>
                </a:tc>
                <a:tc>
                  <a:txBody>
                    <a:bodyPr/>
                    <a:lstStyle/>
                    <a:p>
                      <a:pPr algn="ctr" fontAlgn="ct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USA</a:t>
                      </a: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315664748"/>
                  </a:ext>
                </a:extLst>
              </a:tr>
              <a:tr h="370789">
                <a:tc>
                  <a:txBody>
                    <a:bodyPr/>
                    <a:lstStyle/>
                    <a:p>
                      <a:pPr algn="ctr" fontAlgn="ctr"/>
                      <a:r>
                        <a:rPr lang="en-US" altLang="zh-TW"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rPr>
                        <a:t>3</a:t>
                      </a:r>
                    </a:p>
                  </a:txBody>
                  <a:tcPr marL="6350" marR="6350" marT="6350" marB="0" anchor="ctr">
                    <a:lnL>
                      <a:noFill/>
                    </a:lnL>
                    <a:lnR>
                      <a:noFill/>
                    </a:lnR>
                    <a:lnT>
                      <a:noFill/>
                    </a:lnT>
                    <a:lnB>
                      <a:noFill/>
                    </a:lnB>
                    <a:solidFill>
                      <a:schemeClr val="bg1"/>
                    </a:solidFill>
                  </a:tcPr>
                </a:tc>
                <a:tc>
                  <a:txBody>
                    <a:bodyPr/>
                    <a:lstStyle/>
                    <a:p>
                      <a:pPr lvl="1" algn="r" fontAlgn="ctr"/>
                      <a:r>
                        <a:rPr lang="zh-TW" altLang="en-US"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輝瑞</a:t>
                      </a:r>
                    </a:p>
                  </a:txBody>
                  <a:tcPr marL="6350" marR="6350" marT="6350" marB="0" anchor="ctr">
                    <a:lnL>
                      <a:noFill/>
                    </a:lnL>
                    <a:lnR>
                      <a:noFill/>
                    </a:lnR>
                    <a:lnT>
                      <a:noFill/>
                    </a:lnT>
                    <a:lnB>
                      <a:noFill/>
                    </a:lnB>
                    <a:solidFill>
                      <a:schemeClr val="bg1"/>
                    </a:solidFill>
                  </a:tcPr>
                </a:tc>
                <a:tc>
                  <a:txBody>
                    <a:bodyPr/>
                    <a:lstStyle/>
                    <a:p>
                      <a:pPr algn="ctr" fontAlgn="ctr"/>
                      <a:r>
                        <a:rPr lang="en-US" altLang="zh-TW"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$62.6B</a:t>
                      </a:r>
                    </a:p>
                  </a:txBody>
                  <a:tcPr marL="6350" marR="6350" marT="6350" marB="0" anchor="ctr">
                    <a:lnL>
                      <a:noFill/>
                    </a:lnL>
                    <a:lnR>
                      <a:noFill/>
                    </a:lnR>
                    <a:lnT>
                      <a:noFill/>
                    </a:lnT>
                    <a:lnB>
                      <a:noFill/>
                    </a:lnB>
                    <a:solidFill>
                      <a:schemeClr val="bg1"/>
                    </a:solidFill>
                  </a:tcPr>
                </a:tc>
                <a:tc>
                  <a:txBody>
                    <a:bodyPr/>
                    <a:lstStyle/>
                    <a:p>
                      <a:pPr algn="ctr" fontAlgn="ctr"/>
                      <a:r>
                        <a:rPr kumimoji="0" lang="en-US" altLang="zh-TW" sz="1200" b="1" i="0" u="none" strike="noStrike" kern="1200" cap="none" spc="0" normalizeH="0" baseline="0" noProof="0">
                          <a:ln>
                            <a:noFill/>
                          </a:ln>
                          <a:solidFill>
                            <a:srgbClr val="000000"/>
                          </a:solidFill>
                          <a:effectLst/>
                          <a:uLnTx/>
                          <a:uFillTx/>
                          <a:latin typeface="微軟正黑體" panose="020B0604030504040204" pitchFamily="34" charset="-120"/>
                          <a:ea typeface="微軟正黑體" panose="020B0604030504040204" pitchFamily="34" charset="-120"/>
                          <a:cs typeface="+mn-cs"/>
                        </a:rPr>
                        <a:t>USA</a:t>
                      </a: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extLst>
                  <a:ext uri="{0D108BD9-81ED-4DB2-BD59-A6C34878D82A}">
                    <a16:rowId xmlns:a16="http://schemas.microsoft.com/office/drawing/2014/main" val="2255557687"/>
                  </a:ext>
                </a:extLst>
              </a:tr>
              <a:tr h="370789">
                <a:tc>
                  <a:txBody>
                    <a:bodyPr/>
                    <a:lstStyle/>
                    <a:p>
                      <a:pPr algn="ctr" fontAlgn="ctr"/>
                      <a:r>
                        <a:rPr lang="en-US" altLang="zh-TW"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rPr>
                        <a:t>4</a:t>
                      </a:r>
                    </a:p>
                  </a:txBody>
                  <a:tcPr marL="6350" marR="6350" marT="6350" marB="0" anchor="ctr">
                    <a:lnL>
                      <a:noFill/>
                    </a:lnL>
                    <a:lnR>
                      <a:noFill/>
                    </a:lnR>
                    <a:lnT>
                      <a:noFill/>
                    </a:lnT>
                    <a:lnB>
                      <a:noFill/>
                    </a:lnB>
                    <a:solidFill>
                      <a:schemeClr val="bg1">
                        <a:lumMod val="95000"/>
                      </a:schemeClr>
                    </a:solidFill>
                  </a:tcPr>
                </a:tc>
                <a:tc>
                  <a:txBody>
                    <a:bodyPr/>
                    <a:lstStyle/>
                    <a:p>
                      <a:pPr marL="342900" marR="0" lvl="1" indent="0" algn="r" defTabSz="685800" rtl="0" eaLnBrk="1" fontAlgn="ctr" latinLnBrk="0" hangingPunct="1">
                        <a:lnSpc>
                          <a:spcPct val="100000"/>
                        </a:lnSpc>
                        <a:spcBef>
                          <a:spcPts val="0"/>
                        </a:spcBef>
                        <a:spcAft>
                          <a:spcPts val="0"/>
                        </a:spcAft>
                        <a:buClrTx/>
                        <a:buSzTx/>
                        <a:buFontTx/>
                        <a:buNone/>
                        <a:tabLst/>
                        <a:defRPr/>
                      </a:pPr>
                      <a:r>
                        <a:rPr lang="zh-TW" altLang="en-US"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亞培</a:t>
                      </a:r>
                    </a:p>
                  </a:txBody>
                  <a:tcPr marL="6350" marR="6350" marT="6350" marB="0" anchor="ctr">
                    <a:lnL>
                      <a:noFill/>
                    </a:lnL>
                    <a:lnR>
                      <a:noFill/>
                    </a:lnR>
                    <a:lnT>
                      <a:noFill/>
                    </a:lnT>
                    <a:lnB>
                      <a:noFill/>
                    </a:lnB>
                    <a:solidFill>
                      <a:schemeClr val="bg1">
                        <a:lumMod val="95000"/>
                      </a:schemeClr>
                    </a:solidFill>
                  </a:tcPr>
                </a:tc>
                <a:tc>
                  <a:txBody>
                    <a:bodyPr/>
                    <a:lstStyle/>
                    <a:p>
                      <a:pPr algn="ctr" fontAlgn="ctr"/>
                      <a:r>
                        <a:rPr lang="en-US" altLang="zh-TW"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$61.2B</a:t>
                      </a:r>
                    </a:p>
                  </a:txBody>
                  <a:tcPr marL="6350" marR="6350" marT="6350" marB="0" anchor="ctr">
                    <a:lnL>
                      <a:noFill/>
                    </a:lnL>
                    <a:lnR>
                      <a:noFill/>
                    </a:lnR>
                    <a:lnT>
                      <a:noFill/>
                    </a:lnT>
                    <a:lnB>
                      <a:noFill/>
                    </a:lnB>
                    <a:solidFill>
                      <a:schemeClr val="bg1">
                        <a:lumMod val="95000"/>
                      </a:schemeClr>
                    </a:solidFill>
                  </a:tcPr>
                </a:tc>
                <a:tc>
                  <a:txBody>
                    <a:bodyPr/>
                    <a:lstStyle/>
                    <a:p>
                      <a:pPr algn="ctr" fontAlgn="ctr"/>
                      <a:r>
                        <a:rPr kumimoji="0" lang="en-US" altLang="zh-TW" sz="1200" b="1" i="0" u="none" strike="noStrike" kern="1200" cap="none" spc="0" normalizeH="0" baseline="0" noProof="0">
                          <a:ln>
                            <a:noFill/>
                          </a:ln>
                          <a:solidFill>
                            <a:srgbClr val="000000"/>
                          </a:solidFill>
                          <a:effectLst/>
                          <a:uLnTx/>
                          <a:uFillTx/>
                          <a:latin typeface="微軟正黑體" panose="020B0604030504040204" pitchFamily="34" charset="-120"/>
                          <a:ea typeface="微軟正黑體" panose="020B0604030504040204" pitchFamily="34" charset="-120"/>
                          <a:cs typeface="+mn-cs"/>
                        </a:rPr>
                        <a:t>USA</a:t>
                      </a: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2375636706"/>
                  </a:ext>
                </a:extLst>
              </a:tr>
              <a:tr h="370789">
                <a:tc>
                  <a:txBody>
                    <a:bodyPr/>
                    <a:lstStyle/>
                    <a:p>
                      <a:pPr algn="ctr" fontAlgn="ctr"/>
                      <a:r>
                        <a:rPr lang="en-US" altLang="zh-TW"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rPr>
                        <a:t>5</a:t>
                      </a:r>
                    </a:p>
                  </a:txBody>
                  <a:tcPr marL="6350" marR="6350" marT="6350" marB="0" anchor="ctr">
                    <a:lnL>
                      <a:noFill/>
                    </a:lnL>
                    <a:lnR>
                      <a:noFill/>
                    </a:lnR>
                    <a:lnT>
                      <a:noFill/>
                    </a:lnT>
                    <a:lnB>
                      <a:noFill/>
                    </a:lnB>
                    <a:solidFill>
                      <a:schemeClr val="bg1"/>
                    </a:solidFill>
                  </a:tcPr>
                </a:tc>
                <a:tc>
                  <a:txBody>
                    <a:bodyPr/>
                    <a:lstStyle/>
                    <a:p>
                      <a:pPr marL="342900" marR="0" lvl="1" indent="0" algn="r" defTabSz="685800" rtl="0" eaLnBrk="1" fontAlgn="ctr" latinLnBrk="0" hangingPunct="1">
                        <a:lnSpc>
                          <a:spcPct val="100000"/>
                        </a:lnSpc>
                        <a:spcBef>
                          <a:spcPts val="0"/>
                        </a:spcBef>
                        <a:spcAft>
                          <a:spcPts val="0"/>
                        </a:spcAft>
                        <a:buClrTx/>
                        <a:buSzTx/>
                        <a:buFontTx/>
                        <a:buNone/>
                        <a:tabLst/>
                        <a:defRPr/>
                      </a:pPr>
                      <a:r>
                        <a:rPr lang="zh-TW" altLang="en-US"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嬌生</a:t>
                      </a:r>
                    </a:p>
                  </a:txBody>
                  <a:tcPr marL="6350" marR="6350" marT="6350" marB="0" anchor="ctr">
                    <a:lnL>
                      <a:noFill/>
                    </a:lnL>
                    <a:lnR>
                      <a:noFill/>
                    </a:lnR>
                    <a:lnT>
                      <a:noFill/>
                    </a:lnT>
                    <a:lnB>
                      <a:noFill/>
                    </a:lnB>
                    <a:solidFill>
                      <a:schemeClr val="bg1"/>
                    </a:solidFill>
                  </a:tcPr>
                </a:tc>
                <a:tc>
                  <a:txBody>
                    <a:bodyPr/>
                    <a:lstStyle/>
                    <a:p>
                      <a:pPr algn="ctr" fontAlgn="ctr"/>
                      <a:r>
                        <a:rPr lang="en-US" altLang="zh-TW" sz="1200" b="0" i="0" u="none" strike="noStrike" dirty="0">
                          <a:solidFill>
                            <a:schemeClr val="tx1">
                              <a:lumMod val="50000"/>
                              <a:lumOff val="50000"/>
                            </a:schemeClr>
                          </a:solidFill>
                          <a:effectLst/>
                          <a:latin typeface="微軟正黑體" panose="020B0604030504040204" pitchFamily="34" charset="-120"/>
                          <a:ea typeface="微軟正黑體" panose="020B0604030504040204" pitchFamily="34" charset="-120"/>
                        </a:rPr>
                        <a:t>$60.4B</a:t>
                      </a:r>
                    </a:p>
                  </a:txBody>
                  <a:tcPr marL="6350" marR="6350" marT="6350" marB="0" anchor="ctr">
                    <a:lnL>
                      <a:noFill/>
                    </a:lnL>
                    <a:lnR>
                      <a:noFill/>
                    </a:lnR>
                    <a:lnT>
                      <a:noFill/>
                    </a:lnT>
                    <a:lnB>
                      <a:noFill/>
                    </a:lnB>
                    <a:solidFill>
                      <a:schemeClr val="bg1"/>
                    </a:solidFill>
                  </a:tcPr>
                </a:tc>
                <a:tc>
                  <a:txBody>
                    <a:bodyPr/>
                    <a:lstStyle/>
                    <a:p>
                      <a:pPr algn="ctr" fontAlgn="ctr"/>
                      <a:r>
                        <a:rPr kumimoji="0" lang="en-US" altLang="zh-TW" sz="1200" b="1"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mn-cs"/>
                        </a:rPr>
                        <a:t>USA</a:t>
                      </a:r>
                      <a:endParaRPr lang="zh-TW" altLang="en-US" sz="1200" b="0" i="0" u="none" strike="noStrike" dirty="0">
                        <a:solidFill>
                          <a:schemeClr val="tx1">
                            <a:lumMod val="75000"/>
                            <a:lumOff val="25000"/>
                          </a:schemeClr>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extLst>
                  <a:ext uri="{0D108BD9-81ED-4DB2-BD59-A6C34878D82A}">
                    <a16:rowId xmlns:a16="http://schemas.microsoft.com/office/drawing/2014/main" val="3088990159"/>
                  </a:ext>
                </a:extLst>
              </a:tr>
            </a:tbl>
          </a:graphicData>
        </a:graphic>
      </p:graphicFrame>
      <p:sp>
        <p:nvSpPr>
          <p:cNvPr id="28" name="圓角矩形 29">
            <a:extLst>
              <a:ext uri="{FF2B5EF4-FFF2-40B4-BE49-F238E27FC236}">
                <a16:creationId xmlns:a16="http://schemas.microsoft.com/office/drawing/2014/main" id="{6373E1F3-4EED-4FCA-BB27-DF4DDB91702B}"/>
              </a:ext>
            </a:extLst>
          </p:cNvPr>
          <p:cNvSpPr/>
          <p:nvPr/>
        </p:nvSpPr>
        <p:spPr>
          <a:xfrm>
            <a:off x="4499992" y="875705"/>
            <a:ext cx="4320481"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solidFill>
                  <a:schemeClr val="bg1"/>
                </a:solidFill>
                <a:latin typeface="微軟正黑體" panose="020B0604030504040204" pitchFamily="34" charset="-120"/>
                <a:ea typeface="微軟正黑體" panose="020B0604030504040204" pitchFamily="34" charset="-120"/>
              </a:rPr>
              <a:t>全球製藥企業營收</a:t>
            </a:r>
            <a:r>
              <a:rPr lang="en-US" altLang="zh-TW" sz="1100" b="1" dirty="0">
                <a:solidFill>
                  <a:schemeClr val="bg1"/>
                </a:solidFill>
                <a:latin typeface="微軟正黑體" panose="020B0604030504040204" pitchFamily="34" charset="-120"/>
                <a:ea typeface="微軟正黑體" panose="020B0604030504040204" pitchFamily="34" charset="-120"/>
              </a:rPr>
              <a:t>(</a:t>
            </a:r>
            <a:r>
              <a:rPr lang="zh-TW" altLang="en-US" sz="1100" b="1" dirty="0">
                <a:solidFill>
                  <a:schemeClr val="bg1"/>
                </a:solidFill>
                <a:latin typeface="微軟正黑體" panose="020B0604030504040204" pitchFamily="34" charset="-120"/>
                <a:ea typeface="微軟正黑體" panose="020B0604030504040204" pitchFamily="34" charset="-120"/>
              </a:rPr>
              <a:t>藥品收入</a:t>
            </a:r>
            <a:r>
              <a:rPr lang="en-US" altLang="zh-TW" sz="1100" b="1" dirty="0">
                <a:solidFill>
                  <a:schemeClr val="bg1"/>
                </a:solidFill>
                <a:latin typeface="微軟正黑體" panose="020B0604030504040204" pitchFamily="34" charset="-120"/>
                <a:ea typeface="微軟正黑體" panose="020B0604030504040204" pitchFamily="34" charset="-120"/>
              </a:rPr>
              <a:t>)</a:t>
            </a:r>
            <a:r>
              <a:rPr lang="zh-TW" altLang="en-US" sz="1400" b="1" dirty="0">
                <a:solidFill>
                  <a:schemeClr val="bg1"/>
                </a:solidFill>
                <a:latin typeface="微軟正黑體" panose="020B0604030504040204" pitchFamily="34" charset="-120"/>
                <a:ea typeface="微軟正黑體" panose="020B0604030504040204" pitchFamily="34" charset="-120"/>
              </a:rPr>
              <a:t>之首</a:t>
            </a:r>
            <a:endParaRPr lang="en-US" altLang="zh-TW" sz="1200" dirty="0">
              <a:solidFill>
                <a:schemeClr val="bg1"/>
              </a:solidFill>
              <a:latin typeface="微軟正黑體" panose="020B0604030504040204" pitchFamily="34" charset="-120"/>
              <a:ea typeface="微軟正黑體" panose="020B0604030504040204" pitchFamily="34" charset="-120"/>
            </a:endParaRPr>
          </a:p>
        </p:txBody>
      </p:sp>
      <p:pic>
        <p:nvPicPr>
          <p:cNvPr id="38" name="圖片 37">
            <a:extLst>
              <a:ext uri="{FF2B5EF4-FFF2-40B4-BE49-F238E27FC236}">
                <a16:creationId xmlns:a16="http://schemas.microsoft.com/office/drawing/2014/main" id="{77DF81C7-EE9C-4942-BBE4-067AC7AC3C21}"/>
              </a:ext>
            </a:extLst>
          </p:cNvPr>
          <p:cNvPicPr>
            <a:picLocks noChangeAspect="1"/>
          </p:cNvPicPr>
          <p:nvPr/>
        </p:nvPicPr>
        <p:blipFill>
          <a:blip r:embed="rId4"/>
          <a:stretch>
            <a:fillRect/>
          </a:stretch>
        </p:blipFill>
        <p:spPr>
          <a:xfrm>
            <a:off x="5360181" y="1624857"/>
            <a:ext cx="536966" cy="293183"/>
          </a:xfrm>
          <a:prstGeom prst="rect">
            <a:avLst/>
          </a:prstGeom>
        </p:spPr>
      </p:pic>
      <p:pic>
        <p:nvPicPr>
          <p:cNvPr id="39" name="圖片 38">
            <a:extLst>
              <a:ext uri="{FF2B5EF4-FFF2-40B4-BE49-F238E27FC236}">
                <a16:creationId xmlns:a16="http://schemas.microsoft.com/office/drawing/2014/main" id="{1B574D9F-11A7-4DE5-B530-C1877B8989AC}"/>
              </a:ext>
            </a:extLst>
          </p:cNvPr>
          <p:cNvPicPr>
            <a:picLocks noChangeAspect="1"/>
          </p:cNvPicPr>
          <p:nvPr/>
        </p:nvPicPr>
        <p:blipFill>
          <a:blip r:embed="rId10"/>
          <a:stretch>
            <a:fillRect/>
          </a:stretch>
        </p:blipFill>
        <p:spPr>
          <a:xfrm>
            <a:off x="5208047" y="3195100"/>
            <a:ext cx="1043568" cy="188712"/>
          </a:xfrm>
          <a:prstGeom prst="rect">
            <a:avLst/>
          </a:prstGeom>
        </p:spPr>
      </p:pic>
      <p:pic>
        <p:nvPicPr>
          <p:cNvPr id="9" name="圖片 8">
            <a:extLst>
              <a:ext uri="{FF2B5EF4-FFF2-40B4-BE49-F238E27FC236}">
                <a16:creationId xmlns:a16="http://schemas.microsoft.com/office/drawing/2014/main" id="{E6B090F8-1443-4C6A-8CD3-E90876026A08}"/>
              </a:ext>
            </a:extLst>
          </p:cNvPr>
          <p:cNvPicPr>
            <a:picLocks noChangeAspect="1"/>
          </p:cNvPicPr>
          <p:nvPr/>
        </p:nvPicPr>
        <p:blipFill>
          <a:blip r:embed="rId22"/>
          <a:stretch>
            <a:fillRect/>
          </a:stretch>
        </p:blipFill>
        <p:spPr>
          <a:xfrm>
            <a:off x="5092709" y="2651172"/>
            <a:ext cx="1028571" cy="540000"/>
          </a:xfrm>
          <a:prstGeom prst="rect">
            <a:avLst/>
          </a:prstGeom>
        </p:spPr>
      </p:pic>
      <p:pic>
        <p:nvPicPr>
          <p:cNvPr id="10" name="圖片 9">
            <a:extLst>
              <a:ext uri="{FF2B5EF4-FFF2-40B4-BE49-F238E27FC236}">
                <a16:creationId xmlns:a16="http://schemas.microsoft.com/office/drawing/2014/main" id="{4DF1CE12-9404-45F2-AD20-6A92C8DF3A23}"/>
              </a:ext>
            </a:extLst>
          </p:cNvPr>
          <p:cNvPicPr>
            <a:picLocks noChangeAspect="1"/>
          </p:cNvPicPr>
          <p:nvPr/>
        </p:nvPicPr>
        <p:blipFill>
          <a:blip r:embed="rId23"/>
          <a:stretch>
            <a:fillRect/>
          </a:stretch>
        </p:blipFill>
        <p:spPr>
          <a:xfrm>
            <a:off x="5220152" y="2376604"/>
            <a:ext cx="720000" cy="297000"/>
          </a:xfrm>
          <a:prstGeom prst="rect">
            <a:avLst/>
          </a:prstGeom>
        </p:spPr>
      </p:pic>
      <p:pic>
        <p:nvPicPr>
          <p:cNvPr id="11" name="圖片 10">
            <a:extLst>
              <a:ext uri="{FF2B5EF4-FFF2-40B4-BE49-F238E27FC236}">
                <a16:creationId xmlns:a16="http://schemas.microsoft.com/office/drawing/2014/main" id="{5DCB86C9-8AEE-4D92-B357-D1BE116AA14C}"/>
              </a:ext>
            </a:extLst>
          </p:cNvPr>
          <p:cNvPicPr>
            <a:picLocks noChangeAspect="1"/>
          </p:cNvPicPr>
          <p:nvPr/>
        </p:nvPicPr>
        <p:blipFill>
          <a:blip r:embed="rId24"/>
          <a:stretch>
            <a:fillRect/>
          </a:stretch>
        </p:blipFill>
        <p:spPr>
          <a:xfrm>
            <a:off x="5205673" y="2027374"/>
            <a:ext cx="792000" cy="236532"/>
          </a:xfrm>
          <a:prstGeom prst="rect">
            <a:avLst/>
          </a:prstGeom>
        </p:spPr>
      </p:pic>
    </p:spTree>
    <p:extLst>
      <p:ext uri="{BB962C8B-B14F-4D97-AF65-F5344CB8AC3E}">
        <p14:creationId xmlns:p14="http://schemas.microsoft.com/office/powerpoint/2010/main" val="2936497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BBAF2F3-4DAD-C14A-B48B-E702BC7A59E7}"/>
              </a:ext>
            </a:extLst>
          </p:cNvPr>
          <p:cNvSpPr>
            <a:spLocks noGrp="1"/>
          </p:cNvSpPr>
          <p:nvPr>
            <p:ph type="sldNum" sz="quarter" idx="12"/>
          </p:nvPr>
        </p:nvSpPr>
        <p:spPr/>
        <p:txBody>
          <a:bodyPr/>
          <a:lstStyle/>
          <a:p>
            <a:fld id="{415482FC-CF5F-466A-B8B6-BC3733E92023}" type="slidenum">
              <a:rPr lang="zh-TW" altLang="en-US" smtClean="0">
                <a:latin typeface="微軟正黑體" panose="020B0604030504040204" pitchFamily="34" charset="-120"/>
                <a:ea typeface="微軟正黑體" panose="020B0604030504040204" pitchFamily="34" charset="-120"/>
              </a:rPr>
              <a:pPr/>
              <a:t>4</a:t>
            </a:fld>
            <a:endParaRPr lang="zh-TW" altLang="en-US" dirty="0">
              <a:latin typeface="微軟正黑體" panose="020B0604030504040204" pitchFamily="34" charset="-120"/>
              <a:ea typeface="微軟正黑體" panose="020B0604030504040204" pitchFamily="34" charset="-120"/>
            </a:endParaRPr>
          </a:p>
        </p:txBody>
      </p:sp>
      <p:sp>
        <p:nvSpPr>
          <p:cNvPr id="17" name="矩形 16">
            <a:extLst>
              <a:ext uri="{FF2B5EF4-FFF2-40B4-BE49-F238E27FC236}">
                <a16:creationId xmlns:a16="http://schemas.microsoft.com/office/drawing/2014/main" id="{C9AE7F28-172F-80F7-6EC1-CA33FA8B67ED}"/>
              </a:ext>
            </a:extLst>
          </p:cNvPr>
          <p:cNvSpPr/>
          <p:nvPr/>
        </p:nvSpPr>
        <p:spPr>
          <a:xfrm>
            <a:off x="229945" y="1079500"/>
            <a:ext cx="4167064" cy="522982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id="{D71BE2D6-688C-B7EC-4A5A-09EEC5309FF9}"/>
              </a:ext>
            </a:extLst>
          </p:cNvPr>
          <p:cNvSpPr txBox="1"/>
          <p:nvPr/>
        </p:nvSpPr>
        <p:spPr>
          <a:xfrm>
            <a:off x="363781" y="869228"/>
            <a:ext cx="1224136" cy="340519"/>
          </a:xfrm>
          <a:prstGeom prst="roundRect">
            <a:avLst/>
          </a:prstGeom>
          <a:solidFill>
            <a:srgbClr val="C00000"/>
          </a:solidFill>
        </p:spPr>
        <p:txBody>
          <a:bodyPr wrap="square" rtlCol="0">
            <a:spAutoFit/>
          </a:bodyPr>
          <a:lstStyle/>
          <a:p>
            <a:pPr algn="ctr"/>
            <a:r>
              <a:rPr lang="zh-TW" altLang="en-US" sz="1400" b="1" dirty="0">
                <a:solidFill>
                  <a:schemeClr val="bg1"/>
                </a:solidFill>
                <a:latin typeface="微軟正黑體" panose="020B0604030504040204" pitchFamily="34" charset="-120"/>
                <a:ea typeface="微軟正黑體" panose="020B0604030504040204" pitchFamily="34" charset="-120"/>
              </a:rPr>
              <a:t>年度財報</a:t>
            </a:r>
          </a:p>
        </p:txBody>
      </p:sp>
      <p:sp>
        <p:nvSpPr>
          <p:cNvPr id="20" name="文字方塊 19">
            <a:extLst>
              <a:ext uri="{FF2B5EF4-FFF2-40B4-BE49-F238E27FC236}">
                <a16:creationId xmlns:a16="http://schemas.microsoft.com/office/drawing/2014/main" id="{8440320F-8743-0A0B-8068-3CD842C51C3E}"/>
              </a:ext>
            </a:extLst>
          </p:cNvPr>
          <p:cNvSpPr txBox="1"/>
          <p:nvPr/>
        </p:nvSpPr>
        <p:spPr>
          <a:xfrm>
            <a:off x="229944" y="1188244"/>
            <a:ext cx="4167066" cy="2609112"/>
          </a:xfrm>
          <a:prstGeom prst="rect">
            <a:avLst/>
          </a:prstGeom>
          <a:noFill/>
        </p:spPr>
        <p:txBody>
          <a:bodyPr wrap="square" rtlCol="0">
            <a:spAutoFit/>
          </a:bodyPr>
          <a:lstStyle/>
          <a:p>
            <a:pPr algn="just" hangingPunct="0">
              <a:lnSpc>
                <a:spcPts val="1800"/>
              </a:lnSpc>
            </a:pPr>
            <a:r>
              <a:rPr lang="en-US" altLang="zh-TW" sz="1200" b="1" dirty="0">
                <a:solidFill>
                  <a:srgbClr val="FF0000"/>
                </a:solidFill>
                <a:latin typeface="微軟正黑體" panose="020B0604030504040204" pitchFamily="34" charset="-120"/>
                <a:ea typeface="微軟正黑體" panose="020B0604030504040204" pitchFamily="34" charset="-120"/>
              </a:rPr>
              <a:t>2025</a:t>
            </a:r>
            <a:r>
              <a:rPr lang="zh-TW" altLang="en-US" sz="1200" b="1" dirty="0">
                <a:solidFill>
                  <a:srgbClr val="FF0000"/>
                </a:solidFill>
                <a:latin typeface="微軟正黑體" panose="020B0604030504040204" pitchFamily="34" charset="-120"/>
                <a:ea typeface="微軟正黑體" panose="020B0604030504040204" pitchFamily="34" charset="-120"/>
              </a:rPr>
              <a:t>年營收年增</a:t>
            </a:r>
            <a:r>
              <a:rPr lang="en-US" altLang="zh-TW" sz="1200" b="1" dirty="0">
                <a:solidFill>
                  <a:srgbClr val="FF0000"/>
                </a:solidFill>
                <a:latin typeface="微軟正黑體" panose="020B0604030504040204" pitchFamily="34" charset="-120"/>
                <a:ea typeface="微軟正黑體" panose="020B0604030504040204" pitchFamily="34" charset="-120"/>
              </a:rPr>
              <a:t>45%</a:t>
            </a:r>
            <a:r>
              <a:rPr lang="zh-TW" altLang="en-US" sz="1200" b="1" dirty="0">
                <a:solidFill>
                  <a:srgbClr val="FF0000"/>
                </a:solidFill>
                <a:latin typeface="微軟正黑體" panose="020B0604030504040204" pitchFamily="34" charset="-120"/>
                <a:ea typeface="微軟正黑體" panose="020B0604030504040204" pitchFamily="34" charset="-120"/>
              </a:rPr>
              <a:t>至</a:t>
            </a:r>
            <a:r>
              <a:rPr lang="en-US" altLang="zh-TW" sz="1200" b="1" dirty="0">
                <a:solidFill>
                  <a:srgbClr val="FF0000"/>
                </a:solidFill>
                <a:latin typeface="微軟正黑體" panose="020B0604030504040204" pitchFamily="34" charset="-120"/>
                <a:ea typeface="微軟正黑體" panose="020B0604030504040204" pitchFamily="34" charset="-120"/>
              </a:rPr>
              <a:t>652</a:t>
            </a:r>
            <a:r>
              <a:rPr lang="zh-TW" altLang="en-US" sz="1200" b="1" dirty="0">
                <a:solidFill>
                  <a:srgbClr val="FF0000"/>
                </a:solidFill>
                <a:latin typeface="微軟正黑體" panose="020B0604030504040204" pitchFamily="34" charset="-120"/>
                <a:ea typeface="微軟正黑體" panose="020B0604030504040204" pitchFamily="34" charset="-120"/>
              </a:rPr>
              <a:t>億美元</a:t>
            </a:r>
            <a:r>
              <a:rPr lang="zh-TW" altLang="en-US" sz="1200" dirty="0">
                <a:latin typeface="微軟正黑體" panose="020B0604030504040204" pitchFamily="34" charset="-120"/>
                <a:ea typeface="微軟正黑體" panose="020B0604030504040204" pitchFamily="34" charset="-120"/>
              </a:rPr>
              <a:t>，反映</a:t>
            </a: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以糖尿病藥物</a:t>
            </a:r>
            <a:r>
              <a:rPr lang="en-US" altLang="zh-TW" sz="1200" dirty="0" err="1">
                <a:latin typeface="微軟正黑體" panose="020B0604030504040204" pitchFamily="34" charset="-120"/>
                <a:ea typeface="微軟正黑體" panose="020B0604030504040204" pitchFamily="34" charset="-120"/>
              </a:rPr>
              <a:t>Mounjaro</a:t>
            </a:r>
            <a:r>
              <a:rPr lang="zh-TW" altLang="en-US" sz="1200" dirty="0">
                <a:latin typeface="微軟正黑體" panose="020B0604030504040204" pitchFamily="34" charset="-120"/>
                <a:ea typeface="微軟正黑體" panose="020B0604030504040204" pitchFamily="34" charset="-120"/>
              </a:rPr>
              <a:t>及減肥藥</a:t>
            </a:r>
            <a:r>
              <a:rPr lang="en-US" altLang="zh-TW" sz="1200" dirty="0" err="1">
                <a:latin typeface="微軟正黑體" panose="020B0604030504040204" pitchFamily="34" charset="-120"/>
                <a:ea typeface="微軟正黑體" panose="020B0604030504040204" pitchFamily="34" charset="-120"/>
              </a:rPr>
              <a:t>Zepbound</a:t>
            </a:r>
            <a:r>
              <a:rPr lang="zh-TW" altLang="en-US" sz="1200" dirty="0">
                <a:latin typeface="微軟正黑體" panose="020B0604030504040204" pitchFamily="34" charset="-120"/>
                <a:ea typeface="微軟正黑體" panose="020B0604030504040204" pitchFamily="34" charset="-120"/>
              </a:rPr>
              <a:t>為核心的</a:t>
            </a:r>
            <a:r>
              <a:rPr lang="zh-TW" altLang="en-US" sz="1200" spc="-1" dirty="0">
                <a:latin typeface="微軟正黑體" panose="020B0604030504040204" pitchFamily="34" charset="-120"/>
                <a:ea typeface="微軟正黑體" panose="020B0604030504040204" pitchFamily="34" charset="-120"/>
              </a:rPr>
              <a:t>腸泌素產品組合需求強勁，帶動整體銷量增長</a:t>
            </a:r>
            <a:r>
              <a:rPr lang="en-US" altLang="zh-TW" sz="1200" spc="-1" dirty="0">
                <a:latin typeface="微軟正黑體" panose="020B0604030504040204" pitchFamily="34" charset="-120"/>
                <a:ea typeface="微軟正黑體" panose="020B0604030504040204" pitchFamily="34" charset="-120"/>
              </a:rPr>
              <a:t>50%</a:t>
            </a:r>
            <a:r>
              <a:rPr lang="zh-TW" altLang="en-US" sz="1200" spc="-1"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惟</a:t>
            </a: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較低的售價抵銷部份營收成長。</a:t>
            </a:r>
            <a:endParaRPr lang="en-US" altLang="zh-TW" sz="1200" dirty="0">
              <a:latin typeface="微軟正黑體" panose="020B0604030504040204" pitchFamily="34" charset="-120"/>
              <a:ea typeface="微軟正黑體" panose="020B0604030504040204" pitchFamily="34" charset="-120"/>
            </a:endParaRPr>
          </a:p>
          <a:p>
            <a:pPr algn="just" hangingPunct="0">
              <a:lnSpc>
                <a:spcPts val="1800"/>
              </a:lnSpc>
            </a:pPr>
            <a:r>
              <a:rPr lang="zh-TW" altLang="en-US" sz="1200" b="1" dirty="0">
                <a:solidFill>
                  <a:srgbClr val="FF0000"/>
                </a:solidFill>
                <a:latin typeface="微軟正黑體" panose="020B0604030504040204" pitchFamily="34" charset="-120"/>
                <a:ea typeface="微軟正黑體" panose="020B0604030504040204" pitchFamily="34" charset="-120"/>
              </a:rPr>
              <a:t>普通股可分配淨利成長</a:t>
            </a:r>
            <a:r>
              <a:rPr lang="en-US" altLang="zh-TW" sz="1200" b="1" dirty="0">
                <a:solidFill>
                  <a:srgbClr val="FF0000"/>
                </a:solidFill>
                <a:latin typeface="微軟正黑體" panose="020B0604030504040204" pitchFamily="34" charset="-120"/>
                <a:ea typeface="微軟正黑體" panose="020B0604030504040204" pitchFamily="34" charset="-120"/>
              </a:rPr>
              <a:t>95%</a:t>
            </a:r>
            <a:r>
              <a:rPr lang="zh-TW" altLang="en-US" sz="1200" b="1" dirty="0">
                <a:solidFill>
                  <a:srgbClr val="FF0000"/>
                </a:solidFill>
                <a:latin typeface="微軟正黑體" panose="020B0604030504040204" pitchFamily="34" charset="-120"/>
                <a:ea typeface="微軟正黑體" panose="020B0604030504040204" pitchFamily="34" charset="-120"/>
              </a:rPr>
              <a:t>至</a:t>
            </a:r>
            <a:r>
              <a:rPr lang="en-US" altLang="zh-TW" sz="1200" b="1" dirty="0">
                <a:solidFill>
                  <a:srgbClr val="FF0000"/>
                </a:solidFill>
                <a:latin typeface="微軟正黑體" panose="020B0604030504040204" pitchFamily="34" charset="-120"/>
                <a:ea typeface="微軟正黑體" panose="020B0604030504040204" pitchFamily="34" charset="-120"/>
              </a:rPr>
              <a:t>206</a:t>
            </a:r>
            <a:r>
              <a:rPr lang="zh-TW" altLang="en-US" sz="1200" b="1" dirty="0">
                <a:solidFill>
                  <a:srgbClr val="FF0000"/>
                </a:solidFill>
                <a:latin typeface="微軟正黑體" panose="020B0604030504040204" pitchFamily="34" charset="-120"/>
                <a:ea typeface="微軟正黑體" panose="020B0604030504040204" pitchFamily="34" charset="-120"/>
              </a:rPr>
              <a:t>億美元</a:t>
            </a:r>
            <a:r>
              <a:rPr lang="zh-TW" altLang="en-US" sz="1200" dirty="0">
                <a:latin typeface="微軟正黑體" panose="020B0604030504040204" pitchFamily="34" charset="-120"/>
                <a:ea typeface="微軟正黑體" panose="020B0604030504040204" pitchFamily="34" charset="-120"/>
              </a:rPr>
              <a:t>，主要反映</a:t>
            </a: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有利的產品組合及生產成本的改善帶動毛利率提升</a:t>
            </a:r>
            <a:r>
              <a:rPr lang="en-US" altLang="zh-TW" sz="1200" dirty="0">
                <a:latin typeface="微軟正黑體" panose="020B0604030504040204" pitchFamily="34" charset="-120"/>
                <a:ea typeface="微軟正黑體" panose="020B0604030504040204" pitchFamily="34" charset="-120"/>
              </a:rPr>
              <a:t>1.7</a:t>
            </a:r>
            <a:r>
              <a:rPr lang="zh-TW" altLang="en-US" sz="1200" dirty="0">
                <a:latin typeface="微軟正黑體" panose="020B0604030504040204" pitchFamily="34" charset="-120"/>
                <a:ea typeface="微軟正黑體" panose="020B0604030504040204" pitchFamily="34" charset="-120"/>
              </a:rPr>
              <a:t>個百分點至</a:t>
            </a:r>
            <a:r>
              <a:rPr lang="en-US" altLang="zh-TW" sz="1200" dirty="0">
                <a:latin typeface="微軟正黑體" panose="020B0604030504040204" pitchFamily="34" charset="-120"/>
                <a:ea typeface="微軟正黑體" panose="020B0604030504040204" pitchFamily="34" charset="-120"/>
              </a:rPr>
              <a:t>83%</a:t>
            </a:r>
            <a:r>
              <a:rPr lang="zh-TW" altLang="en-US"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2)</a:t>
            </a:r>
            <a:r>
              <a:rPr lang="zh-TW" altLang="en-US" sz="1200" spc="-1" dirty="0">
                <a:latin typeface="微軟正黑體" panose="020B0604030504040204" pitchFamily="34" charset="-120"/>
                <a:ea typeface="微軟正黑體" panose="020B0604030504040204" pitchFamily="34" charset="-120"/>
              </a:rPr>
              <a:t>研發及管銷費用僅年增</a:t>
            </a:r>
            <a:r>
              <a:rPr lang="en-US" altLang="zh-TW" sz="1200" spc="-1" dirty="0">
                <a:latin typeface="微軟正黑體" panose="020B0604030504040204" pitchFamily="34" charset="-120"/>
                <a:ea typeface="微軟正黑體" panose="020B0604030504040204" pitchFamily="34" charset="-120"/>
              </a:rPr>
              <a:t>21%</a:t>
            </a:r>
            <a:r>
              <a:rPr lang="zh-TW" altLang="en-US" sz="1200" spc="-1" dirty="0">
                <a:latin typeface="微軟正黑體" panose="020B0604030504040204" pitchFamily="34" charset="-120"/>
                <a:ea typeface="微軟正黑體" panose="020B0604030504040204" pitchFamily="34" charset="-120"/>
              </a:rPr>
              <a:t>及</a:t>
            </a:r>
            <a:r>
              <a:rPr lang="en-US" altLang="zh-TW" sz="1200" spc="-1" dirty="0">
                <a:latin typeface="微軟正黑體" panose="020B0604030504040204" pitchFamily="34" charset="-120"/>
                <a:ea typeface="微軟正黑體" panose="020B0604030504040204" pitchFamily="34" charset="-120"/>
              </a:rPr>
              <a:t>29%</a:t>
            </a:r>
            <a:r>
              <a:rPr lang="zh-TW" altLang="en-US" sz="1200" spc="-1"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上升幅度小於營收成長幅度；</a:t>
            </a:r>
            <a:r>
              <a:rPr lang="en-US" altLang="zh-TW" sz="1200" dirty="0">
                <a:latin typeface="微軟正黑體" panose="020B0604030504040204" pitchFamily="34" charset="-120"/>
                <a:ea typeface="微軟正黑體" panose="020B0604030504040204" pitchFamily="34" charset="-120"/>
              </a:rPr>
              <a:t>3)</a:t>
            </a:r>
            <a:r>
              <a:rPr lang="zh-TW" altLang="en-US" sz="1200" dirty="0">
                <a:latin typeface="微軟正黑體" panose="020B0604030504040204" pitchFamily="34" charset="-120"/>
                <a:ea typeface="微軟正黑體" panose="020B0604030504040204" pitchFamily="34" charset="-120"/>
              </a:rPr>
              <a:t>併購及資產減損等一次性費用較去年認列減少。</a:t>
            </a:r>
            <a:endParaRPr lang="en-US" altLang="zh-TW" sz="1200" dirty="0">
              <a:latin typeface="微軟正黑體" panose="020B0604030504040204" pitchFamily="34" charset="-120"/>
              <a:ea typeface="微軟正黑體" panose="020B0604030504040204" pitchFamily="34" charset="-120"/>
            </a:endParaRPr>
          </a:p>
          <a:p>
            <a:pPr algn="just" hangingPunct="0">
              <a:lnSpc>
                <a:spcPts val="1800"/>
              </a:lnSpc>
            </a:pPr>
            <a:r>
              <a:rPr kumimoji="1" lang="zh-TW" altLang="en-US" sz="1200" b="1" dirty="0">
                <a:latin typeface="Microsoft JhengHei" panose="020B0604030504040204" pitchFamily="34" charset="-120"/>
                <a:ea typeface="Microsoft JhengHei" panose="020B0604030504040204" pitchFamily="34" charset="-120"/>
              </a:rPr>
              <a:t>亮點：</a:t>
            </a:r>
            <a:r>
              <a:rPr lang="zh-TW" altLang="en-US" sz="1200" spc="-1" dirty="0">
                <a:solidFill>
                  <a:srgbClr val="000000"/>
                </a:solidFill>
                <a:latin typeface="微軟正黑體" panose="020B0604030504040204" pitchFamily="34" charset="-120"/>
                <a:ea typeface="微軟正黑體" panose="020B0604030504040204" pitchFamily="34" charset="-120"/>
              </a:rPr>
              <a:t>隨著聯邦醫保納入肥胖症治療給付，減重市場規模將進一步擴大。</a:t>
            </a:r>
            <a:endParaRPr lang="en-US" altLang="zh-TW" sz="1200" dirty="0">
              <a:latin typeface="微軟正黑體" panose="020B0604030504040204" pitchFamily="34" charset="-120"/>
              <a:ea typeface="微軟正黑體" panose="020B0604030504040204" pitchFamily="34" charset="-120"/>
            </a:endParaRPr>
          </a:p>
        </p:txBody>
      </p:sp>
      <p:sp>
        <p:nvSpPr>
          <p:cNvPr id="29" name="矩形 28">
            <a:extLst>
              <a:ext uri="{FF2B5EF4-FFF2-40B4-BE49-F238E27FC236}">
                <a16:creationId xmlns:a16="http://schemas.microsoft.com/office/drawing/2014/main" id="{C9AE7F28-172F-80F7-6EC1-CA33FA8B67ED}"/>
              </a:ext>
            </a:extLst>
          </p:cNvPr>
          <p:cNvSpPr/>
          <p:nvPr/>
        </p:nvSpPr>
        <p:spPr>
          <a:xfrm>
            <a:off x="4520922" y="1079500"/>
            <a:ext cx="4259297" cy="522982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a:extLst>
              <a:ext uri="{FF2B5EF4-FFF2-40B4-BE49-F238E27FC236}">
                <a16:creationId xmlns:a16="http://schemas.microsoft.com/office/drawing/2014/main" id="{D71BE2D6-688C-B7EC-4A5A-09EEC5309FF9}"/>
              </a:ext>
            </a:extLst>
          </p:cNvPr>
          <p:cNvSpPr txBox="1"/>
          <p:nvPr/>
        </p:nvSpPr>
        <p:spPr>
          <a:xfrm>
            <a:off x="4623079" y="860968"/>
            <a:ext cx="1224136" cy="340519"/>
          </a:xfrm>
          <a:prstGeom prst="roundRect">
            <a:avLst/>
          </a:prstGeom>
          <a:solidFill>
            <a:srgbClr val="C00000"/>
          </a:solidFill>
        </p:spPr>
        <p:txBody>
          <a:bodyPr wrap="square" rtlCol="0">
            <a:spAutoFit/>
          </a:bodyPr>
          <a:lstStyle/>
          <a:p>
            <a:pPr algn="ctr"/>
            <a:r>
              <a:rPr lang="zh-TW" altLang="en-US" sz="1400" b="1" dirty="0">
                <a:solidFill>
                  <a:schemeClr val="bg1"/>
                </a:solidFill>
                <a:latin typeface="微軟正黑體" panose="020B0604030504040204" pitchFamily="34" charset="-120"/>
                <a:ea typeface="微軟正黑體" panose="020B0604030504040204" pitchFamily="34" charset="-120"/>
              </a:rPr>
              <a:t>季度財報</a:t>
            </a:r>
          </a:p>
        </p:txBody>
      </p:sp>
      <p:sp>
        <p:nvSpPr>
          <p:cNvPr id="32" name="文字方塊 31">
            <a:extLst>
              <a:ext uri="{FF2B5EF4-FFF2-40B4-BE49-F238E27FC236}">
                <a16:creationId xmlns:a16="http://schemas.microsoft.com/office/drawing/2014/main" id="{8440320F-8743-0A0B-8068-3CD842C51C3E}"/>
              </a:ext>
            </a:extLst>
          </p:cNvPr>
          <p:cNvSpPr txBox="1"/>
          <p:nvPr/>
        </p:nvSpPr>
        <p:spPr>
          <a:xfrm>
            <a:off x="4530066" y="1188244"/>
            <a:ext cx="4250153" cy="3269549"/>
          </a:xfrm>
          <a:prstGeom prst="rect">
            <a:avLst/>
          </a:prstGeom>
          <a:noFill/>
        </p:spPr>
        <p:txBody>
          <a:bodyPr wrap="square" rtlCol="0">
            <a:spAutoFit/>
          </a:bodyPr>
          <a:lstStyle/>
          <a:p>
            <a:pPr algn="just" hangingPunct="0">
              <a:lnSpc>
                <a:spcPts val="1600"/>
              </a:lnSpc>
              <a:spcAft>
                <a:spcPts val="300"/>
              </a:spcAft>
            </a:pPr>
            <a:r>
              <a:rPr lang="en-US" altLang="zh-TW" sz="1200" b="1" spc="-1" dirty="0">
                <a:solidFill>
                  <a:srgbClr val="FF0000"/>
                </a:solidFill>
                <a:latin typeface="微軟正黑體" panose="020B0604030504040204" pitchFamily="34" charset="-120"/>
                <a:ea typeface="微軟正黑體" panose="020B0604030504040204" pitchFamily="34" charset="-120"/>
              </a:rPr>
              <a:t>1Q26</a:t>
            </a:r>
            <a:r>
              <a:rPr lang="zh-TW" altLang="en-US" sz="1200" b="1" spc="-1" dirty="0">
                <a:solidFill>
                  <a:srgbClr val="FF0000"/>
                </a:solidFill>
                <a:latin typeface="微軟正黑體" panose="020B0604030504040204" pitchFamily="34" charset="-120"/>
                <a:ea typeface="微軟正黑體" panose="020B0604030504040204" pitchFamily="34" charset="-120"/>
              </a:rPr>
              <a:t>營收年增</a:t>
            </a:r>
            <a:r>
              <a:rPr lang="en-US" altLang="zh-TW" sz="1200" b="1" spc="-1" dirty="0">
                <a:solidFill>
                  <a:srgbClr val="FF0000"/>
                </a:solidFill>
                <a:latin typeface="微軟正黑體" panose="020B0604030504040204" pitchFamily="34" charset="-120"/>
                <a:ea typeface="微軟正黑體" panose="020B0604030504040204" pitchFamily="34" charset="-120"/>
              </a:rPr>
              <a:t>56%</a:t>
            </a:r>
            <a:r>
              <a:rPr lang="zh-TW" altLang="en-US" sz="1200" b="1" spc="-1" dirty="0">
                <a:solidFill>
                  <a:srgbClr val="FF0000"/>
                </a:solidFill>
                <a:latin typeface="微軟正黑體" panose="020B0604030504040204" pitchFamily="34" charset="-120"/>
                <a:ea typeface="微軟正黑體" panose="020B0604030504040204" pitchFamily="34" charset="-120"/>
              </a:rPr>
              <a:t>至</a:t>
            </a:r>
            <a:r>
              <a:rPr lang="en-US" altLang="zh-TW" sz="1200" b="1" spc="-1" dirty="0">
                <a:solidFill>
                  <a:srgbClr val="FF0000"/>
                </a:solidFill>
                <a:latin typeface="微軟正黑體" panose="020B0604030504040204" pitchFamily="34" charset="-120"/>
                <a:ea typeface="微軟正黑體" panose="020B0604030504040204" pitchFamily="34" charset="-120"/>
              </a:rPr>
              <a:t>198</a:t>
            </a:r>
            <a:r>
              <a:rPr lang="zh-TW" altLang="en-US" sz="1200" b="1" spc="-1" dirty="0">
                <a:solidFill>
                  <a:srgbClr val="FF0000"/>
                </a:solidFill>
                <a:latin typeface="微軟正黑體" panose="020B0604030504040204" pitchFamily="34" charset="-120"/>
                <a:ea typeface="微軟正黑體" panose="020B0604030504040204" pitchFamily="34" charset="-120"/>
              </a:rPr>
              <a:t>億美元</a:t>
            </a:r>
            <a:r>
              <a:rPr lang="zh-TW" altLang="en-US" sz="1200" spc="-1" dirty="0">
                <a:latin typeface="微軟正黑體" panose="020B0604030504040204" pitchFamily="34" charset="-120"/>
                <a:ea typeface="微軟正黑體" panose="020B0604030504040204" pitchFamily="34" charset="-120"/>
              </a:rPr>
              <a:t>，受惠糖尿病藥</a:t>
            </a:r>
            <a:r>
              <a:rPr lang="en-US" altLang="zh-TW" sz="1200" spc="-1" dirty="0" err="1">
                <a:latin typeface="微軟正黑體" panose="020B0604030504040204" pitchFamily="34" charset="-120"/>
                <a:ea typeface="微軟正黑體" panose="020B0604030504040204" pitchFamily="34" charset="-120"/>
              </a:rPr>
              <a:t>Mounjaro</a:t>
            </a:r>
            <a:r>
              <a:rPr lang="zh-TW" altLang="en-US" sz="1200" spc="-1" dirty="0">
                <a:latin typeface="微軟正黑體" panose="020B0604030504040204" pitchFamily="34" charset="-120"/>
                <a:ea typeface="微軟正黑體" panose="020B0604030504040204" pitchFamily="34" charset="-120"/>
              </a:rPr>
              <a:t>和減肥注射劑</a:t>
            </a:r>
            <a:r>
              <a:rPr lang="en-US" altLang="zh-TW" sz="1200" spc="-1" dirty="0" err="1">
                <a:latin typeface="微軟正黑體" panose="020B0604030504040204" pitchFamily="34" charset="-120"/>
                <a:ea typeface="微軟正黑體" panose="020B0604030504040204" pitchFamily="34" charset="-120"/>
              </a:rPr>
              <a:t>Zepbound</a:t>
            </a:r>
            <a:r>
              <a:rPr lang="zh-TW" altLang="en-US" sz="1200" spc="-1" dirty="0">
                <a:latin typeface="微軟正黑體" panose="020B0604030504040204" pitchFamily="34" charset="-120"/>
                <a:ea typeface="微軟正黑體" panose="020B0604030504040204" pitchFamily="34" charset="-120"/>
              </a:rPr>
              <a:t>帶動整體銷量增長</a:t>
            </a:r>
            <a:r>
              <a:rPr lang="en-US" altLang="zh-TW" sz="1200" spc="-1" dirty="0">
                <a:latin typeface="微軟正黑體" panose="020B0604030504040204" pitchFamily="34" charset="-120"/>
                <a:ea typeface="微軟正黑體" panose="020B0604030504040204" pitchFamily="34" charset="-120"/>
              </a:rPr>
              <a:t>65%</a:t>
            </a:r>
            <a:r>
              <a:rPr lang="zh-TW" altLang="en-US" sz="1200" spc="-1" dirty="0">
                <a:latin typeface="微軟正黑體" panose="020B0604030504040204" pitchFamily="34" charset="-120"/>
                <a:ea typeface="微軟正黑體" panose="020B0604030504040204" pitchFamily="34" charset="-120"/>
              </a:rPr>
              <a:t>，惟部分被售價減少</a:t>
            </a:r>
            <a:r>
              <a:rPr lang="en-US" altLang="zh-TW" sz="1200" spc="-1" dirty="0">
                <a:latin typeface="微軟正黑體" panose="020B0604030504040204" pitchFamily="34" charset="-120"/>
                <a:ea typeface="微軟正黑體" panose="020B0604030504040204" pitchFamily="34" charset="-120"/>
              </a:rPr>
              <a:t>13%</a:t>
            </a:r>
            <a:r>
              <a:rPr lang="zh-TW" altLang="en-US" sz="1200" spc="-1" dirty="0">
                <a:latin typeface="微軟正黑體" panose="020B0604030504040204" pitchFamily="34" charset="-120"/>
                <a:ea typeface="微軟正黑體" panose="020B0604030504040204" pitchFamily="34" charset="-120"/>
              </a:rPr>
              <a:t>所抵銷，主因為腸泌素產品的售價下降所致</a:t>
            </a:r>
            <a:r>
              <a:rPr lang="en-US" altLang="zh-TW" sz="1200" spc="-1" dirty="0">
                <a:latin typeface="微軟正黑體" panose="020B0604030504040204" pitchFamily="34" charset="-120"/>
                <a:ea typeface="微軟正黑體" panose="020B0604030504040204" pitchFamily="34" charset="-120"/>
              </a:rPr>
              <a:t>(</a:t>
            </a:r>
            <a:r>
              <a:rPr lang="zh-TW" altLang="en-US" sz="1200" spc="-1" dirty="0">
                <a:latin typeface="微軟正黑體" panose="020B0604030504040204" pitchFamily="34" charset="-120"/>
                <a:ea typeface="微軟正黑體" panose="020B0604030504040204" pitchFamily="34" charset="-120"/>
              </a:rPr>
              <a:t>整體毛利率也因此下降</a:t>
            </a:r>
            <a:r>
              <a:rPr lang="en-US" altLang="zh-TW" sz="1200" spc="-1" dirty="0">
                <a:latin typeface="微軟正黑體" panose="020B0604030504040204" pitchFamily="34" charset="-120"/>
                <a:ea typeface="微軟正黑體" panose="020B0604030504040204" pitchFamily="34" charset="-120"/>
              </a:rPr>
              <a:t>0.6%)</a:t>
            </a:r>
            <a:r>
              <a:rPr lang="zh-TW" altLang="en-US" sz="1200" spc="-1" dirty="0">
                <a:latin typeface="微軟正黑體" panose="020B0604030504040204" pitchFamily="34" charset="-120"/>
                <a:ea typeface="微軟正黑體" panose="020B0604030504040204" pitchFamily="34" charset="-120"/>
              </a:rPr>
              <a:t>。</a:t>
            </a:r>
          </a:p>
          <a:p>
            <a:pPr algn="just" hangingPunct="0">
              <a:lnSpc>
                <a:spcPts val="1600"/>
              </a:lnSpc>
              <a:spcAft>
                <a:spcPts val="300"/>
              </a:spcAft>
            </a:pPr>
            <a:r>
              <a:rPr lang="zh-TW" altLang="en-US" sz="1200" b="1" spc="-1" dirty="0">
                <a:solidFill>
                  <a:srgbClr val="FF0000"/>
                </a:solidFill>
                <a:latin typeface="微軟正黑體" panose="020B0604030504040204" pitchFamily="34" charset="-120"/>
                <a:ea typeface="微軟正黑體" panose="020B0604030504040204" pitchFamily="34" charset="-120"/>
              </a:rPr>
              <a:t>普通股可分配淨利年增</a:t>
            </a:r>
            <a:r>
              <a:rPr lang="en-US" altLang="zh-TW" sz="1200" b="1" spc="-1" dirty="0">
                <a:solidFill>
                  <a:srgbClr val="FF0000"/>
                </a:solidFill>
                <a:latin typeface="微軟正黑體" panose="020B0604030504040204" pitchFamily="34" charset="-120"/>
                <a:ea typeface="微軟正黑體" panose="020B0604030504040204" pitchFamily="34" charset="-120"/>
              </a:rPr>
              <a:t>168%</a:t>
            </a:r>
            <a:r>
              <a:rPr lang="zh-TW" altLang="en-US" sz="1200" b="1" spc="-1" dirty="0">
                <a:solidFill>
                  <a:srgbClr val="FF0000"/>
                </a:solidFill>
                <a:latin typeface="微軟正黑體" panose="020B0604030504040204" pitchFamily="34" charset="-120"/>
                <a:ea typeface="微軟正黑體" panose="020B0604030504040204" pitchFamily="34" charset="-120"/>
              </a:rPr>
              <a:t>至</a:t>
            </a:r>
            <a:r>
              <a:rPr lang="en-US" altLang="zh-TW" sz="1200" b="1" spc="-1" dirty="0">
                <a:solidFill>
                  <a:srgbClr val="FF0000"/>
                </a:solidFill>
                <a:latin typeface="微軟正黑體" panose="020B0604030504040204" pitchFamily="34" charset="-120"/>
                <a:ea typeface="微軟正黑體" panose="020B0604030504040204" pitchFamily="34" charset="-120"/>
              </a:rPr>
              <a:t>74</a:t>
            </a:r>
            <a:r>
              <a:rPr lang="zh-TW" altLang="en-US" sz="1200" b="1" spc="-1" dirty="0">
                <a:solidFill>
                  <a:srgbClr val="FF0000"/>
                </a:solidFill>
                <a:latin typeface="微軟正黑體" panose="020B0604030504040204" pitchFamily="34" charset="-120"/>
                <a:ea typeface="微軟正黑體" panose="020B0604030504040204" pitchFamily="34" charset="-120"/>
              </a:rPr>
              <a:t>億美元</a:t>
            </a:r>
            <a:r>
              <a:rPr lang="zh-TW" altLang="en-US" sz="1200" spc="-1" dirty="0">
                <a:latin typeface="微軟正黑體" panose="020B0604030504040204" pitchFamily="34" charset="-120"/>
                <a:ea typeface="微軟正黑體" panose="020B0604030504040204" pitchFamily="34" charset="-120"/>
              </a:rPr>
              <a:t>，得益於研發及管銷費用僅年增</a:t>
            </a:r>
            <a:r>
              <a:rPr lang="en-US" altLang="zh-TW" sz="1200" spc="-1" dirty="0">
                <a:latin typeface="微軟正黑體" panose="020B0604030504040204" pitchFamily="34" charset="-120"/>
                <a:ea typeface="微軟正黑體" panose="020B0604030504040204" pitchFamily="34" charset="-120"/>
              </a:rPr>
              <a:t>28%</a:t>
            </a:r>
            <a:r>
              <a:rPr lang="zh-TW" altLang="en-US" sz="1200" spc="-1" dirty="0">
                <a:latin typeface="微軟正黑體" panose="020B0604030504040204" pitchFamily="34" charset="-120"/>
                <a:ea typeface="微軟正黑體" panose="020B0604030504040204" pitchFamily="34" charset="-120"/>
              </a:rPr>
              <a:t>及</a:t>
            </a:r>
            <a:r>
              <a:rPr lang="en-US" altLang="zh-TW" sz="1200" spc="-1" dirty="0">
                <a:latin typeface="微軟正黑體" panose="020B0604030504040204" pitchFamily="34" charset="-120"/>
                <a:ea typeface="微軟正黑體" panose="020B0604030504040204" pitchFamily="34" charset="-120"/>
              </a:rPr>
              <a:t>19%</a:t>
            </a:r>
            <a:r>
              <a:rPr lang="zh-TW" altLang="en-US" sz="1200" spc="-1" dirty="0">
                <a:latin typeface="微軟正黑體" panose="020B0604030504040204" pitchFamily="34" charset="-120"/>
                <a:ea typeface="微軟正黑體" panose="020B0604030504040204" pitchFamily="34" charset="-120"/>
              </a:rPr>
              <a:t>，促營業利潤年增</a:t>
            </a:r>
            <a:r>
              <a:rPr lang="en-US" altLang="zh-TW" sz="1200" spc="-1" dirty="0">
                <a:latin typeface="微軟正黑體" panose="020B0604030504040204" pitchFamily="34" charset="-120"/>
                <a:ea typeface="微軟正黑體" panose="020B0604030504040204" pitchFamily="34" charset="-120"/>
              </a:rPr>
              <a:t>141%</a:t>
            </a:r>
            <a:r>
              <a:rPr lang="zh-TW" altLang="en-US" sz="1200" spc="-1" dirty="0">
                <a:latin typeface="微軟正黑體" panose="020B0604030504040204" pitchFamily="34" charset="-120"/>
                <a:ea typeface="微軟正黑體" panose="020B0604030504040204" pitchFamily="34" charset="-120"/>
              </a:rPr>
              <a:t>。</a:t>
            </a:r>
          </a:p>
          <a:p>
            <a:pPr algn="just" hangingPunct="0">
              <a:lnSpc>
                <a:spcPts val="1600"/>
              </a:lnSpc>
              <a:spcAft>
                <a:spcPts val="300"/>
              </a:spcAft>
            </a:pPr>
            <a:r>
              <a:rPr kumimoji="1" lang="zh-TW" altLang="en-US" sz="1200" b="1" dirty="0">
                <a:latin typeface="Microsoft JhengHei" panose="020B0604030504040204" pitchFamily="34" charset="-120"/>
                <a:ea typeface="Microsoft JhengHei" panose="020B0604030504040204" pitchFamily="34" charset="-120"/>
              </a:rPr>
              <a:t>亮點：</a:t>
            </a:r>
            <a:r>
              <a:rPr lang="en-US" altLang="zh-TW" sz="1200" spc="-1" dirty="0">
                <a:solidFill>
                  <a:srgbClr val="000000"/>
                </a:solidFill>
                <a:latin typeface="微軟正黑體" panose="020B0604030504040204" pitchFamily="34" charset="-120"/>
                <a:ea typeface="微軟正黑體" panose="020B0604030504040204" pitchFamily="34" charset="-120"/>
              </a:rPr>
              <a:t>1)</a:t>
            </a:r>
            <a:r>
              <a:rPr lang="zh-TW" altLang="en-US" sz="1200" spc="-1" dirty="0">
                <a:solidFill>
                  <a:srgbClr val="000000"/>
                </a:solidFill>
                <a:latin typeface="微軟正黑體" panose="020B0604030504040204" pitchFamily="34" charset="-120"/>
                <a:ea typeface="微軟正黑體" panose="020B0604030504040204" pitchFamily="34" charset="-120"/>
              </a:rPr>
              <a:t>得益於</a:t>
            </a:r>
            <a:r>
              <a:rPr lang="en-US" altLang="zh-TW" sz="1200" spc="-1" dirty="0">
                <a:solidFill>
                  <a:srgbClr val="000000"/>
                </a:solidFill>
                <a:latin typeface="微軟正黑體" panose="020B0604030504040204" pitchFamily="34" charset="-120"/>
                <a:ea typeface="微軟正黑體" panose="020B0604030504040204" pitchFamily="34" charset="-120"/>
              </a:rPr>
              <a:t>Q1</a:t>
            </a:r>
            <a:r>
              <a:rPr lang="zh-TW" altLang="en-US" sz="1200" spc="-1" dirty="0">
                <a:solidFill>
                  <a:srgbClr val="000000"/>
                </a:solidFill>
                <a:latin typeface="微軟正黑體" panose="020B0604030504040204" pitchFamily="34" charset="-120"/>
                <a:ea typeface="微軟正黑體" panose="020B0604030504040204" pitchFamily="34" charset="-120"/>
              </a:rPr>
              <a:t>腸泌素藥物強勁的表現，上調</a:t>
            </a:r>
            <a:r>
              <a:rPr lang="en-US" altLang="zh-TW" sz="1200" spc="-1" dirty="0">
                <a:solidFill>
                  <a:srgbClr val="000000"/>
                </a:solidFill>
                <a:latin typeface="微軟正黑體" panose="020B0604030504040204" pitchFamily="34" charset="-120"/>
                <a:ea typeface="微軟正黑體" panose="020B0604030504040204" pitchFamily="34" charset="-120"/>
              </a:rPr>
              <a:t>2026</a:t>
            </a:r>
            <a:r>
              <a:rPr lang="zh-TW" altLang="en-US" sz="1200" spc="-1" dirty="0">
                <a:solidFill>
                  <a:srgbClr val="000000"/>
                </a:solidFill>
                <a:latin typeface="微軟正黑體" panose="020B0604030504040204" pitchFamily="34" charset="-120"/>
                <a:ea typeface="微軟正黑體" panose="020B0604030504040204" pitchFamily="34" charset="-120"/>
              </a:rPr>
              <a:t>年營收指引</a:t>
            </a:r>
            <a:r>
              <a:rPr lang="en-US" altLang="zh-TW" sz="1200" spc="-1" dirty="0">
                <a:solidFill>
                  <a:srgbClr val="000000"/>
                </a:solidFill>
                <a:latin typeface="微軟正黑體" panose="020B0604030504040204" pitchFamily="34" charset="-120"/>
                <a:ea typeface="微軟正黑體" panose="020B0604030504040204" pitchFamily="34" charset="-120"/>
              </a:rPr>
              <a:t>20</a:t>
            </a:r>
            <a:r>
              <a:rPr lang="zh-TW" altLang="en-US" sz="1200" spc="-1" dirty="0">
                <a:solidFill>
                  <a:srgbClr val="000000"/>
                </a:solidFill>
                <a:latin typeface="微軟正黑體" panose="020B0604030504040204" pitchFamily="34" charset="-120"/>
                <a:ea typeface="微軟正黑體" panose="020B0604030504040204" pitchFamily="34" charset="-120"/>
              </a:rPr>
              <a:t>億美元至</a:t>
            </a:r>
            <a:r>
              <a:rPr lang="en-US" altLang="zh-TW" sz="1200" spc="-1" dirty="0">
                <a:solidFill>
                  <a:srgbClr val="000000"/>
                </a:solidFill>
                <a:latin typeface="微軟正黑體" panose="020B0604030504040204" pitchFamily="34" charset="-120"/>
                <a:ea typeface="微軟正黑體" panose="020B0604030504040204" pitchFamily="34" charset="-120"/>
              </a:rPr>
              <a:t>820</a:t>
            </a:r>
            <a:r>
              <a:rPr lang="zh-TW" altLang="en-US" sz="1200" spc="-1" dirty="0">
                <a:solidFill>
                  <a:srgbClr val="000000"/>
                </a:solidFill>
                <a:latin typeface="微軟正黑體" panose="020B0604030504040204" pitchFamily="34" charset="-120"/>
                <a:ea typeface="微軟正黑體" panose="020B0604030504040204" pitchFamily="34" charset="-120"/>
              </a:rPr>
              <a:t>億</a:t>
            </a:r>
            <a:r>
              <a:rPr lang="en-US" altLang="zh-TW" sz="1200" spc="-1" dirty="0">
                <a:solidFill>
                  <a:srgbClr val="000000"/>
                </a:solidFill>
                <a:latin typeface="微軟正黑體" panose="020B0604030504040204" pitchFamily="34" charset="-120"/>
                <a:ea typeface="微軟正黑體" panose="020B0604030504040204" pitchFamily="34" charset="-120"/>
              </a:rPr>
              <a:t>~850</a:t>
            </a:r>
            <a:r>
              <a:rPr lang="zh-TW" altLang="en-US" sz="1200" spc="-1" dirty="0">
                <a:solidFill>
                  <a:srgbClr val="000000"/>
                </a:solidFill>
                <a:latin typeface="微軟正黑體" panose="020B0604030504040204" pitchFamily="34" charset="-120"/>
                <a:ea typeface="微軟正黑體" panose="020B0604030504040204" pitchFamily="34" charset="-120"/>
              </a:rPr>
              <a:t>億美元；</a:t>
            </a:r>
            <a:r>
              <a:rPr lang="en-US" altLang="zh-TW" sz="1200" spc="-1" dirty="0">
                <a:solidFill>
                  <a:srgbClr val="000000"/>
                </a:solidFill>
                <a:latin typeface="微軟正黑體" panose="020B0604030504040204" pitchFamily="34" charset="-120"/>
                <a:ea typeface="微軟正黑體" panose="020B0604030504040204" pitchFamily="34" charset="-120"/>
              </a:rPr>
              <a:t>2)</a:t>
            </a:r>
            <a:r>
              <a:rPr lang="zh-TW" altLang="en-US" sz="1200" spc="-1" dirty="0">
                <a:solidFill>
                  <a:srgbClr val="000000"/>
                </a:solidFill>
                <a:latin typeface="微軟正黑體" panose="020B0604030504040204" pitchFamily="34" charset="-120"/>
                <a:ea typeface="微軟正黑體" panose="020B0604030504040204" pitchFamily="34" charset="-120"/>
              </a:rPr>
              <a:t>美國</a:t>
            </a:r>
            <a:r>
              <a:rPr lang="en-US" altLang="zh-TW" sz="1200" spc="-1" dirty="0">
                <a:solidFill>
                  <a:srgbClr val="000000"/>
                </a:solidFill>
                <a:latin typeface="微軟正黑體" panose="020B0604030504040204" pitchFamily="34" charset="-120"/>
                <a:ea typeface="微軟正黑體" panose="020B0604030504040204" pitchFamily="34" charset="-120"/>
              </a:rPr>
              <a:t>FDA</a:t>
            </a:r>
            <a:r>
              <a:rPr lang="zh-TW" altLang="en-US" sz="1200" spc="-1" dirty="0">
                <a:solidFill>
                  <a:srgbClr val="000000"/>
                </a:solidFill>
                <a:latin typeface="微軟正黑體" panose="020B0604030504040204" pitchFamily="34" charset="-120"/>
                <a:ea typeface="微軟正黑體" panose="020B0604030504040204" pitchFamily="34" charset="-120"/>
              </a:rPr>
              <a:t>於</a:t>
            </a:r>
            <a:r>
              <a:rPr lang="en-US" altLang="zh-TW" sz="1200" spc="-1" dirty="0">
                <a:solidFill>
                  <a:srgbClr val="000000"/>
                </a:solidFill>
                <a:latin typeface="微軟正黑體" panose="020B0604030504040204" pitchFamily="34" charset="-120"/>
                <a:ea typeface="微軟正黑體" panose="020B0604030504040204" pitchFamily="34" charset="-120"/>
              </a:rPr>
              <a:t>4/1</a:t>
            </a:r>
            <a:r>
              <a:rPr lang="zh-TW" altLang="en-US" sz="1200" spc="-1" dirty="0">
                <a:solidFill>
                  <a:srgbClr val="000000"/>
                </a:solidFill>
                <a:latin typeface="微軟正黑體" panose="020B0604030504040204" pitchFamily="34" charset="-120"/>
                <a:ea typeface="微軟正黑體" panose="020B0604030504040204" pitchFamily="34" charset="-120"/>
              </a:rPr>
              <a:t>宣布口服減肥藥</a:t>
            </a:r>
            <a:r>
              <a:rPr lang="en-US" altLang="zh-TW" sz="1200" spc="-1" dirty="0" err="1">
                <a:solidFill>
                  <a:srgbClr val="000000"/>
                </a:solidFill>
                <a:latin typeface="微軟正黑體" panose="020B0604030504040204" pitchFamily="34" charset="-120"/>
                <a:ea typeface="微軟正黑體" panose="020B0604030504040204" pitchFamily="34" charset="-120"/>
              </a:rPr>
              <a:t>Foundayo</a:t>
            </a:r>
            <a:r>
              <a:rPr lang="zh-TW" altLang="en-US" sz="1200" spc="-1" dirty="0">
                <a:solidFill>
                  <a:srgbClr val="000000"/>
                </a:solidFill>
                <a:latin typeface="微軟正黑體" panose="020B0604030504040204" pitchFamily="34" charset="-120"/>
                <a:ea typeface="微軟正黑體" panose="020B0604030504040204" pitchFamily="34" charset="-120"/>
              </a:rPr>
              <a:t>獲准上市，將可透過</a:t>
            </a:r>
            <a:r>
              <a:rPr lang="en-US" altLang="zh-TW" sz="1200" spc="-1" dirty="0" err="1">
                <a:solidFill>
                  <a:srgbClr val="000000"/>
                </a:solidFill>
                <a:latin typeface="微軟正黑體" panose="020B0604030504040204" pitchFamily="34" charset="-120"/>
                <a:ea typeface="微軟正黑體" panose="020B0604030504040204" pitchFamily="34" charset="-120"/>
              </a:rPr>
              <a:t>LillyDirect</a:t>
            </a:r>
            <a:r>
              <a:rPr lang="zh-TW" altLang="en-US" sz="1200" spc="-1" dirty="0">
                <a:solidFill>
                  <a:srgbClr val="000000"/>
                </a:solidFill>
                <a:latin typeface="微軟正黑體" panose="020B0604030504040204" pitchFamily="34" charset="-120"/>
                <a:ea typeface="微軟正黑體" panose="020B0604030504040204" pitchFamily="34" charset="-120"/>
              </a:rPr>
              <a:t>以每月訂閱的方式送貨到府；</a:t>
            </a:r>
            <a:r>
              <a:rPr lang="en-US" altLang="zh-TW" sz="1200" spc="-1" dirty="0">
                <a:solidFill>
                  <a:srgbClr val="000000"/>
                </a:solidFill>
                <a:latin typeface="微軟正黑體" panose="020B0604030504040204" pitchFamily="34" charset="-120"/>
                <a:ea typeface="微軟正黑體" panose="020B0604030504040204" pitchFamily="34" charset="-120"/>
              </a:rPr>
              <a:t>3)</a:t>
            </a:r>
            <a:r>
              <a:rPr lang="zh-TW" altLang="en-US" sz="1200" spc="-1" dirty="0">
                <a:solidFill>
                  <a:srgbClr val="000000"/>
                </a:solidFill>
                <a:latin typeface="微軟正黑體" panose="020B0604030504040204" pitchFamily="34" charset="-120"/>
                <a:ea typeface="微軟正黑體" panose="020B0604030504040204" pitchFamily="34" charset="-120"/>
              </a:rPr>
              <a:t>與美國三大藥品福利管理公司當中的兩家達成</a:t>
            </a:r>
            <a:r>
              <a:rPr lang="en-US" altLang="zh-TW" sz="1200" spc="-1" dirty="0" err="1">
                <a:solidFill>
                  <a:srgbClr val="000000"/>
                </a:solidFill>
                <a:latin typeface="微軟正黑體" panose="020B0604030504040204" pitchFamily="34" charset="-120"/>
                <a:ea typeface="微軟正黑體" panose="020B0604030504040204" pitchFamily="34" charset="-120"/>
              </a:rPr>
              <a:t>Foundayo</a:t>
            </a:r>
            <a:r>
              <a:rPr lang="zh-TW" altLang="en-US" sz="1200" spc="-1" dirty="0">
                <a:solidFill>
                  <a:srgbClr val="000000"/>
                </a:solidFill>
                <a:latin typeface="微軟正黑體" panose="020B0604030504040204" pitchFamily="34" charset="-120"/>
                <a:ea typeface="微軟正黑體" panose="020B0604030504040204" pitchFamily="34" charset="-120"/>
              </a:rPr>
              <a:t>的商業保險覆蓋，預計於</a:t>
            </a:r>
            <a:r>
              <a:rPr lang="en-US" altLang="zh-TW" sz="1200" spc="-1" dirty="0">
                <a:solidFill>
                  <a:srgbClr val="000000"/>
                </a:solidFill>
                <a:latin typeface="微軟正黑體" panose="020B0604030504040204" pitchFamily="34" charset="-120"/>
                <a:ea typeface="微軟正黑體" panose="020B0604030504040204" pitchFamily="34" charset="-120"/>
              </a:rPr>
              <a:t>5</a:t>
            </a:r>
            <a:r>
              <a:rPr lang="zh-TW" altLang="en-US" sz="1200" spc="-1" dirty="0">
                <a:solidFill>
                  <a:srgbClr val="000000"/>
                </a:solidFill>
                <a:latin typeface="微軟正黑體" panose="020B0604030504040204" pitchFamily="34" charset="-120"/>
                <a:ea typeface="微軟正黑體" panose="020B0604030504040204" pitchFamily="34" charset="-120"/>
              </a:rPr>
              <a:t>月中生效；</a:t>
            </a:r>
            <a:r>
              <a:rPr lang="en-US" altLang="zh-TW" sz="1200" spc="-1" dirty="0">
                <a:solidFill>
                  <a:srgbClr val="000000"/>
                </a:solidFill>
                <a:latin typeface="微軟正黑體" panose="020B0604030504040204" pitchFamily="34" charset="-120"/>
                <a:ea typeface="微軟正黑體" panose="020B0604030504040204" pitchFamily="34" charset="-120"/>
              </a:rPr>
              <a:t>4)</a:t>
            </a:r>
            <a:r>
              <a:rPr lang="zh-TW" altLang="en-US" sz="1200" spc="-1" dirty="0">
                <a:solidFill>
                  <a:srgbClr val="000000"/>
                </a:solidFill>
                <a:latin typeface="微軟正黑體" panose="020B0604030504040204" pitchFamily="34" charset="-120"/>
                <a:ea typeface="微軟正黑體" panose="020B0604030504040204" pitchFamily="34" charset="-120"/>
              </a:rPr>
              <a:t>在腸泌素市場持續從對手諾和諾德手中搶走大餅，最新美國市占率高達</a:t>
            </a:r>
            <a:r>
              <a:rPr lang="en-US" altLang="zh-TW" sz="1200" spc="-1" dirty="0">
                <a:solidFill>
                  <a:srgbClr val="000000"/>
                </a:solidFill>
                <a:latin typeface="微軟正黑體" panose="020B0604030504040204" pitchFamily="34" charset="-120"/>
                <a:ea typeface="微軟正黑體" panose="020B0604030504040204" pitchFamily="34" charset="-120"/>
              </a:rPr>
              <a:t>60.1% </a:t>
            </a:r>
            <a:r>
              <a:rPr lang="zh-TW" altLang="en-US" sz="1200" spc="-1" dirty="0">
                <a:solidFill>
                  <a:srgbClr val="000000"/>
                </a:solidFill>
                <a:latin typeface="微軟正黑體" panose="020B0604030504040204" pitchFamily="34" charset="-120"/>
                <a:ea typeface="微軟正黑體" panose="020B0604030504040204" pitchFamily="34" charset="-120"/>
              </a:rPr>
              <a:t>。</a:t>
            </a:r>
          </a:p>
          <a:p>
            <a:pPr algn="just" hangingPunct="0">
              <a:lnSpc>
                <a:spcPts val="1600"/>
              </a:lnSpc>
              <a:spcAft>
                <a:spcPts val="300"/>
              </a:spcAft>
            </a:pPr>
            <a:r>
              <a:rPr kumimoji="1" lang="zh-TW" altLang="en-US" sz="1200" b="1" dirty="0">
                <a:latin typeface="Microsoft JhengHei" panose="020B0604030504040204" pitchFamily="34" charset="-120"/>
                <a:ea typeface="Microsoft JhengHei" panose="020B0604030504040204" pitchFamily="34" charset="-120"/>
              </a:rPr>
              <a:t>風險：</a:t>
            </a:r>
            <a:r>
              <a:rPr lang="zh-TW" altLang="en-US" sz="1200" dirty="0">
                <a:latin typeface="微軟正黑體" pitchFamily="34" charset="-120"/>
                <a:ea typeface="微軟正黑體" pitchFamily="34" charset="-120"/>
              </a:rPr>
              <a:t>預計</a:t>
            </a:r>
            <a:r>
              <a:rPr lang="en-US" altLang="zh-TW" sz="1200" dirty="0">
                <a:latin typeface="微軟正黑體" pitchFamily="34" charset="-120"/>
                <a:ea typeface="微軟正黑體" pitchFamily="34" charset="-120"/>
              </a:rPr>
              <a:t>2026</a:t>
            </a:r>
            <a:r>
              <a:rPr lang="zh-TW" altLang="en-US" sz="1200" dirty="0">
                <a:latin typeface="微軟正黑體" pitchFamily="34" charset="-120"/>
                <a:ea typeface="微軟正黑體" pitchFamily="34" charset="-120"/>
              </a:rPr>
              <a:t>全年將會遭遇低至中十位數</a:t>
            </a:r>
            <a:r>
              <a:rPr lang="en-US" altLang="zh-TW" sz="1200" dirty="0">
                <a:latin typeface="微軟正黑體" pitchFamily="34" charset="-120"/>
                <a:ea typeface="微軟正黑體" pitchFamily="34" charset="-120"/>
              </a:rPr>
              <a:t>(low to mid-teens )</a:t>
            </a:r>
            <a:r>
              <a:rPr lang="zh-TW" altLang="en-US" sz="1200" dirty="0">
                <a:latin typeface="微軟正黑體" pitchFamily="34" charset="-120"/>
                <a:ea typeface="微軟正黑體" pitchFamily="34" charset="-120"/>
              </a:rPr>
              <a:t>價格逆風。</a:t>
            </a:r>
            <a:endParaRPr kumimoji="1" lang="en-US" altLang="zh-TW" sz="1200" dirty="0">
              <a:latin typeface="微軟正黑體" pitchFamily="34" charset="-120"/>
              <a:ea typeface="微軟正黑體" pitchFamily="34" charset="-120"/>
            </a:endParaRPr>
          </a:p>
        </p:txBody>
      </p:sp>
      <p:grpSp>
        <p:nvGrpSpPr>
          <p:cNvPr id="10" name="群組 9">
            <a:extLst>
              <a:ext uri="{FF2B5EF4-FFF2-40B4-BE49-F238E27FC236}">
                <a16:creationId xmlns:a16="http://schemas.microsoft.com/office/drawing/2014/main" id="{F33FB89F-F250-80DD-978E-65F41DFCCF79}"/>
              </a:ext>
            </a:extLst>
          </p:cNvPr>
          <p:cNvGrpSpPr/>
          <p:nvPr/>
        </p:nvGrpSpPr>
        <p:grpSpPr>
          <a:xfrm>
            <a:off x="220801" y="3869364"/>
            <a:ext cx="4185352" cy="2388561"/>
            <a:chOff x="363782" y="3063736"/>
            <a:chExt cx="3981570" cy="1486999"/>
          </a:xfrm>
        </p:grpSpPr>
        <p:graphicFrame>
          <p:nvGraphicFramePr>
            <p:cNvPr id="3" name="圖表 2">
              <a:extLst>
                <a:ext uri="{FF2B5EF4-FFF2-40B4-BE49-F238E27FC236}">
                  <a16:creationId xmlns:a16="http://schemas.microsoft.com/office/drawing/2014/main" id="{453A468E-7132-6FFE-7EB8-9C050B76CCBE}"/>
                </a:ext>
              </a:extLst>
            </p:cNvPr>
            <p:cNvGraphicFramePr>
              <a:graphicFrameLocks/>
            </p:cNvGraphicFramePr>
            <p:nvPr>
              <p:extLst>
                <p:ext uri="{D42A27DB-BD31-4B8C-83A1-F6EECF244321}">
                  <p14:modId xmlns:p14="http://schemas.microsoft.com/office/powerpoint/2010/main" val="1913247508"/>
                </p:ext>
              </p:extLst>
            </p:nvPr>
          </p:nvGraphicFramePr>
          <p:xfrm>
            <a:off x="363782" y="3063736"/>
            <a:ext cx="3981570" cy="1486999"/>
          </p:xfrm>
          <a:graphic>
            <a:graphicData uri="http://schemas.openxmlformats.org/drawingml/2006/chart">
              <c:chart xmlns:c="http://schemas.openxmlformats.org/drawingml/2006/chart" xmlns:r="http://schemas.openxmlformats.org/officeDocument/2006/relationships" r:id="rId3"/>
            </a:graphicData>
          </a:graphic>
        </p:graphicFrame>
        <p:sp>
          <p:nvSpPr>
            <p:cNvPr id="9" name="文字方塊 8">
              <a:extLst>
                <a:ext uri="{FF2B5EF4-FFF2-40B4-BE49-F238E27FC236}">
                  <a16:creationId xmlns:a16="http://schemas.microsoft.com/office/drawing/2014/main" id="{4A145111-7154-E49F-A10C-66D6E7B24FE1}"/>
                </a:ext>
              </a:extLst>
            </p:cNvPr>
            <p:cNvSpPr txBox="1"/>
            <p:nvPr/>
          </p:nvSpPr>
          <p:spPr>
            <a:xfrm>
              <a:off x="366090" y="3161573"/>
              <a:ext cx="677850" cy="219963"/>
            </a:xfrm>
            <a:prstGeom prst="rect">
              <a:avLst/>
            </a:prstGeom>
            <a:noFill/>
          </p:spPr>
          <p:txBody>
            <a:bodyPr wrap="square" rtlCol="0">
              <a:spAutoFit/>
            </a:bodyPr>
            <a:lstStyle/>
            <a:p>
              <a:r>
                <a:rPr lang="zh-TW" altLang="en-US" sz="900" dirty="0">
                  <a:latin typeface="微軟正黑體" panose="020B0604030504040204" pitchFamily="34" charset="-120"/>
                  <a:ea typeface="微軟正黑體" panose="020B0604030504040204" pitchFamily="34" charset="-120"/>
                </a:rPr>
                <a:t>百萬</a:t>
              </a:r>
              <a:r>
                <a:rPr lang="en-US" altLang="zh-TW" sz="900" dirty="0">
                  <a:latin typeface="微軟正黑體" panose="020B0604030504040204" pitchFamily="34" charset="-120"/>
                  <a:ea typeface="微軟正黑體" panose="020B0604030504040204" pitchFamily="34" charset="-120"/>
                </a:rPr>
                <a:t>USD</a:t>
              </a:r>
              <a:endParaRPr lang="zh-TW" altLang="en-US" sz="900" dirty="0">
                <a:latin typeface="微軟正黑體" panose="020B0604030504040204" pitchFamily="34" charset="-120"/>
                <a:ea typeface="微軟正黑體" panose="020B0604030504040204" pitchFamily="34" charset="-120"/>
              </a:endParaRPr>
            </a:p>
          </p:txBody>
        </p:sp>
      </p:grpSp>
      <p:graphicFrame>
        <p:nvGraphicFramePr>
          <p:cNvPr id="19" name="圖表 18"/>
          <p:cNvGraphicFramePr/>
          <p:nvPr>
            <p:extLst>
              <p:ext uri="{D42A27DB-BD31-4B8C-83A1-F6EECF244321}">
                <p14:modId xmlns:p14="http://schemas.microsoft.com/office/powerpoint/2010/main" val="82039286"/>
              </p:ext>
            </p:extLst>
          </p:nvPr>
        </p:nvGraphicFramePr>
        <p:xfrm>
          <a:off x="4601738" y="4657724"/>
          <a:ext cx="2192070" cy="164675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圖表 23"/>
          <p:cNvGraphicFramePr/>
          <p:nvPr>
            <p:extLst>
              <p:ext uri="{D42A27DB-BD31-4B8C-83A1-F6EECF244321}">
                <p14:modId xmlns:p14="http://schemas.microsoft.com/office/powerpoint/2010/main" val="3832154374"/>
              </p:ext>
            </p:extLst>
          </p:nvPr>
        </p:nvGraphicFramePr>
        <p:xfrm>
          <a:off x="6802952" y="4621790"/>
          <a:ext cx="1908208" cy="1648824"/>
        </p:xfrm>
        <a:graphic>
          <a:graphicData uri="http://schemas.openxmlformats.org/drawingml/2006/chart">
            <c:chart xmlns:c="http://schemas.openxmlformats.org/drawingml/2006/chart" xmlns:r="http://schemas.openxmlformats.org/officeDocument/2006/relationships" r:id="rId5"/>
          </a:graphicData>
        </a:graphic>
      </p:graphicFrame>
      <p:sp>
        <p:nvSpPr>
          <p:cNvPr id="25" name="矩形 24">
            <a:extLst>
              <a:ext uri="{FF2B5EF4-FFF2-40B4-BE49-F238E27FC236}">
                <a16:creationId xmlns:a16="http://schemas.microsoft.com/office/drawing/2014/main" id="{705ADE1F-E065-4EC3-B187-F821455018F2}"/>
              </a:ext>
            </a:extLst>
          </p:cNvPr>
          <p:cNvSpPr/>
          <p:nvPr/>
        </p:nvSpPr>
        <p:spPr>
          <a:xfrm>
            <a:off x="395047" y="6535367"/>
            <a:ext cx="7273298" cy="230832"/>
          </a:xfrm>
          <a:prstGeom prst="rect">
            <a:avLst/>
          </a:prstGeom>
        </p:spPr>
        <p:txBody>
          <a:bodyPr wrap="square">
            <a:spAutoFit/>
          </a:bodyPr>
          <a:lstStyle/>
          <a:p>
            <a:pPr>
              <a:buNone/>
            </a:pPr>
            <a:r>
              <a:rPr lang="zh-TW" altLang="en-US" sz="900" dirty="0"/>
              <a:t>資料來源：官網、彭博</a:t>
            </a:r>
          </a:p>
        </p:txBody>
      </p:sp>
      <p:sp>
        <p:nvSpPr>
          <p:cNvPr id="26" name="標題 1">
            <a:extLst>
              <a:ext uri="{FF2B5EF4-FFF2-40B4-BE49-F238E27FC236}">
                <a16:creationId xmlns:a16="http://schemas.microsoft.com/office/drawing/2014/main" id="{60C28753-0A00-4E34-83C6-C4D758C2A7D2}"/>
              </a:ext>
            </a:extLst>
          </p:cNvPr>
          <p:cNvSpPr txBox="1">
            <a:spLocks/>
          </p:cNvSpPr>
          <p:nvPr/>
        </p:nvSpPr>
        <p:spPr bwMode="auto">
          <a:xfrm>
            <a:off x="229944" y="161162"/>
            <a:ext cx="776452" cy="633413"/>
          </a:xfrm>
          <a:prstGeom prst="rect">
            <a:avLst/>
          </a:prstGeom>
          <a:solidFill>
            <a:srgbClr val="C00000"/>
          </a:solidFill>
          <a:ln>
            <a:noFill/>
          </a:ln>
        </p:spPr>
        <p:txBody>
          <a:bodyPr anchor="ctr">
            <a:noAutofit/>
          </a:bodyPr>
          <a:lstStyle>
            <a:lvl1pPr algn="l" rtl="0" eaLnBrk="0" fontAlgn="base" hangingPunct="0">
              <a:spcBef>
                <a:spcPct val="0"/>
              </a:spcBef>
              <a:spcAft>
                <a:spcPct val="0"/>
              </a:spcAft>
              <a:defRPr kumimoji="1" sz="3000" b="1">
                <a:solidFill>
                  <a:schemeClr val="tx2"/>
                </a:solidFill>
                <a:latin typeface="+mj-lt"/>
                <a:ea typeface="+mj-ea"/>
                <a:cs typeface="+mj-cs"/>
              </a:defRPr>
            </a:lvl1pPr>
            <a:lvl2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algn="l" rtl="0" fontAlgn="base">
              <a:spcBef>
                <a:spcPct val="0"/>
              </a:spcBef>
              <a:spcAft>
                <a:spcPct val="0"/>
              </a:spcAft>
              <a:defRPr kumimoji="1" sz="3000" b="1">
                <a:solidFill>
                  <a:schemeClr val="tx2"/>
                </a:solidFill>
                <a:latin typeface="標楷體" pitchFamily="65" charset="-120"/>
                <a:ea typeface="標楷體" pitchFamily="65" charset="-120"/>
              </a:defRPr>
            </a:lvl6pPr>
            <a:lvl7pPr marL="914400" algn="l" rtl="0" fontAlgn="base">
              <a:spcBef>
                <a:spcPct val="0"/>
              </a:spcBef>
              <a:spcAft>
                <a:spcPct val="0"/>
              </a:spcAft>
              <a:defRPr kumimoji="1" sz="3000" b="1">
                <a:solidFill>
                  <a:schemeClr val="tx2"/>
                </a:solidFill>
                <a:latin typeface="標楷體" pitchFamily="65" charset="-120"/>
                <a:ea typeface="標楷體" pitchFamily="65" charset="-120"/>
              </a:defRPr>
            </a:lvl7pPr>
            <a:lvl8pPr marL="1371600" algn="l" rtl="0" fontAlgn="base">
              <a:spcBef>
                <a:spcPct val="0"/>
              </a:spcBef>
              <a:spcAft>
                <a:spcPct val="0"/>
              </a:spcAft>
              <a:defRPr kumimoji="1" sz="3000" b="1">
                <a:solidFill>
                  <a:schemeClr val="tx2"/>
                </a:solidFill>
                <a:latin typeface="標楷體" pitchFamily="65" charset="-120"/>
                <a:ea typeface="標楷體" pitchFamily="65" charset="-120"/>
              </a:defRPr>
            </a:lvl8pPr>
            <a:lvl9pPr marL="1828800" algn="l" rtl="0" fontAlgn="base">
              <a:spcBef>
                <a:spcPct val="0"/>
              </a:spcBef>
              <a:spcAft>
                <a:spcPct val="0"/>
              </a:spcAft>
              <a:defRPr kumimoji="1" sz="3000" b="1">
                <a:solidFill>
                  <a:schemeClr val="tx2"/>
                </a:solidFill>
                <a:latin typeface="標楷體" pitchFamily="65" charset="-120"/>
                <a:ea typeface="標楷體" pitchFamily="65" charset="-120"/>
              </a:defRPr>
            </a:lvl9pPr>
          </a:lstStyle>
          <a:p>
            <a:pPr algn="ctr">
              <a:defRPr/>
            </a:pPr>
            <a:r>
              <a:rPr lang="zh-TW" altLang="en-US" sz="2000" kern="0" dirty="0">
                <a:solidFill>
                  <a:schemeClr val="bg1"/>
                </a:solidFill>
              </a:rPr>
              <a:t>財務表現</a:t>
            </a:r>
          </a:p>
        </p:txBody>
      </p:sp>
      <p:sp>
        <p:nvSpPr>
          <p:cNvPr id="27" name="標題 1">
            <a:extLst>
              <a:ext uri="{FF2B5EF4-FFF2-40B4-BE49-F238E27FC236}">
                <a16:creationId xmlns:a16="http://schemas.microsoft.com/office/drawing/2014/main" id="{8A190DF9-3093-4C79-BE60-4ED0D15A2C3B}"/>
              </a:ext>
            </a:extLst>
          </p:cNvPr>
          <p:cNvSpPr txBox="1">
            <a:spLocks noChangeArrowheads="1"/>
          </p:cNvSpPr>
          <p:nvPr/>
        </p:nvSpPr>
        <p:spPr>
          <a:xfrm>
            <a:off x="1053599" y="142648"/>
            <a:ext cx="6254705"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lnSpc>
                <a:spcPts val="2500"/>
              </a:lnSpc>
              <a:tabLst>
                <a:tab pos="5473700" algn="l"/>
              </a:tabLst>
              <a:defRPr/>
            </a:pPr>
            <a:r>
              <a:rPr lang="zh-TW" altLang="en-US" sz="2400" dirty="0"/>
              <a:t>減肥藥、糖尿病藥物挹注營收獲利強勁增長</a:t>
            </a:r>
          </a:p>
        </p:txBody>
      </p:sp>
      <p:pic>
        <p:nvPicPr>
          <p:cNvPr id="21" name="圖片 20">
            <a:extLst>
              <a:ext uri="{FF2B5EF4-FFF2-40B4-BE49-F238E27FC236}">
                <a16:creationId xmlns:a16="http://schemas.microsoft.com/office/drawing/2014/main" id="{7E01ED99-D80B-4751-9282-855C457D7081}"/>
              </a:ext>
            </a:extLst>
          </p:cNvPr>
          <p:cNvPicPr>
            <a:picLocks noChangeAspect="1"/>
          </p:cNvPicPr>
          <p:nvPr/>
        </p:nvPicPr>
        <p:blipFill>
          <a:blip r:embed="rId6"/>
          <a:stretch>
            <a:fillRect/>
          </a:stretch>
        </p:blipFill>
        <p:spPr>
          <a:xfrm>
            <a:off x="8061427" y="302661"/>
            <a:ext cx="864096" cy="471796"/>
          </a:xfrm>
          <a:prstGeom prst="rect">
            <a:avLst/>
          </a:prstGeom>
        </p:spPr>
      </p:pic>
    </p:spTree>
    <p:extLst>
      <p:ext uri="{BB962C8B-B14F-4D97-AF65-F5344CB8AC3E}">
        <p14:creationId xmlns:p14="http://schemas.microsoft.com/office/powerpoint/2010/main" val="3139647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圓角矩形 33">
            <a:extLst>
              <a:ext uri="{FF2B5EF4-FFF2-40B4-BE49-F238E27FC236}">
                <a16:creationId xmlns:a16="http://schemas.microsoft.com/office/drawing/2014/main" id="{7AFFD0FD-BB40-40DC-9148-5242E0A2EB78}"/>
              </a:ext>
            </a:extLst>
          </p:cNvPr>
          <p:cNvSpPr/>
          <p:nvPr/>
        </p:nvSpPr>
        <p:spPr>
          <a:xfrm>
            <a:off x="6228184" y="4469350"/>
            <a:ext cx="2736304" cy="1863563"/>
          </a:xfrm>
          <a:prstGeom prst="roundRect">
            <a:avLst>
              <a:gd name="adj" fmla="val 6279"/>
            </a:avLst>
          </a:prstGeom>
          <a:solidFill>
            <a:schemeClr val="bg1">
              <a:lumMod val="95000"/>
            </a:schemeClr>
          </a:solidFill>
          <a:ln>
            <a:noFill/>
          </a:ln>
          <a:effectLst>
            <a:outerShdw blurRad="508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0" name="圖表 59"/>
          <p:cNvGraphicFramePr/>
          <p:nvPr>
            <p:extLst>
              <p:ext uri="{D42A27DB-BD31-4B8C-83A1-F6EECF244321}">
                <p14:modId xmlns:p14="http://schemas.microsoft.com/office/powerpoint/2010/main" val="1557961502"/>
              </p:ext>
            </p:extLst>
          </p:nvPr>
        </p:nvGraphicFramePr>
        <p:xfrm>
          <a:off x="4788025" y="4102297"/>
          <a:ext cx="4206200" cy="2207023"/>
        </p:xfrm>
        <a:graphic>
          <a:graphicData uri="http://schemas.openxmlformats.org/drawingml/2006/chart">
            <c:chart xmlns:c="http://schemas.openxmlformats.org/drawingml/2006/chart" xmlns:r="http://schemas.openxmlformats.org/officeDocument/2006/relationships" r:id="rId3"/>
          </a:graphicData>
        </a:graphic>
      </p:graphicFrame>
      <p:sp>
        <p:nvSpPr>
          <p:cNvPr id="35" name="圓角矩形 33">
            <a:extLst>
              <a:ext uri="{FF2B5EF4-FFF2-40B4-BE49-F238E27FC236}">
                <a16:creationId xmlns:a16="http://schemas.microsoft.com/office/drawing/2014/main" id="{0DB79BA8-D9D3-4413-A458-EDCDB168850E}"/>
              </a:ext>
            </a:extLst>
          </p:cNvPr>
          <p:cNvSpPr/>
          <p:nvPr/>
        </p:nvSpPr>
        <p:spPr>
          <a:xfrm>
            <a:off x="6876256" y="1593850"/>
            <a:ext cx="1944216" cy="1967809"/>
          </a:xfrm>
          <a:prstGeom prst="roundRect">
            <a:avLst>
              <a:gd name="adj" fmla="val 6279"/>
            </a:avLst>
          </a:prstGeom>
          <a:solidFill>
            <a:schemeClr val="bg1">
              <a:lumMod val="95000"/>
            </a:schemeClr>
          </a:solidFill>
          <a:ln>
            <a:noFill/>
          </a:ln>
          <a:effectLst>
            <a:outerShdw blurRad="508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57" name="圖表 56"/>
          <p:cNvGraphicFramePr/>
          <p:nvPr>
            <p:extLst>
              <p:ext uri="{D42A27DB-BD31-4B8C-83A1-F6EECF244321}">
                <p14:modId xmlns:p14="http://schemas.microsoft.com/office/powerpoint/2010/main" val="856669374"/>
              </p:ext>
            </p:extLst>
          </p:nvPr>
        </p:nvGraphicFramePr>
        <p:xfrm>
          <a:off x="4772025" y="1221976"/>
          <a:ext cx="4222199" cy="2339683"/>
        </p:xfrm>
        <a:graphic>
          <a:graphicData uri="http://schemas.openxmlformats.org/drawingml/2006/chart">
            <c:chart xmlns:c="http://schemas.openxmlformats.org/drawingml/2006/chart" xmlns:r="http://schemas.openxmlformats.org/officeDocument/2006/relationships" r:id="rId4"/>
          </a:graphicData>
        </a:graphic>
      </p:graphicFrame>
      <p:sp>
        <p:nvSpPr>
          <p:cNvPr id="17" name="矩形 16"/>
          <p:cNvSpPr/>
          <p:nvPr/>
        </p:nvSpPr>
        <p:spPr>
          <a:xfrm>
            <a:off x="7740352" y="188640"/>
            <a:ext cx="1253872"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圓角矩形 29">
            <a:extLst>
              <a:ext uri="{FF2B5EF4-FFF2-40B4-BE49-F238E27FC236}">
                <a16:creationId xmlns:a16="http://schemas.microsoft.com/office/drawing/2014/main" id="{6373E1F3-4EED-4FCA-BB27-DF4DDB91702B}"/>
              </a:ext>
            </a:extLst>
          </p:cNvPr>
          <p:cNvSpPr/>
          <p:nvPr/>
        </p:nvSpPr>
        <p:spPr>
          <a:xfrm>
            <a:off x="4788025" y="901697"/>
            <a:ext cx="4206200"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標普預期禮來槓桿倍數逐漸下降</a:t>
            </a:r>
          </a:p>
        </p:txBody>
      </p:sp>
      <p:sp>
        <p:nvSpPr>
          <p:cNvPr id="59" name="圓角矩形 29">
            <a:extLst>
              <a:ext uri="{FF2B5EF4-FFF2-40B4-BE49-F238E27FC236}">
                <a16:creationId xmlns:a16="http://schemas.microsoft.com/office/drawing/2014/main" id="{6373E1F3-4EED-4FCA-BB27-DF4DDB91702B}"/>
              </a:ext>
            </a:extLst>
          </p:cNvPr>
          <p:cNvSpPr/>
          <p:nvPr/>
        </p:nvSpPr>
        <p:spPr>
          <a:xfrm>
            <a:off x="4788024" y="3717032"/>
            <a:ext cx="4237367"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預期自由現金流及營收強勁成長</a:t>
            </a:r>
          </a:p>
        </p:txBody>
      </p:sp>
      <p:sp>
        <p:nvSpPr>
          <p:cNvPr id="61" name="文字方塊 60"/>
          <p:cNvSpPr txBox="1"/>
          <p:nvPr/>
        </p:nvSpPr>
        <p:spPr>
          <a:xfrm>
            <a:off x="4788024" y="4070180"/>
            <a:ext cx="786897" cy="246221"/>
          </a:xfrm>
          <a:prstGeom prst="rect">
            <a:avLst/>
          </a:prstGeom>
          <a:noFill/>
        </p:spPr>
        <p:txBody>
          <a:bodyPr wrap="square" rtlCol="0">
            <a:spAutoFit/>
          </a:bodyPr>
          <a:lstStyle/>
          <a:p>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百萬</a:t>
            </a:r>
            <a:r>
              <a:rPr lang="en-US" altLang="zh-TW" sz="1000" dirty="0">
                <a:latin typeface="微軟正黑體" panose="020B0604030504040204" pitchFamily="34" charset="-120"/>
                <a:ea typeface="微軟正黑體" panose="020B0604030504040204" pitchFamily="34" charset="-120"/>
              </a:rPr>
              <a:t>USD)</a:t>
            </a:r>
            <a:endParaRPr lang="zh-TW" altLang="en-US" sz="1000" dirty="0">
              <a:latin typeface="微軟正黑體" panose="020B0604030504040204" pitchFamily="34" charset="-120"/>
              <a:ea typeface="微軟正黑體" panose="020B0604030504040204" pitchFamily="34" charset="-120"/>
            </a:endParaRPr>
          </a:p>
        </p:txBody>
      </p:sp>
      <p:grpSp>
        <p:nvGrpSpPr>
          <p:cNvPr id="2" name="群組 1"/>
          <p:cNvGrpSpPr/>
          <p:nvPr/>
        </p:nvGrpSpPr>
        <p:grpSpPr>
          <a:xfrm>
            <a:off x="1003530" y="-2746311"/>
            <a:ext cx="4829497" cy="1571352"/>
            <a:chOff x="323527" y="4750471"/>
            <a:chExt cx="4829497" cy="1571352"/>
          </a:xfrm>
        </p:grpSpPr>
        <p:sp>
          <p:nvSpPr>
            <p:cNvPr id="62" name="圓角矩形 61"/>
            <p:cNvSpPr/>
            <p:nvPr/>
          </p:nvSpPr>
          <p:spPr>
            <a:xfrm>
              <a:off x="565264" y="4824463"/>
              <a:ext cx="1293416" cy="293732"/>
            </a:xfrm>
            <a:prstGeom prst="roundRect">
              <a:avLst>
                <a:gd name="adj" fmla="val 50000"/>
              </a:avLst>
            </a:prstGeom>
            <a:noFill/>
            <a:ln w="38100" cmpd="sng">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ts val="1700"/>
                </a:lnSpc>
              </a:pPr>
              <a:r>
                <a:rPr lang="zh-TW" altLang="en-US" sz="1600" b="1" dirty="0">
                  <a:solidFill>
                    <a:schemeClr val="accent6">
                      <a:lumMod val="75000"/>
                    </a:schemeClr>
                  </a:solidFill>
                  <a:latin typeface="微軟正黑體" panose="020B0604030504040204" pitchFamily="34" charset="-120"/>
                  <a:ea typeface="微軟正黑體" panose="020B0604030504040204" pitchFamily="34" charset="-120"/>
                </a:rPr>
                <a:t>信用優勢</a:t>
              </a:r>
            </a:p>
          </p:txBody>
        </p:sp>
        <p:pic>
          <p:nvPicPr>
            <p:cNvPr id="63" name="Picture 3">
              <a:extLst>
                <a:ext uri="{FF2B5EF4-FFF2-40B4-BE49-F238E27FC236}">
                  <a16:creationId xmlns:a16="http://schemas.microsoft.com/office/drawing/2014/main" id="{44A6FC6A-7F25-4C49-99D8-E9B21641B86F}"/>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375660" y="4750471"/>
              <a:ext cx="394701" cy="407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4" name="圓角矩形 63"/>
            <p:cNvSpPr/>
            <p:nvPr/>
          </p:nvSpPr>
          <p:spPr>
            <a:xfrm>
              <a:off x="3001509" y="4824463"/>
              <a:ext cx="1293416" cy="293732"/>
            </a:xfrm>
            <a:prstGeom prst="roundRect">
              <a:avLst>
                <a:gd name="adj" fmla="val 50000"/>
              </a:avLst>
            </a:prstGeom>
            <a:noFill/>
            <a:ln w="38100" cmpd="sng">
              <a:solidFill>
                <a:srgbClr val="0085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ts val="1700"/>
                </a:lnSpc>
              </a:pPr>
              <a:r>
                <a:rPr lang="zh-TW" altLang="en-US" sz="1600" b="1" dirty="0">
                  <a:solidFill>
                    <a:srgbClr val="008560"/>
                  </a:solidFill>
                  <a:latin typeface="微軟正黑體" panose="020B0604030504040204" pitchFamily="34" charset="-120"/>
                  <a:ea typeface="微軟正黑體" panose="020B0604030504040204" pitchFamily="34" charset="-120"/>
                </a:rPr>
                <a:t>信用劣勢</a:t>
              </a:r>
            </a:p>
          </p:txBody>
        </p:sp>
        <p:pic>
          <p:nvPicPr>
            <p:cNvPr id="65" name="Picture 7">
              <a:extLst>
                <a:ext uri="{FF2B5EF4-FFF2-40B4-BE49-F238E27FC236}">
                  <a16:creationId xmlns:a16="http://schemas.microsoft.com/office/drawing/2014/main" id="{C881E414-3B29-4B26-8F04-1F1AF0413A47}"/>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0" b="100000" l="0" r="100000">
                          <a14:foregroundMark x1="7048" y1="58150" x2="17621" y2="56094"/>
                          <a14:foregroundMark x1="13656" y1="68135" x2="25257" y2="65198"/>
                          <a14:foregroundMark x1="18502" y1="79148" x2="39648" y2="75918"/>
                        </a14:backgroundRemoval>
                      </a14:imgEffect>
                    </a14:imgLayer>
                  </a14:imgProps>
                </a:ext>
                <a:ext uri="{28A0092B-C50C-407E-A947-70E740481C1C}">
                  <a14:useLocalDpi xmlns:a14="http://schemas.microsoft.com/office/drawing/2010/main" val="0"/>
                </a:ext>
              </a:extLst>
            </a:blip>
            <a:srcRect/>
            <a:stretch>
              <a:fillRect/>
            </a:stretch>
          </p:blipFill>
          <p:spPr bwMode="auto">
            <a:xfrm>
              <a:off x="2771800" y="4750471"/>
              <a:ext cx="404313" cy="4172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6" name="矩形 65"/>
            <p:cNvSpPr/>
            <p:nvPr/>
          </p:nvSpPr>
          <p:spPr>
            <a:xfrm>
              <a:off x="2703213" y="5152272"/>
              <a:ext cx="2449811" cy="1157048"/>
            </a:xfrm>
            <a:prstGeom prst="rect">
              <a:avLst/>
            </a:prstGeom>
          </p:spPr>
          <p:txBody>
            <a:bodyPr wrap="square">
              <a:spAutoFit/>
            </a:bodyPr>
            <a:lstStyle/>
            <a:p>
              <a:pPr marL="180975" indent="-180975" algn="just">
                <a:lnSpc>
                  <a:spcPts val="1400"/>
                </a:lnSpc>
                <a:buFont typeface="Wingdings" panose="05000000000000000000" pitchFamily="2" charset="2"/>
                <a:buChar char="p"/>
              </a:pPr>
              <a:r>
                <a:rPr lang="zh-TW" altLang="en-US" sz="1100" b="1" dirty="0">
                  <a:solidFill>
                    <a:srgbClr val="008560"/>
                  </a:solidFill>
                  <a:latin typeface="微軟正黑體" panose="020B0604030504040204" pitchFamily="34" charset="-120"/>
                  <a:ea typeface="微軟正黑體" panose="020B0604030504040204" pitchFamily="34" charset="-120"/>
                </a:rPr>
                <a:t>總槓桿率有所上升，然預期於</a:t>
              </a:r>
              <a:r>
                <a:rPr lang="en-US" altLang="zh-TW" sz="1100" b="1" dirty="0">
                  <a:solidFill>
                    <a:srgbClr val="008560"/>
                  </a:solidFill>
                  <a:latin typeface="微軟正黑體" panose="020B0604030504040204" pitchFamily="34" charset="-120"/>
                  <a:ea typeface="微軟正黑體" panose="020B0604030504040204" pitchFamily="34" charset="-120"/>
                </a:rPr>
                <a:t>FY25</a:t>
              </a:r>
              <a:r>
                <a:rPr lang="zh-TW" altLang="en-US" sz="1100" b="1" dirty="0">
                  <a:solidFill>
                    <a:srgbClr val="008560"/>
                  </a:solidFill>
                  <a:latin typeface="微軟正黑體" panose="020B0604030504040204" pitchFamily="34" charset="-120"/>
                  <a:ea typeface="微軟正黑體" panose="020B0604030504040204" pitchFamily="34" charset="-120"/>
                </a:rPr>
                <a:t>降至</a:t>
              </a:r>
              <a:r>
                <a:rPr lang="en-US" altLang="zh-TW" sz="1100" b="1" dirty="0">
                  <a:solidFill>
                    <a:srgbClr val="008560"/>
                  </a:solidFill>
                  <a:latin typeface="微軟正黑體" panose="020B0604030504040204" pitchFamily="34" charset="-120"/>
                  <a:ea typeface="微軟正黑體" panose="020B0604030504040204" pitchFamily="34" charset="-120"/>
                </a:rPr>
                <a:t>3.5</a:t>
              </a:r>
              <a:r>
                <a:rPr lang="zh-TW" altLang="en-US" sz="1100" b="1" dirty="0">
                  <a:solidFill>
                    <a:srgbClr val="008560"/>
                  </a:solidFill>
                  <a:latin typeface="微軟正黑體" panose="020B0604030504040204" pitchFamily="34" charset="-120"/>
                  <a:ea typeface="微軟正黑體" panose="020B0604030504040204" pitchFamily="34" charset="-120"/>
                </a:rPr>
                <a:t>倍以下。</a:t>
              </a:r>
              <a:endParaRPr lang="en-US" altLang="zh-TW" sz="1100" b="1" dirty="0">
                <a:solidFill>
                  <a:srgbClr val="008560"/>
                </a:solidFill>
                <a:latin typeface="微軟正黑體" panose="020B0604030504040204" pitchFamily="34" charset="-120"/>
                <a:ea typeface="微軟正黑體" panose="020B0604030504040204" pitchFamily="34" charset="-120"/>
              </a:endParaRPr>
            </a:p>
            <a:p>
              <a:pPr marL="180975" indent="-180975" algn="just">
                <a:lnSpc>
                  <a:spcPts val="1400"/>
                </a:lnSpc>
                <a:buFont typeface="Wingdings" panose="05000000000000000000" pitchFamily="2" charset="2"/>
                <a:buChar char="p"/>
              </a:pPr>
              <a:r>
                <a:rPr lang="zh-TW" altLang="en-US" sz="1100" b="1" dirty="0">
                  <a:solidFill>
                    <a:srgbClr val="008560"/>
                  </a:solidFill>
                  <a:latin typeface="微軟正黑體" panose="020B0604030504040204" pitchFamily="34" charset="-120"/>
                  <a:ea typeface="微軟正黑體" panose="020B0604030504040204" pitchFamily="34" charset="-120"/>
                </a:rPr>
                <a:t>細分市場競爭激烈。</a:t>
              </a:r>
              <a:endParaRPr lang="en-US" altLang="zh-TW" sz="1100" b="1" dirty="0">
                <a:solidFill>
                  <a:srgbClr val="008560"/>
                </a:solidFill>
                <a:latin typeface="微軟正黑體" panose="020B0604030504040204" pitchFamily="34" charset="-120"/>
                <a:ea typeface="微軟正黑體" panose="020B0604030504040204" pitchFamily="34" charset="-120"/>
              </a:endParaRPr>
            </a:p>
            <a:p>
              <a:pPr marL="180975" indent="-180975" algn="just">
                <a:lnSpc>
                  <a:spcPts val="1400"/>
                </a:lnSpc>
                <a:buFont typeface="Wingdings" panose="05000000000000000000" pitchFamily="2" charset="2"/>
                <a:buChar char="p"/>
              </a:pPr>
              <a:r>
                <a:rPr lang="zh-TW" altLang="en-US" sz="1100" b="1" dirty="0">
                  <a:solidFill>
                    <a:srgbClr val="008560"/>
                  </a:solidFill>
                  <a:latin typeface="微軟正黑體" panose="020B0604030504040204" pitchFamily="34" charset="-120"/>
                  <a:ea typeface="微軟正黑體" panose="020B0604030504040204" pitchFamily="34" charset="-120"/>
                </a:rPr>
                <a:t>收入大部分來自成熟領域。</a:t>
              </a:r>
              <a:endParaRPr lang="en-US" altLang="zh-TW" sz="1100" b="1" dirty="0">
                <a:solidFill>
                  <a:srgbClr val="008560"/>
                </a:solidFill>
                <a:latin typeface="微軟正黑體" panose="020B0604030504040204" pitchFamily="34" charset="-120"/>
                <a:ea typeface="微軟正黑體" panose="020B0604030504040204" pitchFamily="34" charset="-120"/>
              </a:endParaRPr>
            </a:p>
            <a:p>
              <a:pPr marL="180975" indent="-180975" algn="just">
                <a:lnSpc>
                  <a:spcPts val="1400"/>
                </a:lnSpc>
                <a:buFont typeface="Wingdings" panose="05000000000000000000" pitchFamily="2" charset="2"/>
                <a:buChar char="p"/>
              </a:pPr>
              <a:r>
                <a:rPr lang="zh-TW" altLang="en-US" sz="1100" b="1" dirty="0">
                  <a:solidFill>
                    <a:srgbClr val="008560"/>
                  </a:solidFill>
                  <a:latin typeface="微軟正黑體" panose="020B0604030504040204" pitchFamily="34" charset="-120"/>
                  <a:ea typeface="微軟正黑體" panose="020B0604030504040204" pitchFamily="34" charset="-120"/>
                </a:rPr>
                <a:t>股東回報資金的債務資金增加，與收購</a:t>
              </a:r>
              <a:r>
                <a:rPr lang="en-US" altLang="zh-TW" sz="1100" b="1" dirty="0">
                  <a:solidFill>
                    <a:srgbClr val="008560"/>
                  </a:solidFill>
                  <a:latin typeface="微軟正黑體" panose="020B0604030504040204" pitchFamily="34" charset="-120"/>
                  <a:ea typeface="微軟正黑體" panose="020B0604030504040204" pitchFamily="34" charset="-120"/>
                </a:rPr>
                <a:t>Cerner</a:t>
              </a:r>
              <a:r>
                <a:rPr lang="zh-TW" altLang="en-US" sz="1100" b="1" dirty="0">
                  <a:solidFill>
                    <a:srgbClr val="008560"/>
                  </a:solidFill>
                  <a:latin typeface="微軟正黑體" panose="020B0604030504040204" pitchFamily="34" charset="-120"/>
                  <a:ea typeface="微軟正黑體" panose="020B0604030504040204" pitchFamily="34" charset="-120"/>
                </a:rPr>
                <a:t>削弱信用指標。</a:t>
              </a:r>
              <a:endParaRPr lang="en-US" altLang="zh-TW" sz="1100" b="1" dirty="0">
                <a:solidFill>
                  <a:srgbClr val="008560"/>
                </a:solidFill>
                <a:latin typeface="微軟正黑體" panose="020B0604030504040204" pitchFamily="34" charset="-120"/>
                <a:ea typeface="微軟正黑體" panose="020B0604030504040204" pitchFamily="34" charset="-120"/>
              </a:endParaRPr>
            </a:p>
          </p:txBody>
        </p:sp>
        <p:sp>
          <p:nvSpPr>
            <p:cNvPr id="67" name="矩形 66"/>
            <p:cNvSpPr/>
            <p:nvPr/>
          </p:nvSpPr>
          <p:spPr>
            <a:xfrm>
              <a:off x="323527" y="5152272"/>
              <a:ext cx="2372377" cy="1169551"/>
            </a:xfrm>
            <a:prstGeom prst="rect">
              <a:avLst/>
            </a:prstGeom>
          </p:spPr>
          <p:txBody>
            <a:bodyPr wrap="square">
              <a:spAutoFit/>
            </a:bodyPr>
            <a:lstStyle/>
            <a:p>
              <a:pPr marL="180975" indent="-180975" algn="just">
                <a:lnSpc>
                  <a:spcPts val="1400"/>
                </a:lnSpc>
                <a:buFont typeface="Wingdings" panose="05000000000000000000" pitchFamily="2" charset="2"/>
                <a:buChar char="p"/>
              </a:pPr>
              <a:r>
                <a:rPr lang="zh-TW" altLang="en-US" sz="1100" b="1" dirty="0">
                  <a:solidFill>
                    <a:schemeClr val="accent6">
                      <a:lumMod val="75000"/>
                    </a:schemeClr>
                  </a:solidFill>
                  <a:latin typeface="微軟正黑體" panose="020B0604030504040204" pitchFamily="34" charset="-120"/>
                  <a:ea typeface="微軟正黑體" panose="020B0604030504040204" pitchFamily="34" charset="-120"/>
                </a:rPr>
                <a:t>規模與安裝基數龐大，涵蓋應用軟體、基礎架構與硬體的廣泛技術組合。</a:t>
              </a:r>
              <a:endParaRPr lang="en-US" altLang="zh-TW" sz="1100" b="1" dirty="0">
                <a:solidFill>
                  <a:schemeClr val="accent6">
                    <a:lumMod val="75000"/>
                  </a:schemeClr>
                </a:solidFill>
                <a:latin typeface="微軟正黑體" panose="020B0604030504040204" pitchFamily="34" charset="-120"/>
                <a:ea typeface="微軟正黑體" panose="020B0604030504040204" pitchFamily="34" charset="-120"/>
              </a:endParaRPr>
            </a:p>
            <a:p>
              <a:pPr marL="180975" indent="-180975" algn="just">
                <a:lnSpc>
                  <a:spcPts val="1400"/>
                </a:lnSpc>
                <a:buFont typeface="Wingdings" panose="05000000000000000000" pitchFamily="2" charset="2"/>
                <a:buChar char="p"/>
              </a:pPr>
              <a:r>
                <a:rPr lang="zh-TW" altLang="en-US" sz="1100" b="1" dirty="0">
                  <a:solidFill>
                    <a:schemeClr val="accent6">
                      <a:lumMod val="75000"/>
                    </a:schemeClr>
                  </a:solidFill>
                  <a:latin typeface="微軟正黑體" panose="020B0604030504040204" pitchFamily="34" charset="-120"/>
                  <a:ea typeface="微軟正黑體" panose="020B0604030504040204" pitchFamily="34" charset="-120"/>
                </a:rPr>
                <a:t>雲端業務強增與管理層優先考慮去槓桿的承諾。</a:t>
              </a:r>
              <a:endParaRPr lang="en-US" altLang="zh-TW" sz="1100" b="1" dirty="0">
                <a:solidFill>
                  <a:schemeClr val="accent6">
                    <a:lumMod val="75000"/>
                  </a:schemeClr>
                </a:solidFill>
                <a:latin typeface="微軟正黑體" panose="020B0604030504040204" pitchFamily="34" charset="-120"/>
                <a:ea typeface="微軟正黑體" panose="020B0604030504040204" pitchFamily="34" charset="-120"/>
              </a:endParaRPr>
            </a:p>
            <a:p>
              <a:pPr marL="180975" indent="-180975" algn="just">
                <a:lnSpc>
                  <a:spcPts val="1400"/>
                </a:lnSpc>
                <a:buFont typeface="Wingdings" panose="05000000000000000000" pitchFamily="2" charset="2"/>
                <a:buChar char="p"/>
              </a:pPr>
              <a:r>
                <a:rPr lang="zh-TW" altLang="en-US" sz="1100" b="1" dirty="0">
                  <a:solidFill>
                    <a:schemeClr val="accent6">
                      <a:lumMod val="75000"/>
                    </a:schemeClr>
                  </a:solidFill>
                  <a:latin typeface="微軟正黑體" panose="020B0604030504040204" pitchFamily="34" charset="-120"/>
                  <a:ea typeface="微軟正黑體" panose="020B0604030504040204" pitchFamily="34" charset="-120"/>
                </a:rPr>
                <a:t>大量的積壓合約收入與獲利能力。</a:t>
              </a:r>
            </a:p>
          </p:txBody>
        </p:sp>
      </p:grpSp>
      <p:pic>
        <p:nvPicPr>
          <p:cNvPr id="28" name="圖片 27">
            <a:extLst>
              <a:ext uri="{FF2B5EF4-FFF2-40B4-BE49-F238E27FC236}">
                <a16:creationId xmlns:a16="http://schemas.microsoft.com/office/drawing/2014/main" id="{A2DD3E55-BAC7-0634-2298-0F5A747D2B32}"/>
              </a:ext>
            </a:extLst>
          </p:cNvPr>
          <p:cNvPicPr>
            <a:picLocks noChangeAspect="1"/>
          </p:cNvPicPr>
          <p:nvPr/>
        </p:nvPicPr>
        <p:blipFill>
          <a:blip r:embed="rId9"/>
          <a:stretch>
            <a:fillRect/>
          </a:stretch>
        </p:blipFill>
        <p:spPr>
          <a:xfrm>
            <a:off x="8061427" y="302661"/>
            <a:ext cx="864096" cy="471796"/>
          </a:xfrm>
          <a:prstGeom prst="rect">
            <a:avLst/>
          </a:prstGeom>
        </p:spPr>
      </p:pic>
      <p:graphicFrame>
        <p:nvGraphicFramePr>
          <p:cNvPr id="40" name="表格 39">
            <a:extLst>
              <a:ext uri="{FF2B5EF4-FFF2-40B4-BE49-F238E27FC236}">
                <a16:creationId xmlns:a16="http://schemas.microsoft.com/office/drawing/2014/main" id="{BF6AE2F1-F8A6-DE99-0363-6203097DDA42}"/>
              </a:ext>
            </a:extLst>
          </p:cNvPr>
          <p:cNvGraphicFramePr>
            <a:graphicFrameLocks noGrp="1"/>
          </p:cNvGraphicFramePr>
          <p:nvPr>
            <p:extLst>
              <p:ext uri="{D42A27DB-BD31-4B8C-83A1-F6EECF244321}">
                <p14:modId xmlns:p14="http://schemas.microsoft.com/office/powerpoint/2010/main" val="3507332607"/>
              </p:ext>
            </p:extLst>
          </p:nvPr>
        </p:nvGraphicFramePr>
        <p:xfrm>
          <a:off x="241299" y="901697"/>
          <a:ext cx="4474716" cy="5399663"/>
        </p:xfrm>
        <a:graphic>
          <a:graphicData uri="http://schemas.openxmlformats.org/drawingml/2006/table">
            <a:tbl>
              <a:tblPr firstRow="1" bandRow="1"/>
              <a:tblGrid>
                <a:gridCol w="1235186">
                  <a:extLst>
                    <a:ext uri="{9D8B030D-6E8A-4147-A177-3AD203B41FA5}">
                      <a16:colId xmlns:a16="http://schemas.microsoft.com/office/drawing/2014/main" val="20000"/>
                    </a:ext>
                  </a:extLst>
                </a:gridCol>
                <a:gridCol w="1103200">
                  <a:extLst>
                    <a:ext uri="{9D8B030D-6E8A-4147-A177-3AD203B41FA5}">
                      <a16:colId xmlns:a16="http://schemas.microsoft.com/office/drawing/2014/main" val="20001"/>
                    </a:ext>
                  </a:extLst>
                </a:gridCol>
                <a:gridCol w="1103200">
                  <a:extLst>
                    <a:ext uri="{9D8B030D-6E8A-4147-A177-3AD203B41FA5}">
                      <a16:colId xmlns:a16="http://schemas.microsoft.com/office/drawing/2014/main" val="20002"/>
                    </a:ext>
                  </a:extLst>
                </a:gridCol>
                <a:gridCol w="1033130">
                  <a:extLst>
                    <a:ext uri="{9D8B030D-6E8A-4147-A177-3AD203B41FA5}">
                      <a16:colId xmlns:a16="http://schemas.microsoft.com/office/drawing/2014/main" val="2525214254"/>
                    </a:ext>
                  </a:extLst>
                </a:gridCol>
              </a:tblGrid>
              <a:tr h="267053">
                <a:tc>
                  <a:txBody>
                    <a:bodyPr/>
                    <a:lstStyle>
                      <a:lvl1pPr marL="0" algn="l" defTabSz="914400" rtl="0" eaLnBrk="1" latinLnBrk="0" hangingPunct="1">
                        <a:defRPr sz="1800" b="1" kern="1200">
                          <a:solidFill>
                            <a:schemeClr val="bg1"/>
                          </a:solidFill>
                          <a:latin typeface="微軟正黑體"/>
                          <a:ea typeface="微軟正黑體"/>
                        </a:defRPr>
                      </a:lvl1pPr>
                      <a:lvl2pPr marL="457200" algn="l" defTabSz="914400" rtl="0" eaLnBrk="1" latinLnBrk="0" hangingPunct="1">
                        <a:defRPr sz="1800" b="1" kern="1200">
                          <a:solidFill>
                            <a:schemeClr val="bg1"/>
                          </a:solidFill>
                          <a:latin typeface="微軟正黑體"/>
                          <a:ea typeface="微軟正黑體"/>
                        </a:defRPr>
                      </a:lvl2pPr>
                      <a:lvl3pPr marL="914400" algn="l" defTabSz="914400" rtl="0" eaLnBrk="1" latinLnBrk="0" hangingPunct="1">
                        <a:defRPr sz="1800" b="1" kern="1200">
                          <a:solidFill>
                            <a:schemeClr val="bg1"/>
                          </a:solidFill>
                          <a:latin typeface="微軟正黑體"/>
                          <a:ea typeface="微軟正黑體"/>
                        </a:defRPr>
                      </a:lvl3pPr>
                      <a:lvl4pPr marL="1371600" algn="l" defTabSz="914400" rtl="0" eaLnBrk="1" latinLnBrk="0" hangingPunct="1">
                        <a:defRPr sz="1800" b="1" kern="1200">
                          <a:solidFill>
                            <a:schemeClr val="bg1"/>
                          </a:solidFill>
                          <a:latin typeface="微軟正黑體"/>
                          <a:ea typeface="微軟正黑體"/>
                        </a:defRPr>
                      </a:lvl4pPr>
                      <a:lvl5pPr marL="1828800" algn="l" defTabSz="914400" rtl="0" eaLnBrk="1" latinLnBrk="0" hangingPunct="1">
                        <a:defRPr sz="1800" b="1" kern="1200">
                          <a:solidFill>
                            <a:schemeClr val="bg1"/>
                          </a:solidFill>
                          <a:latin typeface="微軟正黑體"/>
                          <a:ea typeface="微軟正黑體"/>
                        </a:defRPr>
                      </a:lvl5pPr>
                      <a:lvl6pPr marL="2286000" algn="l" defTabSz="914400" rtl="0" eaLnBrk="1" latinLnBrk="0" hangingPunct="1">
                        <a:defRPr sz="1800" b="1" kern="1200">
                          <a:solidFill>
                            <a:schemeClr val="bg1"/>
                          </a:solidFill>
                          <a:latin typeface="微軟正黑體"/>
                          <a:ea typeface="微軟正黑體"/>
                        </a:defRPr>
                      </a:lvl6pPr>
                      <a:lvl7pPr marL="2743200" algn="l" defTabSz="914400" rtl="0" eaLnBrk="1" latinLnBrk="0" hangingPunct="1">
                        <a:defRPr sz="1800" b="1" kern="1200">
                          <a:solidFill>
                            <a:schemeClr val="bg1"/>
                          </a:solidFill>
                          <a:latin typeface="微軟正黑體"/>
                          <a:ea typeface="微軟正黑體"/>
                        </a:defRPr>
                      </a:lvl7pPr>
                      <a:lvl8pPr marL="3200400" algn="l" defTabSz="914400" rtl="0" eaLnBrk="1" latinLnBrk="0" hangingPunct="1">
                        <a:defRPr sz="1800" b="1" kern="1200">
                          <a:solidFill>
                            <a:schemeClr val="bg1"/>
                          </a:solidFill>
                          <a:latin typeface="微軟正黑體"/>
                          <a:ea typeface="微軟正黑體"/>
                        </a:defRPr>
                      </a:lvl8pPr>
                      <a:lvl9pPr marL="3657600" algn="l" defTabSz="914400" rtl="0" eaLnBrk="1" latinLnBrk="0" hangingPunct="1">
                        <a:defRPr sz="1800" b="1" kern="1200">
                          <a:solidFill>
                            <a:schemeClr val="bg1"/>
                          </a:solidFill>
                          <a:latin typeface="微軟正黑體"/>
                          <a:ea typeface="微軟正黑體"/>
                        </a:defRPr>
                      </a:lvl9pPr>
                    </a:lstStyle>
                    <a:p>
                      <a:pPr algn="ctr"/>
                      <a:endParaRPr lang="zh-TW" altLang="en-US" sz="1200" dirty="0">
                        <a:solidFill>
                          <a:schemeClr val="bg1"/>
                        </a:solidFill>
                        <a:latin typeface="+mn-ea"/>
                        <a:ea typeface="+mn-ea"/>
                      </a:endParaRPr>
                    </a:p>
                  </a:txBody>
                  <a:tcPr anchor="ctr">
                    <a:lnL w="9525" cap="flat" cmpd="sng" algn="ctr">
                      <a:solidFill>
                        <a:srgbClr val="B8B1A7">
                          <a:shade val="95000"/>
                          <a:satMod val="105000"/>
                        </a:srgbClr>
                      </a:solidFill>
                      <a:prstDash val="solid"/>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solidFill>
                      <a:schemeClr val="tx1">
                        <a:lumMod val="50000"/>
                        <a:lumOff val="50000"/>
                      </a:schemeClr>
                    </a:solidFill>
                  </a:tcPr>
                </a:tc>
                <a:tc>
                  <a:txBody>
                    <a:bodyPr/>
                    <a:lstStyle>
                      <a:lvl1pPr marL="0" algn="l" defTabSz="914400" rtl="0" eaLnBrk="1" latinLnBrk="0" hangingPunct="1">
                        <a:defRPr sz="1800" b="1" kern="1200">
                          <a:solidFill>
                            <a:schemeClr val="bg1"/>
                          </a:solidFill>
                          <a:latin typeface="微軟正黑體"/>
                          <a:ea typeface="微軟正黑體"/>
                        </a:defRPr>
                      </a:lvl1pPr>
                      <a:lvl2pPr marL="457200" algn="l" defTabSz="914400" rtl="0" eaLnBrk="1" latinLnBrk="0" hangingPunct="1">
                        <a:defRPr sz="1800" b="1" kern="1200">
                          <a:solidFill>
                            <a:schemeClr val="bg1"/>
                          </a:solidFill>
                          <a:latin typeface="微軟正黑體"/>
                          <a:ea typeface="微軟正黑體"/>
                        </a:defRPr>
                      </a:lvl2pPr>
                      <a:lvl3pPr marL="914400" algn="l" defTabSz="914400" rtl="0" eaLnBrk="1" latinLnBrk="0" hangingPunct="1">
                        <a:defRPr sz="1800" b="1" kern="1200">
                          <a:solidFill>
                            <a:schemeClr val="bg1"/>
                          </a:solidFill>
                          <a:latin typeface="微軟正黑體"/>
                          <a:ea typeface="微軟正黑體"/>
                        </a:defRPr>
                      </a:lvl3pPr>
                      <a:lvl4pPr marL="1371600" algn="l" defTabSz="914400" rtl="0" eaLnBrk="1" latinLnBrk="0" hangingPunct="1">
                        <a:defRPr sz="1800" b="1" kern="1200">
                          <a:solidFill>
                            <a:schemeClr val="bg1"/>
                          </a:solidFill>
                          <a:latin typeface="微軟正黑體"/>
                          <a:ea typeface="微軟正黑體"/>
                        </a:defRPr>
                      </a:lvl4pPr>
                      <a:lvl5pPr marL="1828800" algn="l" defTabSz="914400" rtl="0" eaLnBrk="1" latinLnBrk="0" hangingPunct="1">
                        <a:defRPr sz="1800" b="1" kern="1200">
                          <a:solidFill>
                            <a:schemeClr val="bg1"/>
                          </a:solidFill>
                          <a:latin typeface="微軟正黑體"/>
                          <a:ea typeface="微軟正黑體"/>
                        </a:defRPr>
                      </a:lvl5pPr>
                      <a:lvl6pPr marL="2286000" algn="l" defTabSz="914400" rtl="0" eaLnBrk="1" latinLnBrk="0" hangingPunct="1">
                        <a:defRPr sz="1800" b="1" kern="1200">
                          <a:solidFill>
                            <a:schemeClr val="bg1"/>
                          </a:solidFill>
                          <a:latin typeface="微軟正黑體"/>
                          <a:ea typeface="微軟正黑體"/>
                        </a:defRPr>
                      </a:lvl6pPr>
                      <a:lvl7pPr marL="2743200" algn="l" defTabSz="914400" rtl="0" eaLnBrk="1" latinLnBrk="0" hangingPunct="1">
                        <a:defRPr sz="1800" b="1" kern="1200">
                          <a:solidFill>
                            <a:schemeClr val="bg1"/>
                          </a:solidFill>
                          <a:latin typeface="微軟正黑體"/>
                          <a:ea typeface="微軟正黑體"/>
                        </a:defRPr>
                      </a:lvl7pPr>
                      <a:lvl8pPr marL="3200400" algn="l" defTabSz="914400" rtl="0" eaLnBrk="1" latinLnBrk="0" hangingPunct="1">
                        <a:defRPr sz="1800" b="1" kern="1200">
                          <a:solidFill>
                            <a:schemeClr val="bg1"/>
                          </a:solidFill>
                          <a:latin typeface="微軟正黑體"/>
                          <a:ea typeface="微軟正黑體"/>
                        </a:defRPr>
                      </a:lvl8pPr>
                      <a:lvl9pPr marL="3657600" algn="l" defTabSz="914400" rtl="0" eaLnBrk="1" latinLnBrk="0" hangingPunct="1">
                        <a:defRPr sz="1800" b="1" kern="1200">
                          <a:solidFill>
                            <a:schemeClr val="bg1"/>
                          </a:solidFill>
                          <a:latin typeface="微軟正黑體"/>
                          <a:ea typeface="微軟正黑體"/>
                        </a:defRPr>
                      </a:lvl9pPr>
                    </a:lstStyle>
                    <a:p>
                      <a:pPr algn="ctr"/>
                      <a:r>
                        <a:rPr lang="zh-TW" altLang="en-US" sz="1200" dirty="0">
                          <a:solidFill>
                            <a:schemeClr val="bg1"/>
                          </a:solidFill>
                        </a:rPr>
                        <a:t>穆迪</a:t>
                      </a:r>
                      <a:endParaRPr lang="zh-TW" altLang="en-US" sz="1200" b="1" dirty="0">
                        <a:solidFill>
                          <a:schemeClr val="bg1"/>
                        </a:solidFill>
                        <a:latin typeface="+mn-ea"/>
                        <a:ea typeface="+mn-ea"/>
                      </a:endParaRPr>
                    </a:p>
                  </a:txBody>
                  <a:tcPr anchor="ctr">
                    <a:lnL>
                      <a:noFill/>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lvl1pPr marL="0" algn="l" defTabSz="914400" rtl="0" eaLnBrk="1" latinLnBrk="0" hangingPunct="1">
                        <a:defRPr sz="1800" b="1" kern="1200">
                          <a:solidFill>
                            <a:schemeClr val="bg1"/>
                          </a:solidFill>
                          <a:latin typeface="微軟正黑體"/>
                          <a:ea typeface="微軟正黑體"/>
                        </a:defRPr>
                      </a:lvl1pPr>
                      <a:lvl2pPr marL="457200" algn="l" defTabSz="914400" rtl="0" eaLnBrk="1" latinLnBrk="0" hangingPunct="1">
                        <a:defRPr sz="1800" b="1" kern="1200">
                          <a:solidFill>
                            <a:schemeClr val="bg1"/>
                          </a:solidFill>
                          <a:latin typeface="微軟正黑體"/>
                          <a:ea typeface="微軟正黑體"/>
                        </a:defRPr>
                      </a:lvl2pPr>
                      <a:lvl3pPr marL="914400" algn="l" defTabSz="914400" rtl="0" eaLnBrk="1" latinLnBrk="0" hangingPunct="1">
                        <a:defRPr sz="1800" b="1" kern="1200">
                          <a:solidFill>
                            <a:schemeClr val="bg1"/>
                          </a:solidFill>
                          <a:latin typeface="微軟正黑體"/>
                          <a:ea typeface="微軟正黑體"/>
                        </a:defRPr>
                      </a:lvl3pPr>
                      <a:lvl4pPr marL="1371600" algn="l" defTabSz="914400" rtl="0" eaLnBrk="1" latinLnBrk="0" hangingPunct="1">
                        <a:defRPr sz="1800" b="1" kern="1200">
                          <a:solidFill>
                            <a:schemeClr val="bg1"/>
                          </a:solidFill>
                          <a:latin typeface="微軟正黑體"/>
                          <a:ea typeface="微軟正黑體"/>
                        </a:defRPr>
                      </a:lvl4pPr>
                      <a:lvl5pPr marL="1828800" algn="l" defTabSz="914400" rtl="0" eaLnBrk="1" latinLnBrk="0" hangingPunct="1">
                        <a:defRPr sz="1800" b="1" kern="1200">
                          <a:solidFill>
                            <a:schemeClr val="bg1"/>
                          </a:solidFill>
                          <a:latin typeface="微軟正黑體"/>
                          <a:ea typeface="微軟正黑體"/>
                        </a:defRPr>
                      </a:lvl5pPr>
                      <a:lvl6pPr marL="2286000" algn="l" defTabSz="914400" rtl="0" eaLnBrk="1" latinLnBrk="0" hangingPunct="1">
                        <a:defRPr sz="1800" b="1" kern="1200">
                          <a:solidFill>
                            <a:schemeClr val="bg1"/>
                          </a:solidFill>
                          <a:latin typeface="微軟正黑體"/>
                          <a:ea typeface="微軟正黑體"/>
                        </a:defRPr>
                      </a:lvl6pPr>
                      <a:lvl7pPr marL="2743200" algn="l" defTabSz="914400" rtl="0" eaLnBrk="1" latinLnBrk="0" hangingPunct="1">
                        <a:defRPr sz="1800" b="1" kern="1200">
                          <a:solidFill>
                            <a:schemeClr val="bg1"/>
                          </a:solidFill>
                          <a:latin typeface="微軟正黑體"/>
                          <a:ea typeface="微軟正黑體"/>
                        </a:defRPr>
                      </a:lvl7pPr>
                      <a:lvl8pPr marL="3200400" algn="l" defTabSz="914400" rtl="0" eaLnBrk="1" latinLnBrk="0" hangingPunct="1">
                        <a:defRPr sz="1800" b="1" kern="1200">
                          <a:solidFill>
                            <a:schemeClr val="bg1"/>
                          </a:solidFill>
                          <a:latin typeface="微軟正黑體"/>
                          <a:ea typeface="微軟正黑體"/>
                        </a:defRPr>
                      </a:lvl8pPr>
                      <a:lvl9pPr marL="3657600" algn="l" defTabSz="914400" rtl="0" eaLnBrk="1" latinLnBrk="0" hangingPunct="1">
                        <a:defRPr sz="1800" b="1" kern="1200">
                          <a:solidFill>
                            <a:schemeClr val="bg1"/>
                          </a:solidFill>
                          <a:latin typeface="微軟正黑體"/>
                          <a:ea typeface="微軟正黑體"/>
                        </a:defRPr>
                      </a:lvl9pPr>
                    </a:lstStyle>
                    <a:p>
                      <a:pPr algn="ctr"/>
                      <a:r>
                        <a:rPr lang="zh-TW" altLang="en-US" sz="1200" dirty="0">
                          <a:solidFill>
                            <a:schemeClr val="bg1"/>
                          </a:solidFill>
                        </a:rPr>
                        <a:t>標普</a:t>
                      </a:r>
                      <a:endParaRPr lang="zh-TW" altLang="en-US" sz="1200" b="1" dirty="0">
                        <a:solidFill>
                          <a:schemeClr val="bg1"/>
                        </a:solidFill>
                        <a:latin typeface="+mn-ea"/>
                        <a:ea typeface="+mn-ea"/>
                      </a:endParaRPr>
                    </a:p>
                  </a:txBody>
                  <a:tcPr anchor="ctr">
                    <a:lnL>
                      <a:noFill/>
                    </a:lnL>
                    <a:lnR w="9525" cap="flat" cmpd="sng" algn="ctr">
                      <a:no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a:r>
                        <a:rPr lang="zh-TW" altLang="en-US" sz="1200" b="1" kern="1200" dirty="0">
                          <a:solidFill>
                            <a:schemeClr val="bg1"/>
                          </a:solidFill>
                          <a:latin typeface="微軟正黑體"/>
                          <a:ea typeface="微軟正黑體"/>
                          <a:cs typeface="+mn-cs"/>
                        </a:rPr>
                        <a:t>惠譽</a:t>
                      </a:r>
                    </a:p>
                  </a:txBody>
                  <a:tcPr anchor="ctr">
                    <a:lnL>
                      <a:noFill/>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extLst>
                  <a:ext uri="{0D108BD9-81ED-4DB2-BD59-A6C34878D82A}">
                    <a16:rowId xmlns:a16="http://schemas.microsoft.com/office/drawing/2014/main" val="10000"/>
                  </a:ext>
                </a:extLst>
              </a:tr>
              <a:tr h="252217">
                <a:tc>
                  <a:txBody>
                    <a:bodyPr/>
                    <a:lstStyle>
                      <a:lvl1pPr marL="0" algn="l" defTabSz="914400" rtl="0" eaLnBrk="1" latinLnBrk="0" hangingPunct="1">
                        <a:defRPr sz="1800" kern="1200">
                          <a:solidFill>
                            <a:schemeClr val="tx1"/>
                          </a:solidFill>
                          <a:latin typeface="微軟正黑體"/>
                          <a:ea typeface="微軟正黑體"/>
                        </a:defRPr>
                      </a:lvl1pPr>
                      <a:lvl2pPr marL="457200" algn="l" defTabSz="914400" rtl="0" eaLnBrk="1" latinLnBrk="0" hangingPunct="1">
                        <a:defRPr sz="1800" kern="1200">
                          <a:solidFill>
                            <a:schemeClr val="tx1"/>
                          </a:solidFill>
                          <a:latin typeface="微軟正黑體"/>
                          <a:ea typeface="微軟正黑體"/>
                        </a:defRPr>
                      </a:lvl2pPr>
                      <a:lvl3pPr marL="914400" algn="l" defTabSz="914400" rtl="0" eaLnBrk="1" latinLnBrk="0" hangingPunct="1">
                        <a:defRPr sz="1800" kern="1200">
                          <a:solidFill>
                            <a:schemeClr val="tx1"/>
                          </a:solidFill>
                          <a:latin typeface="微軟正黑體"/>
                          <a:ea typeface="微軟正黑體"/>
                        </a:defRPr>
                      </a:lvl3pPr>
                      <a:lvl4pPr marL="1371600" algn="l" defTabSz="914400" rtl="0" eaLnBrk="1" latinLnBrk="0" hangingPunct="1">
                        <a:defRPr sz="1800" kern="1200">
                          <a:solidFill>
                            <a:schemeClr val="tx1"/>
                          </a:solidFill>
                          <a:latin typeface="微軟正黑體"/>
                          <a:ea typeface="微軟正黑體"/>
                        </a:defRPr>
                      </a:lvl4pPr>
                      <a:lvl5pPr marL="1828800" algn="l" defTabSz="914400" rtl="0" eaLnBrk="1" latinLnBrk="0" hangingPunct="1">
                        <a:defRPr sz="1800" kern="1200">
                          <a:solidFill>
                            <a:schemeClr val="tx1"/>
                          </a:solidFill>
                          <a:latin typeface="微軟正黑體"/>
                          <a:ea typeface="微軟正黑體"/>
                        </a:defRPr>
                      </a:lvl5pPr>
                      <a:lvl6pPr marL="2286000" algn="l" defTabSz="914400" rtl="0" eaLnBrk="1" latinLnBrk="0" hangingPunct="1">
                        <a:defRPr sz="1800" kern="1200">
                          <a:solidFill>
                            <a:schemeClr val="tx1"/>
                          </a:solidFill>
                          <a:latin typeface="微軟正黑體"/>
                          <a:ea typeface="微軟正黑體"/>
                        </a:defRPr>
                      </a:lvl6pPr>
                      <a:lvl7pPr marL="2743200" algn="l" defTabSz="914400" rtl="0" eaLnBrk="1" latinLnBrk="0" hangingPunct="1">
                        <a:defRPr sz="1800" kern="1200">
                          <a:solidFill>
                            <a:schemeClr val="tx1"/>
                          </a:solidFill>
                          <a:latin typeface="微軟正黑體"/>
                          <a:ea typeface="微軟正黑體"/>
                        </a:defRPr>
                      </a:lvl7pPr>
                      <a:lvl8pPr marL="3200400" algn="l" defTabSz="914400" rtl="0" eaLnBrk="1" latinLnBrk="0" hangingPunct="1">
                        <a:defRPr sz="1800" kern="1200">
                          <a:solidFill>
                            <a:schemeClr val="tx1"/>
                          </a:solidFill>
                          <a:latin typeface="微軟正黑體"/>
                          <a:ea typeface="微軟正黑體"/>
                        </a:defRPr>
                      </a:lvl8pPr>
                      <a:lvl9pPr marL="3657600" algn="l" defTabSz="914400" rtl="0" eaLnBrk="1" latinLnBrk="0" hangingPunct="1">
                        <a:defRPr sz="1800" kern="1200">
                          <a:solidFill>
                            <a:schemeClr val="tx1"/>
                          </a:solidFill>
                          <a:latin typeface="微軟正黑體"/>
                          <a:ea typeface="微軟正黑體"/>
                        </a:defRPr>
                      </a:lvl9pPr>
                    </a:lstStyle>
                    <a:p>
                      <a:pPr algn="ctr"/>
                      <a:r>
                        <a:rPr lang="zh-TW" altLang="en-US" sz="1100" dirty="0">
                          <a:solidFill>
                            <a:schemeClr val="tx1"/>
                          </a:solidFill>
                        </a:rPr>
                        <a:t>長期評等</a:t>
                      </a:r>
                      <a:endParaRPr lang="en-US" altLang="zh-TW" sz="1100" dirty="0">
                        <a:solidFill>
                          <a:schemeClr val="tx1"/>
                        </a:solidFill>
                        <a:latin typeface="+mn-ea"/>
                        <a:ea typeface="+mn-ea"/>
                      </a:endParaRPr>
                    </a:p>
                  </a:txBody>
                  <a:tcPr anchor="ctr">
                    <a:lnL w="9525" cap="flat" cmpd="sng" algn="ctr">
                      <a:solidFill>
                        <a:srgbClr val="B8B1A7">
                          <a:shade val="95000"/>
                          <a:satMod val="105000"/>
                        </a:srgbClr>
                      </a:solidFill>
                      <a:prstDash val="solid"/>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defTabSz="685800" rtl="0" eaLnBrk="1" fontAlgn="ctr" latinLnBrk="0" hangingPunct="1">
                        <a:spcBef>
                          <a:spcPts val="0"/>
                        </a:spcBef>
                        <a:spcAft>
                          <a:spcPts val="0"/>
                        </a:spcAft>
                      </a:pPr>
                      <a:r>
                        <a:rPr lang="en-US" altLang="zh-TW" sz="1200" b="1" i="0" u="none" strike="noStrike" kern="1200" dirty="0">
                          <a:solidFill>
                            <a:schemeClr val="tx1"/>
                          </a:solidFill>
                          <a:effectLst/>
                          <a:latin typeface="微軟正黑體" panose="020B0604030504040204" pitchFamily="34" charset="-120"/>
                          <a:ea typeface="微軟正黑體" panose="020B0604030504040204" pitchFamily="34" charset="-120"/>
                          <a:cs typeface="+mn-cs"/>
                        </a:rPr>
                        <a:t>Aa3</a:t>
                      </a:r>
                    </a:p>
                  </a:txBody>
                  <a:tcPr marL="9525" marR="9525" marT="9525" marB="0" anchor="ctr">
                    <a:lnL>
                      <a:noFill/>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en-US" sz="1200" b="1" i="0" u="none" strike="noStrike" kern="1200" dirty="0">
                          <a:solidFill>
                            <a:schemeClr val="tx1"/>
                          </a:solidFill>
                          <a:effectLst/>
                          <a:latin typeface="微軟正黑體" panose="020B0604030504040204" pitchFamily="34" charset="-120"/>
                          <a:ea typeface="微軟正黑體" panose="020B0604030504040204" pitchFamily="34" charset="-120"/>
                        </a:rPr>
                        <a:t>A</a:t>
                      </a:r>
                      <a:r>
                        <a:rPr lang="en-US" altLang="zh-TW" sz="1200" b="1" i="0" u="none" strike="noStrike" kern="1200" dirty="0">
                          <a:solidFill>
                            <a:schemeClr val="tx1"/>
                          </a:solidFill>
                          <a:effectLst/>
                          <a:latin typeface="微軟正黑體" panose="020B0604030504040204" pitchFamily="34" charset="-120"/>
                          <a:ea typeface="微軟正黑體" panose="020B0604030504040204" pitchFamily="34" charset="-120"/>
                        </a:rPr>
                        <a:t>A-</a:t>
                      </a:r>
                      <a:endParaRPr lang="en-US" altLang="zh-TW" sz="12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no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en-US" sz="1100" b="1" i="0" u="none" strike="noStrike" kern="1200" dirty="0">
                          <a:solidFill>
                            <a:schemeClr val="tx1"/>
                          </a:solidFill>
                          <a:effectLst/>
                          <a:latin typeface="微軟正黑體" panose="020B0604030504040204" pitchFamily="34" charset="-120"/>
                          <a:ea typeface="微軟正黑體" panose="020B0604030504040204" pitchFamily="34" charset="-120"/>
                        </a:rPr>
                        <a:t>--</a:t>
                      </a:r>
                      <a:endParaRPr lang="en-US" altLang="zh-TW" sz="11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round/>
                      <a:headEnd type="none" w="med" len="med"/>
                      <a:tailEnd type="none" w="med" len="me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2217">
                <a:tc>
                  <a:txBody>
                    <a:bodyPr/>
                    <a:lstStyle>
                      <a:lvl1pPr marL="0" algn="l" defTabSz="914400" rtl="0" eaLnBrk="1" latinLnBrk="0" hangingPunct="1">
                        <a:defRPr sz="1800" kern="1200">
                          <a:solidFill>
                            <a:schemeClr val="tx1"/>
                          </a:solidFill>
                          <a:latin typeface="微軟正黑體"/>
                          <a:ea typeface="微軟正黑體"/>
                        </a:defRPr>
                      </a:lvl1pPr>
                      <a:lvl2pPr marL="457200" algn="l" defTabSz="914400" rtl="0" eaLnBrk="1" latinLnBrk="0" hangingPunct="1">
                        <a:defRPr sz="1800" kern="1200">
                          <a:solidFill>
                            <a:schemeClr val="tx1"/>
                          </a:solidFill>
                          <a:latin typeface="微軟正黑體"/>
                          <a:ea typeface="微軟正黑體"/>
                        </a:defRPr>
                      </a:lvl2pPr>
                      <a:lvl3pPr marL="914400" algn="l" defTabSz="914400" rtl="0" eaLnBrk="1" latinLnBrk="0" hangingPunct="1">
                        <a:defRPr sz="1800" kern="1200">
                          <a:solidFill>
                            <a:schemeClr val="tx1"/>
                          </a:solidFill>
                          <a:latin typeface="微軟正黑體"/>
                          <a:ea typeface="微軟正黑體"/>
                        </a:defRPr>
                      </a:lvl3pPr>
                      <a:lvl4pPr marL="1371600" algn="l" defTabSz="914400" rtl="0" eaLnBrk="1" latinLnBrk="0" hangingPunct="1">
                        <a:defRPr sz="1800" kern="1200">
                          <a:solidFill>
                            <a:schemeClr val="tx1"/>
                          </a:solidFill>
                          <a:latin typeface="微軟正黑體"/>
                          <a:ea typeface="微軟正黑體"/>
                        </a:defRPr>
                      </a:lvl4pPr>
                      <a:lvl5pPr marL="1828800" algn="l" defTabSz="914400" rtl="0" eaLnBrk="1" latinLnBrk="0" hangingPunct="1">
                        <a:defRPr sz="1800" kern="1200">
                          <a:solidFill>
                            <a:schemeClr val="tx1"/>
                          </a:solidFill>
                          <a:latin typeface="微軟正黑體"/>
                          <a:ea typeface="微軟正黑體"/>
                        </a:defRPr>
                      </a:lvl5pPr>
                      <a:lvl6pPr marL="2286000" algn="l" defTabSz="914400" rtl="0" eaLnBrk="1" latinLnBrk="0" hangingPunct="1">
                        <a:defRPr sz="1800" kern="1200">
                          <a:solidFill>
                            <a:schemeClr val="tx1"/>
                          </a:solidFill>
                          <a:latin typeface="微軟正黑體"/>
                          <a:ea typeface="微軟正黑體"/>
                        </a:defRPr>
                      </a:lvl6pPr>
                      <a:lvl7pPr marL="2743200" algn="l" defTabSz="914400" rtl="0" eaLnBrk="1" latinLnBrk="0" hangingPunct="1">
                        <a:defRPr sz="1800" kern="1200">
                          <a:solidFill>
                            <a:schemeClr val="tx1"/>
                          </a:solidFill>
                          <a:latin typeface="微軟正黑體"/>
                          <a:ea typeface="微軟正黑體"/>
                        </a:defRPr>
                      </a:lvl7pPr>
                      <a:lvl8pPr marL="3200400" algn="l" defTabSz="914400" rtl="0" eaLnBrk="1" latinLnBrk="0" hangingPunct="1">
                        <a:defRPr sz="1800" kern="1200">
                          <a:solidFill>
                            <a:schemeClr val="tx1"/>
                          </a:solidFill>
                          <a:latin typeface="微軟正黑體"/>
                          <a:ea typeface="微軟正黑體"/>
                        </a:defRPr>
                      </a:lvl8pPr>
                      <a:lvl9pPr marL="3657600" algn="l" defTabSz="914400" rtl="0" eaLnBrk="1" latinLnBrk="0" hangingPunct="1">
                        <a:defRPr sz="1800" kern="1200">
                          <a:solidFill>
                            <a:schemeClr val="tx1"/>
                          </a:solidFill>
                          <a:latin typeface="微軟正黑體"/>
                          <a:ea typeface="微軟正黑體"/>
                        </a:defRPr>
                      </a:lvl9pPr>
                    </a:lstStyle>
                    <a:p>
                      <a:pPr algn="ctr"/>
                      <a:r>
                        <a:rPr lang="zh-TW" altLang="en-US" sz="1100" dirty="0">
                          <a:solidFill>
                            <a:schemeClr val="tx1"/>
                          </a:solidFill>
                        </a:rPr>
                        <a:t>評等展望</a:t>
                      </a:r>
                      <a:endParaRPr lang="zh-TW" altLang="en-US" sz="1100" dirty="0">
                        <a:solidFill>
                          <a:schemeClr val="tx1"/>
                        </a:solidFill>
                        <a:latin typeface="+mn-ea"/>
                        <a:ea typeface="+mn-ea"/>
                      </a:endParaRPr>
                    </a:p>
                  </a:txBody>
                  <a:tcPr anchor="ctr">
                    <a:lnL w="9525" cap="flat" cmpd="sng" algn="ctr">
                      <a:solidFill>
                        <a:srgbClr val="B8B1A7">
                          <a:shade val="95000"/>
                          <a:satMod val="105000"/>
                        </a:srgbClr>
                      </a:solidFill>
                      <a:prstDash val="solid"/>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zh-TW" altLang="en-US" sz="1200" b="0" i="0" u="none" strike="noStrike" kern="1200" dirty="0">
                          <a:solidFill>
                            <a:schemeClr val="tx1"/>
                          </a:solidFill>
                          <a:effectLst/>
                          <a:latin typeface="微軟正黑體" panose="020B0604030504040204" pitchFamily="34" charset="-120"/>
                          <a:ea typeface="微軟正黑體" panose="020B0604030504040204" pitchFamily="34" charset="-120"/>
                          <a:cs typeface="+mn-cs"/>
                        </a:rPr>
                        <a:t>正向</a:t>
                      </a:r>
                      <a:endParaRPr lang="zh-TW" altLang="en-US" sz="1200" b="1" i="0" u="none" strike="noStrike" dirty="0">
                        <a:solidFill>
                          <a:srgbClr val="FF0000"/>
                        </a:solidFill>
                        <a:effectLst/>
                        <a:latin typeface="Arial" panose="020B0604020202020204" pitchFamily="34" charset="0"/>
                      </a:endParaRPr>
                    </a:p>
                  </a:txBody>
                  <a:tcPr marL="9525" marR="9525" marT="9525" marB="0" anchor="ctr">
                    <a:lnL>
                      <a:noFill/>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zh-TW" altLang="en-US" sz="1200" b="0" i="0" u="none" strike="noStrike" kern="1200" dirty="0">
                          <a:solidFill>
                            <a:schemeClr val="tx1"/>
                          </a:solidFill>
                          <a:effectLst/>
                          <a:latin typeface="微軟正黑體" panose="020B0604030504040204" pitchFamily="34" charset="-120"/>
                          <a:ea typeface="微軟正黑體" panose="020B0604030504040204" pitchFamily="34" charset="-120"/>
                          <a:cs typeface="+mn-cs"/>
                        </a:rPr>
                        <a:t>正向</a:t>
                      </a:r>
                      <a:endParaRPr lang="zh-TW" altLang="en-US" sz="12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no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en-US" sz="1100" b="0" i="0" u="none" strike="noStrike" kern="1200" dirty="0">
                          <a:solidFill>
                            <a:schemeClr val="tx1"/>
                          </a:solidFill>
                          <a:effectLst/>
                          <a:latin typeface="微軟正黑體" panose="020B0604030504040204" pitchFamily="34" charset="-120"/>
                          <a:ea typeface="微軟正黑體" panose="020B0604030504040204" pitchFamily="34" charset="-120"/>
                        </a:rPr>
                        <a:t>--</a:t>
                      </a:r>
                      <a:endParaRPr lang="en-US" altLang="zh-TW" sz="11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round/>
                      <a:headEnd type="none" w="med" len="med"/>
                      <a:tailEnd type="none" w="med" len="me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2217">
                <a:tc>
                  <a:txBody>
                    <a:bodyPr/>
                    <a:lstStyle>
                      <a:lvl1pPr marL="0" algn="l" defTabSz="914400" rtl="0" eaLnBrk="1" latinLnBrk="0" hangingPunct="1">
                        <a:defRPr sz="1800" kern="1200">
                          <a:solidFill>
                            <a:schemeClr val="tx1"/>
                          </a:solidFill>
                          <a:latin typeface="微軟正黑體"/>
                          <a:ea typeface="微軟正黑體"/>
                        </a:defRPr>
                      </a:lvl1pPr>
                      <a:lvl2pPr marL="457200" algn="l" defTabSz="914400" rtl="0" eaLnBrk="1" latinLnBrk="0" hangingPunct="1">
                        <a:defRPr sz="1800" kern="1200">
                          <a:solidFill>
                            <a:schemeClr val="tx1"/>
                          </a:solidFill>
                          <a:latin typeface="微軟正黑體"/>
                          <a:ea typeface="微軟正黑體"/>
                        </a:defRPr>
                      </a:lvl2pPr>
                      <a:lvl3pPr marL="914400" algn="l" defTabSz="914400" rtl="0" eaLnBrk="1" latinLnBrk="0" hangingPunct="1">
                        <a:defRPr sz="1800" kern="1200">
                          <a:solidFill>
                            <a:schemeClr val="tx1"/>
                          </a:solidFill>
                          <a:latin typeface="微軟正黑體"/>
                          <a:ea typeface="微軟正黑體"/>
                        </a:defRPr>
                      </a:lvl3pPr>
                      <a:lvl4pPr marL="1371600" algn="l" defTabSz="914400" rtl="0" eaLnBrk="1" latinLnBrk="0" hangingPunct="1">
                        <a:defRPr sz="1800" kern="1200">
                          <a:solidFill>
                            <a:schemeClr val="tx1"/>
                          </a:solidFill>
                          <a:latin typeface="微軟正黑體"/>
                          <a:ea typeface="微軟正黑體"/>
                        </a:defRPr>
                      </a:lvl4pPr>
                      <a:lvl5pPr marL="1828800" algn="l" defTabSz="914400" rtl="0" eaLnBrk="1" latinLnBrk="0" hangingPunct="1">
                        <a:defRPr sz="1800" kern="1200">
                          <a:solidFill>
                            <a:schemeClr val="tx1"/>
                          </a:solidFill>
                          <a:latin typeface="微軟正黑體"/>
                          <a:ea typeface="微軟正黑體"/>
                        </a:defRPr>
                      </a:lvl5pPr>
                      <a:lvl6pPr marL="2286000" algn="l" defTabSz="914400" rtl="0" eaLnBrk="1" latinLnBrk="0" hangingPunct="1">
                        <a:defRPr sz="1800" kern="1200">
                          <a:solidFill>
                            <a:schemeClr val="tx1"/>
                          </a:solidFill>
                          <a:latin typeface="微軟正黑體"/>
                          <a:ea typeface="微軟正黑體"/>
                        </a:defRPr>
                      </a:lvl6pPr>
                      <a:lvl7pPr marL="2743200" algn="l" defTabSz="914400" rtl="0" eaLnBrk="1" latinLnBrk="0" hangingPunct="1">
                        <a:defRPr sz="1800" kern="1200">
                          <a:solidFill>
                            <a:schemeClr val="tx1"/>
                          </a:solidFill>
                          <a:latin typeface="微軟正黑體"/>
                          <a:ea typeface="微軟正黑體"/>
                        </a:defRPr>
                      </a:lvl7pPr>
                      <a:lvl8pPr marL="3200400" algn="l" defTabSz="914400" rtl="0" eaLnBrk="1" latinLnBrk="0" hangingPunct="1">
                        <a:defRPr sz="1800" kern="1200">
                          <a:solidFill>
                            <a:schemeClr val="tx1"/>
                          </a:solidFill>
                          <a:latin typeface="微軟正黑體"/>
                          <a:ea typeface="微軟正黑體"/>
                        </a:defRPr>
                      </a:lvl8pPr>
                      <a:lvl9pPr marL="3657600" algn="l" defTabSz="914400" rtl="0" eaLnBrk="1" latinLnBrk="0" hangingPunct="1">
                        <a:defRPr sz="1800" kern="1200">
                          <a:solidFill>
                            <a:schemeClr val="tx1"/>
                          </a:solidFill>
                          <a:latin typeface="微軟正黑體"/>
                          <a:ea typeface="微軟正黑體"/>
                        </a:defRPr>
                      </a:lvl9pPr>
                    </a:lstStyle>
                    <a:p>
                      <a:pPr algn="ctr"/>
                      <a:r>
                        <a:rPr lang="zh-TW" altLang="en-US" sz="1100" dirty="0">
                          <a:solidFill>
                            <a:schemeClr val="tx1"/>
                          </a:solidFill>
                        </a:rPr>
                        <a:t>展望發佈日</a:t>
                      </a:r>
                      <a:endParaRPr lang="zh-TW" altLang="en-US" sz="1100" dirty="0">
                        <a:solidFill>
                          <a:schemeClr val="tx1"/>
                        </a:solidFill>
                        <a:latin typeface="+mn-ea"/>
                        <a:ea typeface="+mn-ea"/>
                      </a:endParaRPr>
                    </a:p>
                  </a:txBody>
                  <a:tcPr anchor="ctr">
                    <a:lnL w="9525" cap="flat" cmpd="sng" algn="ctr">
                      <a:solidFill>
                        <a:srgbClr val="B8B1A7">
                          <a:shade val="95000"/>
                          <a:satMod val="105000"/>
                        </a:srgbClr>
                      </a:solidFill>
                      <a:prstDash val="solid"/>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lnSpc>
                          <a:spcPts val="1300"/>
                        </a:lnSpc>
                        <a:spcBef>
                          <a:spcPts val="300"/>
                        </a:spcBef>
                        <a:spcAft>
                          <a:spcPts val="0"/>
                        </a:spcAft>
                      </a:pPr>
                      <a:r>
                        <a:rPr lang="en-US" sz="1200" b="0" i="0" u="none" strike="noStrike" kern="1200" dirty="0">
                          <a:solidFill>
                            <a:schemeClr val="tx1"/>
                          </a:solidFill>
                          <a:effectLst/>
                          <a:latin typeface="微軟正黑體" panose="020B0604030504040204" pitchFamily="34" charset="-120"/>
                          <a:ea typeface="微軟正黑體" panose="020B0604030504040204" pitchFamily="34" charset="-120"/>
                        </a:rPr>
                        <a:t>202</a:t>
                      </a: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rPr>
                        <a:t>5</a:t>
                      </a:r>
                      <a:r>
                        <a:rPr lang="en-US" sz="1200" b="0" i="0" u="none" strike="noStrike" kern="1200" dirty="0">
                          <a:solidFill>
                            <a:schemeClr val="tx1"/>
                          </a:solidFill>
                          <a:effectLst/>
                          <a:latin typeface="微軟正黑體" panose="020B0604030504040204" pitchFamily="34" charset="-120"/>
                          <a:ea typeface="微軟正黑體" panose="020B0604030504040204" pitchFamily="34" charset="-120"/>
                        </a:rPr>
                        <a:t>/</a:t>
                      </a: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rPr>
                        <a:t>12</a:t>
                      </a:r>
                      <a:r>
                        <a:rPr lang="en-US" sz="1200" b="0" i="0" u="none" strike="noStrike" kern="1200" dirty="0">
                          <a:solidFill>
                            <a:schemeClr val="tx1"/>
                          </a:solidFill>
                          <a:effectLst/>
                          <a:latin typeface="微軟正黑體" panose="020B0604030504040204" pitchFamily="34" charset="-120"/>
                          <a:ea typeface="微軟正黑體" panose="020B0604030504040204" pitchFamily="34" charset="-120"/>
                        </a:rPr>
                        <a:t>/</a:t>
                      </a: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rPr>
                        <a:t>12</a:t>
                      </a:r>
                      <a:endParaRPr lang="en-US" altLang="zh-TW" sz="1200" b="0" i="0" u="none" strike="noStrike" dirty="0">
                        <a:solidFill>
                          <a:schemeClr val="tx1"/>
                        </a:solidFill>
                        <a:effectLst/>
                        <a:latin typeface="Arial" panose="020B0604020202020204" pitchFamily="34" charset="0"/>
                      </a:endParaRPr>
                    </a:p>
                  </a:txBody>
                  <a:tcPr marL="9525" marR="9525" marT="9525" marB="0" anchor="ctr">
                    <a:lnL>
                      <a:noFill/>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en-US" sz="1200" b="0" i="0" u="none" strike="noStrike" kern="1200" dirty="0">
                          <a:solidFill>
                            <a:schemeClr val="tx1"/>
                          </a:solidFill>
                          <a:effectLst/>
                          <a:latin typeface="微軟正黑體" panose="020B0604030504040204" pitchFamily="34" charset="-120"/>
                          <a:ea typeface="微軟正黑體" panose="020B0604030504040204" pitchFamily="34" charset="-120"/>
                        </a:rPr>
                        <a:t>202</a:t>
                      </a: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rPr>
                        <a:t>6</a:t>
                      </a:r>
                      <a:r>
                        <a:rPr lang="en-US" sz="1200" b="0" i="0" u="none" strike="noStrike" kern="1200" dirty="0">
                          <a:solidFill>
                            <a:schemeClr val="tx1"/>
                          </a:solidFill>
                          <a:effectLst/>
                          <a:latin typeface="微軟正黑體" panose="020B0604030504040204" pitchFamily="34" charset="-120"/>
                          <a:ea typeface="微軟正黑體" panose="020B0604030504040204" pitchFamily="34" charset="-120"/>
                        </a:rPr>
                        <a:t>/</a:t>
                      </a: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rPr>
                        <a:t>4</a:t>
                      </a:r>
                      <a:r>
                        <a:rPr lang="en-US" sz="1200" b="0" i="0" u="none" strike="noStrike" kern="1200" dirty="0">
                          <a:solidFill>
                            <a:schemeClr val="tx1"/>
                          </a:solidFill>
                          <a:effectLst/>
                          <a:latin typeface="微軟正黑體" panose="020B0604030504040204" pitchFamily="34" charset="-120"/>
                          <a:ea typeface="微軟正黑體" panose="020B0604030504040204" pitchFamily="34" charset="-120"/>
                        </a:rPr>
                        <a:t>/</a:t>
                      </a: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rPr>
                        <a:t>30</a:t>
                      </a:r>
                      <a:endParaRPr lang="en-US" altLang="zh-TW" sz="12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no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en-US" sz="1100" b="0" i="0" u="none" strike="noStrike" kern="1200" dirty="0">
                          <a:solidFill>
                            <a:schemeClr val="tx1"/>
                          </a:solidFill>
                          <a:effectLst/>
                          <a:latin typeface="微軟正黑體" panose="020B0604030504040204" pitchFamily="34" charset="-120"/>
                          <a:ea typeface="微軟正黑體" panose="020B0604030504040204" pitchFamily="34" charset="-120"/>
                        </a:rPr>
                        <a:t>--</a:t>
                      </a:r>
                      <a:endParaRPr lang="en-US" altLang="zh-TW" sz="11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round/>
                      <a:headEnd type="none" w="med" len="med"/>
                      <a:tailEnd type="none" w="med" len="me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348103">
                <a:tc gridSpan="4">
                  <a:txBody>
                    <a:bodyPr/>
                    <a:lstStyle>
                      <a:lvl1pPr marL="0" algn="l" defTabSz="914400" rtl="0" eaLnBrk="1" latinLnBrk="0" hangingPunct="1">
                        <a:defRPr sz="1800" kern="1200">
                          <a:solidFill>
                            <a:schemeClr val="tx1"/>
                          </a:solidFill>
                          <a:latin typeface="微軟正黑體"/>
                          <a:ea typeface="微軟正黑體"/>
                        </a:defRPr>
                      </a:lvl1pPr>
                      <a:lvl2pPr marL="457200" algn="l" defTabSz="914400" rtl="0" eaLnBrk="1" latinLnBrk="0" hangingPunct="1">
                        <a:defRPr sz="1800" kern="1200">
                          <a:solidFill>
                            <a:schemeClr val="tx1"/>
                          </a:solidFill>
                          <a:latin typeface="微軟正黑體"/>
                          <a:ea typeface="微軟正黑體"/>
                        </a:defRPr>
                      </a:lvl2pPr>
                      <a:lvl3pPr marL="914400" algn="l" defTabSz="914400" rtl="0" eaLnBrk="1" latinLnBrk="0" hangingPunct="1">
                        <a:defRPr sz="1800" kern="1200">
                          <a:solidFill>
                            <a:schemeClr val="tx1"/>
                          </a:solidFill>
                          <a:latin typeface="微軟正黑體"/>
                          <a:ea typeface="微軟正黑體"/>
                        </a:defRPr>
                      </a:lvl3pPr>
                      <a:lvl4pPr marL="1371600" algn="l" defTabSz="914400" rtl="0" eaLnBrk="1" latinLnBrk="0" hangingPunct="1">
                        <a:defRPr sz="1800" kern="1200">
                          <a:solidFill>
                            <a:schemeClr val="tx1"/>
                          </a:solidFill>
                          <a:latin typeface="微軟正黑體"/>
                          <a:ea typeface="微軟正黑體"/>
                        </a:defRPr>
                      </a:lvl4pPr>
                      <a:lvl5pPr marL="1828800" algn="l" defTabSz="914400" rtl="0" eaLnBrk="1" latinLnBrk="0" hangingPunct="1">
                        <a:defRPr sz="1800" kern="1200">
                          <a:solidFill>
                            <a:schemeClr val="tx1"/>
                          </a:solidFill>
                          <a:latin typeface="微軟正黑體"/>
                          <a:ea typeface="微軟正黑體"/>
                        </a:defRPr>
                      </a:lvl5pPr>
                      <a:lvl6pPr marL="2286000" algn="l" defTabSz="914400" rtl="0" eaLnBrk="1" latinLnBrk="0" hangingPunct="1">
                        <a:defRPr sz="1800" kern="1200">
                          <a:solidFill>
                            <a:schemeClr val="tx1"/>
                          </a:solidFill>
                          <a:latin typeface="微軟正黑體"/>
                          <a:ea typeface="微軟正黑體"/>
                        </a:defRPr>
                      </a:lvl6pPr>
                      <a:lvl7pPr marL="2743200" algn="l" defTabSz="914400" rtl="0" eaLnBrk="1" latinLnBrk="0" hangingPunct="1">
                        <a:defRPr sz="1800" kern="1200">
                          <a:solidFill>
                            <a:schemeClr val="tx1"/>
                          </a:solidFill>
                          <a:latin typeface="微軟正黑體"/>
                          <a:ea typeface="微軟正黑體"/>
                        </a:defRPr>
                      </a:lvl7pPr>
                      <a:lvl8pPr marL="3200400" algn="l" defTabSz="914400" rtl="0" eaLnBrk="1" latinLnBrk="0" hangingPunct="1">
                        <a:defRPr sz="1800" kern="1200">
                          <a:solidFill>
                            <a:schemeClr val="tx1"/>
                          </a:solidFill>
                          <a:latin typeface="微軟正黑體"/>
                          <a:ea typeface="微軟正黑體"/>
                        </a:defRPr>
                      </a:lvl8pPr>
                      <a:lvl9pPr marL="3657600" algn="l" defTabSz="914400" rtl="0" eaLnBrk="1" latinLnBrk="0" hangingPunct="1">
                        <a:defRPr sz="1800" kern="1200">
                          <a:solidFill>
                            <a:schemeClr val="tx1"/>
                          </a:solidFill>
                          <a:latin typeface="微軟正黑體"/>
                          <a:ea typeface="微軟正黑體"/>
                        </a:defRPr>
                      </a:lvl9pPr>
                    </a:lstStyle>
                    <a:p>
                      <a:pPr marL="0" indent="0" algn="just" defTabSz="914400" rtl="0" eaLnBrk="1" latinLnBrk="0" hangingPunct="0">
                        <a:lnSpc>
                          <a:spcPts val="1700"/>
                        </a:lnSpc>
                        <a:spcBef>
                          <a:spcPts val="300"/>
                        </a:spcBef>
                        <a:spcAft>
                          <a:spcPts val="0"/>
                        </a:spcAft>
                        <a:buFont typeface="Wingdings" panose="05000000000000000000" pitchFamily="2" charset="2"/>
                        <a:buNone/>
                      </a:pPr>
                      <a:r>
                        <a:rPr lang="zh-TW" altLang="en-US" sz="1100" b="1" dirty="0">
                          <a:latin typeface="微軟正黑體" panose="020B0604030504040204" pitchFamily="34" charset="-120"/>
                          <a:ea typeface="微軟正黑體" panose="020B0604030504040204" pitchFamily="34" charset="-120"/>
                        </a:rPr>
                        <a:t>穆迪觀點</a:t>
                      </a:r>
                      <a:endParaRPr lang="en-US" altLang="zh-TW" sz="1100" b="1" dirty="0">
                        <a:latin typeface="微軟正黑體" panose="020B0604030504040204" pitchFamily="34" charset="-120"/>
                        <a:ea typeface="微軟正黑體" panose="020B0604030504040204" pitchFamily="34" charset="-120"/>
                      </a:endParaRPr>
                    </a:p>
                    <a:p>
                      <a:pPr marL="171450" indent="-171450" algn="just" defTabSz="914400" rtl="0" eaLnBrk="1" latinLnBrk="0" hangingPunct="0">
                        <a:lnSpc>
                          <a:spcPts val="1600"/>
                        </a:lnSpc>
                        <a:spcBef>
                          <a:spcPts val="300"/>
                        </a:spcBef>
                        <a:spcAft>
                          <a:spcPts val="0"/>
                        </a:spcAft>
                        <a:buFont typeface="Wingdings" panose="05000000000000000000" pitchFamily="2" charset="2"/>
                        <a:buChar char="p"/>
                      </a:pP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穆迪於</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2025/12/12</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將禮來公司</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(Eli Lilly and Company)</a:t>
                      </a:r>
                      <a:r>
                        <a:rPr lang="zh-TW" altLang="en-US" sz="1100" dirty="0"/>
                        <a:t>的展望由穩定調整為正向，重申長期發行人、優先無擔保評等為</a:t>
                      </a:r>
                      <a:r>
                        <a:rPr lang="en-US" altLang="zh-TW" sz="1100" dirty="0"/>
                        <a:t>Aa3</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。此次評級調整反映</a:t>
                      </a:r>
                      <a:r>
                        <a:rPr lang="zh-TW" altLang="en-US" sz="1100" dirty="0"/>
                        <a:t>禮來在腸泌素</a:t>
                      </a:r>
                      <a:r>
                        <a:rPr lang="en-US" altLang="zh-TW" sz="1100" dirty="0"/>
                        <a:t>(incretin)</a:t>
                      </a:r>
                      <a:r>
                        <a:rPr lang="zh-TW" altLang="en-US" sz="1100" dirty="0"/>
                        <a:t>療法領域不斷擴大的領導地位，主要來自</a:t>
                      </a:r>
                      <a:r>
                        <a:rPr lang="en-US" altLang="zh-TW" sz="1100" dirty="0" err="1"/>
                        <a:t>tirzepatide</a:t>
                      </a:r>
                      <a:r>
                        <a:rPr lang="zh-TW" altLang="en-US" sz="1100" dirty="0"/>
                        <a:t>系列產品</a:t>
                      </a:r>
                      <a:r>
                        <a:rPr lang="en-US" altLang="zh-TW" sz="1100" dirty="0"/>
                        <a:t>(</a:t>
                      </a:r>
                      <a:r>
                        <a:rPr lang="zh-TW" altLang="en-US" sz="1100" dirty="0"/>
                        <a:t>包含</a:t>
                      </a:r>
                      <a:r>
                        <a:rPr lang="en-US" altLang="zh-TW" sz="1100" dirty="0" err="1"/>
                        <a:t>Mounjaro</a:t>
                      </a:r>
                      <a:r>
                        <a:rPr lang="zh-TW" altLang="en-US" sz="1100" dirty="0"/>
                        <a:t>與</a:t>
                      </a:r>
                      <a:r>
                        <a:rPr lang="en-US" altLang="zh-TW" sz="1100" dirty="0" err="1"/>
                        <a:t>Zepbound</a:t>
                      </a:r>
                      <a:r>
                        <a:rPr lang="en-US" altLang="zh-TW" sz="1100" dirty="0"/>
                        <a:t>)</a:t>
                      </a:r>
                      <a:r>
                        <a:rPr lang="zh-TW" altLang="en-US" sz="1100" dirty="0"/>
                        <a:t>，預期將在未來數年持續推動非常強勁的獲利增長。競爭與政策措施使</a:t>
                      </a:r>
                      <a:r>
                        <a:rPr lang="en-US" altLang="zh-TW" sz="1100" dirty="0" err="1"/>
                        <a:t>Mounjaro</a:t>
                      </a:r>
                      <a:r>
                        <a:rPr lang="zh-TW" altLang="en-US" sz="1100" dirty="0"/>
                        <a:t>與</a:t>
                      </a:r>
                      <a:r>
                        <a:rPr lang="en-US" altLang="zh-TW" sz="1100" dirty="0" err="1"/>
                        <a:t>Zepbound</a:t>
                      </a:r>
                      <a:r>
                        <a:rPr lang="zh-TW" altLang="en-US" sz="1100" dirty="0"/>
                        <a:t>的價格承壓，但禮來仍具備進一步滲透龐大的肥胖與糖尿病市場的良好定位。</a:t>
                      </a:r>
                      <a:endParaRPr lang="en-US" altLang="zh-TW" sz="1100" dirty="0"/>
                    </a:p>
                    <a:p>
                      <a:pPr marL="171450" indent="-171450" algn="just" defTabSz="914400" rtl="0" eaLnBrk="1" latinLnBrk="0" hangingPunct="0">
                        <a:lnSpc>
                          <a:spcPts val="1600"/>
                        </a:lnSpc>
                        <a:spcBef>
                          <a:spcPts val="300"/>
                        </a:spcBef>
                        <a:spcAft>
                          <a:spcPts val="0"/>
                        </a:spcAft>
                        <a:buFont typeface="Wingdings" panose="05000000000000000000" pitchFamily="2" charset="2"/>
                        <a:buChar char="p"/>
                      </a:pPr>
                      <a:r>
                        <a:rPr lang="zh-TW" altLang="en-US" sz="1100" b="0" dirty="0">
                          <a:latin typeface="微軟正黑體" panose="020B0604030504040204" pitchFamily="34" charset="-120"/>
                          <a:ea typeface="微軟正黑體" panose="020B0604030504040204" pitchFamily="34" charset="-120"/>
                        </a:rPr>
                        <a:t>穆迪預期禮來在腸泌素產品線以外能維持良好的產品多元性，並受惠於多項重磅產品的成長，包括腫瘤學領域的</a:t>
                      </a:r>
                      <a:r>
                        <a:rPr lang="en-US" altLang="zh-TW" sz="1100" b="0" dirty="0" err="1">
                          <a:latin typeface="微軟正黑體" panose="020B0604030504040204" pitchFamily="34" charset="-120"/>
                          <a:ea typeface="微軟正黑體" panose="020B0604030504040204" pitchFamily="34" charset="-120"/>
                        </a:rPr>
                        <a:t>Verzenio</a:t>
                      </a:r>
                      <a:r>
                        <a:rPr lang="zh-TW" altLang="en-US" sz="1100" b="0" dirty="0">
                          <a:latin typeface="微軟正黑體" panose="020B0604030504040204" pitchFamily="34" charset="-120"/>
                          <a:ea typeface="微軟正黑體" panose="020B0604030504040204" pitchFamily="34" charset="-120"/>
                        </a:rPr>
                        <a:t>、免疫學領域的</a:t>
                      </a:r>
                      <a:r>
                        <a:rPr lang="en-US" altLang="zh-TW" sz="1100" b="0" dirty="0" err="1">
                          <a:latin typeface="微軟正黑體" panose="020B0604030504040204" pitchFamily="34" charset="-120"/>
                          <a:ea typeface="微軟正黑體" panose="020B0604030504040204" pitchFamily="34" charset="-120"/>
                        </a:rPr>
                        <a:t>Ebglyss</a:t>
                      </a:r>
                      <a:r>
                        <a:rPr lang="zh-TW" altLang="en-US" sz="1100" b="0" dirty="0">
                          <a:latin typeface="微軟正黑體" panose="020B0604030504040204" pitchFamily="34" charset="-120"/>
                          <a:ea typeface="微軟正黑體" panose="020B0604030504040204" pitchFamily="34" charset="-120"/>
                        </a:rPr>
                        <a:t>，以及阿茲海默症治療藥物</a:t>
                      </a:r>
                      <a:r>
                        <a:rPr lang="en-US" altLang="zh-TW" sz="1100" b="0" dirty="0" err="1">
                          <a:latin typeface="微軟正黑體" panose="020B0604030504040204" pitchFamily="34" charset="-120"/>
                          <a:ea typeface="微軟正黑體" panose="020B0604030504040204" pitchFamily="34" charset="-120"/>
                        </a:rPr>
                        <a:t>Kisunla</a:t>
                      </a:r>
                      <a:r>
                        <a:rPr lang="zh-TW" altLang="en-US" sz="1100" b="0" dirty="0">
                          <a:latin typeface="微軟正黑體" panose="020B0604030504040204" pitchFamily="34" charset="-120"/>
                          <a:ea typeface="微軟正黑體" panose="020B0604030504040204" pitchFamily="34" charset="-120"/>
                        </a:rPr>
                        <a:t>。</a:t>
                      </a:r>
                      <a:endParaRPr lang="en-US" altLang="zh-TW" sz="1100" b="0" dirty="0">
                        <a:latin typeface="微軟正黑體" panose="020B0604030504040204" pitchFamily="34" charset="-120"/>
                        <a:ea typeface="微軟正黑體" panose="020B0604030504040204" pitchFamily="34" charset="-120"/>
                      </a:endParaRPr>
                    </a:p>
                    <a:p>
                      <a:pPr marL="0" indent="0" algn="just" defTabSz="914400" rtl="0" eaLnBrk="1" latinLnBrk="0" hangingPunct="0">
                        <a:lnSpc>
                          <a:spcPts val="1600"/>
                        </a:lnSpc>
                        <a:spcBef>
                          <a:spcPts val="300"/>
                        </a:spcBef>
                        <a:spcAft>
                          <a:spcPts val="0"/>
                        </a:spcAft>
                        <a:buFont typeface="Wingdings" panose="05000000000000000000" pitchFamily="2" charset="2"/>
                        <a:buNone/>
                      </a:pPr>
                      <a:r>
                        <a:rPr lang="zh-TW" altLang="en-US" sz="1100" b="1" dirty="0">
                          <a:latin typeface="微軟正黑體" panose="020B0604030504040204" pitchFamily="34" charset="-120"/>
                          <a:ea typeface="微軟正黑體" panose="020B0604030504040204" pitchFamily="34" charset="-120"/>
                        </a:rPr>
                        <a:t>標普觀點</a:t>
                      </a:r>
                      <a:endParaRPr lang="en-US" altLang="zh-TW" sz="1100" b="0" dirty="0">
                        <a:latin typeface="微軟正黑體" panose="020B0604030504040204" pitchFamily="34" charset="-120"/>
                        <a:ea typeface="微軟正黑體" panose="020B0604030504040204" pitchFamily="34" charset="-120"/>
                      </a:endParaRPr>
                    </a:p>
                    <a:p>
                      <a:pPr marL="171450" indent="-171450" algn="just" defTabSz="914400" rtl="0" eaLnBrk="1" latinLnBrk="0" hangingPunct="0">
                        <a:lnSpc>
                          <a:spcPts val="1600"/>
                        </a:lnSpc>
                        <a:spcBef>
                          <a:spcPts val="300"/>
                        </a:spcBef>
                        <a:spcAft>
                          <a:spcPts val="0"/>
                        </a:spcAft>
                        <a:buFont typeface="Wingdings" panose="05000000000000000000" pitchFamily="2" charset="2"/>
                        <a:buChar char="p"/>
                      </a:pPr>
                      <a:r>
                        <a:rPr lang="zh-TW" altLang="en-US" sz="1100" b="0" dirty="0">
                          <a:latin typeface="微軟正黑體" panose="020B0604030504040204" pitchFamily="34" charset="-120"/>
                          <a:ea typeface="微軟正黑體" panose="020B0604030504040204" pitchFamily="34" charset="-120"/>
                        </a:rPr>
                        <a:t>標普於</a:t>
                      </a:r>
                      <a:r>
                        <a:rPr lang="en-US" altLang="zh-TW" sz="1100" b="0" dirty="0">
                          <a:latin typeface="微軟正黑體" panose="020B0604030504040204" pitchFamily="34" charset="-120"/>
                          <a:ea typeface="微軟正黑體" panose="020B0604030504040204" pitchFamily="34" charset="-120"/>
                        </a:rPr>
                        <a:t>2026/4/30</a:t>
                      </a:r>
                      <a:r>
                        <a:rPr lang="zh-TW" altLang="en-US" sz="1100" b="0" dirty="0">
                          <a:latin typeface="微軟正黑體" panose="020B0604030504040204" pitchFamily="34" charset="-120"/>
                          <a:ea typeface="微軟正黑體" panose="020B0604030504040204" pitchFamily="34" charset="-120"/>
                        </a:rPr>
                        <a:t>將禮來的發行人信用評等與優先無擔保評等由</a:t>
                      </a:r>
                      <a:r>
                        <a:rPr lang="en-US" altLang="zh-TW" sz="1100" b="0" dirty="0">
                          <a:latin typeface="微軟正黑體" panose="020B0604030504040204" pitchFamily="34" charset="-120"/>
                          <a:ea typeface="微軟正黑體" panose="020B0604030504040204" pitchFamily="34" charset="-120"/>
                        </a:rPr>
                        <a:t>A+</a:t>
                      </a:r>
                      <a:r>
                        <a:rPr lang="zh-TW" altLang="en-US" sz="1100" b="0" dirty="0">
                          <a:latin typeface="微軟正黑體" panose="020B0604030504040204" pitchFamily="34" charset="-120"/>
                          <a:ea typeface="微軟正黑體" panose="020B0604030504040204" pitchFamily="34" charset="-120"/>
                        </a:rPr>
                        <a:t>上調至</a:t>
                      </a:r>
                      <a:r>
                        <a:rPr lang="en-US" altLang="zh-TW" sz="1100" b="0" dirty="0">
                          <a:latin typeface="微軟正黑體" panose="020B0604030504040204" pitchFamily="34" charset="-120"/>
                          <a:ea typeface="微軟正黑體" panose="020B0604030504040204" pitchFamily="34" charset="-120"/>
                        </a:rPr>
                        <a:t>AA-</a:t>
                      </a:r>
                      <a:r>
                        <a:rPr lang="zh-TW" altLang="en-US" sz="1100" b="0" dirty="0">
                          <a:latin typeface="微軟正黑體" panose="020B0604030504040204" pitchFamily="34" charset="-120"/>
                          <a:ea typeface="微軟正黑體" panose="020B0604030504040204" pitchFamily="34" charset="-120"/>
                        </a:rPr>
                        <a:t>。標普預期腸泌素產品</a:t>
                      </a:r>
                      <a:r>
                        <a:rPr lang="en-US" altLang="zh-TW" sz="1100" b="0" dirty="0" err="1">
                          <a:latin typeface="微軟正黑體" panose="020B0604030504040204" pitchFamily="34" charset="-120"/>
                          <a:ea typeface="微軟正黑體" panose="020B0604030504040204" pitchFamily="34" charset="-120"/>
                        </a:rPr>
                        <a:t>Zepbound</a:t>
                      </a:r>
                      <a:r>
                        <a:rPr lang="en-US" altLang="zh-TW" sz="1100" b="0" dirty="0">
                          <a:latin typeface="微軟正黑體" panose="020B0604030504040204" pitchFamily="34" charset="-120"/>
                          <a:ea typeface="微軟正黑體" panose="020B0604030504040204" pitchFamily="34" charset="-120"/>
                        </a:rPr>
                        <a:t>/</a:t>
                      </a:r>
                      <a:r>
                        <a:rPr lang="en-US" altLang="zh-TW" sz="1100" b="0" dirty="0" err="1">
                          <a:latin typeface="微軟正黑體" panose="020B0604030504040204" pitchFamily="34" charset="-120"/>
                          <a:ea typeface="微軟正黑體" panose="020B0604030504040204" pitchFamily="34" charset="-120"/>
                        </a:rPr>
                        <a:t>Mounjaro</a:t>
                      </a:r>
                      <a:r>
                        <a:rPr lang="zh-TW" altLang="en-US" sz="1100" b="0" dirty="0">
                          <a:latin typeface="微軟正黑體" panose="020B0604030504040204" pitchFamily="34" charset="-120"/>
                          <a:ea typeface="微軟正黑體" panose="020B0604030504040204" pitchFamily="34" charset="-120"/>
                        </a:rPr>
                        <a:t>的強勁需求，將推動禮來未來</a:t>
                      </a:r>
                      <a:r>
                        <a:rPr lang="en-US" altLang="zh-TW" sz="1100" b="0" dirty="0">
                          <a:latin typeface="微軟正黑體" panose="020B0604030504040204" pitchFamily="34" charset="-120"/>
                          <a:ea typeface="微軟正黑體" panose="020B0604030504040204" pitchFamily="34" charset="-120"/>
                        </a:rPr>
                        <a:t>3-5</a:t>
                      </a:r>
                      <a:r>
                        <a:rPr lang="zh-TW" altLang="en-US" sz="1100" b="0" dirty="0">
                          <a:latin typeface="微軟正黑體" panose="020B0604030504040204" pitchFamily="34" charset="-120"/>
                          <a:ea typeface="微軟正黑體" panose="020B0604030504040204" pitchFamily="34" charset="-120"/>
                        </a:rPr>
                        <a:t>年維持產業領先的成長，總營收可望於</a:t>
                      </a:r>
                      <a:r>
                        <a:rPr lang="en-US" altLang="zh-TW" sz="1100" b="0" dirty="0">
                          <a:latin typeface="微軟正黑體" panose="020B0604030504040204" pitchFamily="34" charset="-120"/>
                          <a:ea typeface="微軟正黑體" panose="020B0604030504040204" pitchFamily="34" charset="-120"/>
                        </a:rPr>
                        <a:t>2028</a:t>
                      </a:r>
                      <a:r>
                        <a:rPr lang="zh-TW" altLang="en-US" sz="1100" b="0" dirty="0">
                          <a:latin typeface="微軟正黑體" panose="020B0604030504040204" pitchFamily="34" charset="-120"/>
                          <a:ea typeface="微軟正黑體" panose="020B0604030504040204" pitchFamily="34" charset="-120"/>
                        </a:rPr>
                        <a:t>年突破</a:t>
                      </a:r>
                      <a:r>
                        <a:rPr lang="en-US" altLang="zh-TW" sz="1100" b="0" dirty="0">
                          <a:latin typeface="微軟正黑體" panose="020B0604030504040204" pitchFamily="34" charset="-120"/>
                          <a:ea typeface="微軟正黑體" panose="020B0604030504040204" pitchFamily="34" charset="-120"/>
                        </a:rPr>
                        <a:t>1,000</a:t>
                      </a:r>
                      <a:r>
                        <a:rPr lang="zh-TW" altLang="en-US" sz="1100" b="0" dirty="0">
                          <a:latin typeface="微軟正黑體" panose="020B0604030504040204" pitchFamily="34" charset="-120"/>
                          <a:ea typeface="微軟正黑體" panose="020B0604030504040204" pitchFamily="34" charset="-120"/>
                        </a:rPr>
                        <a:t>億美元。</a:t>
                      </a:r>
                      <a:endParaRPr lang="en-US" altLang="zh-TW" sz="1100" b="0" dirty="0">
                        <a:latin typeface="微軟正黑體" panose="020B0604030504040204" pitchFamily="34" charset="-120"/>
                        <a:ea typeface="微軟正黑體" panose="020B0604030504040204" pitchFamily="34" charset="-120"/>
                      </a:endParaRPr>
                    </a:p>
                    <a:p>
                      <a:pPr marL="171450" indent="-171450" algn="just" defTabSz="914400" rtl="0" eaLnBrk="1" latinLnBrk="0" hangingPunct="0">
                        <a:lnSpc>
                          <a:spcPts val="1600"/>
                        </a:lnSpc>
                        <a:spcBef>
                          <a:spcPts val="300"/>
                        </a:spcBef>
                        <a:spcAft>
                          <a:spcPts val="0"/>
                        </a:spcAft>
                        <a:buFont typeface="Wingdings" panose="05000000000000000000" pitchFamily="2" charset="2"/>
                        <a:buChar char="p"/>
                      </a:pPr>
                      <a:r>
                        <a:rPr lang="zh-TW" altLang="en-US" sz="1100" b="0" dirty="0">
                          <a:latin typeface="微軟正黑體" panose="020B0604030504040204" pitchFamily="34" charset="-120"/>
                          <a:ea typeface="微軟正黑體" panose="020B0604030504040204" pitchFamily="34" charset="-120"/>
                        </a:rPr>
                        <a:t>儘管禮來將把大部分現金流用於併購與股票回購，不過標普也預期現金流成長將開始超越資本配置速度，進而帶來持續去槓桿。鑒於公司一向維持相對保守的財務政策，標普預估調整後槓桿率於</a:t>
                      </a:r>
                      <a:r>
                        <a:rPr lang="en-US" altLang="zh-TW" sz="1100" b="0" dirty="0">
                          <a:latin typeface="微軟正黑體" panose="020B0604030504040204" pitchFamily="34" charset="-120"/>
                          <a:ea typeface="微軟正黑體" panose="020B0604030504040204" pitchFamily="34" charset="-120"/>
                        </a:rPr>
                        <a:t>2026</a:t>
                      </a:r>
                      <a:r>
                        <a:rPr lang="zh-TW" altLang="en-US" sz="1100" b="0" dirty="0">
                          <a:latin typeface="微軟正黑體" panose="020B0604030504040204" pitchFamily="34" charset="-120"/>
                          <a:ea typeface="微軟正黑體" panose="020B0604030504040204" pitchFamily="34" charset="-120"/>
                        </a:rPr>
                        <a:t>年底約為</a:t>
                      </a:r>
                      <a:r>
                        <a:rPr lang="en-US" altLang="zh-TW" sz="1100" b="0" dirty="0">
                          <a:latin typeface="微軟正黑體" panose="020B0604030504040204" pitchFamily="34" charset="-120"/>
                          <a:ea typeface="微軟正黑體" panose="020B0604030504040204" pitchFamily="34" charset="-120"/>
                        </a:rPr>
                        <a:t>1.1</a:t>
                      </a:r>
                      <a:r>
                        <a:rPr lang="zh-TW" altLang="en-US" sz="1100" b="0" dirty="0">
                          <a:latin typeface="微軟正黑體" panose="020B0604030504040204" pitchFamily="34" charset="-120"/>
                          <a:ea typeface="微軟正黑體" panose="020B0604030504040204" pitchFamily="34" charset="-120"/>
                        </a:rPr>
                        <a:t>倍，並於</a:t>
                      </a:r>
                      <a:r>
                        <a:rPr lang="en-US" altLang="zh-TW" sz="1100" b="0" dirty="0">
                          <a:latin typeface="微軟正黑體" panose="020B0604030504040204" pitchFamily="34" charset="-120"/>
                          <a:ea typeface="微軟正黑體" panose="020B0604030504040204" pitchFamily="34" charset="-120"/>
                        </a:rPr>
                        <a:t>2027</a:t>
                      </a:r>
                      <a:r>
                        <a:rPr lang="zh-TW" altLang="en-US" sz="1100" b="0" dirty="0">
                          <a:latin typeface="微軟正黑體" panose="020B0604030504040204" pitchFamily="34" charset="-120"/>
                          <a:ea typeface="微軟正黑體" panose="020B0604030504040204" pitchFamily="34" charset="-120"/>
                        </a:rPr>
                        <a:t>年底降至約</a:t>
                      </a:r>
                      <a:r>
                        <a:rPr lang="en-US" altLang="zh-TW" sz="1100" b="0" dirty="0">
                          <a:latin typeface="微軟正黑體" panose="020B0604030504040204" pitchFamily="34" charset="-120"/>
                          <a:ea typeface="微軟正黑體" panose="020B0604030504040204" pitchFamily="34" charset="-120"/>
                        </a:rPr>
                        <a:t>0.9</a:t>
                      </a:r>
                      <a:r>
                        <a:rPr lang="zh-TW" altLang="en-US" sz="1100" b="0" dirty="0">
                          <a:latin typeface="微軟正黑體" panose="020B0604030504040204" pitchFamily="34" charset="-120"/>
                          <a:ea typeface="微軟正黑體" panose="020B0604030504040204" pitchFamily="34" charset="-120"/>
                        </a:rPr>
                        <a:t>倍。</a:t>
                      </a:r>
                      <a:endParaRPr lang="en-US" altLang="zh-TW" sz="1100" b="0" dirty="0">
                        <a:latin typeface="微軟正黑體" panose="020B0604030504040204" pitchFamily="34" charset="-120"/>
                        <a:ea typeface="微軟正黑體" panose="020B0604030504040204" pitchFamily="34" charset="-120"/>
                      </a:endParaRPr>
                    </a:p>
                  </a:txBody>
                  <a:tcPr>
                    <a:lnL w="9525" cap="flat" cmpd="sng" algn="ctr">
                      <a:solidFill>
                        <a:srgbClr val="B8B1A7">
                          <a:shade val="95000"/>
                          <a:satMod val="105000"/>
                        </a:srgbClr>
                      </a:solidFill>
                      <a:prstDash val="solid"/>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hMerge="1">
                  <a:txBody>
                    <a:bodyPr/>
                    <a:lstStyle/>
                    <a:p>
                      <a:pPr algn="ctr"/>
                      <a:endParaRPr lang="zh-TW" altLang="en-US" sz="1400" dirty="0">
                        <a:latin typeface="微軟正黑體" panose="020B0604030504040204" pitchFamily="34" charset="-120"/>
                        <a:ea typeface="微軟正黑體" panose="020B0604030504040204" pitchFamily="34" charset="-120"/>
                      </a:endParaRPr>
                    </a:p>
                  </a:txBody>
                  <a:tcPr anchor="ctr"/>
                </a:tc>
                <a:tc hMerge="1">
                  <a:txBody>
                    <a:bodyPr/>
                    <a:lstStyle/>
                    <a:p>
                      <a:pPr algn="ctr"/>
                      <a:endParaRPr lang="zh-TW" altLang="en-US" sz="1400" dirty="0">
                        <a:latin typeface="微軟正黑體" panose="020B0604030504040204" pitchFamily="34" charset="-120"/>
                        <a:ea typeface="微軟正黑體" panose="020B0604030504040204" pitchFamily="34" charset="-120"/>
                      </a:endParaRPr>
                    </a:p>
                  </a:txBody>
                  <a:tcPr anchor="ctr"/>
                </a:tc>
                <a:tc hMerge="1">
                  <a:txBody>
                    <a:bodyPr/>
                    <a:lstStyle/>
                    <a:p>
                      <a:pPr marL="0" indent="0" algn="just">
                        <a:lnSpc>
                          <a:spcPts val="1300"/>
                        </a:lnSpc>
                        <a:spcBef>
                          <a:spcPts val="300"/>
                        </a:spcBef>
                        <a:spcAft>
                          <a:spcPts val="0"/>
                        </a:spcAft>
                        <a:buFont typeface="Wingdings" panose="05000000000000000000" pitchFamily="2" charset="2"/>
                        <a:buNone/>
                      </a:pPr>
                      <a:endParaRPr lang="en-US" altLang="zh-TW" sz="1050" b="0" i="0" kern="1200" dirty="0">
                        <a:solidFill>
                          <a:schemeClr val="tx1"/>
                        </a:solidFill>
                        <a:effectLst/>
                        <a:latin typeface="微軟正黑體"/>
                        <a:ea typeface="微軟正黑體"/>
                        <a:cs typeface="+mn-cs"/>
                      </a:endParaRPr>
                    </a:p>
                  </a:txBody>
                  <a:tcPr>
                    <a:lnL w="9525" cap="flat" cmpd="sng" algn="ctr">
                      <a:solidFill>
                        <a:srgbClr val="B8B1A7">
                          <a:shade val="95000"/>
                          <a:satMod val="105000"/>
                        </a:srgbClr>
                      </a:solidFill>
                      <a:prstDash val="solid"/>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round/>
                      <a:headEnd type="none" w="med" len="med"/>
                      <a:tailEnd type="none" w="med" len="me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27" name="標題 1">
            <a:extLst>
              <a:ext uri="{FF2B5EF4-FFF2-40B4-BE49-F238E27FC236}">
                <a16:creationId xmlns:a16="http://schemas.microsoft.com/office/drawing/2014/main" id="{60C28753-0A00-4E34-83C6-C4D758C2A7D2}"/>
              </a:ext>
            </a:extLst>
          </p:cNvPr>
          <p:cNvSpPr txBox="1">
            <a:spLocks/>
          </p:cNvSpPr>
          <p:nvPr/>
        </p:nvSpPr>
        <p:spPr bwMode="auto">
          <a:xfrm>
            <a:off x="229944" y="161162"/>
            <a:ext cx="776452" cy="633413"/>
          </a:xfrm>
          <a:prstGeom prst="rect">
            <a:avLst/>
          </a:prstGeom>
          <a:solidFill>
            <a:srgbClr val="C00000"/>
          </a:solidFill>
          <a:ln>
            <a:noFill/>
          </a:ln>
        </p:spPr>
        <p:txBody>
          <a:bodyPr anchor="ctr">
            <a:noAutofit/>
          </a:bodyPr>
          <a:lstStyle>
            <a:lvl1pPr algn="l" rtl="0" eaLnBrk="0" fontAlgn="base" hangingPunct="0">
              <a:spcBef>
                <a:spcPct val="0"/>
              </a:spcBef>
              <a:spcAft>
                <a:spcPct val="0"/>
              </a:spcAft>
              <a:defRPr kumimoji="1" sz="3000" b="1">
                <a:solidFill>
                  <a:schemeClr val="tx2"/>
                </a:solidFill>
                <a:latin typeface="+mj-lt"/>
                <a:ea typeface="+mj-ea"/>
                <a:cs typeface="+mj-cs"/>
              </a:defRPr>
            </a:lvl1pPr>
            <a:lvl2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algn="l" rtl="0" fontAlgn="base">
              <a:spcBef>
                <a:spcPct val="0"/>
              </a:spcBef>
              <a:spcAft>
                <a:spcPct val="0"/>
              </a:spcAft>
              <a:defRPr kumimoji="1" sz="3000" b="1">
                <a:solidFill>
                  <a:schemeClr val="tx2"/>
                </a:solidFill>
                <a:latin typeface="標楷體" pitchFamily="65" charset="-120"/>
                <a:ea typeface="標楷體" pitchFamily="65" charset="-120"/>
              </a:defRPr>
            </a:lvl6pPr>
            <a:lvl7pPr marL="914400" algn="l" rtl="0" fontAlgn="base">
              <a:spcBef>
                <a:spcPct val="0"/>
              </a:spcBef>
              <a:spcAft>
                <a:spcPct val="0"/>
              </a:spcAft>
              <a:defRPr kumimoji="1" sz="3000" b="1">
                <a:solidFill>
                  <a:schemeClr val="tx2"/>
                </a:solidFill>
                <a:latin typeface="標楷體" pitchFamily="65" charset="-120"/>
                <a:ea typeface="標楷體" pitchFamily="65" charset="-120"/>
              </a:defRPr>
            </a:lvl7pPr>
            <a:lvl8pPr marL="1371600" algn="l" rtl="0" fontAlgn="base">
              <a:spcBef>
                <a:spcPct val="0"/>
              </a:spcBef>
              <a:spcAft>
                <a:spcPct val="0"/>
              </a:spcAft>
              <a:defRPr kumimoji="1" sz="3000" b="1">
                <a:solidFill>
                  <a:schemeClr val="tx2"/>
                </a:solidFill>
                <a:latin typeface="標楷體" pitchFamily="65" charset="-120"/>
                <a:ea typeface="標楷體" pitchFamily="65" charset="-120"/>
              </a:defRPr>
            </a:lvl8pPr>
            <a:lvl9pPr marL="1828800" algn="l" rtl="0" fontAlgn="base">
              <a:spcBef>
                <a:spcPct val="0"/>
              </a:spcBef>
              <a:spcAft>
                <a:spcPct val="0"/>
              </a:spcAft>
              <a:defRPr kumimoji="1" sz="3000" b="1">
                <a:solidFill>
                  <a:schemeClr val="tx2"/>
                </a:solidFill>
                <a:latin typeface="標楷體" pitchFamily="65" charset="-120"/>
                <a:ea typeface="標楷體" pitchFamily="65" charset="-120"/>
              </a:defRPr>
            </a:lvl9pPr>
          </a:lstStyle>
          <a:p>
            <a:pPr algn="ctr">
              <a:defRPr/>
            </a:pPr>
            <a:r>
              <a:rPr lang="zh-TW" altLang="en-US" sz="2000" kern="0" dirty="0">
                <a:solidFill>
                  <a:schemeClr val="bg1"/>
                </a:solidFill>
              </a:rPr>
              <a:t>信用表現</a:t>
            </a:r>
          </a:p>
        </p:txBody>
      </p:sp>
      <p:sp>
        <p:nvSpPr>
          <p:cNvPr id="30" name="矩形 29">
            <a:extLst>
              <a:ext uri="{FF2B5EF4-FFF2-40B4-BE49-F238E27FC236}">
                <a16:creationId xmlns:a16="http://schemas.microsoft.com/office/drawing/2014/main" id="{705ADE1F-E065-4EC3-B187-F821455018F2}"/>
              </a:ext>
            </a:extLst>
          </p:cNvPr>
          <p:cNvSpPr/>
          <p:nvPr/>
        </p:nvSpPr>
        <p:spPr>
          <a:xfrm>
            <a:off x="395047" y="6535367"/>
            <a:ext cx="7273298" cy="230832"/>
          </a:xfrm>
          <a:prstGeom prst="rect">
            <a:avLst/>
          </a:prstGeom>
        </p:spPr>
        <p:txBody>
          <a:bodyPr wrap="square">
            <a:spAutoFit/>
          </a:bodyPr>
          <a:lstStyle/>
          <a:p>
            <a:pPr>
              <a:buNone/>
            </a:pPr>
            <a:r>
              <a:rPr lang="zh-TW" altLang="en-US" sz="900" dirty="0"/>
              <a:t>資料來源：信評機構</a:t>
            </a:r>
          </a:p>
        </p:txBody>
      </p:sp>
      <p:sp>
        <p:nvSpPr>
          <p:cNvPr id="32" name="投影片編號版面配置區 3">
            <a:extLst>
              <a:ext uri="{FF2B5EF4-FFF2-40B4-BE49-F238E27FC236}">
                <a16:creationId xmlns:a16="http://schemas.microsoft.com/office/drawing/2014/main" id="{7BBAF2F3-4DAD-C14A-B48B-E702BC7A59E7}"/>
              </a:ext>
            </a:extLst>
          </p:cNvPr>
          <p:cNvSpPr>
            <a:spLocks noGrp="1"/>
          </p:cNvSpPr>
          <p:nvPr>
            <p:ph type="sldNum" sz="quarter" idx="4294967295"/>
          </p:nvPr>
        </p:nvSpPr>
        <p:spPr>
          <a:xfrm>
            <a:off x="197514" y="6381328"/>
            <a:ext cx="395064" cy="288032"/>
          </a:xfrm>
          <a:prstGeom prst="rect">
            <a:avLst/>
          </a:prstGeom>
        </p:spPr>
        <p:txBody>
          <a:bodyPr/>
          <a:lstStyle/>
          <a:p>
            <a:fld id="{415482FC-CF5F-466A-B8B6-BC3733E92023}" type="slidenum">
              <a:rPr lang="zh-TW" altLang="en-US" sz="900" smtClean="0">
                <a:latin typeface="微軟正黑體" panose="020B0604030504040204" pitchFamily="34" charset="-120"/>
                <a:ea typeface="微軟正黑體" panose="020B0604030504040204" pitchFamily="34" charset="-120"/>
              </a:rPr>
              <a:pPr/>
              <a:t>5</a:t>
            </a:fld>
            <a:endParaRPr lang="zh-TW" altLang="en-US" sz="900" dirty="0">
              <a:latin typeface="微軟正黑體" panose="020B0604030504040204" pitchFamily="34" charset="-120"/>
              <a:ea typeface="微軟正黑體" panose="020B0604030504040204" pitchFamily="34" charset="-120"/>
            </a:endParaRPr>
          </a:p>
        </p:txBody>
      </p:sp>
      <p:sp>
        <p:nvSpPr>
          <p:cNvPr id="33" name="標題 1">
            <a:extLst>
              <a:ext uri="{FF2B5EF4-FFF2-40B4-BE49-F238E27FC236}">
                <a16:creationId xmlns:a16="http://schemas.microsoft.com/office/drawing/2014/main" id="{8A190DF9-3093-4C79-BE60-4ED0D15A2C3B}"/>
              </a:ext>
            </a:extLst>
          </p:cNvPr>
          <p:cNvSpPr txBox="1">
            <a:spLocks noChangeArrowheads="1"/>
          </p:cNvSpPr>
          <p:nvPr/>
        </p:nvSpPr>
        <p:spPr>
          <a:xfrm>
            <a:off x="1053599" y="142648"/>
            <a:ext cx="6254705"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lnSpc>
                <a:spcPts val="2500"/>
              </a:lnSpc>
              <a:defRPr/>
            </a:pPr>
            <a:r>
              <a:rPr lang="zh-TW" altLang="en-US" sz="2400" dirty="0"/>
              <a:t>強勁盈利增長預期，推動信評上調</a:t>
            </a:r>
          </a:p>
        </p:txBody>
      </p:sp>
      <p:sp>
        <p:nvSpPr>
          <p:cNvPr id="3" name="文字方塊 2">
            <a:extLst>
              <a:ext uri="{FF2B5EF4-FFF2-40B4-BE49-F238E27FC236}">
                <a16:creationId xmlns:a16="http://schemas.microsoft.com/office/drawing/2014/main" id="{622E7015-AFE3-4F7D-9262-7FE3D17D9F53}"/>
              </a:ext>
            </a:extLst>
          </p:cNvPr>
          <p:cNvSpPr txBox="1"/>
          <p:nvPr/>
        </p:nvSpPr>
        <p:spPr>
          <a:xfrm>
            <a:off x="7332482" y="1310976"/>
            <a:ext cx="316112" cy="184666"/>
          </a:xfrm>
          <a:prstGeom prst="rect">
            <a:avLst/>
          </a:prstGeom>
          <a:noFill/>
        </p:spPr>
        <p:txBody>
          <a:bodyPr wrap="none" rtlCol="0">
            <a:spAutoFit/>
          </a:bodyPr>
          <a:lstStyle/>
          <a:p>
            <a:r>
              <a:rPr lang="en-US" altLang="zh-TW" sz="600" b="1" dirty="0"/>
              <a:t>[</a:t>
            </a:r>
            <a:r>
              <a:rPr lang="zh-TW" altLang="en-US" sz="600" b="1" dirty="0"/>
              <a:t>註</a:t>
            </a:r>
            <a:r>
              <a:rPr lang="en-US" altLang="zh-TW" sz="600" b="1" dirty="0"/>
              <a:t>]</a:t>
            </a:r>
            <a:endParaRPr lang="zh-TW" altLang="en-US" sz="600" b="1" dirty="0"/>
          </a:p>
        </p:txBody>
      </p:sp>
      <p:sp>
        <p:nvSpPr>
          <p:cNvPr id="29" name="文字方塊 28">
            <a:extLst>
              <a:ext uri="{FF2B5EF4-FFF2-40B4-BE49-F238E27FC236}">
                <a16:creationId xmlns:a16="http://schemas.microsoft.com/office/drawing/2014/main" id="{E6AB3CB6-F216-4B66-B5FD-92CE44F99F35}"/>
              </a:ext>
            </a:extLst>
          </p:cNvPr>
          <p:cNvSpPr txBox="1"/>
          <p:nvPr/>
        </p:nvSpPr>
        <p:spPr>
          <a:xfrm>
            <a:off x="4791751" y="3429000"/>
            <a:ext cx="1272207" cy="215444"/>
          </a:xfrm>
          <a:prstGeom prst="rect">
            <a:avLst/>
          </a:prstGeom>
          <a:noFill/>
        </p:spPr>
        <p:txBody>
          <a:bodyPr wrap="square" rtlCol="0">
            <a:spAutoFit/>
          </a:bodyPr>
          <a:lstStyle/>
          <a:p>
            <a:pPr algn="r"/>
            <a:r>
              <a:rPr lang="zh-TW" altLang="en-US" sz="800" dirty="0"/>
              <a:t>註</a:t>
            </a:r>
            <a:r>
              <a:rPr lang="zh-TW" altLang="en-US" sz="800" dirty="0">
                <a:latin typeface="微軟正黑體" panose="020B0604030504040204" pitchFamily="34" charset="-120"/>
                <a:ea typeface="微軟正黑體" panose="020B0604030504040204" pitchFamily="34" charset="-120"/>
              </a:rPr>
              <a:t>：經標普調整後比率</a:t>
            </a:r>
          </a:p>
        </p:txBody>
      </p:sp>
    </p:spTree>
    <p:extLst>
      <p:ext uri="{BB962C8B-B14F-4D97-AF65-F5344CB8AC3E}">
        <p14:creationId xmlns:p14="http://schemas.microsoft.com/office/powerpoint/2010/main" val="1526345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18013" y="1484785"/>
            <a:ext cx="7992888" cy="1338828"/>
          </a:xfrm>
          <a:prstGeom prst="rect">
            <a:avLst/>
          </a:prstGeom>
        </p:spPr>
        <p:txBody>
          <a:bodyPr wrap="square">
            <a:spAutoFit/>
          </a:bodyPr>
          <a:lstStyle/>
          <a:p>
            <a:pPr algn="just"/>
            <a:r>
              <a:rPr lang="zh-TW" altLang="zh-TW" sz="1350" b="1" dirty="0">
                <a:solidFill>
                  <a:srgbClr val="C92223"/>
                </a:solidFill>
                <a:latin typeface="微軟正黑體" pitchFamily="34" charset="-120"/>
                <a:ea typeface="微軟正黑體" pitchFamily="34" charset="-120"/>
              </a:rPr>
              <a:t>免責宣言說明</a:t>
            </a:r>
            <a:endParaRPr lang="en-US" altLang="zh-TW" sz="1350" b="1" dirty="0">
              <a:solidFill>
                <a:srgbClr val="C92223"/>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本報告所載內容僅供參考，台新綜合證券</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股</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公司不保證其正確性及完整性。內容如涉及任何有價證券或金融市場商品相關記載或說明，並不構成要約、招攬、宣傳、建議或推薦買賣等任何形式之表示，任何人如參考本報告後，所進行相關投資行為或交易，應自行承擔所有損益，本公司並不負任何法律責任。此外，非經本公司同意，不得將本報告內容之一部或全部加以複製、轉載或散佈。</a:t>
            </a:r>
          </a:p>
        </p:txBody>
      </p:sp>
    </p:spTree>
    <p:extLst>
      <p:ext uri="{BB962C8B-B14F-4D97-AF65-F5344CB8AC3E}">
        <p14:creationId xmlns:p14="http://schemas.microsoft.com/office/powerpoint/2010/main" val="3532227976"/>
      </p:ext>
    </p:extLst>
  </p:cSld>
  <p:clrMapOvr>
    <a:masterClrMapping/>
  </p:clrMapOvr>
</p:sld>
</file>

<file path=ppt/theme/theme1.xml><?xml version="1.0" encoding="utf-8"?>
<a:theme xmlns:a="http://schemas.openxmlformats.org/drawingml/2006/main" name="報告佈景主題PPT">
  <a:themeElements>
    <a:clrScheme name="複委託4">
      <a:dk1>
        <a:srgbClr val="000000"/>
      </a:dk1>
      <a:lt1>
        <a:srgbClr val="FFFFFF"/>
      </a:lt1>
      <a:dk2>
        <a:srgbClr val="7F7F7F"/>
      </a:dk2>
      <a:lt2>
        <a:srgbClr val="C00000"/>
      </a:lt2>
      <a:accent1>
        <a:srgbClr val="C95E0D"/>
      </a:accent1>
      <a:accent2>
        <a:srgbClr val="704C61"/>
      </a:accent2>
      <a:accent3>
        <a:srgbClr val="C0CBD1"/>
      </a:accent3>
      <a:accent4>
        <a:srgbClr val="8994A6"/>
      </a:accent4>
      <a:accent5>
        <a:srgbClr val="C39E64"/>
      </a:accent5>
      <a:accent6>
        <a:srgbClr val="B8B1A7"/>
      </a:accent6>
      <a:hlink>
        <a:srgbClr val="0070C0"/>
      </a:hlink>
      <a:folHlink>
        <a:srgbClr val="000000"/>
      </a:folHlink>
    </a:clrScheme>
    <a:fontScheme name="台新投顧">
      <a:majorFont>
        <a:latin typeface="微軟正黑體"/>
        <a:ea typeface="微軟正黑體"/>
        <a:cs typeface=""/>
      </a:majorFont>
      <a:minorFont>
        <a:latin typeface="微軟正黑體"/>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10063</TotalTime>
  <Words>3018</Words>
  <Application>Microsoft Office PowerPoint</Application>
  <PresentationFormat>如螢幕大小 (4:3)</PresentationFormat>
  <Paragraphs>262</Paragraphs>
  <Slides>6</Slides>
  <Notes>4</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6</vt:i4>
      </vt:variant>
    </vt:vector>
  </HeadingPairs>
  <TitlesOfParts>
    <vt:vector size="15" baseType="lpstr">
      <vt:lpstr>Google Sans</vt:lpstr>
      <vt:lpstr>proxima-nova</vt:lpstr>
      <vt:lpstr>Microsoft JhengHei</vt:lpstr>
      <vt:lpstr>Microsoft JhengHei</vt:lpstr>
      <vt:lpstr>Arial</vt:lpstr>
      <vt:lpstr>Calibri</vt:lpstr>
      <vt:lpstr>Roboto</vt:lpstr>
      <vt:lpstr>Wingdings</vt:lpstr>
      <vt:lpstr>報告佈景主題PPT</vt:lpstr>
      <vt:lpstr>禮來公司</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台新B2B Team</dc:creator>
  <cp:lastModifiedBy>張軒愷</cp:lastModifiedBy>
  <cp:revision>11492</cp:revision>
  <cp:lastPrinted>2021-03-31T07:17:07Z</cp:lastPrinted>
  <dcterms:created xsi:type="dcterms:W3CDTF">2013-05-02T15:04:30Z</dcterms:created>
  <dcterms:modified xsi:type="dcterms:W3CDTF">2026-05-07T09:29:12Z</dcterms:modified>
</cp:coreProperties>
</file>