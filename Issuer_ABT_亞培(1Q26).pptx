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5.xml" ContentType="application/vnd.openxmlformats-officedocument.drawingml.chart+xml"/>
  <Override PartName="/ppt/theme/themeOverride2.xml" ContentType="application/vnd.openxmlformats-officedocument.themeOverride+xml"/>
  <Override PartName="/ppt/notesSlides/notesSlide4.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7.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8"/>
  </p:notesMasterIdLst>
  <p:handoutMasterIdLst>
    <p:handoutMasterId r:id="rId9"/>
  </p:handoutMasterIdLst>
  <p:sldIdLst>
    <p:sldId id="1333" r:id="rId2"/>
    <p:sldId id="1350" r:id="rId3"/>
    <p:sldId id="1351" r:id="rId4"/>
    <p:sldId id="1356" r:id="rId5"/>
    <p:sldId id="1357" r:id="rId6"/>
    <p:sldId id="1338" r:id="rId7"/>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33"/>
            <p14:sldId id="1350"/>
            <p14:sldId id="1351"/>
            <p14:sldId id="1356"/>
            <p14:sldId id="1357"/>
            <p14:sldId id="1338"/>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FF6565"/>
    <a:srgbClr val="595959"/>
    <a:srgbClr val="FFF7F7"/>
    <a:srgbClr val="1B478A"/>
    <a:srgbClr val="E7F6FD"/>
    <a:srgbClr val="D1EEFB"/>
    <a:srgbClr val="BFE7F9"/>
    <a:srgbClr val="9CDAF6"/>
    <a:srgbClr val="62C4F0"/>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F379E2-64A2-49D0-9114-2DEB592ADCBE}" v="4" dt="2024-07-02T05:31:06.31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88" autoAdjust="0"/>
    <p:restoredTop sz="96318" autoAdjust="0"/>
  </p:normalViewPr>
  <p:slideViewPr>
    <p:cSldViewPr showGuides="1">
      <p:cViewPr varScale="1">
        <p:scale>
          <a:sx n="112" d="100"/>
          <a:sy n="112" d="100"/>
        </p:scale>
        <p:origin x="138" y="114"/>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偉登 徐" userId="2f9d91de2ea73103" providerId="LiveId" clId="{9CF379E2-64A2-49D0-9114-2DEB592ADCBE}"/>
    <pc:docChg chg="modSld">
      <pc:chgData name="偉登 徐" userId="2f9d91de2ea73103" providerId="LiveId" clId="{9CF379E2-64A2-49D0-9114-2DEB592ADCBE}" dt="2024-07-02T05:31:06.316" v="3" actId="403"/>
      <pc:docMkLst>
        <pc:docMk/>
      </pc:docMkLst>
      <pc:sldChg chg="modSp">
        <pc:chgData name="偉登 徐" userId="2f9d91de2ea73103" providerId="LiveId" clId="{9CF379E2-64A2-49D0-9114-2DEB592ADCBE}" dt="2024-07-02T05:31:06.316" v="3" actId="403"/>
        <pc:sldMkLst>
          <pc:docMk/>
          <pc:sldMk cId="841085988" sldId="1354"/>
        </pc:sldMkLst>
        <pc:graphicFrameChg chg="mod">
          <ac:chgData name="偉登 徐" userId="2f9d91de2ea73103" providerId="LiveId" clId="{9CF379E2-64A2-49D0-9114-2DEB592ADCBE}" dt="2024-07-02T05:31:06.316" v="3" actId="403"/>
          <ac:graphicFrameMkLst>
            <pc:docMk/>
            <pc:sldMk cId="841085988" sldId="1354"/>
            <ac:graphicFrameMk id="4" creationId="{00000000-0008-0000-0000-000002000000}"/>
          </ac:graphicFrameMkLst>
        </pc:graphicFrame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4.xlsx"/><Relationship Id="rId1" Type="http://schemas.openxmlformats.org/officeDocument/2006/relationships/themeOverride" Target="../theme/themeOverride2.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7.9788724620205337E-2"/>
          <c:y val="2.5758097451568322E-2"/>
          <c:w val="0.54326208979646695"/>
          <c:h val="0.87958134274469291"/>
        </c:manualLayout>
      </c:layout>
      <c:doughnutChart>
        <c:varyColors val="1"/>
        <c:ser>
          <c:idx val="0"/>
          <c:order val="0"/>
          <c:tx>
            <c:strRef>
              <c:f>工作表1!$B$1</c:f>
              <c:strCache>
                <c:ptCount val="1"/>
                <c:pt idx="0">
                  <c:v>銷售</c:v>
                </c:pt>
              </c:strCache>
            </c:strRef>
          </c:tx>
          <c:spPr>
            <a:ln>
              <a:solidFill>
                <a:schemeClr val="bg1"/>
              </a:solidFill>
            </a:ln>
          </c:spPr>
          <c:dPt>
            <c:idx val="0"/>
            <c:bubble3D val="0"/>
            <c:spPr>
              <a:solidFill>
                <a:srgbClr val="159BD7"/>
              </a:solidFill>
              <a:ln>
                <a:solidFill>
                  <a:schemeClr val="bg1"/>
                </a:solidFill>
              </a:ln>
              <a:effectLst/>
            </c:spPr>
            <c:extLst>
              <c:ext xmlns:c16="http://schemas.microsoft.com/office/drawing/2014/chart" uri="{C3380CC4-5D6E-409C-BE32-E72D297353CC}">
                <c16:uniqueId val="{00000001-6B94-46FF-82DA-B410586C33EF}"/>
              </c:ext>
            </c:extLst>
          </c:dPt>
          <c:dPt>
            <c:idx val="1"/>
            <c:bubble3D val="0"/>
            <c:spPr>
              <a:solidFill>
                <a:schemeClr val="tx1">
                  <a:lumMod val="65000"/>
                  <a:lumOff val="35000"/>
                </a:schemeClr>
              </a:solidFill>
              <a:ln>
                <a:solidFill>
                  <a:schemeClr val="bg1"/>
                </a:solidFill>
              </a:ln>
              <a:effectLst/>
            </c:spPr>
            <c:extLst>
              <c:ext xmlns:c16="http://schemas.microsoft.com/office/drawing/2014/chart" uri="{C3380CC4-5D6E-409C-BE32-E72D297353CC}">
                <c16:uniqueId val="{00000003-6B94-46FF-82DA-B410586C33EF}"/>
              </c:ext>
            </c:extLst>
          </c:dPt>
          <c:dPt>
            <c:idx val="2"/>
            <c:bubble3D val="0"/>
            <c:spPr>
              <a:solidFill>
                <a:srgbClr val="31B1EB"/>
              </a:solidFill>
              <a:ln>
                <a:solidFill>
                  <a:schemeClr val="bg1"/>
                </a:solidFill>
              </a:ln>
              <a:effectLst/>
            </c:spPr>
            <c:extLst>
              <c:ext xmlns:c16="http://schemas.microsoft.com/office/drawing/2014/chart" uri="{C3380CC4-5D6E-409C-BE32-E72D297353CC}">
                <c16:uniqueId val="{00000005-6B94-46FF-82DA-B410586C33EF}"/>
              </c:ext>
            </c:extLst>
          </c:dPt>
          <c:dPt>
            <c:idx val="3"/>
            <c:bubble3D val="0"/>
            <c:spPr>
              <a:solidFill>
                <a:srgbClr val="62C4F0"/>
              </a:solidFill>
              <a:ln>
                <a:solidFill>
                  <a:schemeClr val="bg1"/>
                </a:solidFill>
              </a:ln>
              <a:effectLst/>
            </c:spPr>
            <c:extLst>
              <c:ext xmlns:c16="http://schemas.microsoft.com/office/drawing/2014/chart" uri="{C3380CC4-5D6E-409C-BE32-E72D297353CC}">
                <c16:uniqueId val="{00000007-6B94-46FF-82DA-B410586C33EF}"/>
              </c:ext>
            </c:extLst>
          </c:dPt>
          <c:dPt>
            <c:idx val="4"/>
            <c:bubble3D val="0"/>
            <c:spPr>
              <a:solidFill>
                <a:srgbClr val="9CDAF6"/>
              </a:solidFill>
              <a:ln>
                <a:solidFill>
                  <a:schemeClr val="bg1"/>
                </a:solidFill>
              </a:ln>
            </c:spPr>
            <c:extLst>
              <c:ext xmlns:c16="http://schemas.microsoft.com/office/drawing/2014/chart" uri="{C3380CC4-5D6E-409C-BE32-E72D297353CC}">
                <c16:uniqueId val="{0000000B-6B94-46FF-82DA-B410586C33EF}"/>
              </c:ext>
            </c:extLst>
          </c:dPt>
          <c:dPt>
            <c:idx val="5"/>
            <c:bubble3D val="0"/>
            <c:spPr>
              <a:solidFill>
                <a:srgbClr val="BFE7F9"/>
              </a:solidFill>
              <a:ln>
                <a:solidFill>
                  <a:schemeClr val="bg1"/>
                </a:solidFill>
              </a:ln>
            </c:spPr>
            <c:extLst>
              <c:ext xmlns:c16="http://schemas.microsoft.com/office/drawing/2014/chart" uri="{C3380CC4-5D6E-409C-BE32-E72D297353CC}">
                <c16:uniqueId val="{0000000C-6B94-46FF-82DA-B410586C33EF}"/>
              </c:ext>
            </c:extLst>
          </c:dPt>
          <c:dPt>
            <c:idx val="6"/>
            <c:bubble3D val="0"/>
            <c:spPr>
              <a:solidFill>
                <a:srgbClr val="D1EEFB"/>
              </a:solidFill>
              <a:ln>
                <a:solidFill>
                  <a:schemeClr val="bg1"/>
                </a:solidFill>
              </a:ln>
            </c:spPr>
            <c:extLst>
              <c:ext xmlns:c16="http://schemas.microsoft.com/office/drawing/2014/chart" uri="{C3380CC4-5D6E-409C-BE32-E72D297353CC}">
                <c16:uniqueId val="{00000008-6B94-46FF-82DA-B410586C33EF}"/>
              </c:ext>
            </c:extLst>
          </c:dPt>
          <c:dPt>
            <c:idx val="7"/>
            <c:bubble3D val="0"/>
            <c:spPr>
              <a:solidFill>
                <a:srgbClr val="E7F6FD"/>
              </a:solidFill>
              <a:ln>
                <a:solidFill>
                  <a:schemeClr val="bg1"/>
                </a:solidFill>
              </a:ln>
            </c:spPr>
            <c:extLst>
              <c:ext xmlns:c16="http://schemas.microsoft.com/office/drawing/2014/chart" uri="{C3380CC4-5D6E-409C-BE32-E72D297353CC}">
                <c16:uniqueId val="{00000009-6B94-46FF-82DA-B410586C33EF}"/>
              </c:ext>
            </c:extLst>
          </c:dPt>
          <c:dLbls>
            <c:dLbl>
              <c:idx val="0"/>
              <c:spPr>
                <a:noFill/>
                <a:ln>
                  <a:noFill/>
                </a:ln>
                <a:effectLst/>
              </c:spPr>
              <c:txPr>
                <a:bodyPr wrap="square" lIns="38100" tIns="19050" rIns="38100" bIns="19050" anchor="ctr">
                  <a:spAutoFit/>
                </a:bodyPr>
                <a:lstStyle/>
                <a:p>
                  <a:pPr>
                    <a:defRPr b="1">
                      <a:solidFill>
                        <a:schemeClr val="bg1"/>
                      </a:solidFill>
                    </a:defRPr>
                  </a:pPr>
                  <a:endParaRPr lang="zh-TW"/>
                </a:p>
              </c:txPr>
              <c:showLegendKey val="0"/>
              <c:showVal val="0"/>
              <c:showCatName val="0"/>
              <c:showSerName val="0"/>
              <c:showPercent val="1"/>
              <c:showBubbleSize val="0"/>
              <c:extLst>
                <c:ext xmlns:c16="http://schemas.microsoft.com/office/drawing/2014/chart" uri="{C3380CC4-5D6E-409C-BE32-E72D297353CC}">
                  <c16:uniqueId val="{00000001-6B94-46FF-82DA-B410586C33EF}"/>
                </c:ext>
              </c:extLst>
            </c:dLbl>
            <c:dLbl>
              <c:idx val="1"/>
              <c:spPr>
                <a:noFill/>
                <a:ln>
                  <a:noFill/>
                </a:ln>
                <a:effectLst/>
              </c:spPr>
              <c:txPr>
                <a:bodyPr wrap="square" lIns="38100" tIns="19050" rIns="38100" bIns="19050" anchor="ctr">
                  <a:spAutoFit/>
                </a:bodyPr>
                <a:lstStyle/>
                <a:p>
                  <a:pPr>
                    <a:defRPr b="1">
                      <a:solidFill>
                        <a:schemeClr val="bg1"/>
                      </a:solidFill>
                    </a:defRPr>
                  </a:pPr>
                  <a:endParaRPr lang="zh-TW"/>
                </a:p>
              </c:txPr>
              <c:showLegendKey val="0"/>
              <c:showVal val="0"/>
              <c:showCatName val="0"/>
              <c:showSerName val="0"/>
              <c:showPercent val="1"/>
              <c:showBubbleSize val="0"/>
              <c:extLst>
                <c:ext xmlns:c16="http://schemas.microsoft.com/office/drawing/2014/chart" uri="{C3380CC4-5D6E-409C-BE32-E72D297353CC}">
                  <c16:uniqueId val="{00000003-6B94-46FF-82DA-B410586C33EF}"/>
                </c:ext>
              </c:extLst>
            </c:dLbl>
            <c:dLbl>
              <c:idx val="2"/>
              <c:layout>
                <c:manualLayout>
                  <c:x val="-4.6889370253605251E-3"/>
                  <c:y val="0"/>
                </c:manualLayout>
              </c:layout>
              <c:spPr>
                <a:noFill/>
                <a:ln>
                  <a:noFill/>
                </a:ln>
                <a:effectLst/>
              </c:spPr>
              <c:txPr>
                <a:bodyPr wrap="square" lIns="38100" tIns="19050" rIns="38100" bIns="19050" anchor="ctr">
                  <a:spAutoFit/>
                </a:bodyPr>
                <a:lstStyle/>
                <a:p>
                  <a:pPr>
                    <a:defRPr b="1">
                      <a:solidFill>
                        <a:schemeClr val="bg1"/>
                      </a:solidFill>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B94-46FF-82DA-B410586C33EF}"/>
                </c:ext>
              </c:extLst>
            </c:dLbl>
            <c:dLbl>
              <c:idx val="3"/>
              <c:layout>
                <c:manualLayout>
                  <c:x val="-9.3778740507210294E-3"/>
                  <c:y val="-1.0068911428967667E-2"/>
                </c:manualLayout>
              </c:layout>
              <c:spPr>
                <a:noFill/>
                <a:ln>
                  <a:noFill/>
                </a:ln>
                <a:effectLst/>
              </c:spPr>
              <c:txPr>
                <a:bodyPr wrap="square" lIns="38100" tIns="19050" rIns="38100" bIns="19050" anchor="ctr">
                  <a:spAutoFit/>
                </a:bodyPr>
                <a:lstStyle/>
                <a:p>
                  <a:pPr>
                    <a:defRPr b="1">
                      <a:solidFill>
                        <a:schemeClr val="bg1"/>
                      </a:solidFill>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B94-46FF-82DA-B410586C33EF}"/>
                </c:ext>
              </c:extLst>
            </c:dLbl>
            <c:dLbl>
              <c:idx val="4"/>
              <c:layout>
                <c:manualLayout>
                  <c:x val="-9.3778740507210068E-3"/>
                  <c:y val="-1.5183468908559669E-2"/>
                </c:manualLayout>
              </c:layout>
              <c:spPr>
                <a:noFill/>
                <a:ln>
                  <a:noFill/>
                </a:ln>
                <a:effectLst/>
              </c:spPr>
              <c:txPr>
                <a:bodyPr wrap="square" lIns="38100" tIns="19050" rIns="38100" bIns="19050" anchor="ctr">
                  <a:spAutoFit/>
                </a:bodyPr>
                <a:lstStyle/>
                <a:p>
                  <a:pPr>
                    <a:defRPr b="1">
                      <a:solidFill>
                        <a:schemeClr val="bg1"/>
                      </a:solidFill>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6B94-46FF-82DA-B410586C33EF}"/>
                </c:ext>
              </c:extLst>
            </c:dLbl>
            <c:dLbl>
              <c:idx val="5"/>
              <c:layout>
                <c:manualLayout>
                  <c:x val="-1.4066811076081532E-2"/>
                  <c:y val="-3.0366937817119303E-2"/>
                </c:manualLayout>
              </c:layout>
              <c:spPr>
                <a:noFill/>
                <a:ln>
                  <a:noFill/>
                </a:ln>
                <a:effectLst/>
              </c:spPr>
              <c:txPr>
                <a:bodyPr wrap="square" lIns="38100" tIns="19050" rIns="38100" bIns="19050" anchor="ctr">
                  <a:spAutoFit/>
                </a:bodyPr>
                <a:lstStyle/>
                <a:p>
                  <a:pPr>
                    <a:defRPr sz="700" b="1">
                      <a:solidFill>
                        <a:schemeClr val="tx1">
                          <a:lumMod val="75000"/>
                          <a:lumOff val="25000"/>
                        </a:schemeClr>
                      </a:solidFill>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C-6B94-46FF-82DA-B410586C33EF}"/>
                </c:ext>
              </c:extLst>
            </c:dLbl>
            <c:dLbl>
              <c:idx val="6"/>
              <c:layout>
                <c:manualLayout>
                  <c:x val="-9.3778740507210068E-3"/>
                  <c:y val="-4.5550406725678949E-2"/>
                </c:manualLayout>
              </c:layout>
              <c:spPr>
                <a:noFill/>
                <a:ln>
                  <a:noFill/>
                </a:ln>
                <a:effectLst/>
              </c:spPr>
              <c:txPr>
                <a:bodyPr wrap="square" lIns="38100" tIns="19050" rIns="38100" bIns="19050" anchor="ctr">
                  <a:spAutoFit/>
                </a:bodyPr>
                <a:lstStyle/>
                <a:p>
                  <a:pPr>
                    <a:defRPr sz="600" b="1">
                      <a:solidFill>
                        <a:schemeClr val="tx1">
                          <a:lumMod val="75000"/>
                          <a:lumOff val="25000"/>
                        </a:schemeClr>
                      </a:solidFill>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8-6B94-46FF-82DA-B410586C33EF}"/>
                </c:ext>
              </c:extLst>
            </c:dLbl>
            <c:dLbl>
              <c:idx val="7"/>
              <c:layout>
                <c:manualLayout>
                  <c:x val="0"/>
                  <c:y val="-4.5550406725678949E-2"/>
                </c:manualLayout>
              </c:layout>
              <c:spPr>
                <a:noFill/>
                <a:ln>
                  <a:noFill/>
                </a:ln>
                <a:effectLst/>
              </c:spPr>
              <c:txPr>
                <a:bodyPr wrap="square" lIns="38100" tIns="19050" rIns="38100" bIns="19050" anchor="ctr">
                  <a:spAutoFit/>
                </a:bodyPr>
                <a:lstStyle/>
                <a:p>
                  <a:pPr>
                    <a:defRPr sz="500" b="1">
                      <a:solidFill>
                        <a:schemeClr val="tx1">
                          <a:lumMod val="75000"/>
                          <a:lumOff val="25000"/>
                        </a:schemeClr>
                      </a:solidFill>
                    </a:defRPr>
                  </a:pPr>
                  <a:endParaRPr lang="zh-TW"/>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6B94-46FF-82DA-B410586C33EF}"/>
                </c:ext>
              </c:extLst>
            </c:dLbl>
            <c:spPr>
              <a:noFill/>
              <a:ln>
                <a:noFill/>
              </a:ln>
              <a:effectLst/>
            </c:spPr>
            <c:txPr>
              <a:bodyPr wrap="square" lIns="38100" tIns="19050" rIns="38100" bIns="19050" anchor="ctr">
                <a:spAutoFit/>
              </a:bodyPr>
              <a:lstStyle/>
              <a:p>
                <a:pPr>
                  <a:defRPr b="1"/>
                </a:pPr>
                <a:endParaRPr lang="zh-TW"/>
              </a:p>
            </c:txPr>
            <c:showLegendKey val="0"/>
            <c:showVal val="0"/>
            <c:showCatName val="0"/>
            <c:showSerName val="0"/>
            <c:showPercent val="1"/>
            <c:showBubbleSize val="0"/>
            <c:showLeaderLines val="1"/>
            <c:leaderLines>
              <c:spPr>
                <a:ln w="9525" cap="flat" cmpd="sng" algn="ctr">
                  <a:solidFill>
                    <a:schemeClr val="tx1">
                      <a:shade val="95000"/>
                      <a:satMod val="105000"/>
                    </a:schemeClr>
                  </a:solidFill>
                  <a:prstDash val="solid"/>
                  <a:round/>
                </a:ln>
                <a:effectLst/>
              </c:spPr>
            </c:leaderLines>
            <c:extLst>
              <c:ext xmlns:c15="http://schemas.microsoft.com/office/drawing/2012/chart" uri="{CE6537A1-D6FC-4f65-9D91-7224C49458BB}"/>
            </c:extLst>
          </c:dLbls>
          <c:cat>
            <c:strRef>
              <c:f>工作表1!$A$2:$A$9</c:f>
              <c:strCache>
                <c:ptCount val="8"/>
                <c:pt idx="0">
                  <c:v>美國</c:v>
                </c:pt>
                <c:pt idx="1">
                  <c:v>其他國家</c:v>
                </c:pt>
                <c:pt idx="2">
                  <c:v>德國</c:v>
                </c:pt>
                <c:pt idx="3">
                  <c:v>中國</c:v>
                </c:pt>
                <c:pt idx="4">
                  <c:v>瑞士</c:v>
                </c:pt>
                <c:pt idx="5">
                  <c:v>印度</c:v>
                </c:pt>
                <c:pt idx="6">
                  <c:v>日本</c:v>
                </c:pt>
                <c:pt idx="7">
                  <c:v>英國</c:v>
                </c:pt>
              </c:strCache>
            </c:strRef>
          </c:cat>
          <c:val>
            <c:numRef>
              <c:f>工作表1!$B$2:$B$9</c:f>
              <c:numCache>
                <c:formatCode>#,##0</c:formatCode>
                <c:ptCount val="8"/>
                <c:pt idx="0">
                  <c:v>17126</c:v>
                </c:pt>
                <c:pt idx="1">
                  <c:v>15979</c:v>
                </c:pt>
                <c:pt idx="2">
                  <c:v>2759</c:v>
                </c:pt>
                <c:pt idx="3">
                  <c:v>1907</c:v>
                </c:pt>
                <c:pt idx="4">
                  <c:v>1871</c:v>
                </c:pt>
                <c:pt idx="5">
                  <c:v>1871</c:v>
                </c:pt>
                <c:pt idx="6">
                  <c:v>1475</c:v>
                </c:pt>
                <c:pt idx="7">
                  <c:v>1340</c:v>
                </c:pt>
              </c:numCache>
            </c:numRef>
          </c:val>
          <c:extLst>
            <c:ext xmlns:c16="http://schemas.microsoft.com/office/drawing/2014/chart" uri="{C3380CC4-5D6E-409C-BE32-E72D297353CC}">
              <c16:uniqueId val="{0000000A-6B94-46FF-82DA-B410586C33EF}"/>
            </c:ext>
          </c:extLst>
        </c:ser>
        <c:dLbls>
          <c:showLegendKey val="0"/>
          <c:showVal val="1"/>
          <c:showCatName val="0"/>
          <c:showSerName val="0"/>
          <c:showPercent val="0"/>
          <c:showBubbleSize val="0"/>
          <c:showLeaderLines val="1"/>
        </c:dLbls>
        <c:firstSliceAng val="0"/>
        <c:holeSize val="61"/>
      </c:doughnutChart>
      <c:spPr>
        <a:noFill/>
        <a:ln>
          <a:noFill/>
        </a:ln>
        <a:effectLst/>
      </c:spPr>
    </c:plotArea>
    <c:legend>
      <c:legendPos val="r"/>
      <c:layout>
        <c:manualLayout>
          <c:xMode val="edge"/>
          <c:yMode val="edge"/>
          <c:x val="0.57998348165019575"/>
          <c:y val="0.13660100713025264"/>
          <c:w val="0.40594970727372282"/>
          <c:h val="0.76475606023652731"/>
        </c:manualLayout>
      </c:layout>
      <c:overlay val="0"/>
      <c:txPr>
        <a:bodyPr/>
        <a:lstStyle/>
        <a:p>
          <a:pPr>
            <a:defRPr sz="900" b="1">
              <a:solidFill>
                <a:schemeClr val="tx1">
                  <a:lumMod val="75000"/>
                  <a:lumOff val="25000"/>
                </a:schemeClr>
              </a:solidFill>
            </a:defRPr>
          </a:pPr>
          <a:endParaRPr lang="zh-TW"/>
        </a:p>
      </c:txPr>
    </c:legend>
    <c:plotVisOnly val="1"/>
    <c:dispBlanksAs val="gap"/>
    <c:showDLblsOverMax val="0"/>
  </c:chart>
  <c:spPr>
    <a:noFill/>
    <a:ln w="9525" cap="flat" cmpd="sng" algn="ctr">
      <a:noFill/>
      <a:prstDash val="solid"/>
    </a:ln>
    <a:effectLst/>
  </c:spPr>
  <c:txPr>
    <a:bodyPr/>
    <a:lstStyle/>
    <a:p>
      <a:pPr>
        <a:defRPr sz="800"/>
      </a:pPr>
      <a:endParaRPr lang="zh-TW"/>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7.9788724620205337E-2"/>
          <c:y val="2.5758097451568322E-2"/>
          <c:w val="0.54326208979646695"/>
          <c:h val="0.87958134274469291"/>
        </c:manualLayout>
      </c:layout>
      <c:doughnutChart>
        <c:varyColors val="1"/>
        <c:ser>
          <c:idx val="0"/>
          <c:order val="0"/>
          <c:tx>
            <c:strRef>
              <c:f>工作表1!$B$1</c:f>
              <c:strCache>
                <c:ptCount val="1"/>
                <c:pt idx="0">
                  <c:v>銷售</c:v>
                </c:pt>
              </c:strCache>
            </c:strRef>
          </c:tx>
          <c:spPr>
            <a:ln>
              <a:solidFill>
                <a:schemeClr val="bg1"/>
              </a:solidFill>
            </a:ln>
          </c:spPr>
          <c:dPt>
            <c:idx val="0"/>
            <c:bubble3D val="0"/>
            <c:spPr>
              <a:solidFill>
                <a:srgbClr val="C00000"/>
              </a:solidFill>
              <a:ln>
                <a:solidFill>
                  <a:schemeClr val="bg1"/>
                </a:solidFill>
              </a:ln>
              <a:effectLst/>
            </c:spPr>
            <c:extLst>
              <c:ext xmlns:c16="http://schemas.microsoft.com/office/drawing/2014/chart" uri="{C3380CC4-5D6E-409C-BE32-E72D297353CC}">
                <c16:uniqueId val="{00000001-5FE1-4B26-846D-495F50125473}"/>
              </c:ext>
            </c:extLst>
          </c:dPt>
          <c:dPt>
            <c:idx val="1"/>
            <c:bubble3D val="0"/>
            <c:spPr>
              <a:solidFill>
                <a:schemeClr val="bg2">
                  <a:lumMod val="60000"/>
                  <a:lumOff val="40000"/>
                </a:schemeClr>
              </a:solidFill>
              <a:ln>
                <a:solidFill>
                  <a:schemeClr val="bg1"/>
                </a:solidFill>
              </a:ln>
              <a:effectLst/>
            </c:spPr>
            <c:extLst>
              <c:ext xmlns:c16="http://schemas.microsoft.com/office/drawing/2014/chart" uri="{C3380CC4-5D6E-409C-BE32-E72D297353CC}">
                <c16:uniqueId val="{00000003-5FE1-4B26-846D-495F50125473}"/>
              </c:ext>
            </c:extLst>
          </c:dPt>
          <c:dPt>
            <c:idx val="2"/>
            <c:bubble3D val="0"/>
            <c:spPr>
              <a:solidFill>
                <a:schemeClr val="bg2">
                  <a:lumMod val="40000"/>
                  <a:lumOff val="60000"/>
                </a:schemeClr>
              </a:solidFill>
              <a:ln>
                <a:solidFill>
                  <a:schemeClr val="bg1"/>
                </a:solidFill>
              </a:ln>
              <a:effectLst/>
            </c:spPr>
            <c:extLst>
              <c:ext xmlns:c16="http://schemas.microsoft.com/office/drawing/2014/chart" uri="{C3380CC4-5D6E-409C-BE32-E72D297353CC}">
                <c16:uniqueId val="{00000005-5FE1-4B26-846D-495F50125473}"/>
              </c:ext>
            </c:extLst>
          </c:dPt>
          <c:dPt>
            <c:idx val="3"/>
            <c:bubble3D val="0"/>
            <c:spPr>
              <a:solidFill>
                <a:schemeClr val="bg2">
                  <a:lumMod val="20000"/>
                  <a:lumOff val="80000"/>
                </a:schemeClr>
              </a:solidFill>
              <a:ln>
                <a:solidFill>
                  <a:schemeClr val="bg1"/>
                </a:solidFill>
              </a:ln>
              <a:effectLst/>
            </c:spPr>
            <c:extLst>
              <c:ext xmlns:c16="http://schemas.microsoft.com/office/drawing/2014/chart" uri="{C3380CC4-5D6E-409C-BE32-E72D297353CC}">
                <c16:uniqueId val="{00000007-5FE1-4B26-846D-495F50125473}"/>
              </c:ext>
            </c:extLst>
          </c:dPt>
          <c:dPt>
            <c:idx val="4"/>
            <c:bubble3D val="0"/>
            <c:spPr>
              <a:solidFill>
                <a:srgbClr val="E3F4FD"/>
              </a:solidFill>
              <a:ln>
                <a:solidFill>
                  <a:schemeClr val="bg1"/>
                </a:solidFill>
              </a:ln>
            </c:spPr>
            <c:extLst>
              <c:ext xmlns:c16="http://schemas.microsoft.com/office/drawing/2014/chart" uri="{C3380CC4-5D6E-409C-BE32-E72D297353CC}">
                <c16:uniqueId val="{00000009-5FE1-4B26-846D-495F50125473}"/>
              </c:ext>
            </c:extLst>
          </c:dPt>
          <c:dPt>
            <c:idx val="5"/>
            <c:bubble3D val="0"/>
            <c:spPr>
              <a:solidFill>
                <a:schemeClr val="bg1">
                  <a:lumMod val="95000"/>
                </a:schemeClr>
              </a:solidFill>
              <a:ln>
                <a:solidFill>
                  <a:schemeClr val="bg1"/>
                </a:solidFill>
              </a:ln>
            </c:spPr>
            <c:extLst>
              <c:ext xmlns:c16="http://schemas.microsoft.com/office/drawing/2014/chart" uri="{C3380CC4-5D6E-409C-BE32-E72D297353CC}">
                <c16:uniqueId val="{0000000B-5FE1-4B26-846D-495F50125473}"/>
              </c:ext>
            </c:extLst>
          </c:dPt>
          <c:dPt>
            <c:idx val="6"/>
            <c:bubble3D val="0"/>
            <c:spPr>
              <a:solidFill>
                <a:schemeClr val="bg1">
                  <a:lumMod val="85000"/>
                </a:schemeClr>
              </a:solidFill>
              <a:ln>
                <a:solidFill>
                  <a:schemeClr val="bg1"/>
                </a:solidFill>
              </a:ln>
            </c:spPr>
            <c:extLst>
              <c:ext xmlns:c16="http://schemas.microsoft.com/office/drawing/2014/chart" uri="{C3380CC4-5D6E-409C-BE32-E72D297353CC}">
                <c16:uniqueId val="{0000000D-5FE1-4B26-846D-495F50125473}"/>
              </c:ext>
            </c:extLst>
          </c:dPt>
          <c:dPt>
            <c:idx val="7"/>
            <c:bubble3D val="0"/>
            <c:spPr>
              <a:solidFill>
                <a:schemeClr val="bg1">
                  <a:lumMod val="65000"/>
                </a:schemeClr>
              </a:solidFill>
              <a:ln>
                <a:solidFill>
                  <a:schemeClr val="bg1"/>
                </a:solidFill>
              </a:ln>
            </c:spPr>
            <c:extLst>
              <c:ext xmlns:c16="http://schemas.microsoft.com/office/drawing/2014/chart" uri="{C3380CC4-5D6E-409C-BE32-E72D297353CC}">
                <c16:uniqueId val="{0000000F-5FE1-4B26-846D-495F50125473}"/>
              </c:ext>
            </c:extLst>
          </c:dPt>
          <c:dLbls>
            <c:spPr>
              <a:noFill/>
              <a:ln>
                <a:noFill/>
              </a:ln>
              <a:effectLst/>
            </c:spPr>
            <c:txPr>
              <a:bodyPr wrap="square" lIns="38100" tIns="19050" rIns="38100" bIns="19050" anchor="ctr">
                <a:spAutoFit/>
              </a:bodyPr>
              <a:lstStyle/>
              <a:p>
                <a:pPr>
                  <a:defRPr b="1">
                    <a:solidFill>
                      <a:schemeClr val="bg1"/>
                    </a:solidFill>
                  </a:defRPr>
                </a:pPr>
                <a:endParaRPr lang="zh-TW"/>
              </a:p>
            </c:txPr>
            <c:showLegendKey val="0"/>
            <c:showVal val="1"/>
            <c:showCatName val="0"/>
            <c:showSerName val="0"/>
            <c:showPercent val="0"/>
            <c:showBubbleSize val="0"/>
            <c:showLeaderLines val="1"/>
            <c:leaderLines>
              <c:spPr>
                <a:ln w="9525" cap="flat" cmpd="sng" algn="ctr">
                  <a:solidFill>
                    <a:schemeClr val="tx1">
                      <a:shade val="95000"/>
                      <a:satMod val="105000"/>
                    </a:schemeClr>
                  </a:solidFill>
                  <a:prstDash val="solid"/>
                  <a:round/>
                </a:ln>
                <a:effectLst/>
              </c:spPr>
            </c:leaderLines>
            <c:extLst>
              <c:ext xmlns:c15="http://schemas.microsoft.com/office/drawing/2012/chart" uri="{CE6537A1-D6FC-4f65-9D91-7224C49458BB}"/>
            </c:extLst>
          </c:dLbls>
          <c:cat>
            <c:strRef>
              <c:f>工作表1!$A$2:$A$5</c:f>
              <c:strCache>
                <c:ptCount val="4"/>
                <c:pt idx="0">
                  <c:v>診斷</c:v>
                </c:pt>
                <c:pt idx="1">
                  <c:v>醫療器材</c:v>
                </c:pt>
                <c:pt idx="2">
                  <c:v>營養品</c:v>
                </c:pt>
                <c:pt idx="3">
                  <c:v>成熟藥品</c:v>
                </c:pt>
              </c:strCache>
            </c:strRef>
          </c:cat>
          <c:val>
            <c:numRef>
              <c:f>工作表1!$B$2:$B$5</c:f>
              <c:numCache>
                <c:formatCode>0%</c:formatCode>
                <c:ptCount val="4"/>
                <c:pt idx="0">
                  <c:v>0.2016880684254474</c:v>
                </c:pt>
                <c:pt idx="1">
                  <c:v>0.48265667667170681</c:v>
                </c:pt>
                <c:pt idx="2">
                  <c:v>0.19072013721197897</c:v>
                </c:pt>
                <c:pt idx="3">
                  <c:v>0.12493511769086683</c:v>
                </c:pt>
              </c:numCache>
            </c:numRef>
          </c:val>
          <c:extLst>
            <c:ext xmlns:c16="http://schemas.microsoft.com/office/drawing/2014/chart" uri="{C3380CC4-5D6E-409C-BE32-E72D297353CC}">
              <c16:uniqueId val="{00000010-5FE1-4B26-846D-495F50125473}"/>
            </c:ext>
          </c:extLst>
        </c:ser>
        <c:dLbls>
          <c:showLegendKey val="0"/>
          <c:showVal val="1"/>
          <c:showCatName val="0"/>
          <c:showSerName val="0"/>
          <c:showPercent val="0"/>
          <c:showBubbleSize val="0"/>
          <c:showLeaderLines val="1"/>
        </c:dLbls>
        <c:firstSliceAng val="0"/>
        <c:holeSize val="61"/>
      </c:doughnutChart>
      <c:spPr>
        <a:noFill/>
        <a:ln>
          <a:noFill/>
        </a:ln>
        <a:effectLst/>
      </c:spPr>
    </c:plotArea>
    <c:legend>
      <c:legendPos val="r"/>
      <c:layout>
        <c:manualLayout>
          <c:xMode val="edge"/>
          <c:yMode val="edge"/>
          <c:x val="0.57998348165019575"/>
          <c:y val="6.068366258745439E-2"/>
          <c:w val="0.40594970727372282"/>
          <c:h val="0.91659074932212392"/>
        </c:manualLayout>
      </c:layout>
      <c:overlay val="0"/>
      <c:txPr>
        <a:bodyPr/>
        <a:lstStyle/>
        <a:p>
          <a:pPr>
            <a:defRPr sz="900" b="1">
              <a:solidFill>
                <a:schemeClr val="tx1">
                  <a:lumMod val="75000"/>
                  <a:lumOff val="25000"/>
                </a:schemeClr>
              </a:solidFill>
            </a:defRPr>
          </a:pPr>
          <a:endParaRPr lang="zh-TW"/>
        </a:p>
      </c:txPr>
    </c:legend>
    <c:plotVisOnly val="1"/>
    <c:dispBlanksAs val="gap"/>
    <c:showDLblsOverMax val="0"/>
  </c:chart>
  <c:spPr>
    <a:noFill/>
    <a:ln w="9525" cap="flat" cmpd="sng" algn="ctr">
      <a:noFill/>
      <a:prstDash val="solid"/>
    </a:ln>
    <a:effectLst/>
  </c:spPr>
  <c:txPr>
    <a:bodyPr/>
    <a:lstStyle/>
    <a:p>
      <a:pPr>
        <a:defRPr sz="800"/>
      </a:pPr>
      <a:endParaRPr lang="zh-TW"/>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工作表1!$B$1</c:f>
              <c:strCache>
                <c:ptCount val="1"/>
                <c:pt idx="0">
                  <c:v>數列 1</c:v>
                </c:pt>
              </c:strCache>
            </c:strRef>
          </c:tx>
          <c:spPr>
            <a:solidFill>
              <a:schemeClr val="bg1">
                <a:lumMod val="75000"/>
              </a:schemeClr>
            </a:solidFill>
            <a:ln>
              <a:noFill/>
            </a:ln>
            <a:effectLst/>
          </c:spPr>
          <c:invertIfNegative val="0"/>
          <c:dPt>
            <c:idx val="0"/>
            <c:invertIfNegative val="0"/>
            <c:bubble3D val="0"/>
            <c:spPr>
              <a:solidFill>
                <a:srgbClr val="C00000"/>
              </a:solidFill>
              <a:ln>
                <a:noFill/>
              </a:ln>
              <a:effectLst/>
            </c:spPr>
            <c:extLst>
              <c:ext xmlns:c16="http://schemas.microsoft.com/office/drawing/2014/chart" uri="{C3380CC4-5D6E-409C-BE32-E72D297353CC}">
                <c16:uniqueId val="{00000003-F101-4E91-B37D-31F98CA094B8}"/>
              </c:ext>
            </c:extLst>
          </c:dPt>
          <c:dLbls>
            <c:dLbl>
              <c:idx val="0"/>
              <c:layout>
                <c:manualLayout>
                  <c:x val="-8.5913190696391729E-3"/>
                  <c:y val="1.7473917993282606E-6"/>
                </c:manualLayout>
              </c:layout>
              <c:tx>
                <c:rich>
                  <a:bodyPr rot="0" spcFirstLastPara="1" vertOverflow="ellipsis" vert="horz" wrap="square" lIns="38100" tIns="19050" rIns="38100" bIns="19050" anchor="ctr" anchorCtr="1">
                    <a:spAutoFit/>
                  </a:bodyPr>
                  <a:lstStyle/>
                  <a:p>
                    <a:pPr>
                      <a:defRPr sz="1197" b="1" i="0" u="none" strike="noStrike" kern="1200" baseline="0">
                        <a:solidFill>
                          <a:srgbClr val="C00000"/>
                        </a:solidFill>
                        <a:latin typeface="+mn-lt"/>
                        <a:ea typeface="+mn-ea"/>
                        <a:cs typeface="+mn-cs"/>
                      </a:defRPr>
                    </a:pPr>
                    <a:r>
                      <a:rPr lang="en-US" altLang="zh-TW" b="1" dirty="0">
                        <a:solidFill>
                          <a:srgbClr val="C00000"/>
                        </a:solidFill>
                      </a:rPr>
                      <a:t>$</a:t>
                    </a:r>
                    <a:fld id="{E1BE9C9A-A6D7-4AC3-B7A1-281504EED8F6}" type="VALUE">
                      <a:rPr lang="en-US" altLang="zh-TW" b="1" smtClean="0">
                        <a:solidFill>
                          <a:srgbClr val="C00000"/>
                        </a:solidFill>
                      </a:rPr>
                      <a:pPr>
                        <a:defRPr b="1">
                          <a:solidFill>
                            <a:srgbClr val="C00000"/>
                          </a:solidFill>
                        </a:defRPr>
                      </a:pPr>
                      <a:t>[值]</a:t>
                    </a:fld>
                    <a:r>
                      <a:rPr lang="en-US" altLang="zh-TW" b="1" dirty="0">
                        <a:solidFill>
                          <a:srgbClr val="C00000"/>
                        </a:solidFill>
                      </a:rPr>
                      <a:t> B</a:t>
                    </a:r>
                  </a:p>
                </c:rich>
              </c:tx>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C00000"/>
                      </a:solidFill>
                      <a:latin typeface="+mn-lt"/>
                      <a:ea typeface="+mn-ea"/>
                      <a:cs typeface="+mn-cs"/>
                    </a:defRPr>
                  </a:pPr>
                  <a:endParaRPr lang="zh-TW"/>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F101-4E91-B37D-31F98CA094B8}"/>
                </c:ext>
              </c:extLst>
            </c:dLbl>
            <c:dLbl>
              <c:idx val="1"/>
              <c:layout>
                <c:manualLayout>
                  <c:x val="-1.1455092092852195E-2"/>
                  <c:y val="5.548405810776689E-3"/>
                </c:manualLayout>
              </c:layout>
              <c:tx>
                <c:rich>
                  <a:bodyPr/>
                  <a:lstStyle/>
                  <a:p>
                    <a:r>
                      <a:rPr lang="en-US" altLang="zh-TW" dirty="0"/>
                      <a:t>$</a:t>
                    </a:r>
                    <a:fld id="{23482410-18FE-4E47-A9CC-3F652F20F88E}" type="VALUE">
                      <a:rPr lang="en-US" altLang="zh-TW" smtClean="0"/>
                      <a:pPr/>
                      <a:t>[值]</a:t>
                    </a:fld>
                    <a:r>
                      <a:rPr lang="en-US" altLang="zh-TW" dirty="0"/>
                      <a:t> B</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F101-4E91-B37D-31F98CA094B8}"/>
                </c:ext>
              </c:extLst>
            </c:dLbl>
            <c:dLbl>
              <c:idx val="2"/>
              <c:layout>
                <c:manualLayout>
                  <c:x val="-1.4318865116065112E-2"/>
                  <c:y val="8.7369589970862908E-7"/>
                </c:manualLayout>
              </c:layout>
              <c:tx>
                <c:rich>
                  <a:bodyPr/>
                  <a:lstStyle/>
                  <a:p>
                    <a:r>
                      <a:rPr lang="en-US" altLang="zh-TW" dirty="0"/>
                      <a:t>$</a:t>
                    </a:r>
                    <a:fld id="{5A31D1B7-4E59-4167-BF73-F3AF297A5EFA}" type="VALUE">
                      <a:rPr lang="en-US" altLang="zh-TW" smtClean="0"/>
                      <a:pPr/>
                      <a:t>[值]</a:t>
                    </a:fld>
                    <a:r>
                      <a:rPr lang="en-US" altLang="zh-TW" dirty="0"/>
                      <a:t> B</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F101-4E91-B37D-31F98CA094B8}"/>
                </c:ext>
              </c:extLst>
            </c:dLbl>
            <c:dLbl>
              <c:idx val="3"/>
              <c:layout>
                <c:manualLayout>
                  <c:x val="-5.7275460464260453E-3"/>
                  <c:y val="8.7369589965777333E-7"/>
                </c:manualLayout>
              </c:layout>
              <c:tx>
                <c:rich>
                  <a:bodyPr/>
                  <a:lstStyle/>
                  <a:p>
                    <a:r>
                      <a:rPr lang="en-US" altLang="zh-TW" dirty="0"/>
                      <a:t>$</a:t>
                    </a:r>
                    <a:fld id="{E14ECE2F-396A-48A2-9D10-284A6FB1A310}" type="VALUE">
                      <a:rPr lang="en-US" altLang="zh-TW" smtClean="0"/>
                      <a:pPr/>
                      <a:t>[值]</a:t>
                    </a:fld>
                    <a:r>
                      <a:rPr lang="en-US" altLang="zh-TW" dirty="0"/>
                      <a:t> B</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F101-4E91-B37D-31F98CA094B8}"/>
                </c:ext>
              </c:extLst>
            </c:dLbl>
            <c:dLbl>
              <c:idx val="4"/>
              <c:layout>
                <c:manualLayout>
                  <c:x val="2.8637730232130227E-3"/>
                  <c:y val="8.7369589975948494E-7"/>
                </c:manualLayout>
              </c:layout>
              <c:tx>
                <c:rich>
                  <a:bodyPr/>
                  <a:lstStyle/>
                  <a:p>
                    <a:r>
                      <a:rPr lang="en-US" altLang="zh-TW" dirty="0"/>
                      <a:t>$</a:t>
                    </a:r>
                    <a:fld id="{4F0F60DB-9D7B-49DE-88A4-2210B7795779}" type="VALUE">
                      <a:rPr lang="en-US" altLang="zh-TW" smtClean="0"/>
                      <a:pPr/>
                      <a:t>[值]</a:t>
                    </a:fld>
                    <a:r>
                      <a:rPr lang="en-US" altLang="zh-TW" dirty="0"/>
                      <a:t> B</a:t>
                    </a: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F101-4E91-B37D-31F98CA094B8}"/>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TW"/>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工作表1!$A$2:$A$6</c:f>
              <c:strCache>
                <c:ptCount val="5"/>
                <c:pt idx="0">
                  <c:v>Abbott</c:v>
                </c:pt>
                <c:pt idx="1">
                  <c:v>Intuitive</c:v>
                </c:pt>
                <c:pt idx="2">
                  <c:v>Stryker</c:v>
                </c:pt>
                <c:pt idx="3">
                  <c:v>Boston</c:v>
                </c:pt>
                <c:pt idx="4">
                  <c:v>Meditronic</c:v>
                </c:pt>
              </c:strCache>
            </c:strRef>
          </c:cat>
          <c:val>
            <c:numRef>
              <c:f>工作表1!$B$2:$B$6</c:f>
              <c:numCache>
                <c:formatCode>0</c:formatCode>
                <c:ptCount val="5"/>
                <c:pt idx="0">
                  <c:v>181</c:v>
                </c:pt>
                <c:pt idx="1">
                  <c:v>168</c:v>
                </c:pt>
                <c:pt idx="2">
                  <c:v>126</c:v>
                </c:pt>
                <c:pt idx="3">
                  <c:v>111</c:v>
                </c:pt>
                <c:pt idx="4">
                  <c:v>101</c:v>
                </c:pt>
              </c:numCache>
            </c:numRef>
          </c:val>
          <c:extLst>
            <c:ext xmlns:c16="http://schemas.microsoft.com/office/drawing/2014/chart" uri="{C3380CC4-5D6E-409C-BE32-E72D297353CC}">
              <c16:uniqueId val="{00000000-F101-4E91-B37D-31F98CA094B8}"/>
            </c:ext>
          </c:extLst>
        </c:ser>
        <c:dLbls>
          <c:dLblPos val="outEnd"/>
          <c:showLegendKey val="0"/>
          <c:showVal val="1"/>
          <c:showCatName val="0"/>
          <c:showSerName val="0"/>
          <c:showPercent val="0"/>
          <c:showBubbleSize val="0"/>
        </c:dLbls>
        <c:gapWidth val="88"/>
        <c:axId val="1151128472"/>
        <c:axId val="1151129128"/>
      </c:barChart>
      <c:catAx>
        <c:axId val="115112847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TW"/>
          </a:p>
        </c:txPr>
        <c:crossAx val="1151129128"/>
        <c:crosses val="autoZero"/>
        <c:auto val="1"/>
        <c:lblAlgn val="ctr"/>
        <c:lblOffset val="100"/>
        <c:noMultiLvlLbl val="0"/>
      </c:catAx>
      <c:valAx>
        <c:axId val="1151129128"/>
        <c:scaling>
          <c:orientation val="minMax"/>
          <c:max val="230"/>
          <c:min val="50"/>
        </c:scaling>
        <c:delete val="1"/>
        <c:axPos val="t"/>
        <c:numFmt formatCode="0" sourceLinked="1"/>
        <c:majorTickMark val="out"/>
        <c:minorTickMark val="none"/>
        <c:tickLblPos val="nextTo"/>
        <c:crossAx val="1151128472"/>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900" b="0" i="0" u="none" strike="noStrike" kern="1200" spc="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r>
              <a:rPr lang="zh-TW" altLang="en-US" sz="900" dirty="0">
                <a:solidFill>
                  <a:schemeClr val="tx1">
                    <a:lumMod val="75000"/>
                    <a:lumOff val="25000"/>
                  </a:schemeClr>
                </a:solidFill>
                <a:latin typeface="微軟正黑體" panose="020B0604030504040204" pitchFamily="34" charset="-120"/>
                <a:ea typeface="微軟正黑體" panose="020B0604030504040204" pitchFamily="34" charset="-120"/>
              </a:rPr>
              <a:t>普通股可分配淨利</a:t>
            </a:r>
            <a:r>
              <a:rPr lang="en-US" altLang="zh-TW" sz="9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900" dirty="0">
                <a:solidFill>
                  <a:schemeClr val="tx1">
                    <a:lumMod val="75000"/>
                    <a:lumOff val="25000"/>
                  </a:schemeClr>
                </a:solidFill>
                <a:latin typeface="微軟正黑體" panose="020B0604030504040204" pitchFamily="34" charset="-120"/>
                <a:ea typeface="微軟正黑體" panose="020B0604030504040204" pitchFamily="34" charset="-120"/>
              </a:rPr>
              <a:t>百萬 </a:t>
            </a:r>
            <a:r>
              <a:rPr lang="en-US" altLang="zh-TW" sz="900" dirty="0">
                <a:solidFill>
                  <a:schemeClr val="tx1">
                    <a:lumMod val="75000"/>
                    <a:lumOff val="25000"/>
                  </a:schemeClr>
                </a:solidFill>
                <a:latin typeface="微軟正黑體" panose="020B0604030504040204" pitchFamily="34" charset="-120"/>
                <a:ea typeface="微軟正黑體" panose="020B0604030504040204" pitchFamily="34" charset="-120"/>
              </a:rPr>
              <a:t>USD)</a:t>
            </a:r>
            <a:endParaRPr lang="zh-TW" altLang="en-US" sz="900" dirty="0">
              <a:solidFill>
                <a:schemeClr val="tx1">
                  <a:lumMod val="75000"/>
                  <a:lumOff val="25000"/>
                </a:schemeClr>
              </a:solidFill>
              <a:latin typeface="微軟正黑體" panose="020B0604030504040204" pitchFamily="34" charset="-120"/>
              <a:ea typeface="微軟正黑體" panose="020B0604030504040204" pitchFamily="34" charset="-120"/>
            </a:endParaRPr>
          </a:p>
        </c:rich>
      </c:tx>
      <c:layout>
        <c:manualLayout>
          <c:xMode val="edge"/>
          <c:yMode val="edge"/>
          <c:x val="0.13447578338185129"/>
          <c:y val="7.6682347300992704E-3"/>
        </c:manualLayout>
      </c:layout>
      <c:overlay val="0"/>
      <c:spPr>
        <a:noFill/>
        <a:ln>
          <a:noFill/>
        </a:ln>
        <a:effectLst/>
      </c:spPr>
      <c:txPr>
        <a:bodyPr rot="0" spcFirstLastPara="1" vertOverflow="ellipsis" vert="horz" wrap="square" anchor="ctr" anchorCtr="1"/>
        <a:lstStyle/>
        <a:p>
          <a:pPr>
            <a:defRPr sz="900" b="0" i="0" u="none" strike="noStrike" kern="1200" spc="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title>
    <c:autoTitleDeleted val="0"/>
    <c:plotArea>
      <c:layout>
        <c:manualLayout>
          <c:layoutTarget val="inner"/>
          <c:xMode val="edge"/>
          <c:yMode val="edge"/>
          <c:x val="6.7734384242567641E-2"/>
          <c:y val="0.39032220473220652"/>
          <c:w val="0.86453123151486466"/>
          <c:h val="0.44343590050133347"/>
        </c:manualLayout>
      </c:layout>
      <c:barChart>
        <c:barDir val="col"/>
        <c:grouping val="clustered"/>
        <c:varyColors val="0"/>
        <c:ser>
          <c:idx val="0"/>
          <c:order val="0"/>
          <c:tx>
            <c:strRef>
              <c:f>工作表2!$D$10</c:f>
              <c:strCache>
                <c:ptCount val="1"/>
                <c:pt idx="0">
                  <c:v>普通股可分配淨利</c:v>
                </c:pt>
              </c:strCache>
            </c:strRef>
          </c:tx>
          <c:spPr>
            <a:solidFill>
              <a:srgbClr val="D9D9D9"/>
            </a:solidFill>
            <a:ln>
              <a:noFill/>
            </a:ln>
            <a:effectLst/>
          </c:spPr>
          <c:invertIfNegative val="0"/>
          <c:dPt>
            <c:idx val="0"/>
            <c:invertIfNegative val="0"/>
            <c:bubble3D val="0"/>
            <c:spPr>
              <a:solidFill>
                <a:srgbClr val="F0DEDA"/>
              </a:solidFill>
              <a:ln>
                <a:noFill/>
              </a:ln>
              <a:effectLst/>
            </c:spPr>
            <c:extLst>
              <c:ext xmlns:c16="http://schemas.microsoft.com/office/drawing/2014/chart" uri="{C3380CC4-5D6E-409C-BE32-E72D297353CC}">
                <c16:uniqueId val="{00000001-E4CC-4C4F-8195-D4BD3E150404}"/>
              </c:ext>
            </c:extLst>
          </c:dPt>
          <c:dPt>
            <c:idx val="1"/>
            <c:invertIfNegative val="0"/>
            <c:bubble3D val="0"/>
            <c:spPr>
              <a:solidFill>
                <a:srgbClr val="F0DEDA"/>
              </a:solidFill>
              <a:ln>
                <a:noFill/>
              </a:ln>
              <a:effectLst/>
            </c:spPr>
            <c:extLst>
              <c:ext xmlns:c16="http://schemas.microsoft.com/office/drawing/2014/chart" uri="{C3380CC4-5D6E-409C-BE32-E72D297353CC}">
                <c16:uniqueId val="{00000003-E4CC-4C4F-8195-D4BD3E150404}"/>
              </c:ext>
            </c:extLst>
          </c:dPt>
          <c:dPt>
            <c:idx val="2"/>
            <c:invertIfNegative val="0"/>
            <c:bubble3D val="0"/>
            <c:spPr>
              <a:solidFill>
                <a:srgbClr val="F0DEDA"/>
              </a:solidFill>
              <a:ln>
                <a:noFill/>
              </a:ln>
              <a:effectLst/>
            </c:spPr>
            <c:extLst>
              <c:ext xmlns:c16="http://schemas.microsoft.com/office/drawing/2014/chart" uri="{C3380CC4-5D6E-409C-BE32-E72D297353CC}">
                <c16:uniqueId val="{00000005-E4CC-4C4F-8195-D4BD3E150404}"/>
              </c:ext>
            </c:extLst>
          </c:dPt>
          <c:dPt>
            <c:idx val="3"/>
            <c:invertIfNegative val="0"/>
            <c:bubble3D val="0"/>
            <c:spPr>
              <a:solidFill>
                <a:srgbClr val="F0DEDA"/>
              </a:solidFill>
              <a:ln>
                <a:noFill/>
              </a:ln>
              <a:effectLst/>
            </c:spPr>
            <c:extLst>
              <c:ext xmlns:c16="http://schemas.microsoft.com/office/drawing/2014/chart" uri="{C3380CC4-5D6E-409C-BE32-E72D297353CC}">
                <c16:uniqueId val="{00000007-E4CC-4C4F-8195-D4BD3E150404}"/>
              </c:ext>
            </c:extLst>
          </c:dPt>
          <c:dPt>
            <c:idx val="4"/>
            <c:invertIfNegative val="0"/>
            <c:bubble3D val="0"/>
            <c:spPr>
              <a:solidFill>
                <a:srgbClr val="900000"/>
              </a:solidFill>
              <a:ln>
                <a:noFill/>
              </a:ln>
              <a:effectLst/>
            </c:spPr>
            <c:extLst>
              <c:ext xmlns:c16="http://schemas.microsoft.com/office/drawing/2014/chart" uri="{C3380CC4-5D6E-409C-BE32-E72D297353CC}">
                <c16:uniqueId val="{00000009-E4CC-4C4F-8195-D4BD3E150404}"/>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工作表2!$C$15:$C$19</c:f>
              <c:strCache>
                <c:ptCount val="5"/>
                <c:pt idx="0">
                  <c:v>1Q25</c:v>
                </c:pt>
                <c:pt idx="1">
                  <c:v>2Q25</c:v>
                </c:pt>
                <c:pt idx="2">
                  <c:v>3Q25</c:v>
                </c:pt>
                <c:pt idx="3">
                  <c:v>4Q25</c:v>
                </c:pt>
                <c:pt idx="4">
                  <c:v>1Q26</c:v>
                </c:pt>
              </c:strCache>
            </c:strRef>
          </c:cat>
          <c:val>
            <c:numRef>
              <c:f>工作表2!$D$15:$D$19</c:f>
              <c:numCache>
                <c:formatCode>_-* #,##0_-;\-* #,##0_-;_-* "-"??_-;_-@_-</c:formatCode>
                <c:ptCount val="5"/>
                <c:pt idx="0">
                  <c:v>1325</c:v>
                </c:pt>
                <c:pt idx="1">
                  <c:v>1779</c:v>
                </c:pt>
                <c:pt idx="2">
                  <c:v>1644</c:v>
                </c:pt>
                <c:pt idx="3">
                  <c:v>1776</c:v>
                </c:pt>
                <c:pt idx="4">
                  <c:v>1077</c:v>
                </c:pt>
              </c:numCache>
            </c:numRef>
          </c:val>
          <c:extLst>
            <c:ext xmlns:c16="http://schemas.microsoft.com/office/drawing/2014/chart" uri="{C3380CC4-5D6E-409C-BE32-E72D297353CC}">
              <c16:uniqueId val="{0000000A-E4CC-4C4F-8195-D4BD3E150404}"/>
            </c:ext>
          </c:extLst>
        </c:ser>
        <c:dLbls>
          <c:showLegendKey val="0"/>
          <c:showVal val="0"/>
          <c:showCatName val="0"/>
          <c:showSerName val="0"/>
          <c:showPercent val="0"/>
          <c:showBubbleSize val="0"/>
        </c:dLbls>
        <c:gapWidth val="40"/>
        <c:axId val="140813824"/>
        <c:axId val="140815360"/>
      </c:barChart>
      <c:catAx>
        <c:axId val="140813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rgbClr val="404040"/>
                </a:solidFill>
                <a:latin typeface="微軟正黑體" panose="020B0604030504040204" pitchFamily="34" charset="-120"/>
                <a:ea typeface="微軟正黑體" panose="020B0604030504040204" pitchFamily="34" charset="-120"/>
                <a:cs typeface="+mn-cs"/>
              </a:defRPr>
            </a:pPr>
            <a:endParaRPr lang="zh-TW"/>
          </a:p>
        </c:txPr>
        <c:crossAx val="140815360"/>
        <c:crosses val="autoZero"/>
        <c:auto val="0"/>
        <c:lblAlgn val="ctr"/>
        <c:lblOffset val="100"/>
        <c:noMultiLvlLbl val="0"/>
      </c:catAx>
      <c:valAx>
        <c:axId val="140815360"/>
        <c:scaling>
          <c:orientation val="minMax"/>
        </c:scaling>
        <c:delete val="1"/>
        <c:axPos val="l"/>
        <c:numFmt formatCode="_-* #,##0_-;\-* #,##0_-;_-* &quot;-&quot;??_-;_-@_-" sourceLinked="1"/>
        <c:majorTickMark val="out"/>
        <c:minorTickMark val="none"/>
        <c:tickLblPos val="nextTo"/>
        <c:crossAx val="14081382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lgn="ctr" rtl="0">
              <a:defRPr sz="900"/>
            </a:pPr>
            <a:r>
              <a:rPr lang="zh-TW" sz="900" dirty="0"/>
              <a:t>營收</a:t>
            </a:r>
            <a:r>
              <a:rPr lang="en-US" sz="900" dirty="0"/>
              <a:t>(</a:t>
            </a:r>
            <a:r>
              <a:rPr lang="zh-TW" sz="900" dirty="0"/>
              <a:t>百萬 </a:t>
            </a:r>
            <a:r>
              <a:rPr lang="en-US" sz="900" dirty="0"/>
              <a:t>USD)</a:t>
            </a:r>
          </a:p>
        </c:rich>
      </c:tx>
      <c:layout>
        <c:manualLayout>
          <c:xMode val="edge"/>
          <c:yMode val="edge"/>
          <c:x val="0.27571801889118397"/>
          <c:y val="8.9070427355702406E-3"/>
        </c:manualLayout>
      </c:layout>
      <c:overlay val="0"/>
    </c:title>
    <c:autoTitleDeleted val="0"/>
    <c:plotArea>
      <c:layout>
        <c:manualLayout>
          <c:layoutTarget val="inner"/>
          <c:xMode val="edge"/>
          <c:yMode val="edge"/>
          <c:x val="7.089092692551073E-2"/>
          <c:y val="0.19966702649362447"/>
          <c:w val="0.85821814614897851"/>
          <c:h val="0.63409082831515262"/>
        </c:manualLayout>
      </c:layout>
      <c:barChart>
        <c:barDir val="col"/>
        <c:grouping val="clustered"/>
        <c:varyColors val="0"/>
        <c:ser>
          <c:idx val="0"/>
          <c:order val="0"/>
          <c:tx>
            <c:strRef>
              <c:f>工作表2!$D$10</c:f>
              <c:strCache>
                <c:ptCount val="1"/>
                <c:pt idx="0">
                  <c:v>營收(百萬 USD)</c:v>
                </c:pt>
              </c:strCache>
            </c:strRef>
          </c:tx>
          <c:spPr>
            <a:solidFill>
              <a:srgbClr val="D9D9D9"/>
            </a:solidFill>
            <a:ln>
              <a:noFill/>
            </a:ln>
            <a:effectLst/>
          </c:spPr>
          <c:invertIfNegative val="0"/>
          <c:dPt>
            <c:idx val="0"/>
            <c:invertIfNegative val="0"/>
            <c:bubble3D val="0"/>
            <c:spPr>
              <a:solidFill>
                <a:srgbClr val="F0DEDA"/>
              </a:solidFill>
              <a:ln>
                <a:noFill/>
              </a:ln>
              <a:effectLst/>
            </c:spPr>
            <c:extLst>
              <c:ext xmlns:c16="http://schemas.microsoft.com/office/drawing/2014/chart" uri="{C3380CC4-5D6E-409C-BE32-E72D297353CC}">
                <c16:uniqueId val="{00000001-0E69-4478-A4E7-DC07DD573D73}"/>
              </c:ext>
            </c:extLst>
          </c:dPt>
          <c:dPt>
            <c:idx val="1"/>
            <c:invertIfNegative val="0"/>
            <c:bubble3D val="0"/>
            <c:spPr>
              <a:solidFill>
                <a:srgbClr val="F0DEDA"/>
              </a:solidFill>
              <a:ln>
                <a:noFill/>
              </a:ln>
              <a:effectLst/>
            </c:spPr>
            <c:extLst>
              <c:ext xmlns:c16="http://schemas.microsoft.com/office/drawing/2014/chart" uri="{C3380CC4-5D6E-409C-BE32-E72D297353CC}">
                <c16:uniqueId val="{00000003-0E69-4478-A4E7-DC07DD573D73}"/>
              </c:ext>
            </c:extLst>
          </c:dPt>
          <c:dPt>
            <c:idx val="2"/>
            <c:invertIfNegative val="0"/>
            <c:bubble3D val="0"/>
            <c:spPr>
              <a:solidFill>
                <a:srgbClr val="F0DEDA"/>
              </a:solidFill>
              <a:ln>
                <a:noFill/>
              </a:ln>
              <a:effectLst/>
            </c:spPr>
            <c:extLst>
              <c:ext xmlns:c16="http://schemas.microsoft.com/office/drawing/2014/chart" uri="{C3380CC4-5D6E-409C-BE32-E72D297353CC}">
                <c16:uniqueId val="{00000005-0E69-4478-A4E7-DC07DD573D73}"/>
              </c:ext>
            </c:extLst>
          </c:dPt>
          <c:dPt>
            <c:idx val="3"/>
            <c:invertIfNegative val="0"/>
            <c:bubble3D val="0"/>
            <c:spPr>
              <a:solidFill>
                <a:srgbClr val="F0DEDA"/>
              </a:solidFill>
              <a:ln>
                <a:noFill/>
              </a:ln>
              <a:effectLst/>
            </c:spPr>
            <c:extLst>
              <c:ext xmlns:c16="http://schemas.microsoft.com/office/drawing/2014/chart" uri="{C3380CC4-5D6E-409C-BE32-E72D297353CC}">
                <c16:uniqueId val="{00000007-0E69-4478-A4E7-DC07DD573D73}"/>
              </c:ext>
            </c:extLst>
          </c:dPt>
          <c:dPt>
            <c:idx val="4"/>
            <c:invertIfNegative val="0"/>
            <c:bubble3D val="0"/>
            <c:spPr>
              <a:solidFill>
                <a:srgbClr val="900000"/>
              </a:solidFill>
              <a:ln>
                <a:noFill/>
              </a:ln>
              <a:effectLst/>
            </c:spPr>
            <c:extLst>
              <c:ext xmlns:c16="http://schemas.microsoft.com/office/drawing/2014/chart" uri="{C3380CC4-5D6E-409C-BE32-E72D297353CC}">
                <c16:uniqueId val="{00000009-0E69-4478-A4E7-DC07DD573D73}"/>
              </c:ext>
            </c:extLst>
          </c:dPt>
          <c:dLbls>
            <c:dLbl>
              <c:idx val="0"/>
              <c:layout>
                <c:manualLayout>
                  <c:x val="-1.2889259441001952E-2"/>
                  <c:y val="8.7795374560080436E-2"/>
                </c:manualLayout>
              </c:layout>
              <c:showLegendKey val="0"/>
              <c:showVal val="1"/>
              <c:showCatName val="0"/>
              <c:showSerName val="0"/>
              <c:showPercent val="0"/>
              <c:showBubbleSize val="0"/>
              <c:extLst>
                <c:ext xmlns:c15="http://schemas.microsoft.com/office/drawing/2012/chart" uri="{CE6537A1-D6FC-4f65-9D91-7224C49458BB}">
                  <c15:layout>
                    <c:manualLayout>
                      <c:w val="0.24151275250135362"/>
                      <c:h val="0.22814856711915535"/>
                    </c:manualLayout>
                  </c15:layout>
                </c:ext>
                <c:ext xmlns:c16="http://schemas.microsoft.com/office/drawing/2014/chart" uri="{C3380CC4-5D6E-409C-BE32-E72D297353CC}">
                  <c16:uniqueId val="{00000001-0E69-4478-A4E7-DC07DD573D73}"/>
                </c:ext>
              </c:extLst>
            </c:dLbl>
            <c:dLbl>
              <c:idx val="1"/>
              <c:layout>
                <c:manualLayout>
                  <c:x val="0"/>
                  <c:y val="3.1925590749120158E-2"/>
                </c:manualLayout>
              </c:layout>
              <c:showLegendKey val="0"/>
              <c:showVal val="1"/>
              <c:showCatName val="0"/>
              <c:showSerName val="0"/>
              <c:showPercent val="0"/>
              <c:showBubbleSize val="0"/>
              <c:extLst>
                <c:ext xmlns:c15="http://schemas.microsoft.com/office/drawing/2012/chart" uri="{CE6537A1-D6FC-4f65-9D91-7224C49458BB}">
                  <c15:layout>
                    <c:manualLayout>
                      <c:w val="0.23506812278085268"/>
                      <c:h val="0.24411136249371543"/>
                    </c:manualLayout>
                  </c15:layout>
                </c:ext>
                <c:ext xmlns:c16="http://schemas.microsoft.com/office/drawing/2014/chart" uri="{C3380CC4-5D6E-409C-BE32-E72D297353CC}">
                  <c16:uniqueId val="{00000003-0E69-4478-A4E7-DC07DD573D73}"/>
                </c:ext>
              </c:extLst>
            </c:dLbl>
            <c:dLbl>
              <c:idx val="2"/>
              <c:layout>
                <c:manualLayout>
                  <c:x val="0"/>
                  <c:y val="3.990698843640024E-2"/>
                </c:manualLayout>
              </c:layout>
              <c:showLegendKey val="0"/>
              <c:showVal val="1"/>
              <c:showCatName val="0"/>
              <c:showSerName val="0"/>
              <c:showPercent val="0"/>
              <c:showBubbleSize val="0"/>
              <c:extLst>
                <c:ext xmlns:c15="http://schemas.microsoft.com/office/drawing/2012/chart" uri="{CE6537A1-D6FC-4f65-9D91-7224C49458BB}">
                  <c15:layout>
                    <c:manualLayout>
                      <c:w val="0.22862349306035168"/>
                      <c:h val="0.24411136249371543"/>
                    </c:manualLayout>
                  </c15:layout>
                </c:ext>
                <c:ext xmlns:c16="http://schemas.microsoft.com/office/drawing/2014/chart" uri="{C3380CC4-5D6E-409C-BE32-E72D297353CC}">
                  <c16:uniqueId val="{00000005-0E69-4478-A4E7-DC07DD573D73}"/>
                </c:ext>
              </c:extLst>
            </c:dLbl>
            <c:dLbl>
              <c:idx val="3"/>
              <c:layout>
                <c:manualLayout>
                  <c:x val="-1.1815017999488978E-16"/>
                  <c:y val="7.9813976872800327E-2"/>
                </c:manualLayout>
              </c:layout>
              <c:showLegendKey val="0"/>
              <c:showVal val="1"/>
              <c:showCatName val="0"/>
              <c:showSerName val="0"/>
              <c:showPercent val="0"/>
              <c:showBubbleSize val="0"/>
              <c:extLst>
                <c:ext xmlns:c15="http://schemas.microsoft.com/office/drawing/2012/chart" uri="{CE6537A1-D6FC-4f65-9D91-7224C49458BB}">
                  <c15:layout>
                    <c:manualLayout>
                      <c:w val="0.25440201194235557"/>
                      <c:h val="0.24411136249371543"/>
                    </c:manualLayout>
                  </c15:layout>
                </c:ext>
                <c:ext xmlns:c16="http://schemas.microsoft.com/office/drawing/2014/chart" uri="{C3380CC4-5D6E-409C-BE32-E72D297353CC}">
                  <c16:uniqueId val="{00000007-0E69-4478-A4E7-DC07DD573D73}"/>
                </c:ext>
              </c:extLst>
            </c:dLbl>
            <c:dLbl>
              <c:idx val="4"/>
              <c:layout>
                <c:manualLayout>
                  <c:x val="0"/>
                  <c:y val="2.3944193061840084E-2"/>
                </c:manualLayout>
              </c:layout>
              <c:showLegendKey val="0"/>
              <c:showVal val="1"/>
              <c:showCatName val="0"/>
              <c:showSerName val="0"/>
              <c:showPercent val="0"/>
              <c:showBubbleSize val="0"/>
              <c:extLst>
                <c:ext xmlns:c15="http://schemas.microsoft.com/office/drawing/2012/chart" uri="{CE6537A1-D6FC-4f65-9D91-7224C49458BB}">
                  <c15:layout>
                    <c:manualLayout>
                      <c:w val="0.22862349306035168"/>
                      <c:h val="0.24411136249371543"/>
                    </c:manualLayout>
                  </c15:layout>
                </c:ext>
                <c:ext xmlns:c16="http://schemas.microsoft.com/office/drawing/2014/chart" uri="{C3380CC4-5D6E-409C-BE32-E72D297353CC}">
                  <c16:uniqueId val="{00000009-0E69-4478-A4E7-DC07DD573D73}"/>
                </c:ext>
              </c:extLst>
            </c:dLbl>
            <c:spPr>
              <a:noFill/>
              <a:ln>
                <a:noFill/>
              </a:ln>
              <a:effectLst/>
            </c:spPr>
            <c:txPr>
              <a:bodyPr rot="0" vert="horz"/>
              <a:lstStyle/>
              <a:p>
                <a:pPr algn="ctr">
                  <a:defRPr lang="zh-TW" altLang="en-US" sz="800" b="0" i="0" u="none" strike="noStrike" kern="1200" baseline="0">
                    <a:solidFill>
                      <a:prstClr val="black">
                        <a:lumMod val="75000"/>
                        <a:lumOff val="25000"/>
                      </a:prst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工作表2!$C$15:$C$19</c:f>
              <c:strCache>
                <c:ptCount val="5"/>
                <c:pt idx="0">
                  <c:v>1Q25</c:v>
                </c:pt>
                <c:pt idx="1">
                  <c:v>2Q25</c:v>
                </c:pt>
                <c:pt idx="2">
                  <c:v>3Q25</c:v>
                </c:pt>
                <c:pt idx="3">
                  <c:v>4Q25</c:v>
                </c:pt>
                <c:pt idx="4">
                  <c:v>1Q26</c:v>
                </c:pt>
              </c:strCache>
            </c:strRef>
          </c:cat>
          <c:val>
            <c:numRef>
              <c:f>工作表2!$D$15:$D$19</c:f>
              <c:numCache>
                <c:formatCode>_-* #,##0_-;\-* #,##0_-;_-* "-"??_-;_-@_-</c:formatCode>
                <c:ptCount val="5"/>
                <c:pt idx="0">
                  <c:v>10358</c:v>
                </c:pt>
                <c:pt idx="1">
                  <c:v>11142</c:v>
                </c:pt>
                <c:pt idx="2">
                  <c:v>11369</c:v>
                </c:pt>
                <c:pt idx="3">
                  <c:v>11459</c:v>
                </c:pt>
                <c:pt idx="4">
                  <c:v>11164</c:v>
                </c:pt>
              </c:numCache>
            </c:numRef>
          </c:val>
          <c:extLst>
            <c:ext xmlns:c16="http://schemas.microsoft.com/office/drawing/2014/chart" uri="{C3380CC4-5D6E-409C-BE32-E72D297353CC}">
              <c16:uniqueId val="{0000000A-0E69-4478-A4E7-DC07DD573D73}"/>
            </c:ext>
          </c:extLst>
        </c:ser>
        <c:dLbls>
          <c:showLegendKey val="0"/>
          <c:showVal val="0"/>
          <c:showCatName val="0"/>
          <c:showSerName val="0"/>
          <c:showPercent val="0"/>
          <c:showBubbleSize val="0"/>
        </c:dLbls>
        <c:gapWidth val="40"/>
        <c:axId val="140530432"/>
        <c:axId val="140531968"/>
      </c:barChart>
      <c:catAx>
        <c:axId val="140530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lgn="ctr">
              <a:defRPr sz="700">
                <a:solidFill>
                  <a:srgbClr val="404040"/>
                </a:solidFill>
              </a:defRPr>
            </a:pPr>
            <a:endParaRPr lang="zh-TW"/>
          </a:p>
        </c:txPr>
        <c:crossAx val="140531968"/>
        <c:crosses val="autoZero"/>
        <c:auto val="0"/>
        <c:lblAlgn val="ctr"/>
        <c:lblOffset val="100"/>
        <c:noMultiLvlLbl val="0"/>
      </c:catAx>
      <c:valAx>
        <c:axId val="140531968"/>
        <c:scaling>
          <c:orientation val="minMax"/>
        </c:scaling>
        <c:delete val="1"/>
        <c:axPos val="l"/>
        <c:numFmt formatCode="_-* #,##0_-;\-* #,##0_-;_-* &quot;-&quot;??_-;_-@_-" sourceLinked="1"/>
        <c:majorTickMark val="none"/>
        <c:minorTickMark val="none"/>
        <c:tickLblPos val="nextTo"/>
        <c:crossAx val="140530432"/>
        <c:crosses val="autoZero"/>
        <c:crossBetween val="between"/>
      </c:valAx>
      <c:spPr>
        <a:noFill/>
        <a:ln>
          <a:noFill/>
        </a:ln>
        <a:effectLst/>
      </c:spPr>
    </c:plotArea>
    <c:plotVisOnly val="1"/>
    <c:dispBlanksAs val="gap"/>
    <c:showDLblsOverMax val="0"/>
  </c:chart>
  <c:spPr>
    <a:noFill/>
    <a:ln>
      <a:noFill/>
    </a:ln>
    <a:effectLst/>
  </c:spPr>
  <c:txPr>
    <a:bodyPr/>
    <a:lstStyle/>
    <a:p>
      <a:pPr algn="ctr">
        <a:defRPr lang="zh-TW" altLang="en-US" sz="600" b="0" i="0" u="none" strike="noStrike" kern="1200" baseline="0">
          <a:solidFill>
            <a:prstClr val="black">
              <a:lumMod val="75000"/>
              <a:lumOff val="25000"/>
            </a:prstClr>
          </a:solidFill>
          <a:latin typeface="微軟正黑體" panose="020B0604030504040204" pitchFamily="34" charset="-120"/>
          <a:ea typeface="微軟正黑體" panose="020B0604030504040204" pitchFamily="34" charset="-120"/>
          <a:cs typeface="+mn-cs"/>
        </a:defRPr>
      </a:pPr>
      <a:endParaRPr lang="zh-TW"/>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Sheet1!$C$4</c:f>
              <c:strCache>
                <c:ptCount val="1"/>
                <c:pt idx="0">
                  <c:v>自由營運現金流</c:v>
                </c:pt>
              </c:strCache>
            </c:strRef>
          </c:tx>
          <c:spPr>
            <a:solidFill>
              <a:srgbClr val="FF6565"/>
            </a:solidFill>
            <a:ln>
              <a:noFill/>
            </a:ln>
            <a:effectLst/>
          </c:spPr>
          <c:invertIfNegative val="0"/>
          <c:dPt>
            <c:idx val="4"/>
            <c:invertIfNegative val="0"/>
            <c:bubble3D val="0"/>
            <c:spPr>
              <a:solidFill>
                <a:srgbClr val="C00000"/>
              </a:solidFill>
              <a:ln>
                <a:noFill/>
              </a:ln>
              <a:effectLst/>
            </c:spPr>
            <c:extLst>
              <c:ext xmlns:c16="http://schemas.microsoft.com/office/drawing/2014/chart" uri="{C3380CC4-5D6E-409C-BE32-E72D297353CC}">
                <c16:uniqueId val="{00000003-4807-40C0-8E34-22BC0A01BEFC}"/>
              </c:ext>
            </c:extLst>
          </c:dPt>
          <c:dPt>
            <c:idx val="5"/>
            <c:invertIfNegative val="0"/>
            <c:bubble3D val="0"/>
            <c:spPr>
              <a:solidFill>
                <a:srgbClr val="C00000"/>
              </a:solidFill>
              <a:ln>
                <a:noFill/>
              </a:ln>
              <a:effectLst/>
            </c:spPr>
            <c:extLst>
              <c:ext xmlns:c16="http://schemas.microsoft.com/office/drawing/2014/chart" uri="{C3380CC4-5D6E-409C-BE32-E72D297353CC}">
                <c16:uniqueId val="{00000004-4807-40C0-8E34-22BC0A01BEFC}"/>
              </c:ext>
            </c:extLst>
          </c:dPt>
          <c:dPt>
            <c:idx val="6"/>
            <c:invertIfNegative val="0"/>
            <c:bubble3D val="0"/>
            <c:spPr>
              <a:solidFill>
                <a:srgbClr val="C00000"/>
              </a:solidFill>
              <a:ln>
                <a:noFill/>
              </a:ln>
              <a:effectLst/>
            </c:spPr>
            <c:extLst>
              <c:ext xmlns:c16="http://schemas.microsoft.com/office/drawing/2014/chart" uri="{C3380CC4-5D6E-409C-BE32-E72D297353CC}">
                <c16:uniqueId val="{00000005-4807-40C0-8E34-22BC0A01BEFC}"/>
              </c:ext>
            </c:extLst>
          </c:dPt>
          <c:dLbls>
            <c:dLbl>
              <c:idx val="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807-40C0-8E34-22BC0A01BEFC}"/>
                </c:ext>
              </c:extLst>
            </c:dLbl>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807-40C0-8E34-22BC0A01BEFC}"/>
                </c:ext>
              </c:extLst>
            </c:dLbl>
            <c:dLbl>
              <c:idx val="6"/>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807-40C0-8E34-22BC0A01BEF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Sheet1!$D$3:$J$3</c:f>
              <c:strCache>
                <c:ptCount val="7"/>
                <c:pt idx="0">
                  <c:v>2022</c:v>
                </c:pt>
                <c:pt idx="1">
                  <c:v>2023</c:v>
                </c:pt>
                <c:pt idx="2">
                  <c:v>2024</c:v>
                </c:pt>
                <c:pt idx="3">
                  <c:v>2025</c:v>
                </c:pt>
                <c:pt idx="4">
                  <c:v>2026e</c:v>
                </c:pt>
                <c:pt idx="5">
                  <c:v>2027e</c:v>
                </c:pt>
                <c:pt idx="6">
                  <c:v>2028e</c:v>
                </c:pt>
              </c:strCache>
            </c:strRef>
          </c:cat>
          <c:val>
            <c:numRef>
              <c:f>Sheet1!$D$4:$J$4</c:f>
              <c:numCache>
                <c:formatCode>_(* #,##0_);_(* \(#,##0\);_(* "-"??_);_(@_)</c:formatCode>
                <c:ptCount val="7"/>
                <c:pt idx="0">
                  <c:v>8125</c:v>
                </c:pt>
                <c:pt idx="1">
                  <c:v>5375</c:v>
                </c:pt>
                <c:pt idx="2">
                  <c:v>6674.8</c:v>
                </c:pt>
                <c:pt idx="3">
                  <c:v>7740</c:v>
                </c:pt>
                <c:pt idx="4">
                  <c:v>7366.8</c:v>
                </c:pt>
                <c:pt idx="5">
                  <c:v>8124.5</c:v>
                </c:pt>
                <c:pt idx="6">
                  <c:v>8805.1</c:v>
                </c:pt>
              </c:numCache>
            </c:numRef>
          </c:val>
          <c:extLst>
            <c:ext xmlns:c16="http://schemas.microsoft.com/office/drawing/2014/chart" uri="{C3380CC4-5D6E-409C-BE32-E72D297353CC}">
              <c16:uniqueId val="{00000000-4807-40C0-8E34-22BC0A01BEFC}"/>
            </c:ext>
          </c:extLst>
        </c:ser>
        <c:dLbls>
          <c:showLegendKey val="0"/>
          <c:showVal val="0"/>
          <c:showCatName val="0"/>
          <c:showSerName val="0"/>
          <c:showPercent val="0"/>
          <c:showBubbleSize val="0"/>
        </c:dLbls>
        <c:gapWidth val="219"/>
        <c:axId val="1302790288"/>
        <c:axId val="1302791120"/>
      </c:barChart>
      <c:lineChart>
        <c:grouping val="standard"/>
        <c:varyColors val="0"/>
        <c:ser>
          <c:idx val="1"/>
          <c:order val="1"/>
          <c:tx>
            <c:strRef>
              <c:f>Sheet1!$C$5</c:f>
              <c:strCache>
                <c:ptCount val="1"/>
                <c:pt idx="0">
                  <c:v>調整後債務/EBITDA</c:v>
                </c:pt>
              </c:strCache>
            </c:strRef>
          </c:tx>
          <c:spPr>
            <a:ln w="28575" cap="rnd">
              <a:solidFill>
                <a:srgbClr val="595959"/>
              </a:solidFill>
              <a:round/>
            </a:ln>
            <a:effectLst/>
          </c:spPr>
          <c:marker>
            <c:symbol val="circle"/>
            <c:size val="5"/>
            <c:spPr>
              <a:solidFill>
                <a:srgbClr val="FFFFFF"/>
              </a:solidFill>
              <a:ln w="9525">
                <a:solidFill>
                  <a:srgbClr val="595959"/>
                </a:solidFill>
              </a:ln>
              <a:effectLst/>
            </c:spPr>
          </c:marker>
          <c:dLbls>
            <c:dLbl>
              <c:idx val="3"/>
              <c:layout>
                <c:manualLayout>
                  <c:x val="-5.2278030852729217E-2"/>
                  <c:y val="-8.88855969283050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807-40C0-8E34-22BC0A01BEF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Sheet1!$D$3:$J$3</c:f>
              <c:strCache>
                <c:ptCount val="7"/>
                <c:pt idx="0">
                  <c:v>2022</c:v>
                </c:pt>
                <c:pt idx="1">
                  <c:v>2023</c:v>
                </c:pt>
                <c:pt idx="2">
                  <c:v>2024</c:v>
                </c:pt>
                <c:pt idx="3">
                  <c:v>2025</c:v>
                </c:pt>
                <c:pt idx="4">
                  <c:v>2026e</c:v>
                </c:pt>
                <c:pt idx="5">
                  <c:v>2027e</c:v>
                </c:pt>
                <c:pt idx="6">
                  <c:v>2028e</c:v>
                </c:pt>
              </c:strCache>
            </c:strRef>
          </c:cat>
          <c:val>
            <c:numRef>
              <c:f>Sheet1!$D$5:$J$5</c:f>
              <c:numCache>
                <c:formatCode>General</c:formatCode>
                <c:ptCount val="7"/>
                <c:pt idx="0">
                  <c:v>0.8</c:v>
                </c:pt>
                <c:pt idx="1">
                  <c:v>0.9</c:v>
                </c:pt>
                <c:pt idx="2">
                  <c:v>0.8</c:v>
                </c:pt>
                <c:pt idx="3">
                  <c:v>0.5</c:v>
                </c:pt>
                <c:pt idx="4">
                  <c:v>2.2000000000000002</c:v>
                </c:pt>
                <c:pt idx="5">
                  <c:v>1.9</c:v>
                </c:pt>
                <c:pt idx="6">
                  <c:v>1.8</c:v>
                </c:pt>
              </c:numCache>
            </c:numRef>
          </c:val>
          <c:smooth val="0"/>
          <c:extLst>
            <c:ext xmlns:c16="http://schemas.microsoft.com/office/drawing/2014/chart" uri="{C3380CC4-5D6E-409C-BE32-E72D297353CC}">
              <c16:uniqueId val="{00000001-4807-40C0-8E34-22BC0A01BEFC}"/>
            </c:ext>
          </c:extLst>
        </c:ser>
        <c:dLbls>
          <c:showLegendKey val="0"/>
          <c:showVal val="0"/>
          <c:showCatName val="0"/>
          <c:showSerName val="0"/>
          <c:showPercent val="0"/>
          <c:showBubbleSize val="0"/>
        </c:dLbls>
        <c:marker val="1"/>
        <c:smooth val="0"/>
        <c:axId val="1281973008"/>
        <c:axId val="1281971760"/>
      </c:lineChart>
      <c:catAx>
        <c:axId val="1281973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281971760"/>
        <c:crosses val="autoZero"/>
        <c:auto val="1"/>
        <c:lblAlgn val="ctr"/>
        <c:lblOffset val="100"/>
        <c:noMultiLvlLbl val="0"/>
      </c:catAx>
      <c:valAx>
        <c:axId val="1281971760"/>
        <c:scaling>
          <c:orientation val="minMax"/>
          <c:max val="3"/>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281973008"/>
        <c:crosses val="autoZero"/>
        <c:crossBetween val="between"/>
      </c:valAx>
      <c:valAx>
        <c:axId val="1302791120"/>
        <c:scaling>
          <c:orientation val="minMax"/>
          <c:max val="30000"/>
          <c:min val="0"/>
        </c:scaling>
        <c:delete val="0"/>
        <c:axPos val="r"/>
        <c:numFmt formatCode="_(* #,##0_);_(* \(#,##0\);_(* &quot;-&quot;??_);_(@_)"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302790288"/>
        <c:crosses val="max"/>
        <c:crossBetween val="between"/>
        <c:majorUnit val="5000"/>
      </c:valAx>
      <c:catAx>
        <c:axId val="1302790288"/>
        <c:scaling>
          <c:orientation val="minMax"/>
        </c:scaling>
        <c:delete val="1"/>
        <c:axPos val="b"/>
        <c:numFmt formatCode="General" sourceLinked="1"/>
        <c:majorTickMark val="out"/>
        <c:minorTickMark val="none"/>
        <c:tickLblPos val="nextTo"/>
        <c:crossAx val="1302791120"/>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微軟正黑體" panose="020B0604030504040204" pitchFamily="34" charset="-120"/>
          <a:ea typeface="微軟正黑體" panose="020B0604030504040204" pitchFamily="34" charset="-120"/>
        </a:defRPr>
      </a:pPr>
      <a:endParaRPr lang="zh-TW"/>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458562534423737E-2"/>
          <c:y val="0.17018789182235405"/>
          <c:w val="0.94527161013952754"/>
          <c:h val="0.65596415925763907"/>
        </c:manualLayout>
      </c:layout>
      <c:barChart>
        <c:barDir val="col"/>
        <c:grouping val="clustered"/>
        <c:varyColors val="0"/>
        <c:ser>
          <c:idx val="1"/>
          <c:order val="1"/>
          <c:tx>
            <c:strRef>
              <c:f>工作表1!$C$1</c:f>
              <c:strCache>
                <c:ptCount val="1"/>
                <c:pt idx="0">
                  <c:v>淨利</c:v>
                </c:pt>
              </c:strCache>
            </c:strRef>
          </c:tx>
          <c:spPr>
            <a:solidFill>
              <a:srgbClr val="C00000"/>
            </a:solidFill>
            <a:ln>
              <a:noFill/>
            </a:ln>
            <a:effectLst/>
          </c:spPr>
          <c:invertIfNegative val="0"/>
          <c:dPt>
            <c:idx val="0"/>
            <c:invertIfNegative val="0"/>
            <c:bubble3D val="0"/>
            <c:spPr>
              <a:solidFill>
                <a:srgbClr val="FF6565"/>
              </a:solidFill>
              <a:ln>
                <a:noFill/>
              </a:ln>
              <a:effectLst/>
            </c:spPr>
            <c:extLst>
              <c:ext xmlns:c16="http://schemas.microsoft.com/office/drawing/2014/chart" uri="{C3380CC4-5D6E-409C-BE32-E72D297353CC}">
                <c16:uniqueId val="{00000001-78B5-43BE-8518-ED81EB1653FC}"/>
              </c:ext>
            </c:extLst>
          </c:dPt>
          <c:dPt>
            <c:idx val="1"/>
            <c:invertIfNegative val="0"/>
            <c:bubble3D val="0"/>
            <c:spPr>
              <a:solidFill>
                <a:srgbClr val="FF6565"/>
              </a:solidFill>
              <a:ln>
                <a:noFill/>
              </a:ln>
              <a:effectLst/>
            </c:spPr>
            <c:extLst>
              <c:ext xmlns:c16="http://schemas.microsoft.com/office/drawing/2014/chart" uri="{C3380CC4-5D6E-409C-BE32-E72D297353CC}">
                <c16:uniqueId val="{00000003-78B5-43BE-8518-ED81EB1653FC}"/>
              </c:ext>
            </c:extLst>
          </c:dPt>
          <c:dPt>
            <c:idx val="2"/>
            <c:invertIfNegative val="0"/>
            <c:bubble3D val="0"/>
            <c:spPr>
              <a:solidFill>
                <a:srgbClr val="FF6565"/>
              </a:solidFill>
              <a:ln>
                <a:noFill/>
              </a:ln>
              <a:effectLst/>
            </c:spPr>
            <c:extLst>
              <c:ext xmlns:c16="http://schemas.microsoft.com/office/drawing/2014/chart" uri="{C3380CC4-5D6E-409C-BE32-E72D297353CC}">
                <c16:uniqueId val="{00000005-78B5-43BE-8518-ED81EB1653FC}"/>
              </c:ext>
            </c:extLst>
          </c:dPt>
          <c:dPt>
            <c:idx val="3"/>
            <c:invertIfNegative val="0"/>
            <c:bubble3D val="0"/>
            <c:spPr>
              <a:solidFill>
                <a:srgbClr val="FF6565"/>
              </a:solidFill>
              <a:ln>
                <a:noFill/>
              </a:ln>
              <a:effectLst/>
            </c:spPr>
            <c:extLst>
              <c:ext xmlns:c16="http://schemas.microsoft.com/office/drawing/2014/chart" uri="{C3380CC4-5D6E-409C-BE32-E72D297353CC}">
                <c16:uniqueId val="{00000007-78B5-43BE-8518-ED81EB1653FC}"/>
              </c:ext>
            </c:extLst>
          </c:dPt>
          <c:dPt>
            <c:idx val="4"/>
            <c:invertIfNegative val="0"/>
            <c:bubble3D val="0"/>
            <c:spPr>
              <a:solidFill>
                <a:srgbClr val="FF6565"/>
              </a:solidFill>
              <a:ln>
                <a:noFill/>
              </a:ln>
              <a:effectLst/>
            </c:spPr>
            <c:extLst>
              <c:ext xmlns:c16="http://schemas.microsoft.com/office/drawing/2014/chart" uri="{C3380CC4-5D6E-409C-BE32-E72D297353CC}">
                <c16:uniqueId val="{00000009-3672-4DC2-91B6-E00A9D7576E0}"/>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工作表1!$A$2:$A$9</c:f>
              <c:strCache>
                <c:ptCount val="8"/>
                <c:pt idx="0">
                  <c:v>FY21</c:v>
                </c:pt>
                <c:pt idx="1">
                  <c:v>FY22</c:v>
                </c:pt>
                <c:pt idx="2">
                  <c:v>FY23</c:v>
                </c:pt>
                <c:pt idx="3">
                  <c:v>FY24</c:v>
                </c:pt>
                <c:pt idx="4">
                  <c:v>FY25</c:v>
                </c:pt>
                <c:pt idx="5">
                  <c:v>FY26</c:v>
                </c:pt>
                <c:pt idx="6">
                  <c:v>FY27</c:v>
                </c:pt>
                <c:pt idx="7">
                  <c:v>FY28</c:v>
                </c:pt>
              </c:strCache>
            </c:strRef>
          </c:cat>
          <c:val>
            <c:numRef>
              <c:f>工作表1!$C$2:$C$9</c:f>
              <c:numCache>
                <c:formatCode>_-* #,##0_-;\-* #,##0_-;_-* "-"??_-;_-@_-</c:formatCode>
                <c:ptCount val="8"/>
                <c:pt idx="0">
                  <c:v>7071</c:v>
                </c:pt>
                <c:pt idx="1">
                  <c:v>6933</c:v>
                </c:pt>
                <c:pt idx="2">
                  <c:v>5723</c:v>
                </c:pt>
                <c:pt idx="3">
                  <c:v>13402</c:v>
                </c:pt>
                <c:pt idx="4">
                  <c:v>6524</c:v>
                </c:pt>
                <c:pt idx="5">
                  <c:v>9914</c:v>
                </c:pt>
                <c:pt idx="6">
                  <c:v>10883</c:v>
                </c:pt>
                <c:pt idx="7">
                  <c:v>11804</c:v>
                </c:pt>
              </c:numCache>
            </c:numRef>
          </c:val>
          <c:extLst>
            <c:ext xmlns:c16="http://schemas.microsoft.com/office/drawing/2014/chart" uri="{C3380CC4-5D6E-409C-BE32-E72D297353CC}">
              <c16:uniqueId val="{00000008-78B5-43BE-8518-ED81EB1653FC}"/>
            </c:ext>
          </c:extLst>
        </c:ser>
        <c:dLbls>
          <c:showLegendKey val="0"/>
          <c:showVal val="1"/>
          <c:showCatName val="0"/>
          <c:showSerName val="0"/>
          <c:showPercent val="0"/>
          <c:showBubbleSize val="0"/>
        </c:dLbls>
        <c:gapWidth val="219"/>
        <c:axId val="671763096"/>
        <c:axId val="671760800"/>
      </c:barChart>
      <c:lineChart>
        <c:grouping val="standard"/>
        <c:varyColors val="0"/>
        <c:ser>
          <c:idx val="0"/>
          <c:order val="0"/>
          <c:tx>
            <c:strRef>
              <c:f>工作表1!$B$1</c:f>
              <c:strCache>
                <c:ptCount val="1"/>
                <c:pt idx="0">
                  <c:v>營收</c:v>
                </c:pt>
              </c:strCache>
            </c:strRef>
          </c:tx>
          <c:spPr>
            <a:ln w="28575" cap="rnd">
              <a:solidFill>
                <a:schemeClr val="tx1">
                  <a:lumMod val="65000"/>
                  <a:lumOff val="35000"/>
                </a:schemeClr>
              </a:solidFill>
              <a:round/>
            </a:ln>
            <a:effectLst/>
          </c:spPr>
          <c:marker>
            <c:symbol val="circle"/>
            <c:size val="5"/>
            <c:spPr>
              <a:solidFill>
                <a:schemeClr val="bg1"/>
              </a:solidFill>
              <a:ln w="9525">
                <a:solidFill>
                  <a:schemeClr val="tx1">
                    <a:lumMod val="65000"/>
                    <a:lumOff val="35000"/>
                  </a:schemeClr>
                </a:solidFill>
              </a:ln>
              <a:effectLst/>
            </c:spPr>
          </c:marker>
          <c:dLbls>
            <c:dLbl>
              <c:idx val="0"/>
              <c:layout>
                <c:manualLayout>
                  <c:x val="-7.5894070999799806E-2"/>
                  <c:y val="-4.35548699908088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8B5-43BE-8518-ED81EB1653FC}"/>
                </c:ext>
              </c:extLst>
            </c:dLbl>
            <c:dLbl>
              <c:idx val="1"/>
              <c:layout>
                <c:manualLayout>
                  <c:x val="-7.2731818041474813E-2"/>
                  <c:y val="-4.355486999080893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78B5-43BE-8518-ED81EB1653FC}"/>
                </c:ext>
              </c:extLst>
            </c:dLbl>
            <c:dLbl>
              <c:idx val="2"/>
              <c:layout>
                <c:manualLayout>
                  <c:x val="-7.5894070999799862E-2"/>
                  <c:y val="-4.83942999897876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78B5-43BE-8518-ED81EB1653FC}"/>
                </c:ext>
              </c:extLst>
            </c:dLbl>
            <c:dLbl>
              <c:idx val="3"/>
              <c:layout>
                <c:manualLayout>
                  <c:x val="-7.5894070999799806E-2"/>
                  <c:y val="-4.83942999897876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78B5-43BE-8518-ED81EB1653FC}"/>
                </c:ext>
              </c:extLst>
            </c:dLbl>
            <c:dLbl>
              <c:idx val="4"/>
              <c:layout>
                <c:manualLayout>
                  <c:x val="-7.2731818041474869E-2"/>
                  <c:y val="-4.83942999897876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78B5-43BE-8518-ED81EB1653FC}"/>
                </c:ext>
              </c:extLst>
            </c:dLbl>
            <c:dLbl>
              <c:idx val="5"/>
              <c:layout>
                <c:manualLayout>
                  <c:x val="-7.5894070999799917E-2"/>
                  <c:y val="-4.35548699908088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78B5-43BE-8518-ED81EB1653FC}"/>
                </c:ext>
              </c:extLst>
            </c:dLbl>
            <c:dLbl>
              <c:idx val="6"/>
              <c:layout>
                <c:manualLayout>
                  <c:x val="-7.894112191364476E-2"/>
                  <c:y val="-5.323372998876645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78B5-43BE-8518-ED81EB1653FC}"/>
                </c:ext>
              </c:extLst>
            </c:dLbl>
            <c:dLbl>
              <c:idx val="7"/>
              <c:layout>
                <c:manualLayout>
                  <c:x val="-4.7433794374874882E-2"/>
                  <c:y val="-4.839429998978765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78B5-43BE-8518-ED81EB1653F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工作表1!$A$2:$A$9</c:f>
              <c:strCache>
                <c:ptCount val="8"/>
                <c:pt idx="0">
                  <c:v>FY21</c:v>
                </c:pt>
                <c:pt idx="1">
                  <c:v>FY22</c:v>
                </c:pt>
                <c:pt idx="2">
                  <c:v>FY23</c:v>
                </c:pt>
                <c:pt idx="3">
                  <c:v>FY24</c:v>
                </c:pt>
                <c:pt idx="4">
                  <c:v>FY25</c:v>
                </c:pt>
                <c:pt idx="5">
                  <c:v>FY26</c:v>
                </c:pt>
                <c:pt idx="6">
                  <c:v>FY27</c:v>
                </c:pt>
                <c:pt idx="7">
                  <c:v>FY28</c:v>
                </c:pt>
              </c:strCache>
            </c:strRef>
          </c:cat>
          <c:val>
            <c:numRef>
              <c:f>工作表1!$B$2:$B$9</c:f>
              <c:numCache>
                <c:formatCode>_-* #,##0_-;\-* #,##0_-;_-* "-"??_-;_-@_-</c:formatCode>
                <c:ptCount val="8"/>
                <c:pt idx="0">
                  <c:v>43075</c:v>
                </c:pt>
                <c:pt idx="1">
                  <c:v>43653</c:v>
                </c:pt>
                <c:pt idx="2">
                  <c:v>40109</c:v>
                </c:pt>
                <c:pt idx="3">
                  <c:v>41950</c:v>
                </c:pt>
                <c:pt idx="4">
                  <c:v>44328</c:v>
                </c:pt>
                <c:pt idx="5">
                  <c:v>47986</c:v>
                </c:pt>
                <c:pt idx="6">
                  <c:v>51479</c:v>
                </c:pt>
                <c:pt idx="7">
                  <c:v>55397</c:v>
                </c:pt>
              </c:numCache>
            </c:numRef>
          </c:val>
          <c:smooth val="0"/>
          <c:extLst>
            <c:ext xmlns:c16="http://schemas.microsoft.com/office/drawing/2014/chart" uri="{C3380CC4-5D6E-409C-BE32-E72D297353CC}">
              <c16:uniqueId val="{00000011-78B5-43BE-8518-ED81EB1653FC}"/>
            </c:ext>
          </c:extLst>
        </c:ser>
        <c:dLbls>
          <c:showLegendKey val="0"/>
          <c:showVal val="1"/>
          <c:showCatName val="0"/>
          <c:showSerName val="0"/>
          <c:showPercent val="0"/>
          <c:showBubbleSize val="0"/>
        </c:dLbls>
        <c:marker val="1"/>
        <c:smooth val="0"/>
        <c:axId val="599127920"/>
        <c:axId val="599125296"/>
      </c:lineChart>
      <c:catAx>
        <c:axId val="671763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zh-TW"/>
          </a:p>
        </c:txPr>
        <c:crossAx val="671760800"/>
        <c:crosses val="autoZero"/>
        <c:auto val="1"/>
        <c:lblAlgn val="ctr"/>
        <c:lblOffset val="100"/>
        <c:noMultiLvlLbl val="0"/>
      </c:catAx>
      <c:valAx>
        <c:axId val="671760800"/>
        <c:scaling>
          <c:orientation val="minMax"/>
          <c:max val="30000"/>
        </c:scaling>
        <c:delete val="0"/>
        <c:axPos val="l"/>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TW"/>
          </a:p>
        </c:txPr>
        <c:crossAx val="671763096"/>
        <c:crosses val="autoZero"/>
        <c:crossBetween val="between"/>
      </c:valAx>
      <c:valAx>
        <c:axId val="599125296"/>
        <c:scaling>
          <c:orientation val="minMax"/>
          <c:min val="0"/>
        </c:scaling>
        <c:delete val="0"/>
        <c:axPos val="r"/>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TW"/>
          </a:p>
        </c:txPr>
        <c:crossAx val="599127920"/>
        <c:crosses val="max"/>
        <c:crossBetween val="between"/>
      </c:valAx>
      <c:catAx>
        <c:axId val="599127920"/>
        <c:scaling>
          <c:orientation val="minMax"/>
        </c:scaling>
        <c:delete val="1"/>
        <c:axPos val="b"/>
        <c:numFmt formatCode="General" sourceLinked="1"/>
        <c:majorTickMark val="out"/>
        <c:minorTickMark val="none"/>
        <c:tickLblPos val="nextTo"/>
        <c:crossAx val="599125296"/>
        <c:crosses val="autoZero"/>
        <c:auto val="1"/>
        <c:lblAlgn val="ctr"/>
        <c:lblOffset val="100"/>
        <c:noMultiLvlLbl val="0"/>
      </c:catAx>
      <c:spPr>
        <a:noFill/>
        <a:ln>
          <a:noFill/>
        </a:ln>
        <a:effectLst/>
      </c:spPr>
    </c:plotArea>
    <c:legend>
      <c:legendPos val="t"/>
      <c:layout>
        <c:manualLayout>
          <c:xMode val="edge"/>
          <c:yMode val="edge"/>
          <c:x val="0.17484743996948302"/>
          <c:y val="5.6861397200599351E-3"/>
          <c:w val="0.51412139759704134"/>
          <c:h val="9.2757011838693795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zh-TW"/>
        </a:p>
      </c:txPr>
    </c:legend>
    <c:plotVisOnly val="1"/>
    <c:dispBlanksAs val="gap"/>
    <c:showDLblsOverMax val="0"/>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2026/5/7</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2026/5/7</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en-US" altLang="zh-TW" dirty="0">
                <a:latin typeface="微軟正黑體" panose="020B0604030504040204" pitchFamily="34" charset="-120"/>
                <a:ea typeface="微軟正黑體" panose="020B0604030504040204" pitchFamily="34" charset="-120"/>
              </a:rPr>
              <a:t>2024 Lingo</a:t>
            </a:r>
          </a:p>
          <a:p>
            <a:pPr defTabSz="915496">
              <a:defRPr/>
            </a:pPr>
            <a:r>
              <a:rPr lang="en-US" altLang="zh-TW" dirty="0">
                <a:latin typeface="微軟正黑體" panose="020B0604030504040204" pitchFamily="34" charset="-120"/>
                <a:ea typeface="微軟正黑體" panose="020B0604030504040204" pitchFamily="34" charset="-120"/>
              </a:rPr>
              <a:t>https://uanalyze.com.tw/articles/109006414</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亮點二</a:t>
            </a:r>
            <a:r>
              <a:rPr lang="en-US" altLang="zh-TW" dirty="0">
                <a:latin typeface="微軟正黑體" panose="020B0604030504040204" pitchFamily="34" charset="-120"/>
                <a:ea typeface="微軟正黑體" panose="020B0604030504040204" pitchFamily="34" charset="-120"/>
              </a:rPr>
              <a:t>-600</a:t>
            </a:r>
            <a:r>
              <a:rPr lang="zh-TW" altLang="en-US" dirty="0">
                <a:latin typeface="微軟正黑體" panose="020B0604030504040204" pitchFamily="34" charset="-120"/>
                <a:ea typeface="微軟正黑體" panose="020B0604030504040204" pitchFamily="34" charset="-120"/>
              </a:rPr>
              <a:t>億美元</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https://www.prnewswire.com/news-releases/abbott-completes-acquisition-of-exact-sciences-302722046.html</a:t>
            </a: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a:p>
        </p:txBody>
      </p:sp>
    </p:spTree>
    <p:extLst>
      <p:ext uri="{BB962C8B-B14F-4D97-AF65-F5344CB8AC3E}">
        <p14:creationId xmlns:p14="http://schemas.microsoft.com/office/powerpoint/2010/main" val="18287473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lgn="just">
              <a:lnSpc>
                <a:spcPts val="1800"/>
              </a:lnSpc>
              <a:spcAft>
                <a:spcPts val="300"/>
              </a:spcAft>
              <a:buFont typeface="Wingdings" panose="05000000000000000000" pitchFamily="2" charset="2"/>
              <a:buNone/>
            </a:pPr>
            <a:r>
              <a:rPr lang="en-US" altLang="zh-TW" sz="1200" dirty="0">
                <a:solidFill>
                  <a:schemeClr val="tx1"/>
                </a:solidFill>
                <a:latin typeface="+mn-ea"/>
              </a:rPr>
              <a:t>https://www.getreskilled.com/medical-device-companies/</a:t>
            </a:r>
            <a:endParaRPr lang="zh-TW" altLang="en-US" sz="1200" dirty="0">
              <a:solidFill>
                <a:schemeClr val="tx1"/>
              </a:solidFill>
              <a:latin typeface="+mn-ea"/>
            </a:endParaRPr>
          </a:p>
          <a:p>
            <a:r>
              <a:rPr lang="zh-TW" altLang="en-US" dirty="0"/>
              <a:t>醫療設備公司營收排名  </a:t>
            </a:r>
            <a:endParaRPr lang="en-US" altLang="zh-TW" dirty="0"/>
          </a:p>
          <a:p>
            <a:endParaRPr lang="en-US" altLang="zh-TW" dirty="0"/>
          </a:p>
          <a:p>
            <a:endParaRPr lang="en-US" altLang="zh-TW" dirty="0"/>
          </a:p>
          <a:p>
            <a:r>
              <a:rPr lang="zh-TW" altLang="en-US" dirty="0"/>
              <a:t>市值排名</a:t>
            </a:r>
            <a:endParaRPr lang="en-US" altLang="zh-TW" dirty="0"/>
          </a:p>
          <a:p>
            <a:r>
              <a:rPr lang="en-US" altLang="zh-TW" dirty="0"/>
              <a:t>https://companiesmarketcap.com/medical-devices/largest-medical-device-companies-by-market-cap/</a:t>
            </a:r>
          </a:p>
          <a:p>
            <a:endParaRPr lang="zh-TW" altLang="en-US" dirty="0"/>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2158030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投影片圖像版面配置區 1"/>
          <p:cNvSpPr>
            <a:spLocks noGrp="1" noRot="1" noChangeAspect="1" noTextEdit="1"/>
          </p:cNvSpPr>
          <p:nvPr>
            <p:ph type="sldImg"/>
          </p:nvPr>
        </p:nvSpPr>
        <p:spPr>
          <a:ln/>
        </p:spPr>
      </p:sp>
      <p:sp>
        <p:nvSpPr>
          <p:cNvPr id="1331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000" dirty="0">
                <a:latin typeface="Arial" panose="020B0604020202020204" pitchFamily="34" charset="0"/>
              </a:rPr>
              <a:t>10-k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t>https://www.abbottinvestor.com/node/37796/html</a:t>
            </a:r>
            <a:endParaRPr lang="zh-TW" altLang="en-US" sz="1200" dirty="0"/>
          </a:p>
          <a:p>
            <a:endParaRPr lang="en-US" altLang="zh-TW" sz="1000" dirty="0">
              <a:latin typeface="Arial" panose="020B0604020202020204" pitchFamily="34" charset="0"/>
            </a:endParaRPr>
          </a:p>
          <a:p>
            <a:r>
              <a:rPr lang="zh-TW" altLang="en-US" sz="1000" dirty="0">
                <a:latin typeface="Arial" panose="020B0604020202020204" pitchFamily="34" charset="0"/>
              </a:rPr>
              <a:t>營收</a:t>
            </a:r>
            <a:endParaRPr lang="en-US" altLang="zh-TW" sz="1000" dirty="0">
              <a:latin typeface="Arial" panose="020B0604020202020204" pitchFamily="34" charset="0"/>
            </a:endParaRPr>
          </a:p>
          <a:p>
            <a:pPr indent="228600" algn="just">
              <a:spcBef>
                <a:spcPts val="600"/>
              </a:spcBef>
            </a:pPr>
            <a:r>
              <a:rPr lang="en-US" altLang="zh-TW" sz="1000" dirty="0">
                <a:latin typeface="Arial" panose="020B0604020202020204" pitchFamily="34" charset="0"/>
              </a:rPr>
              <a:t>1)</a:t>
            </a:r>
            <a:r>
              <a:rPr lang="zh-TW" altLang="en-US" sz="1000" dirty="0">
                <a:latin typeface="Arial" panose="020B0604020202020204" pitchFamily="34" charset="0"/>
              </a:rPr>
              <a:t>、</a:t>
            </a:r>
            <a:r>
              <a:rPr lang="en-US" altLang="zh-TW" sz="1000" dirty="0">
                <a:latin typeface="Arial" panose="020B0604020202020204" pitchFamily="34" charset="0"/>
              </a:rPr>
              <a:t>2)</a:t>
            </a:r>
            <a:r>
              <a:rPr lang="en-US" altLang="zh-TW" sz="1800" b="0" i="0" dirty="0">
                <a:solidFill>
                  <a:srgbClr val="000000"/>
                </a:solidFill>
                <a:effectLst/>
                <a:latin typeface="Times New Roman" panose="02020603050405020304" pitchFamily="18" charset="0"/>
              </a:rPr>
              <a:t> Established Pharmaceutical Products segment sales increased 7.4 percent in 2025 and 9.2 percent in 2024, excluding the unfavorable impact of foreign exchange.</a:t>
            </a:r>
            <a:r>
              <a:rPr lang="en-US" altLang="zh-TW" sz="1800" b="0" i="0" dirty="0">
                <a:solidFill>
                  <a:srgbClr val="EE2724"/>
                </a:solidFill>
                <a:effectLst/>
                <a:latin typeface="Times New Roman" panose="02020603050405020304" pitchFamily="18" charset="0"/>
              </a:rPr>
              <a:t> </a:t>
            </a:r>
            <a:r>
              <a:rPr lang="en-US" altLang="zh-TW" sz="1800" b="0" i="0" dirty="0">
                <a:solidFill>
                  <a:srgbClr val="000000"/>
                </a:solidFill>
                <a:effectLst/>
                <a:latin typeface="Times New Roman" panose="02020603050405020304" pitchFamily="18" charset="0"/>
              </a:rPr>
              <a:t>Excluding the effect of foreign exchange, sales in Key Emerging Markets for Established Pharmaceutical Products increased 9.5 percent in 2025 and 2024, led by higher revenue in several countries and across multiple therapeutic areas, including cardiometabolic, gastroenterology, and central nervous system/pain management. In 2024, growth in this segment also reflected higher respiratory product sales. Other Emerging Markets, excluding the effect of foreign exchange, increased by 1.4 percent in 2025 and 8.4 percent in 2024. Growth in 2025 was unfavorably impacted by the absence of deferred gain amortization related to a prior transaction. The deferred gain was fully amortized in 2024.</a:t>
            </a:r>
            <a:endParaRPr lang="en-US" altLang="zh-TW" sz="1200" b="0" i="0" dirty="0">
              <a:solidFill>
                <a:srgbClr val="000000"/>
              </a:solidFill>
              <a:effectLst/>
              <a:latin typeface="Times New Roman" panose="02020603050405020304" pitchFamily="18" charset="0"/>
            </a:endParaRPr>
          </a:p>
          <a:p>
            <a:pPr indent="228600" algn="just">
              <a:spcBef>
                <a:spcPts val="600"/>
              </a:spcBef>
            </a:pPr>
            <a:r>
              <a:rPr lang="en-US" altLang="zh-TW" sz="1800" b="0" i="0" dirty="0">
                <a:solidFill>
                  <a:srgbClr val="000000"/>
                </a:solidFill>
                <a:effectLst/>
                <a:latin typeface="Times New Roman" panose="02020603050405020304" pitchFamily="18" charset="0"/>
              </a:rPr>
              <a:t>Excluding the impact of foreign exchange, total Nutritional Products segment sales increased 1.1 percent in 2025 and 5.9 percent in 2024. U.S. Pediatric </a:t>
            </a:r>
            <a:r>
              <a:rPr lang="en-US" altLang="zh-TW" sz="1800" b="0" i="0" dirty="0" err="1">
                <a:solidFill>
                  <a:srgbClr val="000000"/>
                </a:solidFill>
                <a:effectLst/>
                <a:latin typeface="Times New Roman" panose="02020603050405020304" pitchFamily="18" charset="0"/>
              </a:rPr>
              <a:t>Nutritionals</a:t>
            </a:r>
            <a:r>
              <a:rPr lang="en-US" altLang="zh-TW" sz="1800" b="0" i="0" dirty="0">
                <a:solidFill>
                  <a:srgbClr val="000000"/>
                </a:solidFill>
                <a:effectLst/>
                <a:latin typeface="Times New Roman" panose="02020603050405020304" pitchFamily="18" charset="0"/>
              </a:rPr>
              <a:t> sales decreased 2.3 percent in 2025, primarily reflecting lower infant formula sales. In 2024, U.S. Pediatric </a:t>
            </a:r>
            <a:r>
              <a:rPr lang="en-US" altLang="zh-TW" sz="1800" b="0" i="0" dirty="0" err="1">
                <a:solidFill>
                  <a:srgbClr val="000000"/>
                </a:solidFill>
                <a:effectLst/>
                <a:latin typeface="Times New Roman" panose="02020603050405020304" pitchFamily="18" charset="0"/>
              </a:rPr>
              <a:t>Nutritionals</a:t>
            </a:r>
            <a:r>
              <a:rPr lang="en-US" altLang="zh-TW" sz="1800" b="0" i="0" dirty="0">
                <a:solidFill>
                  <a:srgbClr val="000000"/>
                </a:solidFill>
                <a:effectLst/>
                <a:latin typeface="Times New Roman" panose="02020603050405020304" pitchFamily="18" charset="0"/>
              </a:rPr>
              <a:t> sales increased 11.7 percent, driven by infant formula market share gains and the favorable impact of price increases, partially offset by a decrease in </a:t>
            </a:r>
            <a:r>
              <a:rPr lang="en-US" altLang="zh-TW" sz="1800" b="0" i="0" dirty="0" err="1">
                <a:solidFill>
                  <a:srgbClr val="000000"/>
                </a:solidFill>
                <a:effectLst/>
                <a:latin typeface="Times New Roman" panose="02020603050405020304" pitchFamily="18" charset="0"/>
              </a:rPr>
              <a:t>PediaSure</a:t>
            </a:r>
            <a:r>
              <a:rPr lang="en-US" altLang="zh-TW" sz="1800" b="0" i="0" dirty="0">
                <a:solidFill>
                  <a:srgbClr val="000000"/>
                </a:solidFill>
                <a:effectLst/>
                <a:latin typeface="Times New Roman" panose="02020603050405020304" pitchFamily="18" charset="0"/>
              </a:rPr>
              <a:t>® and Pedialyte® product sales.</a:t>
            </a:r>
            <a:endParaRPr lang="en-US" altLang="zh-TW" sz="1200" b="0" i="0" dirty="0">
              <a:solidFill>
                <a:srgbClr val="000000"/>
              </a:solidFill>
              <a:effectLst/>
              <a:latin typeface="Times New Roman" panose="02020603050405020304" pitchFamily="18" charset="0"/>
            </a:endParaRPr>
          </a:p>
          <a:p>
            <a:endParaRPr lang="en-US" altLang="zh-TW" sz="1000" dirty="0">
              <a:latin typeface="Arial" panose="020B0604020202020204" pitchFamily="34" charset="0"/>
            </a:endParaRPr>
          </a:p>
          <a:p>
            <a:r>
              <a:rPr lang="en-US" altLang="zh-TW" sz="1800" b="0" i="0" dirty="0">
                <a:solidFill>
                  <a:srgbClr val="000000"/>
                </a:solidFill>
                <a:effectLst/>
                <a:latin typeface="Times New Roman" panose="02020603050405020304" pitchFamily="18" charset="0"/>
              </a:rPr>
              <a:t>3)</a:t>
            </a:r>
            <a:r>
              <a:rPr lang="zh-TW" altLang="en-US" sz="1800" b="0" i="0" dirty="0">
                <a:solidFill>
                  <a:srgbClr val="000000"/>
                </a:solidFill>
                <a:effectLst/>
                <a:latin typeface="Times New Roman" panose="02020603050405020304" pitchFamily="18" charset="0"/>
              </a:rPr>
              <a:t>、</a:t>
            </a:r>
            <a:r>
              <a:rPr lang="en-US" altLang="zh-TW" sz="1800" b="0" i="0" dirty="0">
                <a:solidFill>
                  <a:srgbClr val="000000"/>
                </a:solidFill>
                <a:effectLst/>
                <a:latin typeface="Times New Roman" panose="02020603050405020304" pitchFamily="18" charset="0"/>
              </a:rPr>
              <a:t>4)The increase in total net sales in 2025, excluding the impact of foreign exchange, primarily reflects higher sales in the Medical Devices and Established Pharmaceutical Products segments. Nutritional Products segment sales for the year remained relatively unchanged, reflecting price increases and lower volumes. Diagnostic Products segment sales continued to be impacted by the decline in COVID-19 testing-related sales and challenging market conditions in China. Abbott’s COVID-19 testing-related sales totaled $297 million in 2025, $747 million in 2024 and $1.6 billion in 2023. Abbott’s net sales in 2025 were not significantly impacted by changes in foreign exchange rates as the relatively stronger U.S. dollar at the beginning of the year weakened later in the year, resulting in a 0.2 percent favorable impact on total international sales and total sales</a:t>
            </a:r>
            <a:r>
              <a:rPr lang="en-US" altLang="zh-TW" sz="1000" b="0" i="0" dirty="0">
                <a:solidFill>
                  <a:srgbClr val="000000"/>
                </a:solidFill>
                <a:effectLst/>
                <a:latin typeface="Arial" panose="020B0604020202020204" pitchFamily="34" charset="0"/>
              </a:rPr>
              <a:t>(10-k)</a:t>
            </a:r>
          </a:p>
          <a:p>
            <a:endParaRPr lang="en-US" altLang="zh-TW" sz="1000" b="0" i="0" dirty="0">
              <a:solidFill>
                <a:srgbClr val="000000"/>
              </a:solidFill>
              <a:effectLst/>
              <a:latin typeface="Arial" panose="020B0604020202020204" pitchFamily="34" charset="0"/>
            </a:endParaRPr>
          </a:p>
          <a:p>
            <a:r>
              <a:rPr lang="zh-TW" altLang="en-US" sz="1000" dirty="0">
                <a:latin typeface="Arial" panose="020B0604020202020204" pitchFamily="34" charset="0"/>
              </a:rPr>
              <a:t>淨利</a:t>
            </a:r>
            <a:endParaRPr lang="en-US" altLang="zh-TW" sz="1000" dirty="0">
              <a:latin typeface="Arial" panose="020B0604020202020204" pitchFamily="34" charset="0"/>
            </a:endParaRPr>
          </a:p>
          <a:p>
            <a:r>
              <a:rPr lang="en-US" altLang="zh-TW" sz="1000" dirty="0">
                <a:latin typeface="Arial" panose="020B0604020202020204" pitchFamily="34" charset="0"/>
              </a:rPr>
              <a:t>1)</a:t>
            </a:r>
            <a:r>
              <a:rPr lang="en-US" altLang="zh-TW" sz="2800" b="0" i="0" dirty="0">
                <a:solidFill>
                  <a:srgbClr val="000000"/>
                </a:solidFill>
                <a:effectLst/>
                <a:latin typeface="Times New Roman" panose="02020603050405020304" pitchFamily="18" charset="0"/>
              </a:rPr>
              <a:t>  In 2024, taxes on earnings included $</a:t>
            </a:r>
            <a:r>
              <a:rPr lang="en-US" altLang="zh-TW" sz="2800" dirty="0"/>
              <a:t>7.5</a:t>
            </a:r>
            <a:r>
              <a:rPr lang="en-US" altLang="zh-TW" sz="2800" b="0" i="0" dirty="0">
                <a:solidFill>
                  <a:srgbClr val="000000"/>
                </a:solidFill>
                <a:effectLst/>
                <a:latin typeface="Times New Roman" panose="02020603050405020304" pitchFamily="18" charset="0"/>
              </a:rPr>
              <a:t> billion in non-cash valuation allowance adjustments resulting from the restructuring of certain foreign affiliates and the confirmation of certain tax filing positions. The restructuring improved profitability to several of Abbott’s affiliates and management concluded that the related preexisting deferred tax assets, which historically had a full valuation allowance, were more likely than not to be realizable in future periods. In particular, Abbott considered the likelihood of sustained ongoing profitability of the affiliates as a positive factor that outweighed all available negative evidence considered. Accordingly, Abbott released the full valuation allowance on such deferred tax assets and recorded the offset to taxes on earnings.</a:t>
            </a:r>
            <a:r>
              <a:rPr lang="en-US" altLang="zh-TW" sz="1800" b="0" i="0" dirty="0">
                <a:solidFill>
                  <a:srgbClr val="000000"/>
                </a:solidFill>
                <a:effectLst/>
                <a:latin typeface="Times New Roman" panose="02020603050405020304" pitchFamily="18" charset="0"/>
              </a:rPr>
              <a:t>.</a:t>
            </a:r>
            <a:endParaRPr lang="zh-TW" altLang="en-US" sz="1000" dirty="0">
              <a:latin typeface="Arial" panose="020B0604020202020204" pitchFamily="34" charset="0"/>
            </a:endParaRPr>
          </a:p>
        </p:txBody>
      </p:sp>
      <p:sp>
        <p:nvSpPr>
          <p:cNvPr id="1331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4942521C-8DD0-4FBE-8384-430DACF3568E}" type="slidenum">
              <a:rPr lang="zh-TW" altLang="en-US"/>
              <a:pPr/>
              <a:t>4</a:t>
            </a:fld>
            <a:endParaRPr lang="zh-TW" altLang="en-US"/>
          </a:p>
        </p:txBody>
      </p:sp>
    </p:spTree>
    <p:extLst>
      <p:ext uri="{BB962C8B-B14F-4D97-AF65-F5344CB8AC3E}">
        <p14:creationId xmlns:p14="http://schemas.microsoft.com/office/powerpoint/2010/main" val="30301824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投影片圖像版面配置區 1"/>
          <p:cNvSpPr>
            <a:spLocks noGrp="1" noRot="1" noChangeAspect="1" noTextEdit="1"/>
          </p:cNvSpPr>
          <p:nvPr>
            <p:ph type="sldImg"/>
          </p:nvPr>
        </p:nvSpPr>
        <p:spPr>
          <a:ln/>
        </p:spPr>
      </p:sp>
      <p:sp>
        <p:nvSpPr>
          <p:cNvPr id="13315" name="備忘稿版面配置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TW" sz="1000" dirty="0">
                <a:latin typeface="Arial" panose="020B0604020202020204" pitchFamily="34" charset="0"/>
              </a:rPr>
              <a:t>Moody’s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t>https://www.moodys.com/research/Moodys-Ratings-assigns-Aa3-rating-to-Abbotts-sr-unsecured-notes-Rating-Action--PR_519898</a:t>
            </a:r>
            <a:endParaRPr lang="zh-TW" altLang="en-US" sz="1200" dirty="0"/>
          </a:p>
          <a:p>
            <a:endParaRPr lang="zh-TW" altLang="en-US" sz="1000" dirty="0">
              <a:latin typeface="Arial" panose="020B0604020202020204" pitchFamily="34" charset="0"/>
            </a:endParaRPr>
          </a:p>
        </p:txBody>
      </p:sp>
      <p:sp>
        <p:nvSpPr>
          <p:cNvPr id="13316" name="投影片編號版面配置區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fld id="{4942521C-8DD0-4FBE-8384-430DACF3568E}" type="slidenum">
              <a:rPr lang="zh-TW" altLang="en-US"/>
              <a:pPr/>
              <a:t>5</a:t>
            </a:fld>
            <a:endParaRPr lang="zh-TW" altLang="en-US"/>
          </a:p>
        </p:txBody>
      </p:sp>
    </p:spTree>
    <p:extLst>
      <p:ext uri="{BB962C8B-B14F-4D97-AF65-F5344CB8AC3E}">
        <p14:creationId xmlns:p14="http://schemas.microsoft.com/office/powerpoint/2010/main" val="4283515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21938" y="2854083"/>
            <a:ext cx="1647183"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
        <p:nvSpPr>
          <p:cNvPr id="8" name="文字方塊 7"/>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pic>
        <p:nvPicPr>
          <p:cNvPr id="6" name="圖片 5">
            <a:extLst>
              <a:ext uri="{FF2B5EF4-FFF2-40B4-BE49-F238E27FC236}">
                <a16:creationId xmlns:a16="http://schemas.microsoft.com/office/drawing/2014/main" id="{077F17E0-39B1-4EAF-8142-AA65E5998D1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7" name="矩形 6">
            <a:extLst>
              <a:ext uri="{FF2B5EF4-FFF2-40B4-BE49-F238E27FC236}">
                <a16:creationId xmlns:a16="http://schemas.microsoft.com/office/drawing/2014/main" id="{7FA65B57-BDE0-6C80-8FF3-AC520FEDEF6C}"/>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8" name="圖片 7">
            <a:extLst>
              <a:ext uri="{FF2B5EF4-FFF2-40B4-BE49-F238E27FC236}">
                <a16:creationId xmlns:a16="http://schemas.microsoft.com/office/drawing/2014/main" id="{084EBEA9-85CE-C718-A27A-DD172A968221}"/>
              </a:ext>
            </a:extLst>
          </p:cNvPr>
          <p:cNvPicPr>
            <a:picLocks noChangeAspect="1"/>
          </p:cNvPicPr>
          <p:nvPr userDrawn="1"/>
        </p:nvPicPr>
        <p:blipFill>
          <a:blip r:embed="rId4"/>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5" name="圖片 4">
            <a:extLst>
              <a:ext uri="{FF2B5EF4-FFF2-40B4-BE49-F238E27FC236}">
                <a16:creationId xmlns:a16="http://schemas.microsoft.com/office/drawing/2014/main" id="{077F17E0-39B1-4EAF-8142-AA65E5998D16}"/>
              </a:ext>
            </a:extLst>
          </p:cNvPr>
          <p:cNvPicPr>
            <a:picLocks noChangeAspect="1"/>
          </p:cNvPicPr>
          <p:nvPr userDrawn="1"/>
        </p:nvPicPr>
        <p:blipFill rotWithShape="1">
          <a:blip r:embed="rId14"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6" name="矩形 5">
            <a:extLst>
              <a:ext uri="{FF2B5EF4-FFF2-40B4-BE49-F238E27FC236}">
                <a16:creationId xmlns:a16="http://schemas.microsoft.com/office/drawing/2014/main" id="{7FA65B57-BDE0-6C80-8FF3-AC520FEDEF6C}"/>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8" name="圖片 7">
            <a:extLst>
              <a:ext uri="{FF2B5EF4-FFF2-40B4-BE49-F238E27FC236}">
                <a16:creationId xmlns:a16="http://schemas.microsoft.com/office/drawing/2014/main" id="{084EBEA9-85CE-C718-A27A-DD172A968221}"/>
              </a:ext>
            </a:extLst>
          </p:cNvPr>
          <p:cNvPicPr>
            <a:picLocks noChangeAspect="1"/>
          </p:cNvPicPr>
          <p:nvPr userDrawn="1"/>
        </p:nvPicPr>
        <p:blipFill>
          <a:blip r:embed="rId15"/>
          <a:stretch>
            <a:fillRect/>
          </a:stretch>
        </p:blipFill>
        <p:spPr>
          <a:xfrm>
            <a:off x="7308304" y="-16771"/>
            <a:ext cx="1999661" cy="256054"/>
          </a:xfrm>
          <a:prstGeom prst="rect">
            <a:avLst/>
          </a:prstGeom>
        </p:spPr>
      </p:pic>
      <p:pic>
        <p:nvPicPr>
          <p:cNvPr id="9" name="圖片 8"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chart" Target="../charts/chart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chart" Target="../charts/chart1.xml"/><Relationship Id="rId5" Type="http://schemas.openxmlformats.org/officeDocument/2006/relationships/image" Target="../media/image5.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19.png"/><Relationship Id="rId26" Type="http://schemas.openxmlformats.org/officeDocument/2006/relationships/image" Target="../media/image27.png"/><Relationship Id="rId3" Type="http://schemas.openxmlformats.org/officeDocument/2006/relationships/image" Target="../media/image8.png"/><Relationship Id="rId21" Type="http://schemas.openxmlformats.org/officeDocument/2006/relationships/image" Target="../media/image22.png"/><Relationship Id="rId34" Type="http://schemas.openxmlformats.org/officeDocument/2006/relationships/image" Target="../media/image35.png"/><Relationship Id="rId7" Type="http://schemas.openxmlformats.org/officeDocument/2006/relationships/image" Target="../media/image11.png"/><Relationship Id="rId12" Type="http://schemas.openxmlformats.org/officeDocument/2006/relationships/image" Target="../media/image15.png"/><Relationship Id="rId17" Type="http://schemas.openxmlformats.org/officeDocument/2006/relationships/image" Target="../media/image18.png"/><Relationship Id="rId25" Type="http://schemas.openxmlformats.org/officeDocument/2006/relationships/image" Target="../media/image26.png"/><Relationship Id="rId33" Type="http://schemas.openxmlformats.org/officeDocument/2006/relationships/image" Target="../media/image34.png"/><Relationship Id="rId2" Type="http://schemas.openxmlformats.org/officeDocument/2006/relationships/notesSlide" Target="../notesSlides/notesSlide2.xml"/><Relationship Id="rId16" Type="http://schemas.openxmlformats.org/officeDocument/2006/relationships/image" Target="cid:ii_lui4bxrj1" TargetMode="External"/><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chart" Target="../charts/chart3.xml"/><Relationship Id="rId24" Type="http://schemas.openxmlformats.org/officeDocument/2006/relationships/image" Target="../media/image25.png"/><Relationship Id="rId32" Type="http://schemas.openxmlformats.org/officeDocument/2006/relationships/image" Target="../media/image33.png"/><Relationship Id="rId5" Type="http://schemas.openxmlformats.org/officeDocument/2006/relationships/image" Target="../media/image9.png"/><Relationship Id="rId15" Type="http://schemas.openxmlformats.org/officeDocument/2006/relationships/image" Target="../media/image17.png"/><Relationship Id="rId23" Type="http://schemas.openxmlformats.org/officeDocument/2006/relationships/image" Target="../media/image24.png"/><Relationship Id="rId28" Type="http://schemas.openxmlformats.org/officeDocument/2006/relationships/image" Target="../media/image29.png"/><Relationship Id="rId10" Type="http://schemas.openxmlformats.org/officeDocument/2006/relationships/image" Target="../media/image14.png"/><Relationship Id="rId19" Type="http://schemas.openxmlformats.org/officeDocument/2006/relationships/image" Target="../media/image20.png"/><Relationship Id="rId31" Type="http://schemas.openxmlformats.org/officeDocument/2006/relationships/image" Target="../media/image32.png"/><Relationship Id="rId4" Type="http://schemas.openxmlformats.org/officeDocument/2006/relationships/image" Target="../media/image5.png"/><Relationship Id="rId9" Type="http://schemas.openxmlformats.org/officeDocument/2006/relationships/image" Target="../media/image13.png"/><Relationship Id="rId14" Type="http://schemas.openxmlformats.org/officeDocument/2006/relationships/image" Target="cid:ii_lui4blhm0" TargetMode="External"/><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 Id="rId35" Type="http://schemas.openxmlformats.org/officeDocument/2006/relationships/image" Target="../media/image36.png"/><Relationship Id="rId8"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hart" Target="../charts/chart5.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chart" Target="../charts/char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4">
            <a:extLst>
              <a:ext uri="{FF2B5EF4-FFF2-40B4-BE49-F238E27FC236}">
                <a16:creationId xmlns:a16="http://schemas.microsoft.com/office/drawing/2014/main" id="{78F0A0E0-2333-40F0-89A0-F832186CD0AE}"/>
              </a:ext>
            </a:extLst>
          </p:cNvPr>
          <p:cNvSpPr txBox="1">
            <a:spLocks/>
          </p:cNvSpPr>
          <p:nvPr/>
        </p:nvSpPr>
        <p:spPr>
          <a:xfrm>
            <a:off x="479377" y="3429000"/>
            <a:ext cx="8064895" cy="576064"/>
          </a:xfrm>
          <a:prstGeom prst="rect">
            <a:avLst/>
          </a:prstGeom>
        </p:spPr>
        <p:txBody>
          <a:bodyPr>
            <a:noAutofit/>
          </a:bodyPr>
          <a:lstStyle>
            <a:lvl1pPr algn="l" defTabSz="914400" rtl="0" eaLnBrk="1" latinLnBrk="0" hangingPunct="1">
              <a:spcBef>
                <a:spcPct val="0"/>
              </a:spcBef>
              <a:buNone/>
              <a:defRPr sz="4000" b="1" kern="1200">
                <a:solidFill>
                  <a:schemeClr val="tx1">
                    <a:lumMod val="95000"/>
                    <a:lumOff val="5000"/>
                  </a:schemeClr>
                </a:solidFill>
                <a:latin typeface="微軟正黑體" pitchFamily="34" charset="-120"/>
                <a:ea typeface="微軟正黑體" pitchFamily="34" charset="-120"/>
                <a:cs typeface="+mj-cs"/>
              </a:defRPr>
            </a:lvl1pPr>
          </a:lstStyle>
          <a:p>
            <a:pPr>
              <a:defRPr/>
            </a:pPr>
            <a:br>
              <a:rPr lang="zh-TW" altLang="en-US" dirty="0">
                <a:solidFill>
                  <a:schemeClr val="tx2"/>
                </a:solidFill>
              </a:rPr>
            </a:br>
            <a:endParaRPr lang="en-US" altLang="zh-TW" dirty="0">
              <a:solidFill>
                <a:schemeClr val="tx1">
                  <a:lumMod val="75000"/>
                  <a:lumOff val="25000"/>
                </a:schemeClr>
              </a:solidFill>
              <a:effectLst>
                <a:outerShdw blurRad="38100" dist="38100" dir="2700000" algn="tl">
                  <a:srgbClr val="000000">
                    <a:alpha val="43137"/>
                  </a:srgbClr>
                </a:outerShdw>
              </a:effectLst>
              <a:latin typeface="+mn-ea"/>
              <a:ea typeface="+mn-ea"/>
            </a:endParaRPr>
          </a:p>
        </p:txBody>
      </p:sp>
      <p:sp>
        <p:nvSpPr>
          <p:cNvPr id="15" name="标题 4">
            <a:extLst>
              <a:ext uri="{FF2B5EF4-FFF2-40B4-BE49-F238E27FC236}">
                <a16:creationId xmlns:a16="http://schemas.microsoft.com/office/drawing/2014/main" id="{E00585DD-8CF0-48CC-936F-C37175E0D479}"/>
              </a:ext>
            </a:extLst>
          </p:cNvPr>
          <p:cNvSpPr txBox="1">
            <a:spLocks/>
          </p:cNvSpPr>
          <p:nvPr/>
        </p:nvSpPr>
        <p:spPr>
          <a:xfrm>
            <a:off x="2123728" y="2852936"/>
            <a:ext cx="6394194" cy="576064"/>
          </a:xfrm>
          <a:prstGeom prst="rect">
            <a:avLst/>
          </a:prstGeom>
        </p:spPr>
        <p:txBody>
          <a:bodyPr>
            <a:noAutofit/>
          </a:bodyPr>
          <a:lstStyle>
            <a:lvl1pPr algn="l" defTabSz="685800" rtl="0" eaLnBrk="1" latinLnBrk="0" hangingPunct="1">
              <a:spcBef>
                <a:spcPct val="0"/>
              </a:spcBef>
              <a:buNone/>
              <a:defRPr sz="3000" b="1" kern="1200">
                <a:solidFill>
                  <a:schemeClr val="bg1">
                    <a:lumMod val="50000"/>
                  </a:schemeClr>
                </a:solidFill>
                <a:latin typeface="微軟正黑體" pitchFamily="34" charset="-120"/>
                <a:ea typeface="微軟正黑體" pitchFamily="34" charset="-120"/>
                <a:cs typeface="+mj-cs"/>
              </a:defRPr>
            </a:lvl1pPr>
          </a:lstStyle>
          <a:p>
            <a:pPr>
              <a:lnSpc>
                <a:spcPts val="4200"/>
              </a:lnSpc>
              <a:defRPr/>
            </a:pPr>
            <a:r>
              <a:rPr lang="zh-TW" altLang="en-US" dirty="0">
                <a:solidFill>
                  <a:schemeClr val="tx1">
                    <a:lumMod val="50000"/>
                    <a:lumOff val="50000"/>
                  </a:schemeClr>
                </a:solidFill>
              </a:rPr>
              <a:t>亞培</a:t>
            </a:r>
            <a:endParaRPr lang="en-US" altLang="zh-TW" dirty="0">
              <a:solidFill>
                <a:schemeClr val="tx1">
                  <a:lumMod val="50000"/>
                  <a:lumOff val="50000"/>
                </a:schemeClr>
              </a:solidFill>
            </a:endParaRPr>
          </a:p>
          <a:p>
            <a:pPr>
              <a:lnSpc>
                <a:spcPts val="4200"/>
              </a:lnSpc>
              <a:defRPr/>
            </a:pPr>
            <a:r>
              <a:rPr lang="en-US" altLang="zh-TW" sz="2400" dirty="0">
                <a:solidFill>
                  <a:schemeClr val="tx1">
                    <a:lumMod val="50000"/>
                    <a:lumOff val="50000"/>
                  </a:schemeClr>
                </a:solidFill>
              </a:rPr>
              <a:t>Abbott Laboratories</a:t>
            </a:r>
            <a:endParaRPr lang="en-US" altLang="zh-TW" dirty="0">
              <a:solidFill>
                <a:schemeClr val="tx1">
                  <a:lumMod val="50000"/>
                  <a:lumOff val="50000"/>
                </a:schemeClr>
              </a:solidFill>
            </a:endParaRPr>
          </a:p>
        </p:txBody>
      </p:sp>
      <p:pic>
        <p:nvPicPr>
          <p:cNvPr id="6" name="圖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0023" y="2876131"/>
            <a:ext cx="1757355" cy="449590"/>
          </a:xfrm>
          <a:prstGeom prst="rect">
            <a:avLst/>
          </a:prstGeom>
        </p:spPr>
      </p:pic>
      <p:graphicFrame>
        <p:nvGraphicFramePr>
          <p:cNvPr id="5" name="表格 4">
            <a:extLst>
              <a:ext uri="{FF2B5EF4-FFF2-40B4-BE49-F238E27FC236}">
                <a16:creationId xmlns:a16="http://schemas.microsoft.com/office/drawing/2014/main" id="{E0C04C04-FEE2-4B1C-BC8E-B205502E35D3}"/>
              </a:ext>
            </a:extLst>
          </p:cNvPr>
          <p:cNvGraphicFramePr>
            <a:graphicFrameLocks noGrp="1"/>
          </p:cNvGraphicFramePr>
          <p:nvPr>
            <p:extLst>
              <p:ext uri="{D42A27DB-BD31-4B8C-83A1-F6EECF244321}">
                <p14:modId xmlns:p14="http://schemas.microsoft.com/office/powerpoint/2010/main" val="2580768024"/>
              </p:ext>
            </p:extLst>
          </p:nvPr>
        </p:nvGraphicFramePr>
        <p:xfrm>
          <a:off x="1115616" y="4149080"/>
          <a:ext cx="6819900" cy="740352"/>
        </p:xfrm>
        <a:graphic>
          <a:graphicData uri="http://schemas.openxmlformats.org/drawingml/2006/table">
            <a:tbl>
              <a:tblPr/>
              <a:tblGrid>
                <a:gridCol w="927100">
                  <a:extLst>
                    <a:ext uri="{9D8B030D-6E8A-4147-A177-3AD203B41FA5}">
                      <a16:colId xmlns:a16="http://schemas.microsoft.com/office/drawing/2014/main" val="2431230819"/>
                    </a:ext>
                  </a:extLst>
                </a:gridCol>
                <a:gridCol w="927100">
                  <a:extLst>
                    <a:ext uri="{9D8B030D-6E8A-4147-A177-3AD203B41FA5}">
                      <a16:colId xmlns:a16="http://schemas.microsoft.com/office/drawing/2014/main" val="4186104954"/>
                    </a:ext>
                  </a:extLst>
                </a:gridCol>
                <a:gridCol w="810096">
                  <a:extLst>
                    <a:ext uri="{9D8B030D-6E8A-4147-A177-3AD203B41FA5}">
                      <a16:colId xmlns:a16="http://schemas.microsoft.com/office/drawing/2014/main" val="1983523619"/>
                    </a:ext>
                  </a:extLst>
                </a:gridCol>
                <a:gridCol w="504056">
                  <a:extLst>
                    <a:ext uri="{9D8B030D-6E8A-4147-A177-3AD203B41FA5}">
                      <a16:colId xmlns:a16="http://schemas.microsoft.com/office/drawing/2014/main" val="949459868"/>
                    </a:ext>
                  </a:extLst>
                </a:gridCol>
                <a:gridCol w="1797348">
                  <a:extLst>
                    <a:ext uri="{9D8B030D-6E8A-4147-A177-3AD203B41FA5}">
                      <a16:colId xmlns:a16="http://schemas.microsoft.com/office/drawing/2014/main" val="1946720866"/>
                    </a:ext>
                  </a:extLst>
                </a:gridCol>
                <a:gridCol w="927100">
                  <a:extLst>
                    <a:ext uri="{9D8B030D-6E8A-4147-A177-3AD203B41FA5}">
                      <a16:colId xmlns:a16="http://schemas.microsoft.com/office/drawing/2014/main" val="1238084409"/>
                    </a:ext>
                  </a:extLst>
                </a:gridCol>
                <a:gridCol w="927100">
                  <a:extLst>
                    <a:ext uri="{9D8B030D-6E8A-4147-A177-3AD203B41FA5}">
                      <a16:colId xmlns:a16="http://schemas.microsoft.com/office/drawing/2014/main" val="3617222459"/>
                    </a:ext>
                  </a:extLst>
                </a:gridCol>
              </a:tblGrid>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商品</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發行機構</a:t>
                      </a:r>
                      <a:endParaRPr lang="en-US" altLang="zh-TW" sz="11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票息</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信用評等</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償債順位</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到期日</a:t>
                      </a:r>
                    </a:p>
                  </a:txBody>
                  <a:tcPr marL="9525" marR="9525" marT="9525" marB="0" anchor="ctr">
                    <a:lnL>
                      <a:noFill/>
                    </a:lnL>
                    <a:lnR>
                      <a:noFill/>
                    </a:lnR>
                    <a:lnT>
                      <a:noFill/>
                    </a:lnT>
                    <a:lnB>
                      <a:noFill/>
                    </a:lnB>
                    <a:solidFill>
                      <a:srgbClr val="C00000"/>
                    </a:solidFill>
                  </a:tcPr>
                </a:tc>
                <a:extLst>
                  <a:ext uri="{0D108BD9-81ED-4DB2-BD59-A6C34878D82A}">
                    <a16:rowId xmlns:a16="http://schemas.microsoft.com/office/drawing/2014/main" val="2608105475"/>
                  </a:ext>
                </a:extLst>
              </a:tr>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代號</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tc vMerge="1">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en-US" sz="1100" b="1" i="0" u="none" strike="noStrike" dirty="0">
                          <a:solidFill>
                            <a:srgbClr val="FFFFFF"/>
                          </a:solidFill>
                          <a:effectLst/>
                          <a:latin typeface="微軟正黑體" panose="020B0604030504040204" pitchFamily="34" charset="-120"/>
                          <a:ea typeface="微軟正黑體" panose="020B0604030504040204" pitchFamily="34" charset="-120"/>
                        </a:rPr>
                        <a:t>Moody/ S&amp;P / Fitch</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33559202"/>
                  </a:ext>
                </a:extLst>
              </a:tr>
              <a:tr h="232214">
                <a:tc>
                  <a:txBody>
                    <a:bodyPr/>
                    <a:lstStyle/>
                    <a:p>
                      <a:pPr algn="ctr" rtl="0" fontAlgn="ctr"/>
                      <a:r>
                        <a:rPr lang="en-US" sz="1000" b="0" i="0" u="none" strike="noStrike" dirty="0">
                          <a:solidFill>
                            <a:srgbClr val="000000"/>
                          </a:solidFill>
                          <a:effectLst/>
                          <a:latin typeface="Arial" panose="020B0604020202020204" pitchFamily="34" charset="0"/>
                          <a:ea typeface="新細明體" panose="02020500000000000000" pitchFamily="18" charset="-120"/>
                        </a:rPr>
                        <a:t>CBNH</a:t>
                      </a:r>
                    </a:p>
                  </a:txBody>
                  <a:tcPr marL="9525" marR="9525" marT="9525" marB="0" anchor="ctr">
                    <a:lnL>
                      <a:noFill/>
                    </a:lnL>
                    <a:lnR>
                      <a:noFill/>
                    </a:lnR>
                    <a:lnT>
                      <a:noFill/>
                    </a:lnT>
                    <a:lnB>
                      <a:noFill/>
                    </a:lnB>
                    <a:solidFill>
                      <a:srgbClr val="F2F2F2"/>
                    </a:solidFill>
                  </a:tcPr>
                </a:tc>
                <a:tc>
                  <a:txBody>
                    <a:bodyPr/>
                    <a:lstStyle/>
                    <a:p>
                      <a:pPr algn="ctr" rtl="0"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亞培</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4.9</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USD</a:t>
                      </a:r>
                    </a:p>
                  </a:txBody>
                  <a:tcPr marL="9525" marR="9525" marT="9525" marB="0" anchor="ctr">
                    <a:lnL>
                      <a:noFill/>
                    </a:lnL>
                    <a:lnR>
                      <a:noFill/>
                    </a:lnR>
                    <a:lnT>
                      <a:noFill/>
                    </a:lnT>
                    <a:lnB>
                      <a:noFill/>
                    </a:lnB>
                  </a:tcPr>
                </a:tc>
                <a:tc>
                  <a:txBody>
                    <a:bodyPr/>
                    <a:lstStyle/>
                    <a:p>
                      <a:pPr algn="ctr"/>
                      <a:r>
                        <a:rPr lang="pt-BR" altLang="zh-TW" sz="1000" dirty="0"/>
                        <a:t>Aa3</a:t>
                      </a:r>
                      <a:r>
                        <a:rPr lang="en-US" altLang="zh-TW" sz="1000" dirty="0"/>
                        <a:t>/A+/WD</a:t>
                      </a:r>
                      <a:endParaRPr lang="pt-BR" altLang="zh-TW" sz="1000" dirty="0"/>
                    </a:p>
                  </a:txBody>
                  <a:tcPr marL="9525" marR="9525" marT="9525" marB="0" anchor="ctr">
                    <a:lnL>
                      <a:noFill/>
                    </a:lnL>
                    <a:lnR>
                      <a:noFill/>
                    </a:lnR>
                    <a:lnT>
                      <a:noFill/>
                    </a:lnT>
                    <a:lnB>
                      <a:noFill/>
                    </a:lnB>
                  </a:tcPr>
                </a:tc>
                <a:tc>
                  <a:txBody>
                    <a:bodyPr/>
                    <a:lstStyle/>
                    <a:p>
                      <a:pPr algn="ctr" rtl="0" fontAlgn="ctr"/>
                      <a:r>
                        <a:rPr lang="en-US" sz="1000" b="0" i="0" u="none" strike="noStrike" dirty="0">
                          <a:solidFill>
                            <a:srgbClr val="000000"/>
                          </a:solidFill>
                          <a:effectLst/>
                          <a:latin typeface="微軟正黑體" panose="020B0604030504040204" pitchFamily="34" charset="-120"/>
                          <a:ea typeface="微軟正黑體" panose="020B0604030504040204" pitchFamily="34" charset="-120"/>
                        </a:rPr>
                        <a:t>Sr Unsecured</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2046/11/30</a:t>
                      </a: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2605237132"/>
                  </a:ext>
                </a:extLst>
              </a:tr>
            </a:tbl>
          </a:graphicData>
        </a:graphic>
      </p:graphicFrame>
    </p:spTree>
    <p:extLst>
      <p:ext uri="{BB962C8B-B14F-4D97-AF65-F5344CB8AC3E}">
        <p14:creationId xmlns:p14="http://schemas.microsoft.com/office/powerpoint/2010/main" val="222743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圓角矩形 64"/>
          <p:cNvSpPr/>
          <p:nvPr/>
        </p:nvSpPr>
        <p:spPr>
          <a:xfrm>
            <a:off x="2320924" y="4978400"/>
            <a:ext cx="1388393" cy="1346199"/>
          </a:xfrm>
          <a:prstGeom prst="roundRect">
            <a:avLst>
              <a:gd name="adj" fmla="val 4154"/>
            </a:avLst>
          </a:prstGeom>
          <a:solidFill>
            <a:schemeClr val="bg1"/>
          </a:solidFill>
          <a:ln>
            <a:noFill/>
          </a:ln>
          <a:effectLst>
            <a:outerShdw blurRad="50800" dist="508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5417344" y="4978400"/>
            <a:ext cx="789841" cy="1346199"/>
          </a:xfrm>
          <a:prstGeom prst="roundRect">
            <a:avLst>
              <a:gd name="adj" fmla="val 11171"/>
            </a:avLst>
          </a:prstGeom>
          <a:solidFill>
            <a:schemeClr val="bg1"/>
          </a:solidFill>
          <a:ln>
            <a:noFill/>
          </a:ln>
          <a:effectLst>
            <a:outerShdw blurRad="50800" dist="508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a:extLst>
              <a:ext uri="{FF2B5EF4-FFF2-40B4-BE49-F238E27FC236}">
                <a16:creationId xmlns:a16="http://schemas.microsoft.com/office/drawing/2014/main" id="{2699700B-649E-4B41-BD33-38C3C73BF142}"/>
              </a:ext>
            </a:extLst>
          </p:cNvPr>
          <p:cNvSpPr/>
          <p:nvPr/>
        </p:nvSpPr>
        <p:spPr>
          <a:xfrm>
            <a:off x="461487" y="4521200"/>
            <a:ext cx="5946640" cy="1917699"/>
          </a:xfrm>
          <a:prstGeom prst="rect">
            <a:avLst/>
          </a:prstGeom>
          <a:noFill/>
          <a:ln w="1905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版面配置區 15"/>
          <p:cNvSpPr>
            <a:spLocks noGrp="1"/>
          </p:cNvSpPr>
          <p:nvPr>
            <p:ph type="body" sz="quarter" idx="4294967295"/>
          </p:nvPr>
        </p:nvSpPr>
        <p:spPr>
          <a:xfrm>
            <a:off x="457392" y="1072692"/>
            <a:ext cx="5946640" cy="3210368"/>
          </a:xfrm>
          <a:prstGeom prst="rect">
            <a:avLst/>
          </a:prstGeom>
        </p:spPr>
        <p:txBody>
          <a:bodyPr>
            <a:noAutofit/>
          </a:bodyPr>
          <a:lstStyle/>
          <a:p>
            <a:pPr marL="0" lvl="0" indent="0" algn="just" defTabSz="914400">
              <a:lnSpc>
                <a:spcPts val="1500"/>
              </a:lnSpc>
              <a:spcBef>
                <a:spcPts val="300"/>
              </a:spcBef>
              <a:buNone/>
              <a:defRPr/>
            </a:pPr>
            <a:r>
              <a:rPr lang="zh-TW" altLang="en-US" sz="1200" dirty="0">
                <a:solidFill>
                  <a:prstClr val="black"/>
                </a:solidFill>
                <a:latin typeface="微軟正黑體" panose="020B0604030504040204" pitchFamily="34" charset="-120"/>
                <a:ea typeface="微軟正黑體" panose="020B0604030504040204" pitchFamily="34" charset="-120"/>
              </a:rPr>
              <a:t>亞培</a:t>
            </a:r>
            <a:r>
              <a:rPr lang="en-US" altLang="zh-TW" sz="1200" dirty="0">
                <a:solidFill>
                  <a:prstClr val="black"/>
                </a:solidFill>
                <a:latin typeface="微軟正黑體" panose="020B0604030504040204" pitchFamily="34" charset="-120"/>
                <a:ea typeface="微軟正黑體" panose="020B0604030504040204" pitchFamily="34" charset="-120"/>
              </a:rPr>
              <a:t>(Abbott Laboratories</a:t>
            </a:r>
            <a:r>
              <a:rPr lang="zh-TW" altLang="en-US" sz="1200" dirty="0">
                <a:solidFill>
                  <a:prstClr val="black"/>
                </a:solidFill>
                <a:latin typeface="微軟正黑體" panose="020B0604030504040204" pitchFamily="34" charset="-120"/>
                <a:ea typeface="微軟正黑體" panose="020B0604030504040204" pitchFamily="34" charset="-120"/>
              </a:rPr>
              <a:t>，</a:t>
            </a:r>
            <a:r>
              <a:rPr lang="en-US" altLang="zh-TW" sz="1200" dirty="0">
                <a:solidFill>
                  <a:prstClr val="black"/>
                </a:solidFill>
                <a:latin typeface="微軟正黑體" panose="020B0604030504040204" pitchFamily="34" charset="-120"/>
                <a:ea typeface="微軟正黑體" panose="020B0604030504040204" pitchFamily="34" charset="-120"/>
              </a:rPr>
              <a:t>NYSE</a:t>
            </a:r>
            <a:r>
              <a:rPr lang="zh-TW" altLang="en-US" sz="1200" dirty="0">
                <a:solidFill>
                  <a:prstClr val="black"/>
                </a:solidFill>
                <a:latin typeface="微軟正黑體" panose="020B0604030504040204" pitchFamily="34" charset="-120"/>
                <a:ea typeface="微軟正黑體" panose="020B0604030504040204" pitchFamily="34" charset="-120"/>
              </a:rPr>
              <a:t>：</a:t>
            </a:r>
            <a:r>
              <a:rPr lang="en-US" altLang="zh-TW" sz="1200" dirty="0">
                <a:solidFill>
                  <a:prstClr val="black"/>
                </a:solidFill>
                <a:latin typeface="微軟正黑體" panose="020B0604030504040204" pitchFamily="34" charset="-120"/>
                <a:ea typeface="微軟正黑體" panose="020B0604030504040204" pitchFamily="34" charset="-120"/>
              </a:rPr>
              <a:t>ABT)</a:t>
            </a:r>
            <a:r>
              <a:rPr lang="zh-TW" altLang="en-US" sz="1200" dirty="0">
                <a:solidFill>
                  <a:prstClr val="black"/>
                </a:solidFill>
                <a:latin typeface="微軟正黑體" panose="020B0604030504040204" pitchFamily="34" charset="-120"/>
                <a:ea typeface="微軟正黑體" panose="020B0604030504040204" pitchFamily="34" charset="-120"/>
              </a:rPr>
              <a:t>成立於</a:t>
            </a:r>
            <a:r>
              <a:rPr lang="en-US" altLang="zh-TW" sz="1200" dirty="0">
                <a:solidFill>
                  <a:prstClr val="black"/>
                </a:solidFill>
                <a:latin typeface="微軟正黑體" panose="020B0604030504040204" pitchFamily="34" charset="-120"/>
                <a:ea typeface="微軟正黑體" panose="020B0604030504040204" pitchFamily="34" charset="-120"/>
              </a:rPr>
              <a:t>1888</a:t>
            </a:r>
            <a:r>
              <a:rPr lang="zh-TW" altLang="en-US" sz="1200" dirty="0">
                <a:solidFill>
                  <a:prstClr val="black"/>
                </a:solidFill>
                <a:latin typeface="微軟正黑體" panose="020B0604030504040204" pitchFamily="34" charset="-120"/>
                <a:ea typeface="微軟正黑體" panose="020B0604030504040204" pitchFamily="34" charset="-120"/>
              </a:rPr>
              <a:t>年，總部位於美國伊利諾州，是一家全球醫療保健領導者，提供營養品、檢驗試劑、醫療設備及藥品等多種產品及服務，其中在美國嬰幼兒配方奶粉市場</a:t>
            </a:r>
            <a:r>
              <a:rPr lang="en-US" altLang="zh-TW" sz="1200" dirty="0">
                <a:solidFill>
                  <a:prstClr val="black"/>
                </a:solidFill>
                <a:latin typeface="微軟正黑體" panose="020B0604030504040204" pitchFamily="34" charset="-120"/>
                <a:ea typeface="微軟正黑體" panose="020B0604030504040204" pitchFamily="34" charset="-120"/>
              </a:rPr>
              <a:t>(</a:t>
            </a:r>
            <a:r>
              <a:rPr lang="zh-TW" altLang="en-US" sz="1200" dirty="0">
                <a:solidFill>
                  <a:prstClr val="black"/>
                </a:solidFill>
                <a:latin typeface="微軟正黑體" panose="020B0604030504040204" pitchFamily="34" charset="-120"/>
                <a:ea typeface="微軟正黑體" panose="020B0604030504040204" pitchFamily="34" charset="-120"/>
              </a:rPr>
              <a:t>如心美力</a:t>
            </a:r>
            <a:r>
              <a:rPr lang="en-US" altLang="zh-TW" sz="1200" dirty="0">
                <a:solidFill>
                  <a:prstClr val="black"/>
                </a:solidFill>
                <a:latin typeface="微軟正黑體" panose="020B0604030504040204" pitchFamily="34" charset="-120"/>
                <a:ea typeface="微軟正黑體" panose="020B0604030504040204" pitchFamily="34" charset="-120"/>
              </a:rPr>
              <a:t>Similac)</a:t>
            </a:r>
            <a:r>
              <a:rPr lang="zh-TW" altLang="en-US" sz="1200" dirty="0">
                <a:solidFill>
                  <a:prstClr val="black"/>
                </a:solidFill>
                <a:latin typeface="微軟正黑體" panose="020B0604030504040204" pitchFamily="34" charset="-120"/>
                <a:ea typeface="微軟正黑體" panose="020B0604030504040204" pitchFamily="34" charset="-120"/>
              </a:rPr>
              <a:t>長期維持極高的市占率。在糖尿病照護方面，除了廣為人知的連續血糖監測儀</a:t>
            </a:r>
            <a:r>
              <a:rPr lang="en-US" altLang="zh-TW" sz="1200" dirty="0" err="1">
                <a:solidFill>
                  <a:prstClr val="black"/>
                </a:solidFill>
                <a:latin typeface="微軟正黑體" panose="020B0604030504040204" pitchFamily="34" charset="-120"/>
                <a:ea typeface="微軟正黑體" panose="020B0604030504040204" pitchFamily="34" charset="-120"/>
              </a:rPr>
              <a:t>FreeStyle</a:t>
            </a:r>
            <a:r>
              <a:rPr lang="en-US" altLang="zh-TW" sz="1200" dirty="0">
                <a:solidFill>
                  <a:prstClr val="black"/>
                </a:solidFill>
                <a:latin typeface="微軟正黑體" panose="020B0604030504040204" pitchFamily="34" charset="-120"/>
                <a:ea typeface="微軟正黑體" panose="020B0604030504040204" pitchFamily="34" charset="-120"/>
              </a:rPr>
              <a:t> Libre</a:t>
            </a:r>
            <a:r>
              <a:rPr lang="zh-TW" altLang="en-US" sz="1200" dirty="0">
                <a:solidFill>
                  <a:prstClr val="black"/>
                </a:solidFill>
                <a:latin typeface="微軟正黑體" panose="020B0604030504040204" pitchFamily="34" charset="-120"/>
                <a:ea typeface="微軟正黑體" panose="020B0604030504040204" pitchFamily="34" charset="-120"/>
              </a:rPr>
              <a:t>與營養補充品</a:t>
            </a:r>
            <a:r>
              <a:rPr lang="en-US" altLang="zh-TW" sz="1200" dirty="0">
                <a:solidFill>
                  <a:prstClr val="black"/>
                </a:solidFill>
                <a:latin typeface="微軟正黑體" panose="020B0604030504040204" pitchFamily="34" charset="-120"/>
                <a:ea typeface="微軟正黑體" panose="020B0604030504040204" pitchFamily="34" charset="-120"/>
              </a:rPr>
              <a:t>Glucerna(</a:t>
            </a:r>
            <a:r>
              <a:rPr lang="zh-TW" altLang="en-US" sz="1200" dirty="0">
                <a:solidFill>
                  <a:prstClr val="black"/>
                </a:solidFill>
                <a:latin typeface="微軟正黑體" panose="020B0604030504040204" pitchFamily="34" charset="-120"/>
                <a:ea typeface="微軟正黑體" panose="020B0604030504040204" pitchFamily="34" charset="-120"/>
              </a:rPr>
              <a:t>葡勝納</a:t>
            </a:r>
            <a:r>
              <a:rPr lang="en-US" altLang="zh-TW" sz="1200" dirty="0">
                <a:solidFill>
                  <a:prstClr val="black"/>
                </a:solidFill>
                <a:latin typeface="微軟正黑體" panose="020B0604030504040204" pitchFamily="34" charset="-120"/>
                <a:ea typeface="微軟正黑體" panose="020B0604030504040204" pitchFamily="34" charset="-120"/>
              </a:rPr>
              <a:t>)</a:t>
            </a:r>
            <a:r>
              <a:rPr lang="zh-TW" altLang="en-US" sz="1200" dirty="0">
                <a:solidFill>
                  <a:prstClr val="black"/>
                </a:solidFill>
                <a:latin typeface="微軟正黑體" panose="020B0604030504040204" pitchFamily="34" charset="-120"/>
                <a:ea typeface="微軟正黑體" panose="020B0604030504040204" pitchFamily="34" charset="-120"/>
              </a:rPr>
              <a:t>外，亞培更於</a:t>
            </a:r>
            <a:r>
              <a:rPr lang="en-US" altLang="zh-TW" sz="1200" dirty="0">
                <a:solidFill>
                  <a:prstClr val="black"/>
                </a:solidFill>
                <a:latin typeface="微軟正黑體" panose="020B0604030504040204" pitchFamily="34" charset="-120"/>
                <a:ea typeface="微軟正黑體" panose="020B0604030504040204" pitchFamily="34" charset="-120"/>
              </a:rPr>
              <a:t>2024</a:t>
            </a:r>
            <a:r>
              <a:rPr lang="zh-TW" altLang="en-US" sz="1200" dirty="0">
                <a:solidFill>
                  <a:prstClr val="black"/>
                </a:solidFill>
                <a:latin typeface="微軟正黑體" panose="020B0604030504040204" pitchFamily="34" charset="-120"/>
                <a:ea typeface="微軟正黑體" panose="020B0604030504040204" pitchFamily="34" charset="-120"/>
              </a:rPr>
              <a:t>年針對一般大眾健康管理推出了非處方</a:t>
            </a:r>
            <a:r>
              <a:rPr lang="en-US" altLang="zh-TW" sz="1200" dirty="0">
                <a:solidFill>
                  <a:prstClr val="black"/>
                </a:solidFill>
                <a:latin typeface="微軟正黑體" panose="020B0604030504040204" pitchFamily="34" charset="-120"/>
                <a:ea typeface="微軟正黑體" panose="020B0604030504040204" pitchFamily="34" charset="-120"/>
              </a:rPr>
              <a:t>(OTC)</a:t>
            </a:r>
            <a:r>
              <a:rPr lang="zh-TW" altLang="en-US" sz="1200" dirty="0">
                <a:solidFill>
                  <a:prstClr val="black"/>
                </a:solidFill>
                <a:latin typeface="微軟正黑體" panose="020B0604030504040204" pitchFamily="34" charset="-120"/>
                <a:ea typeface="微軟正黑體" panose="020B0604030504040204" pitchFamily="34" charset="-120"/>
              </a:rPr>
              <a:t>連續血糖穿戴裝置</a:t>
            </a:r>
            <a:r>
              <a:rPr lang="en-US" altLang="zh-TW" sz="1200" dirty="0">
                <a:solidFill>
                  <a:prstClr val="black"/>
                </a:solidFill>
                <a:latin typeface="微軟正黑體" panose="020B0604030504040204" pitchFamily="34" charset="-120"/>
                <a:ea typeface="微軟正黑體" panose="020B0604030504040204" pitchFamily="34" charset="-120"/>
              </a:rPr>
              <a:t>Lingo</a:t>
            </a:r>
            <a:r>
              <a:rPr lang="zh-TW" altLang="en-US" sz="1200" dirty="0">
                <a:solidFill>
                  <a:prstClr val="black"/>
                </a:solidFill>
                <a:latin typeface="微軟正黑體" panose="020B0604030504040204" pitchFamily="34" charset="-120"/>
                <a:ea typeface="微軟正黑體" panose="020B0604030504040204" pitchFamily="34" charset="-120"/>
              </a:rPr>
              <a:t>，進一步擴大數位健康版圖。目前亞培業務遍及全球</a:t>
            </a:r>
            <a:r>
              <a:rPr lang="en-US" altLang="zh-TW" sz="1200" dirty="0">
                <a:solidFill>
                  <a:prstClr val="black"/>
                </a:solidFill>
                <a:latin typeface="微軟正黑體" panose="020B0604030504040204" pitchFamily="34" charset="-120"/>
                <a:ea typeface="微軟正黑體" panose="020B0604030504040204" pitchFamily="34" charset="-120"/>
              </a:rPr>
              <a:t>160</a:t>
            </a:r>
            <a:r>
              <a:rPr lang="zh-TW" altLang="en-US" sz="1200" dirty="0">
                <a:solidFill>
                  <a:prstClr val="black"/>
                </a:solidFill>
                <a:latin typeface="微軟正黑體" panose="020B0604030504040204" pitchFamily="34" charset="-120"/>
                <a:ea typeface="微軟正黑體" panose="020B0604030504040204" pitchFamily="34" charset="-120"/>
              </a:rPr>
              <a:t>多個國家及地區。</a:t>
            </a:r>
            <a:endParaRPr lang="en-US" altLang="zh-TW" sz="1200" dirty="0">
              <a:latin typeface="微軟正黑體" panose="020B0604030504040204" pitchFamily="34" charset="-120"/>
              <a:ea typeface="微軟正黑體" panose="020B0604030504040204" pitchFamily="34" charset="-120"/>
            </a:endParaRPr>
          </a:p>
          <a:p>
            <a:pPr lvl="0" algn="just" defTabSz="914400" hangingPunct="0">
              <a:lnSpc>
                <a:spcPts val="1500"/>
              </a:lnSpc>
              <a:spcBef>
                <a:spcPts val="300"/>
              </a:spcBef>
              <a:buFont typeface="Wingdings" panose="05000000000000000000" pitchFamily="2" charset="2"/>
              <a:buChar char="ü"/>
              <a:defRPr/>
            </a:pPr>
            <a:r>
              <a:rPr lang="zh-TW" altLang="en-US" sz="1100" b="1" dirty="0">
                <a:solidFill>
                  <a:srgbClr val="FF0000"/>
                </a:solidFill>
                <a:latin typeface="微軟正黑體" panose="020B0604030504040204" pitchFamily="34" charset="-120"/>
                <a:ea typeface="微軟正黑體" panose="020B0604030504040204" pitchFamily="34" charset="-120"/>
              </a:rPr>
              <a:t>全球醫療器材王者</a:t>
            </a:r>
            <a:r>
              <a:rPr lang="zh-TW" altLang="en-US" sz="1100" dirty="0">
                <a:latin typeface="微軟正黑體" panose="020B0604030504040204" pitchFamily="34" charset="-120"/>
                <a:ea typeface="微軟正黑體" panose="020B0604030504040204" pitchFamily="34" charset="-120"/>
              </a:rPr>
              <a:t>：亞培穩居全球最大的醫療器材公司之一，截至</a:t>
            </a:r>
            <a:r>
              <a:rPr lang="en-US" altLang="zh-TW" sz="1100" dirty="0">
                <a:latin typeface="微軟正黑體" panose="020B0604030504040204" pitchFamily="34" charset="-120"/>
                <a:ea typeface="微軟正黑體" panose="020B0604030504040204" pitchFamily="34" charset="-120"/>
              </a:rPr>
              <a:t>2026</a:t>
            </a:r>
            <a:r>
              <a:rPr lang="zh-TW" altLang="en-US" sz="1100" dirty="0">
                <a:latin typeface="微軟正黑體" panose="020B0604030504040204" pitchFamily="34" charset="-120"/>
                <a:ea typeface="微軟正黑體" panose="020B0604030504040204" pitchFamily="34" charset="-120"/>
              </a:rPr>
              <a:t>年</a:t>
            </a:r>
            <a:r>
              <a:rPr lang="en-US" altLang="zh-TW" sz="1100" dirty="0">
                <a:latin typeface="微軟正黑體" panose="020B0604030504040204" pitchFamily="34" charset="-120"/>
                <a:ea typeface="微軟正黑體" panose="020B0604030504040204" pitchFamily="34" charset="-120"/>
              </a:rPr>
              <a:t>3</a:t>
            </a:r>
            <a:r>
              <a:rPr lang="zh-TW" altLang="en-US" sz="1100" dirty="0">
                <a:latin typeface="微軟正黑體" panose="020B0604030504040204" pitchFamily="34" charset="-120"/>
                <a:ea typeface="微軟正黑體" panose="020B0604030504040204" pitchFamily="34" charset="-120"/>
              </a:rPr>
              <a:t>月，其總市值約達</a:t>
            </a:r>
            <a:r>
              <a:rPr lang="en-US" altLang="zh-TW" sz="1100" dirty="0">
                <a:latin typeface="微軟正黑體" panose="020B0604030504040204" pitchFamily="34" charset="-120"/>
                <a:ea typeface="微軟正黑體" panose="020B0604030504040204" pitchFamily="34" charset="-120"/>
              </a:rPr>
              <a:t>1,820</a:t>
            </a:r>
            <a:r>
              <a:rPr lang="zh-TW" altLang="en-US" sz="1100" dirty="0">
                <a:latin typeface="微軟正黑體" panose="020B0604030504040204" pitchFamily="34" charset="-120"/>
                <a:ea typeface="微軟正黑體" panose="020B0604030504040204" pitchFamily="34" charset="-120"/>
              </a:rPr>
              <a:t>億美元 。憑藉強勁的營收與獲利成長，亞培在</a:t>
            </a:r>
            <a:r>
              <a:rPr lang="en-US" altLang="zh-TW" sz="1100" dirty="0">
                <a:latin typeface="微軟正黑體" panose="020B0604030504040204" pitchFamily="34" charset="-120"/>
                <a:ea typeface="微軟正黑體" panose="020B0604030504040204" pitchFamily="34" charset="-120"/>
              </a:rPr>
              <a:t>2025</a:t>
            </a:r>
            <a:r>
              <a:rPr lang="zh-TW" altLang="en-US" sz="1100" dirty="0">
                <a:latin typeface="微軟正黑體" panose="020B0604030504040204" pitchFamily="34" charset="-120"/>
                <a:ea typeface="微軟正黑體" panose="020B0604030504040204" pitchFamily="34" charset="-120"/>
              </a:rPr>
              <a:t>年</a:t>
            </a:r>
            <a:r>
              <a:rPr lang="en-US" altLang="zh-TW" sz="1100" dirty="0">
                <a:latin typeface="微軟正黑體" panose="020B0604030504040204" pitchFamily="34" charset="-120"/>
                <a:ea typeface="微軟正黑體" panose="020B0604030504040204" pitchFamily="34" charset="-120"/>
              </a:rPr>
              <a:t>《Fortune》</a:t>
            </a:r>
            <a:r>
              <a:rPr lang="zh-TW" altLang="en-US" sz="1100" dirty="0">
                <a:latin typeface="微軟正黑體" panose="020B0604030504040204" pitchFamily="34" charset="-120"/>
                <a:ea typeface="微軟正黑體" panose="020B0604030504040204" pitchFamily="34" charset="-120"/>
              </a:rPr>
              <a:t>全球</a:t>
            </a:r>
            <a:r>
              <a:rPr lang="en-US" altLang="zh-TW" sz="1100" dirty="0">
                <a:latin typeface="微軟正黑體" panose="020B0604030504040204" pitchFamily="34" charset="-120"/>
                <a:ea typeface="微軟正黑體" panose="020B0604030504040204" pitchFamily="34" charset="-120"/>
              </a:rPr>
              <a:t>500</a:t>
            </a:r>
            <a:r>
              <a:rPr lang="zh-TW" altLang="en-US" sz="1100" dirty="0">
                <a:latin typeface="微軟正黑體" panose="020B0604030504040204" pitchFamily="34" charset="-120"/>
                <a:ea typeface="微軟正黑體" panose="020B0604030504040204" pitchFamily="34" charset="-120"/>
              </a:rPr>
              <a:t>強排行榜的醫療產品及設備產業中營收位列第二名，若以獲利排名則為第一 。</a:t>
            </a:r>
            <a:endParaRPr lang="en-US" altLang="zh-TW" sz="1100" dirty="0">
              <a:latin typeface="微軟正黑體" panose="020B0604030504040204" pitchFamily="34" charset="-120"/>
              <a:ea typeface="微軟正黑體" panose="020B0604030504040204" pitchFamily="34" charset="-120"/>
            </a:endParaRPr>
          </a:p>
          <a:p>
            <a:pPr algn="just" defTabSz="914400" hangingPunct="0">
              <a:lnSpc>
                <a:spcPts val="1500"/>
              </a:lnSpc>
              <a:spcBef>
                <a:spcPts val="300"/>
              </a:spcBef>
              <a:buFont typeface="Wingdings" panose="05000000000000000000" pitchFamily="2" charset="2"/>
              <a:buChar char="ü"/>
              <a:defRPr/>
            </a:pPr>
            <a:r>
              <a:rPr lang="zh-TW" altLang="en-US" sz="1100" b="1" dirty="0">
                <a:solidFill>
                  <a:srgbClr val="FF0000"/>
                </a:solidFill>
                <a:latin typeface="微軟正黑體" panose="020B0604030504040204" pitchFamily="34" charset="-120"/>
                <a:ea typeface="微軟正黑體" panose="020B0604030504040204" pitchFamily="34" charset="-120"/>
              </a:rPr>
              <a:t>藉併購站在產業頂峰</a:t>
            </a:r>
            <a:r>
              <a:rPr lang="zh-TW" altLang="en-US" sz="1100" dirty="0">
                <a:latin typeface="微軟正黑體" panose="020B0604030504040204" pitchFamily="34" charset="-120"/>
                <a:ea typeface="微軟正黑體" panose="020B0604030504040204" pitchFamily="34" charset="-120"/>
              </a:rPr>
              <a:t>：繼</a:t>
            </a:r>
            <a:r>
              <a:rPr lang="en-US" altLang="zh-TW" sz="1100" dirty="0">
                <a:latin typeface="微軟正黑體" panose="020B0604030504040204" pitchFamily="34" charset="-120"/>
                <a:ea typeface="微軟正黑體" panose="020B0604030504040204" pitchFamily="34" charset="-120"/>
              </a:rPr>
              <a:t>2023</a:t>
            </a:r>
            <a:r>
              <a:rPr lang="zh-TW" altLang="en-US" sz="1100" dirty="0">
                <a:latin typeface="微軟正黑體" panose="020B0604030504040204" pitchFamily="34" charset="-120"/>
                <a:ea typeface="微軟正黑體" panose="020B0604030504040204" pitchFamily="34" charset="-120"/>
              </a:rPr>
              <a:t>年收購心血管醫療器材商</a:t>
            </a:r>
            <a:r>
              <a:rPr lang="en-US" altLang="zh-TW" sz="1100" dirty="0">
                <a:latin typeface="微軟正黑體" panose="020B0604030504040204" pitchFamily="34" charset="-120"/>
                <a:ea typeface="微軟正黑體" panose="020B0604030504040204" pitchFamily="34" charset="-120"/>
              </a:rPr>
              <a:t>Cardiovascular Systems(CSI)</a:t>
            </a:r>
            <a:r>
              <a:rPr lang="zh-TW" altLang="en-US" sz="1100" dirty="0">
                <a:latin typeface="微軟正黑體" panose="020B0604030504040204" pitchFamily="34" charset="-120"/>
                <a:ea typeface="微軟正黑體" panose="020B0604030504040204" pitchFamily="34" charset="-120"/>
              </a:rPr>
              <a:t>與智慧胰島素管理系統商</a:t>
            </a:r>
            <a:r>
              <a:rPr lang="en-US" altLang="zh-TW" sz="1100" dirty="0">
                <a:latin typeface="微軟正黑體" panose="020B0604030504040204" pitchFamily="34" charset="-120"/>
                <a:ea typeface="微軟正黑體" panose="020B0604030504040204" pitchFamily="34" charset="-120"/>
              </a:rPr>
              <a:t>Bigfoot Biomedical</a:t>
            </a:r>
            <a:r>
              <a:rPr lang="zh-TW" altLang="en-US" sz="1100" dirty="0">
                <a:latin typeface="微軟正黑體" panose="020B0604030504040204" pitchFamily="34" charset="-120"/>
                <a:ea typeface="微軟正黑體" panose="020B0604030504040204" pitchFamily="34" charset="-120"/>
              </a:rPr>
              <a:t>之後，亞培迎來了歷史性的重大擴張。</a:t>
            </a:r>
            <a:r>
              <a:rPr lang="en-US" altLang="zh-TW" sz="1100" dirty="0">
                <a:latin typeface="微軟正黑體" panose="020B0604030504040204" pitchFamily="34" charset="-120"/>
                <a:ea typeface="微軟正黑體" panose="020B0604030504040204" pitchFamily="34" charset="-120"/>
              </a:rPr>
              <a:t>2026</a:t>
            </a:r>
            <a:r>
              <a:rPr lang="zh-TW" altLang="en-US" sz="1100" dirty="0">
                <a:latin typeface="微軟正黑體" panose="020B0604030504040204" pitchFamily="34" charset="-120"/>
                <a:ea typeface="微軟正黑體" panose="020B0604030504040204" pitchFamily="34" charset="-120"/>
              </a:rPr>
              <a:t>年</a:t>
            </a:r>
            <a:r>
              <a:rPr lang="en-US" altLang="zh-TW" sz="1100" dirty="0">
                <a:latin typeface="微軟正黑體" panose="020B0604030504040204" pitchFamily="34" charset="-120"/>
                <a:ea typeface="微軟正黑體" panose="020B0604030504040204" pitchFamily="34" charset="-120"/>
              </a:rPr>
              <a:t>3</a:t>
            </a:r>
            <a:r>
              <a:rPr lang="zh-TW" altLang="en-US" sz="1100" dirty="0">
                <a:latin typeface="微軟正黑體" panose="020B0604030504040204" pitchFamily="34" charset="-120"/>
                <a:ea typeface="微軟正黑體" panose="020B0604030504040204" pitchFamily="34" charset="-120"/>
              </a:rPr>
              <a:t>月</a:t>
            </a:r>
            <a:r>
              <a:rPr lang="en-US" altLang="zh-TW" sz="1100" dirty="0">
                <a:latin typeface="微軟正黑體" panose="020B0604030504040204" pitchFamily="34" charset="-120"/>
                <a:ea typeface="微軟正黑體" panose="020B0604030504040204" pitchFamily="34" charset="-120"/>
              </a:rPr>
              <a:t>23</a:t>
            </a:r>
            <a:r>
              <a:rPr lang="zh-TW" altLang="en-US" sz="1100" dirty="0">
                <a:latin typeface="微軟正黑體" panose="020B0604030504040204" pitchFamily="34" charset="-120"/>
                <a:ea typeface="微軟正黑體" panose="020B0604030504040204" pitchFamily="34" charset="-120"/>
              </a:rPr>
              <a:t>日，亞培正式以約</a:t>
            </a:r>
            <a:r>
              <a:rPr lang="en-US" altLang="zh-TW" sz="1100" dirty="0">
                <a:latin typeface="微軟正黑體" panose="020B0604030504040204" pitchFamily="34" charset="-120"/>
                <a:ea typeface="微軟正黑體" panose="020B0604030504040204" pitchFamily="34" charset="-120"/>
              </a:rPr>
              <a:t>210</a:t>
            </a:r>
            <a:r>
              <a:rPr lang="zh-TW" altLang="en-US" sz="1100" dirty="0">
                <a:latin typeface="微軟正黑體" panose="020B0604030504040204" pitchFamily="34" charset="-120"/>
                <a:ea typeface="微軟正黑體" panose="020B0604030504040204" pitchFamily="34" charset="-120"/>
              </a:rPr>
              <a:t>億美元的股權價值完成對癌症檢測大廠精密科學</a:t>
            </a:r>
            <a:r>
              <a:rPr lang="en-US" altLang="zh-TW" sz="1100" dirty="0">
                <a:latin typeface="微軟正黑體" panose="020B0604030504040204" pitchFamily="34" charset="-120"/>
                <a:ea typeface="微軟正黑體" panose="020B0604030504040204" pitchFamily="34" charset="-120"/>
              </a:rPr>
              <a:t>(Exact Sciences)</a:t>
            </a:r>
            <a:r>
              <a:rPr lang="zh-TW" altLang="en-US" sz="1100" dirty="0">
                <a:latin typeface="微軟正黑體" panose="020B0604030504040204" pitchFamily="34" charset="-120"/>
                <a:ea typeface="微軟正黑體" panose="020B0604030504040204" pitchFamily="34" charset="-120"/>
              </a:rPr>
              <a:t>的重磅收購。此舉不僅讓亞培將非侵入性腸癌篩檢產品</a:t>
            </a:r>
            <a:r>
              <a:rPr lang="en-US" altLang="zh-TW" sz="1100" dirty="0">
                <a:latin typeface="微軟正黑體" panose="020B0604030504040204" pitchFamily="34" charset="-120"/>
                <a:ea typeface="微軟正黑體" panose="020B0604030504040204" pitchFamily="34" charset="-120"/>
              </a:rPr>
              <a:t>Cologuard</a:t>
            </a:r>
            <a:r>
              <a:rPr lang="zh-TW" altLang="en-US" sz="1100" dirty="0">
                <a:latin typeface="微軟正黑體" panose="020B0604030504040204" pitchFamily="34" charset="-120"/>
                <a:ea typeface="微軟正黑體" panose="020B0604030504040204" pitchFamily="34" charset="-120"/>
              </a:rPr>
              <a:t>及精準腫瘤學產品</a:t>
            </a:r>
            <a:r>
              <a:rPr lang="en-US" altLang="zh-TW" sz="1100" dirty="0">
                <a:latin typeface="微軟正黑體" panose="020B0604030504040204" pitchFamily="34" charset="-120"/>
                <a:ea typeface="微軟正黑體" panose="020B0604030504040204" pitchFamily="34" charset="-120"/>
              </a:rPr>
              <a:t>Oncotype DX</a:t>
            </a:r>
            <a:r>
              <a:rPr lang="zh-TW" altLang="en-US" sz="1100" dirty="0">
                <a:latin typeface="微軟正黑體" panose="020B0604030504040204" pitchFamily="34" charset="-120"/>
                <a:ea typeface="微軟正黑體" panose="020B0604030504040204" pitchFamily="34" charset="-120"/>
              </a:rPr>
              <a:t>納入麾下，更讓亞培切入美國規模逾</a:t>
            </a:r>
            <a:r>
              <a:rPr lang="en-US" altLang="zh-TW" sz="1100" dirty="0">
                <a:latin typeface="微軟正黑體" panose="020B0604030504040204" pitchFamily="34" charset="-120"/>
                <a:ea typeface="微軟正黑體" panose="020B0604030504040204" pitchFamily="34" charset="-120"/>
              </a:rPr>
              <a:t>600</a:t>
            </a:r>
            <a:r>
              <a:rPr lang="zh-TW" altLang="en-US" sz="1100" dirty="0">
                <a:latin typeface="微軟正黑體" panose="020B0604030504040204" pitchFamily="34" charset="-120"/>
                <a:ea typeface="微軟正黑體" panose="020B0604030504040204" pitchFamily="34" charset="-120"/>
              </a:rPr>
              <a:t>億美元的癌症早期篩檢與精準醫療市場，成為該領域的重要領導者之一。</a:t>
            </a:r>
            <a:endParaRPr lang="en-US" altLang="zh-TW" sz="1100" dirty="0">
              <a:latin typeface="微軟正黑體" panose="020B0604030504040204" pitchFamily="34" charset="-120"/>
              <a:ea typeface="微軟正黑體" panose="020B0604030504040204" pitchFamily="34" charset="-120"/>
            </a:endParaRPr>
          </a:p>
        </p:txBody>
      </p:sp>
      <p:sp>
        <p:nvSpPr>
          <p:cNvPr id="7" name="矩形 6"/>
          <p:cNvSpPr/>
          <p:nvPr/>
        </p:nvSpPr>
        <p:spPr>
          <a:xfrm>
            <a:off x="461487" y="6547585"/>
            <a:ext cx="7338900" cy="207749"/>
          </a:xfrm>
          <a:prstGeom prst="rect">
            <a:avLst/>
          </a:prstGeom>
        </p:spPr>
        <p:txBody>
          <a:bodyPr wrap="square">
            <a:spAutoFit/>
          </a:bodyPr>
          <a:lstStyle/>
          <a:p>
            <a:r>
              <a:rPr lang="zh-TW" altLang="en-US" sz="750" dirty="0">
                <a:latin typeface="微軟正黑體" panose="020B0604030504040204" pitchFamily="34" charset="-120"/>
                <a:ea typeface="微軟正黑體" panose="020B0604030504040204" pitchFamily="34" charset="-120"/>
              </a:rPr>
              <a:t>資料來源：官網、年報、新聞來源、</a:t>
            </a:r>
            <a:r>
              <a:rPr lang="en-US" altLang="zh-TW" sz="750" dirty="0" err="1">
                <a:latin typeface="微軟正黑體" panose="020B0604030504040204" pitchFamily="34" charset="-120"/>
                <a:ea typeface="微軟正黑體" panose="020B0604030504040204" pitchFamily="34" charset="-120"/>
              </a:rPr>
              <a:t>CompaniesMarketCap</a:t>
            </a:r>
            <a:r>
              <a:rPr lang="zh-TW" altLang="en-US" sz="750" dirty="0">
                <a:latin typeface="微軟正黑體" panose="020B0604030504040204" pitchFamily="34" charset="-120"/>
                <a:ea typeface="微軟正黑體" panose="020B0604030504040204" pitchFamily="34" charset="-120"/>
              </a:rPr>
              <a:t>、</a:t>
            </a:r>
            <a:r>
              <a:rPr lang="en-US" altLang="zh-TW" sz="750" dirty="0">
                <a:latin typeface="微軟正黑體" panose="020B0604030504040204" pitchFamily="34" charset="-120"/>
                <a:ea typeface="微軟正黑體" panose="020B0604030504040204" pitchFamily="34" charset="-120"/>
              </a:rPr>
              <a:t>Fortune</a:t>
            </a:r>
            <a:r>
              <a:rPr lang="zh-TW" altLang="en-US" sz="750" dirty="0">
                <a:latin typeface="微軟正黑體" panose="020B0604030504040204" pitchFamily="34" charset="-120"/>
                <a:ea typeface="微軟正黑體" panose="020B0604030504040204" pitchFamily="34" charset="-120"/>
              </a:rPr>
              <a:t>、</a:t>
            </a:r>
            <a:r>
              <a:rPr lang="en-US" altLang="zh-TW" sz="750" dirty="0">
                <a:latin typeface="微軟正黑體" panose="020B0604030504040204" pitchFamily="34" charset="-120"/>
                <a:ea typeface="微軟正黑體" panose="020B0604030504040204" pitchFamily="34" charset="-120"/>
              </a:rPr>
              <a:t>Brand Finance</a:t>
            </a:r>
          </a:p>
        </p:txBody>
      </p:sp>
      <p:sp>
        <p:nvSpPr>
          <p:cNvPr id="18" name="標題 38"/>
          <p:cNvSpPr txBox="1">
            <a:spLocks/>
          </p:cNvSpPr>
          <p:nvPr/>
        </p:nvSpPr>
        <p:spPr>
          <a:xfrm>
            <a:off x="448054" y="189928"/>
            <a:ext cx="7585680"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lnSpc>
                <a:spcPts val="4200"/>
              </a:lnSpc>
              <a:defRPr/>
            </a:pPr>
            <a:r>
              <a:rPr lang="zh-TW" altLang="en-US" sz="2400" dirty="0">
                <a:solidFill>
                  <a:schemeClr val="tx1">
                    <a:lumMod val="50000"/>
                    <a:lumOff val="50000"/>
                  </a:schemeClr>
                </a:solidFill>
              </a:rPr>
              <a:t>亞培</a:t>
            </a:r>
            <a:endParaRPr lang="en-US" altLang="zh-TW" sz="2400" dirty="0">
              <a:solidFill>
                <a:schemeClr val="tx1">
                  <a:lumMod val="50000"/>
                  <a:lumOff val="50000"/>
                </a:schemeClr>
              </a:solidFill>
            </a:endParaRPr>
          </a:p>
        </p:txBody>
      </p:sp>
      <p:pic>
        <p:nvPicPr>
          <p:cNvPr id="38" name="圖片 37"/>
          <p:cNvPicPr>
            <a:picLocks noChangeAspect="1"/>
          </p:cNvPicPr>
          <p:nvPr/>
        </p:nvPicPr>
        <p:blipFill>
          <a:blip r:embed="rId3"/>
          <a:stretch>
            <a:fillRect/>
          </a:stretch>
        </p:blipFill>
        <p:spPr>
          <a:xfrm>
            <a:off x="638491" y="4351808"/>
            <a:ext cx="1225403" cy="397799"/>
          </a:xfrm>
          <a:prstGeom prst="rect">
            <a:avLst/>
          </a:prstGeom>
        </p:spPr>
      </p:pic>
      <p:cxnSp>
        <p:nvCxnSpPr>
          <p:cNvPr id="21" name="直線接點 20">
            <a:extLst>
              <a:ext uri="{FF2B5EF4-FFF2-40B4-BE49-F238E27FC236}">
                <a16:creationId xmlns:a16="http://schemas.microsoft.com/office/drawing/2014/main" id="{A26FFA02-BC8E-4348-BE69-507F7E444674}"/>
              </a:ext>
            </a:extLst>
          </p:cNvPr>
          <p:cNvCxnSpPr/>
          <p:nvPr/>
        </p:nvCxnSpPr>
        <p:spPr>
          <a:xfrm>
            <a:off x="7101757" y="988389"/>
            <a:ext cx="1715711" cy="0"/>
          </a:xfrm>
          <a:prstGeom prst="line">
            <a:avLst/>
          </a:prstGeom>
          <a:ln w="19050">
            <a:solidFill>
              <a:schemeClr val="bg1">
                <a:lumMod val="75000"/>
              </a:schemeClr>
            </a:solidFill>
          </a:ln>
        </p:spPr>
        <p:style>
          <a:lnRef idx="1">
            <a:schemeClr val="accent6"/>
          </a:lnRef>
          <a:fillRef idx="0">
            <a:schemeClr val="accent6"/>
          </a:fillRef>
          <a:effectRef idx="0">
            <a:schemeClr val="accent6"/>
          </a:effectRef>
          <a:fontRef idx="minor">
            <a:schemeClr val="tx1"/>
          </a:fontRef>
        </p:style>
      </p:cxnSp>
      <p:sp>
        <p:nvSpPr>
          <p:cNvPr id="45" name="文字方塊 44"/>
          <p:cNvSpPr txBox="1"/>
          <p:nvPr/>
        </p:nvSpPr>
        <p:spPr>
          <a:xfrm>
            <a:off x="6660232" y="1196752"/>
            <a:ext cx="2478686"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t>#1</a:t>
            </a:r>
            <a:endParaRPr lang="zh-TW" altLang="en-US" sz="3600" dirty="0"/>
          </a:p>
        </p:txBody>
      </p:sp>
      <p:sp>
        <p:nvSpPr>
          <p:cNvPr id="46" name="矩形 45"/>
          <p:cNvSpPr/>
          <p:nvPr/>
        </p:nvSpPr>
        <p:spPr>
          <a:xfrm>
            <a:off x="6660232" y="1805264"/>
            <a:ext cx="2503780" cy="707886"/>
          </a:xfrm>
          <a:prstGeom prst="rect">
            <a:avLst/>
          </a:prstGeom>
        </p:spPr>
        <p:txBody>
          <a:bodyPr wrap="square">
            <a:spAutoFit/>
          </a:bodyPr>
          <a:lstStyle/>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全球醫療器材公司</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市值排名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algn="ct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rPr>
              <a:t>截至</a:t>
            </a: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2026/3/25)</a:t>
            </a:r>
            <a:endPar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
        <p:nvSpPr>
          <p:cNvPr id="47" name="矩形 46"/>
          <p:cNvSpPr/>
          <p:nvPr/>
        </p:nvSpPr>
        <p:spPr>
          <a:xfrm>
            <a:off x="6701247" y="3613876"/>
            <a:ext cx="2503783" cy="707886"/>
          </a:xfrm>
          <a:prstGeom prst="rect">
            <a:avLst/>
          </a:prstGeom>
        </p:spPr>
        <p:txBody>
          <a:bodyPr wrap="square">
            <a:spAutoFit/>
          </a:bodyPr>
          <a:lstStyle/>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全球醫療產品及設備行業</a:t>
            </a:r>
          </a:p>
          <a:p>
            <a:pPr algn="ctr"/>
            <a:r>
              <a:rPr lang="zh-TW" altLang="en-US" sz="1400" b="1" dirty="0">
                <a:solidFill>
                  <a:schemeClr val="tx1">
                    <a:lumMod val="85000"/>
                    <a:lumOff val="15000"/>
                  </a:schemeClr>
                </a:solidFill>
                <a:latin typeface="微軟正黑體" panose="020B0604030504040204" pitchFamily="34" charset="-120"/>
                <a:ea typeface="微軟正黑體" panose="020B0604030504040204" pitchFamily="34" charset="-120"/>
              </a:rPr>
              <a:t>獲利排名</a:t>
            </a:r>
            <a:endParaRPr lang="en-US" altLang="zh-TW" sz="1400" b="1" dirty="0">
              <a:solidFill>
                <a:schemeClr val="tx1">
                  <a:lumMod val="85000"/>
                  <a:lumOff val="15000"/>
                </a:schemeClr>
              </a:solidFill>
              <a:latin typeface="微軟正黑體" panose="020B0604030504040204" pitchFamily="34" charset="-120"/>
              <a:ea typeface="微軟正黑體" panose="020B0604030504040204" pitchFamily="34" charset="-120"/>
            </a:endParaRPr>
          </a:p>
          <a:p>
            <a:pPr algn="ctr"/>
            <a:r>
              <a:rPr lang="en-US" altLang="zh-TW" sz="1200" dirty="0">
                <a:solidFill>
                  <a:schemeClr val="tx1">
                    <a:lumMod val="85000"/>
                    <a:lumOff val="15000"/>
                  </a:schemeClr>
                </a:solidFill>
                <a:latin typeface="微軟正黑體" panose="020B0604030504040204" pitchFamily="34" charset="-120"/>
                <a:ea typeface="微軟正黑體" panose="020B0604030504040204" pitchFamily="34" charset="-120"/>
              </a:rPr>
              <a:t>(Fortune Global, 2025)</a:t>
            </a:r>
            <a:endParaRPr lang="zh-TW" altLang="en-US" sz="1200" dirty="0">
              <a:solidFill>
                <a:schemeClr val="tx1">
                  <a:lumMod val="85000"/>
                  <a:lumOff val="15000"/>
                </a:schemeClr>
              </a:solidFill>
              <a:latin typeface="微軟正黑體" panose="020B0604030504040204" pitchFamily="34" charset="-120"/>
              <a:ea typeface="微軟正黑體" panose="020B0604030504040204" pitchFamily="34" charset="-120"/>
            </a:endParaRPr>
          </a:p>
        </p:txBody>
      </p:sp>
      <p:sp>
        <p:nvSpPr>
          <p:cNvPr id="48" name="文字方塊 47"/>
          <p:cNvSpPr txBox="1"/>
          <p:nvPr/>
        </p:nvSpPr>
        <p:spPr>
          <a:xfrm>
            <a:off x="6660232" y="3023001"/>
            <a:ext cx="2495598"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t>#1</a:t>
            </a:r>
            <a:endParaRPr lang="zh-TW" altLang="en-US" sz="3600" dirty="0"/>
          </a:p>
        </p:txBody>
      </p:sp>
      <p:sp>
        <p:nvSpPr>
          <p:cNvPr id="49" name="矩形 48"/>
          <p:cNvSpPr/>
          <p:nvPr/>
        </p:nvSpPr>
        <p:spPr>
          <a:xfrm>
            <a:off x="6713928" y="5465965"/>
            <a:ext cx="2503783" cy="707886"/>
          </a:xfrm>
          <a:prstGeom prst="rect">
            <a:avLst/>
          </a:prstGeom>
        </p:spPr>
        <p:txBody>
          <a:bodyPr wrap="square">
            <a:spAutoFit/>
          </a:bodyPr>
          <a:lstStyle/>
          <a:p>
            <a:pPr lvl="0" algn="ctr"/>
            <a:r>
              <a:rPr lang="zh-TW" altLang="en-US" sz="1400" b="1" dirty="0">
                <a:solidFill>
                  <a:schemeClr val="tx1">
                    <a:lumMod val="85000"/>
                    <a:lumOff val="15000"/>
                  </a:schemeClr>
                </a:solidFill>
                <a:latin typeface="微軟正黑體" panose="020B0604030504040204" pitchFamily="34" charset="-120"/>
              </a:rPr>
              <a:t>全球醫療器材</a:t>
            </a:r>
            <a:endParaRPr lang="en-US" altLang="zh-TW" sz="1400" b="1" dirty="0">
              <a:solidFill>
                <a:schemeClr val="tx1">
                  <a:lumMod val="85000"/>
                  <a:lumOff val="15000"/>
                </a:schemeClr>
              </a:solidFill>
              <a:latin typeface="微軟正黑體" panose="020B0604030504040204" pitchFamily="34" charset="-120"/>
            </a:endParaRPr>
          </a:p>
          <a:p>
            <a:pPr lvl="0" algn="ctr"/>
            <a:r>
              <a:rPr lang="zh-TW" altLang="en-US" sz="1400" b="1" dirty="0">
                <a:solidFill>
                  <a:schemeClr val="tx1">
                    <a:lumMod val="85000"/>
                    <a:lumOff val="15000"/>
                  </a:schemeClr>
                </a:solidFill>
                <a:latin typeface="微軟正黑體" panose="020B0604030504040204" pitchFamily="34" charset="-120"/>
              </a:rPr>
              <a:t>品牌價值</a:t>
            </a:r>
            <a:endParaRPr lang="en-US" altLang="zh-TW" sz="1400" b="1" dirty="0">
              <a:solidFill>
                <a:schemeClr val="tx1">
                  <a:lumMod val="85000"/>
                  <a:lumOff val="15000"/>
                </a:schemeClr>
              </a:solidFill>
              <a:latin typeface="微軟正黑體" panose="020B0604030504040204" pitchFamily="34" charset="-120"/>
            </a:endParaRPr>
          </a:p>
          <a:p>
            <a:pPr lvl="0" algn="ctr"/>
            <a:r>
              <a:rPr lang="en-US" altLang="zh-TW" sz="1200" dirty="0">
                <a:solidFill>
                  <a:schemeClr val="tx1">
                    <a:lumMod val="85000"/>
                    <a:lumOff val="15000"/>
                  </a:schemeClr>
                </a:solidFill>
                <a:latin typeface="微軟正黑體" panose="020B0604030504040204" pitchFamily="34" charset="-120"/>
              </a:rPr>
              <a:t>(Brand Finance, 2025)</a:t>
            </a:r>
            <a:endParaRPr lang="en-US" altLang="zh-TW" sz="1400" dirty="0">
              <a:solidFill>
                <a:schemeClr val="tx1">
                  <a:lumMod val="85000"/>
                  <a:lumOff val="15000"/>
                </a:schemeClr>
              </a:solidFill>
              <a:latin typeface="微軟正黑體" panose="020B0604030504040204" pitchFamily="34" charset="-120"/>
            </a:endParaRPr>
          </a:p>
        </p:txBody>
      </p:sp>
      <p:sp>
        <p:nvSpPr>
          <p:cNvPr id="50" name="文字方塊 49"/>
          <p:cNvSpPr txBox="1"/>
          <p:nvPr/>
        </p:nvSpPr>
        <p:spPr>
          <a:xfrm>
            <a:off x="6660232" y="4849250"/>
            <a:ext cx="2495598" cy="646331"/>
          </a:xfrm>
          <a:prstGeom prst="rect">
            <a:avLst/>
          </a:prstGeom>
          <a:noFill/>
        </p:spPr>
        <p:txBody>
          <a:bodyPr wrap="square" rtlCol="0">
            <a:spAutoFit/>
          </a:bodyPr>
          <a:lstStyle>
            <a:defPPr>
              <a:defRPr lang="zh-TW"/>
            </a:defPPr>
            <a:lvl1pPr algn="ctr">
              <a:defRPr sz="4000" b="1">
                <a:solidFill>
                  <a:srgbClr val="9D0101"/>
                </a:solidFill>
                <a:effectLst>
                  <a:outerShdw blurRad="38100" dist="38100" dir="2700000" algn="tl">
                    <a:srgbClr val="000000">
                      <a:alpha val="43137"/>
                    </a:srgbClr>
                  </a:outerShdw>
                </a:effectLst>
              </a:defRPr>
            </a:lvl1pPr>
          </a:lstStyle>
          <a:p>
            <a:r>
              <a:rPr lang="en-US" altLang="zh-TW" sz="3600" dirty="0"/>
              <a:t>#3</a:t>
            </a:r>
            <a:endParaRPr lang="zh-TW" altLang="en-US" sz="3600" dirty="0"/>
          </a:p>
        </p:txBody>
      </p:sp>
      <p:sp>
        <p:nvSpPr>
          <p:cNvPr id="55" name="矩形 54">
            <a:extLst>
              <a:ext uri="{FF2B5EF4-FFF2-40B4-BE49-F238E27FC236}">
                <a16:creationId xmlns:a16="http://schemas.microsoft.com/office/drawing/2014/main" id="{2699700B-649E-4B41-BD33-38C3C73BF142}"/>
              </a:ext>
            </a:extLst>
          </p:cNvPr>
          <p:cNvSpPr/>
          <p:nvPr/>
        </p:nvSpPr>
        <p:spPr>
          <a:xfrm>
            <a:off x="461486" y="970378"/>
            <a:ext cx="5946641" cy="3315872"/>
          </a:xfrm>
          <a:prstGeom prst="rect">
            <a:avLst/>
          </a:prstGeom>
          <a:noFill/>
          <a:ln w="19050">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圖片 12"/>
          <p:cNvPicPr>
            <a:picLocks noChangeAspect="1"/>
          </p:cNvPicPr>
          <p:nvPr/>
        </p:nvPicPr>
        <p:blipFill>
          <a:blip r:embed="rId4"/>
          <a:stretch>
            <a:fillRect/>
          </a:stretch>
        </p:blipFill>
        <p:spPr>
          <a:xfrm>
            <a:off x="638492" y="789727"/>
            <a:ext cx="1225403" cy="370364"/>
          </a:xfrm>
          <a:prstGeom prst="rect">
            <a:avLst/>
          </a:prstGeom>
        </p:spPr>
      </p:pic>
      <p:pic>
        <p:nvPicPr>
          <p:cNvPr id="36" name="圖片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35293" y="409569"/>
            <a:ext cx="1757355" cy="449590"/>
          </a:xfrm>
          <a:prstGeom prst="rect">
            <a:avLst/>
          </a:prstGeom>
        </p:spPr>
      </p:pic>
      <p:sp>
        <p:nvSpPr>
          <p:cNvPr id="51" name="圓角矩形 50">
            <a:extLst>
              <a:ext uri="{FF2B5EF4-FFF2-40B4-BE49-F238E27FC236}">
                <a16:creationId xmlns:a16="http://schemas.microsoft.com/office/drawing/2014/main" id="{9E838F41-21C5-FC42-B613-E00CAC48914B}"/>
              </a:ext>
            </a:extLst>
          </p:cNvPr>
          <p:cNvSpPr/>
          <p:nvPr/>
        </p:nvSpPr>
        <p:spPr>
          <a:xfrm>
            <a:off x="2054689" y="4383195"/>
            <a:ext cx="4152496" cy="30060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業務及地域多元；美國以外地區佔營收達六成</a:t>
            </a:r>
          </a:p>
        </p:txBody>
      </p:sp>
      <p:graphicFrame>
        <p:nvGraphicFramePr>
          <p:cNvPr id="37" name="圖表 36"/>
          <p:cNvGraphicFramePr/>
          <p:nvPr>
            <p:extLst>
              <p:ext uri="{D42A27DB-BD31-4B8C-83A1-F6EECF244321}">
                <p14:modId xmlns:p14="http://schemas.microsoft.com/office/powerpoint/2010/main" val="2808429763"/>
              </p:ext>
            </p:extLst>
          </p:nvPr>
        </p:nvGraphicFramePr>
        <p:xfrm>
          <a:off x="3633546" y="4749607"/>
          <a:ext cx="2708503" cy="1672872"/>
        </p:xfrm>
        <a:graphic>
          <a:graphicData uri="http://schemas.openxmlformats.org/drawingml/2006/chart">
            <c:chart xmlns:c="http://schemas.openxmlformats.org/drawingml/2006/chart" xmlns:r="http://schemas.openxmlformats.org/officeDocument/2006/relationships" r:id="rId6"/>
          </a:graphicData>
        </a:graphic>
      </p:graphicFrame>
      <p:cxnSp>
        <p:nvCxnSpPr>
          <p:cNvPr id="39" name="直線接點 38"/>
          <p:cNvCxnSpPr/>
          <p:nvPr/>
        </p:nvCxnSpPr>
        <p:spPr>
          <a:xfrm>
            <a:off x="3792612" y="4898104"/>
            <a:ext cx="0" cy="1382047"/>
          </a:xfrm>
          <a:prstGeom prst="line">
            <a:avLst/>
          </a:prstGeom>
          <a:ln>
            <a:solidFill>
              <a:srgbClr val="E4E4E4"/>
            </a:solidFill>
          </a:ln>
        </p:spPr>
        <p:style>
          <a:lnRef idx="1">
            <a:schemeClr val="accent1"/>
          </a:lnRef>
          <a:fillRef idx="0">
            <a:schemeClr val="accent1"/>
          </a:fillRef>
          <a:effectRef idx="0">
            <a:schemeClr val="accent1"/>
          </a:effectRef>
          <a:fontRef idx="minor">
            <a:schemeClr val="tx1"/>
          </a:fontRef>
        </p:style>
      </p:cxnSp>
      <p:sp>
        <p:nvSpPr>
          <p:cNvPr id="43" name="文字方塊 42">
            <a:extLst>
              <a:ext uri="{FF2B5EF4-FFF2-40B4-BE49-F238E27FC236}">
                <a16:creationId xmlns:a16="http://schemas.microsoft.com/office/drawing/2014/main" id="{E3C3DCAB-5062-40BB-9FFE-8E619113AD7C}"/>
              </a:ext>
            </a:extLst>
          </p:cNvPr>
          <p:cNvSpPr txBox="1"/>
          <p:nvPr/>
        </p:nvSpPr>
        <p:spPr>
          <a:xfrm>
            <a:off x="4204637" y="5237856"/>
            <a:ext cx="750872" cy="553998"/>
          </a:xfrm>
          <a:prstGeom prst="rect">
            <a:avLst/>
          </a:prstGeom>
          <a:noFill/>
        </p:spPr>
        <p:txBody>
          <a:bodyPr wrap="square" rtlCol="0">
            <a:spAutoFit/>
          </a:bodyPr>
          <a:lstStyle>
            <a:defPPr>
              <a:defRPr lang="zh-TW"/>
            </a:defPPr>
            <a:lvl1pPr algn="ctr">
              <a:defRPr sz="1000" b="1">
                <a:latin typeface="微軟正黑體" panose="020B0604030504040204" pitchFamily="34" charset="-120"/>
                <a:ea typeface="微軟正黑體" panose="020B0604030504040204" pitchFamily="34" charset="-120"/>
              </a:defRPr>
            </a:lvl1pPr>
          </a:lstStyle>
          <a:p>
            <a:r>
              <a:rPr lang="en-US" altLang="zh-TW" dirty="0"/>
              <a:t>2025</a:t>
            </a:r>
          </a:p>
          <a:p>
            <a:r>
              <a:rPr lang="zh-TW" altLang="en-US" dirty="0"/>
              <a:t>淨營收</a:t>
            </a:r>
            <a:endParaRPr lang="en-US" altLang="zh-TW" dirty="0"/>
          </a:p>
          <a:p>
            <a:r>
              <a:rPr lang="en-US" altLang="zh-TW" dirty="0"/>
              <a:t>$443</a:t>
            </a:r>
            <a:r>
              <a:rPr lang="zh-TW" altLang="en-US" dirty="0"/>
              <a:t>億</a:t>
            </a:r>
          </a:p>
        </p:txBody>
      </p:sp>
      <p:sp>
        <p:nvSpPr>
          <p:cNvPr id="56" name="文字方塊 55"/>
          <p:cNvSpPr txBox="1"/>
          <p:nvPr/>
        </p:nvSpPr>
        <p:spPr>
          <a:xfrm>
            <a:off x="2310856" y="4721067"/>
            <a:ext cx="952851" cy="292388"/>
          </a:xfrm>
          <a:prstGeom prst="rect">
            <a:avLst/>
          </a:prstGeom>
          <a:noFill/>
        </p:spPr>
        <p:txBody>
          <a:bodyPr wrap="square" rtlCol="0">
            <a:spAutoFit/>
          </a:bodyPr>
          <a:lstStyle/>
          <a:p>
            <a:r>
              <a:rPr lang="zh-TW" altLang="en-US" sz="1300" b="1" dirty="0">
                <a:latin typeface="微軟正黑體" panose="020B0604030504040204" pitchFamily="34" charset="-120"/>
                <a:ea typeface="微軟正黑體" panose="020B0604030504040204" pitchFamily="34" charset="-120"/>
              </a:rPr>
              <a:t>業務來源</a:t>
            </a:r>
          </a:p>
        </p:txBody>
      </p:sp>
      <p:sp>
        <p:nvSpPr>
          <p:cNvPr id="58" name="文字方塊 57"/>
          <p:cNvSpPr txBox="1"/>
          <p:nvPr/>
        </p:nvSpPr>
        <p:spPr>
          <a:xfrm>
            <a:off x="5318604" y="4702807"/>
            <a:ext cx="952851" cy="276999"/>
          </a:xfrm>
          <a:prstGeom prst="rect">
            <a:avLst/>
          </a:prstGeom>
          <a:noFill/>
        </p:spPr>
        <p:txBody>
          <a:bodyPr wrap="square" rtlCol="0">
            <a:spAutoFit/>
          </a:bodyPr>
          <a:lstStyle/>
          <a:p>
            <a:pPr algn="ctr"/>
            <a:r>
              <a:rPr lang="zh-TW" altLang="en-US" sz="1200" b="1" dirty="0">
                <a:latin typeface="微軟正黑體" panose="020B0604030504040204" pitchFamily="34" charset="-120"/>
                <a:ea typeface="微軟正黑體" panose="020B0604030504040204" pitchFamily="34" charset="-120"/>
              </a:rPr>
              <a:t>地區來源</a:t>
            </a:r>
          </a:p>
        </p:txBody>
      </p:sp>
      <p:graphicFrame>
        <p:nvGraphicFramePr>
          <p:cNvPr id="61" name="圖表 60"/>
          <p:cNvGraphicFramePr/>
          <p:nvPr>
            <p:extLst>
              <p:ext uri="{D42A27DB-BD31-4B8C-83A1-F6EECF244321}">
                <p14:modId xmlns:p14="http://schemas.microsoft.com/office/powerpoint/2010/main" val="3800341033"/>
              </p:ext>
            </p:extLst>
          </p:nvPr>
        </p:nvGraphicFramePr>
        <p:xfrm>
          <a:off x="513019" y="4786872"/>
          <a:ext cx="2708503" cy="1672872"/>
        </p:xfrm>
        <a:graphic>
          <a:graphicData uri="http://schemas.openxmlformats.org/drawingml/2006/chart">
            <c:chart xmlns:c="http://schemas.openxmlformats.org/drawingml/2006/chart" xmlns:r="http://schemas.openxmlformats.org/officeDocument/2006/relationships" r:id="rId7"/>
          </a:graphicData>
        </a:graphic>
      </p:graphicFrame>
      <p:sp>
        <p:nvSpPr>
          <p:cNvPr id="62" name="文字方塊 61">
            <a:extLst>
              <a:ext uri="{FF2B5EF4-FFF2-40B4-BE49-F238E27FC236}">
                <a16:creationId xmlns:a16="http://schemas.microsoft.com/office/drawing/2014/main" id="{E3C3DCAB-5062-40BB-9FFE-8E619113AD7C}"/>
              </a:ext>
            </a:extLst>
          </p:cNvPr>
          <p:cNvSpPr txBox="1"/>
          <p:nvPr/>
        </p:nvSpPr>
        <p:spPr>
          <a:xfrm>
            <a:off x="915813" y="5245476"/>
            <a:ext cx="1080120" cy="553998"/>
          </a:xfrm>
          <a:prstGeom prst="rect">
            <a:avLst/>
          </a:prstGeom>
          <a:noFill/>
        </p:spPr>
        <p:txBody>
          <a:bodyPr wrap="square" rtlCol="0">
            <a:spAutoFit/>
          </a:bodyPr>
          <a:lstStyle>
            <a:defPPr>
              <a:defRPr lang="zh-TW"/>
            </a:defPPr>
            <a:lvl1pPr algn="ctr">
              <a:defRPr sz="1000" b="1">
                <a:latin typeface="微軟正黑體" panose="020B0604030504040204" pitchFamily="34" charset="-120"/>
                <a:ea typeface="微軟正黑體" panose="020B0604030504040204" pitchFamily="34" charset="-120"/>
              </a:defRPr>
            </a:lvl1pPr>
          </a:lstStyle>
          <a:p>
            <a:r>
              <a:rPr lang="en-US" altLang="zh-TW" dirty="0"/>
              <a:t>2025</a:t>
            </a:r>
          </a:p>
          <a:p>
            <a:r>
              <a:rPr lang="zh-TW" altLang="en-US" dirty="0"/>
              <a:t>淨營收</a:t>
            </a:r>
            <a:endParaRPr lang="en-US" altLang="zh-TW" dirty="0"/>
          </a:p>
          <a:p>
            <a:r>
              <a:rPr lang="en-US" altLang="zh-TW" dirty="0"/>
              <a:t>$443</a:t>
            </a:r>
            <a:r>
              <a:rPr lang="zh-TW" altLang="en-US" dirty="0"/>
              <a:t>億</a:t>
            </a:r>
          </a:p>
        </p:txBody>
      </p:sp>
      <p:sp>
        <p:nvSpPr>
          <p:cNvPr id="12" name="圓角矩形 11"/>
          <p:cNvSpPr/>
          <p:nvPr/>
        </p:nvSpPr>
        <p:spPr>
          <a:xfrm>
            <a:off x="2451100" y="5153908"/>
            <a:ext cx="1220787" cy="224401"/>
          </a:xfrm>
          <a:prstGeom prst="round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p:cNvSpPr txBox="1"/>
          <p:nvPr/>
        </p:nvSpPr>
        <p:spPr>
          <a:xfrm>
            <a:off x="2383253" y="5113704"/>
            <a:ext cx="1350959" cy="200055"/>
          </a:xfrm>
          <a:prstGeom prst="rect">
            <a:avLst/>
          </a:prstGeom>
          <a:noFill/>
        </p:spPr>
        <p:txBody>
          <a:bodyPr wrap="square" rtlCol="0">
            <a:spAutoFit/>
          </a:bodyPr>
          <a:lstStyle/>
          <a:p>
            <a:r>
              <a:rPr lang="zh-TW" altLang="en-US" sz="700" dirty="0">
                <a:solidFill>
                  <a:schemeClr val="tx1">
                    <a:lumMod val="75000"/>
                    <a:lumOff val="25000"/>
                  </a:schemeClr>
                </a:solidFill>
              </a:rPr>
              <a:t>如快篩試劑及實驗室檢測收入</a:t>
            </a:r>
          </a:p>
        </p:txBody>
      </p:sp>
      <p:sp>
        <p:nvSpPr>
          <p:cNvPr id="66" name="圓角矩形 65"/>
          <p:cNvSpPr/>
          <p:nvPr/>
        </p:nvSpPr>
        <p:spPr>
          <a:xfrm>
            <a:off x="2451100" y="5533525"/>
            <a:ext cx="1220785" cy="224401"/>
          </a:xfrm>
          <a:prstGeom prst="round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文字方塊 62"/>
          <p:cNvSpPr txBox="1"/>
          <p:nvPr/>
        </p:nvSpPr>
        <p:spPr>
          <a:xfrm>
            <a:off x="2383252" y="5498316"/>
            <a:ext cx="1396659" cy="307777"/>
          </a:xfrm>
          <a:prstGeom prst="rect">
            <a:avLst/>
          </a:prstGeom>
          <a:noFill/>
        </p:spPr>
        <p:txBody>
          <a:bodyPr wrap="square" rtlCol="0">
            <a:spAutoFit/>
          </a:bodyPr>
          <a:lstStyle/>
          <a:p>
            <a:pPr hangingPunct="0"/>
            <a:r>
              <a:rPr lang="zh-TW" altLang="en-US" sz="700" dirty="0">
                <a:solidFill>
                  <a:schemeClr val="tx1">
                    <a:lumMod val="75000"/>
                    <a:lumOff val="25000"/>
                  </a:schemeClr>
                </a:solidFill>
              </a:rPr>
              <a:t>糖尿病照護、心血管疾病、心律調整等</a:t>
            </a:r>
          </a:p>
        </p:txBody>
      </p:sp>
      <p:sp>
        <p:nvSpPr>
          <p:cNvPr id="68" name="圓角矩形 67"/>
          <p:cNvSpPr/>
          <p:nvPr/>
        </p:nvSpPr>
        <p:spPr>
          <a:xfrm>
            <a:off x="2457039" y="5916644"/>
            <a:ext cx="1214847" cy="224401"/>
          </a:xfrm>
          <a:prstGeom prst="roundRect">
            <a:avLst/>
          </a:prstGeom>
          <a:solidFill>
            <a:schemeClr val="accent3">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文字方塊 63"/>
          <p:cNvSpPr txBox="1"/>
          <p:nvPr/>
        </p:nvSpPr>
        <p:spPr>
          <a:xfrm>
            <a:off x="2383253" y="5882927"/>
            <a:ext cx="1396658" cy="307777"/>
          </a:xfrm>
          <a:prstGeom prst="rect">
            <a:avLst/>
          </a:prstGeom>
          <a:noFill/>
        </p:spPr>
        <p:txBody>
          <a:bodyPr wrap="square" rtlCol="0">
            <a:spAutoFit/>
          </a:bodyPr>
          <a:lstStyle/>
          <a:p>
            <a:r>
              <a:rPr lang="zh-TW" altLang="en-US" sz="700" dirty="0">
                <a:solidFill>
                  <a:schemeClr val="tx1">
                    <a:lumMod val="75000"/>
                    <a:lumOff val="25000"/>
                  </a:schemeClr>
                </a:solidFill>
              </a:rPr>
              <a:t>區分為兒童及成人用營養品兩大類別</a:t>
            </a:r>
          </a:p>
        </p:txBody>
      </p:sp>
    </p:spTree>
    <p:extLst>
      <p:ext uri="{BB962C8B-B14F-4D97-AF65-F5344CB8AC3E}">
        <p14:creationId xmlns:p14="http://schemas.microsoft.com/office/powerpoint/2010/main" val="3423886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圖片 25">
            <a:extLst>
              <a:ext uri="{FF2B5EF4-FFF2-40B4-BE49-F238E27FC236}">
                <a16:creationId xmlns:a16="http://schemas.microsoft.com/office/drawing/2014/main" id="{91DB63E9-9357-4479-82BC-4DCDEB21580C}"/>
              </a:ext>
            </a:extLst>
          </p:cNvPr>
          <p:cNvPicPr>
            <a:picLocks noChangeAspect="1"/>
          </p:cNvPicPr>
          <p:nvPr/>
        </p:nvPicPr>
        <p:blipFill rotWithShape="1">
          <a:blip r:embed="rId3"/>
          <a:srcRect b="4044"/>
          <a:stretch/>
        </p:blipFill>
        <p:spPr>
          <a:xfrm>
            <a:off x="3358159" y="3859135"/>
            <a:ext cx="1205183" cy="238997"/>
          </a:xfrm>
          <a:prstGeom prst="rect">
            <a:avLst/>
          </a:prstGeom>
        </p:spPr>
      </p:pic>
      <p:sp>
        <p:nvSpPr>
          <p:cNvPr id="83" name="標題 1">
            <a:extLst>
              <a:ext uri="{FF2B5EF4-FFF2-40B4-BE49-F238E27FC236}">
                <a16:creationId xmlns:a16="http://schemas.microsoft.com/office/drawing/2014/main" id="{C8E7F459-A77B-4745-8DFF-B5862E0B5690}"/>
              </a:ext>
            </a:extLst>
          </p:cNvPr>
          <p:cNvSpPr txBox="1">
            <a:spLocks noChangeArrowheads="1"/>
          </p:cNvSpPr>
          <p:nvPr/>
        </p:nvSpPr>
        <p:spPr>
          <a:xfrm>
            <a:off x="883747" y="142648"/>
            <a:ext cx="7311217"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全球最會賺錢的醫療器材公司</a:t>
            </a:r>
          </a:p>
        </p:txBody>
      </p:sp>
      <p:sp>
        <p:nvSpPr>
          <p:cNvPr id="30" name="圓角矩形 29">
            <a:extLst>
              <a:ext uri="{FF2B5EF4-FFF2-40B4-BE49-F238E27FC236}">
                <a16:creationId xmlns:a16="http://schemas.microsoft.com/office/drawing/2014/main" id="{9E838F41-21C5-FC42-B613-E00CAC48914B}"/>
              </a:ext>
            </a:extLst>
          </p:cNvPr>
          <p:cNvSpPr/>
          <p:nvPr/>
        </p:nvSpPr>
        <p:spPr>
          <a:xfrm>
            <a:off x="229944" y="925187"/>
            <a:ext cx="4369118"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亞培位居全球醫療器材公司市值第一</a:t>
            </a:r>
          </a:p>
        </p:txBody>
      </p:sp>
      <p:pic>
        <p:nvPicPr>
          <p:cNvPr id="52" name="圖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35293" y="409569"/>
            <a:ext cx="1757355" cy="449590"/>
          </a:xfrm>
          <a:prstGeom prst="rect">
            <a:avLst/>
          </a:prstGeom>
        </p:spPr>
      </p:pic>
      <p:sp>
        <p:nvSpPr>
          <p:cNvPr id="6" name="Rectangle 2"/>
          <p:cNvSpPr>
            <a:spLocks noChangeArrowheads="1"/>
          </p:cNvSpPr>
          <p:nvPr/>
        </p:nvSpPr>
        <p:spPr bwMode="auto">
          <a:xfrm>
            <a:off x="9468544" y="105273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9" name="Rectangle 18"/>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2" name="圓角矩形 121">
            <a:extLst>
              <a:ext uri="{FF2B5EF4-FFF2-40B4-BE49-F238E27FC236}">
                <a16:creationId xmlns:a16="http://schemas.microsoft.com/office/drawing/2014/main" id="{9E838F41-21C5-FC42-B613-E00CAC48914B}"/>
              </a:ext>
            </a:extLst>
          </p:cNvPr>
          <p:cNvSpPr/>
          <p:nvPr/>
        </p:nvSpPr>
        <p:spPr>
          <a:xfrm>
            <a:off x="4724400" y="925187"/>
            <a:ext cx="4218394"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latin typeface="+mn-ea"/>
              </a:rPr>
              <a:t>《Fortune》</a:t>
            </a:r>
            <a:r>
              <a:rPr lang="zh-TW" altLang="en-US" sz="1400" b="1" dirty="0">
                <a:latin typeface="+mn-ea"/>
              </a:rPr>
              <a:t>全球同產業營收第二，獲利第一</a:t>
            </a:r>
            <a:endParaRPr lang="en-US" altLang="zh-TW" sz="1400" b="1" dirty="0">
              <a:latin typeface="+mn-ea"/>
            </a:endParaRPr>
          </a:p>
        </p:txBody>
      </p:sp>
      <p:sp>
        <p:nvSpPr>
          <p:cNvPr id="123" name="文字方塊 122"/>
          <p:cNvSpPr txBox="1"/>
          <p:nvPr/>
        </p:nvSpPr>
        <p:spPr>
          <a:xfrm>
            <a:off x="4666584" y="1237280"/>
            <a:ext cx="1512168" cy="369332"/>
          </a:xfrm>
          <a:prstGeom prst="rect">
            <a:avLst/>
          </a:prstGeom>
          <a:noFill/>
        </p:spPr>
        <p:txBody>
          <a:bodyPr wrap="square" rtlCol="0">
            <a:spAutoFit/>
          </a:bodyPr>
          <a:lstStyle/>
          <a:p>
            <a:r>
              <a:rPr lang="en-US" altLang="zh-TW" b="1" dirty="0">
                <a:latin typeface="微軟正黑體" panose="020B0604030504040204" pitchFamily="34" charset="-120"/>
                <a:ea typeface="微軟正黑體" panose="020B0604030504040204" pitchFamily="34" charset="-120"/>
              </a:rPr>
              <a:t>Global 500</a:t>
            </a:r>
            <a:endParaRPr lang="zh-TW" altLang="en-US" b="1" dirty="0">
              <a:latin typeface="微軟正黑體" panose="020B0604030504040204" pitchFamily="34" charset="-120"/>
              <a:ea typeface="微軟正黑體" panose="020B0604030504040204" pitchFamily="34" charset="-120"/>
            </a:endParaRPr>
          </a:p>
        </p:txBody>
      </p:sp>
      <p:grpSp>
        <p:nvGrpSpPr>
          <p:cNvPr id="124" name="群組 123"/>
          <p:cNvGrpSpPr/>
          <p:nvPr/>
        </p:nvGrpSpPr>
        <p:grpSpPr>
          <a:xfrm>
            <a:off x="7524327" y="1335435"/>
            <a:ext cx="1415331" cy="167580"/>
            <a:chOff x="6661915" y="1214374"/>
            <a:chExt cx="2946071" cy="167580"/>
          </a:xfrm>
        </p:grpSpPr>
        <p:sp>
          <p:nvSpPr>
            <p:cNvPr id="125" name="矩形 124"/>
            <p:cNvSpPr/>
            <p:nvPr/>
          </p:nvSpPr>
          <p:spPr>
            <a:xfrm>
              <a:off x="6811804" y="1214374"/>
              <a:ext cx="2796182" cy="167580"/>
            </a:xfrm>
            <a:prstGeom prst="rect">
              <a:avLst/>
            </a:prstGeom>
            <a:solidFill>
              <a:schemeClr val="bg1"/>
            </a:solidFill>
            <a:ln>
              <a:noFill/>
            </a:ln>
            <a:effectLst>
              <a:outerShdw blurRad="889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TW" altLang="en-US" sz="900" b="1" dirty="0">
                  <a:solidFill>
                    <a:schemeClr val="tx1">
                      <a:lumMod val="85000"/>
                      <a:lumOff val="15000"/>
                    </a:schemeClr>
                  </a:solidFill>
                  <a:latin typeface="微軟正黑體" panose="020B0604030504040204" pitchFamily="34" charset="-120"/>
                  <a:ea typeface="微軟正黑體" panose="020B0604030504040204" pitchFamily="34" charset="-120"/>
                </a:rPr>
                <a:t>醫療產品及設備</a:t>
              </a:r>
              <a:endParaRPr lang="zh-TW" altLang="en-US" sz="900" b="1" dirty="0">
                <a:solidFill>
                  <a:schemeClr val="tx1"/>
                </a:solidFill>
                <a:latin typeface="微軟正黑體" panose="020B0604030504040204" pitchFamily="34" charset="-120"/>
                <a:ea typeface="微軟正黑體" panose="020B0604030504040204" pitchFamily="34" charset="-120"/>
              </a:endParaRPr>
            </a:p>
          </p:txBody>
        </p:sp>
        <p:sp>
          <p:nvSpPr>
            <p:cNvPr id="126" name="矩形 125"/>
            <p:cNvSpPr/>
            <p:nvPr/>
          </p:nvSpPr>
          <p:spPr>
            <a:xfrm>
              <a:off x="6661915" y="1214374"/>
              <a:ext cx="983379" cy="167580"/>
            </a:xfrm>
            <a:prstGeom prst="rect">
              <a:avLst/>
            </a:prstGeom>
            <a:solidFill>
              <a:srgbClr val="159B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900" b="1" dirty="0">
                  <a:latin typeface="微軟正黑體" panose="020B0604030504040204" pitchFamily="34" charset="-120"/>
                  <a:ea typeface="微軟正黑體" panose="020B0604030504040204" pitchFamily="34" charset="-120"/>
                </a:rPr>
                <a:t>產業</a:t>
              </a:r>
            </a:p>
          </p:txBody>
        </p:sp>
      </p:grpSp>
      <p:graphicFrame>
        <p:nvGraphicFramePr>
          <p:cNvPr id="127" name="表格 126"/>
          <p:cNvGraphicFramePr>
            <a:graphicFrameLocks noGrp="1"/>
          </p:cNvGraphicFramePr>
          <p:nvPr>
            <p:extLst>
              <p:ext uri="{D42A27DB-BD31-4B8C-83A1-F6EECF244321}">
                <p14:modId xmlns:p14="http://schemas.microsoft.com/office/powerpoint/2010/main" val="2413753522"/>
              </p:ext>
            </p:extLst>
          </p:nvPr>
        </p:nvGraphicFramePr>
        <p:xfrm>
          <a:off x="4737872" y="1547814"/>
          <a:ext cx="4232902" cy="1851603"/>
        </p:xfrm>
        <a:graphic>
          <a:graphicData uri="http://schemas.openxmlformats.org/drawingml/2006/table">
            <a:tbl>
              <a:tblPr firstRow="1" bandRow="1">
                <a:tableStyleId>{8EC20E35-A176-4012-BC5E-935CFFF8708E}</a:tableStyleId>
              </a:tblPr>
              <a:tblGrid>
                <a:gridCol w="514365">
                  <a:extLst>
                    <a:ext uri="{9D8B030D-6E8A-4147-A177-3AD203B41FA5}">
                      <a16:colId xmlns:a16="http://schemas.microsoft.com/office/drawing/2014/main" val="3877973050"/>
                    </a:ext>
                  </a:extLst>
                </a:gridCol>
                <a:gridCol w="1119963">
                  <a:extLst>
                    <a:ext uri="{9D8B030D-6E8A-4147-A177-3AD203B41FA5}">
                      <a16:colId xmlns:a16="http://schemas.microsoft.com/office/drawing/2014/main" val="77793873"/>
                    </a:ext>
                  </a:extLst>
                </a:gridCol>
                <a:gridCol w="801663">
                  <a:extLst>
                    <a:ext uri="{9D8B030D-6E8A-4147-A177-3AD203B41FA5}">
                      <a16:colId xmlns:a16="http://schemas.microsoft.com/office/drawing/2014/main" val="2516297955"/>
                    </a:ext>
                  </a:extLst>
                </a:gridCol>
                <a:gridCol w="925228">
                  <a:extLst>
                    <a:ext uri="{9D8B030D-6E8A-4147-A177-3AD203B41FA5}">
                      <a16:colId xmlns:a16="http://schemas.microsoft.com/office/drawing/2014/main" val="3008793694"/>
                    </a:ext>
                  </a:extLst>
                </a:gridCol>
                <a:gridCol w="871683">
                  <a:extLst>
                    <a:ext uri="{9D8B030D-6E8A-4147-A177-3AD203B41FA5}">
                      <a16:colId xmlns:a16="http://schemas.microsoft.com/office/drawing/2014/main" val="389441691"/>
                    </a:ext>
                  </a:extLst>
                </a:gridCol>
              </a:tblGrid>
              <a:tr h="309777">
                <a:tc>
                  <a:txBody>
                    <a:bodyPr/>
                    <a:lstStyle/>
                    <a:p>
                      <a:pPr algn="ctr"/>
                      <a:r>
                        <a:rPr lang="zh-TW" altLang="en-US" sz="1200" dirty="0">
                          <a:latin typeface="微軟正黑體" panose="020B0604030504040204" pitchFamily="34" charset="-120"/>
                          <a:ea typeface="微軟正黑體" panose="020B0604030504040204" pitchFamily="34" charset="-120"/>
                        </a:rPr>
                        <a:t>排名</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bg1">
                        <a:lumMod val="50000"/>
                      </a:schemeClr>
                    </a:solidFill>
                  </a:tcPr>
                </a:tc>
                <a:tc>
                  <a:txBody>
                    <a:bodyPr/>
                    <a:lstStyle/>
                    <a:p>
                      <a:r>
                        <a:rPr lang="zh-TW" altLang="en-US" sz="1200" dirty="0">
                          <a:latin typeface="微軟正黑體" panose="020B0604030504040204" pitchFamily="34" charset="-120"/>
                          <a:ea typeface="微軟正黑體" panose="020B0604030504040204" pitchFamily="34" charset="-120"/>
                        </a:rPr>
                        <a:t>公司名</a:t>
                      </a: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zh-TW" altLang="en-US" sz="1200" dirty="0">
                          <a:latin typeface="微軟正黑體" panose="020B0604030504040204" pitchFamily="34" charset="-120"/>
                          <a:ea typeface="微軟正黑體" panose="020B0604030504040204" pitchFamily="34" charset="-120"/>
                        </a:rPr>
                        <a:t>營收</a:t>
                      </a:r>
                      <a:r>
                        <a:rPr lang="en-US" altLang="zh-TW" sz="1200" dirty="0">
                          <a:latin typeface="微軟正黑體" panose="020B0604030504040204" pitchFamily="34" charset="-120"/>
                          <a:ea typeface="微軟正黑體" panose="020B0604030504040204" pitchFamily="34" charset="-120"/>
                        </a:rPr>
                        <a:t>($M)</a:t>
                      </a:r>
                      <a:endParaRPr lang="zh-TW" altLang="en-US" sz="12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zh-TW" altLang="en-US" sz="1200" dirty="0">
                          <a:latin typeface="微軟正黑體" panose="020B0604030504040204" pitchFamily="34" charset="-120"/>
                          <a:ea typeface="微軟正黑體" panose="020B0604030504040204" pitchFamily="34" charset="-120"/>
                        </a:rPr>
                        <a:t>淨利</a:t>
                      </a:r>
                      <a:r>
                        <a:rPr lang="en-US" altLang="zh-TW" sz="1200" dirty="0">
                          <a:latin typeface="微軟正黑體" panose="020B0604030504040204" pitchFamily="34" charset="-120"/>
                          <a:ea typeface="微軟正黑體" panose="020B0604030504040204" pitchFamily="34" charset="-120"/>
                        </a:rPr>
                        <a:t>($M)</a:t>
                      </a:r>
                      <a:endParaRPr lang="zh-TW" altLang="en-US" sz="12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bg1">
                        <a:lumMod val="50000"/>
                      </a:schemeClr>
                    </a:solidFill>
                  </a:tcPr>
                </a:tc>
                <a:tc>
                  <a:txBody>
                    <a:bodyPr/>
                    <a:lstStyle/>
                    <a:p>
                      <a:pPr algn="ctr"/>
                      <a:r>
                        <a:rPr lang="zh-TW" altLang="en-US" sz="1200" dirty="0">
                          <a:latin typeface="微軟正黑體" panose="020B0604030504040204" pitchFamily="34" charset="-120"/>
                          <a:ea typeface="微軟正黑體" panose="020B0604030504040204" pitchFamily="34" charset="-120"/>
                        </a:rPr>
                        <a:t>資產</a:t>
                      </a:r>
                      <a:r>
                        <a:rPr lang="en-US" altLang="zh-TW" sz="1200" dirty="0">
                          <a:latin typeface="微軟正黑體" panose="020B0604030504040204" pitchFamily="34" charset="-120"/>
                          <a:ea typeface="微軟正黑體" panose="020B0604030504040204" pitchFamily="34" charset="-120"/>
                        </a:rPr>
                        <a:t>($M)</a:t>
                      </a:r>
                      <a:endParaRPr lang="zh-TW" altLang="en-US" sz="12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w="25400" cmpd="sng">
                      <a:noFill/>
                    </a:lnB>
                    <a:lnTlToBr w="12700" cmpd="sng">
                      <a:noFill/>
                      <a:prstDash val="solid"/>
                    </a:lnTlToBr>
                    <a:lnBlToTr w="12700" cmpd="sng">
                      <a:noFill/>
                      <a:prstDash val="solid"/>
                    </a:lnBlToTr>
                    <a:solidFill>
                      <a:schemeClr val="bg1">
                        <a:lumMod val="50000"/>
                      </a:schemeClr>
                    </a:solidFill>
                  </a:tcPr>
                </a:tc>
                <a:extLst>
                  <a:ext uri="{0D108BD9-81ED-4DB2-BD59-A6C34878D82A}">
                    <a16:rowId xmlns:a16="http://schemas.microsoft.com/office/drawing/2014/main" val="1697401648"/>
                  </a:ext>
                </a:extLst>
              </a:tr>
              <a:tr h="512945">
                <a:tc>
                  <a:txBody>
                    <a:bodyPr/>
                    <a:lstStyle/>
                    <a:p>
                      <a:pPr algn="ctr"/>
                      <a:r>
                        <a:rPr lang="en-US" altLang="zh-TW" sz="1000" dirty="0">
                          <a:latin typeface="微軟正黑體" panose="020B0604030504040204" pitchFamily="34" charset="-120"/>
                          <a:ea typeface="微軟正黑體" panose="020B0604030504040204" pitchFamily="34" charset="-120"/>
                        </a:rPr>
                        <a:t>359</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r>
                        <a:rPr lang="en-US" altLang="zh-TW" sz="1000" dirty="0" err="1">
                          <a:latin typeface="微軟正黑體" panose="020B0604030504040204" pitchFamily="34" charset="-120"/>
                          <a:ea typeface="微軟正黑體" panose="020B0604030504040204" pitchFamily="34" charset="-120"/>
                        </a:rPr>
                        <a:t>Thermo</a:t>
                      </a:r>
                      <a:r>
                        <a:rPr lang="en-US" altLang="zh-TW" sz="1000" dirty="0">
                          <a:latin typeface="微軟正黑體" panose="020B0604030504040204" pitchFamily="34" charset="-120"/>
                          <a:ea typeface="微軟正黑體" panose="020B0604030504040204" pitchFamily="34" charset="-120"/>
                        </a:rPr>
                        <a:t> Fisher Scientific</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altLang="zh-TW" sz="1000" dirty="0">
                          <a:latin typeface="微軟正黑體" panose="020B0604030504040204" pitchFamily="34" charset="-120"/>
                          <a:ea typeface="微軟正黑體" panose="020B0604030504040204" pitchFamily="34" charset="-120"/>
                        </a:rPr>
                        <a:t>$42,879</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altLang="zh-TW" sz="1000" dirty="0">
                          <a:latin typeface="微軟正黑體" panose="020B0604030504040204" pitchFamily="34" charset="-120"/>
                          <a:ea typeface="微軟正黑體" panose="020B0604030504040204" pitchFamily="34" charset="-120"/>
                        </a:rPr>
                        <a:t>$6,335</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a:noFill/>
                    </a:lnB>
                    <a:lnTlToBr w="12700" cmpd="sng">
                      <a:noFill/>
                      <a:prstDash val="solid"/>
                    </a:lnTlToBr>
                    <a:lnBlToTr w="12700" cmpd="sng">
                      <a:noFill/>
                      <a:prstDash val="solid"/>
                    </a:lnBlToTr>
                  </a:tcPr>
                </a:tc>
                <a:tc>
                  <a:txBody>
                    <a:bodyPr/>
                    <a:lstStyle/>
                    <a:p>
                      <a:pPr algn="ctr"/>
                      <a:r>
                        <a:rPr lang="en-US" altLang="zh-TW" sz="1000" dirty="0">
                          <a:latin typeface="微軟正黑體" panose="020B0604030504040204" pitchFamily="34" charset="-120"/>
                          <a:ea typeface="微軟正黑體" panose="020B0604030504040204" pitchFamily="34" charset="-120"/>
                        </a:rPr>
                        <a:t>$97,321</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w="254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152556296"/>
                  </a:ext>
                </a:extLst>
              </a:tr>
              <a:tr h="515936">
                <a:tc>
                  <a:txBody>
                    <a:bodyPr/>
                    <a:lstStyle/>
                    <a:p>
                      <a:pPr algn="ctr"/>
                      <a:r>
                        <a:rPr lang="en-US" altLang="zh-TW" sz="1100" b="1" dirty="0">
                          <a:latin typeface="微軟正黑體" panose="020B0604030504040204" pitchFamily="34" charset="-120"/>
                          <a:ea typeface="微軟正黑體" panose="020B0604030504040204" pitchFamily="34" charset="-120"/>
                        </a:rPr>
                        <a:t>372</a:t>
                      </a:r>
                      <a:endParaRPr lang="zh-TW" altLang="en-US" sz="1100" b="1"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r>
                        <a:rPr lang="en-US" altLang="zh-TW" sz="1100" b="1" dirty="0">
                          <a:latin typeface="微軟正黑體" panose="020B0604030504040204" pitchFamily="34" charset="-120"/>
                          <a:ea typeface="微軟正黑體" panose="020B0604030504040204" pitchFamily="34" charset="-120"/>
                        </a:rPr>
                        <a:t>Abbott Laboratories</a:t>
                      </a:r>
                      <a:endParaRPr lang="zh-TW" altLang="en-US" sz="1100" b="1"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TW" sz="1100" b="1" dirty="0">
                          <a:latin typeface="微軟正黑體" panose="020B0604030504040204" pitchFamily="34" charset="-120"/>
                          <a:ea typeface="微軟正黑體" panose="020B0604030504040204" pitchFamily="34" charset="-120"/>
                        </a:rPr>
                        <a:t>$41,950</a:t>
                      </a:r>
                      <a:endParaRPr lang="zh-TW" altLang="en-US" sz="1100" b="1"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TW" sz="1100" b="1" dirty="0">
                          <a:solidFill>
                            <a:srgbClr val="C00000"/>
                          </a:solidFill>
                          <a:latin typeface="微軟正黑體" panose="020B0604030504040204" pitchFamily="34" charset="-120"/>
                          <a:ea typeface="微軟正黑體" panose="020B0604030504040204" pitchFamily="34" charset="-120"/>
                        </a:rPr>
                        <a:t>$13,402</a:t>
                      </a:r>
                      <a:endParaRPr lang="zh-TW" altLang="en-US" sz="1100" b="1" dirty="0">
                        <a:solidFill>
                          <a:srgbClr val="C00000"/>
                        </a:solidFill>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TW" sz="1100" b="1" dirty="0">
                          <a:latin typeface="微軟正黑體" panose="020B0604030504040204" pitchFamily="34" charset="-120"/>
                          <a:ea typeface="微軟正黑體" panose="020B0604030504040204" pitchFamily="34" charset="-120"/>
                        </a:rPr>
                        <a:t>$81,414</a:t>
                      </a:r>
                      <a:endParaRPr lang="zh-TW" altLang="en-US" sz="1100" b="1"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02513326"/>
                  </a:ext>
                </a:extLst>
              </a:tr>
              <a:tr h="512945">
                <a:tc>
                  <a:txBody>
                    <a:bodyPr/>
                    <a:lstStyle/>
                    <a:p>
                      <a:pPr algn="ctr"/>
                      <a:r>
                        <a:rPr lang="en-US" altLang="zh-TW" sz="1000" dirty="0">
                          <a:latin typeface="微軟正黑體" panose="020B0604030504040204" pitchFamily="34" charset="-120"/>
                          <a:ea typeface="微軟正黑體" panose="020B0604030504040204" pitchFamily="34" charset="-120"/>
                        </a:rPr>
                        <a:t>497</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r>
                        <a:rPr lang="en-US" altLang="zh-TW" sz="1000" dirty="0">
                          <a:latin typeface="微軟正黑體" panose="020B0604030504040204" pitchFamily="34" charset="-120"/>
                          <a:ea typeface="微軟正黑體" panose="020B0604030504040204" pitchFamily="34" charset="-120"/>
                        </a:rPr>
                        <a:t>Medtronic</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TW" sz="1000" dirty="0">
                          <a:latin typeface="微軟正黑體" panose="020B0604030504040204" pitchFamily="34" charset="-120"/>
                          <a:ea typeface="微軟正黑體" panose="020B0604030504040204" pitchFamily="34" charset="-120"/>
                        </a:rPr>
                        <a:t>$32,364</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TW" sz="1000" dirty="0">
                          <a:latin typeface="微軟正黑體" panose="020B0604030504040204" pitchFamily="34" charset="-120"/>
                          <a:ea typeface="微軟正黑體" panose="020B0604030504040204" pitchFamily="34" charset="-120"/>
                        </a:rPr>
                        <a:t>$3,676</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altLang="zh-TW" sz="1000" dirty="0">
                          <a:latin typeface="微軟正黑體" panose="020B0604030504040204" pitchFamily="34" charset="-120"/>
                          <a:ea typeface="微軟正黑體" panose="020B0604030504040204" pitchFamily="34" charset="-120"/>
                        </a:rPr>
                        <a:t>$89,981</a:t>
                      </a:r>
                      <a:endParaRPr lang="zh-TW" altLang="en-US" sz="1000" dirty="0">
                        <a:latin typeface="微軟正黑體" panose="020B0604030504040204" pitchFamily="34" charset="-120"/>
                        <a:ea typeface="微軟正黑體" panose="020B0604030504040204" pitchFamily="34" charset="-120"/>
                      </a:endParaRPr>
                    </a:p>
                  </a:txBody>
                  <a:tcPr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5854639"/>
                  </a:ext>
                </a:extLst>
              </a:tr>
            </a:tbl>
          </a:graphicData>
        </a:graphic>
      </p:graphicFrame>
      <p:sp>
        <p:nvSpPr>
          <p:cNvPr id="128" name="矩形 127">
            <a:extLst>
              <a:ext uri="{FF2B5EF4-FFF2-40B4-BE49-F238E27FC236}">
                <a16:creationId xmlns:a16="http://schemas.microsoft.com/office/drawing/2014/main" id="{8F74FE8C-822F-F23D-B8A6-794A28D46FF4}"/>
              </a:ext>
            </a:extLst>
          </p:cNvPr>
          <p:cNvSpPr/>
          <p:nvPr/>
        </p:nvSpPr>
        <p:spPr>
          <a:xfrm>
            <a:off x="4734189" y="2362833"/>
            <a:ext cx="4215070" cy="530974"/>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9" name="圓角矩形 128">
            <a:extLst>
              <a:ext uri="{FF2B5EF4-FFF2-40B4-BE49-F238E27FC236}">
                <a16:creationId xmlns:a16="http://schemas.microsoft.com/office/drawing/2014/main" id="{9E838F41-21C5-FC42-B613-E00CAC48914B}"/>
              </a:ext>
            </a:extLst>
          </p:cNvPr>
          <p:cNvSpPr/>
          <p:nvPr/>
        </p:nvSpPr>
        <p:spPr>
          <a:xfrm>
            <a:off x="229944" y="3511601"/>
            <a:ext cx="4369118"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400" b="1" dirty="0">
                <a:latin typeface="+mn-ea"/>
              </a:rPr>
              <a:t>2025</a:t>
            </a:r>
            <a:r>
              <a:rPr lang="zh-TW" altLang="en-US" sz="1400" b="1" dirty="0">
                <a:latin typeface="+mn-ea"/>
              </a:rPr>
              <a:t>年，全球醫療器材品牌價值第三高</a:t>
            </a:r>
          </a:p>
        </p:txBody>
      </p:sp>
      <p:graphicFrame>
        <p:nvGraphicFramePr>
          <p:cNvPr id="170" name="表格 169">
            <a:extLst>
              <a:ext uri="{FF2B5EF4-FFF2-40B4-BE49-F238E27FC236}">
                <a16:creationId xmlns:a16="http://schemas.microsoft.com/office/drawing/2014/main" id="{800E2993-D40B-C94F-0620-88ACD261945F}"/>
              </a:ext>
            </a:extLst>
          </p:cNvPr>
          <p:cNvGraphicFramePr>
            <a:graphicFrameLocks noGrp="1"/>
          </p:cNvGraphicFramePr>
          <p:nvPr>
            <p:extLst>
              <p:ext uri="{D42A27DB-BD31-4B8C-83A1-F6EECF244321}">
                <p14:modId xmlns:p14="http://schemas.microsoft.com/office/powerpoint/2010/main" val="3340050420"/>
              </p:ext>
            </p:extLst>
          </p:nvPr>
        </p:nvGraphicFramePr>
        <p:xfrm>
          <a:off x="4737872" y="4249415"/>
          <a:ext cx="4171585" cy="2142194"/>
        </p:xfrm>
        <a:graphic>
          <a:graphicData uri="http://schemas.openxmlformats.org/drawingml/2006/table">
            <a:tbl>
              <a:tblPr/>
              <a:tblGrid>
                <a:gridCol w="554208">
                  <a:extLst>
                    <a:ext uri="{9D8B030D-6E8A-4147-A177-3AD203B41FA5}">
                      <a16:colId xmlns:a16="http://schemas.microsoft.com/office/drawing/2014/main" val="2311933379"/>
                    </a:ext>
                  </a:extLst>
                </a:gridCol>
                <a:gridCol w="1116124">
                  <a:extLst>
                    <a:ext uri="{9D8B030D-6E8A-4147-A177-3AD203B41FA5}">
                      <a16:colId xmlns:a16="http://schemas.microsoft.com/office/drawing/2014/main" val="948556519"/>
                    </a:ext>
                  </a:extLst>
                </a:gridCol>
                <a:gridCol w="1116124">
                  <a:extLst>
                    <a:ext uri="{9D8B030D-6E8A-4147-A177-3AD203B41FA5}">
                      <a16:colId xmlns:a16="http://schemas.microsoft.com/office/drawing/2014/main" val="4112757240"/>
                    </a:ext>
                  </a:extLst>
                </a:gridCol>
                <a:gridCol w="1385129">
                  <a:extLst>
                    <a:ext uri="{9D8B030D-6E8A-4147-A177-3AD203B41FA5}">
                      <a16:colId xmlns:a16="http://schemas.microsoft.com/office/drawing/2014/main" val="1542569570"/>
                    </a:ext>
                  </a:extLst>
                </a:gridCol>
              </a:tblGrid>
              <a:tr h="362252">
                <a:tc>
                  <a:txBody>
                    <a:bodyPr/>
                    <a:lstStyle/>
                    <a:p>
                      <a:pPr algn="ctr" fontAlgn="ctr"/>
                      <a:r>
                        <a:rPr lang="zh-TW" altLang="en-US" sz="1200" b="1" i="0" u="none" strike="noStrike" dirty="0">
                          <a:solidFill>
                            <a:schemeClr val="bg1">
                              <a:lumMod val="95000"/>
                            </a:schemeClr>
                          </a:solidFill>
                          <a:effectLst/>
                          <a:latin typeface="微軟正黑體" panose="020B0604030504040204" pitchFamily="34" charset="-120"/>
                          <a:ea typeface="微軟正黑體" panose="020B0604030504040204" pitchFamily="34" charset="-120"/>
                        </a:rPr>
                        <a:t>排名</a:t>
                      </a:r>
                    </a:p>
                  </a:txBody>
                  <a:tcPr marL="6350" marR="6350" marT="6350" marB="0" anchor="ctr">
                    <a:lnL>
                      <a:noFill/>
                    </a:lnL>
                    <a:lnR>
                      <a:noFill/>
                    </a:lnR>
                    <a:lnT>
                      <a:noFill/>
                    </a:lnT>
                    <a:lnB>
                      <a:noFill/>
                    </a:lnB>
                    <a:solidFill>
                      <a:srgbClr val="7F7F7F"/>
                    </a:solidFill>
                  </a:tcPr>
                </a:tc>
                <a:tc gridSpan="2">
                  <a:txBody>
                    <a:bodyPr/>
                    <a:lstStyle/>
                    <a:p>
                      <a:pPr algn="ctr" fontAlgn="ctr"/>
                      <a:r>
                        <a:rPr lang="zh-TW" altLang="en-US" sz="1200" b="1" i="0" u="none" strike="noStrike" dirty="0">
                          <a:solidFill>
                            <a:schemeClr val="bg1">
                              <a:lumMod val="95000"/>
                            </a:schemeClr>
                          </a:solidFill>
                          <a:effectLst/>
                          <a:latin typeface="微軟正黑體" panose="020B0604030504040204" pitchFamily="34" charset="-120"/>
                          <a:ea typeface="微軟正黑體" panose="020B0604030504040204" pitchFamily="34" charset="-120"/>
                        </a:rPr>
                        <a:t>公司</a:t>
                      </a:r>
                    </a:p>
                  </a:txBody>
                  <a:tcPr marL="6350" marR="6350" marT="6350" marB="0" anchor="ctr">
                    <a:lnL>
                      <a:noFill/>
                    </a:lnL>
                    <a:lnR>
                      <a:noFill/>
                    </a:lnR>
                    <a:lnT>
                      <a:noFill/>
                    </a:lnT>
                    <a:lnB>
                      <a:noFill/>
                    </a:lnB>
                    <a:solidFill>
                      <a:srgbClr val="7F7F7F"/>
                    </a:solidFill>
                  </a:tcPr>
                </a:tc>
                <a:tc hMerge="1">
                  <a:txBody>
                    <a:bodyPr/>
                    <a:lstStyle/>
                    <a:p>
                      <a:endParaRPr lang="zh-TW" altLang="en-US"/>
                    </a:p>
                  </a:txBody>
                  <a:tcPr/>
                </a:tc>
                <a:tc>
                  <a:txBody>
                    <a:bodyPr/>
                    <a:lstStyle/>
                    <a:p>
                      <a:pPr algn="ctr" fontAlgn="ctr"/>
                      <a:r>
                        <a:rPr lang="zh-TW" altLang="en-US" sz="1200" b="1" i="0" u="none" strike="noStrike" dirty="0">
                          <a:solidFill>
                            <a:schemeClr val="bg1">
                              <a:lumMod val="95000"/>
                            </a:schemeClr>
                          </a:solidFill>
                          <a:effectLst/>
                          <a:latin typeface="微軟正黑體" panose="020B0604030504040204" pitchFamily="34" charset="-120"/>
                          <a:ea typeface="微軟正黑體" panose="020B0604030504040204" pitchFamily="34" charset="-120"/>
                        </a:rPr>
                        <a:t>產業營收</a:t>
                      </a:r>
                      <a:r>
                        <a:rPr lang="en-US" altLang="zh-TW" sz="1200" b="1" i="0" u="none" strike="noStrike" dirty="0">
                          <a:solidFill>
                            <a:schemeClr val="bg1">
                              <a:lumMod val="95000"/>
                            </a:schemeClr>
                          </a:solidFill>
                          <a:effectLst/>
                          <a:latin typeface="微軟正黑體" panose="020B0604030504040204" pitchFamily="34" charset="-120"/>
                          <a:ea typeface="微軟正黑體" panose="020B0604030504040204" pitchFamily="34" charset="-120"/>
                        </a:rPr>
                        <a:t>($B)</a:t>
                      </a:r>
                    </a:p>
                  </a:txBody>
                  <a:tcPr marL="6350" marR="6350" marT="6350" marB="0" anchor="ctr">
                    <a:lnL>
                      <a:noFill/>
                    </a:lnL>
                    <a:lnR>
                      <a:noFill/>
                    </a:lnR>
                    <a:lnT>
                      <a:noFill/>
                    </a:lnT>
                    <a:lnB>
                      <a:noFill/>
                    </a:lnB>
                    <a:solidFill>
                      <a:srgbClr val="7F7F7F"/>
                    </a:solidFill>
                  </a:tcPr>
                </a:tc>
                <a:extLst>
                  <a:ext uri="{0D108BD9-81ED-4DB2-BD59-A6C34878D82A}">
                    <a16:rowId xmlns:a16="http://schemas.microsoft.com/office/drawing/2014/main" val="598060814"/>
                  </a:ext>
                </a:extLst>
              </a:tr>
              <a:tr h="296657">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1</a:t>
                      </a:r>
                    </a:p>
                  </a:txBody>
                  <a:tcPr marL="6350" marR="6350" marT="6350" marB="0" anchor="ctr">
                    <a:lnL>
                      <a:noFill/>
                    </a:lnL>
                    <a:lnR>
                      <a:noFill/>
                    </a:lnR>
                    <a:lnT>
                      <a:noFill/>
                    </a:lnT>
                    <a:lnB>
                      <a:noFill/>
                    </a:lnB>
                    <a:solidFill>
                      <a:srgbClr val="E7E7E7"/>
                    </a:solidFill>
                  </a:tcPr>
                </a:tc>
                <a:tc>
                  <a:txBody>
                    <a:bodyPr/>
                    <a:lstStyle/>
                    <a:p>
                      <a:pPr algn="ctr" fontAlgn="ct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E7E7E7"/>
                    </a:solidFill>
                  </a:tcPr>
                </a:tc>
                <a:tc>
                  <a:txBody>
                    <a:bodyPr/>
                    <a:lstStyle/>
                    <a:p>
                      <a:pPr algn="l"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雀巢</a:t>
                      </a:r>
                    </a:p>
                  </a:txBody>
                  <a:tcPr marL="6350" marR="6350" marT="6350" marB="0" anchor="ctr">
                    <a:lnL>
                      <a:noFill/>
                    </a:lnL>
                    <a:lnR>
                      <a:noFill/>
                    </a:lnR>
                    <a:lnT>
                      <a:noFill/>
                    </a:lnT>
                    <a:lnB>
                      <a:noFill/>
                    </a:lnB>
                    <a:solidFill>
                      <a:srgbClr val="E7E7E7"/>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mn-ea"/>
                        </a:rPr>
                        <a:t>17.22</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E7E7E7"/>
                    </a:solidFill>
                  </a:tcPr>
                </a:tc>
                <a:extLst>
                  <a:ext uri="{0D108BD9-81ED-4DB2-BD59-A6C34878D82A}">
                    <a16:rowId xmlns:a16="http://schemas.microsoft.com/office/drawing/2014/main" val="4123615445"/>
                  </a:ext>
                </a:extLst>
              </a:tr>
              <a:tr h="296657">
                <a:tc>
                  <a:txBody>
                    <a:bodyPr/>
                    <a:lstStyle/>
                    <a:p>
                      <a:pPr algn="ctr" fontAlgn="ctr"/>
                      <a:r>
                        <a:rPr lang="en-US" altLang="zh-TW" sz="1000" b="1" i="0" u="none" strike="noStrike" dirty="0">
                          <a:solidFill>
                            <a:srgbClr val="C00000"/>
                          </a:solidFill>
                          <a:effectLst/>
                          <a:latin typeface="微軟正黑體" panose="020B0604030504040204" pitchFamily="34" charset="-120"/>
                          <a:ea typeface="微軟正黑體" panose="020B0604030504040204" pitchFamily="34" charset="-120"/>
                        </a:rPr>
                        <a:t>2</a:t>
                      </a:r>
                    </a:p>
                  </a:txBody>
                  <a:tcPr marL="6350" marR="6350" marT="6350" marB="0" anchor="ctr">
                    <a:lnL>
                      <a:noFill/>
                    </a:lnL>
                    <a:lnR>
                      <a:noFill/>
                    </a:lnR>
                    <a:lnT>
                      <a:noFill/>
                    </a:lnT>
                    <a:lnB>
                      <a:noFill/>
                    </a:lnB>
                    <a:solidFill>
                      <a:schemeClr val="bg1"/>
                    </a:solidFill>
                  </a:tcPr>
                </a:tc>
                <a:tc>
                  <a:txBody>
                    <a:bodyPr/>
                    <a:lstStyle/>
                    <a:p>
                      <a:pPr algn="ctr" fontAlgn="ctr"/>
                      <a:endParaRPr lang="zh-TW" altLang="en-US" sz="1000" b="1" i="0" u="none" strike="noStrike" dirty="0">
                        <a:solidFill>
                          <a:srgbClr val="C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l" fontAlgn="ctr"/>
                      <a:r>
                        <a:rPr lang="zh-TW" altLang="en-US" sz="1000" b="1" i="0" u="none" strike="noStrike" dirty="0">
                          <a:solidFill>
                            <a:srgbClr val="C00000"/>
                          </a:solidFill>
                          <a:effectLst/>
                          <a:latin typeface="微軟正黑體" panose="020B0604030504040204" pitchFamily="34" charset="-120"/>
                          <a:ea typeface="微軟正黑體" panose="020B0604030504040204" pitchFamily="34" charset="-120"/>
                        </a:rPr>
                        <a:t>亞培</a:t>
                      </a:r>
                    </a:p>
                  </a:txBody>
                  <a:tcPr marL="6350" marR="6350" marT="6350" marB="0" anchor="ctr">
                    <a:lnL>
                      <a:noFill/>
                    </a:lnL>
                    <a:lnR>
                      <a:noFill/>
                    </a:lnR>
                    <a:lnT>
                      <a:noFill/>
                    </a:lnT>
                    <a:lnB>
                      <a:noFill/>
                    </a:lnB>
                    <a:solidFill>
                      <a:schemeClr val="bg1"/>
                    </a:solidFill>
                  </a:tcPr>
                </a:tc>
                <a:tc>
                  <a:txBody>
                    <a:bodyPr/>
                    <a:lstStyle/>
                    <a:p>
                      <a:pPr algn="ctr" fontAlgn="ctr"/>
                      <a:r>
                        <a:rPr lang="en-US" altLang="zh-TW" sz="1000" b="1" i="0" u="none" strike="noStrike" dirty="0">
                          <a:solidFill>
                            <a:srgbClr val="C00000"/>
                          </a:solidFill>
                          <a:effectLst/>
                          <a:latin typeface="微軟正黑體" panose="020B0604030504040204" pitchFamily="34" charset="-120"/>
                          <a:ea typeface="+mn-ea"/>
                        </a:rPr>
                        <a:t>8.45</a:t>
                      </a:r>
                      <a:endParaRPr lang="en-US" altLang="zh-TW" sz="1000" b="1" i="0" u="none" strike="noStrike" dirty="0">
                        <a:solidFill>
                          <a:srgbClr val="C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1945095675"/>
                  </a:ext>
                </a:extLst>
              </a:tr>
              <a:tr h="296657">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3</a:t>
                      </a:r>
                    </a:p>
                  </a:txBody>
                  <a:tcPr marL="6350" marR="6350" marT="6350" marB="0" anchor="ctr">
                    <a:lnL>
                      <a:noFill/>
                    </a:lnL>
                    <a:lnR>
                      <a:noFill/>
                    </a:lnR>
                    <a:lnT>
                      <a:noFill/>
                    </a:lnT>
                    <a:lnB>
                      <a:noFill/>
                    </a:lnB>
                    <a:solidFill>
                      <a:srgbClr val="E7E7E7"/>
                    </a:solidFill>
                  </a:tcPr>
                </a:tc>
                <a:tc>
                  <a:txBody>
                    <a:bodyPr/>
                    <a:lstStyle/>
                    <a:p>
                      <a:pPr algn="ctr" fontAlgn="ct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E7E7E7"/>
                    </a:solidFill>
                  </a:tcPr>
                </a:tc>
                <a:tc>
                  <a:txBody>
                    <a:bodyPr/>
                    <a:lstStyle/>
                    <a:p>
                      <a:pPr algn="l" fontAlgn="ctr"/>
                      <a:r>
                        <a:rPr lang="zh-TW" altLang="en-US" sz="1000" b="0" i="0" u="none" strike="noStrike" dirty="0">
                          <a:solidFill>
                            <a:srgbClr val="000000"/>
                          </a:solidFill>
                          <a:effectLst/>
                          <a:latin typeface="微軟正黑體" panose="020B0604030504040204" pitchFamily="34" charset="-120"/>
                          <a:ea typeface="+mn-ea"/>
                        </a:rPr>
                        <a:t>賀寶芙</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E7E7E7"/>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mn-ea"/>
                        </a:rPr>
                        <a:t>4.26</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rgbClr val="E7E7E7"/>
                    </a:solidFill>
                  </a:tcPr>
                </a:tc>
                <a:extLst>
                  <a:ext uri="{0D108BD9-81ED-4DB2-BD59-A6C34878D82A}">
                    <a16:rowId xmlns:a16="http://schemas.microsoft.com/office/drawing/2014/main" val="3257273118"/>
                  </a:ext>
                </a:extLst>
              </a:tr>
              <a:tr h="296657">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4</a:t>
                      </a:r>
                    </a:p>
                  </a:txBody>
                  <a:tcPr marL="6350" marR="6350" marT="6350" marB="0" anchor="ctr">
                    <a:lnL>
                      <a:noFill/>
                    </a:lnL>
                    <a:lnR>
                      <a:noFill/>
                    </a:lnR>
                    <a:lnT>
                      <a:noFill/>
                    </a:lnT>
                    <a:lnB>
                      <a:noFill/>
                    </a:lnB>
                    <a:solidFill>
                      <a:schemeClr val="bg1"/>
                    </a:solidFill>
                  </a:tcPr>
                </a:tc>
                <a:tc>
                  <a:txBody>
                    <a:bodyPr/>
                    <a:lstStyle/>
                    <a:p>
                      <a:pPr algn="ctr" fontAlgn="ct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l" fontAlgn="ctr"/>
                      <a:r>
                        <a:rPr lang="zh-TW" altLang="en-US" sz="1000" b="0" i="0" u="none" strike="noStrike" dirty="0">
                          <a:solidFill>
                            <a:srgbClr val="000000"/>
                          </a:solidFill>
                          <a:effectLst/>
                          <a:latin typeface="微軟正黑體" panose="020B0604030504040204" pitchFamily="34" charset="-120"/>
                          <a:ea typeface="+mn-ea"/>
                        </a:rPr>
                        <a:t>中國飛鶴</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mn-ea"/>
                        </a:rPr>
                        <a:t>2.88</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994735346"/>
                  </a:ext>
                </a:extLst>
              </a:tr>
              <a:tr h="296657">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5</a:t>
                      </a:r>
                    </a:p>
                  </a:txBody>
                  <a:tcPr marL="6350" marR="6350" marT="6350" marB="0" anchor="ctr">
                    <a:lnL>
                      <a:noFill/>
                    </a:lnL>
                    <a:lnR>
                      <a:noFill/>
                    </a:lnR>
                    <a:lnT>
                      <a:noFill/>
                    </a:lnT>
                    <a:lnB>
                      <a:noFill/>
                    </a:lnB>
                    <a:solidFill>
                      <a:schemeClr val="bg1">
                        <a:lumMod val="95000"/>
                      </a:schemeClr>
                    </a:solidFill>
                  </a:tcPr>
                </a:tc>
                <a:tc>
                  <a:txBody>
                    <a:bodyPr/>
                    <a:lstStyle/>
                    <a:p>
                      <a:pPr algn="ctr" fontAlgn="ct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tc>
                  <a:txBody>
                    <a:bodyPr/>
                    <a:lstStyle/>
                    <a:p>
                      <a:pPr algn="l" fontAlgn="ctr"/>
                      <a:r>
                        <a:rPr lang="en-US" altLang="zh-TW" sz="1000" b="0" i="0" u="none" strike="noStrike" dirty="0" err="1">
                          <a:solidFill>
                            <a:srgbClr val="000000"/>
                          </a:solidFill>
                          <a:effectLst/>
                          <a:latin typeface="微軟正黑體" panose="020B0604030504040204" pitchFamily="34" charset="-120"/>
                          <a:ea typeface="微軟正黑體" panose="020B0604030504040204" pitchFamily="34" charset="-120"/>
                        </a:rPr>
                        <a:t>Bellring</a:t>
                      </a: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 Brands</a:t>
                      </a: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mn-ea"/>
                        </a:rPr>
                        <a:t>2.32</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lumMod val="95000"/>
                      </a:schemeClr>
                    </a:solidFill>
                  </a:tcPr>
                </a:tc>
                <a:extLst>
                  <a:ext uri="{0D108BD9-81ED-4DB2-BD59-A6C34878D82A}">
                    <a16:rowId xmlns:a16="http://schemas.microsoft.com/office/drawing/2014/main" val="601991744"/>
                  </a:ext>
                </a:extLst>
              </a:tr>
              <a:tr h="296657">
                <a:tc>
                  <a:txBody>
                    <a:bodyPr/>
                    <a:lstStyle/>
                    <a:p>
                      <a:pPr algn="ctr"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6</a:t>
                      </a:r>
                    </a:p>
                  </a:txBody>
                  <a:tcPr marL="6350" marR="6350" marT="6350" marB="0" anchor="ctr">
                    <a:lnL>
                      <a:noFill/>
                    </a:lnL>
                    <a:lnR>
                      <a:noFill/>
                    </a:lnR>
                    <a:lnT>
                      <a:noFill/>
                    </a:lnT>
                    <a:lnB>
                      <a:noFill/>
                    </a:lnB>
                    <a:solidFill>
                      <a:schemeClr val="bg1"/>
                    </a:solidFill>
                  </a:tcPr>
                </a:tc>
                <a:tc>
                  <a:txBody>
                    <a:bodyPr/>
                    <a:lstStyle/>
                    <a:p>
                      <a:pPr algn="ctr" fontAlgn="ctr"/>
                      <a:endPar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tc>
                  <a:txBody>
                    <a:bodyPr/>
                    <a:lstStyle/>
                    <a:p>
                      <a:pPr algn="l" fontAlgn="ctr"/>
                      <a:r>
                        <a:rPr lang="zh-TW" altLang="en-US" sz="1000" b="0" i="0" u="none" strike="noStrike" dirty="0">
                          <a:solidFill>
                            <a:srgbClr val="000000"/>
                          </a:solidFill>
                          <a:effectLst/>
                          <a:latin typeface="微軟正黑體" panose="020B0604030504040204" pitchFamily="34" charset="-120"/>
                          <a:ea typeface="微軟正黑體" panose="020B0604030504040204" pitchFamily="34" charset="-120"/>
                        </a:rPr>
                        <a:t>健合國際控股</a:t>
                      </a:r>
                    </a:p>
                  </a:txBody>
                  <a:tcPr marL="6350" marR="6350" marT="6350" marB="0" anchor="ctr">
                    <a:lnL>
                      <a:noFill/>
                    </a:lnL>
                    <a:lnR>
                      <a:noFill/>
                    </a:lnR>
                    <a:lnT>
                      <a:noFill/>
                    </a:lnT>
                    <a:lnB>
                      <a:noFill/>
                    </a:lnB>
                    <a:solidFill>
                      <a:schemeClr val="bg1"/>
                    </a:solidFill>
                  </a:tcPr>
                </a:tc>
                <a:tc>
                  <a:txBody>
                    <a:bodyPr/>
                    <a:lstStyle/>
                    <a:p>
                      <a:pPr algn="ctr" fontAlgn="ctr"/>
                      <a:r>
                        <a:rPr lang="en-US" altLang="zh-TW" sz="1000" b="0" i="0" u="none" strike="noStrike" dirty="0">
                          <a:solidFill>
                            <a:srgbClr val="000000"/>
                          </a:solidFill>
                          <a:effectLst/>
                          <a:latin typeface="微軟正黑體" panose="020B0604030504040204" pitchFamily="34" charset="-120"/>
                          <a:ea typeface="+mn-ea"/>
                        </a:rPr>
                        <a:t>1.81</a:t>
                      </a:r>
                      <a:endPar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350" marR="6350" marT="6350" marB="0" anchor="ctr">
                    <a:lnL>
                      <a:noFill/>
                    </a:lnL>
                    <a:lnR>
                      <a:noFill/>
                    </a:lnR>
                    <a:lnT>
                      <a:noFill/>
                    </a:lnT>
                    <a:lnB>
                      <a:noFill/>
                    </a:lnB>
                    <a:solidFill>
                      <a:schemeClr val="bg1"/>
                    </a:solidFill>
                  </a:tcPr>
                </a:tc>
                <a:extLst>
                  <a:ext uri="{0D108BD9-81ED-4DB2-BD59-A6C34878D82A}">
                    <a16:rowId xmlns:a16="http://schemas.microsoft.com/office/drawing/2014/main" val="1042022129"/>
                  </a:ext>
                </a:extLst>
              </a:tr>
            </a:tbl>
          </a:graphicData>
        </a:graphic>
      </p:graphicFrame>
      <p:sp>
        <p:nvSpPr>
          <p:cNvPr id="172" name="圓角矩形 171">
            <a:extLst>
              <a:ext uri="{FF2B5EF4-FFF2-40B4-BE49-F238E27FC236}">
                <a16:creationId xmlns:a16="http://schemas.microsoft.com/office/drawing/2014/main" id="{9E838F41-21C5-FC42-B613-E00CAC48914B}"/>
              </a:ext>
            </a:extLst>
          </p:cNvPr>
          <p:cNvSpPr/>
          <p:nvPr/>
        </p:nvSpPr>
        <p:spPr>
          <a:xfrm>
            <a:off x="4724400" y="3509077"/>
            <a:ext cx="4218394"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全球第二大營養品上市公司，僅次於雀巢</a:t>
            </a:r>
            <a:endParaRPr lang="en-US" altLang="zh-TW" sz="1050" b="1" dirty="0">
              <a:latin typeface="+mn-ea"/>
            </a:endParaRPr>
          </a:p>
        </p:txBody>
      </p:sp>
      <p:grpSp>
        <p:nvGrpSpPr>
          <p:cNvPr id="187" name="群組 186"/>
          <p:cNvGrpSpPr/>
          <p:nvPr/>
        </p:nvGrpSpPr>
        <p:grpSpPr>
          <a:xfrm>
            <a:off x="6948264" y="3993027"/>
            <a:ext cx="1961193" cy="167580"/>
            <a:chOff x="5525681" y="1214374"/>
            <a:chExt cx="4082305" cy="167580"/>
          </a:xfrm>
        </p:grpSpPr>
        <p:sp>
          <p:nvSpPr>
            <p:cNvPr id="188" name="矩形 187"/>
            <p:cNvSpPr/>
            <p:nvPr/>
          </p:nvSpPr>
          <p:spPr>
            <a:xfrm>
              <a:off x="5525681" y="1214374"/>
              <a:ext cx="4082305" cy="167580"/>
            </a:xfrm>
            <a:prstGeom prst="rect">
              <a:avLst/>
            </a:prstGeom>
            <a:solidFill>
              <a:schemeClr val="bg1"/>
            </a:solidFill>
            <a:ln>
              <a:noFill/>
            </a:ln>
            <a:effectLst>
              <a:outerShdw blurRad="889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TW" altLang="en-US" sz="900" b="1" dirty="0">
                  <a:solidFill>
                    <a:schemeClr val="tx1">
                      <a:lumMod val="85000"/>
                      <a:lumOff val="15000"/>
                    </a:schemeClr>
                  </a:solidFill>
                  <a:latin typeface="微軟正黑體" panose="020B0604030504040204" pitchFamily="34" charset="-120"/>
                  <a:ea typeface="微軟正黑體" panose="020B0604030504040204" pitchFamily="34" charset="-120"/>
                </a:rPr>
                <a:t>   </a:t>
              </a:r>
              <a:endParaRPr lang="zh-TW" altLang="en-US" sz="900" b="1" dirty="0">
                <a:solidFill>
                  <a:schemeClr val="tx1"/>
                </a:solidFill>
                <a:latin typeface="微軟正黑體" panose="020B0604030504040204" pitchFamily="34" charset="-120"/>
                <a:ea typeface="微軟正黑體" panose="020B0604030504040204" pitchFamily="34" charset="-120"/>
              </a:endParaRPr>
            </a:p>
          </p:txBody>
        </p:sp>
        <p:sp>
          <p:nvSpPr>
            <p:cNvPr id="189" name="矩形 188"/>
            <p:cNvSpPr/>
            <p:nvPr/>
          </p:nvSpPr>
          <p:spPr>
            <a:xfrm>
              <a:off x="5525681" y="1214374"/>
              <a:ext cx="2398201" cy="16758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900" b="1" dirty="0">
                  <a:latin typeface="微軟正黑體" panose="020B0604030504040204" pitchFamily="34" charset="-120"/>
                  <a:ea typeface="微軟正黑體" panose="020B0604030504040204" pitchFamily="34" charset="-120"/>
                </a:rPr>
                <a:t>彭博</a:t>
              </a:r>
              <a:r>
                <a:rPr lang="en-US" altLang="zh-TW" sz="900" b="1" dirty="0">
                  <a:latin typeface="微軟正黑體" panose="020B0604030504040204" pitchFamily="34" charset="-120"/>
                  <a:ea typeface="微軟正黑體" panose="020B0604030504040204" pitchFamily="34" charset="-120"/>
                </a:rPr>
                <a:t>BICS</a:t>
              </a:r>
              <a:r>
                <a:rPr lang="zh-TW" altLang="en-US" sz="900" b="1" dirty="0">
                  <a:latin typeface="微軟正黑體" panose="020B0604030504040204" pitchFamily="34" charset="-120"/>
                  <a:ea typeface="微軟正黑體" panose="020B0604030504040204" pitchFamily="34" charset="-120"/>
                </a:rPr>
                <a:t>產業分類</a:t>
              </a:r>
            </a:p>
          </p:txBody>
        </p:sp>
      </p:grpSp>
      <p:sp>
        <p:nvSpPr>
          <p:cNvPr id="1031" name="矩形 1030"/>
          <p:cNvSpPr/>
          <p:nvPr/>
        </p:nvSpPr>
        <p:spPr>
          <a:xfrm>
            <a:off x="8237796" y="3961401"/>
            <a:ext cx="530915" cy="230832"/>
          </a:xfrm>
          <a:prstGeom prst="rect">
            <a:avLst/>
          </a:prstGeom>
        </p:spPr>
        <p:txBody>
          <a:bodyPr wrap="none">
            <a:spAutoFit/>
          </a:bodyPr>
          <a:lstStyle/>
          <a:p>
            <a:r>
              <a:rPr lang="zh-TW" altLang="en-US" sz="900" b="1" dirty="0">
                <a:solidFill>
                  <a:schemeClr val="tx1">
                    <a:lumMod val="85000"/>
                    <a:lumOff val="15000"/>
                  </a:schemeClr>
                </a:solidFill>
                <a:latin typeface="微軟正黑體" panose="020B0604030504040204" pitchFamily="34" charset="-120"/>
                <a:ea typeface="微軟正黑體" panose="020B0604030504040204" pitchFamily="34" charset="-120"/>
              </a:rPr>
              <a:t>營養品</a:t>
            </a:r>
            <a:endParaRPr lang="zh-TW" altLang="en-US" sz="900" dirty="0"/>
          </a:p>
        </p:txBody>
      </p:sp>
      <p:pic>
        <p:nvPicPr>
          <p:cNvPr id="1050" name="Picture 26" descr="File:New Bloomberg Logo.svg - 維基百科，自由的百科全書"/>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4763073" y="3904650"/>
            <a:ext cx="1630779" cy="304178"/>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Nestlé logo blue"/>
          <p:cNvPicPr>
            <a:picLocks noChangeAspect="1" noChangeArrowheads="1"/>
          </p:cNvPicPr>
          <p:nvPr/>
        </p:nvPicPr>
        <p:blipFill>
          <a:blip r:embed="rId6" cstate="hqprint">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22575" y="4684231"/>
            <a:ext cx="581257" cy="157908"/>
          </a:xfrm>
          <a:prstGeom prst="rect">
            <a:avLst/>
          </a:prstGeom>
          <a:noFill/>
          <a:extLst>
            <a:ext uri="{909E8E84-426E-40DD-AFC4-6F175D3DCCD1}">
              <a14:hiddenFill xmlns:a14="http://schemas.microsoft.com/office/drawing/2010/main">
                <a:solidFill>
                  <a:srgbClr val="FFFFFF"/>
                </a:solidFill>
              </a14:hiddenFill>
            </a:ext>
          </a:extLst>
        </p:spPr>
      </p:pic>
      <p:pic>
        <p:nvPicPr>
          <p:cNvPr id="193" name="圖片 192"/>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5548096" y="4960081"/>
            <a:ext cx="720920" cy="184435"/>
          </a:xfrm>
          <a:prstGeom prst="rect">
            <a:avLst/>
          </a:prstGeom>
        </p:spPr>
      </p:pic>
      <p:pic>
        <p:nvPicPr>
          <p:cNvPr id="1054" name="Picture 30" descr="獨立健康事業會員| 綠茶飲原味48 克"/>
          <p:cNvPicPr>
            <a:picLocks noChangeAspect="1" noChangeArrowheads="1"/>
          </p:cNvPicPr>
          <p:nvPr/>
        </p:nvPicPr>
        <p:blipFill>
          <a:blip r:embed="rId8" cstate="hqprint">
            <a:grayscl/>
            <a:extLst>
              <a:ext uri="{28A0092B-C50C-407E-A947-70E740481C1C}">
                <a14:useLocalDpi xmlns:a14="http://schemas.microsoft.com/office/drawing/2010/main" val="0"/>
              </a:ext>
            </a:extLst>
          </a:blip>
          <a:srcRect/>
          <a:stretch>
            <a:fillRect/>
          </a:stretch>
        </p:blipFill>
        <p:spPr bwMode="auto">
          <a:xfrm>
            <a:off x="5575288" y="5243239"/>
            <a:ext cx="695113" cy="192230"/>
          </a:xfrm>
          <a:prstGeom prst="rect">
            <a:avLst/>
          </a:prstGeom>
          <a:noFill/>
          <a:extLst>
            <a:ext uri="{909E8E84-426E-40DD-AFC4-6F175D3DCCD1}">
              <a14:hiddenFill xmlns:a14="http://schemas.microsoft.com/office/drawing/2010/main">
                <a:solidFill>
                  <a:srgbClr val="FFFFFF"/>
                </a:solidFill>
              </a14:hiddenFill>
            </a:ext>
          </a:extLst>
        </p:spPr>
      </p:pic>
      <p:sp>
        <p:nvSpPr>
          <p:cNvPr id="198" name="矩形 197">
            <a:extLst>
              <a:ext uri="{FF2B5EF4-FFF2-40B4-BE49-F238E27FC236}">
                <a16:creationId xmlns:a16="http://schemas.microsoft.com/office/drawing/2014/main" id="{8F74FE8C-822F-F23D-B8A6-794A28D46FF4}"/>
              </a:ext>
            </a:extLst>
          </p:cNvPr>
          <p:cNvSpPr/>
          <p:nvPr/>
        </p:nvSpPr>
        <p:spPr>
          <a:xfrm>
            <a:off x="4737872" y="4902030"/>
            <a:ext cx="4171585" cy="288000"/>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descr="一張含有 字型, 圖形, 螢幕擷取畫面, 標誌 的圖片&#10;&#10;自動產生的描述">
            <a:extLst>
              <a:ext uri="{FF2B5EF4-FFF2-40B4-BE49-F238E27FC236}">
                <a16:creationId xmlns:a16="http://schemas.microsoft.com/office/drawing/2014/main" id="{721331B8-9792-C7D8-A386-49C3108D7A5E}"/>
              </a:ext>
            </a:extLst>
          </p:cNvPr>
          <p:cNvPicPr>
            <a:picLocks noChangeAspect="1"/>
          </p:cNvPicPr>
          <p:nvPr/>
        </p:nvPicPr>
        <p:blipFill rotWithShape="1">
          <a:blip r:embed="rId9" cstate="hqprint">
            <a:duotone>
              <a:schemeClr val="accent4">
                <a:shade val="45000"/>
                <a:satMod val="135000"/>
              </a:schemeClr>
              <a:prstClr val="white"/>
            </a:duotone>
            <a:extLst>
              <a:ext uri="{28A0092B-C50C-407E-A947-70E740481C1C}">
                <a14:useLocalDpi xmlns:a14="http://schemas.microsoft.com/office/drawing/2010/main" val="0"/>
              </a:ext>
            </a:extLst>
          </a:blip>
          <a:srcRect t="38349" b="37833"/>
          <a:stretch/>
        </p:blipFill>
        <p:spPr>
          <a:xfrm>
            <a:off x="5599906" y="5573832"/>
            <a:ext cx="604602" cy="144000"/>
          </a:xfrm>
          <a:prstGeom prst="rect">
            <a:avLst/>
          </a:prstGeom>
        </p:spPr>
      </p:pic>
      <p:pic>
        <p:nvPicPr>
          <p:cNvPr id="7" name="圖片 6">
            <a:extLst>
              <a:ext uri="{FF2B5EF4-FFF2-40B4-BE49-F238E27FC236}">
                <a16:creationId xmlns:a16="http://schemas.microsoft.com/office/drawing/2014/main" id="{188E7C20-8B2B-DEB7-BAD0-9A2053EBBFAE}"/>
              </a:ext>
            </a:extLst>
          </p:cNvPr>
          <p:cNvPicPr>
            <a:picLocks noChangeAspect="1"/>
          </p:cNvPicPr>
          <p:nvPr/>
        </p:nvPicPr>
        <p:blipFill rotWithShape="1">
          <a:blip r:embed="rId10">
            <a:duotone>
              <a:schemeClr val="accent4">
                <a:shade val="45000"/>
                <a:satMod val="135000"/>
              </a:schemeClr>
              <a:prstClr val="white"/>
            </a:duotone>
          </a:blip>
          <a:srcRect l="15107" t="9697" r="14840" b="33524"/>
          <a:stretch/>
        </p:blipFill>
        <p:spPr>
          <a:xfrm>
            <a:off x="5784822" y="6170165"/>
            <a:ext cx="208166" cy="168724"/>
          </a:xfrm>
          <a:prstGeom prst="rect">
            <a:avLst/>
          </a:prstGeom>
        </p:spPr>
      </p:pic>
      <p:graphicFrame>
        <p:nvGraphicFramePr>
          <p:cNvPr id="12" name="圖表 11"/>
          <p:cNvGraphicFramePr/>
          <p:nvPr>
            <p:extLst>
              <p:ext uri="{D42A27DB-BD31-4B8C-83A1-F6EECF244321}">
                <p14:modId xmlns:p14="http://schemas.microsoft.com/office/powerpoint/2010/main" val="925265493"/>
              </p:ext>
            </p:extLst>
          </p:nvPr>
        </p:nvGraphicFramePr>
        <p:xfrm>
          <a:off x="168596" y="1283095"/>
          <a:ext cx="4434709" cy="2289126"/>
        </p:xfrm>
        <a:graphic>
          <a:graphicData uri="http://schemas.openxmlformats.org/drawingml/2006/chart">
            <c:chart xmlns:c="http://schemas.openxmlformats.org/drawingml/2006/chart" xmlns:r="http://schemas.openxmlformats.org/officeDocument/2006/relationships" r:id="rId11"/>
          </a:graphicData>
        </a:graphic>
      </p:graphicFrame>
      <p:sp>
        <p:nvSpPr>
          <p:cNvPr id="25" name="文字方塊 24"/>
          <p:cNvSpPr txBox="1"/>
          <p:nvPr/>
        </p:nvSpPr>
        <p:spPr>
          <a:xfrm>
            <a:off x="2246809" y="1508843"/>
            <a:ext cx="1381490" cy="215444"/>
          </a:xfrm>
          <a:prstGeom prst="rect">
            <a:avLst/>
          </a:prstGeom>
          <a:noFill/>
        </p:spPr>
        <p:txBody>
          <a:bodyPr wrap="square" rtlCol="0">
            <a:spAutoFit/>
          </a:bodyPr>
          <a:lstStyle/>
          <a:p>
            <a:pPr algn="r"/>
            <a:r>
              <a:rPr lang="en-US" altLang="zh-TW" sz="800" b="1" dirty="0">
                <a:solidFill>
                  <a:schemeClr val="bg1"/>
                </a:solidFill>
              </a:rPr>
              <a:t>Abbott Laboratories</a:t>
            </a:r>
            <a:endParaRPr lang="zh-TW" altLang="en-US" sz="800" b="1" dirty="0">
              <a:solidFill>
                <a:schemeClr val="bg1"/>
              </a:solidFill>
            </a:endParaRPr>
          </a:p>
        </p:txBody>
      </p:sp>
      <p:sp>
        <p:nvSpPr>
          <p:cNvPr id="88" name="文字方塊 87"/>
          <p:cNvSpPr txBox="1"/>
          <p:nvPr/>
        </p:nvSpPr>
        <p:spPr>
          <a:xfrm>
            <a:off x="2003696" y="1912258"/>
            <a:ext cx="1381490" cy="215444"/>
          </a:xfrm>
          <a:prstGeom prst="rect">
            <a:avLst/>
          </a:prstGeom>
          <a:noFill/>
        </p:spPr>
        <p:txBody>
          <a:bodyPr wrap="square" rtlCol="0">
            <a:spAutoFit/>
          </a:bodyPr>
          <a:lstStyle/>
          <a:p>
            <a:pPr algn="r"/>
            <a:r>
              <a:rPr lang="en-US" altLang="zh-TW" sz="800" b="1" dirty="0">
                <a:solidFill>
                  <a:schemeClr val="bg1"/>
                </a:solidFill>
              </a:rPr>
              <a:t>Intuitive Surgical</a:t>
            </a:r>
            <a:endParaRPr lang="zh-TW" altLang="en-US" sz="800" b="1" dirty="0">
              <a:solidFill>
                <a:schemeClr val="bg1"/>
              </a:solidFill>
            </a:endParaRPr>
          </a:p>
        </p:txBody>
      </p:sp>
      <p:sp>
        <p:nvSpPr>
          <p:cNvPr id="90" name="文字方塊 89"/>
          <p:cNvSpPr txBox="1"/>
          <p:nvPr/>
        </p:nvSpPr>
        <p:spPr>
          <a:xfrm>
            <a:off x="1842046" y="2301765"/>
            <a:ext cx="806138" cy="272960"/>
          </a:xfrm>
          <a:prstGeom prst="rect">
            <a:avLst/>
          </a:prstGeom>
          <a:noFill/>
        </p:spPr>
        <p:txBody>
          <a:bodyPr wrap="square" rtlCol="0">
            <a:spAutoFit/>
          </a:bodyPr>
          <a:lstStyle/>
          <a:p>
            <a:pPr algn="r">
              <a:lnSpc>
                <a:spcPts val="700"/>
              </a:lnSpc>
            </a:pPr>
            <a:r>
              <a:rPr lang="en-US" altLang="zh-TW" sz="800" b="1" dirty="0">
                <a:solidFill>
                  <a:schemeClr val="bg1"/>
                </a:solidFill>
              </a:rPr>
              <a:t>Stryker Corporation</a:t>
            </a:r>
            <a:endParaRPr lang="zh-TW" altLang="en-US" sz="800" b="1" dirty="0">
              <a:solidFill>
                <a:schemeClr val="bg1"/>
              </a:solidFill>
            </a:endParaRPr>
          </a:p>
        </p:txBody>
      </p:sp>
      <p:sp>
        <p:nvSpPr>
          <p:cNvPr id="95" name="文字方塊 94"/>
          <p:cNvSpPr txBox="1"/>
          <p:nvPr/>
        </p:nvSpPr>
        <p:spPr>
          <a:xfrm>
            <a:off x="805493" y="3086863"/>
            <a:ext cx="1381490" cy="297517"/>
          </a:xfrm>
          <a:prstGeom prst="rect">
            <a:avLst/>
          </a:prstGeom>
          <a:noFill/>
        </p:spPr>
        <p:txBody>
          <a:bodyPr wrap="square" rtlCol="0">
            <a:spAutoFit/>
          </a:bodyPr>
          <a:lstStyle/>
          <a:p>
            <a:pPr algn="r">
              <a:lnSpc>
                <a:spcPts val="800"/>
              </a:lnSpc>
            </a:pPr>
            <a:r>
              <a:rPr lang="en-US" altLang="zh-TW" sz="800" b="1" dirty="0">
                <a:solidFill>
                  <a:schemeClr val="bg1"/>
                </a:solidFill>
              </a:rPr>
              <a:t>Boston </a:t>
            </a:r>
          </a:p>
          <a:p>
            <a:pPr algn="r">
              <a:lnSpc>
                <a:spcPts val="800"/>
              </a:lnSpc>
            </a:pPr>
            <a:r>
              <a:rPr lang="en-US" altLang="zh-TW" sz="800" b="1" dirty="0">
                <a:solidFill>
                  <a:schemeClr val="bg1"/>
                </a:solidFill>
              </a:rPr>
              <a:t>Scientific</a:t>
            </a:r>
            <a:endParaRPr lang="zh-TW" altLang="en-US" sz="800" b="1" dirty="0">
              <a:solidFill>
                <a:schemeClr val="bg1"/>
              </a:solidFill>
            </a:endParaRPr>
          </a:p>
        </p:txBody>
      </p:sp>
      <p:sp>
        <p:nvSpPr>
          <p:cNvPr id="96" name="文字方塊 95"/>
          <p:cNvSpPr txBox="1"/>
          <p:nvPr/>
        </p:nvSpPr>
        <p:spPr>
          <a:xfrm>
            <a:off x="1390932" y="2756279"/>
            <a:ext cx="973803" cy="182101"/>
          </a:xfrm>
          <a:prstGeom prst="rect">
            <a:avLst/>
          </a:prstGeom>
          <a:noFill/>
        </p:spPr>
        <p:txBody>
          <a:bodyPr wrap="square" rtlCol="0">
            <a:spAutoFit/>
          </a:bodyPr>
          <a:lstStyle/>
          <a:p>
            <a:pPr algn="r">
              <a:lnSpc>
                <a:spcPts val="700"/>
              </a:lnSpc>
            </a:pPr>
            <a:r>
              <a:rPr lang="en-US" altLang="zh-TW" sz="800" b="1" dirty="0">
                <a:solidFill>
                  <a:schemeClr val="bg1"/>
                </a:solidFill>
              </a:rPr>
              <a:t>Medtronic</a:t>
            </a:r>
            <a:endParaRPr lang="zh-TW" altLang="en-US" sz="800" b="1" dirty="0">
              <a:solidFill>
                <a:schemeClr val="bg1"/>
              </a:solidFill>
            </a:endParaRPr>
          </a:p>
        </p:txBody>
      </p:sp>
      <p:pic>
        <p:nvPicPr>
          <p:cNvPr id="1032" name="Picture 8" descr="Intuitive Surgical logo in transparent PNG and vectorized SVG formats"/>
          <p:cNvPicPr>
            <a:picLocks noChangeAspect="1" noChangeArrowheads="1"/>
          </p:cNvPicPr>
          <p:nvPr/>
        </p:nvPicPr>
        <p:blipFill>
          <a:blip r:embed="rId12" cstate="hqprint">
            <a:extLst>
              <a:ext uri="{28A0092B-C50C-407E-A947-70E740481C1C}">
                <a14:useLocalDpi xmlns:a14="http://schemas.microsoft.com/office/drawing/2010/main" val="0"/>
              </a:ext>
            </a:extLst>
          </a:blip>
          <a:srcRect/>
          <a:stretch>
            <a:fillRect/>
          </a:stretch>
        </p:blipFill>
        <p:spPr bwMode="auto">
          <a:xfrm>
            <a:off x="305533" y="1875502"/>
            <a:ext cx="838998" cy="225845"/>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群組 35"/>
          <p:cNvGrpSpPr/>
          <p:nvPr/>
        </p:nvGrpSpPr>
        <p:grpSpPr>
          <a:xfrm>
            <a:off x="1290313" y="1494260"/>
            <a:ext cx="262384" cy="262384"/>
            <a:chOff x="2515504" y="1411832"/>
            <a:chExt cx="4696120" cy="4696120"/>
          </a:xfrm>
        </p:grpSpPr>
        <p:sp>
          <p:nvSpPr>
            <p:cNvPr id="35" name="橢圓 34"/>
            <p:cNvSpPr/>
            <p:nvPr/>
          </p:nvSpPr>
          <p:spPr>
            <a:xfrm>
              <a:off x="2515504" y="1411832"/>
              <a:ext cx="4696120" cy="4696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41" name="Picture 17" descr="image.png"/>
            <p:cNvPicPr>
              <a:picLocks noChangeAspect="1" noChangeArrowheads="1"/>
            </p:cNvPicPr>
            <p:nvPr/>
          </p:nvPicPr>
          <p:blipFill>
            <a:blip r:embed="rId13" r:link="rId14" cstate="hqprint">
              <a:extLst>
                <a:ext uri="{28A0092B-C50C-407E-A947-70E740481C1C}">
                  <a14:useLocalDpi xmlns:a14="http://schemas.microsoft.com/office/drawing/2010/main" val="0"/>
                </a:ext>
              </a:extLst>
            </a:blip>
            <a:srcRect/>
            <a:stretch>
              <a:fillRect/>
            </a:stretch>
          </p:blipFill>
          <p:spPr bwMode="auto">
            <a:xfrm>
              <a:off x="2707446" y="1607242"/>
              <a:ext cx="4305300" cy="4305300"/>
            </a:xfrm>
            <a:prstGeom prst="rect">
              <a:avLst/>
            </a:prstGeom>
            <a:noFill/>
            <a:extLst>
              <a:ext uri="{909E8E84-426E-40DD-AFC4-6F175D3DCCD1}">
                <a14:hiddenFill xmlns:a14="http://schemas.microsoft.com/office/drawing/2010/main">
                  <a:solidFill>
                    <a:srgbClr val="FFFFFF"/>
                  </a:solidFill>
                </a14:hiddenFill>
              </a:ext>
            </a:extLst>
          </p:spPr>
        </p:pic>
      </p:grpSp>
      <p:sp>
        <p:nvSpPr>
          <p:cNvPr id="109" name="橢圓 108"/>
          <p:cNvSpPr/>
          <p:nvPr/>
        </p:nvSpPr>
        <p:spPr>
          <a:xfrm>
            <a:off x="1287376" y="2698673"/>
            <a:ext cx="262384" cy="2623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39" name="Picture 15" descr="image.png"/>
          <p:cNvPicPr>
            <a:picLocks noChangeAspect="1" noChangeArrowheads="1"/>
          </p:cNvPicPr>
          <p:nvPr/>
        </p:nvPicPr>
        <p:blipFill>
          <a:blip r:embed="rId15" r:link="rId16" cstate="hqprint">
            <a:extLst>
              <a:ext uri="{28A0092B-C50C-407E-A947-70E740481C1C}">
                <a14:useLocalDpi xmlns:a14="http://schemas.microsoft.com/office/drawing/2010/main" val="0"/>
              </a:ext>
            </a:extLst>
          </a:blip>
          <a:srcRect/>
          <a:stretch>
            <a:fillRect/>
          </a:stretch>
        </p:blipFill>
        <p:spPr bwMode="auto">
          <a:xfrm>
            <a:off x="1298732" y="2708289"/>
            <a:ext cx="241200" cy="241200"/>
          </a:xfrm>
          <a:prstGeom prst="rect">
            <a:avLst/>
          </a:prstGeom>
          <a:noFill/>
          <a:extLst>
            <a:ext uri="{909E8E84-426E-40DD-AFC4-6F175D3DCCD1}">
              <a14:hiddenFill xmlns:a14="http://schemas.microsoft.com/office/drawing/2010/main">
                <a:solidFill>
                  <a:srgbClr val="FFFFFF"/>
                </a:solidFill>
              </a14:hiddenFill>
            </a:ext>
          </a:extLst>
        </p:spPr>
      </p:pic>
      <p:pic>
        <p:nvPicPr>
          <p:cNvPr id="114" name="圖片 113"/>
          <p:cNvPicPr>
            <a:picLocks noChangeAspect="1"/>
          </p:cNvPicPr>
          <p:nvPr/>
        </p:nvPicPr>
        <p:blipFill>
          <a:blip r:embed="rId17" cstate="hqprint">
            <a:extLst>
              <a:ext uri="{28A0092B-C50C-407E-A947-70E740481C1C}">
                <a14:useLocalDpi xmlns:a14="http://schemas.microsoft.com/office/drawing/2010/main" val="0"/>
              </a:ext>
            </a:extLst>
          </a:blip>
          <a:stretch>
            <a:fillRect/>
          </a:stretch>
        </p:blipFill>
        <p:spPr>
          <a:xfrm>
            <a:off x="296484" y="1516881"/>
            <a:ext cx="848760" cy="217141"/>
          </a:xfrm>
          <a:prstGeom prst="rect">
            <a:avLst/>
          </a:prstGeom>
        </p:spPr>
      </p:pic>
      <p:pic>
        <p:nvPicPr>
          <p:cNvPr id="1044" name="Picture 20" descr="File:Boston Scientific Logo.svg - Wikipedia"/>
          <p:cNvPicPr>
            <a:picLocks noChangeAspect="1" noChangeArrowheads="1"/>
          </p:cNvPicPr>
          <p:nvPr/>
        </p:nvPicPr>
        <p:blipFill>
          <a:blip r:embed="rId18" cstate="hqprint">
            <a:extLst>
              <a:ext uri="{28A0092B-C50C-407E-A947-70E740481C1C}">
                <a14:useLocalDpi xmlns:a14="http://schemas.microsoft.com/office/drawing/2010/main" val="0"/>
              </a:ext>
            </a:extLst>
          </a:blip>
          <a:srcRect/>
          <a:stretch>
            <a:fillRect/>
          </a:stretch>
        </p:blipFill>
        <p:spPr bwMode="auto">
          <a:xfrm>
            <a:off x="298042" y="3034790"/>
            <a:ext cx="819989" cy="28283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File:Medtronic logo.svg - Wikipedia"/>
          <p:cNvPicPr>
            <a:picLocks noChangeAspect="1" noChangeArrowheads="1"/>
          </p:cNvPicPr>
          <p:nvPr/>
        </p:nvPicPr>
        <p:blipFill>
          <a:blip r:embed="rId19" cstate="hqprint">
            <a:extLst>
              <a:ext uri="{28A0092B-C50C-407E-A947-70E740481C1C}">
                <a14:useLocalDpi xmlns:a14="http://schemas.microsoft.com/office/drawing/2010/main" val="0"/>
              </a:ext>
            </a:extLst>
          </a:blip>
          <a:srcRect/>
          <a:stretch>
            <a:fillRect/>
          </a:stretch>
        </p:blipFill>
        <p:spPr bwMode="auto">
          <a:xfrm>
            <a:off x="286236" y="2752304"/>
            <a:ext cx="842630" cy="14581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File:Stryker logo.svg - 維基百科，自由的百科全書"/>
          <p:cNvPicPr>
            <a:picLocks noChangeAspect="1" noChangeArrowheads="1"/>
          </p:cNvPicPr>
          <p:nvPr/>
        </p:nvPicPr>
        <p:blipFill>
          <a:blip r:embed="rId20" cstate="hqprint">
            <a:extLst>
              <a:ext uri="{28A0092B-C50C-407E-A947-70E740481C1C}">
                <a14:useLocalDpi xmlns:a14="http://schemas.microsoft.com/office/drawing/2010/main" val="0"/>
              </a:ext>
            </a:extLst>
          </a:blip>
          <a:srcRect/>
          <a:stretch>
            <a:fillRect/>
          </a:stretch>
        </p:blipFill>
        <p:spPr bwMode="auto">
          <a:xfrm>
            <a:off x="296009" y="2326574"/>
            <a:ext cx="824056" cy="219062"/>
          </a:xfrm>
          <a:prstGeom prst="rect">
            <a:avLst/>
          </a:prstGeom>
          <a:noFill/>
          <a:extLst>
            <a:ext uri="{909E8E84-426E-40DD-AFC4-6F175D3DCCD1}">
              <a14:hiddenFill xmlns:a14="http://schemas.microsoft.com/office/drawing/2010/main">
                <a:solidFill>
                  <a:srgbClr val="FFFFFF"/>
                </a:solidFill>
              </a14:hiddenFill>
            </a:ext>
          </a:extLst>
        </p:spPr>
      </p:pic>
      <p:sp>
        <p:nvSpPr>
          <p:cNvPr id="113" name="標題 1">
            <a:extLst>
              <a:ext uri="{FF2B5EF4-FFF2-40B4-BE49-F238E27FC236}">
                <a16:creationId xmlns:a16="http://schemas.microsoft.com/office/drawing/2014/main" id="{FFE905F6-BB37-4A1B-ABFA-21A7FFD8250D}"/>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市場地位</a:t>
            </a:r>
          </a:p>
        </p:txBody>
      </p:sp>
      <p:sp>
        <p:nvSpPr>
          <p:cNvPr id="136" name="矩形 135">
            <a:extLst>
              <a:ext uri="{FF2B5EF4-FFF2-40B4-BE49-F238E27FC236}">
                <a16:creationId xmlns:a16="http://schemas.microsoft.com/office/drawing/2014/main" id="{80082F1E-06B6-40CE-8222-AC50F26074A2}"/>
              </a:ext>
            </a:extLst>
          </p:cNvPr>
          <p:cNvSpPr/>
          <p:nvPr/>
        </p:nvSpPr>
        <p:spPr>
          <a:xfrm>
            <a:off x="461487" y="6547585"/>
            <a:ext cx="7338900" cy="207749"/>
          </a:xfrm>
          <a:prstGeom prst="rect">
            <a:avLst/>
          </a:prstGeom>
        </p:spPr>
        <p:txBody>
          <a:bodyPr wrap="square">
            <a:spAutoFit/>
          </a:bodyPr>
          <a:lstStyle/>
          <a:p>
            <a:pPr>
              <a:spcBef>
                <a:spcPct val="0"/>
              </a:spcBef>
              <a:buNone/>
            </a:pPr>
            <a:r>
              <a:rPr lang="zh-TW" altLang="en-US" sz="750" b="0" dirty="0">
                <a:latin typeface="+mj-ea"/>
                <a:ea typeface="+mj-ea"/>
              </a:rPr>
              <a:t>資料來源：</a:t>
            </a:r>
            <a:r>
              <a:rPr lang="en-US" altLang="zh-TW" sz="750" b="0" dirty="0" err="1">
                <a:latin typeface="+mj-ea"/>
                <a:ea typeface="+mj-ea"/>
              </a:rPr>
              <a:t>CompaniesMarketCap</a:t>
            </a:r>
            <a:r>
              <a:rPr lang="zh-TW" altLang="en-US" sz="750" b="0" dirty="0">
                <a:latin typeface="+mj-ea"/>
                <a:ea typeface="+mj-ea"/>
              </a:rPr>
              <a:t>、</a:t>
            </a:r>
            <a:r>
              <a:rPr lang="en-US" altLang="zh-TW" sz="750" b="0" dirty="0">
                <a:latin typeface="+mj-ea"/>
                <a:ea typeface="+mj-ea"/>
              </a:rPr>
              <a:t>Fortune</a:t>
            </a:r>
            <a:r>
              <a:rPr lang="zh-TW" altLang="en-US" sz="750" b="0" dirty="0">
                <a:latin typeface="+mj-ea"/>
                <a:ea typeface="+mj-ea"/>
              </a:rPr>
              <a:t>、</a:t>
            </a:r>
            <a:r>
              <a:rPr lang="en-US" altLang="zh-TW" sz="750" dirty="0">
                <a:latin typeface="+mj-ea"/>
                <a:ea typeface="+mj-ea"/>
              </a:rPr>
              <a:t>Brand Finance</a:t>
            </a:r>
            <a:r>
              <a:rPr lang="zh-TW" altLang="en-US" sz="750" b="0" dirty="0">
                <a:latin typeface="+mj-ea"/>
                <a:ea typeface="+mj-ea"/>
              </a:rPr>
              <a:t>、彭博</a:t>
            </a:r>
            <a:endParaRPr lang="en-US" altLang="zh-TW" sz="750" b="0" dirty="0">
              <a:latin typeface="+mj-ea"/>
              <a:ea typeface="+mj-ea"/>
            </a:endParaRPr>
          </a:p>
        </p:txBody>
      </p:sp>
      <p:sp>
        <p:nvSpPr>
          <p:cNvPr id="44" name="圓角矩形 43"/>
          <p:cNvSpPr/>
          <p:nvPr/>
        </p:nvSpPr>
        <p:spPr>
          <a:xfrm>
            <a:off x="3851919" y="2636912"/>
            <a:ext cx="739965" cy="800687"/>
          </a:xfrm>
          <a:prstGeom prst="roundRect">
            <a:avLst/>
          </a:prstGeom>
          <a:solidFill>
            <a:schemeClr val="bg1"/>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2" name="群組 41"/>
          <p:cNvGrpSpPr/>
          <p:nvPr/>
        </p:nvGrpSpPr>
        <p:grpSpPr>
          <a:xfrm>
            <a:off x="3704962" y="2621295"/>
            <a:ext cx="1060467" cy="816304"/>
            <a:chOff x="3701447" y="2708568"/>
            <a:chExt cx="1060467" cy="816304"/>
          </a:xfrm>
        </p:grpSpPr>
        <p:pic>
          <p:nvPicPr>
            <p:cNvPr id="1028" name="Picture 4" descr="TSMC (TSM) - Market capitalization"/>
            <p:cNvPicPr>
              <a:picLocks noChangeAspect="1" noChangeArrowheads="1"/>
            </p:cNvPicPr>
            <p:nvPr/>
          </p:nvPicPr>
          <p:blipFill>
            <a:blip r:embed="rId21" cstate="hqprint">
              <a:extLst>
                <a:ext uri="{28A0092B-C50C-407E-A947-70E740481C1C}">
                  <a14:useLocalDpi xmlns:a14="http://schemas.microsoft.com/office/drawing/2010/main" val="0"/>
                </a:ext>
              </a:extLst>
            </a:blip>
            <a:srcRect/>
            <a:stretch>
              <a:fillRect/>
            </a:stretch>
          </p:blipFill>
          <p:spPr bwMode="auto">
            <a:xfrm>
              <a:off x="4051340" y="2708568"/>
              <a:ext cx="339762" cy="339762"/>
            </a:xfrm>
            <a:prstGeom prst="rect">
              <a:avLst/>
            </a:prstGeom>
            <a:noFill/>
            <a:extLst>
              <a:ext uri="{909E8E84-426E-40DD-AFC4-6F175D3DCCD1}">
                <a14:hiddenFill xmlns:a14="http://schemas.microsoft.com/office/drawing/2010/main">
                  <a:solidFill>
                    <a:srgbClr val="FFFFFF"/>
                  </a:solidFill>
                </a14:hiddenFill>
              </a:ext>
            </a:extLst>
          </p:spPr>
        </p:pic>
        <p:sp>
          <p:nvSpPr>
            <p:cNvPr id="13" name="文字方塊 12"/>
            <p:cNvSpPr txBox="1"/>
            <p:nvPr/>
          </p:nvSpPr>
          <p:spPr>
            <a:xfrm>
              <a:off x="3701447" y="3024726"/>
              <a:ext cx="1059499" cy="369332"/>
            </a:xfrm>
            <a:prstGeom prst="rect">
              <a:avLst/>
            </a:prstGeom>
            <a:noFill/>
          </p:spPr>
          <p:txBody>
            <a:bodyPr wrap="square" rtlCol="0">
              <a:spAutoFit/>
            </a:bodyPr>
            <a:lstStyle/>
            <a:p>
              <a:pPr algn="ctr"/>
              <a:r>
                <a:rPr lang="en-US" altLang="zh-TW" sz="900" b="1" dirty="0"/>
                <a:t>Companies Market Cap </a:t>
              </a:r>
              <a:endParaRPr lang="zh-TW" altLang="en-US" sz="900" b="1" dirty="0"/>
            </a:p>
          </p:txBody>
        </p:sp>
        <p:sp>
          <p:nvSpPr>
            <p:cNvPr id="71" name="文字方塊 70"/>
            <p:cNvSpPr txBox="1"/>
            <p:nvPr/>
          </p:nvSpPr>
          <p:spPr>
            <a:xfrm>
              <a:off x="3702415" y="3309428"/>
              <a:ext cx="1059499" cy="215444"/>
            </a:xfrm>
            <a:prstGeom prst="rect">
              <a:avLst/>
            </a:prstGeom>
            <a:noFill/>
          </p:spPr>
          <p:txBody>
            <a:bodyPr wrap="square" rtlCol="0">
              <a:spAutoFit/>
            </a:bodyPr>
            <a:lstStyle/>
            <a:p>
              <a:pPr algn="ctr"/>
              <a:r>
                <a:rPr lang="en-US" altLang="zh-TW" sz="800" dirty="0"/>
                <a:t>2026/3/25</a:t>
              </a:r>
              <a:endParaRPr lang="zh-TW" altLang="en-US" sz="800" dirty="0"/>
            </a:p>
          </p:txBody>
        </p:sp>
      </p:grpSp>
      <p:pic>
        <p:nvPicPr>
          <p:cNvPr id="1026" name="Picture 2" descr="BellRing Brands logo in transparent PNG and vectorized SVG formats">
            <a:extLst>
              <a:ext uri="{FF2B5EF4-FFF2-40B4-BE49-F238E27FC236}">
                <a16:creationId xmlns:a16="http://schemas.microsoft.com/office/drawing/2014/main" id="{0CDDC116-EE71-481B-8D5E-7712FF1FE67C}"/>
              </a:ext>
            </a:extLst>
          </p:cNvPr>
          <p:cNvPicPr>
            <a:picLocks noChangeAspect="1" noChangeArrowheads="1"/>
          </p:cNvPicPr>
          <p:nvPr/>
        </p:nvPicPr>
        <p:blipFill>
          <a:blip r:embed="rId22" cstate="hq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90373" y="5839610"/>
            <a:ext cx="420410" cy="204293"/>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群組 20">
            <a:extLst>
              <a:ext uri="{FF2B5EF4-FFF2-40B4-BE49-F238E27FC236}">
                <a16:creationId xmlns:a16="http://schemas.microsoft.com/office/drawing/2014/main" id="{1C99BBCE-9EED-4789-B3FB-C56F16F152AD}"/>
              </a:ext>
            </a:extLst>
          </p:cNvPr>
          <p:cNvGrpSpPr/>
          <p:nvPr/>
        </p:nvGrpSpPr>
        <p:grpSpPr>
          <a:xfrm>
            <a:off x="191994" y="4135509"/>
            <a:ext cx="4298411" cy="2133606"/>
            <a:chOff x="191994" y="3995957"/>
            <a:chExt cx="4298411" cy="2133606"/>
          </a:xfrm>
        </p:grpSpPr>
        <p:grpSp>
          <p:nvGrpSpPr>
            <p:cNvPr id="173" name="群組 172">
              <a:extLst>
                <a:ext uri="{FF2B5EF4-FFF2-40B4-BE49-F238E27FC236}">
                  <a16:creationId xmlns:a16="http://schemas.microsoft.com/office/drawing/2014/main" id="{235D8815-3E3B-455D-9E82-055082CC82E2}"/>
                </a:ext>
              </a:extLst>
            </p:cNvPr>
            <p:cNvGrpSpPr/>
            <p:nvPr/>
          </p:nvGrpSpPr>
          <p:grpSpPr>
            <a:xfrm>
              <a:off x="191994" y="3995957"/>
              <a:ext cx="4298411" cy="2133606"/>
              <a:chOff x="182593" y="4062935"/>
              <a:chExt cx="4298411" cy="2133606"/>
            </a:xfrm>
          </p:grpSpPr>
          <p:cxnSp>
            <p:nvCxnSpPr>
              <p:cNvPr id="182" name="直線接點 181">
                <a:extLst>
                  <a:ext uri="{FF2B5EF4-FFF2-40B4-BE49-F238E27FC236}">
                    <a16:creationId xmlns:a16="http://schemas.microsoft.com/office/drawing/2014/main" id="{D8D660D8-1460-4225-9E22-DCEF66A699F5}"/>
                  </a:ext>
                </a:extLst>
              </p:cNvPr>
              <p:cNvCxnSpPr/>
              <p:nvPr/>
            </p:nvCxnSpPr>
            <p:spPr>
              <a:xfrm>
                <a:off x="279543" y="5153200"/>
                <a:ext cx="4182355"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3" name="直線接點 182">
                <a:extLst>
                  <a:ext uri="{FF2B5EF4-FFF2-40B4-BE49-F238E27FC236}">
                    <a16:creationId xmlns:a16="http://schemas.microsoft.com/office/drawing/2014/main" id="{967A328F-79B8-4442-9AF2-C390F2A9D1B9}"/>
                  </a:ext>
                </a:extLst>
              </p:cNvPr>
              <p:cNvCxnSpPr/>
              <p:nvPr/>
            </p:nvCxnSpPr>
            <p:spPr>
              <a:xfrm>
                <a:off x="1050977" y="4131825"/>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84" name="直線接點 183">
                <a:extLst>
                  <a:ext uri="{FF2B5EF4-FFF2-40B4-BE49-F238E27FC236}">
                    <a16:creationId xmlns:a16="http://schemas.microsoft.com/office/drawing/2014/main" id="{A251D67B-ABCD-4C5B-A2B2-E5E07BCEF2D0}"/>
                  </a:ext>
                </a:extLst>
              </p:cNvPr>
              <p:cNvCxnSpPr/>
              <p:nvPr/>
            </p:nvCxnSpPr>
            <p:spPr>
              <a:xfrm>
                <a:off x="1927791" y="4131825"/>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85" name="直線接點 184">
                <a:extLst>
                  <a:ext uri="{FF2B5EF4-FFF2-40B4-BE49-F238E27FC236}">
                    <a16:creationId xmlns:a16="http://schemas.microsoft.com/office/drawing/2014/main" id="{5BE44EEB-2445-4E25-9145-B3722CD97867}"/>
                  </a:ext>
                </a:extLst>
              </p:cNvPr>
              <p:cNvCxnSpPr/>
              <p:nvPr/>
            </p:nvCxnSpPr>
            <p:spPr>
              <a:xfrm>
                <a:off x="2804605" y="4131825"/>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86" name="直線接點 185">
                <a:extLst>
                  <a:ext uri="{FF2B5EF4-FFF2-40B4-BE49-F238E27FC236}">
                    <a16:creationId xmlns:a16="http://schemas.microsoft.com/office/drawing/2014/main" id="{21138565-08FE-4193-9934-72F308B28A9E}"/>
                  </a:ext>
                </a:extLst>
              </p:cNvPr>
              <p:cNvCxnSpPr/>
              <p:nvPr/>
            </p:nvCxnSpPr>
            <p:spPr>
              <a:xfrm>
                <a:off x="3681419" y="4131825"/>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0" name="直線接點 189">
                <a:extLst>
                  <a:ext uri="{FF2B5EF4-FFF2-40B4-BE49-F238E27FC236}">
                    <a16:creationId xmlns:a16="http://schemas.microsoft.com/office/drawing/2014/main" id="{5FEC07F5-04AA-4A6E-89E4-AD4F667223ED}"/>
                  </a:ext>
                </a:extLst>
              </p:cNvPr>
              <p:cNvCxnSpPr/>
              <p:nvPr/>
            </p:nvCxnSpPr>
            <p:spPr>
              <a:xfrm>
                <a:off x="1050977" y="5330430"/>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1" name="直線接點 190">
                <a:extLst>
                  <a:ext uri="{FF2B5EF4-FFF2-40B4-BE49-F238E27FC236}">
                    <a16:creationId xmlns:a16="http://schemas.microsoft.com/office/drawing/2014/main" id="{C279003E-F667-4767-A05F-D7AE7B81FDF4}"/>
                  </a:ext>
                </a:extLst>
              </p:cNvPr>
              <p:cNvCxnSpPr/>
              <p:nvPr/>
            </p:nvCxnSpPr>
            <p:spPr>
              <a:xfrm>
                <a:off x="1927791" y="5330430"/>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2" name="直線接點 191">
                <a:extLst>
                  <a:ext uri="{FF2B5EF4-FFF2-40B4-BE49-F238E27FC236}">
                    <a16:creationId xmlns:a16="http://schemas.microsoft.com/office/drawing/2014/main" id="{C974BDEF-2A6A-4ED6-A36D-A8A63BC16AE9}"/>
                  </a:ext>
                </a:extLst>
              </p:cNvPr>
              <p:cNvCxnSpPr/>
              <p:nvPr/>
            </p:nvCxnSpPr>
            <p:spPr>
              <a:xfrm>
                <a:off x="2804605" y="5330430"/>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194" name="直線接點 193">
                <a:extLst>
                  <a:ext uri="{FF2B5EF4-FFF2-40B4-BE49-F238E27FC236}">
                    <a16:creationId xmlns:a16="http://schemas.microsoft.com/office/drawing/2014/main" id="{7AB17B25-E3D5-48EB-8A49-2D515C6B6D53}"/>
                  </a:ext>
                </a:extLst>
              </p:cNvPr>
              <p:cNvCxnSpPr/>
              <p:nvPr/>
            </p:nvCxnSpPr>
            <p:spPr>
              <a:xfrm>
                <a:off x="3681419" y="5330430"/>
                <a:ext cx="0" cy="866111"/>
              </a:xfrm>
              <a:prstGeom prst="line">
                <a:avLst/>
              </a:prstGeom>
              <a:ln w="12700">
                <a:solidFill>
                  <a:srgbClr val="BFBFBF"/>
                </a:solidFill>
              </a:ln>
            </p:spPr>
            <p:style>
              <a:lnRef idx="1">
                <a:schemeClr val="accent1"/>
              </a:lnRef>
              <a:fillRef idx="0">
                <a:schemeClr val="accent1"/>
              </a:fillRef>
              <a:effectRef idx="0">
                <a:schemeClr val="accent1"/>
              </a:effectRef>
              <a:fontRef idx="minor">
                <a:schemeClr val="tx1"/>
              </a:fontRef>
            </p:style>
          </p:cxnSp>
          <p:sp>
            <p:nvSpPr>
              <p:cNvPr id="195" name="文字方塊 194">
                <a:extLst>
                  <a:ext uri="{FF2B5EF4-FFF2-40B4-BE49-F238E27FC236}">
                    <a16:creationId xmlns:a16="http://schemas.microsoft.com/office/drawing/2014/main" id="{BFDF96F4-B15B-4018-96EC-6AB422A28EA6}"/>
                  </a:ext>
                </a:extLst>
              </p:cNvPr>
              <p:cNvSpPr txBox="1"/>
              <p:nvPr/>
            </p:nvSpPr>
            <p:spPr>
              <a:xfrm>
                <a:off x="186504" y="4062935"/>
                <a:ext cx="236985" cy="307777"/>
              </a:xfrm>
              <a:prstGeom prst="rect">
                <a:avLst/>
              </a:prstGeom>
              <a:noFill/>
            </p:spPr>
            <p:txBody>
              <a:bodyPr wrap="square" rtlCol="0">
                <a:spAutoFit/>
              </a:bodyPr>
              <a:lstStyle/>
              <a:p>
                <a:r>
                  <a:rPr lang="en-US" altLang="zh-TW" sz="1400" b="1" dirty="0">
                    <a:solidFill>
                      <a:schemeClr val="tx1">
                        <a:lumMod val="75000"/>
                        <a:lumOff val="25000"/>
                      </a:schemeClr>
                    </a:solidFill>
                  </a:rPr>
                  <a:t>1</a:t>
                </a:r>
                <a:endParaRPr lang="zh-TW" altLang="en-US" sz="1400" b="1" dirty="0">
                  <a:solidFill>
                    <a:schemeClr val="tx1">
                      <a:lumMod val="75000"/>
                      <a:lumOff val="25000"/>
                    </a:schemeClr>
                  </a:solidFill>
                </a:endParaRPr>
              </a:p>
            </p:txBody>
          </p:sp>
          <p:sp>
            <p:nvSpPr>
              <p:cNvPr id="196" name="文字方塊 195">
                <a:extLst>
                  <a:ext uri="{FF2B5EF4-FFF2-40B4-BE49-F238E27FC236}">
                    <a16:creationId xmlns:a16="http://schemas.microsoft.com/office/drawing/2014/main" id="{F2528240-BBED-4FB9-B60A-62E431884FB9}"/>
                  </a:ext>
                </a:extLst>
              </p:cNvPr>
              <p:cNvSpPr txBox="1"/>
              <p:nvPr/>
            </p:nvSpPr>
            <p:spPr>
              <a:xfrm>
                <a:off x="1055780" y="4062935"/>
                <a:ext cx="236985" cy="307777"/>
              </a:xfrm>
              <a:prstGeom prst="rect">
                <a:avLst/>
              </a:prstGeom>
              <a:noFill/>
            </p:spPr>
            <p:txBody>
              <a:bodyPr wrap="square" rtlCol="0">
                <a:spAutoFit/>
              </a:bodyPr>
              <a:lstStyle/>
              <a:p>
                <a:r>
                  <a:rPr lang="en-US" altLang="zh-TW" sz="1400" b="1" dirty="0">
                    <a:solidFill>
                      <a:schemeClr val="tx1">
                        <a:lumMod val="75000"/>
                        <a:lumOff val="25000"/>
                      </a:schemeClr>
                    </a:solidFill>
                  </a:rPr>
                  <a:t>2</a:t>
                </a:r>
                <a:endParaRPr lang="zh-TW" altLang="en-US" sz="1400" b="1" dirty="0">
                  <a:solidFill>
                    <a:schemeClr val="tx1">
                      <a:lumMod val="75000"/>
                      <a:lumOff val="25000"/>
                    </a:schemeClr>
                  </a:solidFill>
                </a:endParaRPr>
              </a:p>
            </p:txBody>
          </p:sp>
          <p:sp>
            <p:nvSpPr>
              <p:cNvPr id="197" name="文字方塊 196">
                <a:extLst>
                  <a:ext uri="{FF2B5EF4-FFF2-40B4-BE49-F238E27FC236}">
                    <a16:creationId xmlns:a16="http://schemas.microsoft.com/office/drawing/2014/main" id="{FC9E0134-C6BF-40BA-B4F0-C1CBF7769341}"/>
                  </a:ext>
                </a:extLst>
              </p:cNvPr>
              <p:cNvSpPr txBox="1"/>
              <p:nvPr/>
            </p:nvSpPr>
            <p:spPr>
              <a:xfrm>
                <a:off x="1925056" y="4062935"/>
                <a:ext cx="236985" cy="307777"/>
              </a:xfrm>
              <a:prstGeom prst="rect">
                <a:avLst/>
              </a:prstGeom>
              <a:noFill/>
            </p:spPr>
            <p:txBody>
              <a:bodyPr wrap="square" rtlCol="0">
                <a:spAutoFit/>
              </a:bodyPr>
              <a:lstStyle/>
              <a:p>
                <a:r>
                  <a:rPr lang="en-US" altLang="zh-TW" sz="1400" b="1" dirty="0">
                    <a:solidFill>
                      <a:schemeClr val="tx1">
                        <a:lumMod val="75000"/>
                        <a:lumOff val="25000"/>
                      </a:schemeClr>
                    </a:solidFill>
                  </a:rPr>
                  <a:t>3</a:t>
                </a:r>
                <a:endParaRPr lang="zh-TW" altLang="en-US" sz="1400" b="1" dirty="0">
                  <a:solidFill>
                    <a:schemeClr val="tx1">
                      <a:lumMod val="75000"/>
                      <a:lumOff val="25000"/>
                    </a:schemeClr>
                  </a:solidFill>
                </a:endParaRPr>
              </a:p>
            </p:txBody>
          </p:sp>
          <p:sp>
            <p:nvSpPr>
              <p:cNvPr id="199" name="文字方塊 198">
                <a:extLst>
                  <a:ext uri="{FF2B5EF4-FFF2-40B4-BE49-F238E27FC236}">
                    <a16:creationId xmlns:a16="http://schemas.microsoft.com/office/drawing/2014/main" id="{3930547F-A4D5-4EC3-9822-C9DF5495CD9D}"/>
                  </a:ext>
                </a:extLst>
              </p:cNvPr>
              <p:cNvSpPr txBox="1"/>
              <p:nvPr/>
            </p:nvSpPr>
            <p:spPr>
              <a:xfrm>
                <a:off x="2794332" y="4062935"/>
                <a:ext cx="236985" cy="307777"/>
              </a:xfrm>
              <a:prstGeom prst="rect">
                <a:avLst/>
              </a:prstGeom>
              <a:noFill/>
            </p:spPr>
            <p:txBody>
              <a:bodyPr wrap="square" rtlCol="0">
                <a:spAutoFit/>
              </a:bodyPr>
              <a:lstStyle/>
              <a:p>
                <a:r>
                  <a:rPr lang="en-US" altLang="zh-TW" sz="1400" b="1" dirty="0">
                    <a:solidFill>
                      <a:schemeClr val="tx1">
                        <a:lumMod val="75000"/>
                        <a:lumOff val="25000"/>
                      </a:schemeClr>
                    </a:solidFill>
                  </a:rPr>
                  <a:t>4</a:t>
                </a:r>
                <a:endParaRPr lang="zh-TW" altLang="en-US" sz="1400" b="1" dirty="0">
                  <a:solidFill>
                    <a:schemeClr val="tx1">
                      <a:lumMod val="75000"/>
                      <a:lumOff val="25000"/>
                    </a:schemeClr>
                  </a:solidFill>
                </a:endParaRPr>
              </a:p>
            </p:txBody>
          </p:sp>
          <p:sp>
            <p:nvSpPr>
              <p:cNvPr id="200" name="文字方塊 199">
                <a:extLst>
                  <a:ext uri="{FF2B5EF4-FFF2-40B4-BE49-F238E27FC236}">
                    <a16:creationId xmlns:a16="http://schemas.microsoft.com/office/drawing/2014/main" id="{07CF4284-47CA-4CDC-B977-1897DF4E7438}"/>
                  </a:ext>
                </a:extLst>
              </p:cNvPr>
              <p:cNvSpPr txBox="1"/>
              <p:nvPr/>
            </p:nvSpPr>
            <p:spPr>
              <a:xfrm>
                <a:off x="3663609" y="4062935"/>
                <a:ext cx="236985" cy="307777"/>
              </a:xfrm>
              <a:prstGeom prst="rect">
                <a:avLst/>
              </a:prstGeom>
              <a:noFill/>
            </p:spPr>
            <p:txBody>
              <a:bodyPr wrap="square" rtlCol="0">
                <a:spAutoFit/>
              </a:bodyPr>
              <a:lstStyle/>
              <a:p>
                <a:r>
                  <a:rPr lang="en-US" altLang="zh-TW" sz="1400" b="1" dirty="0">
                    <a:solidFill>
                      <a:schemeClr val="tx1">
                        <a:lumMod val="75000"/>
                        <a:lumOff val="25000"/>
                      </a:schemeClr>
                    </a:solidFill>
                  </a:rPr>
                  <a:t>5</a:t>
                </a:r>
                <a:endParaRPr lang="zh-TW" altLang="en-US" sz="1400" b="1" dirty="0">
                  <a:solidFill>
                    <a:schemeClr val="tx1">
                      <a:lumMod val="75000"/>
                      <a:lumOff val="25000"/>
                    </a:schemeClr>
                  </a:solidFill>
                </a:endParaRPr>
              </a:p>
            </p:txBody>
          </p:sp>
          <p:sp>
            <p:nvSpPr>
              <p:cNvPr id="201" name="文字方塊 200">
                <a:extLst>
                  <a:ext uri="{FF2B5EF4-FFF2-40B4-BE49-F238E27FC236}">
                    <a16:creationId xmlns:a16="http://schemas.microsoft.com/office/drawing/2014/main" id="{D275DA12-A017-4E33-BA3D-D66162CBA0CF}"/>
                  </a:ext>
                </a:extLst>
              </p:cNvPr>
              <p:cNvSpPr txBox="1"/>
              <p:nvPr/>
            </p:nvSpPr>
            <p:spPr>
              <a:xfrm>
                <a:off x="182593" y="5268947"/>
                <a:ext cx="193900" cy="310945"/>
              </a:xfrm>
              <a:prstGeom prst="rect">
                <a:avLst/>
              </a:prstGeom>
              <a:noFill/>
            </p:spPr>
            <p:txBody>
              <a:bodyPr wrap="square" rtlCol="0">
                <a:spAutoFit/>
              </a:bodyPr>
              <a:lstStyle/>
              <a:p>
                <a:r>
                  <a:rPr lang="en-US" altLang="zh-TW" sz="1400" b="1" dirty="0">
                    <a:solidFill>
                      <a:schemeClr val="tx1">
                        <a:lumMod val="75000"/>
                        <a:lumOff val="25000"/>
                      </a:schemeClr>
                    </a:solidFill>
                  </a:rPr>
                  <a:t>6</a:t>
                </a:r>
                <a:endParaRPr lang="zh-TW" altLang="en-US" sz="1400" b="1" dirty="0">
                  <a:solidFill>
                    <a:schemeClr val="tx1">
                      <a:lumMod val="75000"/>
                      <a:lumOff val="25000"/>
                    </a:schemeClr>
                  </a:solidFill>
                </a:endParaRPr>
              </a:p>
            </p:txBody>
          </p:sp>
          <p:sp>
            <p:nvSpPr>
              <p:cNvPr id="202" name="文字方塊 201">
                <a:extLst>
                  <a:ext uri="{FF2B5EF4-FFF2-40B4-BE49-F238E27FC236}">
                    <a16:creationId xmlns:a16="http://schemas.microsoft.com/office/drawing/2014/main" id="{792755FE-EED3-438D-B840-764679322994}"/>
                  </a:ext>
                </a:extLst>
              </p:cNvPr>
              <p:cNvSpPr txBox="1"/>
              <p:nvPr/>
            </p:nvSpPr>
            <p:spPr>
              <a:xfrm>
                <a:off x="1051869" y="5268947"/>
                <a:ext cx="193900" cy="310945"/>
              </a:xfrm>
              <a:prstGeom prst="rect">
                <a:avLst/>
              </a:prstGeom>
              <a:noFill/>
            </p:spPr>
            <p:txBody>
              <a:bodyPr wrap="square" rtlCol="0">
                <a:spAutoFit/>
              </a:bodyPr>
              <a:lstStyle/>
              <a:p>
                <a:r>
                  <a:rPr lang="en-US" altLang="zh-TW" sz="1400" b="1" dirty="0">
                    <a:solidFill>
                      <a:schemeClr val="tx1">
                        <a:lumMod val="75000"/>
                        <a:lumOff val="25000"/>
                      </a:schemeClr>
                    </a:solidFill>
                  </a:rPr>
                  <a:t>7</a:t>
                </a:r>
                <a:endParaRPr lang="zh-TW" altLang="en-US" sz="1400" b="1" dirty="0">
                  <a:solidFill>
                    <a:schemeClr val="tx1">
                      <a:lumMod val="75000"/>
                      <a:lumOff val="25000"/>
                    </a:schemeClr>
                  </a:solidFill>
                </a:endParaRPr>
              </a:p>
            </p:txBody>
          </p:sp>
          <p:sp>
            <p:nvSpPr>
              <p:cNvPr id="203" name="文字方塊 202">
                <a:extLst>
                  <a:ext uri="{FF2B5EF4-FFF2-40B4-BE49-F238E27FC236}">
                    <a16:creationId xmlns:a16="http://schemas.microsoft.com/office/drawing/2014/main" id="{147FECA9-1F8F-48A0-9125-8582126044C4}"/>
                  </a:ext>
                </a:extLst>
              </p:cNvPr>
              <p:cNvSpPr txBox="1"/>
              <p:nvPr/>
            </p:nvSpPr>
            <p:spPr>
              <a:xfrm>
                <a:off x="1921145" y="5268947"/>
                <a:ext cx="193900" cy="310945"/>
              </a:xfrm>
              <a:prstGeom prst="rect">
                <a:avLst/>
              </a:prstGeom>
              <a:noFill/>
            </p:spPr>
            <p:txBody>
              <a:bodyPr wrap="square" rtlCol="0">
                <a:spAutoFit/>
              </a:bodyPr>
              <a:lstStyle/>
              <a:p>
                <a:r>
                  <a:rPr lang="en-US" altLang="zh-TW" sz="1400" b="1" dirty="0">
                    <a:solidFill>
                      <a:schemeClr val="tx1">
                        <a:lumMod val="75000"/>
                        <a:lumOff val="25000"/>
                      </a:schemeClr>
                    </a:solidFill>
                  </a:rPr>
                  <a:t>8</a:t>
                </a:r>
                <a:endParaRPr lang="zh-TW" altLang="en-US" sz="1400" b="1" dirty="0">
                  <a:solidFill>
                    <a:schemeClr val="tx1">
                      <a:lumMod val="75000"/>
                      <a:lumOff val="25000"/>
                    </a:schemeClr>
                  </a:solidFill>
                </a:endParaRPr>
              </a:p>
            </p:txBody>
          </p:sp>
          <p:sp>
            <p:nvSpPr>
              <p:cNvPr id="204" name="文字方塊 203">
                <a:extLst>
                  <a:ext uri="{FF2B5EF4-FFF2-40B4-BE49-F238E27FC236}">
                    <a16:creationId xmlns:a16="http://schemas.microsoft.com/office/drawing/2014/main" id="{ADF92C37-E7B1-4B8D-B8C1-6DDA5B75675A}"/>
                  </a:ext>
                </a:extLst>
              </p:cNvPr>
              <p:cNvSpPr txBox="1"/>
              <p:nvPr/>
            </p:nvSpPr>
            <p:spPr>
              <a:xfrm>
                <a:off x="2790421" y="5268947"/>
                <a:ext cx="193900" cy="310945"/>
              </a:xfrm>
              <a:prstGeom prst="rect">
                <a:avLst/>
              </a:prstGeom>
              <a:noFill/>
            </p:spPr>
            <p:txBody>
              <a:bodyPr wrap="square" rtlCol="0">
                <a:spAutoFit/>
              </a:bodyPr>
              <a:lstStyle/>
              <a:p>
                <a:r>
                  <a:rPr lang="en-US" altLang="zh-TW" sz="1400" b="1" dirty="0">
                    <a:solidFill>
                      <a:schemeClr val="tx1">
                        <a:lumMod val="75000"/>
                        <a:lumOff val="25000"/>
                      </a:schemeClr>
                    </a:solidFill>
                  </a:rPr>
                  <a:t>9</a:t>
                </a:r>
                <a:endParaRPr lang="zh-TW" altLang="en-US" sz="1400" b="1" dirty="0">
                  <a:solidFill>
                    <a:schemeClr val="tx1">
                      <a:lumMod val="75000"/>
                      <a:lumOff val="25000"/>
                    </a:schemeClr>
                  </a:solidFill>
                </a:endParaRPr>
              </a:p>
            </p:txBody>
          </p:sp>
          <p:sp>
            <p:nvSpPr>
              <p:cNvPr id="205" name="文字方塊 204">
                <a:extLst>
                  <a:ext uri="{FF2B5EF4-FFF2-40B4-BE49-F238E27FC236}">
                    <a16:creationId xmlns:a16="http://schemas.microsoft.com/office/drawing/2014/main" id="{54B41832-7E04-4AF8-81D0-18003903DEBE}"/>
                  </a:ext>
                </a:extLst>
              </p:cNvPr>
              <p:cNvSpPr txBox="1"/>
              <p:nvPr/>
            </p:nvSpPr>
            <p:spPr>
              <a:xfrm>
                <a:off x="3659697" y="5268947"/>
                <a:ext cx="404743" cy="307777"/>
              </a:xfrm>
              <a:prstGeom prst="rect">
                <a:avLst/>
              </a:prstGeom>
              <a:noFill/>
            </p:spPr>
            <p:txBody>
              <a:bodyPr wrap="square" rtlCol="0">
                <a:spAutoFit/>
              </a:bodyPr>
              <a:lstStyle/>
              <a:p>
                <a:r>
                  <a:rPr lang="en-US" altLang="zh-TW" sz="1400" b="1" dirty="0">
                    <a:solidFill>
                      <a:schemeClr val="tx1">
                        <a:lumMod val="75000"/>
                        <a:lumOff val="25000"/>
                      </a:schemeClr>
                    </a:solidFill>
                  </a:rPr>
                  <a:t>10</a:t>
                </a:r>
                <a:endParaRPr lang="zh-TW" altLang="en-US" sz="1400" b="1" dirty="0">
                  <a:solidFill>
                    <a:schemeClr val="tx1">
                      <a:lumMod val="75000"/>
                      <a:lumOff val="25000"/>
                    </a:schemeClr>
                  </a:solidFill>
                </a:endParaRPr>
              </a:p>
            </p:txBody>
          </p:sp>
          <p:sp>
            <p:nvSpPr>
              <p:cNvPr id="206" name="文字方塊 205">
                <a:extLst>
                  <a:ext uri="{FF2B5EF4-FFF2-40B4-BE49-F238E27FC236}">
                    <a16:creationId xmlns:a16="http://schemas.microsoft.com/office/drawing/2014/main" id="{F4CC8F4E-1251-417A-A94F-694ACCDE92BD}"/>
                  </a:ext>
                </a:extLst>
              </p:cNvPr>
              <p:cNvSpPr txBox="1"/>
              <p:nvPr/>
            </p:nvSpPr>
            <p:spPr>
              <a:xfrm>
                <a:off x="264145" y="4778455"/>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$7.4B</a:t>
                </a:r>
                <a:endParaRPr lang="zh-TW" altLang="en-US" sz="800" b="1" dirty="0">
                  <a:solidFill>
                    <a:schemeClr val="tx1">
                      <a:lumMod val="75000"/>
                      <a:lumOff val="25000"/>
                    </a:schemeClr>
                  </a:solidFill>
                </a:endParaRPr>
              </a:p>
            </p:txBody>
          </p:sp>
          <p:sp>
            <p:nvSpPr>
              <p:cNvPr id="207" name="文字方塊 206">
                <a:extLst>
                  <a:ext uri="{FF2B5EF4-FFF2-40B4-BE49-F238E27FC236}">
                    <a16:creationId xmlns:a16="http://schemas.microsoft.com/office/drawing/2014/main" id="{EB074C27-162F-4319-99FD-AD179F135EA5}"/>
                  </a:ext>
                </a:extLst>
              </p:cNvPr>
              <p:cNvSpPr txBox="1"/>
              <p:nvPr/>
            </p:nvSpPr>
            <p:spPr>
              <a:xfrm>
                <a:off x="1113811" y="4778455"/>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$7.3B</a:t>
                </a:r>
                <a:endParaRPr lang="zh-TW" altLang="en-US" sz="800" b="1" dirty="0">
                  <a:solidFill>
                    <a:schemeClr val="tx1">
                      <a:lumMod val="75000"/>
                      <a:lumOff val="25000"/>
                    </a:schemeClr>
                  </a:solidFill>
                </a:endParaRPr>
              </a:p>
            </p:txBody>
          </p:sp>
          <p:sp>
            <p:nvSpPr>
              <p:cNvPr id="208" name="文字方塊 207">
                <a:extLst>
                  <a:ext uri="{FF2B5EF4-FFF2-40B4-BE49-F238E27FC236}">
                    <a16:creationId xmlns:a16="http://schemas.microsoft.com/office/drawing/2014/main" id="{F683E916-9431-41A7-89FD-1CBF3B4B9986}"/>
                  </a:ext>
                </a:extLst>
              </p:cNvPr>
              <p:cNvSpPr txBox="1"/>
              <p:nvPr/>
            </p:nvSpPr>
            <p:spPr>
              <a:xfrm>
                <a:off x="2002759" y="4780992"/>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$5.8B</a:t>
                </a:r>
                <a:endParaRPr lang="zh-TW" altLang="en-US" sz="800" b="1" dirty="0">
                  <a:solidFill>
                    <a:schemeClr val="tx1">
                      <a:lumMod val="75000"/>
                      <a:lumOff val="25000"/>
                    </a:schemeClr>
                  </a:solidFill>
                </a:endParaRPr>
              </a:p>
            </p:txBody>
          </p:sp>
          <p:sp>
            <p:nvSpPr>
              <p:cNvPr id="209" name="文字方塊 208">
                <a:extLst>
                  <a:ext uri="{FF2B5EF4-FFF2-40B4-BE49-F238E27FC236}">
                    <a16:creationId xmlns:a16="http://schemas.microsoft.com/office/drawing/2014/main" id="{8B250B65-9F71-4D0D-B865-738B708CBE87}"/>
                  </a:ext>
                </a:extLst>
              </p:cNvPr>
              <p:cNvSpPr txBox="1"/>
              <p:nvPr/>
            </p:nvSpPr>
            <p:spPr>
              <a:xfrm>
                <a:off x="2878646" y="4778220"/>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$5.5B</a:t>
                </a:r>
                <a:endParaRPr lang="zh-TW" altLang="en-US" sz="800" b="1" dirty="0">
                  <a:solidFill>
                    <a:schemeClr val="tx1">
                      <a:lumMod val="75000"/>
                      <a:lumOff val="25000"/>
                    </a:schemeClr>
                  </a:solidFill>
                </a:endParaRPr>
              </a:p>
            </p:txBody>
          </p:sp>
          <p:sp>
            <p:nvSpPr>
              <p:cNvPr id="210" name="文字方塊 209">
                <a:extLst>
                  <a:ext uri="{FF2B5EF4-FFF2-40B4-BE49-F238E27FC236}">
                    <a16:creationId xmlns:a16="http://schemas.microsoft.com/office/drawing/2014/main" id="{664E7A3C-0605-4AAB-8BE1-BB83A4E5A366}"/>
                  </a:ext>
                </a:extLst>
              </p:cNvPr>
              <p:cNvSpPr txBox="1"/>
              <p:nvPr/>
            </p:nvSpPr>
            <p:spPr>
              <a:xfrm>
                <a:off x="3738910" y="4778220"/>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$5.2B</a:t>
                </a:r>
                <a:endParaRPr lang="zh-TW" altLang="en-US" sz="800" b="1" dirty="0">
                  <a:solidFill>
                    <a:schemeClr val="tx1">
                      <a:lumMod val="75000"/>
                      <a:lumOff val="25000"/>
                    </a:schemeClr>
                  </a:solidFill>
                </a:endParaRPr>
              </a:p>
            </p:txBody>
          </p:sp>
          <p:sp>
            <p:nvSpPr>
              <p:cNvPr id="211" name="文字方塊 210">
                <a:extLst>
                  <a:ext uri="{FF2B5EF4-FFF2-40B4-BE49-F238E27FC236}">
                    <a16:creationId xmlns:a16="http://schemas.microsoft.com/office/drawing/2014/main" id="{AB028A5E-847D-457C-8CBD-313BF816007E}"/>
                  </a:ext>
                </a:extLst>
              </p:cNvPr>
              <p:cNvSpPr txBox="1"/>
              <p:nvPr/>
            </p:nvSpPr>
            <p:spPr>
              <a:xfrm>
                <a:off x="264145" y="5980322"/>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$5.2B</a:t>
                </a:r>
                <a:endParaRPr lang="zh-TW" altLang="en-US" sz="800" b="1" dirty="0">
                  <a:solidFill>
                    <a:schemeClr val="tx1">
                      <a:lumMod val="75000"/>
                      <a:lumOff val="25000"/>
                    </a:schemeClr>
                  </a:solidFill>
                </a:endParaRPr>
              </a:p>
            </p:txBody>
          </p:sp>
          <p:sp>
            <p:nvSpPr>
              <p:cNvPr id="212" name="文字方塊 211">
                <a:extLst>
                  <a:ext uri="{FF2B5EF4-FFF2-40B4-BE49-F238E27FC236}">
                    <a16:creationId xmlns:a16="http://schemas.microsoft.com/office/drawing/2014/main" id="{FC6BC5CD-88EB-4E2B-AA48-51DB547F7DFF}"/>
                  </a:ext>
                </a:extLst>
              </p:cNvPr>
              <p:cNvSpPr txBox="1"/>
              <p:nvPr/>
            </p:nvSpPr>
            <p:spPr>
              <a:xfrm>
                <a:off x="1113811" y="5980322"/>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$3.3B</a:t>
                </a:r>
                <a:endParaRPr lang="zh-TW" altLang="en-US" sz="800" b="1" dirty="0">
                  <a:solidFill>
                    <a:schemeClr val="tx1">
                      <a:lumMod val="75000"/>
                      <a:lumOff val="25000"/>
                    </a:schemeClr>
                  </a:solidFill>
                </a:endParaRPr>
              </a:p>
            </p:txBody>
          </p:sp>
          <p:sp>
            <p:nvSpPr>
              <p:cNvPr id="213" name="文字方塊 212">
                <a:extLst>
                  <a:ext uri="{FF2B5EF4-FFF2-40B4-BE49-F238E27FC236}">
                    <a16:creationId xmlns:a16="http://schemas.microsoft.com/office/drawing/2014/main" id="{818018C7-8A6C-402A-8F20-5AFE5F8ECCB5}"/>
                  </a:ext>
                </a:extLst>
              </p:cNvPr>
              <p:cNvSpPr txBox="1"/>
              <p:nvPr/>
            </p:nvSpPr>
            <p:spPr>
              <a:xfrm>
                <a:off x="2002759" y="5979051"/>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$3.2B</a:t>
                </a:r>
                <a:endParaRPr lang="zh-TW" altLang="en-US" sz="800" b="1" dirty="0">
                  <a:solidFill>
                    <a:schemeClr val="tx1">
                      <a:lumMod val="75000"/>
                      <a:lumOff val="25000"/>
                    </a:schemeClr>
                  </a:solidFill>
                </a:endParaRPr>
              </a:p>
            </p:txBody>
          </p:sp>
          <p:sp>
            <p:nvSpPr>
              <p:cNvPr id="214" name="文字方塊 213">
                <a:extLst>
                  <a:ext uri="{FF2B5EF4-FFF2-40B4-BE49-F238E27FC236}">
                    <a16:creationId xmlns:a16="http://schemas.microsoft.com/office/drawing/2014/main" id="{BA5B5BC2-3FAF-46B0-9C26-6C75C4710A16}"/>
                  </a:ext>
                </a:extLst>
              </p:cNvPr>
              <p:cNvSpPr txBox="1"/>
              <p:nvPr/>
            </p:nvSpPr>
            <p:spPr>
              <a:xfrm>
                <a:off x="2878646" y="5973779"/>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$3.1B</a:t>
                </a:r>
                <a:endParaRPr lang="zh-TW" altLang="en-US" sz="800" b="1" dirty="0">
                  <a:solidFill>
                    <a:schemeClr val="tx1">
                      <a:lumMod val="75000"/>
                      <a:lumOff val="25000"/>
                    </a:schemeClr>
                  </a:solidFill>
                </a:endParaRPr>
              </a:p>
            </p:txBody>
          </p:sp>
          <p:sp>
            <p:nvSpPr>
              <p:cNvPr id="215" name="文字方塊 214">
                <a:extLst>
                  <a:ext uri="{FF2B5EF4-FFF2-40B4-BE49-F238E27FC236}">
                    <a16:creationId xmlns:a16="http://schemas.microsoft.com/office/drawing/2014/main" id="{40EA2C12-8600-4419-9912-5ACF45588F71}"/>
                  </a:ext>
                </a:extLst>
              </p:cNvPr>
              <p:cNvSpPr txBox="1"/>
              <p:nvPr/>
            </p:nvSpPr>
            <p:spPr>
              <a:xfrm>
                <a:off x="3738910" y="5980322"/>
                <a:ext cx="742094" cy="215444"/>
              </a:xfrm>
              <a:prstGeom prst="rect">
                <a:avLst/>
              </a:prstGeom>
              <a:noFill/>
            </p:spPr>
            <p:txBody>
              <a:bodyPr wrap="square" rtlCol="0">
                <a:spAutoFit/>
              </a:bodyPr>
              <a:lstStyle/>
              <a:p>
                <a:pPr algn="ctr"/>
                <a:r>
                  <a:rPr lang="en-US" altLang="zh-TW" sz="800" b="1" dirty="0">
                    <a:solidFill>
                      <a:schemeClr val="tx1">
                        <a:lumMod val="75000"/>
                        <a:lumOff val="25000"/>
                      </a:schemeClr>
                    </a:solidFill>
                  </a:rPr>
                  <a:t>$3.0B</a:t>
                </a:r>
                <a:endParaRPr lang="zh-TW" altLang="en-US" sz="800" b="1" dirty="0">
                  <a:solidFill>
                    <a:schemeClr val="tx1">
                      <a:lumMod val="75000"/>
                      <a:lumOff val="25000"/>
                    </a:schemeClr>
                  </a:solidFill>
                </a:endParaRPr>
              </a:p>
            </p:txBody>
          </p:sp>
        </p:grpSp>
        <p:sp>
          <p:nvSpPr>
            <p:cNvPr id="174" name="矩形 173">
              <a:extLst>
                <a:ext uri="{FF2B5EF4-FFF2-40B4-BE49-F238E27FC236}">
                  <a16:creationId xmlns:a16="http://schemas.microsoft.com/office/drawing/2014/main" id="{833196C1-C220-4E84-990F-B1DDF1BABB37}"/>
                </a:ext>
              </a:extLst>
            </p:cNvPr>
            <p:cNvSpPr/>
            <p:nvPr/>
          </p:nvSpPr>
          <p:spPr>
            <a:xfrm>
              <a:off x="1953671" y="4013347"/>
              <a:ext cx="860885" cy="1041353"/>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7" name="圖片 156">
              <a:extLst>
                <a:ext uri="{FF2B5EF4-FFF2-40B4-BE49-F238E27FC236}">
                  <a16:creationId xmlns:a16="http://schemas.microsoft.com/office/drawing/2014/main" id="{891791DB-2BD3-4EC3-8087-C175579C7A76}"/>
                </a:ext>
              </a:extLst>
            </p:cNvPr>
            <p:cNvPicPr>
              <a:picLocks noChangeAspect="1"/>
            </p:cNvPicPr>
            <p:nvPr/>
          </p:nvPicPr>
          <p:blipFill>
            <a:blip r:embed="rId23" cstate="hqprint">
              <a:extLst>
                <a:ext uri="{28A0092B-C50C-407E-A947-70E740481C1C}">
                  <a14:useLocalDpi xmlns:a14="http://schemas.microsoft.com/office/drawing/2010/main" val="0"/>
                </a:ext>
              </a:extLst>
            </a:blip>
            <a:stretch>
              <a:fillRect/>
            </a:stretch>
          </p:blipFill>
          <p:spPr>
            <a:xfrm>
              <a:off x="1695401" y="4042370"/>
              <a:ext cx="186164" cy="186164"/>
            </a:xfrm>
            <a:prstGeom prst="rect">
              <a:avLst/>
            </a:prstGeom>
          </p:spPr>
        </p:pic>
        <p:grpSp>
          <p:nvGrpSpPr>
            <p:cNvPr id="2" name="群組 1">
              <a:extLst>
                <a:ext uri="{FF2B5EF4-FFF2-40B4-BE49-F238E27FC236}">
                  <a16:creationId xmlns:a16="http://schemas.microsoft.com/office/drawing/2014/main" id="{079E4CEA-514F-4735-A225-8F9F5D512A74}"/>
                </a:ext>
              </a:extLst>
            </p:cNvPr>
            <p:cNvGrpSpPr/>
            <p:nvPr/>
          </p:nvGrpSpPr>
          <p:grpSpPr>
            <a:xfrm>
              <a:off x="1191560" y="4363943"/>
              <a:ext cx="656358" cy="240260"/>
              <a:chOff x="322880" y="4318223"/>
              <a:chExt cx="656358" cy="240260"/>
            </a:xfrm>
          </p:grpSpPr>
          <p:pic>
            <p:nvPicPr>
              <p:cNvPr id="160" name="Picture 8" descr="File:Fresenius.svg - Wikipedia">
                <a:extLst>
                  <a:ext uri="{FF2B5EF4-FFF2-40B4-BE49-F238E27FC236}">
                    <a16:creationId xmlns:a16="http://schemas.microsoft.com/office/drawing/2014/main" id="{8E4B5B4A-DA18-4170-AE01-14A9B32EA2FF}"/>
                  </a:ext>
                </a:extLst>
              </p:cNvPr>
              <p:cNvPicPr>
                <a:picLocks noChangeAspect="1" noChangeArrowheads="1"/>
              </p:cNvPicPr>
              <p:nvPr/>
            </p:nvPicPr>
            <p:blipFill rotWithShape="1">
              <a:blip r:embed="rId24" cstate="hqprint">
                <a:extLst>
                  <a:ext uri="{28A0092B-C50C-407E-A947-70E740481C1C}">
                    <a14:useLocalDpi xmlns:a14="http://schemas.microsoft.com/office/drawing/2010/main" val="0"/>
                  </a:ext>
                </a:extLst>
              </a:blip>
              <a:srcRect r="84126" b="447"/>
              <a:stretch/>
            </p:blipFill>
            <p:spPr bwMode="auto">
              <a:xfrm>
                <a:off x="611920" y="4318223"/>
                <a:ext cx="131325" cy="118715"/>
              </a:xfrm>
              <a:prstGeom prst="rect">
                <a:avLst/>
              </a:prstGeom>
              <a:noFill/>
              <a:extLst>
                <a:ext uri="{909E8E84-426E-40DD-AFC4-6F175D3DCCD1}">
                  <a14:hiddenFill xmlns:a14="http://schemas.microsoft.com/office/drawing/2010/main">
                    <a:solidFill>
                      <a:srgbClr val="FFFFFF"/>
                    </a:solidFill>
                  </a14:hiddenFill>
                </a:ext>
              </a:extLst>
            </p:spPr>
          </p:pic>
          <p:pic>
            <p:nvPicPr>
              <p:cNvPr id="161" name="Picture 8" descr="File:Fresenius.svg - Wikipedia">
                <a:extLst>
                  <a:ext uri="{FF2B5EF4-FFF2-40B4-BE49-F238E27FC236}">
                    <a16:creationId xmlns:a16="http://schemas.microsoft.com/office/drawing/2014/main" id="{A0252B57-F88C-40AA-8E54-6A696CBBCF0E}"/>
                  </a:ext>
                </a:extLst>
              </p:cNvPr>
              <p:cNvPicPr>
                <a:picLocks noChangeAspect="1" noChangeArrowheads="1"/>
              </p:cNvPicPr>
              <p:nvPr/>
            </p:nvPicPr>
            <p:blipFill rotWithShape="1">
              <a:blip r:embed="rId24" cstate="hqprint">
                <a:extLst>
                  <a:ext uri="{28A0092B-C50C-407E-A947-70E740481C1C}">
                    <a14:useLocalDpi xmlns:a14="http://schemas.microsoft.com/office/drawing/2010/main" val="0"/>
                  </a:ext>
                </a:extLst>
              </a:blip>
              <a:srcRect l="20664" t="26509"/>
              <a:stretch/>
            </p:blipFill>
            <p:spPr bwMode="auto">
              <a:xfrm>
                <a:off x="322880" y="4470846"/>
                <a:ext cx="656358" cy="87637"/>
              </a:xfrm>
              <a:prstGeom prst="rect">
                <a:avLst/>
              </a:prstGeom>
              <a:noFill/>
              <a:extLst>
                <a:ext uri="{909E8E84-426E-40DD-AFC4-6F175D3DCCD1}">
                  <a14:hiddenFill xmlns:a14="http://schemas.microsoft.com/office/drawing/2010/main">
                    <a:solidFill>
                      <a:srgbClr val="FFFFFF"/>
                    </a:solidFill>
                  </a14:hiddenFill>
                </a:ext>
              </a:extLst>
            </p:spPr>
          </p:pic>
        </p:grpSp>
        <p:pic>
          <p:nvPicPr>
            <p:cNvPr id="162" name="Picture 2" descr="Download Medtronic plc Logo in SVG Vector or PNG File Format - Logo.wine">
              <a:extLst>
                <a:ext uri="{FF2B5EF4-FFF2-40B4-BE49-F238E27FC236}">
                  <a16:creationId xmlns:a16="http://schemas.microsoft.com/office/drawing/2014/main" id="{41DCD55B-A067-4B08-8CBD-087341FFDDF3}"/>
                </a:ext>
              </a:extLst>
            </p:cNvPr>
            <p:cNvPicPr>
              <a:picLocks noChangeAspect="1" noChangeArrowheads="1"/>
            </p:cNvPicPr>
            <p:nvPr/>
          </p:nvPicPr>
          <p:blipFill rotWithShape="1">
            <a:blip r:embed="rId25" cstate="hqprint">
              <a:extLst>
                <a:ext uri="{28A0092B-C50C-407E-A947-70E740481C1C}">
                  <a14:useLocalDpi xmlns:a14="http://schemas.microsoft.com/office/drawing/2010/main" val="0"/>
                </a:ext>
              </a:extLst>
            </a:blip>
            <a:srcRect l="10668" t="34627" r="9954" b="38158"/>
            <a:stretch/>
          </p:blipFill>
          <p:spPr bwMode="auto">
            <a:xfrm>
              <a:off x="320819" y="4456788"/>
              <a:ext cx="659177" cy="150669"/>
            </a:xfrm>
            <a:prstGeom prst="rect">
              <a:avLst/>
            </a:prstGeom>
            <a:noFill/>
            <a:extLst>
              <a:ext uri="{909E8E84-426E-40DD-AFC4-6F175D3DCCD1}">
                <a14:hiddenFill xmlns:a14="http://schemas.microsoft.com/office/drawing/2010/main">
                  <a:solidFill>
                    <a:srgbClr val="FFFFFF"/>
                  </a:solidFill>
                </a14:hiddenFill>
              </a:ext>
            </a:extLst>
          </p:spPr>
        </p:pic>
        <p:pic>
          <p:nvPicPr>
            <p:cNvPr id="176" name="圖片 175">
              <a:extLst>
                <a:ext uri="{FF2B5EF4-FFF2-40B4-BE49-F238E27FC236}">
                  <a16:creationId xmlns:a16="http://schemas.microsoft.com/office/drawing/2014/main" id="{F6133677-38B8-4C0D-B9AC-132D7AF797C7}"/>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2557649" y="4042370"/>
              <a:ext cx="190800" cy="190800"/>
            </a:xfrm>
            <a:prstGeom prst="rect">
              <a:avLst/>
            </a:prstGeom>
          </p:spPr>
        </p:pic>
        <p:pic>
          <p:nvPicPr>
            <p:cNvPr id="163" name="Picture 10" descr="File:Abbott Laboratories logo.svg - Wikipedia">
              <a:extLst>
                <a:ext uri="{FF2B5EF4-FFF2-40B4-BE49-F238E27FC236}">
                  <a16:creationId xmlns:a16="http://schemas.microsoft.com/office/drawing/2014/main" id="{41C63BDF-ECDB-4EB2-B6AD-CC6D9CCF66CD}"/>
                </a:ext>
              </a:extLst>
            </p:cNvPr>
            <p:cNvPicPr>
              <a:picLocks noChangeAspect="1" noChangeArrowheads="1"/>
            </p:cNvPicPr>
            <p:nvPr/>
          </p:nvPicPr>
          <p:blipFill>
            <a:blip r:embed="rId27" cstate="hqprint">
              <a:extLst>
                <a:ext uri="{28A0092B-C50C-407E-A947-70E740481C1C}">
                  <a14:useLocalDpi xmlns:a14="http://schemas.microsoft.com/office/drawing/2010/main" val="0"/>
                </a:ext>
              </a:extLst>
            </a:blip>
            <a:srcRect/>
            <a:stretch>
              <a:fillRect/>
            </a:stretch>
          </p:blipFill>
          <p:spPr bwMode="auto">
            <a:xfrm>
              <a:off x="2030224" y="4425940"/>
              <a:ext cx="668061" cy="170930"/>
            </a:xfrm>
            <a:prstGeom prst="rect">
              <a:avLst/>
            </a:prstGeom>
            <a:noFill/>
            <a:extLst>
              <a:ext uri="{909E8E84-426E-40DD-AFC4-6F175D3DCCD1}">
                <a14:hiddenFill xmlns:a14="http://schemas.microsoft.com/office/drawing/2010/main">
                  <a:solidFill>
                    <a:srgbClr val="FFFFFF"/>
                  </a:solidFill>
                </a14:hiddenFill>
              </a:ext>
            </a:extLst>
          </p:spPr>
        </p:pic>
        <p:pic>
          <p:nvPicPr>
            <p:cNvPr id="158" name="圖片 157">
              <a:extLst>
                <a:ext uri="{FF2B5EF4-FFF2-40B4-BE49-F238E27FC236}">
                  <a16:creationId xmlns:a16="http://schemas.microsoft.com/office/drawing/2014/main" id="{454A40E9-AB3E-42EB-92F1-1F8C539FB459}"/>
                </a:ext>
              </a:extLst>
            </p:cNvPr>
            <p:cNvPicPr>
              <a:picLocks noChangeAspect="1"/>
            </p:cNvPicPr>
            <p:nvPr/>
          </p:nvPicPr>
          <p:blipFill>
            <a:blip r:embed="rId23" cstate="hqprint">
              <a:extLst>
                <a:ext uri="{28A0092B-C50C-407E-A947-70E740481C1C}">
                  <a14:useLocalDpi xmlns:a14="http://schemas.microsoft.com/office/drawing/2010/main" val="0"/>
                </a:ext>
              </a:extLst>
            </a:blip>
            <a:stretch>
              <a:fillRect/>
            </a:stretch>
          </p:blipFill>
          <p:spPr>
            <a:xfrm>
              <a:off x="834296" y="5224913"/>
              <a:ext cx="186164" cy="186164"/>
            </a:xfrm>
            <a:prstGeom prst="rect">
              <a:avLst/>
            </a:prstGeom>
          </p:spPr>
        </p:pic>
        <p:pic>
          <p:nvPicPr>
            <p:cNvPr id="164" name="Picture 12" descr="File:Siemens Healthineers logo.svg - Wikipedia">
              <a:extLst>
                <a:ext uri="{FF2B5EF4-FFF2-40B4-BE49-F238E27FC236}">
                  <a16:creationId xmlns:a16="http://schemas.microsoft.com/office/drawing/2014/main" id="{CFCD6697-45E9-40FB-8034-5FDA337B3113}"/>
                </a:ext>
              </a:extLst>
            </p:cNvPr>
            <p:cNvPicPr>
              <a:picLocks noChangeAspect="1" noChangeArrowheads="1"/>
            </p:cNvPicPr>
            <p:nvPr/>
          </p:nvPicPr>
          <p:blipFill>
            <a:blip r:embed="rId28" cstate="hqprint">
              <a:extLst>
                <a:ext uri="{28A0092B-C50C-407E-A947-70E740481C1C}">
                  <a14:useLocalDpi xmlns:a14="http://schemas.microsoft.com/office/drawing/2010/main" val="0"/>
                </a:ext>
              </a:extLst>
            </a:blip>
            <a:srcRect/>
            <a:stretch>
              <a:fillRect/>
            </a:stretch>
          </p:blipFill>
          <p:spPr bwMode="auto">
            <a:xfrm>
              <a:off x="348950" y="5638369"/>
              <a:ext cx="598663" cy="149665"/>
            </a:xfrm>
            <a:prstGeom prst="rect">
              <a:avLst/>
            </a:prstGeom>
            <a:noFill/>
            <a:extLst>
              <a:ext uri="{909E8E84-426E-40DD-AFC4-6F175D3DCCD1}">
                <a14:hiddenFill xmlns:a14="http://schemas.microsoft.com/office/drawing/2010/main">
                  <a:solidFill>
                    <a:srgbClr val="FFFFFF"/>
                  </a:solidFill>
                </a14:hiddenFill>
              </a:ext>
            </a:extLst>
          </p:spPr>
        </p:pic>
        <p:pic>
          <p:nvPicPr>
            <p:cNvPr id="159" name="圖片 158">
              <a:extLst>
                <a:ext uri="{FF2B5EF4-FFF2-40B4-BE49-F238E27FC236}">
                  <a16:creationId xmlns:a16="http://schemas.microsoft.com/office/drawing/2014/main" id="{77661BED-2F9D-4692-9F8C-F2F1D482DBD0}"/>
                </a:ext>
              </a:extLst>
            </p:cNvPr>
            <p:cNvPicPr>
              <a:picLocks noChangeAspect="1"/>
            </p:cNvPicPr>
            <p:nvPr/>
          </p:nvPicPr>
          <p:blipFill>
            <a:blip r:embed="rId29" cstate="hqprint">
              <a:extLst>
                <a:ext uri="{28A0092B-C50C-407E-A947-70E740481C1C}">
                  <a14:useLocalDpi xmlns:a14="http://schemas.microsoft.com/office/drawing/2010/main" val="0"/>
                </a:ext>
              </a:extLst>
            </a:blip>
            <a:stretch>
              <a:fillRect/>
            </a:stretch>
          </p:blipFill>
          <p:spPr>
            <a:xfrm>
              <a:off x="3424533" y="4042370"/>
              <a:ext cx="190800" cy="190800"/>
            </a:xfrm>
            <a:prstGeom prst="rect">
              <a:avLst/>
            </a:prstGeom>
          </p:spPr>
        </p:pic>
        <p:pic>
          <p:nvPicPr>
            <p:cNvPr id="165" name="Picture 14" descr="Philips Logo PNG Transparent – Brands Logos">
              <a:extLst>
                <a:ext uri="{FF2B5EF4-FFF2-40B4-BE49-F238E27FC236}">
                  <a16:creationId xmlns:a16="http://schemas.microsoft.com/office/drawing/2014/main" id="{33BC1830-8020-4C16-98D4-3A3FFE38844E}"/>
                </a:ext>
              </a:extLst>
            </p:cNvPr>
            <p:cNvPicPr>
              <a:picLocks noChangeAspect="1" noChangeArrowheads="1"/>
            </p:cNvPicPr>
            <p:nvPr/>
          </p:nvPicPr>
          <p:blipFill>
            <a:blip r:embed="rId30" cstate="hqprint">
              <a:extLst>
                <a:ext uri="{28A0092B-C50C-407E-A947-70E740481C1C}">
                  <a14:useLocalDpi xmlns:a14="http://schemas.microsoft.com/office/drawing/2010/main" val="0"/>
                </a:ext>
              </a:extLst>
            </a:blip>
            <a:srcRect/>
            <a:stretch>
              <a:fillRect/>
            </a:stretch>
          </p:blipFill>
          <p:spPr bwMode="auto">
            <a:xfrm>
              <a:off x="2947171" y="4434619"/>
              <a:ext cx="589918" cy="148401"/>
            </a:xfrm>
            <a:prstGeom prst="rect">
              <a:avLst/>
            </a:prstGeom>
            <a:noFill/>
            <a:extLst>
              <a:ext uri="{909E8E84-426E-40DD-AFC4-6F175D3DCCD1}">
                <a14:hiddenFill xmlns:a14="http://schemas.microsoft.com/office/drawing/2010/main">
                  <a:solidFill>
                    <a:srgbClr val="FFFFFF"/>
                  </a:solidFill>
                </a14:hiddenFill>
              </a:ext>
            </a:extLst>
          </p:spPr>
        </p:pic>
        <p:pic>
          <p:nvPicPr>
            <p:cNvPr id="177" name="圖片 176">
              <a:extLst>
                <a:ext uri="{FF2B5EF4-FFF2-40B4-BE49-F238E27FC236}">
                  <a16:creationId xmlns:a16="http://schemas.microsoft.com/office/drawing/2014/main" id="{66711F5D-5897-479D-8C67-0853527FB61D}"/>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4291419" y="4042370"/>
              <a:ext cx="190800" cy="190800"/>
            </a:xfrm>
            <a:prstGeom prst="rect">
              <a:avLst/>
            </a:prstGeom>
          </p:spPr>
        </p:pic>
        <p:pic>
          <p:nvPicPr>
            <p:cNvPr id="166" name="Picture 16" descr="File:Stryker logo.svg - Wikipedia">
              <a:extLst>
                <a:ext uri="{FF2B5EF4-FFF2-40B4-BE49-F238E27FC236}">
                  <a16:creationId xmlns:a16="http://schemas.microsoft.com/office/drawing/2014/main" id="{C6B857FC-6C17-41C6-B228-9AF3FD4E058F}"/>
                </a:ext>
              </a:extLst>
            </p:cNvPr>
            <p:cNvPicPr>
              <a:picLocks noChangeAspect="1" noChangeArrowheads="1"/>
            </p:cNvPicPr>
            <p:nvPr/>
          </p:nvPicPr>
          <p:blipFill>
            <a:blip r:embed="rId31" cstate="hqprint">
              <a:extLst>
                <a:ext uri="{28A0092B-C50C-407E-A947-70E740481C1C}">
                  <a14:useLocalDpi xmlns:a14="http://schemas.microsoft.com/office/drawing/2010/main" val="0"/>
                </a:ext>
              </a:extLst>
            </a:blip>
            <a:srcRect/>
            <a:stretch>
              <a:fillRect/>
            </a:stretch>
          </p:blipFill>
          <p:spPr bwMode="auto">
            <a:xfrm>
              <a:off x="3856937" y="4422297"/>
              <a:ext cx="547600" cy="145571"/>
            </a:xfrm>
            <a:prstGeom prst="rect">
              <a:avLst/>
            </a:prstGeom>
            <a:noFill/>
            <a:extLst>
              <a:ext uri="{909E8E84-426E-40DD-AFC4-6F175D3DCCD1}">
                <a14:hiddenFill xmlns:a14="http://schemas.microsoft.com/office/drawing/2010/main">
                  <a:solidFill>
                    <a:srgbClr val="FFFFFF"/>
                  </a:solidFill>
                </a14:hiddenFill>
              </a:ext>
            </a:extLst>
          </p:spPr>
        </p:pic>
        <p:pic>
          <p:nvPicPr>
            <p:cNvPr id="181" name="圖片 180">
              <a:extLst>
                <a:ext uri="{FF2B5EF4-FFF2-40B4-BE49-F238E27FC236}">
                  <a16:creationId xmlns:a16="http://schemas.microsoft.com/office/drawing/2014/main" id="{EB7B147F-EC41-498F-A2CF-66F95BC7D2F9}"/>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4291419" y="5224913"/>
              <a:ext cx="190800" cy="190800"/>
            </a:xfrm>
            <a:prstGeom prst="rect">
              <a:avLst/>
            </a:prstGeom>
          </p:spPr>
        </p:pic>
        <p:pic>
          <p:nvPicPr>
            <p:cNvPr id="167" name="Picture 18" descr="File:Thermo Fisher Scientific logo.svg - Wikipedia">
              <a:extLst>
                <a:ext uri="{FF2B5EF4-FFF2-40B4-BE49-F238E27FC236}">
                  <a16:creationId xmlns:a16="http://schemas.microsoft.com/office/drawing/2014/main" id="{0289AE5E-6082-4818-8031-5EBD5B623E03}"/>
                </a:ext>
              </a:extLst>
            </p:cNvPr>
            <p:cNvPicPr>
              <a:picLocks noChangeAspect="1" noChangeArrowheads="1"/>
            </p:cNvPicPr>
            <p:nvPr/>
          </p:nvPicPr>
          <p:blipFill>
            <a:blip r:embed="rId32" cstate="hqprint">
              <a:extLst>
                <a:ext uri="{28A0092B-C50C-407E-A947-70E740481C1C}">
                  <a14:useLocalDpi xmlns:a14="http://schemas.microsoft.com/office/drawing/2010/main" val="0"/>
                </a:ext>
              </a:extLst>
            </a:blip>
            <a:srcRect/>
            <a:stretch>
              <a:fillRect/>
            </a:stretch>
          </p:blipFill>
          <p:spPr bwMode="auto">
            <a:xfrm>
              <a:off x="3755341" y="5537429"/>
              <a:ext cx="659893" cy="148476"/>
            </a:xfrm>
            <a:prstGeom prst="rect">
              <a:avLst/>
            </a:prstGeom>
            <a:noFill/>
            <a:extLst>
              <a:ext uri="{909E8E84-426E-40DD-AFC4-6F175D3DCCD1}">
                <a14:hiddenFill xmlns:a14="http://schemas.microsoft.com/office/drawing/2010/main">
                  <a:solidFill>
                    <a:srgbClr val="FFFFFF"/>
                  </a:solidFill>
                </a14:hiddenFill>
              </a:ext>
            </a:extLst>
          </p:spPr>
        </p:pic>
        <p:pic>
          <p:nvPicPr>
            <p:cNvPr id="178" name="圖片 177">
              <a:extLst>
                <a:ext uri="{FF2B5EF4-FFF2-40B4-BE49-F238E27FC236}">
                  <a16:creationId xmlns:a16="http://schemas.microsoft.com/office/drawing/2014/main" id="{EB4ECC17-22AE-4504-9674-DC88CB754F25}"/>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1695100" y="5224913"/>
              <a:ext cx="190800" cy="190800"/>
            </a:xfrm>
            <a:prstGeom prst="rect">
              <a:avLst/>
            </a:prstGeom>
          </p:spPr>
        </p:pic>
        <p:pic>
          <p:nvPicPr>
            <p:cNvPr id="168" name="Picture 20" descr="Becton, Dickinson and Company (BD) Vector Logo | Free Download - (.AI + .PNG)  format - SeekVectorLogo.Com">
              <a:extLst>
                <a:ext uri="{FF2B5EF4-FFF2-40B4-BE49-F238E27FC236}">
                  <a16:creationId xmlns:a16="http://schemas.microsoft.com/office/drawing/2014/main" id="{776E78C8-AD30-406A-B974-76EBE09BB9A0}"/>
                </a:ext>
              </a:extLst>
            </p:cNvPr>
            <p:cNvPicPr>
              <a:picLocks noChangeAspect="1" noChangeArrowheads="1"/>
            </p:cNvPicPr>
            <p:nvPr/>
          </p:nvPicPr>
          <p:blipFill>
            <a:blip r:embed="rId33" cstate="hq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43290" y="5505415"/>
              <a:ext cx="484038" cy="268910"/>
            </a:xfrm>
            <a:prstGeom prst="rect">
              <a:avLst/>
            </a:prstGeom>
            <a:noFill/>
            <a:extLst>
              <a:ext uri="{909E8E84-426E-40DD-AFC4-6F175D3DCCD1}">
                <a14:hiddenFill xmlns:a14="http://schemas.microsoft.com/office/drawing/2010/main">
                  <a:solidFill>
                    <a:srgbClr val="FFFFFF"/>
                  </a:solidFill>
                </a14:hiddenFill>
              </a:ext>
            </a:extLst>
          </p:spPr>
        </p:pic>
        <p:pic>
          <p:nvPicPr>
            <p:cNvPr id="179" name="圖片 178">
              <a:extLst>
                <a:ext uri="{FF2B5EF4-FFF2-40B4-BE49-F238E27FC236}">
                  <a16:creationId xmlns:a16="http://schemas.microsoft.com/office/drawing/2014/main" id="{303F1B0A-594A-4F5C-871E-D4DDA9828D07}"/>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3425980" y="5224913"/>
              <a:ext cx="190800" cy="190800"/>
            </a:xfrm>
            <a:prstGeom prst="rect">
              <a:avLst/>
            </a:prstGeom>
          </p:spPr>
        </p:pic>
        <p:pic>
          <p:nvPicPr>
            <p:cNvPr id="180" name="圖片 179">
              <a:extLst>
                <a:ext uri="{FF2B5EF4-FFF2-40B4-BE49-F238E27FC236}">
                  <a16:creationId xmlns:a16="http://schemas.microsoft.com/office/drawing/2014/main" id="{020D08C5-1635-4DEF-8F25-DB75ABBB79F2}"/>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2560540" y="5224913"/>
              <a:ext cx="190800" cy="190800"/>
            </a:xfrm>
            <a:prstGeom prst="rect">
              <a:avLst/>
            </a:prstGeom>
          </p:spPr>
        </p:pic>
        <p:pic>
          <p:nvPicPr>
            <p:cNvPr id="171" name="Picture 24" descr="File:Boston Scientific Logo.svg - Wikipedia">
              <a:extLst>
                <a:ext uri="{FF2B5EF4-FFF2-40B4-BE49-F238E27FC236}">
                  <a16:creationId xmlns:a16="http://schemas.microsoft.com/office/drawing/2014/main" id="{B0C08F2C-E8C0-43E9-9295-FD0E2F908CF4}"/>
                </a:ext>
              </a:extLst>
            </p:cNvPr>
            <p:cNvPicPr>
              <a:picLocks noChangeAspect="1" noChangeArrowheads="1"/>
            </p:cNvPicPr>
            <p:nvPr/>
          </p:nvPicPr>
          <p:blipFill>
            <a:blip r:embed="rId34" cstate="hqprint">
              <a:extLst>
                <a:ext uri="{28A0092B-C50C-407E-A947-70E740481C1C}">
                  <a14:useLocalDpi xmlns:a14="http://schemas.microsoft.com/office/drawing/2010/main" val="0"/>
                </a:ext>
              </a:extLst>
            </a:blip>
            <a:srcRect/>
            <a:stretch>
              <a:fillRect/>
            </a:stretch>
          </p:blipFill>
          <p:spPr bwMode="auto">
            <a:xfrm>
              <a:off x="2087201" y="5535456"/>
              <a:ext cx="604722" cy="20881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GE-healthcare-logo_front - ESRA">
              <a:extLst>
                <a:ext uri="{FF2B5EF4-FFF2-40B4-BE49-F238E27FC236}">
                  <a16:creationId xmlns:a16="http://schemas.microsoft.com/office/drawing/2014/main" id="{F6B70E89-FFF2-4D35-B67B-5E195197B656}"/>
                </a:ext>
              </a:extLst>
            </p:cNvPr>
            <p:cNvPicPr>
              <a:picLocks noChangeAspect="1" noChangeArrowheads="1"/>
            </p:cNvPicPr>
            <p:nvPr/>
          </p:nvPicPr>
          <p:blipFill>
            <a:blip r:embed="rId35" cstate="hqprint">
              <a:extLst>
                <a:ext uri="{28A0092B-C50C-407E-A947-70E740481C1C}">
                  <a14:useLocalDpi xmlns:a14="http://schemas.microsoft.com/office/drawing/2010/main" val="0"/>
                </a:ext>
              </a:extLst>
            </a:blip>
            <a:srcRect/>
            <a:stretch>
              <a:fillRect/>
            </a:stretch>
          </p:blipFill>
          <p:spPr bwMode="auto">
            <a:xfrm>
              <a:off x="2977325" y="5487122"/>
              <a:ext cx="578207" cy="273444"/>
            </a:xfrm>
            <a:prstGeom prst="rect">
              <a:avLst/>
            </a:prstGeom>
            <a:noFill/>
            <a:extLst>
              <a:ext uri="{909E8E84-426E-40DD-AFC4-6F175D3DCCD1}">
                <a14:hiddenFill xmlns:a14="http://schemas.microsoft.com/office/drawing/2010/main">
                  <a:solidFill>
                    <a:srgbClr val="FFFFFF"/>
                  </a:solidFill>
                </a14:hiddenFill>
              </a:ext>
            </a:extLst>
          </p:spPr>
        </p:pic>
        <p:pic>
          <p:nvPicPr>
            <p:cNvPr id="216" name="Picture 15" descr="image.png">
              <a:extLst>
                <a:ext uri="{FF2B5EF4-FFF2-40B4-BE49-F238E27FC236}">
                  <a16:creationId xmlns:a16="http://schemas.microsoft.com/office/drawing/2014/main" id="{95B3D891-6303-4247-B44E-E8F21AC083E8}"/>
                </a:ext>
              </a:extLst>
            </p:cNvPr>
            <p:cNvPicPr>
              <a:picLocks noChangeAspect="1" noChangeArrowheads="1"/>
            </p:cNvPicPr>
            <p:nvPr/>
          </p:nvPicPr>
          <p:blipFill>
            <a:blip r:embed="rId15" r:link="rId16" cstate="hqprint">
              <a:extLst>
                <a:ext uri="{28A0092B-C50C-407E-A947-70E740481C1C}">
                  <a14:useLocalDpi xmlns:a14="http://schemas.microsoft.com/office/drawing/2010/main" val="0"/>
                </a:ext>
              </a:extLst>
            </a:blip>
            <a:srcRect/>
            <a:stretch>
              <a:fillRect/>
            </a:stretch>
          </p:blipFill>
          <p:spPr bwMode="auto">
            <a:xfrm>
              <a:off x="833260" y="4042370"/>
              <a:ext cx="187200" cy="187200"/>
            </a:xfrm>
            <a:prstGeom prst="rect">
              <a:avLst/>
            </a:prstGeom>
            <a:noFill/>
            <a:extLst>
              <a:ext uri="{909E8E84-426E-40DD-AFC4-6F175D3DCCD1}">
                <a14:hiddenFill xmlns:a14="http://schemas.microsoft.com/office/drawing/2010/main">
                  <a:solidFill>
                    <a:srgbClr val="FFFFFF"/>
                  </a:solidFill>
                </a14:hiddenFill>
              </a:ext>
            </a:extLst>
          </p:spPr>
        </p:pic>
        <p:pic>
          <p:nvPicPr>
            <p:cNvPr id="175" name="圖片 174">
              <a:extLst>
                <a:ext uri="{FF2B5EF4-FFF2-40B4-BE49-F238E27FC236}">
                  <a16:creationId xmlns:a16="http://schemas.microsoft.com/office/drawing/2014/main" id="{9168AB37-712A-4AA4-970D-631ED83D3FD7}"/>
                </a:ext>
              </a:extLst>
            </p:cNvPr>
            <p:cNvPicPr>
              <a:picLocks noChangeAspect="1"/>
            </p:cNvPicPr>
            <p:nvPr/>
          </p:nvPicPr>
          <p:blipFill>
            <a:blip r:embed="rId26" cstate="hqprint">
              <a:extLst>
                <a:ext uri="{28A0092B-C50C-407E-A947-70E740481C1C}">
                  <a14:useLocalDpi xmlns:a14="http://schemas.microsoft.com/office/drawing/2010/main" val="0"/>
                </a:ext>
              </a:extLst>
            </a:blip>
            <a:stretch>
              <a:fillRect/>
            </a:stretch>
          </p:blipFill>
          <p:spPr>
            <a:xfrm>
              <a:off x="696985" y="4047507"/>
              <a:ext cx="190800" cy="190800"/>
            </a:xfrm>
            <a:prstGeom prst="rect">
              <a:avLst/>
            </a:prstGeom>
          </p:spPr>
        </p:pic>
      </p:grpSp>
      <p:sp>
        <p:nvSpPr>
          <p:cNvPr id="27" name="文字方塊 26">
            <a:extLst>
              <a:ext uri="{FF2B5EF4-FFF2-40B4-BE49-F238E27FC236}">
                <a16:creationId xmlns:a16="http://schemas.microsoft.com/office/drawing/2014/main" id="{56FEC716-AC00-4A3F-80BC-829335FD4FC7}"/>
              </a:ext>
            </a:extLst>
          </p:cNvPr>
          <p:cNvSpPr txBox="1"/>
          <p:nvPr/>
        </p:nvSpPr>
        <p:spPr>
          <a:xfrm>
            <a:off x="177843" y="3838054"/>
            <a:ext cx="3680417" cy="276999"/>
          </a:xfrm>
          <a:prstGeom prst="rect">
            <a:avLst/>
          </a:prstGeom>
          <a:noFill/>
        </p:spPr>
        <p:txBody>
          <a:bodyPr wrap="square" rtlCol="0">
            <a:spAutoFit/>
          </a:bodyPr>
          <a:lstStyle/>
          <a:p>
            <a:r>
              <a:rPr lang="en-US" altLang="zh-TW" sz="1200" dirty="0">
                <a:solidFill>
                  <a:srgbClr val="1B478A"/>
                </a:solidFill>
                <a:latin typeface="Bahnschrift SemiBold" panose="020B0502040204020203" pitchFamily="34" charset="0"/>
              </a:rPr>
              <a:t>Most Valuable Medical Devices Brands 2025</a:t>
            </a:r>
            <a:endParaRPr lang="zh-TW" altLang="en-US" sz="1200" dirty="0">
              <a:solidFill>
                <a:srgbClr val="1B478A"/>
              </a:solidFill>
              <a:latin typeface="Bahnschrift SemiBold" panose="020B0502040204020203" pitchFamily="34" charset="0"/>
            </a:endParaRPr>
          </a:p>
        </p:txBody>
      </p:sp>
      <p:grpSp>
        <p:nvGrpSpPr>
          <p:cNvPr id="118" name="群組 117">
            <a:extLst>
              <a:ext uri="{FF2B5EF4-FFF2-40B4-BE49-F238E27FC236}">
                <a16:creationId xmlns:a16="http://schemas.microsoft.com/office/drawing/2014/main" id="{2AD620DF-899F-4E46-A021-3E560589303C}"/>
              </a:ext>
            </a:extLst>
          </p:cNvPr>
          <p:cNvGrpSpPr/>
          <p:nvPr/>
        </p:nvGrpSpPr>
        <p:grpSpPr>
          <a:xfrm>
            <a:off x="1279098" y="1894969"/>
            <a:ext cx="262384" cy="262384"/>
            <a:chOff x="2515504" y="1411832"/>
            <a:chExt cx="4696120" cy="4696120"/>
          </a:xfrm>
        </p:grpSpPr>
        <p:sp>
          <p:nvSpPr>
            <p:cNvPr id="119" name="橢圓 118">
              <a:extLst>
                <a:ext uri="{FF2B5EF4-FFF2-40B4-BE49-F238E27FC236}">
                  <a16:creationId xmlns:a16="http://schemas.microsoft.com/office/drawing/2014/main" id="{5CDD05EF-B659-4EB9-9327-9DB3B01CD003}"/>
                </a:ext>
              </a:extLst>
            </p:cNvPr>
            <p:cNvSpPr/>
            <p:nvPr/>
          </p:nvSpPr>
          <p:spPr>
            <a:xfrm>
              <a:off x="2515504" y="1411832"/>
              <a:ext cx="4696120" cy="4696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0" name="Picture 17" descr="image.png">
              <a:extLst>
                <a:ext uri="{FF2B5EF4-FFF2-40B4-BE49-F238E27FC236}">
                  <a16:creationId xmlns:a16="http://schemas.microsoft.com/office/drawing/2014/main" id="{BAC85F5C-B490-491A-89FB-4015C37DBBE7}"/>
                </a:ext>
              </a:extLst>
            </p:cNvPr>
            <p:cNvPicPr>
              <a:picLocks noChangeAspect="1" noChangeArrowheads="1"/>
            </p:cNvPicPr>
            <p:nvPr/>
          </p:nvPicPr>
          <p:blipFill>
            <a:blip r:embed="rId13" r:link="rId14" cstate="hqprint">
              <a:extLst>
                <a:ext uri="{28A0092B-C50C-407E-A947-70E740481C1C}">
                  <a14:useLocalDpi xmlns:a14="http://schemas.microsoft.com/office/drawing/2010/main" val="0"/>
                </a:ext>
              </a:extLst>
            </a:blip>
            <a:srcRect/>
            <a:stretch>
              <a:fillRect/>
            </a:stretch>
          </p:blipFill>
          <p:spPr bwMode="auto">
            <a:xfrm>
              <a:off x="2707441" y="1607241"/>
              <a:ext cx="4305302" cy="430530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1" name="群組 120">
            <a:extLst>
              <a:ext uri="{FF2B5EF4-FFF2-40B4-BE49-F238E27FC236}">
                <a16:creationId xmlns:a16="http://schemas.microsoft.com/office/drawing/2014/main" id="{A2F2C901-D7E5-4C3B-9AFC-B054D1C6B1F2}"/>
              </a:ext>
            </a:extLst>
          </p:cNvPr>
          <p:cNvGrpSpPr/>
          <p:nvPr/>
        </p:nvGrpSpPr>
        <p:grpSpPr>
          <a:xfrm>
            <a:off x="1281010" y="2302234"/>
            <a:ext cx="262384" cy="262384"/>
            <a:chOff x="2515504" y="1411832"/>
            <a:chExt cx="4696120" cy="4696120"/>
          </a:xfrm>
        </p:grpSpPr>
        <p:sp>
          <p:nvSpPr>
            <p:cNvPr id="130" name="橢圓 129">
              <a:extLst>
                <a:ext uri="{FF2B5EF4-FFF2-40B4-BE49-F238E27FC236}">
                  <a16:creationId xmlns:a16="http://schemas.microsoft.com/office/drawing/2014/main" id="{8F07B02B-63AB-4333-B12D-716C5940A322}"/>
                </a:ext>
              </a:extLst>
            </p:cNvPr>
            <p:cNvSpPr/>
            <p:nvPr/>
          </p:nvSpPr>
          <p:spPr>
            <a:xfrm>
              <a:off x="2515504" y="1411832"/>
              <a:ext cx="4696120" cy="4696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1" name="Picture 17" descr="image.png">
              <a:extLst>
                <a:ext uri="{FF2B5EF4-FFF2-40B4-BE49-F238E27FC236}">
                  <a16:creationId xmlns:a16="http://schemas.microsoft.com/office/drawing/2014/main" id="{62AEBE18-F1F6-48DA-943D-59584ABA5168}"/>
                </a:ext>
              </a:extLst>
            </p:cNvPr>
            <p:cNvPicPr>
              <a:picLocks noChangeAspect="1" noChangeArrowheads="1"/>
            </p:cNvPicPr>
            <p:nvPr/>
          </p:nvPicPr>
          <p:blipFill>
            <a:blip r:embed="rId13" r:link="rId14" cstate="hqprint">
              <a:extLst>
                <a:ext uri="{28A0092B-C50C-407E-A947-70E740481C1C}">
                  <a14:useLocalDpi xmlns:a14="http://schemas.microsoft.com/office/drawing/2010/main" val="0"/>
                </a:ext>
              </a:extLst>
            </a:blip>
            <a:srcRect/>
            <a:stretch>
              <a:fillRect/>
            </a:stretch>
          </p:blipFill>
          <p:spPr bwMode="auto">
            <a:xfrm>
              <a:off x="2707446" y="1607242"/>
              <a:ext cx="4305300" cy="43053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2" name="群組 131">
            <a:extLst>
              <a:ext uri="{FF2B5EF4-FFF2-40B4-BE49-F238E27FC236}">
                <a16:creationId xmlns:a16="http://schemas.microsoft.com/office/drawing/2014/main" id="{0317201B-A368-4ECB-B403-3A30E1E72CAE}"/>
              </a:ext>
            </a:extLst>
          </p:cNvPr>
          <p:cNvGrpSpPr/>
          <p:nvPr/>
        </p:nvGrpSpPr>
        <p:grpSpPr>
          <a:xfrm>
            <a:off x="1280707" y="3094608"/>
            <a:ext cx="262384" cy="262384"/>
            <a:chOff x="2515504" y="1411832"/>
            <a:chExt cx="4696120" cy="4696120"/>
          </a:xfrm>
        </p:grpSpPr>
        <p:sp>
          <p:nvSpPr>
            <p:cNvPr id="134" name="橢圓 133">
              <a:extLst>
                <a:ext uri="{FF2B5EF4-FFF2-40B4-BE49-F238E27FC236}">
                  <a16:creationId xmlns:a16="http://schemas.microsoft.com/office/drawing/2014/main" id="{145DCB77-472C-47F6-8590-53C336F4AFEA}"/>
                </a:ext>
              </a:extLst>
            </p:cNvPr>
            <p:cNvSpPr/>
            <p:nvPr/>
          </p:nvSpPr>
          <p:spPr>
            <a:xfrm>
              <a:off x="2515504" y="1411832"/>
              <a:ext cx="4696120" cy="46961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5" name="Picture 17" descr="image.png">
              <a:extLst>
                <a:ext uri="{FF2B5EF4-FFF2-40B4-BE49-F238E27FC236}">
                  <a16:creationId xmlns:a16="http://schemas.microsoft.com/office/drawing/2014/main" id="{3F66A78B-970B-452E-B628-C7017CCCEB37}"/>
                </a:ext>
              </a:extLst>
            </p:cNvPr>
            <p:cNvPicPr>
              <a:picLocks noChangeAspect="1" noChangeArrowheads="1"/>
            </p:cNvPicPr>
            <p:nvPr/>
          </p:nvPicPr>
          <p:blipFill>
            <a:blip r:embed="rId13" r:link="rId14" cstate="hqprint">
              <a:extLst>
                <a:ext uri="{28A0092B-C50C-407E-A947-70E740481C1C}">
                  <a14:useLocalDpi xmlns:a14="http://schemas.microsoft.com/office/drawing/2010/main" val="0"/>
                </a:ext>
              </a:extLst>
            </a:blip>
            <a:srcRect/>
            <a:stretch>
              <a:fillRect/>
            </a:stretch>
          </p:blipFill>
          <p:spPr bwMode="auto">
            <a:xfrm>
              <a:off x="2707446" y="1607242"/>
              <a:ext cx="4305300" cy="43053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53883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字方塊 26">
            <a:extLst>
              <a:ext uri="{FF2B5EF4-FFF2-40B4-BE49-F238E27FC236}">
                <a16:creationId xmlns:a16="http://schemas.microsoft.com/office/drawing/2014/main" id="{E86631AE-F0A0-D1CB-5994-8B0EC211C733}"/>
              </a:ext>
            </a:extLst>
          </p:cNvPr>
          <p:cNvSpPr txBox="1"/>
          <p:nvPr/>
        </p:nvSpPr>
        <p:spPr>
          <a:xfrm>
            <a:off x="4440115" y="1216451"/>
            <a:ext cx="4352193" cy="3548472"/>
          </a:xfrm>
          <a:prstGeom prst="rect">
            <a:avLst/>
          </a:prstGeom>
          <a:noFill/>
        </p:spPr>
        <p:txBody>
          <a:bodyPr wrap="square" rtlCol="0">
            <a:spAutoFit/>
          </a:bodyPr>
          <a:lstStyle>
            <a:defPPr>
              <a:defRPr lang="zh-TW"/>
            </a:defPPr>
            <a:lvl1pPr algn="just">
              <a:lnSpc>
                <a:spcPts val="1800"/>
              </a:lnSpc>
              <a:spcBef>
                <a:spcPts val="450"/>
              </a:spcBef>
              <a:defRPr sz="1200" b="1">
                <a:latin typeface="+mn-ea"/>
              </a:defRPr>
            </a:lvl1pPr>
          </a:lstStyle>
          <a:p>
            <a:pPr hangingPunct="0">
              <a:lnSpc>
                <a:spcPts val="1700"/>
              </a:lnSpc>
              <a:spcAft>
                <a:spcPts val="300"/>
              </a:spcAft>
            </a:pPr>
            <a:r>
              <a:rPr lang="en-US" altLang="zh-TW" sz="1200" dirty="0">
                <a:solidFill>
                  <a:srgbClr val="FF0000"/>
                </a:solidFill>
                <a:latin typeface="Microsoft JhengHei" panose="020B0604030504040204" pitchFamily="34" charset="-120"/>
                <a:ea typeface="Microsoft JhengHei" panose="020B0604030504040204" pitchFamily="34" charset="-120"/>
              </a:rPr>
              <a:t>1Q26</a:t>
            </a:r>
            <a:r>
              <a:rPr lang="zh-TW" altLang="en-US" sz="1200" dirty="0">
                <a:solidFill>
                  <a:srgbClr val="FF0000"/>
                </a:solidFill>
                <a:latin typeface="Microsoft JhengHei" panose="020B0604030504040204" pitchFamily="34" charset="-120"/>
                <a:ea typeface="Microsoft JhengHei" panose="020B0604030504040204" pitchFamily="34" charset="-120"/>
              </a:rPr>
              <a:t>營收年增</a:t>
            </a:r>
            <a:r>
              <a:rPr lang="en-US" altLang="zh-TW" sz="1200" dirty="0">
                <a:solidFill>
                  <a:srgbClr val="FF0000"/>
                </a:solidFill>
                <a:latin typeface="Microsoft JhengHei" panose="020B0604030504040204" pitchFamily="34" charset="-120"/>
                <a:ea typeface="Microsoft JhengHei" panose="020B0604030504040204" pitchFamily="34" charset="-120"/>
              </a:rPr>
              <a:t>8%</a:t>
            </a:r>
            <a:r>
              <a:rPr lang="zh-TW" altLang="en-US" sz="1200" dirty="0">
                <a:solidFill>
                  <a:srgbClr val="FF0000"/>
                </a:solidFill>
                <a:latin typeface="Microsoft JhengHei" panose="020B0604030504040204" pitchFamily="34" charset="-120"/>
                <a:ea typeface="Microsoft JhengHei" panose="020B0604030504040204" pitchFamily="34" charset="-120"/>
              </a:rPr>
              <a:t>至</a:t>
            </a:r>
            <a:r>
              <a:rPr lang="en-US" altLang="zh-TW" sz="1200" dirty="0">
                <a:solidFill>
                  <a:srgbClr val="FF0000"/>
                </a:solidFill>
                <a:latin typeface="Microsoft JhengHei" panose="020B0604030504040204" pitchFamily="34" charset="-120"/>
                <a:ea typeface="Microsoft JhengHei" panose="020B0604030504040204" pitchFamily="34" charset="-120"/>
              </a:rPr>
              <a:t>112</a:t>
            </a:r>
            <a:r>
              <a:rPr lang="zh-TW" altLang="en-US" sz="1200" dirty="0">
                <a:solidFill>
                  <a:srgbClr val="FF0000"/>
                </a:solidFill>
                <a:latin typeface="Microsoft JhengHei" panose="020B0604030504040204" pitchFamily="34" charset="-120"/>
                <a:ea typeface="Microsoft JhengHei" panose="020B0604030504040204" pitchFamily="34" charset="-120"/>
              </a:rPr>
              <a:t>億美元</a:t>
            </a:r>
            <a:r>
              <a:rPr lang="zh-TW" altLang="en-US" sz="1200" b="0" dirty="0">
                <a:latin typeface="Microsoft JhengHei" panose="020B0604030504040204" pitchFamily="34" charset="-120"/>
                <a:ea typeface="Microsoft JhengHei" panose="020B0604030504040204" pitchFamily="34" charset="-120"/>
              </a:rPr>
              <a:t>，反映</a:t>
            </a:r>
            <a:r>
              <a:rPr lang="en-US" altLang="zh-TW" sz="1200" b="0" dirty="0">
                <a:latin typeface="Microsoft JhengHei" panose="020B0604030504040204" pitchFamily="34" charset="-120"/>
                <a:ea typeface="Microsoft JhengHei" panose="020B0604030504040204" pitchFamily="34" charset="-120"/>
              </a:rPr>
              <a:t>1)</a:t>
            </a:r>
            <a:r>
              <a:rPr lang="zh-TW" altLang="en-US" sz="1200" b="0" dirty="0">
                <a:latin typeface="Microsoft JhengHei" panose="020B0604030504040204" pitchFamily="34" charset="-120"/>
                <a:ea typeface="Microsoft JhengHei" panose="020B0604030504040204" pitchFamily="34" charset="-120"/>
              </a:rPr>
              <a:t>電生理、心衰與心律管理成長強勁，促醫療器材部門收入年增</a:t>
            </a:r>
            <a:r>
              <a:rPr lang="en-US" altLang="zh-TW" sz="1200" b="0" dirty="0">
                <a:latin typeface="Microsoft JhengHei" panose="020B0604030504040204" pitchFamily="34" charset="-120"/>
                <a:ea typeface="Microsoft JhengHei" panose="020B0604030504040204" pitchFamily="34" charset="-120"/>
              </a:rPr>
              <a:t>13%</a:t>
            </a:r>
            <a:r>
              <a:rPr lang="zh-TW" altLang="en-US" sz="1200" b="0" dirty="0">
                <a:latin typeface="Microsoft JhengHei" panose="020B0604030504040204" pitchFamily="34" charset="-120"/>
                <a:ea typeface="Microsoft JhengHei" panose="020B0604030504040204" pitchFamily="34" charset="-120"/>
              </a:rPr>
              <a:t>；</a:t>
            </a:r>
            <a:r>
              <a:rPr lang="en-US" altLang="zh-TW" sz="1200" b="0" dirty="0">
                <a:latin typeface="Microsoft JhengHei" panose="020B0604030504040204" pitchFamily="34" charset="-120"/>
                <a:ea typeface="Microsoft JhengHei" panose="020B0604030504040204" pitchFamily="34" charset="-120"/>
              </a:rPr>
              <a:t>2)</a:t>
            </a:r>
            <a:r>
              <a:rPr lang="zh-TW" altLang="en-US" sz="1200" b="0" dirty="0">
                <a:latin typeface="Microsoft JhengHei" panose="020B0604030504040204" pitchFamily="34" charset="-120"/>
                <a:ea typeface="Microsoft JhengHei" panose="020B0604030504040204" pitchFamily="34" charset="-120"/>
              </a:rPr>
              <a:t>拉美與亞太雙位數成長，加上生物仿製產品線擴展，推動成熟藥品部門收入年增</a:t>
            </a:r>
            <a:r>
              <a:rPr lang="en-US" altLang="zh-TW" sz="1200" b="0" dirty="0">
                <a:latin typeface="Microsoft JhengHei" panose="020B0604030504040204" pitchFamily="34" charset="-120"/>
                <a:ea typeface="Microsoft JhengHei" panose="020B0604030504040204" pitchFamily="34" charset="-120"/>
              </a:rPr>
              <a:t>13%</a:t>
            </a:r>
            <a:r>
              <a:rPr lang="zh-TW" altLang="en-US" sz="1200" b="0" dirty="0">
                <a:latin typeface="Microsoft JhengHei" panose="020B0604030504040204" pitchFamily="34" charset="-120"/>
                <a:ea typeface="Microsoft JhengHei" panose="020B0604030504040204" pitchFamily="34" charset="-120"/>
              </a:rPr>
              <a:t>；</a:t>
            </a:r>
            <a:r>
              <a:rPr lang="en-US" altLang="zh-TW" sz="1200" b="0" dirty="0">
                <a:latin typeface="Microsoft JhengHei" panose="020B0604030504040204" pitchFamily="34" charset="-120"/>
                <a:ea typeface="Microsoft JhengHei" panose="020B0604030504040204" pitchFamily="34" charset="-120"/>
              </a:rPr>
              <a:t>3)</a:t>
            </a:r>
            <a:r>
              <a:rPr lang="zh-TW" altLang="en-US" sz="1200" b="0" dirty="0">
                <a:latin typeface="Microsoft JhengHei" panose="020B0604030504040204" pitchFamily="34" charset="-120"/>
                <a:ea typeface="Microsoft JhengHei" panose="020B0604030504040204" pitchFamily="34" charset="-120"/>
              </a:rPr>
              <a:t>收購精準醫療公司</a:t>
            </a:r>
            <a:r>
              <a:rPr lang="en-US" altLang="zh-TW" sz="1200" b="0" dirty="0">
                <a:latin typeface="Microsoft JhengHei" panose="020B0604030504040204" pitchFamily="34" charset="-120"/>
                <a:ea typeface="Microsoft JhengHei" panose="020B0604030504040204" pitchFamily="34" charset="-120"/>
              </a:rPr>
              <a:t>Exact Sciences</a:t>
            </a:r>
            <a:r>
              <a:rPr lang="zh-TW" altLang="en-US" sz="1200" b="0" dirty="0">
                <a:latin typeface="Microsoft JhengHei" panose="020B0604030504040204" pitchFamily="34" charset="-120"/>
                <a:ea typeface="Microsoft JhengHei" panose="020B0604030504040204" pitchFamily="34" charset="-120"/>
              </a:rPr>
              <a:t>帶來癌症診斷收入挹注，加上核心實驗室業務強勁，推升診斷部門收入成長</a:t>
            </a:r>
            <a:r>
              <a:rPr lang="en-US" altLang="zh-TW" sz="1200" b="0" dirty="0">
                <a:latin typeface="Microsoft JhengHei" panose="020B0604030504040204" pitchFamily="34" charset="-120"/>
                <a:ea typeface="Microsoft JhengHei" panose="020B0604030504040204" pitchFamily="34" charset="-120"/>
              </a:rPr>
              <a:t>6%</a:t>
            </a:r>
            <a:r>
              <a:rPr lang="zh-TW" altLang="en-US" sz="1200" b="0" dirty="0">
                <a:latin typeface="Microsoft JhengHei" panose="020B0604030504040204" pitchFamily="34" charset="-120"/>
                <a:ea typeface="Microsoft JhengHei" panose="020B0604030504040204" pitchFamily="34" charset="-120"/>
              </a:rPr>
              <a:t>；抵銷</a:t>
            </a:r>
            <a:r>
              <a:rPr lang="en-US" altLang="zh-TW" sz="1200" b="0" dirty="0">
                <a:latin typeface="Microsoft JhengHei" panose="020B0604030504040204" pitchFamily="34" charset="-120"/>
                <a:ea typeface="Microsoft JhengHei" panose="020B0604030504040204" pitchFamily="34" charset="-120"/>
              </a:rPr>
              <a:t>4)</a:t>
            </a:r>
            <a:r>
              <a:rPr lang="zh-TW" altLang="en-US" sz="1200" b="0" dirty="0">
                <a:latin typeface="Microsoft JhengHei" panose="020B0604030504040204" pitchFamily="34" charset="-120"/>
                <a:ea typeface="Microsoft JhengHei" panose="020B0604030504040204" pitchFamily="34" charset="-120"/>
              </a:rPr>
              <a:t>銷量下滑與價格調整拖累，營養品部門收入年減</a:t>
            </a:r>
            <a:r>
              <a:rPr lang="en-US" altLang="zh-TW" sz="1200" b="0" dirty="0">
                <a:latin typeface="Microsoft JhengHei" panose="020B0604030504040204" pitchFamily="34" charset="-120"/>
                <a:ea typeface="Microsoft JhengHei" panose="020B0604030504040204" pitchFamily="34" charset="-120"/>
              </a:rPr>
              <a:t>6%</a:t>
            </a:r>
            <a:r>
              <a:rPr lang="zh-TW" altLang="en-US" sz="1200" b="0" dirty="0">
                <a:latin typeface="Microsoft JhengHei" panose="020B0604030504040204" pitchFamily="34" charset="-120"/>
                <a:ea typeface="Microsoft JhengHei" panose="020B0604030504040204" pitchFamily="34" charset="-120"/>
              </a:rPr>
              <a:t>的負面影響。</a:t>
            </a:r>
            <a:r>
              <a:rPr lang="zh-TW" altLang="en-US" sz="1200" dirty="0">
                <a:solidFill>
                  <a:srgbClr val="FF0000"/>
                </a:solidFill>
                <a:latin typeface="Microsoft JhengHei" panose="020B0604030504040204" pitchFamily="34" charset="-120"/>
                <a:ea typeface="Microsoft JhengHei" panose="020B0604030504040204" pitchFamily="34" charset="-120"/>
              </a:rPr>
              <a:t>普通股可分配淨利年減</a:t>
            </a:r>
            <a:r>
              <a:rPr lang="en-US" altLang="zh-TW" sz="1200" dirty="0">
                <a:solidFill>
                  <a:srgbClr val="FF0000"/>
                </a:solidFill>
                <a:latin typeface="Microsoft JhengHei" panose="020B0604030504040204" pitchFamily="34" charset="-120"/>
                <a:ea typeface="Microsoft JhengHei" panose="020B0604030504040204" pitchFamily="34" charset="-120"/>
              </a:rPr>
              <a:t>19%</a:t>
            </a:r>
            <a:r>
              <a:rPr lang="zh-TW" altLang="en-US" sz="1200" dirty="0">
                <a:solidFill>
                  <a:srgbClr val="FF0000"/>
                </a:solidFill>
                <a:latin typeface="Microsoft JhengHei" panose="020B0604030504040204" pitchFamily="34" charset="-120"/>
                <a:ea typeface="Microsoft JhengHei" panose="020B0604030504040204" pitchFamily="34" charset="-120"/>
              </a:rPr>
              <a:t>至</a:t>
            </a:r>
            <a:r>
              <a:rPr lang="en-US" altLang="zh-TW" sz="1200" dirty="0">
                <a:solidFill>
                  <a:srgbClr val="FF0000"/>
                </a:solidFill>
                <a:latin typeface="Microsoft JhengHei" panose="020B0604030504040204" pitchFamily="34" charset="-120"/>
                <a:ea typeface="Microsoft JhengHei" panose="020B0604030504040204" pitchFamily="34" charset="-120"/>
              </a:rPr>
              <a:t>11</a:t>
            </a:r>
            <a:r>
              <a:rPr lang="zh-TW" altLang="en-US" sz="1200" dirty="0">
                <a:solidFill>
                  <a:srgbClr val="FF0000"/>
                </a:solidFill>
                <a:latin typeface="Microsoft JhengHei" panose="020B0604030504040204" pitchFamily="34" charset="-120"/>
                <a:ea typeface="Microsoft JhengHei" panose="020B0604030504040204" pitchFamily="34" charset="-120"/>
              </a:rPr>
              <a:t>億美元</a:t>
            </a:r>
            <a:r>
              <a:rPr lang="zh-TW" altLang="en-US" sz="1200" b="0" dirty="0">
                <a:latin typeface="Microsoft JhengHei" panose="020B0604030504040204" pitchFamily="34" charset="-120"/>
                <a:ea typeface="Microsoft JhengHei" panose="020B0604030504040204" pitchFamily="34" charset="-120"/>
              </a:rPr>
              <a:t>，主要受收購</a:t>
            </a:r>
            <a:r>
              <a:rPr lang="en-US" altLang="zh-TW" sz="1200" b="0" dirty="0">
                <a:latin typeface="Microsoft JhengHei" panose="020B0604030504040204" pitchFamily="34" charset="-120"/>
                <a:ea typeface="Microsoft JhengHei" panose="020B0604030504040204" pitchFamily="34" charset="-120"/>
              </a:rPr>
              <a:t>Exact Sciences</a:t>
            </a:r>
            <a:r>
              <a:rPr lang="zh-TW" altLang="en-US" sz="1200" b="0" dirty="0">
                <a:latin typeface="Microsoft JhengHei" panose="020B0604030504040204" pitchFamily="34" charset="-120"/>
                <a:ea typeface="Microsoft JhengHei" panose="020B0604030504040204" pitchFamily="34" charset="-120"/>
              </a:rPr>
              <a:t>相關費用影響，</a:t>
            </a:r>
            <a:r>
              <a:rPr lang="en-US" altLang="zh-TW" sz="1200" b="0" dirty="0">
                <a:latin typeface="Microsoft JhengHei" panose="020B0604030504040204" pitchFamily="34" charset="-120"/>
                <a:ea typeface="Microsoft JhengHei" panose="020B0604030504040204" pitchFamily="34" charset="-120"/>
              </a:rPr>
              <a:t>SG&amp;A</a:t>
            </a:r>
            <a:r>
              <a:rPr lang="zh-TW" altLang="en-US" sz="1200" b="0" dirty="0">
                <a:latin typeface="Microsoft JhengHei" panose="020B0604030504040204" pitchFamily="34" charset="-120"/>
                <a:ea typeface="Microsoft JhengHei" panose="020B0604030504040204" pitchFamily="34" charset="-120"/>
              </a:rPr>
              <a:t>費用大增</a:t>
            </a:r>
            <a:r>
              <a:rPr lang="en-US" altLang="zh-TW" sz="1200" b="0" dirty="0">
                <a:latin typeface="Microsoft JhengHei" panose="020B0604030504040204" pitchFamily="34" charset="-120"/>
                <a:ea typeface="Microsoft JhengHei" panose="020B0604030504040204" pitchFamily="34" charset="-120"/>
              </a:rPr>
              <a:t>22.2%</a:t>
            </a:r>
            <a:r>
              <a:rPr lang="zh-TW" altLang="en-US" sz="1200" b="0" dirty="0">
                <a:latin typeface="Microsoft JhengHei" panose="020B0604030504040204" pitchFamily="34" charset="-120"/>
                <a:ea typeface="Microsoft JhengHei" panose="020B0604030504040204" pitchFamily="34" charset="-120"/>
              </a:rPr>
              <a:t>，拖累淨利表現。</a:t>
            </a:r>
          </a:p>
          <a:p>
            <a:pPr hangingPunct="0">
              <a:lnSpc>
                <a:spcPts val="1700"/>
              </a:lnSpc>
              <a:spcAft>
                <a:spcPts val="300"/>
              </a:spcAft>
            </a:pPr>
            <a:r>
              <a:rPr lang="zh-TW" altLang="en-US" sz="1200" dirty="0">
                <a:latin typeface="Microsoft JhengHei" panose="020B0604030504040204" pitchFamily="34" charset="-120"/>
                <a:ea typeface="Microsoft JhengHei" panose="020B0604030504040204" pitchFamily="34" charset="-120"/>
              </a:rPr>
              <a:t>亮點</a:t>
            </a:r>
            <a:r>
              <a:rPr lang="zh-TW" altLang="en-US" sz="1200" b="0" dirty="0">
                <a:latin typeface="Microsoft JhengHei" panose="020B0604030504040204" pitchFamily="34" charset="-120"/>
                <a:ea typeface="Microsoft JhengHei" panose="020B0604030504040204" pitchFamily="34" charset="-120"/>
              </a:rPr>
              <a:t>：</a:t>
            </a:r>
            <a:r>
              <a:rPr lang="en-US" altLang="zh-TW" sz="1200" b="0" dirty="0">
                <a:latin typeface="Microsoft JhengHei" panose="020B0604030504040204" pitchFamily="34" charset="-120"/>
                <a:ea typeface="Microsoft JhengHei" panose="020B0604030504040204" pitchFamily="34" charset="-120"/>
              </a:rPr>
              <a:t>1)</a:t>
            </a:r>
            <a:r>
              <a:rPr lang="zh-TW" altLang="en-US" sz="1200" b="0" dirty="0">
                <a:latin typeface="Microsoft JhengHei" panose="020B0604030504040204" pitchFamily="34" charset="-120"/>
                <a:ea typeface="Microsoft JhengHei" panose="020B0604030504040204" pitchFamily="34" charset="-120"/>
              </a:rPr>
              <a:t>受惠於收購</a:t>
            </a:r>
            <a:r>
              <a:rPr lang="en-US" altLang="zh-TW" sz="1200" b="0" dirty="0">
                <a:latin typeface="Microsoft JhengHei" panose="020B0604030504040204" pitchFamily="34" charset="-120"/>
                <a:ea typeface="Microsoft JhengHei" panose="020B0604030504040204" pitchFamily="34" charset="-120"/>
              </a:rPr>
              <a:t>Exact Sciences</a:t>
            </a:r>
            <a:r>
              <a:rPr lang="zh-TW" altLang="en-US" sz="1200" b="0" dirty="0">
                <a:latin typeface="Microsoft JhengHei" panose="020B0604030504040204" pitchFamily="34" charset="-120"/>
                <a:ea typeface="Microsoft JhengHei" panose="020B0604030504040204" pitchFamily="34" charset="-120"/>
              </a:rPr>
              <a:t>，診斷業務收入自</a:t>
            </a:r>
            <a:r>
              <a:rPr lang="en-US" altLang="zh-TW" sz="1200" b="0" dirty="0">
                <a:latin typeface="Microsoft JhengHei" panose="020B0604030504040204" pitchFamily="34" charset="-120"/>
                <a:ea typeface="Microsoft JhengHei" panose="020B0604030504040204" pitchFamily="34" charset="-120"/>
              </a:rPr>
              <a:t>3Q24</a:t>
            </a:r>
            <a:r>
              <a:rPr lang="zh-TW" altLang="en-US" sz="1200" b="0" dirty="0">
                <a:latin typeface="Microsoft JhengHei" panose="020B0604030504040204" pitchFamily="34" charset="-120"/>
                <a:ea typeface="Microsoft JhengHei" panose="020B0604030504040204" pitchFamily="34" charset="-120"/>
              </a:rPr>
              <a:t>以來首度優於預期；</a:t>
            </a:r>
            <a:r>
              <a:rPr lang="en-US" altLang="zh-TW" sz="1200" b="0" dirty="0">
                <a:latin typeface="Microsoft JhengHei" panose="020B0604030504040204" pitchFamily="34" charset="-120"/>
                <a:ea typeface="Microsoft JhengHei" panose="020B0604030504040204" pitchFamily="34" charset="-120"/>
              </a:rPr>
              <a:t>2)</a:t>
            </a:r>
            <a:r>
              <a:rPr lang="zh-TW" altLang="en-US" sz="1200" b="0" dirty="0">
                <a:latin typeface="Microsoft JhengHei" panose="020B0604030504040204" pitchFamily="34" charset="-120"/>
                <a:ea typeface="Microsoft JhengHei" panose="020B0604030504040204" pitchFamily="34" charset="-120"/>
              </a:rPr>
              <a:t>公司在心美力重金屬相關訴訟中勝訴，降低潛在鉅額賠償風險。</a:t>
            </a:r>
          </a:p>
          <a:p>
            <a:pPr hangingPunct="0">
              <a:lnSpc>
                <a:spcPts val="1700"/>
              </a:lnSpc>
              <a:spcAft>
                <a:spcPts val="300"/>
              </a:spcAft>
            </a:pPr>
            <a:r>
              <a:rPr lang="zh-TW" altLang="en-US" sz="1200" dirty="0">
                <a:latin typeface="Microsoft JhengHei" panose="020B0604030504040204" pitchFamily="34" charset="-120"/>
                <a:ea typeface="Microsoft JhengHei" panose="020B0604030504040204" pitchFamily="34" charset="-120"/>
              </a:rPr>
              <a:t>風險</a:t>
            </a:r>
            <a:r>
              <a:rPr lang="zh-TW" altLang="en-US" sz="1200" b="0" dirty="0">
                <a:latin typeface="Microsoft JhengHei" panose="020B0604030504040204" pitchFamily="34" charset="-120"/>
                <a:ea typeface="Microsoft JhengHei" panose="020B0604030504040204" pitchFamily="34" charset="-120"/>
              </a:rPr>
              <a:t>：</a:t>
            </a:r>
            <a:r>
              <a:rPr lang="en-US" altLang="zh-TW" sz="1200" b="0" dirty="0">
                <a:latin typeface="Microsoft JhengHei" panose="020B0604030504040204" pitchFamily="34" charset="-120"/>
                <a:ea typeface="Microsoft JhengHei" panose="020B0604030504040204" pitchFamily="34" charset="-120"/>
              </a:rPr>
              <a:t>1)</a:t>
            </a:r>
            <a:r>
              <a:rPr lang="zh-TW" altLang="en-US" sz="1200" b="0" dirty="0">
                <a:latin typeface="Microsoft JhengHei" panose="020B0604030504040204" pitchFamily="34" charset="-120"/>
                <a:ea typeface="Microsoft JhengHei" panose="020B0604030504040204" pitchFamily="34" charset="-120"/>
              </a:rPr>
              <a:t>受收購相關成本影響，下修全年獲利財測上緣；</a:t>
            </a:r>
            <a:r>
              <a:rPr lang="en-US" altLang="zh-TW" sz="1200" b="0" dirty="0">
                <a:latin typeface="Microsoft JhengHei" panose="020B0604030504040204" pitchFamily="34" charset="-120"/>
                <a:ea typeface="Microsoft JhengHei" panose="020B0604030504040204" pitchFamily="34" charset="-120"/>
              </a:rPr>
              <a:t>2)</a:t>
            </a:r>
            <a:r>
              <a:rPr lang="zh-TW" altLang="en-US" sz="1200" b="0" dirty="0">
                <a:latin typeface="Microsoft JhengHei" panose="020B0604030504040204" pitchFamily="34" charset="-120"/>
                <a:ea typeface="Microsoft JhengHei" panose="020B0604030504040204" pitchFamily="34" charset="-120"/>
              </a:rPr>
              <a:t>分析師表示，營養品銷售下滑，加上糖尿病與結構心臟器材受競品壓力，恐拖累成長。</a:t>
            </a:r>
          </a:p>
        </p:txBody>
      </p:sp>
      <p:sp>
        <p:nvSpPr>
          <p:cNvPr id="17" name="標題 1">
            <a:extLst>
              <a:ext uri="{FF2B5EF4-FFF2-40B4-BE49-F238E27FC236}">
                <a16:creationId xmlns:a16="http://schemas.microsoft.com/office/drawing/2014/main" id="{10747116-B3D9-E52C-224D-915D8D91A172}"/>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財務表現</a:t>
            </a:r>
          </a:p>
        </p:txBody>
      </p:sp>
      <p:sp>
        <p:nvSpPr>
          <p:cNvPr id="14" name="矩形 13">
            <a:extLst>
              <a:ext uri="{FF2B5EF4-FFF2-40B4-BE49-F238E27FC236}">
                <a16:creationId xmlns:a16="http://schemas.microsoft.com/office/drawing/2014/main" id="{B4BDB70D-9FB1-4C31-8D1B-8E806862C631}"/>
              </a:ext>
            </a:extLst>
          </p:cNvPr>
          <p:cNvSpPr/>
          <p:nvPr/>
        </p:nvSpPr>
        <p:spPr>
          <a:xfrm>
            <a:off x="4396154" y="1109376"/>
            <a:ext cx="4475123" cy="5271952"/>
          </a:xfrm>
          <a:prstGeom prst="rect">
            <a:avLst/>
          </a:prstGeom>
          <a:noFill/>
          <a:ln w="127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350"/>
          </a:p>
        </p:txBody>
      </p:sp>
      <p:sp>
        <p:nvSpPr>
          <p:cNvPr id="16" name="圓角矩形 27">
            <a:extLst>
              <a:ext uri="{FF2B5EF4-FFF2-40B4-BE49-F238E27FC236}">
                <a16:creationId xmlns:a16="http://schemas.microsoft.com/office/drawing/2014/main" id="{0AA0FB52-2CB0-413B-B05E-327F794BD0E7}"/>
              </a:ext>
            </a:extLst>
          </p:cNvPr>
          <p:cNvSpPr/>
          <p:nvPr/>
        </p:nvSpPr>
        <p:spPr>
          <a:xfrm>
            <a:off x="4552744" y="948739"/>
            <a:ext cx="967427" cy="26769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季度財務</a:t>
            </a:r>
          </a:p>
        </p:txBody>
      </p:sp>
      <p:graphicFrame>
        <p:nvGraphicFramePr>
          <p:cNvPr id="18" name="表格 17">
            <a:extLst>
              <a:ext uri="{FF2B5EF4-FFF2-40B4-BE49-F238E27FC236}">
                <a16:creationId xmlns:a16="http://schemas.microsoft.com/office/drawing/2014/main" id="{51C63B37-09C5-4C18-BA90-9E21A246B91E}"/>
              </a:ext>
            </a:extLst>
          </p:cNvPr>
          <p:cNvGraphicFramePr>
            <a:graphicFrameLocks noGrp="1"/>
          </p:cNvGraphicFramePr>
          <p:nvPr>
            <p:extLst>
              <p:ext uri="{D42A27DB-BD31-4B8C-83A1-F6EECF244321}">
                <p14:modId xmlns:p14="http://schemas.microsoft.com/office/powerpoint/2010/main" val="3629336750"/>
              </p:ext>
            </p:extLst>
          </p:nvPr>
        </p:nvGraphicFramePr>
        <p:xfrm>
          <a:off x="303509" y="1324546"/>
          <a:ext cx="3970040" cy="1303040"/>
        </p:xfrm>
        <a:graphic>
          <a:graphicData uri="http://schemas.openxmlformats.org/drawingml/2006/table">
            <a:tbl>
              <a:tblPr/>
              <a:tblGrid>
                <a:gridCol w="519451">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434340">
                  <a:extLst>
                    <a:ext uri="{9D8B030D-6E8A-4147-A177-3AD203B41FA5}">
                      <a16:colId xmlns:a16="http://schemas.microsoft.com/office/drawing/2014/main" val="20002"/>
                    </a:ext>
                  </a:extLst>
                </a:gridCol>
                <a:gridCol w="662940">
                  <a:extLst>
                    <a:ext uri="{9D8B030D-6E8A-4147-A177-3AD203B41FA5}">
                      <a16:colId xmlns:a16="http://schemas.microsoft.com/office/drawing/2014/main" val="20004"/>
                    </a:ext>
                  </a:extLst>
                </a:gridCol>
                <a:gridCol w="502920">
                  <a:extLst>
                    <a:ext uri="{9D8B030D-6E8A-4147-A177-3AD203B41FA5}">
                      <a16:colId xmlns:a16="http://schemas.microsoft.com/office/drawing/2014/main" val="20005"/>
                    </a:ext>
                  </a:extLst>
                </a:gridCol>
                <a:gridCol w="188550">
                  <a:extLst>
                    <a:ext uri="{9D8B030D-6E8A-4147-A177-3AD203B41FA5}">
                      <a16:colId xmlns:a16="http://schemas.microsoft.com/office/drawing/2014/main" val="20006"/>
                    </a:ext>
                  </a:extLst>
                </a:gridCol>
                <a:gridCol w="423590">
                  <a:extLst>
                    <a:ext uri="{9D8B030D-6E8A-4147-A177-3AD203B41FA5}">
                      <a16:colId xmlns:a16="http://schemas.microsoft.com/office/drawing/2014/main" val="20007"/>
                    </a:ext>
                  </a:extLst>
                </a:gridCol>
                <a:gridCol w="704849">
                  <a:extLst>
                    <a:ext uri="{9D8B030D-6E8A-4147-A177-3AD203B41FA5}">
                      <a16:colId xmlns:a16="http://schemas.microsoft.com/office/drawing/2014/main" val="20009"/>
                    </a:ext>
                  </a:extLst>
                </a:gridCol>
              </a:tblGrid>
              <a:tr h="530867">
                <a:tc>
                  <a:txBody>
                    <a:bodyPr/>
                    <a:lstStyle/>
                    <a:p>
                      <a:pPr algn="l" fontAlgn="ctr"/>
                      <a:r>
                        <a:rPr lang="zh-TW" altLang="en-US" sz="800" b="1" i="0" u="none" strike="noStrike" dirty="0">
                          <a:solidFill>
                            <a:srgbClr val="000000"/>
                          </a:solidFill>
                          <a:effectLst/>
                          <a:latin typeface="+mn-ea"/>
                          <a:ea typeface="+mn-ea"/>
                        </a:rPr>
                        <a:t>年度</a:t>
                      </a:r>
                      <a:r>
                        <a:rPr lang="en-US" altLang="zh-TW" sz="800" b="1" i="0" u="none" strike="noStrike" dirty="0">
                          <a:solidFill>
                            <a:srgbClr val="000000"/>
                          </a:solidFill>
                          <a:effectLst/>
                          <a:latin typeface="+mn-ea"/>
                          <a:ea typeface="+mn-ea"/>
                        </a:rPr>
                        <a:t>(</a:t>
                      </a:r>
                      <a:r>
                        <a:rPr lang="zh-TW" altLang="en-US" sz="800" b="1" i="0" u="none" strike="noStrike" dirty="0">
                          <a:solidFill>
                            <a:srgbClr val="000000"/>
                          </a:solidFill>
                          <a:effectLst/>
                          <a:latin typeface="+mn-ea"/>
                          <a:ea typeface="+mn-ea"/>
                        </a:rPr>
                        <a:t>百萬</a:t>
                      </a:r>
                      <a:r>
                        <a:rPr lang="en-US" sz="800" b="1" i="0" u="none" strike="noStrike" dirty="0">
                          <a:solidFill>
                            <a:srgbClr val="000000"/>
                          </a:solidFill>
                          <a:effectLst/>
                          <a:latin typeface="+mn-ea"/>
                          <a:ea typeface="+mn-ea"/>
                        </a:rPr>
                        <a:t>USD)</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mn-ea"/>
                          <a:ea typeface="+mn-ea"/>
                        </a:rPr>
                        <a:t>營收</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mn-ea"/>
                          <a:ea typeface="+mn-ea"/>
                        </a:rPr>
                        <a:t>普通股可分配淨利</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a:solidFill>
                            <a:srgbClr val="000000"/>
                          </a:solidFill>
                          <a:effectLst/>
                          <a:latin typeface="+mn-ea"/>
                          <a:ea typeface="+mn-ea"/>
                        </a:rPr>
                        <a:t>　</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mn-ea"/>
                          <a:ea typeface="+mn-ea"/>
                        </a:rPr>
                        <a:t>資產</a:t>
                      </a:r>
                    </a:p>
                  </a:txBody>
                  <a:tcPr marL="9525" marR="9525" marT="9525" marB="0" anchor="ctr">
                    <a:lnL>
                      <a:noFill/>
                    </a:lnL>
                    <a:lnR>
                      <a:noFill/>
                    </a:lnR>
                    <a:lnT>
                      <a:noFill/>
                    </a:lnT>
                    <a:lnB>
                      <a:noFill/>
                    </a:lnB>
                    <a:solidFill>
                      <a:srgbClr val="FFFFFF"/>
                    </a:solidFill>
                  </a:tcPr>
                </a:tc>
                <a:tc>
                  <a:txBody>
                    <a:bodyPr/>
                    <a:lstStyle/>
                    <a:p>
                      <a:pPr algn="r" fontAlgn="ctr"/>
                      <a:r>
                        <a:rPr lang="zh-TW" altLang="en-US" sz="1000" b="1" i="0" u="none" strike="noStrike" dirty="0">
                          <a:solidFill>
                            <a:srgbClr val="000000"/>
                          </a:solidFill>
                          <a:effectLst/>
                          <a:latin typeface="+mn-ea"/>
                          <a:ea typeface="+mn-ea"/>
                        </a:rPr>
                        <a:t>總股東權益</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10000"/>
                  </a:ext>
                </a:extLst>
              </a:tr>
              <a:tr h="257391">
                <a:tc>
                  <a:txBody>
                    <a:bodyPr/>
                    <a:lstStyle/>
                    <a:p>
                      <a:pPr marL="0" algn="l" defTabSz="685800" rtl="0" eaLnBrk="1" fontAlgn="ctr" latinLnBrk="0" hangingPunct="1"/>
                      <a:r>
                        <a:rPr lang="en-US" sz="1000" b="1" i="0" u="none" strike="noStrike" kern="1200" dirty="0">
                          <a:solidFill>
                            <a:srgbClr val="000000"/>
                          </a:solidFill>
                          <a:effectLst/>
                          <a:latin typeface="+mn-ea"/>
                          <a:ea typeface="+mn-ea"/>
                          <a:cs typeface="+mn-cs"/>
                        </a:rPr>
                        <a:t>2025</a:t>
                      </a: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1" i="0" u="none" strike="noStrike" kern="1200" dirty="0">
                          <a:solidFill>
                            <a:srgbClr val="000000"/>
                          </a:solidFill>
                          <a:effectLst/>
                          <a:latin typeface="+mn-ea"/>
                          <a:ea typeface="+mn-ea"/>
                          <a:cs typeface="+mn-cs"/>
                        </a:rPr>
                        <a:t>44,328</a:t>
                      </a: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0" i="0" u="none" strike="noStrike" kern="1200" dirty="0">
                          <a:solidFill>
                            <a:schemeClr val="tx1"/>
                          </a:solidFill>
                          <a:effectLst/>
                          <a:latin typeface="+mn-ea"/>
                          <a:ea typeface="+mn-ea"/>
                          <a:cs typeface="+mn-cs"/>
                        </a:rPr>
                        <a:t>5.7%</a:t>
                      </a: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1" i="0" u="none" strike="noStrike" kern="1200" dirty="0">
                          <a:solidFill>
                            <a:srgbClr val="000000"/>
                          </a:solidFill>
                          <a:effectLst/>
                          <a:latin typeface="+mn-ea"/>
                          <a:ea typeface="+mn-ea"/>
                          <a:cs typeface="+mn-cs"/>
                        </a:rPr>
                        <a:t>6,524</a:t>
                      </a: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0" i="0" u="none" strike="noStrike" kern="1200" dirty="0">
                          <a:solidFill>
                            <a:srgbClr val="C00000"/>
                          </a:solidFill>
                          <a:effectLst/>
                          <a:latin typeface="+mn-ea"/>
                          <a:ea typeface="+mn-ea"/>
                          <a:cs typeface="+mn-cs"/>
                        </a:rPr>
                        <a:t>-51.3%</a:t>
                      </a: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endParaRPr lang="zh-TW" altLang="en-US" sz="1000" b="1" i="0" u="none" strike="noStrike" kern="1200" dirty="0">
                        <a:solidFill>
                          <a:srgbClr val="000000"/>
                        </a:solidFill>
                        <a:effectLst/>
                        <a:latin typeface="+mn-ea"/>
                        <a:ea typeface="+mn-ea"/>
                        <a:cs typeface="+mn-cs"/>
                      </a:endParaRP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1" i="0" u="none" strike="noStrike" kern="1200" dirty="0">
                          <a:solidFill>
                            <a:srgbClr val="000000"/>
                          </a:solidFill>
                          <a:effectLst/>
                          <a:latin typeface="+mn-ea"/>
                          <a:ea typeface="+mn-ea"/>
                          <a:cs typeface="+mn-cs"/>
                        </a:rPr>
                        <a:t>86,713</a:t>
                      </a:r>
                    </a:p>
                  </a:txBody>
                  <a:tcPr marL="0" marR="0" marT="0" marB="0" anchor="ctr">
                    <a:lnL>
                      <a:noFill/>
                    </a:lnL>
                    <a:lnR>
                      <a:noFill/>
                    </a:lnR>
                    <a:lnT>
                      <a:noFill/>
                    </a:lnT>
                    <a:lnB>
                      <a:noFill/>
                    </a:lnB>
                    <a:solidFill>
                      <a:schemeClr val="bg1"/>
                    </a:solidFill>
                  </a:tcPr>
                </a:tc>
                <a:tc>
                  <a:txBody>
                    <a:bodyPr/>
                    <a:lstStyle/>
                    <a:p>
                      <a:pPr marL="0" algn="r" defTabSz="685800" rtl="0" eaLnBrk="1" fontAlgn="ctr" latinLnBrk="0" hangingPunct="1"/>
                      <a:r>
                        <a:rPr lang="en-US" altLang="zh-TW" sz="1000" b="1" i="0" u="none" strike="noStrike" kern="1200" dirty="0">
                          <a:solidFill>
                            <a:srgbClr val="000000"/>
                          </a:solidFill>
                          <a:effectLst/>
                          <a:latin typeface="+mn-ea"/>
                          <a:ea typeface="+mn-ea"/>
                          <a:cs typeface="+mn-cs"/>
                        </a:rPr>
                        <a:t>52,771</a:t>
                      </a:r>
                    </a:p>
                  </a:txBody>
                  <a:tcPr marL="0" marR="0" marT="0" marB="0" anchor="ctr">
                    <a:lnL>
                      <a:noFill/>
                    </a:lnL>
                    <a:lnR>
                      <a:noFill/>
                    </a:lnR>
                    <a:lnT>
                      <a:noFill/>
                    </a:lnT>
                    <a:lnB>
                      <a:noFill/>
                    </a:lnB>
                    <a:solidFill>
                      <a:schemeClr val="bg1"/>
                    </a:solidFill>
                  </a:tcPr>
                </a:tc>
                <a:extLst>
                  <a:ext uri="{0D108BD9-81ED-4DB2-BD59-A6C34878D82A}">
                    <a16:rowId xmlns:a16="http://schemas.microsoft.com/office/drawing/2014/main" val="10002"/>
                  </a:ext>
                </a:extLst>
              </a:tr>
              <a:tr h="257391">
                <a:tc>
                  <a:txBody>
                    <a:bodyPr/>
                    <a:lstStyle/>
                    <a:p>
                      <a:pPr marL="0" algn="l" defTabSz="685800" rtl="0" eaLnBrk="1" fontAlgn="ctr" latinLnBrk="0" hangingPunct="1"/>
                      <a:r>
                        <a:rPr lang="en-US" sz="1000" b="0" i="0" u="none" strike="noStrike" kern="1200" dirty="0">
                          <a:solidFill>
                            <a:srgbClr val="000000"/>
                          </a:solidFill>
                          <a:effectLst/>
                          <a:latin typeface="+mn-ea"/>
                          <a:ea typeface="+mn-ea"/>
                          <a:cs typeface="+mn-cs"/>
                        </a:rPr>
                        <a:t>2024</a:t>
                      </a: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41,950</a:t>
                      </a: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4.6%</a:t>
                      </a: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13,402</a:t>
                      </a: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134.2%</a:t>
                      </a: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endParaRPr lang="zh-TW" altLang="en-US" sz="1000" b="0" i="0" u="none" strike="noStrike" kern="1200" dirty="0">
                        <a:solidFill>
                          <a:srgbClr val="000000"/>
                        </a:solidFill>
                        <a:effectLst/>
                        <a:latin typeface="+mn-ea"/>
                        <a:ea typeface="+mn-ea"/>
                        <a:cs typeface="+mn-cs"/>
                      </a:endParaRP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81,414</a:t>
                      </a:r>
                    </a:p>
                  </a:txBody>
                  <a:tcPr marL="0" marR="0" marT="0" marB="0" anchor="ctr">
                    <a:lnL>
                      <a:noFill/>
                    </a:lnL>
                    <a:lnR>
                      <a:noFill/>
                    </a:lnR>
                    <a:lnT>
                      <a:noFill/>
                    </a:lnT>
                    <a:lnB>
                      <a:noFill/>
                    </a:lnB>
                    <a:solidFill>
                      <a:srgbClr val="F2F2F2"/>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47,901</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937738249"/>
                  </a:ext>
                </a:extLst>
              </a:tr>
              <a:tr h="257391">
                <a:tc>
                  <a:txBody>
                    <a:bodyPr/>
                    <a:lstStyle/>
                    <a:p>
                      <a:pPr marL="0" algn="l" defTabSz="685800" rtl="0" eaLnBrk="1" fontAlgn="ctr" latinLnBrk="0" hangingPunct="1"/>
                      <a:r>
                        <a:rPr lang="en-US" sz="1000" b="0" i="0" u="none" strike="noStrike" kern="1200" dirty="0">
                          <a:solidFill>
                            <a:srgbClr val="000000"/>
                          </a:solidFill>
                          <a:effectLst/>
                          <a:latin typeface="+mn-ea"/>
                          <a:ea typeface="+mn-ea"/>
                          <a:cs typeface="+mn-cs"/>
                        </a:rPr>
                        <a:t>2023</a:t>
                      </a: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40,109</a:t>
                      </a: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C00000"/>
                          </a:solidFill>
                          <a:effectLst/>
                          <a:latin typeface="+mn-ea"/>
                          <a:ea typeface="+mn-ea"/>
                          <a:cs typeface="+mn-cs"/>
                        </a:rPr>
                        <a:t>-8.1%</a:t>
                      </a: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5,723</a:t>
                      </a: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C00000"/>
                          </a:solidFill>
                          <a:effectLst/>
                          <a:latin typeface="+mn-ea"/>
                          <a:ea typeface="+mn-ea"/>
                          <a:cs typeface="+mn-cs"/>
                        </a:rPr>
                        <a:t>-17.5%</a:t>
                      </a: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endParaRPr lang="zh-TW" altLang="en-US" sz="1000" b="0" i="0" u="none" strike="noStrike" kern="1200" dirty="0">
                        <a:solidFill>
                          <a:srgbClr val="000000"/>
                        </a:solidFill>
                        <a:effectLst/>
                        <a:latin typeface="+mn-ea"/>
                        <a:ea typeface="+mn-ea"/>
                        <a:cs typeface="+mn-cs"/>
                      </a:endParaRP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73,214</a:t>
                      </a:r>
                    </a:p>
                  </a:txBody>
                  <a:tcPr marL="0" marR="0" marT="0" marB="0" anchor="ctr">
                    <a:lnL>
                      <a:noFill/>
                    </a:lnL>
                    <a:lnR>
                      <a:noFill/>
                    </a:lnR>
                    <a:lnT>
                      <a:noFill/>
                    </a:lnT>
                    <a:lnB>
                      <a:noFill/>
                    </a:lnB>
                    <a:solidFill>
                      <a:srgbClr val="FFFFFF"/>
                    </a:solidFill>
                  </a:tcPr>
                </a:tc>
                <a:tc>
                  <a:txBody>
                    <a:bodyPr/>
                    <a:lstStyle/>
                    <a:p>
                      <a:pPr marL="0" algn="r" defTabSz="685800" rtl="0" eaLnBrk="1" fontAlgn="ctr" latinLnBrk="0" hangingPunct="1"/>
                      <a:r>
                        <a:rPr lang="en-US" altLang="zh-TW" sz="1000" b="0" i="0" u="none" strike="noStrike" kern="1200" dirty="0">
                          <a:solidFill>
                            <a:srgbClr val="000000"/>
                          </a:solidFill>
                          <a:effectLst/>
                          <a:latin typeface="+mn-ea"/>
                          <a:ea typeface="+mn-ea"/>
                          <a:cs typeface="+mn-cs"/>
                        </a:rPr>
                        <a:t>38,827</a:t>
                      </a:r>
                    </a:p>
                  </a:txBody>
                  <a:tcPr marL="0" marR="0" marT="0" marB="0" anchor="ctr">
                    <a:lnL>
                      <a:noFill/>
                    </a:lnL>
                    <a:lnR>
                      <a:noFill/>
                    </a:lnR>
                    <a:lnT>
                      <a:noFill/>
                    </a:lnT>
                    <a:lnB>
                      <a:noFill/>
                    </a:lnB>
                    <a:solidFill>
                      <a:srgbClr val="FFFFFF"/>
                    </a:solidFill>
                  </a:tcPr>
                </a:tc>
                <a:extLst>
                  <a:ext uri="{0D108BD9-81ED-4DB2-BD59-A6C34878D82A}">
                    <a16:rowId xmlns:a16="http://schemas.microsoft.com/office/drawing/2014/main" val="10003"/>
                  </a:ext>
                </a:extLst>
              </a:tr>
            </a:tbl>
          </a:graphicData>
        </a:graphic>
      </p:graphicFrame>
      <p:sp>
        <p:nvSpPr>
          <p:cNvPr id="21" name="文字方塊 20">
            <a:extLst>
              <a:ext uri="{FF2B5EF4-FFF2-40B4-BE49-F238E27FC236}">
                <a16:creationId xmlns:a16="http://schemas.microsoft.com/office/drawing/2014/main" id="{8F0FD4EF-5781-416B-9274-1A08B192CCCD}"/>
              </a:ext>
            </a:extLst>
          </p:cNvPr>
          <p:cNvSpPr txBox="1"/>
          <p:nvPr/>
        </p:nvSpPr>
        <p:spPr>
          <a:xfrm>
            <a:off x="260057" y="2650114"/>
            <a:ext cx="4045243" cy="3798540"/>
          </a:xfrm>
          <a:prstGeom prst="rect">
            <a:avLst/>
          </a:prstGeom>
          <a:noFill/>
        </p:spPr>
        <p:txBody>
          <a:bodyPr wrap="square" rtlCol="0">
            <a:spAutoFit/>
          </a:bodyPr>
          <a:lstStyle/>
          <a:p>
            <a:pPr lvl="0" algn="just">
              <a:lnSpc>
                <a:spcPts val="1900"/>
              </a:lnSpc>
              <a:spcBef>
                <a:spcPts val="600"/>
              </a:spcBef>
              <a:defRPr/>
            </a:pPr>
            <a:r>
              <a:rPr kumimoji="0" lang="en-US" altLang="zh-TW" sz="1200" b="1" i="0" u="none" strike="noStrike" kern="12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rPr>
              <a:t>2025</a:t>
            </a:r>
            <a:r>
              <a:rPr kumimoji="0" lang="zh-TW" altLang="en-US" sz="1200" b="1" i="0" u="none" strike="noStrike" kern="12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rPr>
              <a:t>營收年增</a:t>
            </a:r>
            <a:r>
              <a:rPr kumimoji="0" lang="en-US" altLang="zh-TW" sz="1200" b="1" i="0" u="none" strike="noStrike" kern="12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rPr>
              <a:t>5.7%</a:t>
            </a:r>
            <a:r>
              <a:rPr kumimoji="0" lang="zh-TW" altLang="en-US" sz="1200" b="1" i="0" u="none" strike="noStrike" kern="12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rPr>
              <a:t>至</a:t>
            </a:r>
            <a:r>
              <a:rPr lang="en-US" altLang="zh-TW" sz="1200" b="1" dirty="0">
                <a:solidFill>
                  <a:srgbClr val="FF0000"/>
                </a:solidFill>
                <a:latin typeface="微軟正黑體" panose="020B0604030504040204" pitchFamily="34" charset="-120"/>
                <a:ea typeface="微軟正黑體" panose="020B0604030504040204" pitchFamily="34" charset="-120"/>
              </a:rPr>
              <a:t>443</a:t>
            </a:r>
            <a:r>
              <a:rPr kumimoji="0" lang="zh-TW" altLang="en-US" sz="1200" b="1" i="0" u="none" strike="noStrike" kern="12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rPr>
              <a:t>億美元</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，排除匯率影響年增</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5.1%</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，反映</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1)</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醫療器材收入年增</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11.9%</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，主要得益於糖尿病護理、心臟衰竭、電生理和結構性心臟病業務實現雙位數增長；</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2)</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在排除外匯影響下，成熟藥品部門的銷售成長</a:t>
            </a:r>
            <a:r>
              <a:rPr kumimoji="0" lang="en-US" altLang="zh-TW"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7.4%</a:t>
            </a:r>
            <a:r>
              <a:rPr kumimoji="0" lang="zh-TW" altLang="en-US" sz="12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，成長主要來自多個國家及</a:t>
            </a:r>
            <a:r>
              <a:rPr lang="zh-TW" altLang="en-US" sz="1200" dirty="0">
                <a:latin typeface="pplxSerif"/>
              </a:rPr>
              <a:t>多項治療領域的營收增加，包括心臟代謝、腸胃以及中樞神經系統</a:t>
            </a:r>
            <a:r>
              <a:rPr lang="en-US" altLang="zh-TW" sz="1200" dirty="0">
                <a:latin typeface="pplxSerif"/>
              </a:rPr>
              <a:t>/</a:t>
            </a:r>
            <a:r>
              <a:rPr lang="zh-TW" altLang="en-US" sz="1200" dirty="0">
                <a:latin typeface="pplxSerif"/>
              </a:rPr>
              <a:t>疼痛管理等領域；</a:t>
            </a:r>
            <a:r>
              <a:rPr lang="en-US" altLang="zh-TW" sz="1200" dirty="0">
                <a:latin typeface="+mj-lt"/>
              </a:rPr>
              <a:t>3)</a:t>
            </a:r>
            <a:r>
              <a:rPr lang="zh-TW" altLang="en-US" sz="1200" dirty="0">
                <a:latin typeface="pplxSerif"/>
              </a:rPr>
              <a:t>營養品部門的總銷售額在</a:t>
            </a:r>
            <a:r>
              <a:rPr lang="en-US" altLang="zh-TW" sz="1200" dirty="0">
                <a:latin typeface="+mj-lt"/>
              </a:rPr>
              <a:t>2025</a:t>
            </a:r>
            <a:r>
              <a:rPr lang="zh-TW" altLang="en-US" sz="1200" dirty="0">
                <a:latin typeface="pplxSerif"/>
              </a:rPr>
              <a:t>年成長</a:t>
            </a:r>
            <a:r>
              <a:rPr lang="en-US" altLang="zh-TW" sz="1200" dirty="0">
                <a:latin typeface="+mj-lt"/>
              </a:rPr>
              <a:t>1.1%</a:t>
            </a:r>
            <a:r>
              <a:rPr lang="zh-TW" altLang="en-US" sz="1200" dirty="0">
                <a:latin typeface="+mj-lt"/>
              </a:rPr>
              <a:t>，反映</a:t>
            </a:r>
            <a:r>
              <a:rPr lang="zh-TW" altLang="en-US" sz="1200" dirty="0">
                <a:latin typeface="pplxSerif"/>
              </a:rPr>
              <a:t>價格上漲抵銷銷量下滑的影響</a:t>
            </a:r>
            <a:r>
              <a:rPr lang="zh-TW" altLang="en-US" sz="1200" dirty="0">
                <a:latin typeface="+mj-lt"/>
              </a:rPr>
              <a:t>；</a:t>
            </a:r>
            <a:r>
              <a:rPr lang="en-US" altLang="zh-TW" sz="1200" dirty="0">
                <a:latin typeface="+mj-lt"/>
              </a:rPr>
              <a:t>4)</a:t>
            </a:r>
            <a:r>
              <a:rPr lang="zh-TW" altLang="en-US" sz="1200" dirty="0">
                <a:latin typeface="pplxSerif"/>
              </a:rPr>
              <a:t>診斷部門的銷售則持續受到</a:t>
            </a:r>
            <a:r>
              <a:rPr lang="en-US" altLang="zh-TW" sz="1200" dirty="0">
                <a:latin typeface="+mj-lt"/>
              </a:rPr>
              <a:t>COVID-19</a:t>
            </a:r>
            <a:r>
              <a:rPr lang="zh-TW" altLang="en-US" sz="1200" dirty="0">
                <a:latin typeface="pplxSerif"/>
              </a:rPr>
              <a:t>檢測相關銷售下滑及中國市場環境艱難的影響。</a:t>
            </a:r>
            <a:endParaRPr lang="en-US" altLang="zh-TW" sz="1200" dirty="0">
              <a:latin typeface="pplxSerif"/>
            </a:endParaRPr>
          </a:p>
          <a:p>
            <a:pPr lvl="0" algn="just">
              <a:lnSpc>
                <a:spcPts val="1900"/>
              </a:lnSpc>
              <a:spcBef>
                <a:spcPts val="600"/>
              </a:spcBef>
              <a:defRPr/>
            </a:pPr>
            <a:r>
              <a:rPr lang="zh-TW" altLang="en-US" sz="1200" dirty="0">
                <a:latin typeface="微軟正黑體" panose="020B0604030504040204" pitchFamily="34" charset="-120"/>
                <a:ea typeface="微軟正黑體" panose="020B0604030504040204" pitchFamily="34" charset="-120"/>
              </a:rPr>
              <a:t>儘管稅前利潤年增</a:t>
            </a:r>
            <a:r>
              <a:rPr lang="en-US" altLang="zh-TW" sz="1200" dirty="0">
                <a:latin typeface="微軟正黑體" panose="020B0604030504040204" pitchFamily="34" charset="-120"/>
                <a:ea typeface="微軟正黑體" panose="020B0604030504040204" pitchFamily="34" charset="-120"/>
              </a:rPr>
              <a:t>20%</a:t>
            </a:r>
            <a:r>
              <a:rPr lang="zh-TW" altLang="en-US" sz="1200" dirty="0">
                <a:latin typeface="微軟正黑體" panose="020B0604030504040204" pitchFamily="34" charset="-120"/>
                <a:ea typeface="微軟正黑體" panose="020B0604030504040204" pitchFamily="34" charset="-120"/>
              </a:rPr>
              <a:t>至</a:t>
            </a:r>
            <a:r>
              <a:rPr lang="en-US" altLang="zh-TW" sz="1200" dirty="0">
                <a:latin typeface="微軟正黑體" panose="020B0604030504040204" pitchFamily="34" charset="-120"/>
                <a:ea typeface="微軟正黑體" panose="020B0604030504040204" pitchFamily="34" charset="-120"/>
              </a:rPr>
              <a:t>85</a:t>
            </a:r>
            <a:r>
              <a:rPr lang="zh-TW" altLang="en-US" sz="1200" dirty="0">
                <a:latin typeface="微軟正黑體" panose="020B0604030504040204" pitchFamily="34" charset="-120"/>
                <a:ea typeface="微軟正黑體" panose="020B0604030504040204" pitchFamily="34" charset="-120"/>
              </a:rPr>
              <a:t>億美元，但</a:t>
            </a:r>
            <a:r>
              <a:rPr kumimoji="0" lang="zh-TW" altLang="en-US" sz="1200" b="1" i="0" u="none" strike="noStrike" kern="1200" cap="none" spc="0" normalizeH="0" baseline="0" noProof="0" dirty="0">
                <a:ln>
                  <a:noFill/>
                </a:ln>
                <a:solidFill>
                  <a:srgbClr val="FF0000"/>
                </a:solidFill>
                <a:effectLst/>
                <a:uLnTx/>
                <a:uFillTx/>
                <a:latin typeface="微軟正黑體" panose="020B0604030504040204" pitchFamily="34" charset="-120"/>
                <a:ea typeface="微軟正黑體" panose="020B0604030504040204" pitchFamily="34" charset="-120"/>
                <a:cs typeface="+mn-cs"/>
              </a:rPr>
              <a:t>普通股可分配淨利</a:t>
            </a:r>
            <a:r>
              <a:rPr lang="zh-TW" altLang="en-US" sz="1200" b="1" dirty="0">
                <a:solidFill>
                  <a:srgbClr val="FF0000"/>
                </a:solidFill>
                <a:latin typeface="微軟正黑體" panose="020B0604030504040204" pitchFamily="34" charset="-120"/>
                <a:ea typeface="微軟正黑體" panose="020B0604030504040204" pitchFamily="34" charset="-120"/>
              </a:rPr>
              <a:t>下滑</a:t>
            </a:r>
            <a:r>
              <a:rPr lang="en-US" altLang="zh-TW" sz="1200" b="1" dirty="0">
                <a:solidFill>
                  <a:srgbClr val="FF0000"/>
                </a:solidFill>
                <a:latin typeface="微軟正黑體" panose="020B0604030504040204" pitchFamily="34" charset="-120"/>
                <a:ea typeface="微軟正黑體" panose="020B0604030504040204" pitchFamily="34" charset="-120"/>
              </a:rPr>
              <a:t>51.3%</a:t>
            </a:r>
            <a:r>
              <a:rPr lang="zh-TW" altLang="en-US" sz="1200" b="1" dirty="0">
                <a:solidFill>
                  <a:srgbClr val="FF0000"/>
                </a:solidFill>
                <a:latin typeface="微軟正黑體" panose="020B0604030504040204" pitchFamily="34" charset="-120"/>
                <a:ea typeface="微軟正黑體" panose="020B0604030504040204" pitchFamily="34" charset="-120"/>
              </a:rPr>
              <a:t>至</a:t>
            </a:r>
            <a:r>
              <a:rPr lang="en-US" altLang="zh-TW" sz="1200" b="1" dirty="0">
                <a:solidFill>
                  <a:srgbClr val="FF0000"/>
                </a:solidFill>
                <a:latin typeface="微軟正黑體" panose="020B0604030504040204" pitchFamily="34" charset="-120"/>
                <a:ea typeface="微軟正黑體" panose="020B0604030504040204" pitchFamily="34" charset="-120"/>
              </a:rPr>
              <a:t>65</a:t>
            </a:r>
            <a:r>
              <a:rPr lang="zh-TW" altLang="en-US" sz="1200" b="1" dirty="0">
                <a:solidFill>
                  <a:srgbClr val="FF0000"/>
                </a:solidFill>
                <a:latin typeface="微軟正黑體" panose="020B0604030504040204" pitchFamily="34" charset="-120"/>
                <a:ea typeface="微軟正黑體" panose="020B0604030504040204" pitchFamily="34" charset="-120"/>
              </a:rPr>
              <a:t>億美元</a:t>
            </a:r>
            <a:r>
              <a:rPr lang="zh-TW" altLang="en-US" sz="1200" dirty="0">
                <a:latin typeface="微軟正黑體" panose="020B0604030504040204" pitchFamily="34" charset="-120"/>
                <a:ea typeface="微軟正黑體" panose="020B0604030504040204" pitchFamily="34" charset="-120"/>
              </a:rPr>
              <a:t>，主因係</a:t>
            </a:r>
            <a:r>
              <a:rPr lang="en-US" altLang="zh-TW" sz="1200" dirty="0">
                <a:latin typeface="微軟正黑體" panose="020B0604030504040204" pitchFamily="34" charset="-120"/>
                <a:ea typeface="微軟正黑體" panose="020B0604030504040204" pitchFamily="34" charset="-120"/>
              </a:rPr>
              <a:t>2024</a:t>
            </a:r>
            <a:r>
              <a:rPr lang="zh-TW" altLang="en-US" sz="1200" dirty="0">
                <a:latin typeface="微軟正黑體" panose="020B0604030504040204" pitchFamily="34" charset="-120"/>
                <a:ea typeface="微軟正黑體" panose="020B0604030504040204" pitchFamily="34" charset="-120"/>
              </a:rPr>
              <a:t>年公司完成部分海外子公司重組並確認相關申報立場後，管理層認為相關遞延所得稅資產在未來更可能實現，因而一次性回轉約</a:t>
            </a:r>
            <a:r>
              <a:rPr lang="en-US" altLang="zh-TW" sz="1200" dirty="0">
                <a:latin typeface="微軟正黑體" panose="020B0604030504040204" pitchFamily="34" charset="-120"/>
                <a:ea typeface="微軟正黑體" panose="020B0604030504040204" pitchFamily="34" charset="-120"/>
              </a:rPr>
              <a:t>75</a:t>
            </a:r>
            <a:r>
              <a:rPr lang="zh-TW" altLang="en-US" sz="1200" dirty="0">
                <a:latin typeface="微軟正黑體" panose="020B0604030504040204" pitchFamily="34" charset="-120"/>
                <a:ea typeface="微軟正黑體" panose="020B0604030504040204" pitchFamily="34" charset="-120"/>
              </a:rPr>
              <a:t>億美元的估值備抵，認列大額稅收優惠，顯著推升</a:t>
            </a:r>
            <a:r>
              <a:rPr lang="en-US" altLang="zh-TW" sz="1200" dirty="0">
                <a:latin typeface="微軟正黑體" panose="020B0604030504040204" pitchFamily="34" charset="-120"/>
                <a:ea typeface="微軟正黑體" panose="020B0604030504040204" pitchFamily="34" charset="-120"/>
              </a:rPr>
              <a:t>2024</a:t>
            </a:r>
            <a:r>
              <a:rPr lang="zh-TW" altLang="en-US" sz="1200" dirty="0">
                <a:latin typeface="微軟正黑體" panose="020B0604030504040204" pitchFamily="34" charset="-120"/>
                <a:ea typeface="微軟正黑體" panose="020B0604030504040204" pitchFamily="34" charset="-120"/>
              </a:rPr>
              <a:t>年稅後淨利，而墊高基期所致。</a:t>
            </a:r>
            <a:endParaRPr lang="en-US" altLang="zh-TW" sz="1200" dirty="0">
              <a:latin typeface="微軟正黑體" panose="020B0604030504040204" pitchFamily="34" charset="-120"/>
              <a:ea typeface="微軟正黑體" panose="020B0604030504040204" pitchFamily="34" charset="-120"/>
            </a:endParaRPr>
          </a:p>
        </p:txBody>
      </p:sp>
      <p:sp>
        <p:nvSpPr>
          <p:cNvPr id="38" name="矩形 37">
            <a:extLst>
              <a:ext uri="{FF2B5EF4-FFF2-40B4-BE49-F238E27FC236}">
                <a16:creationId xmlns:a16="http://schemas.microsoft.com/office/drawing/2014/main" id="{1D81B572-6D38-42DB-A1C8-8F66A4ECF9A5}"/>
              </a:ext>
            </a:extLst>
          </p:cNvPr>
          <p:cNvSpPr/>
          <p:nvPr/>
        </p:nvSpPr>
        <p:spPr>
          <a:xfrm>
            <a:off x="461487" y="6547585"/>
            <a:ext cx="7338900" cy="215444"/>
          </a:xfrm>
          <a:prstGeom prst="rect">
            <a:avLst/>
          </a:prstGeom>
        </p:spPr>
        <p:txBody>
          <a:bodyPr wrap="square">
            <a:spAutoFit/>
          </a:bodyPr>
          <a:lstStyle/>
          <a:p>
            <a:r>
              <a:rPr lang="zh-TW" altLang="en-US" sz="800" dirty="0">
                <a:latin typeface="微軟正黑體" panose="020B0604030504040204" pitchFamily="34" charset="-120"/>
                <a:ea typeface="微軟正黑體" panose="020B0604030504040204" pitchFamily="34" charset="-120"/>
              </a:rPr>
              <a:t>資料來源：年報、季報、新聞整理</a:t>
            </a:r>
          </a:p>
        </p:txBody>
      </p:sp>
      <p:sp>
        <p:nvSpPr>
          <p:cNvPr id="39" name="標題 1">
            <a:extLst>
              <a:ext uri="{FF2B5EF4-FFF2-40B4-BE49-F238E27FC236}">
                <a16:creationId xmlns:a16="http://schemas.microsoft.com/office/drawing/2014/main" id="{FACC0AC8-A591-4AA7-98C5-0D5AA8BF3CA5}"/>
              </a:ext>
            </a:extLst>
          </p:cNvPr>
          <p:cNvSpPr txBox="1">
            <a:spLocks noChangeArrowheads="1"/>
          </p:cNvSpPr>
          <p:nvPr/>
        </p:nvSpPr>
        <p:spPr>
          <a:xfrm>
            <a:off x="883747" y="142648"/>
            <a:ext cx="7311217"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醫療器材及成熟藥品持續挹注營收</a:t>
            </a:r>
          </a:p>
        </p:txBody>
      </p:sp>
      <p:graphicFrame>
        <p:nvGraphicFramePr>
          <p:cNvPr id="19" name="圖表 18">
            <a:extLst>
              <a:ext uri="{FF2B5EF4-FFF2-40B4-BE49-F238E27FC236}">
                <a16:creationId xmlns:a16="http://schemas.microsoft.com/office/drawing/2014/main" id="{67ADA6BC-A045-423A-BC61-832D43CDF8DC}"/>
              </a:ext>
            </a:extLst>
          </p:cNvPr>
          <p:cNvGraphicFramePr>
            <a:graphicFrameLocks/>
          </p:cNvGraphicFramePr>
          <p:nvPr>
            <p:extLst>
              <p:ext uri="{D42A27DB-BD31-4B8C-83A1-F6EECF244321}">
                <p14:modId xmlns:p14="http://schemas.microsoft.com/office/powerpoint/2010/main" val="216757153"/>
              </p:ext>
            </p:extLst>
          </p:nvPr>
        </p:nvGraphicFramePr>
        <p:xfrm>
          <a:off x="6650266" y="4757302"/>
          <a:ext cx="2093684" cy="168841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圖表 21">
            <a:extLst>
              <a:ext uri="{FF2B5EF4-FFF2-40B4-BE49-F238E27FC236}">
                <a16:creationId xmlns:a16="http://schemas.microsoft.com/office/drawing/2014/main" id="{B60E93D7-0705-42A6-9119-E0E4924A0617}"/>
              </a:ext>
            </a:extLst>
          </p:cNvPr>
          <p:cNvGraphicFramePr>
            <a:graphicFrameLocks/>
          </p:cNvGraphicFramePr>
          <p:nvPr>
            <p:extLst>
              <p:ext uri="{D42A27DB-BD31-4B8C-83A1-F6EECF244321}">
                <p14:modId xmlns:p14="http://schemas.microsoft.com/office/powerpoint/2010/main" val="3717173699"/>
              </p:ext>
            </p:extLst>
          </p:nvPr>
        </p:nvGraphicFramePr>
        <p:xfrm>
          <a:off x="4451647" y="4764923"/>
          <a:ext cx="2149178" cy="1688413"/>
        </p:xfrm>
        <a:graphic>
          <a:graphicData uri="http://schemas.openxmlformats.org/drawingml/2006/chart">
            <c:chart xmlns:c="http://schemas.openxmlformats.org/drawingml/2006/chart" xmlns:r="http://schemas.openxmlformats.org/officeDocument/2006/relationships" r:id="rId4"/>
          </a:graphicData>
        </a:graphic>
      </p:graphicFrame>
      <p:sp>
        <p:nvSpPr>
          <p:cNvPr id="25" name="矩形 24">
            <a:extLst>
              <a:ext uri="{FF2B5EF4-FFF2-40B4-BE49-F238E27FC236}">
                <a16:creationId xmlns:a16="http://schemas.microsoft.com/office/drawing/2014/main" id="{155C486F-5352-4227-8A47-5731A6AB584D}"/>
              </a:ext>
            </a:extLst>
          </p:cNvPr>
          <p:cNvSpPr/>
          <p:nvPr/>
        </p:nvSpPr>
        <p:spPr>
          <a:xfrm>
            <a:off x="212691" y="1109376"/>
            <a:ext cx="4111629" cy="5271952"/>
          </a:xfrm>
          <a:prstGeom prst="rect">
            <a:avLst/>
          </a:prstGeom>
          <a:noFill/>
          <a:ln w="1270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350"/>
          </a:p>
        </p:txBody>
      </p:sp>
      <p:sp>
        <p:nvSpPr>
          <p:cNvPr id="15" name="圓角矩形 21">
            <a:extLst>
              <a:ext uri="{FF2B5EF4-FFF2-40B4-BE49-F238E27FC236}">
                <a16:creationId xmlns:a16="http://schemas.microsoft.com/office/drawing/2014/main" id="{F413C702-4594-41E5-BB6D-690CBE2BDDC6}"/>
              </a:ext>
            </a:extLst>
          </p:cNvPr>
          <p:cNvSpPr/>
          <p:nvPr/>
        </p:nvSpPr>
        <p:spPr>
          <a:xfrm>
            <a:off x="366961" y="948739"/>
            <a:ext cx="968400" cy="267694"/>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400" b="1" dirty="0">
                <a:latin typeface="+mn-ea"/>
              </a:rPr>
              <a:t>年度財務</a:t>
            </a:r>
          </a:p>
        </p:txBody>
      </p:sp>
      <p:pic>
        <p:nvPicPr>
          <p:cNvPr id="20" name="圖片 19">
            <a:extLst>
              <a:ext uri="{FF2B5EF4-FFF2-40B4-BE49-F238E27FC236}">
                <a16:creationId xmlns:a16="http://schemas.microsoft.com/office/drawing/2014/main" id="{DC7A967B-C551-46E5-A8F1-922FD77338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35293" y="409569"/>
            <a:ext cx="1757355" cy="449590"/>
          </a:xfrm>
          <a:prstGeom prst="rect">
            <a:avLst/>
          </a:prstGeom>
        </p:spPr>
      </p:pic>
    </p:spTree>
    <p:extLst>
      <p:ext uri="{BB962C8B-B14F-4D97-AF65-F5344CB8AC3E}">
        <p14:creationId xmlns:p14="http://schemas.microsoft.com/office/powerpoint/2010/main" val="3881990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圓角矩形 30">
            <a:extLst>
              <a:ext uri="{FF2B5EF4-FFF2-40B4-BE49-F238E27FC236}">
                <a16:creationId xmlns:a16="http://schemas.microsoft.com/office/drawing/2014/main" id="{8FC520AF-C043-427C-8649-383AFB06E364}"/>
              </a:ext>
            </a:extLst>
          </p:cNvPr>
          <p:cNvSpPr/>
          <p:nvPr/>
        </p:nvSpPr>
        <p:spPr>
          <a:xfrm>
            <a:off x="6877534" y="1628800"/>
            <a:ext cx="1272207" cy="1808758"/>
          </a:xfrm>
          <a:prstGeom prst="roundRect">
            <a:avLst>
              <a:gd name="adj" fmla="val 6279"/>
            </a:avLst>
          </a:prstGeom>
          <a:solidFill>
            <a:srgbClr val="FFF7F7"/>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20" name="圖表 19">
            <a:extLst>
              <a:ext uri="{FF2B5EF4-FFF2-40B4-BE49-F238E27FC236}">
                <a16:creationId xmlns:a16="http://schemas.microsoft.com/office/drawing/2014/main" id="{6616A7A2-22B8-490E-AB3A-718F82552F02}"/>
              </a:ext>
            </a:extLst>
          </p:cNvPr>
          <p:cNvGraphicFramePr>
            <a:graphicFrameLocks/>
          </p:cNvGraphicFramePr>
          <p:nvPr>
            <p:extLst>
              <p:ext uri="{D42A27DB-BD31-4B8C-83A1-F6EECF244321}">
                <p14:modId xmlns:p14="http://schemas.microsoft.com/office/powerpoint/2010/main" val="3802445359"/>
              </p:ext>
            </p:extLst>
          </p:nvPr>
        </p:nvGraphicFramePr>
        <p:xfrm>
          <a:off x="4714159" y="1237301"/>
          <a:ext cx="4069721" cy="2254651"/>
        </p:xfrm>
        <a:graphic>
          <a:graphicData uri="http://schemas.openxmlformats.org/drawingml/2006/chart">
            <c:chart xmlns:c="http://schemas.openxmlformats.org/drawingml/2006/chart" xmlns:r="http://schemas.openxmlformats.org/officeDocument/2006/relationships" r:id="rId3"/>
          </a:graphicData>
        </a:graphic>
      </p:graphicFrame>
      <p:sp>
        <p:nvSpPr>
          <p:cNvPr id="17" name="標題 1">
            <a:extLst>
              <a:ext uri="{FF2B5EF4-FFF2-40B4-BE49-F238E27FC236}">
                <a16:creationId xmlns:a16="http://schemas.microsoft.com/office/drawing/2014/main" id="{10747116-B3D9-E52C-224D-915D8D91A172}"/>
              </a:ext>
            </a:extLst>
          </p:cNvPr>
          <p:cNvSpPr txBox="1">
            <a:spLocks/>
          </p:cNvSpPr>
          <p:nvPr/>
        </p:nvSpPr>
        <p:spPr bwMode="auto">
          <a:xfrm>
            <a:off x="246781" y="116632"/>
            <a:ext cx="636966" cy="609218"/>
          </a:xfrm>
          <a:prstGeom prst="rect">
            <a:avLst/>
          </a:prstGeom>
          <a:solidFill>
            <a:srgbClr val="C00000"/>
          </a:solidFill>
          <a:ln>
            <a:noFill/>
          </a:ln>
        </p:spPr>
        <p:txBody>
          <a:bodyPr anchor="ctr">
            <a:noAutofit/>
          </a:bodyPr>
          <a:lstStyle>
            <a:defPPr>
              <a:defRPr lang="zh-TW"/>
            </a:defPPr>
            <a:lvl1pPr algn="ctr" eaLnBrk="0" fontAlgn="base" hangingPunct="0">
              <a:spcBef>
                <a:spcPct val="0"/>
              </a:spcBef>
              <a:spcAft>
                <a:spcPct val="0"/>
              </a:spcAft>
              <a:defRPr kumimoji="1" sz="2000" b="1" kern="0">
                <a:solidFill>
                  <a:schemeClr val="bg1"/>
                </a:solidFill>
                <a:latin typeface="+mj-lt"/>
                <a:ea typeface="+mj-ea"/>
                <a:cs typeface="+mj-cs"/>
              </a:defRPr>
            </a:lvl1pPr>
            <a:lvl2pPr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fontAlgn="base">
              <a:spcBef>
                <a:spcPct val="0"/>
              </a:spcBef>
              <a:spcAft>
                <a:spcPct val="0"/>
              </a:spcAft>
              <a:defRPr kumimoji="1" sz="3000" b="1">
                <a:solidFill>
                  <a:schemeClr val="tx2"/>
                </a:solidFill>
                <a:latin typeface="標楷體" pitchFamily="65" charset="-120"/>
                <a:ea typeface="標楷體" pitchFamily="65" charset="-120"/>
              </a:defRPr>
            </a:lvl6pPr>
            <a:lvl7pPr marL="914400" fontAlgn="base">
              <a:spcBef>
                <a:spcPct val="0"/>
              </a:spcBef>
              <a:spcAft>
                <a:spcPct val="0"/>
              </a:spcAft>
              <a:defRPr kumimoji="1" sz="3000" b="1">
                <a:solidFill>
                  <a:schemeClr val="tx2"/>
                </a:solidFill>
                <a:latin typeface="標楷體" pitchFamily="65" charset="-120"/>
                <a:ea typeface="標楷體" pitchFamily="65" charset="-120"/>
              </a:defRPr>
            </a:lvl7pPr>
            <a:lvl8pPr marL="1371600" fontAlgn="base">
              <a:spcBef>
                <a:spcPct val="0"/>
              </a:spcBef>
              <a:spcAft>
                <a:spcPct val="0"/>
              </a:spcAft>
              <a:defRPr kumimoji="1" sz="3000" b="1">
                <a:solidFill>
                  <a:schemeClr val="tx2"/>
                </a:solidFill>
                <a:latin typeface="標楷體" pitchFamily="65" charset="-120"/>
                <a:ea typeface="標楷體" pitchFamily="65" charset="-120"/>
              </a:defRPr>
            </a:lvl8pPr>
            <a:lvl9pPr marL="1828800" fontAlgn="base">
              <a:spcBef>
                <a:spcPct val="0"/>
              </a:spcBef>
              <a:spcAft>
                <a:spcPct val="0"/>
              </a:spcAft>
              <a:defRPr kumimoji="1" sz="3000" b="1">
                <a:solidFill>
                  <a:schemeClr val="tx2"/>
                </a:solidFill>
                <a:latin typeface="標楷體" pitchFamily="65" charset="-120"/>
                <a:ea typeface="標楷體" pitchFamily="65" charset="-120"/>
              </a:defRPr>
            </a:lvl9pPr>
          </a:lstStyle>
          <a:p>
            <a:r>
              <a:rPr lang="zh-TW" altLang="en-US" sz="1700" dirty="0"/>
              <a:t>信用表現</a:t>
            </a:r>
          </a:p>
        </p:txBody>
      </p:sp>
      <p:graphicFrame>
        <p:nvGraphicFramePr>
          <p:cNvPr id="28" name="表格 27">
            <a:extLst>
              <a:ext uri="{FF2B5EF4-FFF2-40B4-BE49-F238E27FC236}">
                <a16:creationId xmlns:a16="http://schemas.microsoft.com/office/drawing/2014/main" id="{79680B46-2047-A7B9-DFF4-C0B5C819110F}"/>
              </a:ext>
            </a:extLst>
          </p:cNvPr>
          <p:cNvGraphicFramePr>
            <a:graphicFrameLocks noGrp="1"/>
          </p:cNvGraphicFramePr>
          <p:nvPr>
            <p:extLst>
              <p:ext uri="{D42A27DB-BD31-4B8C-83A1-F6EECF244321}">
                <p14:modId xmlns:p14="http://schemas.microsoft.com/office/powerpoint/2010/main" val="3477333171"/>
              </p:ext>
            </p:extLst>
          </p:nvPr>
        </p:nvGraphicFramePr>
        <p:xfrm>
          <a:off x="251521" y="876719"/>
          <a:ext cx="4339530" cy="5498772"/>
        </p:xfrm>
        <a:graphic>
          <a:graphicData uri="http://schemas.openxmlformats.org/drawingml/2006/table">
            <a:tbl>
              <a:tblPr firstRow="1" bandRow="1">
                <a:tableStyleId>{912C8C85-51F0-491E-9774-3900AFEF0FD7}</a:tableStyleId>
              </a:tblPr>
              <a:tblGrid>
                <a:gridCol w="1086600">
                  <a:extLst>
                    <a:ext uri="{9D8B030D-6E8A-4147-A177-3AD203B41FA5}">
                      <a16:colId xmlns:a16="http://schemas.microsoft.com/office/drawing/2014/main" val="20000"/>
                    </a:ext>
                  </a:extLst>
                </a:gridCol>
                <a:gridCol w="1084310">
                  <a:extLst>
                    <a:ext uri="{9D8B030D-6E8A-4147-A177-3AD203B41FA5}">
                      <a16:colId xmlns:a16="http://schemas.microsoft.com/office/drawing/2014/main" val="20001"/>
                    </a:ext>
                  </a:extLst>
                </a:gridCol>
                <a:gridCol w="1084310">
                  <a:extLst>
                    <a:ext uri="{9D8B030D-6E8A-4147-A177-3AD203B41FA5}">
                      <a16:colId xmlns:a16="http://schemas.microsoft.com/office/drawing/2014/main" val="20002"/>
                    </a:ext>
                  </a:extLst>
                </a:gridCol>
                <a:gridCol w="1084310">
                  <a:extLst>
                    <a:ext uri="{9D8B030D-6E8A-4147-A177-3AD203B41FA5}">
                      <a16:colId xmlns:a16="http://schemas.microsoft.com/office/drawing/2014/main" val="3884676251"/>
                    </a:ext>
                  </a:extLst>
                </a:gridCol>
              </a:tblGrid>
              <a:tr h="257425">
                <a:tc>
                  <a:txBody>
                    <a:bodyPr/>
                    <a:lstStyle/>
                    <a:p>
                      <a:pPr algn="ctr"/>
                      <a:r>
                        <a:rPr lang="zh-TW" altLang="en-US" sz="1200" dirty="0">
                          <a:solidFill>
                            <a:schemeClr val="bg1"/>
                          </a:solidFill>
                          <a:latin typeface="+mn-ea"/>
                          <a:ea typeface="+mn-ea"/>
                        </a:rPr>
                        <a:t>信用評等</a:t>
                      </a:r>
                    </a:p>
                  </a:txBody>
                  <a:tcPr anchor="ctr"/>
                </a:tc>
                <a:tc>
                  <a:txBody>
                    <a:bodyPr/>
                    <a:lstStyle/>
                    <a:p>
                      <a:pPr algn="ctr"/>
                      <a:r>
                        <a:rPr lang="zh-TW" altLang="en-US" sz="1200" dirty="0">
                          <a:latin typeface="+mn-ea"/>
                          <a:ea typeface="+mn-ea"/>
                        </a:rPr>
                        <a:t>穆迪</a:t>
                      </a:r>
                      <a:endParaRPr lang="zh-TW" altLang="en-US" sz="1200" b="1" dirty="0">
                        <a:solidFill>
                          <a:schemeClr val="bg1"/>
                        </a:solidFill>
                        <a:latin typeface="+mn-ea"/>
                        <a:ea typeface="+mn-ea"/>
                      </a:endParaRPr>
                    </a:p>
                  </a:txBody>
                  <a:tcPr anchor="ctr"/>
                </a:tc>
                <a:tc>
                  <a:txBody>
                    <a:bodyPr/>
                    <a:lstStyle/>
                    <a:p>
                      <a:pPr algn="ctr"/>
                      <a:r>
                        <a:rPr lang="zh-TW" altLang="en-US" sz="1200" dirty="0">
                          <a:latin typeface="+mn-ea"/>
                          <a:ea typeface="+mn-ea"/>
                        </a:rPr>
                        <a:t>標普</a:t>
                      </a:r>
                      <a:endParaRPr lang="zh-TW" altLang="en-US" sz="1200" b="1" dirty="0">
                        <a:solidFill>
                          <a:schemeClr val="bg1"/>
                        </a:solidFill>
                        <a:latin typeface="+mn-ea"/>
                        <a:ea typeface="+mn-ea"/>
                      </a:endParaRPr>
                    </a:p>
                  </a:txBody>
                  <a:tcPr anchor="ctr"/>
                </a:tc>
                <a:tc>
                  <a:txBody>
                    <a:bodyPr/>
                    <a:lstStyle/>
                    <a:p>
                      <a:pPr algn="ctr"/>
                      <a:r>
                        <a:rPr lang="zh-TW" altLang="en-US" sz="1200" b="1" dirty="0">
                          <a:latin typeface="+mn-ea"/>
                          <a:ea typeface="+mn-ea"/>
                        </a:rPr>
                        <a:t>惠譽</a:t>
                      </a:r>
                      <a:endParaRPr lang="zh-TW" altLang="en-US" sz="1200" b="1" dirty="0">
                        <a:solidFill>
                          <a:schemeClr val="bg1"/>
                        </a:solidFill>
                        <a:latin typeface="+mn-ea"/>
                        <a:ea typeface="+mn-ea"/>
                      </a:endParaRPr>
                    </a:p>
                  </a:txBody>
                  <a:tcPr anchor="ctr"/>
                </a:tc>
                <a:extLst>
                  <a:ext uri="{0D108BD9-81ED-4DB2-BD59-A6C34878D82A}">
                    <a16:rowId xmlns:a16="http://schemas.microsoft.com/office/drawing/2014/main" val="10000"/>
                  </a:ext>
                </a:extLst>
              </a:tr>
              <a:tr h="257425">
                <a:tc>
                  <a:txBody>
                    <a:bodyPr/>
                    <a:lstStyle/>
                    <a:p>
                      <a:pPr marL="0" algn="ctr" defTabSz="914400" rtl="0" eaLnBrk="1" fontAlgn="ctr" latinLnBrk="0" hangingPunct="1">
                        <a:lnSpc>
                          <a:spcPts val="1200"/>
                        </a:lnSpc>
                      </a:pPr>
                      <a:r>
                        <a:rPr lang="zh-TW" altLang="en-US" sz="1200" b="1" kern="1200" dirty="0">
                          <a:solidFill>
                            <a:schemeClr val="tx1"/>
                          </a:solidFill>
                          <a:latin typeface="+mn-ea"/>
                          <a:ea typeface="+mn-ea"/>
                          <a:cs typeface="+mn-cs"/>
                        </a:rPr>
                        <a:t>長期評等</a:t>
                      </a:r>
                    </a:p>
                  </a:txBody>
                  <a:tcPr marL="91453" marR="91453" marT="45743" marB="45743" anchor="ctr" anchorCtr="1"/>
                </a:tc>
                <a:tc>
                  <a:txBody>
                    <a:bodyPr/>
                    <a:lstStyle/>
                    <a:p>
                      <a:pPr algn="ctr" fontAlgn="ctr"/>
                      <a:r>
                        <a:rPr lang="en-US" altLang="zh-TW" sz="1200" b="1" kern="1200" dirty="0">
                          <a:solidFill>
                            <a:schemeClr val="tx1"/>
                          </a:solidFill>
                          <a:latin typeface="+mn-ea"/>
                          <a:ea typeface="+mn-ea"/>
                          <a:cs typeface="+mn-cs"/>
                        </a:rPr>
                        <a:t>Aa3</a:t>
                      </a:r>
                      <a:endParaRPr lang="en-US" sz="1200" b="1" kern="1200" dirty="0">
                        <a:solidFill>
                          <a:schemeClr val="tx1"/>
                        </a:solidFill>
                        <a:latin typeface="+mn-ea"/>
                        <a:ea typeface="+mn-ea"/>
                        <a:cs typeface="+mn-cs"/>
                      </a:endParaRPr>
                    </a:p>
                  </a:txBody>
                  <a:tcPr marL="9527" marR="9527" marT="9524" marB="0" anchor="ctr"/>
                </a:tc>
                <a:tc>
                  <a:txBody>
                    <a:bodyPr/>
                    <a:lstStyle/>
                    <a:p>
                      <a:pPr marL="0" algn="ctr" defTabSz="914400" rtl="0" eaLnBrk="1" fontAlgn="ctr" latinLnBrk="0" hangingPunct="1"/>
                      <a:r>
                        <a:rPr lang="en-US" altLang="zh-TW" sz="1200" b="1" kern="1200" dirty="0">
                          <a:solidFill>
                            <a:schemeClr val="tx1"/>
                          </a:solidFill>
                          <a:latin typeface="+mn-ea"/>
                          <a:ea typeface="+mn-ea"/>
                          <a:cs typeface="+mn-cs"/>
                        </a:rPr>
                        <a:t>A+</a:t>
                      </a:r>
                    </a:p>
                  </a:txBody>
                  <a:tcPr anchor="ctr"/>
                </a:tc>
                <a:tc>
                  <a:txBody>
                    <a:bodyPr/>
                    <a:lstStyle/>
                    <a:p>
                      <a:pPr algn="ctr" fontAlgn="ctr"/>
                      <a:r>
                        <a:rPr lang="en-US" altLang="zh-TW" sz="1200" b="1" kern="1200" dirty="0">
                          <a:solidFill>
                            <a:schemeClr val="tx1"/>
                          </a:solidFill>
                          <a:latin typeface="+mn-ea"/>
                          <a:ea typeface="+mn-ea"/>
                          <a:cs typeface="+mn-cs"/>
                        </a:rPr>
                        <a:t>--</a:t>
                      </a:r>
                    </a:p>
                  </a:txBody>
                  <a:tcPr marL="9527" marR="9527" marT="9524" marB="0" anchor="ctr"/>
                </a:tc>
                <a:extLst>
                  <a:ext uri="{0D108BD9-81ED-4DB2-BD59-A6C34878D82A}">
                    <a16:rowId xmlns:a16="http://schemas.microsoft.com/office/drawing/2014/main" val="10001"/>
                  </a:ext>
                </a:extLst>
              </a:tr>
              <a:tr h="257425">
                <a:tc>
                  <a:txBody>
                    <a:bodyPr/>
                    <a:lstStyle/>
                    <a:p>
                      <a:pPr marL="0" algn="ctr" defTabSz="914400" rtl="0" eaLnBrk="1" fontAlgn="ctr" latinLnBrk="0" hangingPunct="1">
                        <a:lnSpc>
                          <a:spcPts val="1200"/>
                        </a:lnSpc>
                      </a:pPr>
                      <a:r>
                        <a:rPr lang="zh-TW" altLang="en-US" sz="1200" b="1" kern="1200" dirty="0">
                          <a:solidFill>
                            <a:schemeClr val="tx1"/>
                          </a:solidFill>
                          <a:latin typeface="+mn-ea"/>
                          <a:ea typeface="+mn-ea"/>
                          <a:cs typeface="+mn-cs"/>
                        </a:rPr>
                        <a:t>評等展望</a:t>
                      </a:r>
                    </a:p>
                  </a:txBody>
                  <a:tcPr anchor="ctr"/>
                </a:tc>
                <a:tc>
                  <a:txBody>
                    <a:bodyPr/>
                    <a:lstStyle/>
                    <a:p>
                      <a:pPr marL="0" algn="ctr" defTabSz="914400" rtl="0" eaLnBrk="1" fontAlgn="ctr" latinLnBrk="0" hangingPunct="1">
                        <a:lnSpc>
                          <a:spcPts val="1200"/>
                        </a:lnSpc>
                      </a:pPr>
                      <a:r>
                        <a:rPr lang="zh-TW" altLang="en-US" sz="1200" b="1" kern="1200" dirty="0">
                          <a:solidFill>
                            <a:schemeClr val="tx1"/>
                          </a:solidFill>
                          <a:latin typeface="+mn-ea"/>
                          <a:ea typeface="+mn-ea"/>
                          <a:cs typeface="+mn-cs"/>
                        </a:rPr>
                        <a:t>穩定</a:t>
                      </a:r>
                      <a:endParaRPr lang="en-US" altLang="zh-TW" sz="1200" b="1" kern="1200" dirty="0">
                        <a:solidFill>
                          <a:schemeClr val="tx1"/>
                        </a:solidFill>
                        <a:latin typeface="+mn-ea"/>
                        <a:ea typeface="+mn-ea"/>
                        <a:cs typeface="+mn-cs"/>
                      </a:endParaRPr>
                    </a:p>
                  </a:txBody>
                  <a:tcPr anchor="ctr"/>
                </a:tc>
                <a:tc>
                  <a:txBody>
                    <a:bodyPr/>
                    <a:lstStyle/>
                    <a:p>
                      <a:pPr marL="0" algn="ctr" defTabSz="914400" rtl="0" eaLnBrk="1" fontAlgn="ctr" latinLnBrk="0" hangingPunct="1">
                        <a:lnSpc>
                          <a:spcPts val="1200"/>
                        </a:lnSpc>
                      </a:pPr>
                      <a:r>
                        <a:rPr lang="zh-TW" altLang="en-US" sz="1200" b="1" kern="1200" dirty="0">
                          <a:solidFill>
                            <a:schemeClr val="tx1"/>
                          </a:solidFill>
                          <a:latin typeface="+mn-ea"/>
                          <a:ea typeface="+mn-ea"/>
                          <a:cs typeface="+mn-cs"/>
                        </a:rPr>
                        <a:t>穩定</a:t>
                      </a:r>
                      <a:endParaRPr lang="en-US" altLang="zh-TW" sz="1200" b="1" kern="1200" dirty="0">
                        <a:solidFill>
                          <a:schemeClr val="tx1"/>
                        </a:solidFill>
                        <a:latin typeface="+mn-ea"/>
                        <a:ea typeface="+mn-ea"/>
                        <a:cs typeface="+mn-cs"/>
                      </a:endParaRPr>
                    </a:p>
                  </a:txBody>
                  <a:tcPr anchor="ctr"/>
                </a:tc>
                <a:tc>
                  <a:txBody>
                    <a:bodyPr/>
                    <a:lstStyle/>
                    <a:p>
                      <a:pPr algn="ctr" fontAlgn="ctr"/>
                      <a:r>
                        <a:rPr lang="en-US" altLang="zh-TW" sz="1200" b="1" kern="1200" dirty="0">
                          <a:solidFill>
                            <a:schemeClr val="tx1"/>
                          </a:solidFill>
                          <a:latin typeface="+mn-ea"/>
                          <a:ea typeface="+mn-ea"/>
                          <a:cs typeface="+mn-cs"/>
                        </a:rPr>
                        <a:t>--</a:t>
                      </a:r>
                    </a:p>
                  </a:txBody>
                  <a:tcPr anchor="ctr"/>
                </a:tc>
                <a:extLst>
                  <a:ext uri="{0D108BD9-81ED-4DB2-BD59-A6C34878D82A}">
                    <a16:rowId xmlns:a16="http://schemas.microsoft.com/office/drawing/2014/main" val="10002"/>
                  </a:ext>
                </a:extLst>
              </a:tr>
              <a:tr h="235973">
                <a:tc>
                  <a:txBody>
                    <a:bodyPr/>
                    <a:lstStyle/>
                    <a:p>
                      <a:pPr marL="0" algn="ctr" defTabSz="914400" rtl="0" eaLnBrk="1" fontAlgn="ctr" latinLnBrk="0" hangingPunct="1">
                        <a:lnSpc>
                          <a:spcPts val="1200"/>
                        </a:lnSpc>
                      </a:pPr>
                      <a:r>
                        <a:rPr lang="zh-TW" altLang="en-US" sz="1200" b="1" kern="1200" dirty="0">
                          <a:solidFill>
                            <a:schemeClr val="tx1"/>
                          </a:solidFill>
                          <a:latin typeface="+mn-ea"/>
                          <a:ea typeface="+mn-ea"/>
                          <a:cs typeface="+mn-cs"/>
                        </a:rPr>
                        <a:t>展望發佈日</a:t>
                      </a:r>
                    </a:p>
                  </a:txBody>
                  <a:tcPr anchor="ctr"/>
                </a:tc>
                <a:tc>
                  <a:txBody>
                    <a:bodyPr/>
                    <a:lstStyle/>
                    <a:p>
                      <a:pPr marL="0" algn="ctr" defTabSz="914400" rtl="0" eaLnBrk="1" fontAlgn="ctr" latinLnBrk="0" hangingPunct="1">
                        <a:lnSpc>
                          <a:spcPts val="1200"/>
                        </a:lnSpc>
                      </a:pPr>
                      <a:r>
                        <a:rPr lang="en-US" altLang="zh-TW" sz="1200" b="1" kern="1200" dirty="0">
                          <a:solidFill>
                            <a:schemeClr val="tx1"/>
                          </a:solidFill>
                          <a:latin typeface="+mn-ea"/>
                          <a:ea typeface="+mn-ea"/>
                          <a:cs typeface="+mn-cs"/>
                        </a:rPr>
                        <a:t>2023/6/12</a:t>
                      </a:r>
                    </a:p>
                  </a:txBody>
                  <a:tcPr marL="9527" marR="9527" marT="9524" marB="0" anchor="ctr"/>
                </a:tc>
                <a:tc>
                  <a:txBody>
                    <a:bodyPr/>
                    <a:lstStyle/>
                    <a:p>
                      <a:pPr marL="0" algn="ctr" defTabSz="914400" rtl="0" eaLnBrk="1" fontAlgn="ctr" latinLnBrk="0" hangingPunct="1">
                        <a:lnSpc>
                          <a:spcPts val="1200"/>
                        </a:lnSpc>
                      </a:pPr>
                      <a:r>
                        <a:rPr lang="en-US" altLang="zh-TW" sz="1200" b="1" kern="1200" dirty="0">
                          <a:solidFill>
                            <a:schemeClr val="tx1"/>
                          </a:solidFill>
                          <a:latin typeface="+mn-ea"/>
                          <a:ea typeface="+mn-ea"/>
                          <a:cs typeface="+mn-cs"/>
                        </a:rPr>
                        <a:t>2026/3/24</a:t>
                      </a:r>
                    </a:p>
                  </a:txBody>
                  <a:tcPr anchor="ctr"/>
                </a:tc>
                <a:tc>
                  <a:txBody>
                    <a:bodyPr/>
                    <a:lstStyle/>
                    <a:p>
                      <a:pPr algn="ctr" fontAlgn="ctr"/>
                      <a:r>
                        <a:rPr lang="en-US" altLang="zh-TW" sz="1200" b="1" kern="1200" dirty="0">
                          <a:solidFill>
                            <a:schemeClr val="tx1"/>
                          </a:solidFill>
                          <a:latin typeface="+mn-ea"/>
                          <a:ea typeface="+mn-ea"/>
                          <a:cs typeface="+mn-cs"/>
                        </a:rPr>
                        <a:t>--</a:t>
                      </a:r>
                    </a:p>
                  </a:txBody>
                  <a:tcPr marL="9527" marR="9527" marT="9524" marB="0" anchor="ctr"/>
                </a:tc>
                <a:extLst>
                  <a:ext uri="{0D108BD9-81ED-4DB2-BD59-A6C34878D82A}">
                    <a16:rowId xmlns:a16="http://schemas.microsoft.com/office/drawing/2014/main" val="3745486676"/>
                  </a:ext>
                </a:extLst>
              </a:tr>
              <a:tr h="4424352">
                <a:tc gridSpan="4">
                  <a:txBody>
                    <a:bodyPr/>
                    <a:lstStyle/>
                    <a:p>
                      <a:pPr marL="0" indent="0" algn="just">
                        <a:lnSpc>
                          <a:spcPts val="1500"/>
                        </a:lnSpc>
                        <a:spcBef>
                          <a:spcPts val="600"/>
                        </a:spcBef>
                        <a:buFont typeface="Wingdings" panose="05000000000000000000" pitchFamily="2" charset="2"/>
                        <a:buNone/>
                      </a:pPr>
                      <a:r>
                        <a:rPr lang="zh-TW" altLang="en-US" sz="1100" b="1" dirty="0">
                          <a:solidFill>
                            <a:srgbClr val="FF0000"/>
                          </a:solidFill>
                          <a:latin typeface="微軟正黑體" panose="020B0604030504040204" pitchFamily="34" charset="-120"/>
                          <a:ea typeface="+mn-ea"/>
                        </a:rPr>
                        <a:t>標普於</a:t>
                      </a:r>
                      <a:r>
                        <a:rPr lang="en-US" altLang="zh-TW" sz="1100" b="1" dirty="0">
                          <a:solidFill>
                            <a:srgbClr val="FF0000"/>
                          </a:solidFill>
                          <a:latin typeface="微軟正黑體" panose="020B0604030504040204" pitchFamily="34" charset="-120"/>
                          <a:ea typeface="+mn-ea"/>
                        </a:rPr>
                        <a:t>2026/3/24</a:t>
                      </a:r>
                      <a:r>
                        <a:rPr lang="zh-TW" altLang="en-US" sz="1100" b="1" dirty="0">
                          <a:solidFill>
                            <a:srgbClr val="FF0000"/>
                          </a:solidFill>
                          <a:latin typeface="微軟正黑體" panose="020B0604030504040204" pitchFamily="34" charset="-120"/>
                          <a:ea typeface="+mn-ea"/>
                        </a:rPr>
                        <a:t>將亞培</a:t>
                      </a:r>
                      <a:r>
                        <a:rPr lang="en-US" altLang="zh-TW" sz="1100" b="1" dirty="0">
                          <a:solidFill>
                            <a:srgbClr val="FF0000"/>
                          </a:solidFill>
                          <a:latin typeface="微軟正黑體" panose="020B0604030504040204" pitchFamily="34" charset="-120"/>
                          <a:ea typeface="+mn-ea"/>
                        </a:rPr>
                        <a:t>(Abbott Laboratories)</a:t>
                      </a:r>
                      <a:r>
                        <a:rPr lang="zh-TW" altLang="en-US" sz="1100" b="1" dirty="0">
                          <a:solidFill>
                            <a:srgbClr val="FF0000"/>
                          </a:solidFill>
                          <a:latin typeface="微軟正黑體" panose="020B0604030504040204" pitchFamily="34" charset="-120"/>
                          <a:ea typeface="+mn-ea"/>
                        </a:rPr>
                        <a:t>發行人及優先無擔保評等由</a:t>
                      </a:r>
                      <a:r>
                        <a:rPr lang="en-US" altLang="zh-TW" sz="1100" b="1" dirty="0">
                          <a:solidFill>
                            <a:srgbClr val="FF0000"/>
                          </a:solidFill>
                          <a:latin typeface="微軟正黑體" panose="020B0604030504040204" pitchFamily="34" charset="-120"/>
                          <a:ea typeface="+mn-ea"/>
                        </a:rPr>
                        <a:t>AA-</a:t>
                      </a:r>
                      <a:r>
                        <a:rPr lang="zh-TW" altLang="en-US" sz="1100" b="1" dirty="0">
                          <a:solidFill>
                            <a:srgbClr val="FF0000"/>
                          </a:solidFill>
                          <a:latin typeface="微軟正黑體" panose="020B0604030504040204" pitchFamily="34" charset="-120"/>
                          <a:ea typeface="+mn-ea"/>
                        </a:rPr>
                        <a:t>下調至</a:t>
                      </a:r>
                      <a:r>
                        <a:rPr lang="en-US" altLang="zh-TW" sz="1100" b="1" dirty="0">
                          <a:solidFill>
                            <a:srgbClr val="FF0000"/>
                          </a:solidFill>
                          <a:latin typeface="微軟正黑體" panose="020B0604030504040204" pitchFamily="34" charset="-120"/>
                          <a:ea typeface="+mn-ea"/>
                        </a:rPr>
                        <a:t>A+</a:t>
                      </a:r>
                      <a:r>
                        <a:rPr lang="zh-TW" altLang="en-US" sz="1100" b="1" dirty="0">
                          <a:solidFill>
                            <a:srgbClr val="FF0000"/>
                          </a:solidFill>
                          <a:latin typeface="微軟正黑體" panose="020B0604030504040204" pitchFamily="34" charset="-120"/>
                          <a:ea typeface="+mn-ea"/>
                        </a:rPr>
                        <a:t>，</a:t>
                      </a:r>
                      <a:r>
                        <a:rPr lang="zh-TW" altLang="en-US" sz="1100" b="1" kern="1200" dirty="0">
                          <a:solidFill>
                            <a:srgbClr val="FF0000"/>
                          </a:solidFill>
                          <a:latin typeface="微軟正黑體" panose="020B0604030504040204" pitchFamily="34" charset="-120"/>
                          <a:ea typeface="+mn-ea"/>
                          <a:cs typeface="+mn-cs"/>
                        </a:rPr>
                        <a:t>展望穩定。</a:t>
                      </a:r>
                    </a:p>
                    <a:p>
                      <a:pPr algn="just">
                        <a:lnSpc>
                          <a:spcPts val="1500"/>
                        </a:lnSpc>
                        <a:spcAft>
                          <a:spcPts val="300"/>
                        </a:spcAft>
                      </a:pPr>
                      <a:r>
                        <a:rPr lang="zh-TW" altLang="en-US" sz="1100" dirty="0">
                          <a:solidFill>
                            <a:schemeClr val="tx1"/>
                          </a:solidFill>
                          <a:latin typeface="微軟正黑體" panose="020B0604030504040204" pitchFamily="34" charset="-120"/>
                          <a:ea typeface="+mn-ea"/>
                        </a:rPr>
                        <a:t>評等下調反映亞培完成對</a:t>
                      </a:r>
                      <a:r>
                        <a:rPr lang="en-US" altLang="zh-TW" sz="1100" dirty="0">
                          <a:solidFill>
                            <a:schemeClr val="tx1"/>
                          </a:solidFill>
                          <a:latin typeface="微軟正黑體" panose="020B0604030504040204" pitchFamily="34" charset="-120"/>
                          <a:ea typeface="+mn-ea"/>
                        </a:rPr>
                        <a:t>Exact Sciences</a:t>
                      </a:r>
                      <a:r>
                        <a:rPr lang="zh-TW" altLang="en-US" sz="1100" dirty="0">
                          <a:solidFill>
                            <a:schemeClr val="tx1"/>
                          </a:solidFill>
                          <a:latin typeface="微軟正黑體" panose="020B0604030504040204" pitchFamily="34" charset="-120"/>
                          <a:ea typeface="+mn-ea"/>
                        </a:rPr>
                        <a:t>的收購後信用指標轉弱。預期公司調整後槓桿將由</a:t>
                      </a:r>
                      <a:r>
                        <a:rPr lang="en-US" altLang="zh-TW" sz="1100" dirty="0">
                          <a:solidFill>
                            <a:schemeClr val="tx1"/>
                          </a:solidFill>
                          <a:latin typeface="微軟正黑體" panose="020B0604030504040204" pitchFamily="34" charset="-120"/>
                          <a:ea typeface="+mn-ea"/>
                        </a:rPr>
                        <a:t>2025</a:t>
                      </a:r>
                      <a:r>
                        <a:rPr lang="zh-TW" altLang="en-US" sz="1100" dirty="0">
                          <a:solidFill>
                            <a:schemeClr val="tx1"/>
                          </a:solidFill>
                          <a:latin typeface="微軟正黑體" panose="020B0604030504040204" pitchFamily="34" charset="-120"/>
                          <a:ea typeface="+mn-ea"/>
                        </a:rPr>
                        <a:t>年底的</a:t>
                      </a:r>
                      <a:r>
                        <a:rPr lang="en-US" altLang="zh-TW" sz="1100" dirty="0">
                          <a:solidFill>
                            <a:schemeClr val="tx1"/>
                          </a:solidFill>
                          <a:latin typeface="微軟正黑體" panose="020B0604030504040204" pitchFamily="34" charset="-120"/>
                          <a:ea typeface="+mn-ea"/>
                        </a:rPr>
                        <a:t>0.5</a:t>
                      </a:r>
                      <a:r>
                        <a:rPr lang="zh-TW" altLang="en-US" sz="1100" dirty="0">
                          <a:solidFill>
                            <a:schemeClr val="tx1"/>
                          </a:solidFill>
                          <a:latin typeface="微軟正黑體" panose="020B0604030504040204" pitchFamily="34" charset="-120"/>
                          <a:ea typeface="+mn-ea"/>
                        </a:rPr>
                        <a:t>倍上升至約</a:t>
                      </a:r>
                      <a:r>
                        <a:rPr lang="en-US" altLang="zh-TW" sz="1100" dirty="0">
                          <a:solidFill>
                            <a:schemeClr val="tx1"/>
                          </a:solidFill>
                          <a:latin typeface="微軟正黑體" panose="020B0604030504040204" pitchFamily="34" charset="-120"/>
                          <a:ea typeface="+mn-ea"/>
                        </a:rPr>
                        <a:t>2.2</a:t>
                      </a:r>
                      <a:r>
                        <a:rPr lang="zh-TW" altLang="en-US" sz="1100" dirty="0">
                          <a:solidFill>
                            <a:schemeClr val="tx1"/>
                          </a:solidFill>
                          <a:latin typeface="微軟正黑體" panose="020B0604030504040204" pitchFamily="34" charset="-120"/>
                          <a:ea typeface="+mn-ea"/>
                        </a:rPr>
                        <a:t>倍，並假設在穩健獲利成長帶動下，未來將逐步去槓桿，至</a:t>
                      </a:r>
                      <a:r>
                        <a:rPr lang="en-US" altLang="zh-TW" sz="1100" dirty="0">
                          <a:solidFill>
                            <a:schemeClr val="tx1"/>
                          </a:solidFill>
                          <a:latin typeface="微軟正黑體" panose="020B0604030504040204" pitchFamily="34" charset="-120"/>
                          <a:ea typeface="+mn-ea"/>
                        </a:rPr>
                        <a:t>2027</a:t>
                      </a:r>
                      <a:r>
                        <a:rPr lang="zh-TW" altLang="en-US" sz="1100" dirty="0">
                          <a:solidFill>
                            <a:schemeClr val="tx1"/>
                          </a:solidFill>
                          <a:latin typeface="微軟正黑體" panose="020B0604030504040204" pitchFamily="34" charset="-120"/>
                          <a:ea typeface="+mn-ea"/>
                        </a:rPr>
                        <a:t>年底降至約</a:t>
                      </a:r>
                      <a:r>
                        <a:rPr lang="en-US" altLang="zh-TW" sz="1100" dirty="0">
                          <a:solidFill>
                            <a:schemeClr val="tx1"/>
                          </a:solidFill>
                          <a:latin typeface="微軟正黑體" panose="020B0604030504040204" pitchFamily="34" charset="-120"/>
                          <a:ea typeface="+mn-ea"/>
                        </a:rPr>
                        <a:t>1.9</a:t>
                      </a:r>
                      <a:r>
                        <a:rPr lang="zh-TW" altLang="en-US" sz="1100" dirty="0">
                          <a:solidFill>
                            <a:schemeClr val="tx1"/>
                          </a:solidFill>
                          <a:latin typeface="微軟正黑體" panose="020B0604030504040204" pitchFamily="34" charset="-120"/>
                          <a:ea typeface="+mn-ea"/>
                        </a:rPr>
                        <a:t>倍，</a:t>
                      </a:r>
                      <a:r>
                        <a:rPr lang="en-US" altLang="zh-TW" sz="1100" dirty="0">
                          <a:solidFill>
                            <a:schemeClr val="tx1"/>
                          </a:solidFill>
                          <a:latin typeface="微軟正黑體" panose="020B0604030504040204" pitchFamily="34" charset="-120"/>
                          <a:ea typeface="+mn-ea"/>
                        </a:rPr>
                        <a:t>2028</a:t>
                      </a:r>
                      <a:r>
                        <a:rPr lang="zh-TW" altLang="en-US" sz="1100" dirty="0">
                          <a:solidFill>
                            <a:schemeClr val="tx1"/>
                          </a:solidFill>
                          <a:latin typeface="微軟正黑體" panose="020B0604030504040204" pitchFamily="34" charset="-120"/>
                          <a:ea typeface="+mn-ea"/>
                        </a:rPr>
                        <a:t>年進一步降至約</a:t>
                      </a:r>
                      <a:r>
                        <a:rPr lang="en-US" altLang="zh-TW" sz="1100" dirty="0">
                          <a:solidFill>
                            <a:schemeClr val="tx1"/>
                          </a:solidFill>
                          <a:latin typeface="微軟正黑體" panose="020B0604030504040204" pitchFamily="34" charset="-120"/>
                          <a:ea typeface="+mn-ea"/>
                        </a:rPr>
                        <a:t>1.8</a:t>
                      </a:r>
                      <a:r>
                        <a:rPr lang="zh-TW" altLang="en-US" sz="1100" dirty="0">
                          <a:solidFill>
                            <a:schemeClr val="tx1"/>
                          </a:solidFill>
                          <a:latin typeface="微軟正黑體" panose="020B0604030504040204" pitchFamily="34" charset="-120"/>
                          <a:ea typeface="+mn-ea"/>
                        </a:rPr>
                        <a:t>倍。收購</a:t>
                      </a:r>
                      <a:r>
                        <a:rPr lang="en-US" altLang="zh-TW" sz="1100" dirty="0">
                          <a:solidFill>
                            <a:schemeClr val="tx1"/>
                          </a:solidFill>
                          <a:latin typeface="微軟正黑體" panose="020B0604030504040204" pitchFamily="34" charset="-120"/>
                          <a:ea typeface="+mn-ea"/>
                        </a:rPr>
                        <a:t>Exact Sciences</a:t>
                      </a:r>
                      <a:r>
                        <a:rPr lang="zh-TW" altLang="en-US" sz="1100" dirty="0">
                          <a:solidFill>
                            <a:schemeClr val="tx1"/>
                          </a:solidFill>
                          <a:latin typeface="微軟正黑體" panose="020B0604030504040204" pitchFamily="34" charset="-120"/>
                          <a:ea typeface="+mn-ea"/>
                        </a:rPr>
                        <a:t>雖短期將因高整合成本壓抑獲利與現金流，但交易使亞培得以切入具高成長潛力的結直腸癌篩檢與癌症診斷市場，長期有助於診斷業務的拓展。持續創新和積極參與高成長市場也為亞培良好的長期成長前景提供了支撐。</a:t>
                      </a:r>
                      <a:endParaRPr lang="en-US" altLang="zh-TW" sz="1100" dirty="0">
                        <a:solidFill>
                          <a:schemeClr val="tx1"/>
                        </a:solidFill>
                        <a:latin typeface="微軟正黑體" panose="020B0604030504040204" pitchFamily="34" charset="-120"/>
                        <a:ea typeface="+mn-ea"/>
                      </a:endParaRPr>
                    </a:p>
                    <a:p>
                      <a:pPr algn="just">
                        <a:lnSpc>
                          <a:spcPts val="1500"/>
                        </a:lnSpc>
                        <a:spcAft>
                          <a:spcPts val="300"/>
                        </a:spcAft>
                      </a:pPr>
                      <a:r>
                        <a:rPr lang="zh-TW" altLang="en-US" sz="1100" b="1" kern="1200" dirty="0">
                          <a:solidFill>
                            <a:schemeClr val="tx1"/>
                          </a:solidFill>
                          <a:latin typeface="微軟正黑體" panose="020B0604030504040204" pitchFamily="34" charset="-120"/>
                          <a:ea typeface="+mn-ea"/>
                          <a:cs typeface="+mn-cs"/>
                        </a:rPr>
                        <a:t>穆迪於</a:t>
                      </a:r>
                      <a:r>
                        <a:rPr lang="en-US" altLang="zh-TW" sz="1100" b="1" kern="1200" dirty="0">
                          <a:solidFill>
                            <a:schemeClr val="tx1"/>
                          </a:solidFill>
                          <a:latin typeface="微軟正黑體" panose="020B0604030504040204" pitchFamily="34" charset="-120"/>
                          <a:ea typeface="+mn-ea"/>
                          <a:cs typeface="+mn-cs"/>
                        </a:rPr>
                        <a:t>2026/2/23</a:t>
                      </a:r>
                      <a:r>
                        <a:rPr lang="zh-TW" altLang="en-US" sz="1100" b="1" kern="1200" dirty="0">
                          <a:solidFill>
                            <a:schemeClr val="tx1"/>
                          </a:solidFill>
                          <a:latin typeface="微軟正黑體" panose="020B0604030504040204" pitchFamily="34" charset="-120"/>
                          <a:ea typeface="+mn-ea"/>
                          <a:cs typeface="+mn-cs"/>
                        </a:rPr>
                        <a:t>給予亞培</a:t>
                      </a:r>
                      <a:r>
                        <a:rPr lang="en-US" altLang="zh-TW" sz="1100" b="1" kern="1200" dirty="0">
                          <a:solidFill>
                            <a:schemeClr val="tx1"/>
                          </a:solidFill>
                          <a:latin typeface="微軟正黑體" panose="020B0604030504040204" pitchFamily="34" charset="-120"/>
                          <a:ea typeface="+mn-ea"/>
                          <a:cs typeface="+mn-cs"/>
                        </a:rPr>
                        <a:t>(Abbott Laboratories)</a:t>
                      </a:r>
                      <a:r>
                        <a:rPr lang="zh-TW" altLang="en-US" sz="1100" b="1" kern="1200" dirty="0">
                          <a:solidFill>
                            <a:schemeClr val="tx1"/>
                          </a:solidFill>
                          <a:latin typeface="微軟正黑體" panose="020B0604030504040204" pitchFamily="34" charset="-120"/>
                          <a:ea typeface="+mn-ea"/>
                          <a:cs typeface="+mn-cs"/>
                        </a:rPr>
                        <a:t>新發行的優先無擔保公司債評等為</a:t>
                      </a:r>
                      <a:r>
                        <a:rPr lang="en-US" altLang="zh-TW" sz="1100" b="1" kern="1200" dirty="0">
                          <a:solidFill>
                            <a:schemeClr val="tx1"/>
                          </a:solidFill>
                          <a:latin typeface="微軟正黑體" panose="020B0604030504040204" pitchFamily="34" charset="-120"/>
                          <a:ea typeface="+mn-ea"/>
                          <a:cs typeface="+mn-cs"/>
                        </a:rPr>
                        <a:t>Aa3</a:t>
                      </a:r>
                      <a:r>
                        <a:rPr lang="zh-TW" altLang="en-US" sz="1100" b="1" kern="1200" dirty="0">
                          <a:solidFill>
                            <a:schemeClr val="tx1"/>
                          </a:solidFill>
                          <a:latin typeface="微軟正黑體" panose="020B0604030504040204" pitchFamily="34" charset="-120"/>
                          <a:ea typeface="+mn-ea"/>
                          <a:cs typeface="+mn-cs"/>
                        </a:rPr>
                        <a:t>，展望仍為穩定</a:t>
                      </a:r>
                      <a:r>
                        <a:rPr lang="zh-TW" altLang="en-US" sz="1100" dirty="0">
                          <a:solidFill>
                            <a:schemeClr val="tx1"/>
                          </a:solidFill>
                          <a:latin typeface="微軟正黑體" panose="020B0604030504040204" pitchFamily="34" charset="-120"/>
                          <a:ea typeface="+mn-ea"/>
                        </a:rPr>
                        <a:t>。</a:t>
                      </a:r>
                    </a:p>
                    <a:p>
                      <a:pPr algn="just">
                        <a:lnSpc>
                          <a:spcPts val="1500"/>
                        </a:lnSpc>
                        <a:spcAft>
                          <a:spcPts val="300"/>
                        </a:spcAft>
                      </a:pPr>
                      <a:r>
                        <a:rPr lang="zh-TW" altLang="en-US" sz="1100" dirty="0">
                          <a:solidFill>
                            <a:schemeClr val="tx1"/>
                          </a:solidFill>
                          <a:latin typeface="微軟正黑體" panose="020B0604030504040204" pitchFamily="34" charset="-120"/>
                          <a:ea typeface="+mn-ea"/>
                        </a:rPr>
                        <a:t>穆迪表示，此次募資所得將與手中現金及其他債務共同用於資助收購</a:t>
                      </a:r>
                      <a:r>
                        <a:rPr lang="en-US" altLang="zh-TW" sz="1100" dirty="0">
                          <a:solidFill>
                            <a:schemeClr val="tx1"/>
                          </a:solidFill>
                          <a:latin typeface="微軟正黑體" panose="020B0604030504040204" pitchFamily="34" charset="-120"/>
                          <a:ea typeface="+mn-ea"/>
                        </a:rPr>
                        <a:t>Exact Sciences</a:t>
                      </a:r>
                      <a:r>
                        <a:rPr lang="zh-TW" altLang="en-US" sz="1100" dirty="0">
                          <a:solidFill>
                            <a:schemeClr val="tx1"/>
                          </a:solidFill>
                          <a:latin typeface="微軟正黑體" panose="020B0604030504040204" pitchFamily="34" charset="-120"/>
                          <a:ea typeface="+mn-ea"/>
                        </a:rPr>
                        <a:t>、償還其部分債務，以及支付相關費用與一般營運用途。</a:t>
                      </a:r>
                      <a:endParaRPr lang="en-US" altLang="zh-TW" sz="1100" dirty="0">
                        <a:solidFill>
                          <a:schemeClr val="tx1"/>
                        </a:solidFill>
                        <a:latin typeface="微軟正黑體" panose="020B0604030504040204" pitchFamily="34" charset="-120"/>
                        <a:ea typeface="+mn-ea"/>
                      </a:endParaRPr>
                    </a:p>
                    <a:p>
                      <a:pPr algn="just">
                        <a:lnSpc>
                          <a:spcPts val="1500"/>
                        </a:lnSpc>
                        <a:spcAft>
                          <a:spcPts val="300"/>
                        </a:spcAft>
                      </a:pPr>
                      <a:r>
                        <a:rPr lang="en-US" altLang="zh-TW" sz="1100" dirty="0">
                          <a:solidFill>
                            <a:schemeClr val="tx1"/>
                          </a:solidFill>
                          <a:latin typeface="微軟正黑體" panose="020B0604030504040204" pitchFamily="34" charset="-120"/>
                          <a:ea typeface="+mn-ea"/>
                        </a:rPr>
                        <a:t>Aa3</a:t>
                      </a:r>
                      <a:r>
                        <a:rPr lang="zh-TW" altLang="en-US" sz="1100" dirty="0">
                          <a:solidFill>
                            <a:schemeClr val="tx1"/>
                          </a:solidFill>
                          <a:latin typeface="微軟正黑體" panose="020B0604030504040204" pitchFamily="34" charset="-120"/>
                          <a:ea typeface="+mn-ea"/>
                        </a:rPr>
                        <a:t>評等反映亞培於全球醫療保健產業具顯著規模，年營收超過</a:t>
                      </a:r>
                      <a:r>
                        <a:rPr lang="en-US" altLang="zh-TW" sz="1100" dirty="0">
                          <a:solidFill>
                            <a:schemeClr val="tx1"/>
                          </a:solidFill>
                          <a:latin typeface="微軟正黑體" panose="020B0604030504040204" pitchFamily="34" charset="-120"/>
                          <a:ea typeface="+mn-ea"/>
                        </a:rPr>
                        <a:t>400</a:t>
                      </a:r>
                      <a:r>
                        <a:rPr lang="zh-TW" altLang="en-US" sz="1100" dirty="0">
                          <a:solidFill>
                            <a:schemeClr val="tx1"/>
                          </a:solidFill>
                          <a:latin typeface="微軟正黑體" panose="020B0604030504040204" pitchFamily="34" charset="-120"/>
                          <a:ea typeface="+mn-ea"/>
                        </a:rPr>
                        <a:t>億美元，且業務涵蓋醫療器材、診斷、營養品與成熟藥品四大領域，產品與地域分布高度多元，並在多個細分市場居領導地位。</a:t>
                      </a:r>
                    </a:p>
                    <a:p>
                      <a:pPr algn="just">
                        <a:lnSpc>
                          <a:spcPts val="1500"/>
                        </a:lnSpc>
                        <a:spcAft>
                          <a:spcPts val="300"/>
                        </a:spcAft>
                      </a:pPr>
                      <a:r>
                        <a:rPr lang="zh-TW" altLang="en-US" sz="1100" dirty="0">
                          <a:solidFill>
                            <a:schemeClr val="tx1"/>
                          </a:solidFill>
                          <a:latin typeface="微軟正黑體" panose="020B0604030504040204" pitchFamily="34" charset="-120"/>
                          <a:ea typeface="+mn-ea"/>
                        </a:rPr>
                        <a:t>穆迪指出，公司將持續受惠於新興市場的成長動能，長期維持穩健的自由現金流及中度財務槓桿。惟該機構同時提到，新興市場曝險可能帶來匯率與區域經濟波動風險，且面臨早產兒配方奶相關訴訟的不確定性。穆迪亦關注亞培債務融資型併購的事件風險，但預期在完成</a:t>
                      </a:r>
                      <a:r>
                        <a:rPr lang="en-US" altLang="zh-TW" sz="1100" dirty="0">
                          <a:solidFill>
                            <a:schemeClr val="tx1"/>
                          </a:solidFill>
                          <a:latin typeface="微軟正黑體" panose="020B0604030504040204" pitchFamily="34" charset="-120"/>
                          <a:ea typeface="+mn-ea"/>
                        </a:rPr>
                        <a:t>Exact Sciences</a:t>
                      </a:r>
                      <a:r>
                        <a:rPr lang="zh-TW" altLang="en-US" sz="1100" dirty="0">
                          <a:solidFill>
                            <a:schemeClr val="tx1"/>
                          </a:solidFill>
                          <a:latin typeface="微軟正黑體" panose="020B0604030504040204" pitchFamily="34" charset="-120"/>
                          <a:ea typeface="+mn-ea"/>
                        </a:rPr>
                        <a:t>收購後，公司將以小型至中型補強併購為主。</a:t>
                      </a:r>
                      <a:endParaRPr lang="en-US" altLang="zh-TW" sz="1100" dirty="0">
                        <a:solidFill>
                          <a:schemeClr val="tx1"/>
                        </a:solidFill>
                        <a:latin typeface="微軟正黑體" panose="020B0604030504040204" pitchFamily="34" charset="-120"/>
                        <a:ea typeface="+mn-ea"/>
                      </a:endParaRPr>
                    </a:p>
                  </a:txBody>
                  <a:tcPr/>
                </a:tc>
                <a:tc hMerge="1">
                  <a:txBody>
                    <a:bodyPr/>
                    <a:lstStyle/>
                    <a:p>
                      <a:pPr algn="ctr" fontAlgn="ct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6350" marR="6350" marT="6350" marB="0" anchor="ctr"/>
                </a:tc>
                <a:tc hMerge="1">
                  <a:txBody>
                    <a:bodyPr/>
                    <a:lstStyle/>
                    <a:p>
                      <a:pPr algn="ctr" fontAlgn="ctr"/>
                      <a:endParaRPr lang="en-US" altLang="zh-TW" sz="1200" b="1" i="0" u="none" strike="noStrike" dirty="0">
                        <a:solidFill>
                          <a:schemeClr val="tx1"/>
                        </a:solidFill>
                        <a:effectLst/>
                        <a:latin typeface="微軟正黑體" panose="020B0604030504040204" pitchFamily="34" charset="-120"/>
                        <a:ea typeface="微軟正黑體" panose="020B0604030504040204" pitchFamily="34" charset="-120"/>
                      </a:endParaRPr>
                    </a:p>
                  </a:txBody>
                  <a:tcPr marL="6350" marR="6350" marT="6350" marB="0" anchor="ctr"/>
                </a:tc>
                <a:tc hMerge="1">
                  <a:txBody>
                    <a:bodyPr/>
                    <a:lstStyle/>
                    <a:p>
                      <a:pPr marL="171450" indent="-171450" algn="just">
                        <a:lnSpc>
                          <a:spcPts val="1900"/>
                        </a:lnSpc>
                        <a:buFont typeface="Wingdings" panose="05000000000000000000" pitchFamily="2" charset="2"/>
                        <a:buChar char="n"/>
                      </a:pPr>
                      <a:endParaRPr lang="zh-TW" altLang="en-US" sz="1200" dirty="0"/>
                    </a:p>
                  </a:txBody>
                  <a:tcPr anchor="ctr"/>
                </a:tc>
                <a:extLst>
                  <a:ext uri="{0D108BD9-81ED-4DB2-BD59-A6C34878D82A}">
                    <a16:rowId xmlns:a16="http://schemas.microsoft.com/office/drawing/2014/main" val="1764631941"/>
                  </a:ext>
                </a:extLst>
              </a:tr>
            </a:tbl>
          </a:graphicData>
        </a:graphic>
      </p:graphicFrame>
      <p:sp>
        <p:nvSpPr>
          <p:cNvPr id="14" name="圓角矩形 40">
            <a:extLst>
              <a:ext uri="{FF2B5EF4-FFF2-40B4-BE49-F238E27FC236}">
                <a16:creationId xmlns:a16="http://schemas.microsoft.com/office/drawing/2014/main" id="{B7287FE7-532E-41B8-93FA-16555697D6D3}"/>
              </a:ext>
            </a:extLst>
          </p:cNvPr>
          <p:cNvSpPr/>
          <p:nvPr/>
        </p:nvSpPr>
        <p:spPr>
          <a:xfrm>
            <a:off x="7156450" y="4138778"/>
            <a:ext cx="1544638" cy="2321178"/>
          </a:xfrm>
          <a:prstGeom prst="roundRect">
            <a:avLst>
              <a:gd name="adj" fmla="val 6279"/>
            </a:avLst>
          </a:prstGeom>
          <a:solidFill>
            <a:srgbClr val="FFF7F7"/>
          </a:solidFill>
          <a:ln>
            <a:noFill/>
          </a:ln>
          <a:effectLst>
            <a:outerShdw blurRad="50800" dist="25400" dir="54000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圓角矩形 31">
            <a:extLst>
              <a:ext uri="{FF2B5EF4-FFF2-40B4-BE49-F238E27FC236}">
                <a16:creationId xmlns:a16="http://schemas.microsoft.com/office/drawing/2014/main" id="{60BC8217-621E-4769-9DAD-8AC8D3D521BE}"/>
              </a:ext>
            </a:extLst>
          </p:cNvPr>
          <p:cNvSpPr/>
          <p:nvPr/>
        </p:nvSpPr>
        <p:spPr>
          <a:xfrm>
            <a:off x="4645615" y="847305"/>
            <a:ext cx="4152060" cy="349447"/>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mn-ea"/>
              </a:rPr>
              <a:t>標普預估槓桿將上升後下降，自由營運現金流穩定成長</a:t>
            </a:r>
          </a:p>
        </p:txBody>
      </p:sp>
      <p:sp>
        <p:nvSpPr>
          <p:cNvPr id="18" name="圓角矩形 35">
            <a:extLst>
              <a:ext uri="{FF2B5EF4-FFF2-40B4-BE49-F238E27FC236}">
                <a16:creationId xmlns:a16="http://schemas.microsoft.com/office/drawing/2014/main" id="{131A5639-EC1E-4177-874B-09ED779E0D30}"/>
              </a:ext>
            </a:extLst>
          </p:cNvPr>
          <p:cNvSpPr/>
          <p:nvPr/>
        </p:nvSpPr>
        <p:spPr>
          <a:xfrm>
            <a:off x="4645573" y="3546435"/>
            <a:ext cx="4152900" cy="33276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200" b="1" dirty="0">
                <a:latin typeface="+mn-ea"/>
              </a:rPr>
              <a:t>標普預期亞培的營收及淨利持續成長</a:t>
            </a:r>
          </a:p>
        </p:txBody>
      </p:sp>
      <p:sp>
        <p:nvSpPr>
          <p:cNvPr id="21" name="文字方塊 20">
            <a:extLst>
              <a:ext uri="{FF2B5EF4-FFF2-40B4-BE49-F238E27FC236}">
                <a16:creationId xmlns:a16="http://schemas.microsoft.com/office/drawing/2014/main" id="{70887C03-E14C-4416-BD62-15DA37D9B753}"/>
              </a:ext>
            </a:extLst>
          </p:cNvPr>
          <p:cNvSpPr txBox="1"/>
          <p:nvPr/>
        </p:nvSpPr>
        <p:spPr>
          <a:xfrm>
            <a:off x="4824335" y="3858826"/>
            <a:ext cx="877982" cy="246221"/>
          </a:xfrm>
          <a:prstGeom prst="rect">
            <a:avLst/>
          </a:prstGeom>
          <a:noFill/>
        </p:spPr>
        <p:txBody>
          <a:bodyPr wrap="square" rtlCol="0">
            <a:spAutoFit/>
          </a:bodyPr>
          <a:lstStyle/>
          <a:p>
            <a:r>
              <a:rPr lang="en-US" altLang="zh-TW" sz="1000" dirty="0"/>
              <a:t>(</a:t>
            </a:r>
            <a:r>
              <a:rPr lang="zh-TW" altLang="en-US" sz="1000" dirty="0"/>
              <a:t>百萬</a:t>
            </a:r>
            <a:r>
              <a:rPr lang="en-US" altLang="zh-TW" sz="1000" dirty="0"/>
              <a:t>USD)</a:t>
            </a:r>
            <a:endParaRPr lang="zh-TW" altLang="en-US" sz="1000" dirty="0"/>
          </a:p>
        </p:txBody>
      </p:sp>
      <p:sp>
        <p:nvSpPr>
          <p:cNvPr id="34" name="文字方塊 33">
            <a:extLst>
              <a:ext uri="{FF2B5EF4-FFF2-40B4-BE49-F238E27FC236}">
                <a16:creationId xmlns:a16="http://schemas.microsoft.com/office/drawing/2014/main" id="{EB38C66B-07ED-461D-9241-59136A33C223}"/>
              </a:ext>
            </a:extLst>
          </p:cNvPr>
          <p:cNvSpPr txBox="1"/>
          <p:nvPr/>
        </p:nvSpPr>
        <p:spPr>
          <a:xfrm>
            <a:off x="7564048" y="1190235"/>
            <a:ext cx="1272207" cy="215444"/>
          </a:xfrm>
          <a:prstGeom prst="rect">
            <a:avLst/>
          </a:prstGeom>
          <a:noFill/>
        </p:spPr>
        <p:txBody>
          <a:bodyPr wrap="square" rtlCol="0">
            <a:spAutoFit/>
          </a:bodyPr>
          <a:lstStyle/>
          <a:p>
            <a:pPr algn="r"/>
            <a:r>
              <a:rPr lang="zh-TW" altLang="en-US" sz="800" dirty="0"/>
              <a:t>預估日期：</a:t>
            </a:r>
            <a:r>
              <a:rPr lang="en-US" altLang="zh-TW" sz="800" dirty="0"/>
              <a:t>2026/3/24</a:t>
            </a:r>
            <a:endParaRPr lang="zh-TW" altLang="en-US" sz="800" dirty="0"/>
          </a:p>
        </p:txBody>
      </p:sp>
      <p:graphicFrame>
        <p:nvGraphicFramePr>
          <p:cNvPr id="35" name="圖表 34">
            <a:extLst>
              <a:ext uri="{FF2B5EF4-FFF2-40B4-BE49-F238E27FC236}">
                <a16:creationId xmlns:a16="http://schemas.microsoft.com/office/drawing/2014/main" id="{CC967B26-7B77-47F5-9B37-9C779E37118D}"/>
              </a:ext>
            </a:extLst>
          </p:cNvPr>
          <p:cNvGraphicFramePr/>
          <p:nvPr>
            <p:extLst>
              <p:ext uri="{D42A27DB-BD31-4B8C-83A1-F6EECF244321}">
                <p14:modId xmlns:p14="http://schemas.microsoft.com/office/powerpoint/2010/main" val="4188536720"/>
              </p:ext>
            </p:extLst>
          </p:nvPr>
        </p:nvGraphicFramePr>
        <p:xfrm>
          <a:off x="4561490" y="3879201"/>
          <a:ext cx="4297161" cy="2624276"/>
        </p:xfrm>
        <a:graphic>
          <a:graphicData uri="http://schemas.openxmlformats.org/drawingml/2006/chart">
            <c:chart xmlns:c="http://schemas.openxmlformats.org/drawingml/2006/chart" xmlns:r="http://schemas.openxmlformats.org/officeDocument/2006/relationships" r:id="rId4"/>
          </a:graphicData>
        </a:graphic>
      </p:graphicFrame>
      <p:pic>
        <p:nvPicPr>
          <p:cNvPr id="36" name="圖片 35">
            <a:extLst>
              <a:ext uri="{FF2B5EF4-FFF2-40B4-BE49-F238E27FC236}">
                <a16:creationId xmlns:a16="http://schemas.microsoft.com/office/drawing/2014/main" id="{6C90123F-B515-4B9F-8ED9-E571C4BF8B87}"/>
              </a:ext>
            </a:extLst>
          </p:cNvPr>
          <p:cNvPicPr>
            <a:picLocks noChangeAspect="1"/>
          </p:cNvPicPr>
          <p:nvPr/>
        </p:nvPicPr>
        <p:blipFill>
          <a:blip r:embed="rId5"/>
          <a:stretch>
            <a:fillRect/>
          </a:stretch>
        </p:blipFill>
        <p:spPr>
          <a:xfrm>
            <a:off x="7152261" y="4151477"/>
            <a:ext cx="592578" cy="325918"/>
          </a:xfrm>
          <a:prstGeom prst="rect">
            <a:avLst/>
          </a:prstGeom>
        </p:spPr>
      </p:pic>
      <p:sp>
        <p:nvSpPr>
          <p:cNvPr id="37" name="文字方塊 36">
            <a:extLst>
              <a:ext uri="{FF2B5EF4-FFF2-40B4-BE49-F238E27FC236}">
                <a16:creationId xmlns:a16="http://schemas.microsoft.com/office/drawing/2014/main" id="{20BF0EE2-255D-44D3-879F-4B732D635349}"/>
              </a:ext>
            </a:extLst>
          </p:cNvPr>
          <p:cNvSpPr txBox="1"/>
          <p:nvPr/>
        </p:nvSpPr>
        <p:spPr>
          <a:xfrm>
            <a:off x="7236296" y="6264245"/>
            <a:ext cx="1272207" cy="215444"/>
          </a:xfrm>
          <a:prstGeom prst="rect">
            <a:avLst/>
          </a:prstGeom>
          <a:noFill/>
        </p:spPr>
        <p:txBody>
          <a:bodyPr wrap="square" rtlCol="0">
            <a:spAutoFit/>
          </a:bodyPr>
          <a:lstStyle/>
          <a:p>
            <a:pPr algn="r"/>
            <a:r>
              <a:rPr lang="zh-TW" altLang="en-US" sz="800" dirty="0"/>
              <a:t>預估日期：</a:t>
            </a:r>
            <a:r>
              <a:rPr lang="en-US" altLang="zh-TW" sz="800" dirty="0"/>
              <a:t>2026/3/25</a:t>
            </a:r>
            <a:endParaRPr lang="zh-TW" altLang="en-US" sz="800" dirty="0"/>
          </a:p>
        </p:txBody>
      </p:sp>
      <p:sp>
        <p:nvSpPr>
          <p:cNvPr id="45" name="矩形 44">
            <a:extLst>
              <a:ext uri="{FF2B5EF4-FFF2-40B4-BE49-F238E27FC236}">
                <a16:creationId xmlns:a16="http://schemas.microsoft.com/office/drawing/2014/main" id="{3547CE48-D3DA-4DFE-945D-E912557417A5}"/>
              </a:ext>
            </a:extLst>
          </p:cNvPr>
          <p:cNvSpPr/>
          <p:nvPr/>
        </p:nvSpPr>
        <p:spPr>
          <a:xfrm>
            <a:off x="461487" y="6547585"/>
            <a:ext cx="7338900" cy="215444"/>
          </a:xfrm>
          <a:prstGeom prst="rect">
            <a:avLst/>
          </a:prstGeom>
        </p:spPr>
        <p:txBody>
          <a:bodyPr wrap="square">
            <a:spAutoFit/>
          </a:bodyPr>
          <a:lstStyle/>
          <a:p>
            <a:r>
              <a:rPr lang="zh-TW" altLang="en-US" sz="800" dirty="0">
                <a:latin typeface="微軟正黑體" panose="020B0604030504040204" pitchFamily="34" charset="-120"/>
                <a:ea typeface="微軟正黑體" panose="020B0604030504040204" pitchFamily="34" charset="-120"/>
              </a:rPr>
              <a:t>資料來源：信評公司、彭博</a:t>
            </a:r>
          </a:p>
        </p:txBody>
      </p:sp>
      <p:sp>
        <p:nvSpPr>
          <p:cNvPr id="47" name="標題 1">
            <a:extLst>
              <a:ext uri="{FF2B5EF4-FFF2-40B4-BE49-F238E27FC236}">
                <a16:creationId xmlns:a16="http://schemas.microsoft.com/office/drawing/2014/main" id="{E897D858-04EE-4B1C-A21E-F5EC0C5B88EA}"/>
              </a:ext>
            </a:extLst>
          </p:cNvPr>
          <p:cNvSpPr txBox="1">
            <a:spLocks noChangeArrowheads="1"/>
          </p:cNvSpPr>
          <p:nvPr/>
        </p:nvSpPr>
        <p:spPr>
          <a:xfrm>
            <a:off x="883747" y="142648"/>
            <a:ext cx="8039273"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收購後槓桿倍數上升致評等下調，但預期未來逐步去槓桿</a:t>
            </a:r>
          </a:p>
        </p:txBody>
      </p:sp>
      <p:sp>
        <p:nvSpPr>
          <p:cNvPr id="22" name="文字方塊 21">
            <a:extLst>
              <a:ext uri="{FF2B5EF4-FFF2-40B4-BE49-F238E27FC236}">
                <a16:creationId xmlns:a16="http://schemas.microsoft.com/office/drawing/2014/main" id="{83DC252B-EE2D-463F-893C-16500E880F5D}"/>
              </a:ext>
            </a:extLst>
          </p:cNvPr>
          <p:cNvSpPr txBox="1"/>
          <p:nvPr/>
        </p:nvSpPr>
        <p:spPr>
          <a:xfrm>
            <a:off x="8193618" y="1385226"/>
            <a:ext cx="665033" cy="215444"/>
          </a:xfrm>
          <a:prstGeom prst="rect">
            <a:avLst/>
          </a:prstGeom>
          <a:noFill/>
        </p:spPr>
        <p:txBody>
          <a:bodyPr wrap="square" rtlCol="0">
            <a:spAutoFit/>
          </a:bodyPr>
          <a:lstStyle/>
          <a:p>
            <a:pPr algn="r"/>
            <a:r>
              <a:rPr lang="en-US" altLang="zh-TW" sz="800" dirty="0"/>
              <a:t>(</a:t>
            </a:r>
            <a:r>
              <a:rPr lang="zh-TW" altLang="en-US" sz="800" dirty="0"/>
              <a:t>百萬</a:t>
            </a:r>
            <a:r>
              <a:rPr lang="en-US" altLang="zh-TW" sz="800" dirty="0"/>
              <a:t>USD)</a:t>
            </a:r>
            <a:endParaRPr lang="zh-TW" altLang="en-US" sz="800" dirty="0"/>
          </a:p>
        </p:txBody>
      </p:sp>
      <p:sp>
        <p:nvSpPr>
          <p:cNvPr id="23" name="文字方塊 22">
            <a:extLst>
              <a:ext uri="{FF2B5EF4-FFF2-40B4-BE49-F238E27FC236}">
                <a16:creationId xmlns:a16="http://schemas.microsoft.com/office/drawing/2014/main" id="{F5DC66B3-F6C4-40EB-9CA4-1B5BE34545DB}"/>
              </a:ext>
            </a:extLst>
          </p:cNvPr>
          <p:cNvSpPr txBox="1"/>
          <p:nvPr/>
        </p:nvSpPr>
        <p:spPr>
          <a:xfrm>
            <a:off x="4535911" y="1368846"/>
            <a:ext cx="665033" cy="215444"/>
          </a:xfrm>
          <a:prstGeom prst="rect">
            <a:avLst/>
          </a:prstGeom>
          <a:noFill/>
        </p:spPr>
        <p:txBody>
          <a:bodyPr wrap="square" rtlCol="0">
            <a:spAutoFit/>
          </a:bodyPr>
          <a:lstStyle/>
          <a:p>
            <a:pPr algn="ctr"/>
            <a:r>
              <a:rPr lang="en-US" altLang="zh-TW" sz="800" dirty="0"/>
              <a:t>(</a:t>
            </a:r>
            <a:r>
              <a:rPr lang="zh-TW" altLang="en-US" sz="800" dirty="0"/>
              <a:t>倍</a:t>
            </a:r>
            <a:r>
              <a:rPr lang="en-US" altLang="zh-TW" sz="800" dirty="0"/>
              <a:t>)</a:t>
            </a:r>
            <a:endParaRPr lang="zh-TW" altLang="en-US" sz="800" dirty="0"/>
          </a:p>
        </p:txBody>
      </p:sp>
      <p:pic>
        <p:nvPicPr>
          <p:cNvPr id="24" name="圖片 23">
            <a:extLst>
              <a:ext uri="{FF2B5EF4-FFF2-40B4-BE49-F238E27FC236}">
                <a16:creationId xmlns:a16="http://schemas.microsoft.com/office/drawing/2014/main" id="{01205F51-B3C7-46EF-9AB1-B315090F14F2}"/>
              </a:ext>
            </a:extLst>
          </p:cNvPr>
          <p:cNvPicPr>
            <a:picLocks noChangeAspect="1"/>
          </p:cNvPicPr>
          <p:nvPr/>
        </p:nvPicPr>
        <p:blipFill>
          <a:blip r:embed="rId5"/>
          <a:stretch>
            <a:fillRect/>
          </a:stretch>
        </p:blipFill>
        <p:spPr>
          <a:xfrm>
            <a:off x="7557163" y="1634219"/>
            <a:ext cx="592578" cy="325918"/>
          </a:xfrm>
          <a:prstGeom prst="rect">
            <a:avLst/>
          </a:prstGeom>
          <a:solidFill>
            <a:srgbClr val="FFF7F7"/>
          </a:solidFill>
        </p:spPr>
      </p:pic>
    </p:spTree>
    <p:extLst>
      <p:ext uri="{BB962C8B-B14F-4D97-AF65-F5344CB8AC3E}">
        <p14:creationId xmlns:p14="http://schemas.microsoft.com/office/powerpoint/2010/main" val="237525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布。</a:t>
            </a:r>
          </a:p>
        </p:txBody>
      </p:sp>
    </p:spTree>
    <p:extLst>
      <p:ext uri="{BB962C8B-B14F-4D97-AF65-F5344CB8AC3E}">
        <p14:creationId xmlns:p14="http://schemas.microsoft.com/office/powerpoint/2010/main" val="3532227976"/>
      </p:ext>
    </p:extLst>
  </p:cSld>
  <p:clrMapOvr>
    <a:masterClrMapping/>
  </p:clrMapOvr>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自訂 3">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08000"/>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自訂 3">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08000"/>
    </a:accent6>
    <a:hlink>
      <a:srgbClr val="6B9F25"/>
    </a:hlink>
    <a:folHlink>
      <a:srgbClr val="BA690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10242</TotalTime>
  <Words>2469</Words>
  <Application>Microsoft Office PowerPoint</Application>
  <PresentationFormat>如螢幕大小 (4:3)</PresentationFormat>
  <Paragraphs>240</Paragraphs>
  <Slides>6</Slides>
  <Notes>4</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6</vt:i4>
      </vt:variant>
    </vt:vector>
  </HeadingPairs>
  <TitlesOfParts>
    <vt:vector size="16" baseType="lpstr">
      <vt:lpstr>pplxSerif</vt:lpstr>
      <vt:lpstr>Microsoft JhengHei</vt:lpstr>
      <vt:lpstr>Microsoft JhengHei</vt:lpstr>
      <vt:lpstr>新細明體</vt:lpstr>
      <vt:lpstr>Arial</vt:lpstr>
      <vt:lpstr>Bahnschrift SemiBold</vt:lpstr>
      <vt:lpstr>Calibri</vt:lpstr>
      <vt:lpstr>Times New Roman</vt:lpstr>
      <vt:lpstr>Wingdings</vt:lpstr>
      <vt:lpstr>報告佈景主題PPT</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11444</cp:revision>
  <cp:lastPrinted>2021-03-31T07:17:07Z</cp:lastPrinted>
  <dcterms:created xsi:type="dcterms:W3CDTF">2013-05-02T15:04:30Z</dcterms:created>
  <dcterms:modified xsi:type="dcterms:W3CDTF">2026-05-07T09:27:20Z</dcterms:modified>
</cp:coreProperties>
</file>