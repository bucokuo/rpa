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2.xml" ContentType="application/vnd.openxmlformats-officedocument.themeOverride+xml"/>
  <Override PartName="/ppt/notesSlides/notesSlide3.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1"/>
  </p:sldMasterIdLst>
  <p:notesMasterIdLst>
    <p:notesMasterId r:id="rId7"/>
  </p:notesMasterIdLst>
  <p:handoutMasterIdLst>
    <p:handoutMasterId r:id="rId8"/>
  </p:handoutMasterIdLst>
  <p:sldIdLst>
    <p:sldId id="1333" r:id="rId2"/>
    <p:sldId id="1353" r:id="rId3"/>
    <p:sldId id="1352" r:id="rId4"/>
    <p:sldId id="1346" r:id="rId5"/>
    <p:sldId id="1338" r:id="rId6"/>
  </p:sldIdLst>
  <p:sldSz cx="9144000" cy="6858000" type="screen4x3"/>
  <p:notesSz cx="6807200" cy="9939338"/>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A71824B8-F3CE-4E38-AD2B-803D36CA02E5}">
          <p14:sldIdLst>
            <p14:sldId id="1333"/>
            <p14:sldId id="1353"/>
            <p14:sldId id="1352"/>
            <p14:sldId id="1346"/>
            <p14:sldId id="1338"/>
          </p14:sldIdLst>
        </p14:section>
      </p14:sectionLst>
    </p:ext>
    <p:ext uri="{EFAFB233-063F-42B5-8137-9DF3F51BA10A}">
      <p15:sldGuideLst xmlns:p15="http://schemas.microsoft.com/office/powerpoint/2012/main">
        <p15:guide id="1" orient="horz" pos="2160" userDrawn="1">
          <p15:clr>
            <a:srgbClr val="A4A3A4"/>
          </p15:clr>
        </p15:guide>
        <p15:guide id="2" orient="horz" pos="482" userDrawn="1">
          <p15:clr>
            <a:srgbClr val="A4A3A4"/>
          </p15:clr>
        </p15:guide>
        <p15:guide id="3" orient="horz" pos="590" userDrawn="1">
          <p15:clr>
            <a:srgbClr val="A4A3A4"/>
          </p15:clr>
        </p15:guide>
        <p15:guide id="4" pos="2880" userDrawn="1">
          <p15:clr>
            <a:srgbClr val="A4A3A4"/>
          </p15:clr>
        </p15:guide>
        <p15:guide id="5" pos="295" userDrawn="1">
          <p15:clr>
            <a:srgbClr val="A4A3A4"/>
          </p15:clr>
        </p15:guide>
        <p15:guide id="6" pos="5468" userDrawn="1">
          <p15:clr>
            <a:srgbClr val="A4A3A4"/>
          </p15:clr>
        </p15:guide>
        <p15:guide id="7" orient="horz" pos="1071" userDrawn="1">
          <p15:clr>
            <a:srgbClr val="A4A3A4"/>
          </p15:clr>
        </p15:guide>
        <p15:guide id="8" pos="5465" userDrawn="1">
          <p15:clr>
            <a:srgbClr val="A4A3A4"/>
          </p15:clr>
        </p15:guide>
      </p15:sldGuideLst>
    </p:ext>
    <p:ext uri="{2D200454-40CA-4A62-9FC3-DE9A4176ACB9}">
      <p15:notesGuideLst xmlns:p15="http://schemas.microsoft.com/office/powerpoint/2012/main">
        <p15:guide id="1" orient="horz" pos="3126" userDrawn="1">
          <p15:clr>
            <a:srgbClr val="A4A3A4"/>
          </p15:clr>
        </p15:guide>
        <p15:guide id="2" pos="2141" userDrawn="1">
          <p15:clr>
            <a:srgbClr val="A4A3A4"/>
          </p15:clr>
        </p15:guide>
        <p15:guide id="3" orient="horz" pos="3130" userDrawn="1">
          <p15:clr>
            <a:srgbClr val="A4A3A4"/>
          </p15:clr>
        </p15:guide>
        <p15:guide id="4" pos="2144"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建宇 陳" initials="建宇"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a:srgbClr val="006C35"/>
    <a:srgbClr val="0C8309"/>
    <a:srgbClr val="2B01BE"/>
    <a:srgbClr val="FFEFEF"/>
    <a:srgbClr val="0000C9"/>
    <a:srgbClr val="0094FE"/>
    <a:srgbClr val="C00000"/>
    <a:srgbClr val="93E3FF"/>
    <a:srgbClr val="005C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等深淺樣式 2 - 輔色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淺色樣式 1 - 輔色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27102A9-8310-4765-A935-A1911B00CA55}" styleName="淺色樣式 1 - 輔色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淺色樣式 1 - 輔色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淺色樣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505E3EF-67EA-436B-97B2-0124C06EBD24}" styleName="中等深淺樣式 4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17292A2E-F333-43FB-9621-5CBBE7FDCDCB}" styleName="淺色樣式 2 - 輔色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12C8C85-51F0-491E-9774-3900AFEF0FD7}" styleName="淺色樣式 2 - 輔色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2DE63D5-997A-4646-A377-4702673A728D}" styleName="淺色樣式 2 - 輔色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334" autoAdjust="0"/>
    <p:restoredTop sz="96318" autoAdjust="0"/>
  </p:normalViewPr>
  <p:slideViewPr>
    <p:cSldViewPr showGuides="1">
      <p:cViewPr varScale="1">
        <p:scale>
          <a:sx n="111" d="100"/>
          <a:sy n="111" d="100"/>
        </p:scale>
        <p:origin x="114" y="138"/>
      </p:cViewPr>
      <p:guideLst>
        <p:guide orient="horz" pos="2160"/>
        <p:guide orient="horz" pos="482"/>
        <p:guide orient="horz" pos="590"/>
        <p:guide pos="2880"/>
        <p:guide pos="295"/>
        <p:guide pos="5468"/>
        <p:guide orient="horz" pos="1071"/>
        <p:guide pos="546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80" d="100"/>
          <a:sy n="80" d="100"/>
        </p:scale>
        <p:origin x="-3996" y="-96"/>
      </p:cViewPr>
      <p:guideLst>
        <p:guide orient="horz" pos="3126"/>
        <p:guide pos="2141"/>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notesMaster" Target="notesMasters/notesMaster1.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commentAuthors" Target="commentAuthors.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3.xml"/><Relationship Id="rId1" Type="http://schemas.microsoft.com/office/2011/relationships/chartStyle" Target="styl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3795737929653503E-2"/>
          <c:y val="0.22748729703303572"/>
          <c:w val="0.9042193144204026"/>
          <c:h val="0.58758192427763201"/>
        </c:manualLayout>
      </c:layout>
      <c:barChart>
        <c:barDir val="col"/>
        <c:grouping val="clustered"/>
        <c:varyColors val="0"/>
        <c:ser>
          <c:idx val="0"/>
          <c:order val="0"/>
          <c:tx>
            <c:strRef>
              <c:f>工作表1!$D$7</c:f>
              <c:strCache>
                <c:ptCount val="1"/>
                <c:pt idx="0">
                  <c:v>實質GDP成長率</c:v>
                </c:pt>
              </c:strCache>
            </c:strRef>
          </c:tx>
          <c:spPr>
            <a:solidFill>
              <a:srgbClr val="FFFFFF">
                <a:lumMod val="50000"/>
              </a:srgbClr>
            </a:solidFill>
            <a:ln>
              <a:noFill/>
            </a:ln>
            <a:effectLst/>
          </c:spPr>
          <c:invertIfNegative val="0"/>
          <c:dPt>
            <c:idx val="2"/>
            <c:invertIfNegative val="0"/>
            <c:bubble3D val="0"/>
            <c:spPr>
              <a:solidFill>
                <a:srgbClr val="7F7F7F"/>
              </a:solidFill>
              <a:ln>
                <a:noFill/>
              </a:ln>
              <a:effectLst/>
            </c:spPr>
            <c:extLst>
              <c:ext xmlns:c16="http://schemas.microsoft.com/office/drawing/2014/chart" uri="{C3380CC4-5D6E-409C-BE32-E72D297353CC}">
                <c16:uniqueId val="{00000001-4044-424E-BDE7-A7A1B157DF96}"/>
              </c:ext>
            </c:extLst>
          </c:dPt>
          <c:dPt>
            <c:idx val="3"/>
            <c:invertIfNegative val="0"/>
            <c:bubble3D val="0"/>
            <c:spPr>
              <a:solidFill>
                <a:srgbClr val="7F7F7F"/>
              </a:solidFill>
              <a:ln>
                <a:noFill/>
              </a:ln>
              <a:effectLst/>
            </c:spPr>
            <c:extLst>
              <c:ext xmlns:c16="http://schemas.microsoft.com/office/drawing/2014/chart" uri="{C3380CC4-5D6E-409C-BE32-E72D297353CC}">
                <c16:uniqueId val="{00000003-4044-424E-BDE7-A7A1B157DF96}"/>
              </c:ext>
            </c:extLst>
          </c:dPt>
          <c:dPt>
            <c:idx val="4"/>
            <c:invertIfNegative val="0"/>
            <c:bubble3D val="0"/>
            <c:spPr>
              <a:solidFill>
                <a:srgbClr val="7F7F7F"/>
              </a:solidFill>
              <a:ln>
                <a:noFill/>
              </a:ln>
              <a:effectLst/>
            </c:spPr>
            <c:extLst>
              <c:ext xmlns:c16="http://schemas.microsoft.com/office/drawing/2014/chart" uri="{C3380CC4-5D6E-409C-BE32-E72D297353CC}">
                <c16:uniqueId val="{00000005-4044-424E-BDE7-A7A1B157DF96}"/>
              </c:ext>
            </c:extLst>
          </c:dPt>
          <c:dPt>
            <c:idx val="5"/>
            <c:invertIfNegative val="0"/>
            <c:bubble3D val="0"/>
            <c:spPr>
              <a:solidFill>
                <a:srgbClr val="006C35"/>
              </a:solidFill>
              <a:ln>
                <a:noFill/>
              </a:ln>
              <a:effectLst/>
            </c:spPr>
            <c:extLst>
              <c:ext xmlns:c16="http://schemas.microsoft.com/office/drawing/2014/chart" uri="{C3380CC4-5D6E-409C-BE32-E72D297353CC}">
                <c16:uniqueId val="{00000007-4044-424E-BDE7-A7A1B157DF96}"/>
              </c:ext>
            </c:extLst>
          </c:dPt>
          <c:dPt>
            <c:idx val="6"/>
            <c:invertIfNegative val="0"/>
            <c:bubble3D val="0"/>
            <c:spPr>
              <a:solidFill>
                <a:srgbClr val="006C35"/>
              </a:solidFill>
              <a:ln>
                <a:noFill/>
              </a:ln>
              <a:effectLst/>
            </c:spPr>
            <c:extLst>
              <c:ext xmlns:c16="http://schemas.microsoft.com/office/drawing/2014/chart" uri="{C3380CC4-5D6E-409C-BE32-E72D297353CC}">
                <c16:uniqueId val="{00000009-4044-424E-BDE7-A7A1B157DF96}"/>
              </c:ext>
            </c:extLst>
          </c:dPt>
          <c:dPt>
            <c:idx val="7"/>
            <c:invertIfNegative val="0"/>
            <c:bubble3D val="0"/>
            <c:spPr>
              <a:solidFill>
                <a:srgbClr val="006C35"/>
              </a:solidFill>
              <a:ln>
                <a:noFill/>
              </a:ln>
              <a:effectLst/>
            </c:spPr>
            <c:extLst>
              <c:ext xmlns:c16="http://schemas.microsoft.com/office/drawing/2014/chart" uri="{C3380CC4-5D6E-409C-BE32-E72D297353CC}">
                <c16:uniqueId val="{0000000B-4044-424E-BDE7-A7A1B157DF96}"/>
              </c:ext>
            </c:extLst>
          </c:dPt>
          <c:dPt>
            <c:idx val="8"/>
            <c:invertIfNegative val="0"/>
            <c:bubble3D val="0"/>
            <c:spPr>
              <a:solidFill>
                <a:srgbClr val="006C35"/>
              </a:solidFill>
              <a:ln>
                <a:noFill/>
              </a:ln>
              <a:effectLst/>
            </c:spPr>
            <c:extLst>
              <c:ext xmlns:c16="http://schemas.microsoft.com/office/drawing/2014/chart" uri="{C3380CC4-5D6E-409C-BE32-E72D297353CC}">
                <c16:uniqueId val="{0000000D-4044-424E-BDE7-A7A1B157DF96}"/>
              </c:ext>
            </c:extLst>
          </c:dPt>
          <c:dPt>
            <c:idx val="9"/>
            <c:invertIfNegative val="0"/>
            <c:bubble3D val="0"/>
            <c:spPr>
              <a:solidFill>
                <a:srgbClr val="006C35"/>
              </a:solidFill>
              <a:ln>
                <a:noFill/>
              </a:ln>
              <a:effectLst/>
            </c:spPr>
            <c:extLst>
              <c:ext xmlns:c16="http://schemas.microsoft.com/office/drawing/2014/chart" uri="{C3380CC4-5D6E-409C-BE32-E72D297353CC}">
                <c16:uniqueId val="{0000000F-4044-424E-BDE7-A7A1B157DF96}"/>
              </c:ext>
            </c:extLst>
          </c:dPt>
          <c:dLbls>
            <c:dLbl>
              <c:idx val="0"/>
              <c:layout>
                <c:manualLayout>
                  <c:x val="0"/>
                  <c:y val="-6.2442703400372428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0-4044-424E-BDE7-A7A1B157DF96}"/>
                </c:ext>
              </c:extLst>
            </c:dLbl>
            <c:dLbl>
              <c:idx val="2"/>
              <c:layout>
                <c:manualLayout>
                  <c:x val="0"/>
                  <c:y val="5.1943658416735504E-2"/>
                </c:manualLayout>
              </c:layout>
              <c:numFmt formatCode="#,##0.0_ ;[Red]\-#,##0.0\ "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4044-424E-BDE7-A7A1B157DF96}"/>
                </c:ext>
              </c:extLst>
            </c:dLbl>
            <c:numFmt formatCode="#,##0.0_ ;[Red]\-#,##0.0\ " sourceLinked="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工作表1!$F$6:$O$6</c:f>
              <c:numCache>
                <c:formatCode>General</c:formatCode>
                <c:ptCount val="10"/>
                <c:pt idx="0">
                  <c:v>21</c:v>
                </c:pt>
                <c:pt idx="1">
                  <c:v>22</c:v>
                </c:pt>
                <c:pt idx="2">
                  <c:v>23</c:v>
                </c:pt>
                <c:pt idx="3">
                  <c:v>24</c:v>
                </c:pt>
                <c:pt idx="4">
                  <c:v>25</c:v>
                </c:pt>
                <c:pt idx="5">
                  <c:v>26</c:v>
                </c:pt>
                <c:pt idx="6">
                  <c:v>27</c:v>
                </c:pt>
                <c:pt idx="7">
                  <c:v>28</c:v>
                </c:pt>
                <c:pt idx="8">
                  <c:v>29</c:v>
                </c:pt>
                <c:pt idx="9">
                  <c:v>30</c:v>
                </c:pt>
              </c:numCache>
            </c:numRef>
          </c:cat>
          <c:val>
            <c:numRef>
              <c:f>工作表1!$F$7:$O$7</c:f>
              <c:numCache>
                <c:formatCode>General</c:formatCode>
                <c:ptCount val="10"/>
                <c:pt idx="0">
                  <c:v>6.5</c:v>
                </c:pt>
                <c:pt idx="1">
                  <c:v>12</c:v>
                </c:pt>
                <c:pt idx="2">
                  <c:v>0.5</c:v>
                </c:pt>
                <c:pt idx="3">
                  <c:v>2</c:v>
                </c:pt>
                <c:pt idx="4">
                  <c:v>4.5</c:v>
                </c:pt>
                <c:pt idx="5">
                  <c:v>4</c:v>
                </c:pt>
                <c:pt idx="6">
                  <c:v>3.2</c:v>
                </c:pt>
                <c:pt idx="7">
                  <c:v>3.3</c:v>
                </c:pt>
                <c:pt idx="8">
                  <c:v>3.3</c:v>
                </c:pt>
                <c:pt idx="9">
                  <c:v>3.3</c:v>
                </c:pt>
              </c:numCache>
            </c:numRef>
          </c:val>
          <c:extLst>
            <c:ext xmlns:c16="http://schemas.microsoft.com/office/drawing/2014/chart" uri="{C3380CC4-5D6E-409C-BE32-E72D297353CC}">
              <c16:uniqueId val="{00000011-4044-424E-BDE7-A7A1B157DF96}"/>
            </c:ext>
          </c:extLst>
        </c:ser>
        <c:dLbls>
          <c:showLegendKey val="0"/>
          <c:showVal val="0"/>
          <c:showCatName val="0"/>
          <c:showSerName val="0"/>
          <c:showPercent val="0"/>
          <c:showBubbleSize val="0"/>
        </c:dLbls>
        <c:gapWidth val="67"/>
        <c:overlap val="-27"/>
        <c:axId val="1891479727"/>
        <c:axId val="1891476815"/>
      </c:barChart>
      <c:catAx>
        <c:axId val="1891479727"/>
        <c:scaling>
          <c:orientation val="minMax"/>
        </c:scaling>
        <c:delete val="0"/>
        <c:axPos val="b"/>
        <c:numFmt formatCode="General" sourceLinked="1"/>
        <c:majorTickMark val="out"/>
        <c:minorTickMark val="none"/>
        <c:tickLblPos val="low"/>
        <c:spPr>
          <a:noFill/>
          <a:ln w="9525" cap="flat" cmpd="sng" algn="ctr">
            <a:solidFill>
              <a:srgbClr val="000000">
                <a:lumMod val="75000"/>
                <a:lumOff val="25000"/>
              </a:srgb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891476815"/>
        <c:crosses val="autoZero"/>
        <c:auto val="1"/>
        <c:lblAlgn val="ctr"/>
        <c:lblOffset val="100"/>
        <c:noMultiLvlLbl val="0"/>
      </c:catAx>
      <c:valAx>
        <c:axId val="1891476815"/>
        <c:scaling>
          <c:orientation val="minMax"/>
        </c:scaling>
        <c:delete val="1"/>
        <c:axPos val="l"/>
        <c:numFmt formatCode="General" sourceLinked="1"/>
        <c:majorTickMark val="none"/>
        <c:minorTickMark val="none"/>
        <c:tickLblPos val="nextTo"/>
        <c:crossAx val="1891479727"/>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1458415187988126E-2"/>
          <c:y val="6.9074966540599025E-2"/>
          <c:w val="0.8913424132239437"/>
          <c:h val="0.7895027806753262"/>
        </c:manualLayout>
      </c:layout>
      <c:lineChart>
        <c:grouping val="standard"/>
        <c:varyColors val="0"/>
        <c:ser>
          <c:idx val="0"/>
          <c:order val="0"/>
          <c:spPr>
            <a:ln w="28575" cap="rnd">
              <a:solidFill>
                <a:srgbClr val="006C35"/>
              </a:solidFill>
              <a:round/>
            </a:ln>
            <a:effectLst/>
          </c:spPr>
          <c:marker>
            <c:symbol val="circle"/>
            <c:size val="5"/>
            <c:spPr>
              <a:solidFill>
                <a:srgbClr val="006C35"/>
              </a:solidFill>
              <a:ln w="9525">
                <a:solidFill>
                  <a:srgbClr val="006C35"/>
                </a:solidFill>
              </a:ln>
              <a:effectLst/>
            </c:spPr>
          </c:marker>
          <c:dLbls>
            <c:dLbl>
              <c:idx val="18"/>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5E6C-4952-886E-4825041BDEA8}"/>
                </c:ext>
              </c:extLst>
            </c:dLbl>
            <c:dLbl>
              <c:idx val="23"/>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5E6C-4952-886E-4825041BDEA8}"/>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TW"/>
              </a:p>
            </c:txPr>
            <c:dLblPos val="t"/>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工作表1!$D$6:$D$29</c:f>
              <c:numCache>
                <c:formatCode>mmm\-yy</c:formatCode>
                <c:ptCount val="24"/>
                <c:pt idx="0">
                  <c:v>45345</c:v>
                </c:pt>
                <c:pt idx="1">
                  <c:v>45374</c:v>
                </c:pt>
                <c:pt idx="2">
                  <c:v>45405</c:v>
                </c:pt>
                <c:pt idx="3">
                  <c:v>45435</c:v>
                </c:pt>
                <c:pt idx="4">
                  <c:v>45466</c:v>
                </c:pt>
                <c:pt idx="5">
                  <c:v>45496</c:v>
                </c:pt>
                <c:pt idx="6">
                  <c:v>45527</c:v>
                </c:pt>
                <c:pt idx="7">
                  <c:v>45558</c:v>
                </c:pt>
                <c:pt idx="8">
                  <c:v>45588</c:v>
                </c:pt>
                <c:pt idx="9">
                  <c:v>45619</c:v>
                </c:pt>
                <c:pt idx="10">
                  <c:v>45627</c:v>
                </c:pt>
                <c:pt idx="11">
                  <c:v>45658</c:v>
                </c:pt>
                <c:pt idx="12">
                  <c:v>45689</c:v>
                </c:pt>
                <c:pt idx="13">
                  <c:v>45717</c:v>
                </c:pt>
                <c:pt idx="14">
                  <c:v>45748</c:v>
                </c:pt>
                <c:pt idx="15">
                  <c:v>45778</c:v>
                </c:pt>
                <c:pt idx="16">
                  <c:v>45809</c:v>
                </c:pt>
                <c:pt idx="17">
                  <c:v>45839</c:v>
                </c:pt>
                <c:pt idx="18">
                  <c:v>45870</c:v>
                </c:pt>
                <c:pt idx="19">
                  <c:v>45901</c:v>
                </c:pt>
                <c:pt idx="20">
                  <c:v>45931</c:v>
                </c:pt>
                <c:pt idx="21">
                  <c:v>45962</c:v>
                </c:pt>
                <c:pt idx="22">
                  <c:v>45992</c:v>
                </c:pt>
                <c:pt idx="23">
                  <c:v>46023</c:v>
                </c:pt>
              </c:numCache>
            </c:numRef>
          </c:cat>
          <c:val>
            <c:numRef>
              <c:f>工作表1!$E$6:$E$29</c:f>
              <c:numCache>
                <c:formatCode>0.00</c:formatCode>
                <c:ptCount val="24"/>
                <c:pt idx="0">
                  <c:v>1.81</c:v>
                </c:pt>
                <c:pt idx="1">
                  <c:v>1.65</c:v>
                </c:pt>
                <c:pt idx="2">
                  <c:v>1.58</c:v>
                </c:pt>
                <c:pt idx="3">
                  <c:v>1.55</c:v>
                </c:pt>
                <c:pt idx="4">
                  <c:v>1.5</c:v>
                </c:pt>
                <c:pt idx="5">
                  <c:v>1.53</c:v>
                </c:pt>
                <c:pt idx="6">
                  <c:v>1.58</c:v>
                </c:pt>
                <c:pt idx="7">
                  <c:v>1.7</c:v>
                </c:pt>
                <c:pt idx="8">
                  <c:v>1.88</c:v>
                </c:pt>
                <c:pt idx="9">
                  <c:v>1.98</c:v>
                </c:pt>
                <c:pt idx="10">
                  <c:v>1.93</c:v>
                </c:pt>
                <c:pt idx="11">
                  <c:v>2</c:v>
                </c:pt>
                <c:pt idx="12">
                  <c:v>2</c:v>
                </c:pt>
                <c:pt idx="13">
                  <c:v>2.2999999999999998</c:v>
                </c:pt>
                <c:pt idx="14">
                  <c:v>2.2999999999999998</c:v>
                </c:pt>
                <c:pt idx="15">
                  <c:v>2.2000000000000002</c:v>
                </c:pt>
                <c:pt idx="16">
                  <c:v>2.2999999999999998</c:v>
                </c:pt>
                <c:pt idx="17">
                  <c:v>2.1</c:v>
                </c:pt>
                <c:pt idx="18">
                  <c:v>2.31</c:v>
                </c:pt>
                <c:pt idx="19">
                  <c:v>2.1800000000000002</c:v>
                </c:pt>
                <c:pt idx="20">
                  <c:v>2.1800000000000002</c:v>
                </c:pt>
                <c:pt idx="21">
                  <c:v>1.9</c:v>
                </c:pt>
                <c:pt idx="22">
                  <c:v>2.1</c:v>
                </c:pt>
                <c:pt idx="23">
                  <c:v>1.8</c:v>
                </c:pt>
              </c:numCache>
            </c:numRef>
          </c:val>
          <c:smooth val="0"/>
          <c:extLst>
            <c:ext xmlns:c16="http://schemas.microsoft.com/office/drawing/2014/chart" uri="{C3380CC4-5D6E-409C-BE32-E72D297353CC}">
              <c16:uniqueId val="{00000000-258E-429F-9EE4-4A7695E88F35}"/>
            </c:ext>
          </c:extLst>
        </c:ser>
        <c:dLbls>
          <c:showLegendKey val="0"/>
          <c:showVal val="0"/>
          <c:showCatName val="0"/>
          <c:showSerName val="0"/>
          <c:showPercent val="0"/>
          <c:showBubbleSize val="0"/>
        </c:dLbls>
        <c:marker val="1"/>
        <c:smooth val="0"/>
        <c:axId val="1426263392"/>
        <c:axId val="1426250432"/>
      </c:lineChart>
      <c:dateAx>
        <c:axId val="1426263392"/>
        <c:scaling>
          <c:orientation val="minMax"/>
          <c:min val="45292"/>
        </c:scaling>
        <c:delete val="0"/>
        <c:axPos val="b"/>
        <c:numFmt formatCode="mmm\-yy" sourceLinked="1"/>
        <c:majorTickMark val="out"/>
        <c:minorTickMark val="none"/>
        <c:tickLblPos val="low"/>
        <c:spPr>
          <a:noFill/>
          <a:ln w="9525" cap="flat" cmpd="sng" algn="ctr">
            <a:solidFill>
              <a:srgbClr val="000000">
                <a:lumMod val="75000"/>
                <a:lumOff val="25000"/>
              </a:srgb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微軟正黑體" panose="020B0604030504040204" pitchFamily="34" charset="-120"/>
                <a:ea typeface="微軟正黑體" panose="020B0604030504040204" pitchFamily="34" charset="-120"/>
                <a:cs typeface="+mn-cs"/>
              </a:defRPr>
            </a:pPr>
            <a:endParaRPr lang="zh-TW"/>
          </a:p>
        </c:txPr>
        <c:crossAx val="1426250432"/>
        <c:crosses val="autoZero"/>
        <c:auto val="1"/>
        <c:lblOffset val="100"/>
        <c:baseTimeUnit val="months"/>
        <c:majorUnit val="6"/>
        <c:majorTimeUnit val="months"/>
      </c:dateAx>
      <c:valAx>
        <c:axId val="1426250432"/>
        <c:scaling>
          <c:orientation val="minMax"/>
          <c:max val="3"/>
        </c:scaling>
        <c:delete val="1"/>
        <c:axPos val="l"/>
        <c:numFmt formatCode="0.00" sourceLinked="1"/>
        <c:majorTickMark val="out"/>
        <c:minorTickMark val="none"/>
        <c:tickLblPos val="nextTo"/>
        <c:crossAx val="14262633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TW"/>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7635377578205211E-2"/>
          <c:y val="8.6138698719881515E-2"/>
          <c:w val="0.93157204076689959"/>
          <c:h val="0.68657290682037209"/>
        </c:manualLayout>
      </c:layout>
      <c:barChart>
        <c:barDir val="col"/>
        <c:grouping val="clustered"/>
        <c:varyColors val="0"/>
        <c:ser>
          <c:idx val="0"/>
          <c:order val="0"/>
          <c:tx>
            <c:strRef>
              <c:f>工作表1!$E$7</c:f>
              <c:strCache>
                <c:ptCount val="1"/>
                <c:pt idx="0">
                  <c:v>失業率</c:v>
                </c:pt>
              </c:strCache>
            </c:strRef>
          </c:tx>
          <c:spPr>
            <a:solidFill>
              <a:srgbClr val="006C35"/>
            </a:solidFill>
            <a:ln>
              <a:noFill/>
            </a:ln>
            <a:effectLst/>
          </c:spPr>
          <c:invertIfNegative val="0"/>
          <c:dPt>
            <c:idx val="0"/>
            <c:invertIfNegative val="0"/>
            <c:bubble3D val="0"/>
            <c:spPr>
              <a:solidFill>
                <a:srgbClr val="006C35"/>
              </a:solidFill>
              <a:ln>
                <a:noFill/>
              </a:ln>
              <a:effectLst/>
            </c:spPr>
            <c:extLst>
              <c:ext xmlns:c16="http://schemas.microsoft.com/office/drawing/2014/chart" uri="{C3380CC4-5D6E-409C-BE32-E72D297353CC}">
                <c16:uniqueId val="{00000005-CF14-4A8D-A4AF-08F76FFA49B1}"/>
              </c:ext>
            </c:extLst>
          </c:dPt>
          <c:dPt>
            <c:idx val="1"/>
            <c:invertIfNegative val="0"/>
            <c:bubble3D val="0"/>
            <c:spPr>
              <a:solidFill>
                <a:srgbClr val="006C35"/>
              </a:solidFill>
              <a:ln>
                <a:noFill/>
              </a:ln>
              <a:effectLst/>
            </c:spPr>
            <c:extLst>
              <c:ext xmlns:c16="http://schemas.microsoft.com/office/drawing/2014/chart" uri="{C3380CC4-5D6E-409C-BE32-E72D297353CC}">
                <c16:uniqueId val="{00000004-CF14-4A8D-A4AF-08F76FFA49B1}"/>
              </c:ext>
            </c:extLst>
          </c:dPt>
          <c:dPt>
            <c:idx val="2"/>
            <c:invertIfNegative val="0"/>
            <c:bubble3D val="0"/>
            <c:spPr>
              <a:solidFill>
                <a:srgbClr val="006C35"/>
              </a:solidFill>
              <a:ln>
                <a:noFill/>
              </a:ln>
              <a:effectLst/>
            </c:spPr>
            <c:extLst>
              <c:ext xmlns:c16="http://schemas.microsoft.com/office/drawing/2014/chart" uri="{C3380CC4-5D6E-409C-BE32-E72D297353CC}">
                <c16:uniqueId val="{00000003-CF14-4A8D-A4AF-08F76FFA49B1}"/>
              </c:ext>
            </c:extLst>
          </c:dPt>
          <c:dPt>
            <c:idx val="3"/>
            <c:invertIfNegative val="0"/>
            <c:bubble3D val="0"/>
            <c:spPr>
              <a:solidFill>
                <a:srgbClr val="006C35"/>
              </a:solidFill>
              <a:ln>
                <a:noFill/>
              </a:ln>
              <a:effectLst/>
            </c:spPr>
            <c:extLst>
              <c:ext xmlns:c16="http://schemas.microsoft.com/office/drawing/2014/chart" uri="{C3380CC4-5D6E-409C-BE32-E72D297353CC}">
                <c16:uniqueId val="{00000002-CF14-4A8D-A4AF-08F76FFA49B1}"/>
              </c:ext>
            </c:extLst>
          </c:dPt>
          <c:dLbls>
            <c:numFmt formatCode="#,##0.0_);[Red]\(#,##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工作表1!$F$4:$M$4</c:f>
              <c:strCache>
                <c:ptCount val="8"/>
                <c:pt idx="0">
                  <c:v>2020</c:v>
                </c:pt>
                <c:pt idx="1">
                  <c:v>2021</c:v>
                </c:pt>
                <c:pt idx="2">
                  <c:v>2022</c:v>
                </c:pt>
                <c:pt idx="3">
                  <c:v>2023</c:v>
                </c:pt>
                <c:pt idx="4">
                  <c:v>2024</c:v>
                </c:pt>
                <c:pt idx="5">
                  <c:v>2025</c:v>
                </c:pt>
                <c:pt idx="6">
                  <c:v>2026E</c:v>
                </c:pt>
                <c:pt idx="7">
                  <c:v>2027E</c:v>
                </c:pt>
              </c:strCache>
            </c:strRef>
          </c:cat>
          <c:val>
            <c:numRef>
              <c:f>工作表1!$F$7:$M$7</c:f>
              <c:numCache>
                <c:formatCode>General</c:formatCode>
                <c:ptCount val="8"/>
                <c:pt idx="0">
                  <c:v>7.4</c:v>
                </c:pt>
                <c:pt idx="1">
                  <c:v>6.9</c:v>
                </c:pt>
                <c:pt idx="2">
                  <c:v>4.8</c:v>
                </c:pt>
                <c:pt idx="3">
                  <c:v>4.4000000000000004</c:v>
                </c:pt>
                <c:pt idx="4">
                  <c:v>3.5</c:v>
                </c:pt>
                <c:pt idx="5">
                  <c:v>3.5</c:v>
                </c:pt>
                <c:pt idx="6">
                  <c:v>3.4</c:v>
                </c:pt>
                <c:pt idx="7">
                  <c:v>3.2</c:v>
                </c:pt>
              </c:numCache>
            </c:numRef>
          </c:val>
          <c:extLst>
            <c:ext xmlns:c16="http://schemas.microsoft.com/office/drawing/2014/chart" uri="{C3380CC4-5D6E-409C-BE32-E72D297353CC}">
              <c16:uniqueId val="{00000000-7BF9-4B27-813E-CA94CB4F5539}"/>
            </c:ext>
          </c:extLst>
        </c:ser>
        <c:dLbls>
          <c:showLegendKey val="0"/>
          <c:showVal val="0"/>
          <c:showCatName val="0"/>
          <c:showSerName val="0"/>
          <c:showPercent val="0"/>
          <c:showBubbleSize val="0"/>
        </c:dLbls>
        <c:gapWidth val="100"/>
        <c:overlap val="-27"/>
        <c:axId val="1082793984"/>
        <c:axId val="1930958992"/>
      </c:barChart>
      <c:catAx>
        <c:axId val="1082793984"/>
        <c:scaling>
          <c:orientation val="minMax"/>
        </c:scaling>
        <c:delete val="0"/>
        <c:axPos val="b"/>
        <c:numFmt formatCode="General" sourceLinked="1"/>
        <c:majorTickMark val="out"/>
        <c:minorTickMark val="none"/>
        <c:tickLblPos val="low"/>
        <c:spPr>
          <a:noFill/>
          <a:ln w="9525" cap="flat" cmpd="sng" algn="ctr">
            <a:solidFill>
              <a:srgbClr val="000000">
                <a:lumMod val="75000"/>
                <a:lumOff val="25000"/>
              </a:srgbClr>
            </a:solidFill>
            <a:round/>
          </a:ln>
          <a:effectLst/>
        </c:spPr>
        <c:txPr>
          <a:bodyPr rot="-60000000" spcFirstLastPara="1" vertOverflow="ellipsis" vert="horz" wrap="square" anchor="ctr" anchorCtr="1"/>
          <a:lstStyle/>
          <a:p>
            <a:pPr>
              <a:defRPr sz="1100" b="0" i="0" u="none" strike="noStrike" kern="1200" baseline="0">
                <a:solidFill>
                  <a:schemeClr val="tx1">
                    <a:lumMod val="85000"/>
                    <a:lumOff val="15000"/>
                  </a:schemeClr>
                </a:solidFill>
                <a:latin typeface="微軟正黑體" panose="020B0604030504040204" pitchFamily="34" charset="-120"/>
                <a:ea typeface="微軟正黑體" panose="020B0604030504040204" pitchFamily="34" charset="-120"/>
                <a:cs typeface="+mn-cs"/>
              </a:defRPr>
            </a:pPr>
            <a:endParaRPr lang="zh-TW"/>
          </a:p>
        </c:txPr>
        <c:crossAx val="1930958992"/>
        <c:crosses val="autoZero"/>
        <c:auto val="1"/>
        <c:lblAlgn val="ctr"/>
        <c:lblOffset val="100"/>
        <c:noMultiLvlLbl val="0"/>
      </c:catAx>
      <c:valAx>
        <c:axId val="1930958992"/>
        <c:scaling>
          <c:orientation val="minMax"/>
        </c:scaling>
        <c:delete val="1"/>
        <c:axPos val="l"/>
        <c:numFmt formatCode="General" sourceLinked="1"/>
        <c:majorTickMark val="none"/>
        <c:minorTickMark val="none"/>
        <c:tickLblPos val="nextTo"/>
        <c:crossAx val="10827939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TW"/>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7635377578205211E-2"/>
          <c:y val="8.6138698719881515E-2"/>
          <c:w val="0.93157204076689959"/>
          <c:h val="0.68657290682037209"/>
        </c:manualLayout>
      </c:layout>
      <c:barChart>
        <c:barDir val="col"/>
        <c:grouping val="clustered"/>
        <c:varyColors val="0"/>
        <c:ser>
          <c:idx val="0"/>
          <c:order val="0"/>
          <c:tx>
            <c:strRef>
              <c:f>工作表1!$E$7</c:f>
              <c:strCache>
                <c:ptCount val="1"/>
                <c:pt idx="0">
                  <c:v>實質GDP成長率</c:v>
                </c:pt>
              </c:strCache>
            </c:strRef>
          </c:tx>
          <c:spPr>
            <a:solidFill>
              <a:srgbClr val="006C35"/>
            </a:solidFill>
            <a:ln>
              <a:noFill/>
            </a:ln>
            <a:effectLst/>
          </c:spPr>
          <c:invertIfNegative val="0"/>
          <c:dPt>
            <c:idx val="0"/>
            <c:invertIfNegative val="0"/>
            <c:bubble3D val="0"/>
            <c:spPr>
              <a:solidFill>
                <a:srgbClr val="006C35"/>
              </a:solidFill>
              <a:ln>
                <a:noFill/>
              </a:ln>
              <a:effectLst/>
            </c:spPr>
            <c:extLst>
              <c:ext xmlns:c16="http://schemas.microsoft.com/office/drawing/2014/chart" uri="{C3380CC4-5D6E-409C-BE32-E72D297353CC}">
                <c16:uniqueId val="{00000005-CF14-4A8D-A4AF-08F76FFA49B1}"/>
              </c:ext>
            </c:extLst>
          </c:dPt>
          <c:dPt>
            <c:idx val="1"/>
            <c:invertIfNegative val="0"/>
            <c:bubble3D val="0"/>
            <c:spPr>
              <a:solidFill>
                <a:srgbClr val="006C35"/>
              </a:solidFill>
              <a:ln>
                <a:noFill/>
              </a:ln>
              <a:effectLst/>
            </c:spPr>
            <c:extLst>
              <c:ext xmlns:c16="http://schemas.microsoft.com/office/drawing/2014/chart" uri="{C3380CC4-5D6E-409C-BE32-E72D297353CC}">
                <c16:uniqueId val="{00000004-CF14-4A8D-A4AF-08F76FFA49B1}"/>
              </c:ext>
            </c:extLst>
          </c:dPt>
          <c:dPt>
            <c:idx val="2"/>
            <c:invertIfNegative val="0"/>
            <c:bubble3D val="0"/>
            <c:spPr>
              <a:solidFill>
                <a:srgbClr val="006C35"/>
              </a:solidFill>
              <a:ln>
                <a:noFill/>
              </a:ln>
              <a:effectLst/>
            </c:spPr>
            <c:extLst>
              <c:ext xmlns:c16="http://schemas.microsoft.com/office/drawing/2014/chart" uri="{C3380CC4-5D6E-409C-BE32-E72D297353CC}">
                <c16:uniqueId val="{00000003-CF14-4A8D-A4AF-08F76FFA49B1}"/>
              </c:ext>
            </c:extLst>
          </c:dPt>
          <c:dPt>
            <c:idx val="3"/>
            <c:invertIfNegative val="0"/>
            <c:bubble3D val="0"/>
            <c:spPr>
              <a:solidFill>
                <a:srgbClr val="006C35"/>
              </a:solidFill>
              <a:ln>
                <a:noFill/>
              </a:ln>
              <a:effectLst/>
            </c:spPr>
            <c:extLst>
              <c:ext xmlns:c16="http://schemas.microsoft.com/office/drawing/2014/chart" uri="{C3380CC4-5D6E-409C-BE32-E72D297353CC}">
                <c16:uniqueId val="{00000002-CF14-4A8D-A4AF-08F76FFA49B1}"/>
              </c:ext>
            </c:extLst>
          </c:dPt>
          <c:dLbls>
            <c:numFmt formatCode="#,##0.0_);[Red]\(#,##0.0\)" sourceLinked="0"/>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微軟正黑體" panose="020B0604030504040204" pitchFamily="34" charset="-120"/>
                    <a:ea typeface="微軟正黑體" panose="020B0604030504040204" pitchFamily="34" charset="-120"/>
                    <a:cs typeface="+mn-cs"/>
                  </a:defRPr>
                </a:pPr>
                <a:endParaRPr lang="zh-TW"/>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工作表1!$F$4:$M$4</c:f>
              <c:strCache>
                <c:ptCount val="8"/>
                <c:pt idx="0">
                  <c:v>2020</c:v>
                </c:pt>
                <c:pt idx="1">
                  <c:v>2021</c:v>
                </c:pt>
                <c:pt idx="2">
                  <c:v>2022</c:v>
                </c:pt>
                <c:pt idx="3">
                  <c:v>2023</c:v>
                </c:pt>
                <c:pt idx="4">
                  <c:v>2024</c:v>
                </c:pt>
                <c:pt idx="5">
                  <c:v>2025</c:v>
                </c:pt>
                <c:pt idx="6">
                  <c:v>2026E</c:v>
                </c:pt>
                <c:pt idx="7">
                  <c:v>2027E</c:v>
                </c:pt>
              </c:strCache>
            </c:strRef>
          </c:cat>
          <c:val>
            <c:numRef>
              <c:f>工作表1!$F$7:$M$7</c:f>
              <c:numCache>
                <c:formatCode>General</c:formatCode>
                <c:ptCount val="8"/>
                <c:pt idx="0">
                  <c:v>-3.8</c:v>
                </c:pt>
                <c:pt idx="1">
                  <c:v>6.5</c:v>
                </c:pt>
                <c:pt idx="2">
                  <c:v>12</c:v>
                </c:pt>
                <c:pt idx="3">
                  <c:v>0.5</c:v>
                </c:pt>
                <c:pt idx="4">
                  <c:v>2.7</c:v>
                </c:pt>
                <c:pt idx="5">
                  <c:v>4.5</c:v>
                </c:pt>
                <c:pt idx="6">
                  <c:v>4.4000000000000004</c:v>
                </c:pt>
                <c:pt idx="7">
                  <c:v>3.5</c:v>
                </c:pt>
              </c:numCache>
            </c:numRef>
          </c:val>
          <c:extLst>
            <c:ext xmlns:c16="http://schemas.microsoft.com/office/drawing/2014/chart" uri="{C3380CC4-5D6E-409C-BE32-E72D297353CC}">
              <c16:uniqueId val="{00000000-7BF9-4B27-813E-CA94CB4F5539}"/>
            </c:ext>
          </c:extLst>
        </c:ser>
        <c:dLbls>
          <c:showLegendKey val="0"/>
          <c:showVal val="0"/>
          <c:showCatName val="0"/>
          <c:showSerName val="0"/>
          <c:showPercent val="0"/>
          <c:showBubbleSize val="0"/>
        </c:dLbls>
        <c:gapWidth val="100"/>
        <c:overlap val="-27"/>
        <c:axId val="1082793984"/>
        <c:axId val="1930958992"/>
      </c:barChart>
      <c:catAx>
        <c:axId val="1082793984"/>
        <c:scaling>
          <c:orientation val="minMax"/>
        </c:scaling>
        <c:delete val="0"/>
        <c:axPos val="b"/>
        <c:numFmt formatCode="General" sourceLinked="1"/>
        <c:majorTickMark val="out"/>
        <c:minorTickMark val="none"/>
        <c:tickLblPos val="low"/>
        <c:spPr>
          <a:noFill/>
          <a:ln w="9525" cap="flat" cmpd="sng" algn="ctr">
            <a:solidFill>
              <a:srgbClr val="000000">
                <a:lumMod val="75000"/>
                <a:lumOff val="25000"/>
              </a:srgbClr>
            </a:solidFill>
            <a:round/>
          </a:ln>
          <a:effectLst/>
        </c:spPr>
        <c:txPr>
          <a:bodyPr rot="-60000000" spcFirstLastPara="1" vertOverflow="ellipsis" vert="horz" wrap="square" anchor="ctr" anchorCtr="1"/>
          <a:lstStyle/>
          <a:p>
            <a:pPr>
              <a:defRPr sz="1100" b="0" i="0" u="none" strike="noStrike" kern="1200" baseline="0">
                <a:solidFill>
                  <a:schemeClr val="tx1">
                    <a:lumMod val="85000"/>
                    <a:lumOff val="15000"/>
                  </a:schemeClr>
                </a:solidFill>
                <a:latin typeface="微軟正黑體" panose="020B0604030504040204" pitchFamily="34" charset="-120"/>
                <a:ea typeface="微軟正黑體" panose="020B0604030504040204" pitchFamily="34" charset="-120"/>
                <a:cs typeface="+mn-cs"/>
              </a:defRPr>
            </a:pPr>
            <a:endParaRPr lang="zh-TW"/>
          </a:p>
        </c:txPr>
        <c:crossAx val="1930958992"/>
        <c:crosses val="autoZero"/>
        <c:auto val="1"/>
        <c:lblAlgn val="ctr"/>
        <c:lblOffset val="100"/>
        <c:noMultiLvlLbl val="0"/>
      </c:catAx>
      <c:valAx>
        <c:axId val="1930958992"/>
        <c:scaling>
          <c:orientation val="minMax"/>
        </c:scaling>
        <c:delete val="1"/>
        <c:axPos val="l"/>
        <c:numFmt formatCode="General" sourceLinked="1"/>
        <c:majorTickMark val="none"/>
        <c:minorTickMark val="none"/>
        <c:tickLblPos val="nextTo"/>
        <c:crossAx val="1082793984"/>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zh-TW"/>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2"/>
            <a:ext cx="2950052" cy="497126"/>
          </a:xfrm>
          <a:prstGeom prst="rect">
            <a:avLst/>
          </a:prstGeom>
        </p:spPr>
        <p:txBody>
          <a:bodyPr vert="horz" lIns="91468" tIns="45733" rIns="91468" bIns="45733" rtlCol="0"/>
          <a:lstStyle>
            <a:lvl1pPr algn="l">
              <a:defRPr sz="1200"/>
            </a:lvl1pPr>
          </a:lstStyle>
          <a:p>
            <a:endParaRPr lang="zh-TW" altLang="en-US"/>
          </a:p>
        </p:txBody>
      </p:sp>
      <p:sp>
        <p:nvSpPr>
          <p:cNvPr id="3" name="日期版面配置區 2"/>
          <p:cNvSpPr>
            <a:spLocks noGrp="1"/>
          </p:cNvSpPr>
          <p:nvPr>
            <p:ph type="dt" sz="quarter" idx="1"/>
          </p:nvPr>
        </p:nvSpPr>
        <p:spPr>
          <a:xfrm>
            <a:off x="3855563" y="2"/>
            <a:ext cx="2950051" cy="497126"/>
          </a:xfrm>
          <a:prstGeom prst="rect">
            <a:avLst/>
          </a:prstGeom>
        </p:spPr>
        <p:txBody>
          <a:bodyPr vert="horz" lIns="91468" tIns="45733" rIns="91468" bIns="45733" rtlCol="0"/>
          <a:lstStyle>
            <a:lvl1pPr algn="r">
              <a:defRPr sz="1200"/>
            </a:lvl1pPr>
          </a:lstStyle>
          <a:p>
            <a:fld id="{DB0088FA-AB4C-4EE3-831C-E6A5D9B6A47F}" type="datetimeFigureOut">
              <a:rPr lang="zh-TW" altLang="en-US" smtClean="0"/>
              <a:t>2026/5/7</a:t>
            </a:fld>
            <a:endParaRPr lang="zh-TW" altLang="en-US"/>
          </a:p>
        </p:txBody>
      </p:sp>
      <p:sp>
        <p:nvSpPr>
          <p:cNvPr id="4" name="頁尾版面配置區 3"/>
          <p:cNvSpPr>
            <a:spLocks noGrp="1"/>
          </p:cNvSpPr>
          <p:nvPr>
            <p:ph type="ftr" sz="quarter" idx="2"/>
          </p:nvPr>
        </p:nvSpPr>
        <p:spPr>
          <a:xfrm>
            <a:off x="0" y="9440624"/>
            <a:ext cx="2950052" cy="497126"/>
          </a:xfrm>
          <a:prstGeom prst="rect">
            <a:avLst/>
          </a:prstGeom>
        </p:spPr>
        <p:txBody>
          <a:bodyPr vert="horz" lIns="91468" tIns="45733" rIns="91468" bIns="45733"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55563" y="9440624"/>
            <a:ext cx="2950051" cy="497126"/>
          </a:xfrm>
          <a:prstGeom prst="rect">
            <a:avLst/>
          </a:prstGeom>
        </p:spPr>
        <p:txBody>
          <a:bodyPr vert="horz" lIns="91468" tIns="45733" rIns="91468" bIns="45733" rtlCol="0" anchor="b"/>
          <a:lstStyle>
            <a:lvl1pPr algn="r">
              <a:defRPr sz="1200"/>
            </a:lvl1pPr>
          </a:lstStyle>
          <a:p>
            <a:fld id="{E6DE1C6A-2ED3-47EA-84F1-8271108DD2DB}" type="slidenum">
              <a:rPr lang="zh-TW" altLang="en-US" smtClean="0"/>
              <a:t>‹#›</a:t>
            </a:fld>
            <a:endParaRPr lang="zh-TW" altLang="en-US"/>
          </a:p>
        </p:txBody>
      </p:sp>
    </p:spTree>
    <p:extLst>
      <p:ext uri="{BB962C8B-B14F-4D97-AF65-F5344CB8AC3E}">
        <p14:creationId xmlns:p14="http://schemas.microsoft.com/office/powerpoint/2010/main" val="21038906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29" y="2"/>
            <a:ext cx="2949786" cy="496967"/>
          </a:xfrm>
          <a:prstGeom prst="rect">
            <a:avLst/>
          </a:prstGeom>
        </p:spPr>
        <p:txBody>
          <a:bodyPr vert="horz" lIns="91160" tIns="45572" rIns="91160" bIns="45572" rtlCol="0"/>
          <a:lstStyle>
            <a:lvl1pPr algn="l">
              <a:defRPr sz="1200"/>
            </a:lvl1pPr>
          </a:lstStyle>
          <a:p>
            <a:endParaRPr lang="zh-TW" altLang="en-US"/>
          </a:p>
        </p:txBody>
      </p:sp>
      <p:sp>
        <p:nvSpPr>
          <p:cNvPr id="3" name="日期版面配置區 2"/>
          <p:cNvSpPr>
            <a:spLocks noGrp="1"/>
          </p:cNvSpPr>
          <p:nvPr>
            <p:ph type="dt" idx="1"/>
          </p:nvPr>
        </p:nvSpPr>
        <p:spPr>
          <a:xfrm>
            <a:off x="3855839" y="2"/>
            <a:ext cx="2949786" cy="496967"/>
          </a:xfrm>
          <a:prstGeom prst="rect">
            <a:avLst/>
          </a:prstGeom>
        </p:spPr>
        <p:txBody>
          <a:bodyPr vert="horz" lIns="91160" tIns="45572" rIns="91160" bIns="45572" rtlCol="0"/>
          <a:lstStyle>
            <a:lvl1pPr algn="r">
              <a:defRPr sz="1200"/>
            </a:lvl1pPr>
          </a:lstStyle>
          <a:p>
            <a:fld id="{35708A9D-C909-4D66-A4DC-8E952B844F82}" type="datetimeFigureOut">
              <a:rPr lang="zh-TW" altLang="en-US" smtClean="0"/>
              <a:t>2026/5/7</a:t>
            </a:fld>
            <a:endParaRPr lang="zh-TW" altLang="en-US"/>
          </a:p>
        </p:txBody>
      </p:sp>
      <p:sp>
        <p:nvSpPr>
          <p:cNvPr id="4" name="投影片圖像版面配置區 3"/>
          <p:cNvSpPr>
            <a:spLocks noGrp="1" noRot="1" noChangeAspect="1"/>
          </p:cNvSpPr>
          <p:nvPr>
            <p:ph type="sldImg" idx="2"/>
          </p:nvPr>
        </p:nvSpPr>
        <p:spPr>
          <a:xfrm>
            <a:off x="919163" y="746125"/>
            <a:ext cx="4968875" cy="3725863"/>
          </a:xfrm>
          <a:prstGeom prst="rect">
            <a:avLst/>
          </a:prstGeom>
          <a:noFill/>
          <a:ln w="12700">
            <a:solidFill>
              <a:prstClr val="black"/>
            </a:solidFill>
          </a:ln>
        </p:spPr>
        <p:txBody>
          <a:bodyPr vert="horz" lIns="91160" tIns="45572" rIns="91160" bIns="45572" rtlCol="0" anchor="ctr"/>
          <a:lstStyle/>
          <a:p>
            <a:endParaRPr lang="zh-TW" altLang="en-US"/>
          </a:p>
        </p:txBody>
      </p:sp>
      <p:sp>
        <p:nvSpPr>
          <p:cNvPr id="5" name="備忘稿版面配置區 4"/>
          <p:cNvSpPr>
            <a:spLocks noGrp="1"/>
          </p:cNvSpPr>
          <p:nvPr>
            <p:ph type="body" sz="quarter" idx="3"/>
          </p:nvPr>
        </p:nvSpPr>
        <p:spPr>
          <a:xfrm>
            <a:off x="680721" y="4721186"/>
            <a:ext cx="5445760" cy="4472702"/>
          </a:xfrm>
          <a:prstGeom prst="rect">
            <a:avLst/>
          </a:prstGeom>
        </p:spPr>
        <p:txBody>
          <a:bodyPr vert="horz" lIns="91160" tIns="45572" rIns="91160" bIns="45572"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29" y="9440676"/>
            <a:ext cx="2949786" cy="496967"/>
          </a:xfrm>
          <a:prstGeom prst="rect">
            <a:avLst/>
          </a:prstGeom>
        </p:spPr>
        <p:txBody>
          <a:bodyPr vert="horz" lIns="91160" tIns="45572" rIns="91160" bIns="45572"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55839" y="9440676"/>
            <a:ext cx="2949786" cy="496967"/>
          </a:xfrm>
          <a:prstGeom prst="rect">
            <a:avLst/>
          </a:prstGeom>
        </p:spPr>
        <p:txBody>
          <a:bodyPr vert="horz" lIns="91160" tIns="45572" rIns="91160" bIns="45572" rtlCol="0" anchor="b"/>
          <a:lstStyle>
            <a:lvl1pPr algn="r">
              <a:defRPr sz="1200"/>
            </a:lvl1pPr>
          </a:lstStyle>
          <a:p>
            <a:fld id="{677EE9C5-7ACF-43E8-ABC9-16737D2E075F}" type="slidenum">
              <a:rPr lang="zh-TW" altLang="en-US" smtClean="0"/>
              <a:t>‹#›</a:t>
            </a:fld>
            <a:endParaRPr lang="zh-TW" altLang="en-US"/>
          </a:p>
        </p:txBody>
      </p:sp>
    </p:spTree>
    <p:extLst>
      <p:ext uri="{BB962C8B-B14F-4D97-AF65-F5344CB8AC3E}">
        <p14:creationId xmlns:p14="http://schemas.microsoft.com/office/powerpoint/2010/main" val="22519394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919163" y="746125"/>
            <a:ext cx="4968875" cy="3725863"/>
          </a:xfrm>
        </p:spPr>
      </p:sp>
      <p:sp>
        <p:nvSpPr>
          <p:cNvPr id="3" name="備忘稿版面配置區 2"/>
          <p:cNvSpPr>
            <a:spLocks noGrp="1"/>
          </p:cNvSpPr>
          <p:nvPr>
            <p:ph type="body" idx="1"/>
          </p:nvPr>
        </p:nvSpPr>
        <p:spPr/>
        <p:txBody>
          <a:bodyPr/>
          <a:lstStyle/>
          <a:p>
            <a:pPr defTabSz="915496">
              <a:defRPr/>
            </a:pPr>
            <a:r>
              <a:rPr lang="en-US" altLang="zh-TW" dirty="0">
                <a:latin typeface="微軟正黑體" panose="020B0604030504040204" pitchFamily="34" charset="-120"/>
                <a:ea typeface="微軟正黑體" panose="020B0604030504040204" pitchFamily="34" charset="-120"/>
              </a:rPr>
              <a:t>2025</a:t>
            </a:r>
            <a:r>
              <a:rPr lang="zh-TW" altLang="en-US" dirty="0">
                <a:latin typeface="微軟正黑體" panose="020B0604030504040204" pitchFamily="34" charset="-120"/>
                <a:ea typeface="微軟正黑體" panose="020B0604030504040204" pitchFamily="34" charset="-120"/>
              </a:rPr>
              <a:t>石油產量</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https://en.wikipedia.org/wiki/Saudi_Aramco</a:t>
            </a:r>
          </a:p>
          <a:p>
            <a:pPr defTabSz="915496">
              <a:defRPr/>
            </a:pPr>
            <a:r>
              <a:rPr lang="en-US" altLang="zh-TW" dirty="0">
                <a:latin typeface="微軟正黑體" panose="020B0604030504040204" pitchFamily="34" charset="-120"/>
                <a:ea typeface="微軟正黑體" panose="020B0604030504040204" pitchFamily="34" charset="-120"/>
              </a:rPr>
              <a:t>https://tradingeconomics.com/saudi-arabia/crude-oil-production</a:t>
            </a:r>
          </a:p>
          <a:p>
            <a:pPr defTabSz="915496">
              <a:defRPr/>
            </a:pPr>
            <a:r>
              <a:rPr lang="en-US" altLang="zh-TW" dirty="0">
                <a:latin typeface="微軟正黑體" panose="020B0604030504040204" pitchFamily="34" charset="-120"/>
                <a:ea typeface="微軟正黑體" panose="020B0604030504040204" pitchFamily="34" charset="-120"/>
              </a:rPr>
              <a:t>https://www.ief.org/_resources/files/news/monthly-oil--gas-review/02-26.pdf</a:t>
            </a:r>
          </a:p>
          <a:p>
            <a:pPr defTabSz="915496">
              <a:defRPr/>
            </a:pPr>
            <a:r>
              <a:rPr lang="en-US" altLang="zh-TW" dirty="0">
                <a:latin typeface="微軟正黑體" panose="020B0604030504040204" pitchFamily="34" charset="-120"/>
                <a:ea typeface="微軟正黑體" panose="020B0604030504040204" pitchFamily="34" charset="-120"/>
              </a:rPr>
              <a:t>https://www.oanda.com/bvi-ft/lab-education/oil/15/</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dirty="0">
                <a:latin typeface="微軟正黑體" panose="020B0604030504040204" pitchFamily="34" charset="-120"/>
                <a:ea typeface="微軟正黑體" panose="020B0604030504040204" pitchFamily="34" charset="-120"/>
              </a:rPr>
              <a:t>人口數</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https://www.macrotrends.net/global-metrics/countries/sau/saudi-arabia/population</a:t>
            </a:r>
          </a:p>
          <a:p>
            <a:pPr defTabSz="915496">
              <a:defRPr/>
            </a:pP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dirty="0">
                <a:latin typeface="微軟正黑體" panose="020B0604030504040204" pitchFamily="34" charset="-120"/>
                <a:ea typeface="微軟正黑體" panose="020B0604030504040204" pitchFamily="34" charset="-120"/>
              </a:rPr>
              <a:t>外匯存底</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https://www.globalfirepower.com/reserves-of-foreign-exchange-and-gold.php</a:t>
            </a:r>
            <a:br>
              <a:rPr lang="en-US" altLang="zh-TW" dirty="0">
                <a:latin typeface="微軟正黑體" panose="020B0604030504040204" pitchFamily="34" charset="-120"/>
                <a:ea typeface="微軟正黑體" panose="020B0604030504040204" pitchFamily="34" charset="-120"/>
              </a:rPr>
            </a:br>
            <a:endParaRPr lang="en-US" altLang="zh-TW" dirty="0">
              <a:latin typeface="微軟正黑體" panose="020B0604030504040204" pitchFamily="34" charset="-120"/>
              <a:ea typeface="微軟正黑體" panose="020B0604030504040204" pitchFamily="34" charset="-120"/>
            </a:endParaRPr>
          </a:p>
          <a:p>
            <a:pPr defTabSz="915496">
              <a:defRPr/>
            </a:pPr>
            <a:r>
              <a:rPr lang="zh-TW" altLang="en-US" dirty="0">
                <a:latin typeface="微軟正黑體" panose="020B0604030504040204" pitchFamily="34" charset="-120"/>
                <a:ea typeface="微軟正黑體" panose="020B0604030504040204" pitchFamily="34" charset="-120"/>
              </a:rPr>
              <a:t>石油佔財政總收入</a:t>
            </a:r>
            <a:endParaRPr lang="en-US" altLang="zh-TW" dirty="0">
              <a:latin typeface="微軟正黑體" panose="020B0604030504040204" pitchFamily="34" charset="-120"/>
              <a:ea typeface="微軟正黑體" panose="020B0604030504040204" pitchFamily="34" charset="-120"/>
            </a:endParaRPr>
          </a:p>
          <a:p>
            <a:pPr defTabSz="915496">
              <a:defRPr/>
            </a:pPr>
            <a:r>
              <a:rPr lang="en-US" altLang="zh-TW" dirty="0">
                <a:latin typeface="微軟正黑體" panose="020B0604030504040204" pitchFamily="34" charset="-120"/>
                <a:ea typeface="微軟正黑體" panose="020B0604030504040204" pitchFamily="34" charset="-120"/>
              </a:rPr>
              <a:t>https://www.arabnews.com/node/2590103/amp</a:t>
            </a:r>
          </a:p>
          <a:p>
            <a:pPr defTabSz="915496">
              <a:defRPr/>
            </a:pPr>
            <a:endParaRPr lang="en-US" altLang="zh-TW" dirty="0"/>
          </a:p>
          <a:p>
            <a:pPr defTabSz="915496">
              <a:defRPr/>
            </a:pPr>
            <a:r>
              <a:rPr lang="en-US" altLang="zh-TW" dirty="0"/>
              <a:t>2024</a:t>
            </a:r>
            <a:r>
              <a:rPr lang="zh-TW" altLang="en-US" dirty="0"/>
              <a:t>石油儲備</a:t>
            </a:r>
            <a:endParaRPr lang="en-US" altLang="zh-TW" dirty="0"/>
          </a:p>
          <a:p>
            <a:pPr defTabSz="915496">
              <a:defRPr/>
            </a:pPr>
            <a:r>
              <a:rPr lang="en-US" altLang="zh-TW" dirty="0"/>
              <a:t>https://www.worldatlas.com/industries/the-world-s-largest-oil-reserves-by-country.html#h_34118067970561718102956581</a:t>
            </a:r>
          </a:p>
          <a:p>
            <a:pPr defTabSz="915496">
              <a:defRPr/>
            </a:pPr>
            <a:br>
              <a:rPr lang="en-US" altLang="zh-TW" dirty="0"/>
            </a:br>
            <a:r>
              <a:rPr lang="zh-TW" altLang="en-US" dirty="0"/>
              <a:t>原油儲備</a:t>
            </a:r>
            <a:endParaRPr lang="en-US" altLang="zh-TW" dirty="0"/>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sz="1200" b="0" i="0" u="none" strike="noStrike" kern="1200" dirty="0">
                <a:solidFill>
                  <a:schemeClr val="tx1"/>
                </a:solidFill>
                <a:effectLst/>
                <a:latin typeface="+mn-lt"/>
                <a:ea typeface="+mn-ea"/>
                <a:cs typeface="+mn-cs"/>
              </a:rPr>
              <a:t>https://wisevoter.com/country-rankings/oil-reserves-by-country/</a:t>
            </a: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sz="1200" b="0" i="0" u="none" strike="noStrike" kern="1200" dirty="0">
                <a:solidFill>
                  <a:schemeClr val="tx1"/>
                </a:solidFill>
                <a:effectLst/>
                <a:latin typeface="+mn-lt"/>
                <a:ea typeface="+mn-ea"/>
                <a:cs typeface="+mn-cs"/>
              </a:rPr>
              <a:t>https://www.oanda.com/bvi-ft/lab-education/oil/15/</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t>原油產量</a:t>
            </a:r>
            <a:endParaRPr lang="en-US" altLang="zh-TW" dirty="0"/>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t>https://nai500.com/zh-hans/blog/2023/06/%E5%85%A8%E7%90%83%E5%8D%81%E5%A4%A7%E7%9F%B3%E6%B2%B9%E7%94%9F%E4%BA%A7%E5%9B%BD%E5%90%8D%E5%8D%95%EF%BC%882023%E5%B9%B4%E6%9B%B4%E6%96%B0%EF%BC%89/</a:t>
            </a: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t>https://zh.wikipedia.org/zh-tw/%E5%90%84%E5%9B%BD%E7%9F%B3%E6%B2%B9%E4%BA%A7%E9%87%8F%E5%88%97%E8%A1%A8</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p>
          <a:p>
            <a:pPr marL="0" marR="0" lvl="0" indent="0" algn="l" defTabSz="915496" rtl="0" eaLnBrk="1" fontAlgn="auto" latinLnBrk="0" hangingPunct="1">
              <a:lnSpc>
                <a:spcPct val="100000"/>
              </a:lnSpc>
              <a:spcBef>
                <a:spcPts val="0"/>
              </a:spcBef>
              <a:spcAft>
                <a:spcPts val="0"/>
              </a:spcAft>
              <a:buClrTx/>
              <a:buSzTx/>
              <a:buFontTx/>
              <a:buNone/>
              <a:tabLst/>
              <a:defRPr/>
            </a:pPr>
            <a:r>
              <a:rPr lang="zh-TW" altLang="en-US" dirty="0">
                <a:latin typeface="微軟正黑體" panose="020B0604030504040204" pitchFamily="34" charset="-120"/>
                <a:ea typeface="微軟正黑體" panose="020B0604030504040204" pitchFamily="34" charset="-120"/>
              </a:rPr>
              <a:t>原油出口量額</a:t>
            </a: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t>https://www.worldstopexports.com/worlds-top-oil-exports-country/</a:t>
            </a:r>
            <a:br>
              <a:rPr lang="en-US" altLang="zh-TW" dirty="0"/>
            </a:br>
            <a:br>
              <a:rPr lang="en-US" altLang="zh-TW" dirty="0"/>
            </a:br>
            <a:r>
              <a:rPr lang="en-US" altLang="zh-TW" dirty="0"/>
              <a:t>GDP</a:t>
            </a:r>
            <a:br>
              <a:rPr lang="en-US" altLang="zh-TW" dirty="0"/>
            </a:br>
            <a:r>
              <a:rPr lang="en-US" altLang="zh-TW" dirty="0"/>
              <a:t>https://thedocs.worldbank.org/en/doc/65cf93926fdb3ea23b72f277fc249a72-0500042021/related/mpo-sau.pdf</a:t>
            </a: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t>https://www.imf.org/external/datamapper/profile/SAU</a:t>
            </a:r>
            <a:br>
              <a:rPr lang="en-US" altLang="zh-TW" dirty="0"/>
            </a:br>
            <a:br>
              <a:rPr lang="en-US" altLang="zh-TW" dirty="0"/>
            </a:br>
            <a:r>
              <a:rPr lang="en-US" altLang="zh-TW" dirty="0"/>
              <a:t>Fred</a:t>
            </a:r>
            <a:r>
              <a:rPr lang="zh-TW" altLang="en-US" dirty="0"/>
              <a:t> 沙烏地資料</a:t>
            </a:r>
            <a:br>
              <a:rPr lang="en-US" altLang="zh-TW" dirty="0">
                <a:latin typeface="微軟正黑體" panose="020B0604030504040204" pitchFamily="34" charset="-120"/>
                <a:ea typeface="微軟正黑體" panose="020B0604030504040204" pitchFamily="34" charset="-120"/>
              </a:rPr>
            </a:br>
            <a:r>
              <a:rPr lang="en-US" altLang="zh-TW" dirty="0">
                <a:latin typeface="微軟正黑體" panose="020B0604030504040204" pitchFamily="34" charset="-120"/>
                <a:ea typeface="微軟正黑體" panose="020B0604030504040204" pitchFamily="34" charset="-120"/>
              </a:rPr>
              <a:t>https://fred.stlouisfed.org/series/SAUNGDPMOMBD</a:t>
            </a:r>
          </a:p>
          <a:p>
            <a:pPr marL="0" marR="0" lvl="0" indent="0" algn="l" defTabSz="915496" rtl="0" eaLnBrk="1" fontAlgn="auto" latinLnBrk="0" hangingPunct="1">
              <a:lnSpc>
                <a:spcPct val="100000"/>
              </a:lnSpc>
              <a:spcBef>
                <a:spcPts val="0"/>
              </a:spcBef>
              <a:spcAft>
                <a:spcPts val="0"/>
              </a:spcAft>
              <a:buClrTx/>
              <a:buSzTx/>
              <a:buFontTx/>
              <a:buNone/>
              <a:tabLst/>
              <a:defRPr/>
            </a:pPr>
            <a:r>
              <a:rPr lang="en-US" altLang="zh-TW" dirty="0">
                <a:latin typeface="微軟正黑體" panose="020B0604030504040204" pitchFamily="34" charset="-120"/>
                <a:ea typeface="微軟正黑體" panose="020B0604030504040204" pitchFamily="34" charset="-120"/>
              </a:rPr>
              <a:t>Fred</a:t>
            </a:r>
            <a:r>
              <a:rPr lang="zh-TW" altLang="en-US" dirty="0">
                <a:latin typeface="微軟正黑體" panose="020B0604030504040204" pitchFamily="34" charset="-120"/>
                <a:ea typeface="微軟正黑體" panose="020B0604030504040204" pitchFamily="34" charset="-120"/>
              </a:rPr>
              <a:t>非石油</a:t>
            </a:r>
            <a:r>
              <a:rPr lang="en-US" altLang="zh-TW" dirty="0">
                <a:latin typeface="微軟正黑體" panose="020B0604030504040204" pitchFamily="34" charset="-120"/>
                <a:ea typeface="微軟正黑體" panose="020B0604030504040204" pitchFamily="34" charset="-120"/>
              </a:rPr>
              <a:t>GDP</a:t>
            </a:r>
          </a:p>
          <a:p>
            <a:r>
              <a:rPr lang="en-US" altLang="zh-TW" sz="1200" b="0" i="0" kern="1200" dirty="0">
                <a:solidFill>
                  <a:schemeClr val="tx1"/>
                </a:solidFill>
                <a:effectLst/>
                <a:latin typeface="+mn-lt"/>
                <a:ea typeface="+mn-ea"/>
                <a:cs typeface="+mn-cs"/>
              </a:rPr>
              <a:t>Non-Oil Real GDP Growth in Constant Prices for Saudi Arabia</a:t>
            </a:r>
          </a:p>
          <a:p>
            <a:endParaRPr lang="en-US" altLang="zh-TW" sz="1200" b="0" i="0" kern="1200" dirty="0">
              <a:solidFill>
                <a:schemeClr val="tx1"/>
              </a:solidFill>
              <a:effectLst/>
              <a:latin typeface="+mn-lt"/>
              <a:ea typeface="+mn-ea"/>
              <a:cs typeface="+mn-cs"/>
            </a:endParaRPr>
          </a:p>
          <a:p>
            <a:r>
              <a:rPr lang="en-US" altLang="zh-TW" sz="1200" b="0" i="0" kern="1200" dirty="0">
                <a:solidFill>
                  <a:schemeClr val="tx1"/>
                </a:solidFill>
                <a:effectLst/>
                <a:latin typeface="+mn-lt"/>
                <a:ea typeface="+mn-ea"/>
                <a:cs typeface="+mn-cs"/>
              </a:rPr>
              <a:t>IMF</a:t>
            </a:r>
          </a:p>
          <a:p>
            <a:r>
              <a:rPr lang="en-US" altLang="zh-TW" sz="1200" b="0" i="0" kern="1200" dirty="0">
                <a:solidFill>
                  <a:schemeClr val="tx1"/>
                </a:solidFill>
                <a:effectLst/>
                <a:latin typeface="+mn-lt"/>
                <a:ea typeface="+mn-ea"/>
                <a:cs typeface="+mn-cs"/>
              </a:rPr>
              <a:t>https://www.imf.org/en/countries/sau#ataglance</a:t>
            </a: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a:p>
            <a:pPr marL="0" marR="0" lvl="0" indent="0" algn="l" defTabSz="915496" rtl="0" eaLnBrk="1" fontAlgn="auto" latinLnBrk="0" hangingPunct="1">
              <a:lnSpc>
                <a:spcPct val="100000"/>
              </a:lnSpc>
              <a:spcBef>
                <a:spcPts val="0"/>
              </a:spcBef>
              <a:spcAft>
                <a:spcPts val="0"/>
              </a:spcAft>
              <a:buClrTx/>
              <a:buSzTx/>
              <a:buFontTx/>
              <a:buNone/>
              <a:tabLst/>
              <a:defRPr/>
            </a:pPr>
            <a:endParaRPr lang="en-US" altLang="zh-TW" dirty="0">
              <a:latin typeface="微軟正黑體" panose="020B0604030504040204" pitchFamily="34" charset="-120"/>
              <a:ea typeface="微軟正黑體" panose="020B0604030504040204" pitchFamily="34" charset="-120"/>
            </a:endParaRPr>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2</a:t>
            </a:fld>
            <a:endParaRPr lang="zh-TW" altLang="en-US"/>
          </a:p>
        </p:txBody>
      </p:sp>
    </p:spTree>
    <p:extLst>
      <p:ext uri="{BB962C8B-B14F-4D97-AF65-F5344CB8AC3E}">
        <p14:creationId xmlns:p14="http://schemas.microsoft.com/office/powerpoint/2010/main" val="24105160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政策利率</a:t>
            </a:r>
            <a:endParaRPr lang="en-US" altLang="zh-TW" dirty="0"/>
          </a:p>
          <a:p>
            <a:r>
              <a:rPr lang="en-US" altLang="zh-TW" dirty="0"/>
              <a:t>https://www.argaam.com/en/article/articledetail/id/1865280</a:t>
            </a:r>
          </a:p>
          <a:p>
            <a:endParaRPr lang="en-US" altLang="zh-TW" dirty="0"/>
          </a:p>
          <a:p>
            <a:endParaRPr lang="en-US" altLang="zh-TW" dirty="0"/>
          </a:p>
          <a:p>
            <a:endParaRPr lang="en-US" altLang="zh-TW" dirty="0"/>
          </a:p>
          <a:p>
            <a:r>
              <a:rPr lang="zh-TW" altLang="en-US" dirty="0"/>
              <a:t>沙烏地通膨</a:t>
            </a:r>
            <a:endParaRPr lang="en-US" altLang="zh-TW" dirty="0"/>
          </a:p>
          <a:p>
            <a:r>
              <a:rPr lang="en-US" altLang="zh-TW" dirty="0"/>
              <a:t>https://www.argaam.com/en/reports/inflation-report/49657</a:t>
            </a:r>
          </a:p>
          <a:p>
            <a:endParaRPr lang="en-US" altLang="zh-TW" dirty="0"/>
          </a:p>
          <a:p>
            <a:r>
              <a:rPr lang="en-US" altLang="zh-TW" dirty="0"/>
              <a:t>G20</a:t>
            </a:r>
          </a:p>
          <a:p>
            <a:r>
              <a:rPr lang="en-US" altLang="zh-TW" dirty="0"/>
              <a:t>https://www.argaam.com/en/reports/inflation-report/49657</a:t>
            </a:r>
          </a:p>
          <a:p>
            <a:endParaRPr lang="en-US" altLang="zh-TW" dirty="0"/>
          </a:p>
          <a:p>
            <a:r>
              <a:rPr lang="en-US" altLang="zh-TW" dirty="0"/>
              <a:t>IMF</a:t>
            </a:r>
            <a:r>
              <a:rPr lang="zh-TW" altLang="en-US" dirty="0"/>
              <a:t> </a:t>
            </a:r>
            <a:r>
              <a:rPr lang="en-US" altLang="zh-TW" dirty="0"/>
              <a:t>2025/4/22</a:t>
            </a:r>
          </a:p>
          <a:p>
            <a:r>
              <a:rPr lang="en-US" altLang="zh-TW" dirty="0"/>
              <a:t>https://www.reuters.com/world/middle-east/imf-cuts-saudi-2025-growth-forecast-flags-slower-oil-rebound-drag-region-2025-04-22/</a:t>
            </a:r>
          </a:p>
          <a:p>
            <a:endParaRPr lang="en-US" altLang="zh-TW" dirty="0"/>
          </a:p>
          <a:p>
            <a:r>
              <a:rPr lang="en-US" altLang="zh-TW" dirty="0"/>
              <a:t>4Q25</a:t>
            </a:r>
            <a:r>
              <a:rPr lang="zh-TW" altLang="en-US" dirty="0"/>
              <a:t> </a:t>
            </a:r>
            <a:r>
              <a:rPr lang="en-US" altLang="zh-TW" dirty="0"/>
              <a:t>GDP</a:t>
            </a:r>
          </a:p>
          <a:p>
            <a:r>
              <a:rPr lang="en-US" altLang="zh-TW" dirty="0"/>
              <a:t>https://www.stats.gov.sa/documents/20117/2435267/GDP+Q4_2024+EN.pdf/47ce9089-acdc-b770-08c2-5b35ca6370d6?t=1773037153794</a:t>
            </a:r>
          </a:p>
          <a:p>
            <a:r>
              <a:rPr lang="en-US" altLang="zh-TW" dirty="0"/>
              <a:t>https://www.arabnews.jp/en/business/article_165691/</a:t>
            </a:r>
            <a:endParaRPr lang="zh-TW" altLang="en-US" dirty="0"/>
          </a:p>
        </p:txBody>
      </p:sp>
      <p:sp>
        <p:nvSpPr>
          <p:cNvPr id="4" name="投影片編號版面配置區 3"/>
          <p:cNvSpPr>
            <a:spLocks noGrp="1"/>
          </p:cNvSpPr>
          <p:nvPr>
            <p:ph type="sldNum" sz="quarter" idx="5"/>
          </p:nvPr>
        </p:nvSpPr>
        <p:spPr/>
        <p:txBody>
          <a:bodyPr/>
          <a:lstStyle/>
          <a:p>
            <a:fld id="{677EE9C5-7ACF-43E8-ABC9-16737D2E075F}" type="slidenum">
              <a:rPr lang="zh-TW" altLang="en-US" smtClean="0"/>
              <a:t>3</a:t>
            </a:fld>
            <a:endParaRPr lang="zh-TW" altLang="en-US"/>
          </a:p>
        </p:txBody>
      </p:sp>
    </p:spTree>
    <p:extLst>
      <p:ext uri="{BB962C8B-B14F-4D97-AF65-F5344CB8AC3E}">
        <p14:creationId xmlns:p14="http://schemas.microsoft.com/office/powerpoint/2010/main" val="24678134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惠譽</a:t>
            </a:r>
            <a:endParaRPr lang="en-US" altLang="zh-TW" dirty="0"/>
          </a:p>
          <a:p>
            <a:r>
              <a:rPr lang="en-US" altLang="zh-TW" dirty="0"/>
              <a:t>https://www.fitchratings.com/research/sovereigns/fitch-affirms-saudi-arabia-at-a-outlook-stable-31-01-2025</a:t>
            </a:r>
          </a:p>
        </p:txBody>
      </p:sp>
      <p:sp>
        <p:nvSpPr>
          <p:cNvPr id="4" name="投影片編號版面配置區 3"/>
          <p:cNvSpPr>
            <a:spLocks noGrp="1"/>
          </p:cNvSpPr>
          <p:nvPr>
            <p:ph type="sldNum" sz="quarter" idx="10"/>
          </p:nvPr>
        </p:nvSpPr>
        <p:spPr/>
        <p:txBody>
          <a:bodyPr/>
          <a:lstStyle/>
          <a:p>
            <a:fld id="{677EE9C5-7ACF-43E8-ABC9-16737D2E075F}" type="slidenum">
              <a:rPr lang="zh-TW" altLang="en-US" smtClean="0"/>
              <a:t>4</a:t>
            </a:fld>
            <a:endParaRPr lang="zh-TW" altLang="en-US"/>
          </a:p>
        </p:txBody>
      </p:sp>
    </p:spTree>
    <p:extLst>
      <p:ext uri="{BB962C8B-B14F-4D97-AF65-F5344CB8AC3E}">
        <p14:creationId xmlns:p14="http://schemas.microsoft.com/office/powerpoint/2010/main" val="3185059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標題投影片">
    <p:spTree>
      <p:nvGrpSpPr>
        <p:cNvPr id="1" name=""/>
        <p:cNvGrpSpPr/>
        <p:nvPr/>
      </p:nvGrpSpPr>
      <p:grpSpPr>
        <a:xfrm>
          <a:off x="0" y="0"/>
          <a:ext cx="0" cy="0"/>
          <a:chOff x="0" y="0"/>
          <a:chExt cx="0" cy="0"/>
        </a:xfrm>
      </p:grpSpPr>
      <p:sp>
        <p:nvSpPr>
          <p:cNvPr id="11" name="副標題 2"/>
          <p:cNvSpPr>
            <a:spLocks noGrp="1"/>
          </p:cNvSpPr>
          <p:nvPr>
            <p:ph type="subTitle" idx="1"/>
          </p:nvPr>
        </p:nvSpPr>
        <p:spPr>
          <a:xfrm>
            <a:off x="1926186" y="3501008"/>
            <a:ext cx="4320000" cy="432048"/>
          </a:xfrm>
          <a:prstGeom prst="rect">
            <a:avLst/>
          </a:prstGeom>
        </p:spPr>
        <p:txBody>
          <a:bodyPr>
            <a:noAutofit/>
          </a:bodyPr>
          <a:lstStyle>
            <a:lvl1pPr marL="0" marR="0" indent="0" algn="l" defTabSz="685800" rtl="0" eaLnBrk="1" fontAlgn="auto" latinLnBrk="0" hangingPunct="1">
              <a:lnSpc>
                <a:spcPct val="100000"/>
              </a:lnSpc>
              <a:spcBef>
                <a:spcPct val="20000"/>
              </a:spcBef>
              <a:spcAft>
                <a:spcPts val="0"/>
              </a:spcAft>
              <a:buClrTx/>
              <a:buSzTx/>
              <a:buFontTx/>
              <a:buNone/>
              <a:tabLst/>
              <a:defRPr sz="1800" b="1">
                <a:solidFill>
                  <a:schemeClr val="bg1">
                    <a:lumMod val="50000"/>
                  </a:schemeClr>
                </a:solidFill>
                <a:latin typeface="微軟正黑體" pitchFamily="34" charset="-120"/>
                <a:ea typeface="微軟正黑體" pitchFamily="34" charset="-120"/>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TW" altLang="en-US" dirty="0"/>
              <a:t>按一下以編輯母片副標題樣式</a:t>
            </a:r>
          </a:p>
        </p:txBody>
      </p:sp>
      <p:sp>
        <p:nvSpPr>
          <p:cNvPr id="17" name="標題 1"/>
          <p:cNvSpPr>
            <a:spLocks noGrp="1"/>
          </p:cNvSpPr>
          <p:nvPr>
            <p:ph type="ctrTitle"/>
          </p:nvPr>
        </p:nvSpPr>
        <p:spPr>
          <a:xfrm>
            <a:off x="1871700" y="2771403"/>
            <a:ext cx="4860000" cy="576064"/>
          </a:xfrm>
          <a:prstGeom prst="rect">
            <a:avLst/>
          </a:prstGeom>
        </p:spPr>
        <p:txBody>
          <a:bodyPr>
            <a:noAutofit/>
          </a:bodyPr>
          <a:lstStyle>
            <a:lvl1pPr algn="l">
              <a:defRPr sz="3000" b="1">
                <a:solidFill>
                  <a:schemeClr val="bg1">
                    <a:lumMod val="50000"/>
                  </a:schemeClr>
                </a:solidFill>
                <a:latin typeface="微軟正黑體" pitchFamily="34" charset="-120"/>
                <a:ea typeface="微軟正黑體" pitchFamily="34" charset="-120"/>
              </a:defRPr>
            </a:lvl1pPr>
          </a:lstStyle>
          <a:p>
            <a:r>
              <a:rPr lang="zh-TW" altLang="en-US" dirty="0"/>
              <a:t>按一下以編輯母片標題樣式</a:t>
            </a:r>
          </a:p>
        </p:txBody>
      </p:sp>
      <p:pic>
        <p:nvPicPr>
          <p:cNvPr id="3" name="图片 2">
            <a:extLst>
              <a:ext uri="{FF2B5EF4-FFF2-40B4-BE49-F238E27FC236}">
                <a16:creationId xmlns:a16="http://schemas.microsoft.com/office/drawing/2014/main" id="{7A7DB523-7990-4024-ADA2-E061F0DAD6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732240" y="2845174"/>
            <a:ext cx="1404156" cy="583155"/>
          </a:xfrm>
          <a:prstGeom prst="rect">
            <a:avLst/>
          </a:prstGeom>
        </p:spPr>
      </p:pic>
      <p:cxnSp>
        <p:nvCxnSpPr>
          <p:cNvPr id="9" name="直接连接符 14">
            <a:extLst>
              <a:ext uri="{FF2B5EF4-FFF2-40B4-BE49-F238E27FC236}">
                <a16:creationId xmlns:a16="http://schemas.microsoft.com/office/drawing/2014/main" id="{EC0A9803-A926-48F3-9681-2B42C0C06D43}"/>
              </a:ext>
            </a:extLst>
          </p:cNvPr>
          <p:cNvCxnSpPr>
            <a:cxnSpLocks/>
          </p:cNvCxnSpPr>
          <p:nvPr userDrawn="1"/>
        </p:nvCxnSpPr>
        <p:spPr>
          <a:xfrm flipH="1">
            <a:off x="0" y="3429000"/>
            <a:ext cx="8082390"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cxnSp>
        <p:nvCxnSpPr>
          <p:cNvPr id="12"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5964485"/>
            <a:ext cx="3550109" cy="0"/>
          </a:xfrm>
          <a:prstGeom prst="line">
            <a:avLst/>
          </a:prstGeom>
          <a:ln w="28575">
            <a:gradFill flip="none" rotWithShape="1">
              <a:gsLst>
                <a:gs pos="100000">
                  <a:schemeClr val="bg1">
                    <a:lumMod val="75000"/>
                    <a:alpha val="0"/>
                  </a:schemeClr>
                </a:gs>
                <a:gs pos="0">
                  <a:schemeClr val="bg1">
                    <a:lumMod val="85000"/>
                  </a:schemeClr>
                </a:gs>
              </a:gsLst>
              <a:lin ang="0" scaled="1"/>
              <a:tileRect/>
            </a:gra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sp>
        <p:nvSpPr>
          <p:cNvPr id="4" name="文字方塊 3"/>
          <p:cNvSpPr txBox="1"/>
          <p:nvPr userDrawn="1"/>
        </p:nvSpPr>
        <p:spPr>
          <a:xfrm>
            <a:off x="497592" y="5579948"/>
            <a:ext cx="2608406" cy="300082"/>
          </a:xfrm>
          <a:prstGeom prst="rect">
            <a:avLst/>
          </a:prstGeom>
          <a:noFill/>
        </p:spPr>
        <p:txBody>
          <a:bodyPr wrap="none" rtlCol="0">
            <a:spAutoFit/>
          </a:bodyPr>
          <a:lstStyle/>
          <a:p>
            <a:r>
              <a:rPr lang="zh-TW" altLang="en-US" sz="1350" b="1" dirty="0">
                <a:solidFill>
                  <a:schemeClr val="bg1">
                    <a:lumMod val="50000"/>
                  </a:schemeClr>
                </a:solidFill>
              </a:rPr>
              <a:t>國外固定利率債券發行機構簡介</a:t>
            </a:r>
          </a:p>
        </p:txBody>
      </p:sp>
      <p:sp>
        <p:nvSpPr>
          <p:cNvPr id="8" name="文字方塊 7"/>
          <p:cNvSpPr txBox="1"/>
          <p:nvPr userDrawn="1"/>
        </p:nvSpPr>
        <p:spPr>
          <a:xfrm>
            <a:off x="6246186" y="3429000"/>
            <a:ext cx="1890210" cy="300082"/>
          </a:xfrm>
          <a:prstGeom prst="rect">
            <a:avLst/>
          </a:prstGeom>
          <a:noFill/>
        </p:spPr>
        <p:txBody>
          <a:bodyPr wrap="square" rtlCol="0">
            <a:spAutoFit/>
          </a:bodyPr>
          <a:lstStyle/>
          <a:p>
            <a:pPr algn="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B2B</a:t>
            </a:r>
            <a:r>
              <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 </a:t>
            </a:r>
            <a:r>
              <a:rPr lang="en-US" altLang="zh-TW"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rPr>
              <a:t>TEAM</a:t>
            </a:r>
            <a:endParaRPr lang="zh-TW" altLang="en-US" sz="1350" dirty="0">
              <a:solidFill>
                <a:schemeClr val="bg1">
                  <a:lumMod val="50000"/>
                </a:schemeClr>
              </a:solidFill>
              <a:effectLst>
                <a:outerShdw blurRad="50800" dist="38100" dir="8100000" algn="tr" rotWithShape="0">
                  <a:prstClr val="black">
                    <a:alpha val="40000"/>
                  </a:prstClr>
                </a:outerShdw>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499642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5" y="980728"/>
            <a:ext cx="8213303" cy="5220000"/>
          </a:xfrm>
          <a:prstGeom prst="rect">
            <a:avLst/>
          </a:prstGeom>
        </p:spPr>
        <p:txBody>
          <a:bodyPr/>
          <a:lstStyle>
            <a:lvl1pPr marL="257175" indent="-257175">
              <a:buFont typeface="Wingdings" panose="05000000000000000000" pitchFamily="2" charset="2"/>
              <a:buChar char="n"/>
              <a:defRPr sz="1800">
                <a:latin typeface="微軟正黑體" pitchFamily="34" charset="-120"/>
                <a:ea typeface="微軟正黑體" pitchFamily="34" charset="-120"/>
              </a:defRPr>
            </a:lvl1pPr>
            <a:lvl2pPr>
              <a:defRPr sz="1500" b="0">
                <a:latin typeface="微軟正黑體" pitchFamily="34" charset="-120"/>
                <a:ea typeface="微軟正黑體" pitchFamily="34" charset="-120"/>
              </a:defRPr>
            </a:lvl2pPr>
            <a:lvl3pPr>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en-US" altLang="zh-TW" dirty="0"/>
          </a:p>
          <a:p>
            <a:pPr lvl="0"/>
            <a:endParaRPr lang="zh-TW" altLang="en-US" dirty="0"/>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3581158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073CA6E-B980-4BED-B859-79E8C0786146}"/>
              </a:ext>
            </a:extLst>
          </p:cNvPr>
          <p:cNvSpPr/>
          <p:nvPr userDrawn="1"/>
        </p:nvSpPr>
        <p:spPr>
          <a:xfrm>
            <a:off x="6732240" y="0"/>
            <a:ext cx="241176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投影片編號版面配置區 2"/>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cxnSp>
        <p:nvCxnSpPr>
          <p:cNvPr id="4" name="直接连接符 14">
            <a:extLst>
              <a:ext uri="{FF2B5EF4-FFF2-40B4-BE49-F238E27FC236}">
                <a16:creationId xmlns:a16="http://schemas.microsoft.com/office/drawing/2014/main" id="{7D116BA9-9B78-42D3-9A3A-32518048A7C5}"/>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pic>
        <p:nvPicPr>
          <p:cNvPr id="10" name="圖片 9" descr="一張含有 文字 的圖片&#10;&#10;自動產生的描述">
            <a:extLst>
              <a:ext uri="{FF2B5EF4-FFF2-40B4-BE49-F238E27FC236}">
                <a16:creationId xmlns:a16="http://schemas.microsoft.com/office/drawing/2014/main" id="{EDD6439E-0668-40EB-8EE8-43DD01AC00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738248" y="6497912"/>
            <a:ext cx="753090" cy="171448"/>
          </a:xfrm>
          <a:prstGeom prst="rect">
            <a:avLst/>
          </a:prstGeom>
        </p:spPr>
      </p:pic>
      <p:pic>
        <p:nvPicPr>
          <p:cNvPr id="11" name="圖片 10">
            <a:extLst>
              <a:ext uri="{FF2B5EF4-FFF2-40B4-BE49-F238E27FC236}">
                <a16:creationId xmlns:a16="http://schemas.microsoft.com/office/drawing/2014/main" id="{077F17E0-39B1-4EAF-8142-AA65E5998D1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r="72177" b="35515"/>
          <a:stretch/>
        </p:blipFill>
        <p:spPr>
          <a:xfrm>
            <a:off x="8483570" y="6432163"/>
            <a:ext cx="605138" cy="225344"/>
          </a:xfrm>
          <a:prstGeom prst="rect">
            <a:avLst/>
          </a:prstGeom>
        </p:spPr>
      </p:pic>
      <p:sp>
        <p:nvSpPr>
          <p:cNvPr id="7" name="矩形 6">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8" name="圖片 7"/>
          <p:cNvPicPr>
            <a:picLocks noChangeAspect="1"/>
          </p:cNvPicPr>
          <p:nvPr userDrawn="1"/>
        </p:nvPicPr>
        <p:blipFill>
          <a:blip r:embed="rId4"/>
          <a:stretch>
            <a:fillRect/>
          </a:stretch>
        </p:blipFill>
        <p:spPr>
          <a:xfrm>
            <a:off x="7308304" y="-16771"/>
            <a:ext cx="1999661" cy="256054"/>
          </a:xfrm>
          <a:prstGeom prst="rect">
            <a:avLst/>
          </a:prstGeom>
        </p:spPr>
      </p:pic>
    </p:spTree>
    <p:extLst>
      <p:ext uri="{BB962C8B-B14F-4D97-AF65-F5344CB8AC3E}">
        <p14:creationId xmlns:p14="http://schemas.microsoft.com/office/powerpoint/2010/main" val="3261209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0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style>
          <a:lnRef idx="1">
            <a:schemeClr val="accent4"/>
          </a:lnRef>
          <a:fillRef idx="2">
            <a:schemeClr val="accent4"/>
          </a:fillRef>
          <a:effectRef idx="1">
            <a:schemeClr val="accent4"/>
          </a:effectRef>
          <a:fontRef idx="none"/>
        </p:style>
        <p:txBody>
          <a:bodyPr>
            <a:noAutofit/>
          </a:bodyPr>
          <a:lstStyle>
            <a:lvl1pPr marL="0" indent="0" algn="l">
              <a:buFont typeface="Wingdings" panose="05000000000000000000" pitchFamily="2" charset="2"/>
              <a:buNone/>
              <a:defRPr sz="1350" b="1">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90618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8_兩項物件">
    <p:spTree>
      <p:nvGrpSpPr>
        <p:cNvPr id="1" name=""/>
        <p:cNvGrpSpPr/>
        <p:nvPr/>
      </p:nvGrpSpPr>
      <p:grpSpPr>
        <a:xfrm>
          <a:off x="0" y="0"/>
          <a:ext cx="0" cy="0"/>
          <a:chOff x="0" y="0"/>
          <a:chExt cx="0" cy="0"/>
        </a:xfrm>
      </p:grpSpPr>
      <p:sp>
        <p:nvSpPr>
          <p:cNvPr id="6" name="內容版面配置區 3"/>
          <p:cNvSpPr>
            <a:spLocks noGrp="1"/>
          </p:cNvSpPr>
          <p:nvPr>
            <p:ph sz="half" idx="2"/>
          </p:nvPr>
        </p:nvSpPr>
        <p:spPr>
          <a:xfrm>
            <a:off x="467543"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8" y="2708920"/>
            <a:ext cx="4050000" cy="3420000"/>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276872"/>
            <a:ext cx="4050000" cy="360040"/>
          </a:xfrm>
          <a:prstGeom prst="rect">
            <a:avLst/>
          </a:prstGeom>
        </p:spPr>
        <p:txBody>
          <a:bodyPr>
            <a:noAutofit/>
          </a:bodyPr>
          <a:lstStyle>
            <a:lvl1pPr marL="214313" indent="-214313"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276872"/>
            <a:ext cx="4050000" cy="360040"/>
          </a:xfrm>
          <a:prstGeom prst="rect">
            <a:avLst/>
          </a:prstGeom>
        </p:spPr>
        <p:txBody>
          <a:bodyPr>
            <a:noAutofit/>
          </a:bodyPr>
          <a:lstStyle>
            <a:lvl1pPr marL="257175" indent="-257175" algn="l">
              <a:buFont typeface="Wingdings" panose="05000000000000000000" pitchFamily="2" charset="2"/>
              <a:buChar char="n"/>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73493" y="980728"/>
            <a:ext cx="8208000" cy="1224136"/>
          </a:xfrm>
          <a:prstGeom prst="rect">
            <a:avLst/>
          </a:prstGeom>
        </p:spPr>
        <p:txBody>
          <a:bodyPr>
            <a:normAutofit/>
          </a:bodyPr>
          <a:lstStyle>
            <a:lvl1pPr marL="257175" indent="-257175" algn="l">
              <a:buFont typeface="Wingdings" panose="05000000000000000000" pitchFamily="2" charset="2"/>
              <a:buChar char="n"/>
              <a:defRPr sz="1200">
                <a:solidFill>
                  <a:schemeClr val="tx1">
                    <a:lumMod val="95000"/>
                    <a:lumOff val="5000"/>
                  </a:schemeClr>
                </a:solidFill>
                <a:latin typeface="微軟正黑體" pitchFamily="34" charset="-120"/>
                <a:ea typeface="微軟正黑體" pitchFamily="34" charset="-120"/>
              </a:defRPr>
            </a:lvl1pPr>
          </a:lstStyle>
          <a:p>
            <a:pPr lvl="0"/>
            <a:r>
              <a:rPr lang="zh-TW" altLang="en-US" dirty="0"/>
              <a:t>按一下以編輯母片文字樣式</a:t>
            </a:r>
          </a:p>
        </p:txBody>
      </p:sp>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Tree>
    <p:extLst>
      <p:ext uri="{BB962C8B-B14F-4D97-AF65-F5344CB8AC3E}">
        <p14:creationId xmlns:p14="http://schemas.microsoft.com/office/powerpoint/2010/main" val="154831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9_兩項物件">
    <p:spTree>
      <p:nvGrpSpPr>
        <p:cNvPr id="1" name=""/>
        <p:cNvGrpSpPr/>
        <p:nvPr/>
      </p:nvGrpSpPr>
      <p:grpSpPr>
        <a:xfrm>
          <a:off x="0" y="0"/>
          <a:ext cx="0" cy="0"/>
          <a:chOff x="0" y="0"/>
          <a:chExt cx="0" cy="0"/>
        </a:xfrm>
      </p:grpSpPr>
      <p:sp>
        <p:nvSpPr>
          <p:cNvPr id="15" name="文字版面配置區 7"/>
          <p:cNvSpPr>
            <a:spLocks noGrp="1"/>
          </p:cNvSpPr>
          <p:nvPr>
            <p:ph type="body" sz="quarter" idx="12"/>
          </p:nvPr>
        </p:nvSpPr>
        <p:spPr>
          <a:xfrm>
            <a:off x="467544" y="6192000"/>
            <a:ext cx="7290000" cy="288032"/>
          </a:xfrm>
          <a:prstGeom prst="rect">
            <a:avLst/>
          </a:prstGeom>
        </p:spPr>
        <p:txBody>
          <a:bodyPr>
            <a:normAutofit/>
          </a:bodyPr>
          <a:lstStyle>
            <a:lvl1pPr marL="0" indent="0">
              <a:buFontTx/>
              <a:buNone/>
              <a:defRPr sz="900">
                <a:solidFill>
                  <a:schemeClr val="tx1"/>
                </a:solidFill>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
        <p:nvSpPr>
          <p:cNvPr id="10" name="標題 1"/>
          <p:cNvSpPr>
            <a:spLocks noGrp="1"/>
          </p:cNvSpPr>
          <p:nvPr>
            <p:ph type="title"/>
          </p:nvPr>
        </p:nvSpPr>
        <p:spPr>
          <a:xfrm>
            <a:off x="1061610" y="188640"/>
            <a:ext cx="7614475" cy="720000"/>
          </a:xfrm>
          <a:prstGeom prst="rect">
            <a:avLst/>
          </a:prstGeom>
        </p:spPr>
        <p:txBody>
          <a:bodyPr anchor="b">
            <a:noAutofit/>
          </a:bodyPr>
          <a:lstStyle>
            <a:lvl1pPr algn="l">
              <a:defRPr sz="2100" b="1">
                <a:solidFill>
                  <a:schemeClr val="tx2">
                    <a:lumMod val="75000"/>
                  </a:schemeClr>
                </a:solidFill>
                <a:latin typeface="微軟正黑體" pitchFamily="34" charset="-120"/>
                <a:ea typeface="微軟正黑體" pitchFamily="34" charset="-120"/>
              </a:defRPr>
            </a:lvl1pPr>
          </a:lstStyle>
          <a:p>
            <a:r>
              <a:rPr lang="zh-TW" altLang="en-US" dirty="0"/>
              <a:t>按一下以編輯母片標題樣式</a:t>
            </a:r>
          </a:p>
        </p:txBody>
      </p:sp>
      <p:sp>
        <p:nvSpPr>
          <p:cNvPr id="9" name="內容版面配置區 8"/>
          <p:cNvSpPr>
            <a:spLocks noGrp="1"/>
          </p:cNvSpPr>
          <p:nvPr>
            <p:ph sz="quarter" idx="20"/>
          </p:nvPr>
        </p:nvSpPr>
        <p:spPr>
          <a:xfrm>
            <a:off x="475060" y="1017312"/>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16" name="內容版面配置區 8"/>
          <p:cNvSpPr>
            <a:spLocks noGrp="1"/>
          </p:cNvSpPr>
          <p:nvPr>
            <p:ph sz="quarter" idx="21"/>
          </p:nvPr>
        </p:nvSpPr>
        <p:spPr>
          <a:xfrm>
            <a:off x="4626456" y="1053296"/>
            <a:ext cx="4050000" cy="5040000"/>
          </a:xfrm>
          <a:prstGeom prst="rect">
            <a:avLst/>
          </a:prstGeo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Tree>
    <p:extLst>
      <p:ext uri="{BB962C8B-B14F-4D97-AF65-F5344CB8AC3E}">
        <p14:creationId xmlns:p14="http://schemas.microsoft.com/office/powerpoint/2010/main" val="19013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b="1">
                <a:latin typeface="微軟正黑體" pitchFamily="34" charset="-120"/>
                <a:ea typeface="微軟正黑體" pitchFamily="34" charset="-120"/>
              </a:defRPr>
            </a:lvl1pPr>
          </a:lstStyle>
          <a:p>
            <a:r>
              <a:rPr lang="zh-TW" altLang="en-US" dirty="0"/>
              <a:t>按一下以編輯母片標題樣式</a:t>
            </a:r>
          </a:p>
        </p:txBody>
      </p:sp>
      <p:sp>
        <p:nvSpPr>
          <p:cNvPr id="10" name="內容版面配置區 3"/>
          <p:cNvSpPr>
            <a:spLocks noGrp="1"/>
          </p:cNvSpPr>
          <p:nvPr>
            <p:ph sz="half" idx="2"/>
          </p:nvPr>
        </p:nvSpPr>
        <p:spPr>
          <a:xfrm>
            <a:off x="467544" y="1268761"/>
            <a:ext cx="8219256" cy="5040560"/>
          </a:xfrm>
          <a:prstGeom prst="rect">
            <a:avLst/>
          </a:prstGeom>
        </p:spPr>
        <p:txBody>
          <a:bodyPr/>
          <a:lstStyle>
            <a:lvl1pPr>
              <a:defRPr sz="1800">
                <a:latin typeface="微軟正黑體" pitchFamily="34" charset="-120"/>
                <a:ea typeface="微軟正黑體" pitchFamily="34" charset="-120"/>
              </a:defRPr>
            </a:lvl1pPr>
            <a:lvl2pPr marL="557213" indent="-214313">
              <a:buFont typeface="Wingdings" panose="05000000000000000000" pitchFamily="2" charset="2"/>
              <a:buChar char="Ø"/>
              <a:defRPr sz="1500" b="0">
                <a:latin typeface="微軟正黑體" pitchFamily="34" charset="-120"/>
                <a:ea typeface="微軟正黑體" pitchFamily="34" charset="-120"/>
              </a:defRPr>
            </a:lvl2pPr>
            <a:lvl3pPr marL="857250" indent="-171450">
              <a:buFont typeface="Wingdings" panose="05000000000000000000" pitchFamily="2" charset="2"/>
              <a:buChar char="ü"/>
              <a:defRPr sz="1350">
                <a:latin typeface="微軟正黑體" pitchFamily="34" charset="-120"/>
                <a:ea typeface="微軟正黑體" pitchFamily="34" charset="-120"/>
              </a:defRPr>
            </a:lvl3pPr>
            <a:lvl4pPr>
              <a:defRPr sz="12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11" name="投影片編號版面配置區 10"/>
          <p:cNvSpPr>
            <a:spLocks noGrp="1"/>
          </p:cNvSpPr>
          <p:nvPr>
            <p:ph type="sldNum" sz="quarter" idx="10"/>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633048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6" name="內容版面配置區 3"/>
          <p:cNvSpPr>
            <a:spLocks noGrp="1"/>
          </p:cNvSpPr>
          <p:nvPr>
            <p:ph sz="half" idx="2"/>
          </p:nvPr>
        </p:nvSpPr>
        <p:spPr>
          <a:xfrm>
            <a:off x="467544"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7" name="內容版面配置區 3"/>
          <p:cNvSpPr>
            <a:spLocks noGrp="1"/>
          </p:cNvSpPr>
          <p:nvPr>
            <p:ph sz="half" idx="16"/>
          </p:nvPr>
        </p:nvSpPr>
        <p:spPr>
          <a:xfrm>
            <a:off x="4644009" y="3168000"/>
            <a:ext cx="4032448" cy="2952328"/>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dirty="0"/>
              <a:t>按一下以編輯母片文字樣式</a:t>
            </a:r>
          </a:p>
          <a:p>
            <a:pPr lvl="1"/>
            <a:r>
              <a:rPr lang="zh-TW" altLang="en-US" dirty="0"/>
              <a:t>第二層</a:t>
            </a:r>
          </a:p>
          <a:p>
            <a:pPr lvl="2"/>
            <a:r>
              <a:rPr lang="zh-TW" altLang="en-US" dirty="0"/>
              <a:t>第三層</a:t>
            </a:r>
          </a:p>
          <a:p>
            <a:pPr lvl="3"/>
            <a:r>
              <a:rPr lang="zh-TW" altLang="en-US" dirty="0"/>
              <a:t>第四層</a:t>
            </a:r>
          </a:p>
        </p:txBody>
      </p:sp>
      <p:sp>
        <p:nvSpPr>
          <p:cNvPr id="8" name="文字版面配置區 2"/>
          <p:cNvSpPr>
            <a:spLocks noGrp="1"/>
          </p:cNvSpPr>
          <p:nvPr>
            <p:ph type="body" sz="quarter" idx="17"/>
          </p:nvPr>
        </p:nvSpPr>
        <p:spPr>
          <a:xfrm>
            <a:off x="467546" y="273600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3" name="文字版面配置區 2"/>
          <p:cNvSpPr>
            <a:spLocks noGrp="1"/>
          </p:cNvSpPr>
          <p:nvPr>
            <p:ph type="body" sz="quarter" idx="18"/>
          </p:nvPr>
        </p:nvSpPr>
        <p:spPr>
          <a:xfrm>
            <a:off x="4644779" y="273600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dirty="0"/>
              <a:t>按一下以編輯母片文字樣式</a:t>
            </a:r>
          </a:p>
        </p:txBody>
      </p:sp>
      <p:sp>
        <p:nvSpPr>
          <p:cNvPr id="14" name="文字版面配置區 2"/>
          <p:cNvSpPr>
            <a:spLocks noGrp="1"/>
          </p:cNvSpPr>
          <p:nvPr>
            <p:ph type="body" sz="quarter" idx="11"/>
          </p:nvPr>
        </p:nvSpPr>
        <p:spPr>
          <a:xfrm>
            <a:off x="468315" y="1268760"/>
            <a:ext cx="8208143" cy="1224136"/>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7"/>
          <p:cNvSpPr>
            <a:spLocks noGrp="1"/>
          </p:cNvSpPr>
          <p:nvPr>
            <p:ph type="body" sz="quarter" idx="12"/>
          </p:nvPr>
        </p:nvSpPr>
        <p:spPr>
          <a:xfrm>
            <a:off x="467544" y="6192000"/>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dirty="0"/>
              <a:t>按一下以編輯母片文字樣式</a:t>
            </a:r>
          </a:p>
        </p:txBody>
      </p:sp>
      <p:sp>
        <p:nvSpPr>
          <p:cNvPr id="2" name="投影片編號版面配置區 1"/>
          <p:cNvSpPr>
            <a:spLocks noGrp="1"/>
          </p:cNvSpPr>
          <p:nvPr>
            <p:ph type="sldNum" sz="quarter" idx="19"/>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977986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0" name="文字版面配置區 2"/>
          <p:cNvSpPr>
            <a:spLocks noGrp="1"/>
          </p:cNvSpPr>
          <p:nvPr>
            <p:ph type="body" sz="quarter" idx="17"/>
          </p:nvPr>
        </p:nvSpPr>
        <p:spPr>
          <a:xfrm>
            <a:off x="468314"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1" name="內容版面配置區 3"/>
          <p:cNvSpPr>
            <a:spLocks noGrp="1"/>
          </p:cNvSpPr>
          <p:nvPr>
            <p:ph sz="half" idx="16"/>
          </p:nvPr>
        </p:nvSpPr>
        <p:spPr>
          <a:xfrm>
            <a:off x="4644009"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2" name="文字版面配置區 2"/>
          <p:cNvSpPr>
            <a:spLocks noGrp="1"/>
          </p:cNvSpPr>
          <p:nvPr>
            <p:ph type="body" sz="quarter" idx="18"/>
          </p:nvPr>
        </p:nvSpPr>
        <p:spPr>
          <a:xfrm>
            <a:off x="467546" y="1268760"/>
            <a:ext cx="4031679" cy="360040"/>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3" name="文字版面配置區 2"/>
          <p:cNvSpPr>
            <a:spLocks noGrp="1"/>
          </p:cNvSpPr>
          <p:nvPr>
            <p:ph type="body" sz="quarter" idx="19"/>
          </p:nvPr>
        </p:nvSpPr>
        <p:spPr>
          <a:xfrm>
            <a:off x="4644779" y="1268760"/>
            <a:ext cx="4031679" cy="360040"/>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6" name="文字版面配置區 2"/>
          <p:cNvSpPr>
            <a:spLocks noGrp="1"/>
          </p:cNvSpPr>
          <p:nvPr>
            <p:ph type="body" sz="quarter" idx="20"/>
          </p:nvPr>
        </p:nvSpPr>
        <p:spPr>
          <a:xfrm>
            <a:off x="4644779" y="4797152"/>
            <a:ext cx="4031679" cy="1152128"/>
          </a:xfrm>
          <a:prstGeom prst="rect">
            <a:avLst/>
          </a:prstGeom>
        </p:spPr>
        <p:txBody>
          <a:bodyPr>
            <a:normAutofit/>
          </a:bodyPr>
          <a:lstStyle>
            <a:lvl1pPr marL="257175" indent="-257175" algn="l">
              <a:buFont typeface="Arial" pitchFamily="34" charset="0"/>
              <a:buChar char="•"/>
              <a:defRPr sz="1200">
                <a:solidFill>
                  <a:schemeClr val="tx1">
                    <a:lumMod val="95000"/>
                    <a:lumOff val="5000"/>
                  </a:schemeClr>
                </a:solidFill>
                <a:latin typeface="微軟正黑體" pitchFamily="34" charset="-120"/>
                <a:ea typeface="微軟正黑體" pitchFamily="34" charset="-120"/>
              </a:defRPr>
            </a:lvl1pPr>
          </a:lstStyle>
          <a:p>
            <a:pPr lvl="0"/>
            <a:r>
              <a:rPr lang="zh-TW" altLang="en-US"/>
              <a:t>按一下以編輯母片文字樣式</a:t>
            </a:r>
          </a:p>
        </p:txBody>
      </p:sp>
      <p:sp>
        <p:nvSpPr>
          <p:cNvPr id="17" name="文字版面配置區 7"/>
          <p:cNvSpPr>
            <a:spLocks noGrp="1"/>
          </p:cNvSpPr>
          <p:nvPr>
            <p:ph type="body" sz="quarter" idx="1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18" name="內容版面配置區 3"/>
          <p:cNvSpPr>
            <a:spLocks noGrp="1"/>
          </p:cNvSpPr>
          <p:nvPr>
            <p:ph sz="half" idx="21"/>
          </p:nvPr>
        </p:nvSpPr>
        <p:spPr>
          <a:xfrm>
            <a:off x="467544" y="1700808"/>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Tree>
    <p:extLst>
      <p:ext uri="{BB962C8B-B14F-4D97-AF65-F5344CB8AC3E}">
        <p14:creationId xmlns:p14="http://schemas.microsoft.com/office/powerpoint/2010/main" val="3635577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7_兩項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14" name="文字版面配置區 2"/>
          <p:cNvSpPr>
            <a:spLocks noGrp="1"/>
          </p:cNvSpPr>
          <p:nvPr>
            <p:ph type="body" sz="quarter" idx="18"/>
          </p:nvPr>
        </p:nvSpPr>
        <p:spPr>
          <a:xfrm>
            <a:off x="467546" y="1268760"/>
            <a:ext cx="4031679" cy="792088"/>
          </a:xfrm>
          <a:prstGeom prst="rect">
            <a:avLst/>
          </a:prstGeom>
        </p:spPr>
        <p:txBody>
          <a:bodyPr>
            <a:noAutofit/>
          </a:bodyPr>
          <a:lstStyle>
            <a:lvl1pPr marL="214313" indent="-214313"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5" name="文字版面配置區 2"/>
          <p:cNvSpPr>
            <a:spLocks noGrp="1"/>
          </p:cNvSpPr>
          <p:nvPr>
            <p:ph type="body" sz="quarter" idx="19"/>
          </p:nvPr>
        </p:nvSpPr>
        <p:spPr>
          <a:xfrm>
            <a:off x="4644779" y="1268760"/>
            <a:ext cx="4031679" cy="792088"/>
          </a:xfrm>
          <a:prstGeom prst="rect">
            <a:avLst/>
          </a:prstGeom>
        </p:spPr>
        <p:txBody>
          <a:bodyPr>
            <a:noAutofit/>
          </a:bodyPr>
          <a:lstStyle>
            <a:lvl1pPr marL="257175" indent="-257175" algn="l">
              <a:buFont typeface="Arial" pitchFamily="34" charset="0"/>
              <a:buChar char="•"/>
              <a:defRPr sz="1350">
                <a:solidFill>
                  <a:srgbClr val="C00000"/>
                </a:solidFill>
                <a:latin typeface="微軟正黑體" pitchFamily="34" charset="-120"/>
                <a:ea typeface="微軟正黑體" pitchFamily="34" charset="-120"/>
              </a:defRPr>
            </a:lvl1pPr>
          </a:lstStyle>
          <a:p>
            <a:pPr lvl="0"/>
            <a:r>
              <a:rPr lang="zh-TW" altLang="en-US"/>
              <a:t>按一下以編輯母片文字樣式</a:t>
            </a:r>
          </a:p>
        </p:txBody>
      </p:sp>
      <p:sp>
        <p:nvSpPr>
          <p:cNvPr id="19" name="文字版面配置區 7"/>
          <p:cNvSpPr>
            <a:spLocks noGrp="1"/>
          </p:cNvSpPr>
          <p:nvPr>
            <p:ph type="body" sz="quarter" idx="12"/>
          </p:nvPr>
        </p:nvSpPr>
        <p:spPr>
          <a:xfrm>
            <a:off x="467544" y="5229201"/>
            <a:ext cx="8208912" cy="720080"/>
          </a:xfrm>
          <a:prstGeom prst="rect">
            <a:avLst/>
          </a:prstGeom>
        </p:spPr>
        <p:txBody>
          <a:bodyPr>
            <a:normAutofit/>
          </a:bodyPr>
          <a:lstStyle>
            <a:lvl1pPr marL="128588" indent="-128588">
              <a:buFont typeface="Arial" pitchFamily="34" charset="0"/>
              <a:buChar char="•"/>
              <a:defRPr sz="900">
                <a:latin typeface="微軟正黑體" pitchFamily="34" charset="-120"/>
                <a:ea typeface="微軟正黑體" pitchFamily="34" charset="-120"/>
              </a:defRPr>
            </a:lvl1pPr>
          </a:lstStyle>
          <a:p>
            <a:pPr lvl="0"/>
            <a:r>
              <a:rPr lang="zh-TW" altLang="en-US"/>
              <a:t>按一下以編輯母片文字樣式</a:t>
            </a:r>
          </a:p>
        </p:txBody>
      </p:sp>
      <p:sp>
        <p:nvSpPr>
          <p:cNvPr id="20" name="內容版面配置區 3"/>
          <p:cNvSpPr>
            <a:spLocks noGrp="1"/>
          </p:cNvSpPr>
          <p:nvPr>
            <p:ph sz="half" idx="20"/>
          </p:nvPr>
        </p:nvSpPr>
        <p:spPr>
          <a:xfrm>
            <a:off x="4644009"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1" name="內容版面配置區 3"/>
          <p:cNvSpPr>
            <a:spLocks noGrp="1"/>
          </p:cNvSpPr>
          <p:nvPr>
            <p:ph sz="half" idx="2"/>
          </p:nvPr>
        </p:nvSpPr>
        <p:spPr>
          <a:xfrm>
            <a:off x="467544" y="2132856"/>
            <a:ext cx="4032448" cy="3024336"/>
          </a:xfrm>
          <a:prstGeom prst="rect">
            <a:avLst/>
          </a:prstGeom>
        </p:spPr>
        <p:txBody>
          <a:bodyPr/>
          <a:lstStyle>
            <a:lvl1pPr marL="0" indent="0">
              <a:buFontTx/>
              <a:buNone/>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05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zh-TW" altLang="en-US" dirty="0"/>
          </a:p>
        </p:txBody>
      </p:sp>
      <p:sp>
        <p:nvSpPr>
          <p:cNvPr id="2" name="投影片編號版面配置區 1"/>
          <p:cNvSpPr>
            <a:spLocks noGrp="1"/>
          </p:cNvSpPr>
          <p:nvPr>
            <p:ph type="sldNum" sz="quarter" idx="21"/>
          </p:nvPr>
        </p:nvSpPr>
        <p:spPr/>
        <p:txBody>
          <a:bodyPr/>
          <a:lstStyle/>
          <a:p>
            <a:fld id="{415482FC-CF5F-466A-B8B6-BC3733E92023}" type="slidenum">
              <a:rPr lang="zh-TW" altLang="en-US" smtClean="0"/>
              <a:pPr/>
              <a:t>‹#›</a:t>
            </a:fld>
            <a:endParaRPr lang="zh-TW" altLang="en-US" dirty="0"/>
          </a:p>
        </p:txBody>
      </p:sp>
      <p:sp>
        <p:nvSpPr>
          <p:cNvPr id="10" name="文字版面配置區 7"/>
          <p:cNvSpPr>
            <a:spLocks noGrp="1"/>
          </p:cNvSpPr>
          <p:nvPr>
            <p:ph type="body" sz="quarter" idx="22"/>
          </p:nvPr>
        </p:nvSpPr>
        <p:spPr>
          <a:xfrm>
            <a:off x="467544" y="6021289"/>
            <a:ext cx="8208912"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Tree>
    <p:extLst>
      <p:ext uri="{BB962C8B-B14F-4D97-AF65-F5344CB8AC3E}">
        <p14:creationId xmlns:p14="http://schemas.microsoft.com/office/powerpoint/2010/main" val="4456832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8_標題及物件">
    <p:spTree>
      <p:nvGrpSpPr>
        <p:cNvPr id="1" name=""/>
        <p:cNvGrpSpPr/>
        <p:nvPr/>
      </p:nvGrpSpPr>
      <p:grpSpPr>
        <a:xfrm>
          <a:off x="0" y="0"/>
          <a:ext cx="0" cy="0"/>
          <a:chOff x="0" y="0"/>
          <a:chExt cx="0" cy="0"/>
        </a:xfrm>
      </p:grpSpPr>
      <p:sp>
        <p:nvSpPr>
          <p:cNvPr id="9" name="標題 1"/>
          <p:cNvSpPr>
            <a:spLocks noGrp="1"/>
          </p:cNvSpPr>
          <p:nvPr>
            <p:ph type="title"/>
          </p:nvPr>
        </p:nvSpPr>
        <p:spPr>
          <a:xfrm>
            <a:off x="457200" y="692697"/>
            <a:ext cx="8229600" cy="504056"/>
          </a:xfrm>
          <a:prstGeom prst="rect">
            <a:avLst/>
          </a:prstGeom>
        </p:spPr>
        <p:txBody>
          <a:bodyPr>
            <a:noAutofit/>
          </a:bodyPr>
          <a:lstStyle>
            <a:lvl1pPr algn="l">
              <a:defRPr sz="2100">
                <a:latin typeface="微軟正黑體" pitchFamily="34" charset="-120"/>
                <a:ea typeface="微軟正黑體" pitchFamily="34" charset="-120"/>
              </a:defRPr>
            </a:lvl1pPr>
          </a:lstStyle>
          <a:p>
            <a:r>
              <a:rPr lang="zh-TW" altLang="en-US"/>
              <a:t>按一下以編輯母片標題樣式</a:t>
            </a:r>
            <a:endParaRPr lang="zh-TW" altLang="en-US" dirty="0"/>
          </a:p>
        </p:txBody>
      </p:sp>
      <p:sp>
        <p:nvSpPr>
          <p:cNvPr id="8" name="文字版面配置區 3"/>
          <p:cNvSpPr>
            <a:spLocks noGrp="1"/>
          </p:cNvSpPr>
          <p:nvPr>
            <p:ph type="body" sz="half" idx="2"/>
          </p:nvPr>
        </p:nvSpPr>
        <p:spPr>
          <a:xfrm>
            <a:off x="5597355" y="1268761"/>
            <a:ext cx="3079103" cy="4608512"/>
          </a:xfrm>
          <a:prstGeom prst="rect">
            <a:avLst/>
          </a:prstGeom>
        </p:spPr>
        <p:txBody>
          <a:bodyPr>
            <a:normAutofit/>
          </a:bodyPr>
          <a:lstStyle>
            <a:lvl1pPr marL="214313" indent="-214313">
              <a:buFont typeface="Arial" pitchFamily="34" charset="0"/>
              <a:buChar char="•"/>
              <a:defRPr sz="1200">
                <a:latin typeface="微軟正黑體" pitchFamily="34" charset="-120"/>
                <a:ea typeface="微軟正黑體" pitchFamily="34" charset="-12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TW" altLang="en-US"/>
              <a:t>按一下以編輯母片文字樣式</a:t>
            </a:r>
          </a:p>
        </p:txBody>
      </p:sp>
      <p:sp>
        <p:nvSpPr>
          <p:cNvPr id="10" name="內容版面配置區 3"/>
          <p:cNvSpPr>
            <a:spLocks noGrp="1"/>
          </p:cNvSpPr>
          <p:nvPr>
            <p:ph sz="half" idx="10"/>
          </p:nvPr>
        </p:nvSpPr>
        <p:spPr>
          <a:xfrm>
            <a:off x="467545" y="1268760"/>
            <a:ext cx="5040560" cy="4248472"/>
          </a:xfrm>
          <a:prstGeom prst="rect">
            <a:avLst/>
          </a:prstGeom>
        </p:spPr>
        <p:txBody>
          <a:bodyPr/>
          <a:lstStyle>
            <a:lvl1pPr>
              <a:defRPr sz="1350">
                <a:latin typeface="微軟正黑體" pitchFamily="34" charset="-120"/>
                <a:ea typeface="微軟正黑體" pitchFamily="34" charset="-120"/>
              </a:defRPr>
            </a:lvl1pPr>
            <a:lvl2pPr>
              <a:defRPr sz="1200">
                <a:latin typeface="微軟正黑體" pitchFamily="34" charset="-120"/>
                <a:ea typeface="微軟正黑體" pitchFamily="34" charset="-120"/>
              </a:defRPr>
            </a:lvl2pPr>
            <a:lvl3pPr>
              <a:defRPr sz="1050">
                <a:latin typeface="微軟正黑體" pitchFamily="34" charset="-120"/>
                <a:ea typeface="微軟正黑體" pitchFamily="34" charset="-120"/>
              </a:defRPr>
            </a:lvl3pPr>
            <a:lvl4pPr>
              <a:defRPr sz="900">
                <a:latin typeface="微軟正黑體" pitchFamily="34" charset="-120"/>
                <a:ea typeface="微軟正黑體" pitchFamily="34" charset="-120"/>
              </a:defRPr>
            </a:lvl4pPr>
            <a:lvl5pPr>
              <a:defRPr sz="1200">
                <a:latin typeface="微軟正黑體" pitchFamily="34" charset="-120"/>
                <a:ea typeface="微軟正黑體" pitchFamily="34" charset="-120"/>
              </a:defRPr>
            </a:lvl5pPr>
            <a:lvl6pPr>
              <a:defRPr sz="1200"/>
            </a:lvl6pPr>
            <a:lvl7pPr>
              <a:defRPr sz="1200"/>
            </a:lvl7pPr>
            <a:lvl8pPr>
              <a:defRPr sz="1200"/>
            </a:lvl8pPr>
            <a:lvl9pPr>
              <a:defRPr sz="12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p:txBody>
      </p:sp>
      <p:sp>
        <p:nvSpPr>
          <p:cNvPr id="11" name="文字版面配置區 7"/>
          <p:cNvSpPr>
            <a:spLocks noGrp="1"/>
          </p:cNvSpPr>
          <p:nvPr>
            <p:ph type="body" sz="quarter" idx="12"/>
          </p:nvPr>
        </p:nvSpPr>
        <p:spPr>
          <a:xfrm>
            <a:off x="467545" y="5589241"/>
            <a:ext cx="5040560" cy="288032"/>
          </a:xfrm>
          <a:prstGeom prst="rect">
            <a:avLst/>
          </a:prstGeom>
        </p:spPr>
        <p:txBody>
          <a:bodyPr>
            <a:normAutofit/>
          </a:bodyPr>
          <a:lstStyle>
            <a:lvl1pPr marL="0" indent="0">
              <a:buFontTx/>
              <a:buNone/>
              <a:defRPr sz="900">
                <a:latin typeface="微軟正黑體" pitchFamily="34" charset="-120"/>
                <a:ea typeface="微軟正黑體" pitchFamily="34" charset="-120"/>
              </a:defRPr>
            </a:lvl1pPr>
          </a:lstStyle>
          <a:p>
            <a:pPr lvl="0"/>
            <a:r>
              <a:rPr lang="zh-TW" altLang="en-US"/>
              <a:t>按一下以編輯母片文字樣式</a:t>
            </a:r>
          </a:p>
        </p:txBody>
      </p:sp>
      <p:sp>
        <p:nvSpPr>
          <p:cNvPr id="2" name="投影片編號版面配置區 1"/>
          <p:cNvSpPr>
            <a:spLocks noGrp="1"/>
          </p:cNvSpPr>
          <p:nvPr>
            <p:ph type="sldNum" sz="quarter" idx="13"/>
          </p:nvPr>
        </p:nvSpPr>
        <p:spPr/>
        <p:txBody>
          <a:bodyPr/>
          <a:lstStyle/>
          <a:p>
            <a:fld id="{415482FC-CF5F-466A-B8B6-BC3733E92023}" type="slidenum">
              <a:rPr lang="zh-TW" altLang="en-US" smtClean="0"/>
              <a:pPr/>
              <a:t>‹#›</a:t>
            </a:fld>
            <a:endParaRPr lang="zh-TW" altLang="en-US" dirty="0"/>
          </a:p>
        </p:txBody>
      </p:sp>
    </p:spTree>
    <p:extLst>
      <p:ext uri="{BB962C8B-B14F-4D97-AF65-F5344CB8AC3E}">
        <p14:creationId xmlns:p14="http://schemas.microsoft.com/office/powerpoint/2010/main" val="37848695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9_免責聲明">
    <p:spTree>
      <p:nvGrpSpPr>
        <p:cNvPr id="1" name=""/>
        <p:cNvGrpSpPr/>
        <p:nvPr/>
      </p:nvGrpSpPr>
      <p:grpSpPr>
        <a:xfrm>
          <a:off x="0" y="0"/>
          <a:ext cx="0" cy="0"/>
          <a:chOff x="0" y="0"/>
          <a:chExt cx="0" cy="0"/>
        </a:xfrm>
      </p:grpSpPr>
      <p:sp>
        <p:nvSpPr>
          <p:cNvPr id="2" name="投影片編號版面配置區 1"/>
          <p:cNvSpPr>
            <a:spLocks noGrp="1"/>
          </p:cNvSpPr>
          <p:nvPr>
            <p:ph type="sldNum" sz="quarter" idx="18"/>
          </p:nvPr>
        </p:nvSpPr>
        <p:spPr/>
        <p:txBody>
          <a:bodyPr/>
          <a:lstStyle/>
          <a:p>
            <a:fld id="{415482FC-CF5F-466A-B8B6-BC3733E92023}" type="slidenum">
              <a:rPr lang="zh-TW" altLang="en-US" smtClean="0"/>
              <a:pPr/>
              <a:t>‹#›</a:t>
            </a:fld>
            <a:endParaRPr lang="zh-TW" altLang="en-US" dirty="0"/>
          </a:p>
        </p:txBody>
      </p:sp>
      <p:sp>
        <p:nvSpPr>
          <p:cNvPr id="3" name="矩形 2"/>
          <p:cNvSpPr/>
          <p:nvPr/>
        </p:nvSpPr>
        <p:spPr>
          <a:xfrm>
            <a:off x="518013" y="836715"/>
            <a:ext cx="7992888" cy="507831"/>
          </a:xfrm>
          <a:prstGeom prst="rect">
            <a:avLst/>
          </a:prstGeom>
        </p:spPr>
        <p:txBody>
          <a:bodyPr wrap="square">
            <a:spAutoFit/>
          </a:bodyPr>
          <a:lstStyle/>
          <a:p>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endParaRPr lang="en-US" altLang="zh-TW" sz="1350" dirty="0">
              <a:latin typeface="微軟正黑體" pitchFamily="34" charset="-120"/>
              <a:ea typeface="微軟正黑體" pitchFamily="34" charset="-120"/>
            </a:endParaRPr>
          </a:p>
        </p:txBody>
      </p:sp>
      <p:sp>
        <p:nvSpPr>
          <p:cNvPr id="5" name="矩形 4"/>
          <p:cNvSpPr/>
          <p:nvPr userDrawn="1"/>
        </p:nvSpPr>
        <p:spPr>
          <a:xfrm>
            <a:off x="518013" y="836712"/>
            <a:ext cx="7992888" cy="2169825"/>
          </a:xfrm>
          <a:prstGeom prst="rect">
            <a:avLst/>
          </a:prstGeom>
        </p:spPr>
        <p:txBody>
          <a:bodyPr wrap="square">
            <a:spAutoFit/>
          </a:bodyPr>
          <a:lstStyle/>
          <a:p>
            <a:pPr algn="just"/>
            <a:r>
              <a:rPr lang="zh-TW" altLang="zh-TW" sz="1350" dirty="0">
                <a:solidFill>
                  <a:srgbClr val="FF0000"/>
                </a:solidFill>
                <a:latin typeface="微軟正黑體" pitchFamily="34" charset="-120"/>
                <a:ea typeface="微軟正黑體" pitchFamily="34" charset="-120"/>
              </a:rPr>
              <a:t>免責宣言說明</a:t>
            </a:r>
            <a:endParaRPr lang="en-US" altLang="zh-TW" sz="1350" dirty="0">
              <a:solidFill>
                <a:srgbClr val="FF0000"/>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免責聲明</a:t>
            </a:r>
            <a:r>
              <a:rPr lang="en-US" altLang="zh-TW" sz="1350" dirty="0">
                <a:latin typeface="微軟正黑體" pitchFamily="34" charset="-120"/>
                <a:ea typeface="微軟正黑體" pitchFamily="34" charset="-120"/>
              </a:rPr>
              <a:t>:</a:t>
            </a:r>
          </a:p>
          <a:p>
            <a:pPr algn="just"/>
            <a:r>
              <a:rPr lang="zh-TW" altLang="en-US" sz="1350" dirty="0">
                <a:latin typeface="微軟正黑體" pitchFamily="34" charset="-120"/>
                <a:ea typeface="微軟正黑體" pitchFamily="34" charset="-120"/>
              </a:rPr>
              <a:t>台新證券投資顧問股份有限公司 </a:t>
            </a:r>
            <a:r>
              <a:rPr lang="en-US" altLang="zh-TW" sz="1350" dirty="0">
                <a:latin typeface="微軟正黑體" pitchFamily="34" charset="-120"/>
                <a:ea typeface="微軟正黑體" pitchFamily="34" charset="-120"/>
              </a:rPr>
              <a:t>(02)5589-9558  Fax:(02)3707-6769  </a:t>
            </a:r>
            <a:r>
              <a:rPr lang="zh-TW" altLang="en-US" sz="1350" dirty="0">
                <a:latin typeface="微軟正黑體" pitchFamily="34" charset="-120"/>
                <a:ea typeface="微軟正黑體" pitchFamily="34" charset="-120"/>
              </a:rPr>
              <a:t>地址</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台北市仁愛路四段</a:t>
            </a:r>
            <a:r>
              <a:rPr lang="en-US" altLang="zh-TW" sz="1350" dirty="0">
                <a:latin typeface="微軟正黑體" pitchFamily="34" charset="-120"/>
                <a:ea typeface="微軟正黑體" pitchFamily="34" charset="-120"/>
              </a:rPr>
              <a:t>118</a:t>
            </a:r>
            <a:r>
              <a:rPr lang="zh-TW" altLang="en-US" sz="1350" dirty="0">
                <a:latin typeface="微軟正黑體" pitchFamily="34" charset="-120"/>
                <a:ea typeface="微軟正黑體" pitchFamily="34" charset="-120"/>
              </a:rPr>
              <a:t>號</a:t>
            </a:r>
            <a:r>
              <a:rPr lang="en-US" altLang="zh-TW" sz="1350" dirty="0">
                <a:latin typeface="微軟正黑體" pitchFamily="34" charset="-120"/>
                <a:ea typeface="微軟正黑體" pitchFamily="34" charset="-120"/>
              </a:rPr>
              <a:t>16</a:t>
            </a:r>
            <a:r>
              <a:rPr lang="zh-TW" altLang="en-US" sz="1350" dirty="0">
                <a:latin typeface="微軟正黑體" pitchFamily="34" charset="-120"/>
                <a:ea typeface="微軟正黑體" pitchFamily="34" charset="-120"/>
              </a:rPr>
              <a:t>樓  一百零八金管投顧新字第零壹柒號。本報告所載係根據各項市場資訊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加以整理、彙集及研究分析。僅供參考，本公司不保證其正確性及完整性。內容如涉及有價證券或金融商品相關記載或說明，並不構成要約、招攬、宣傳、建議或推薦買賣等任何形式之表示，投資人如參考本報告進行相關投資或交易，應自行承擔所有損益</a:t>
            </a:r>
            <a:r>
              <a:rPr lang="en-US" altLang="zh-TW" sz="1350" dirty="0">
                <a:latin typeface="微軟正黑體" pitchFamily="34" charset="-120"/>
                <a:ea typeface="微軟正黑體" pitchFamily="34" charset="-120"/>
              </a:rPr>
              <a:t>, </a:t>
            </a:r>
            <a:r>
              <a:rPr lang="zh-TW" altLang="en-US" sz="1350" dirty="0">
                <a:latin typeface="微軟正黑體" pitchFamily="34" charset="-120"/>
                <a:ea typeface="微軟正黑體" pitchFamily="34" charset="-120"/>
              </a:rPr>
              <a:t>本公司不負任何法律責任。另本公司同時擔任木星基金總代理人，惟本公司投資研究部門與招攬木星基金之業務部門，不相隸屬且予適當區隔，不致侵害客戶利益。此外，非經本公司同意，不得將本報告內容之部份或全部加以複製、轉載或散布。</a:t>
            </a:r>
            <a:endParaRPr lang="en-US" altLang="zh-TW" sz="1350" dirty="0">
              <a:latin typeface="微軟正黑體" pitchFamily="34" charset="-120"/>
              <a:ea typeface="微軟正黑體" pitchFamily="34" charset="-120"/>
            </a:endParaRPr>
          </a:p>
        </p:txBody>
      </p:sp>
    </p:spTree>
    <p:extLst>
      <p:ext uri="{BB962C8B-B14F-4D97-AF65-F5344CB8AC3E}">
        <p14:creationId xmlns:p14="http://schemas.microsoft.com/office/powerpoint/2010/main" val="12031420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投影片編號版面配置區 5"/>
          <p:cNvSpPr>
            <a:spLocks noGrp="1"/>
          </p:cNvSpPr>
          <p:nvPr>
            <p:ph type="sldNum" sz="quarter" idx="4"/>
          </p:nvPr>
        </p:nvSpPr>
        <p:spPr>
          <a:xfrm>
            <a:off x="197514" y="6381328"/>
            <a:ext cx="395064" cy="288032"/>
          </a:xfrm>
          <a:prstGeom prst="rect">
            <a:avLst/>
          </a:prstGeom>
        </p:spPr>
        <p:txBody>
          <a:bodyPr/>
          <a:lstStyle>
            <a:lvl1pPr>
              <a:defRPr sz="900">
                <a:latin typeface="Arial" pitchFamily="34" charset="0"/>
                <a:cs typeface="Arial" pitchFamily="34" charset="0"/>
              </a:defRPr>
            </a:lvl1pPr>
          </a:lstStyle>
          <a:p>
            <a:fld id="{415482FC-CF5F-466A-B8B6-BC3733E92023}" type="slidenum">
              <a:rPr lang="zh-TW" altLang="en-US" smtClean="0"/>
              <a:pPr/>
              <a:t>‹#›</a:t>
            </a:fld>
            <a:endParaRPr lang="zh-TW" altLang="en-US" dirty="0"/>
          </a:p>
        </p:txBody>
      </p:sp>
      <p:cxnSp>
        <p:nvCxnSpPr>
          <p:cNvPr id="7" name="直接连接符 14">
            <a:extLst>
              <a:ext uri="{FF2B5EF4-FFF2-40B4-BE49-F238E27FC236}">
                <a16:creationId xmlns:a16="http://schemas.microsoft.com/office/drawing/2014/main" id="{EC0A9803-A926-48F3-9681-2B42C0C06D43}"/>
              </a:ext>
            </a:extLst>
          </p:cNvPr>
          <p:cNvCxnSpPr>
            <a:cxnSpLocks/>
          </p:cNvCxnSpPr>
          <p:nvPr userDrawn="1"/>
        </p:nvCxnSpPr>
        <p:spPr>
          <a:xfrm>
            <a:off x="467544" y="6519747"/>
            <a:ext cx="7173346" cy="0"/>
          </a:xfrm>
          <a:prstGeom prst="line">
            <a:avLst/>
          </a:prstGeom>
          <a:ln w="28575">
            <a:solidFill>
              <a:srgbClr val="DE0000"/>
            </a:solidFill>
            <a:round/>
          </a:ln>
          <a:effectLst/>
          <a:scene3d>
            <a:camera prst="orthographicFront"/>
            <a:lightRig rig="threePt" dir="t"/>
          </a:scene3d>
          <a:sp3d prstMaterial="matte">
            <a:bevelB w="0" h="0"/>
          </a:sp3d>
        </p:spPr>
        <p:style>
          <a:lnRef idx="1">
            <a:schemeClr val="accent1"/>
          </a:lnRef>
          <a:fillRef idx="0">
            <a:schemeClr val="accent1"/>
          </a:fillRef>
          <a:effectRef idx="0">
            <a:schemeClr val="accent1"/>
          </a:effectRef>
          <a:fontRef idx="minor">
            <a:schemeClr val="tx1"/>
          </a:fontRef>
        </p:style>
      </p:cxnSp>
      <p:grpSp>
        <p:nvGrpSpPr>
          <p:cNvPr id="5" name="群組 4"/>
          <p:cNvGrpSpPr/>
          <p:nvPr userDrawn="1"/>
        </p:nvGrpSpPr>
        <p:grpSpPr>
          <a:xfrm>
            <a:off x="7758354" y="6450842"/>
            <a:ext cx="1253784" cy="233799"/>
            <a:chOff x="2747814" y="218978"/>
            <a:chExt cx="3060153" cy="491493"/>
          </a:xfrm>
        </p:grpSpPr>
        <p:pic>
          <p:nvPicPr>
            <p:cNvPr id="6" name="Picture 2" descr="台新綜合證券股份有限公司等包銷聯上實業股份有限公司國內第三次無擔保轉">
              <a:extLst>
                <a:ext uri="{FF2B5EF4-FFF2-40B4-BE49-F238E27FC236}">
                  <a16:creationId xmlns:a16="http://schemas.microsoft.com/office/drawing/2014/main" id="{2FD9BB75-12CC-AE4F-BABA-8091371005B8}"/>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2747814" y="350046"/>
              <a:ext cx="1583173" cy="360425"/>
            </a:xfrm>
            <a:prstGeom prst="rect">
              <a:avLst/>
            </a:prstGeom>
            <a:noFill/>
            <a:extLst>
              <a:ext uri="{909E8E84-426E-40DD-AFC4-6F175D3DCCD1}">
                <a14:hiddenFill xmlns:a14="http://schemas.microsoft.com/office/drawing/2010/main">
                  <a:solidFill>
                    <a:srgbClr val="FFFFFF"/>
                  </a:solidFill>
                </a14:hiddenFill>
              </a:ext>
            </a:extLst>
          </p:spPr>
        </p:pic>
        <p:pic>
          <p:nvPicPr>
            <p:cNvPr id="8" name="圖片 7"/>
            <p:cNvPicPr>
              <a:picLocks noChangeAspect="1"/>
            </p:cNvPicPr>
            <p:nvPr/>
          </p:nvPicPr>
          <p:blipFill rotWithShape="1">
            <a:blip r:embed="rId15" cstate="screen">
              <a:extLst>
                <a:ext uri="{28A0092B-C50C-407E-A947-70E740481C1C}">
                  <a14:useLocalDpi xmlns:a14="http://schemas.microsoft.com/office/drawing/2010/main"/>
                </a:ext>
              </a:extLst>
            </a:blip>
            <a:srcRect r="72177" b="35515"/>
            <a:stretch/>
          </p:blipFill>
          <p:spPr>
            <a:xfrm>
              <a:off x="4330987" y="218978"/>
              <a:ext cx="1476980" cy="473718"/>
            </a:xfrm>
            <a:prstGeom prst="rect">
              <a:avLst/>
            </a:prstGeom>
          </p:spPr>
        </p:pic>
      </p:grpSp>
      <p:sp>
        <p:nvSpPr>
          <p:cNvPr id="9" name="矩形 8">
            <a:extLst>
              <a:ext uri="{FF2B5EF4-FFF2-40B4-BE49-F238E27FC236}">
                <a16:creationId xmlns:a16="http://schemas.microsoft.com/office/drawing/2014/main" id="{A3B58A0A-0CAB-FE6A-53DF-18ED3B3EFA00}"/>
              </a:ext>
            </a:extLst>
          </p:cNvPr>
          <p:cNvSpPr/>
          <p:nvPr userDrawn="1"/>
        </p:nvSpPr>
        <p:spPr>
          <a:xfrm>
            <a:off x="6732240" y="0"/>
            <a:ext cx="2412000" cy="187558"/>
          </a:xfrm>
          <a:prstGeom prst="rect">
            <a:avLst/>
          </a:prstGeom>
          <a:gradFill flip="none" rotWithShape="1">
            <a:gsLst>
              <a:gs pos="26000">
                <a:srgbClr val="ECE8E5"/>
              </a:gs>
              <a:gs pos="7000">
                <a:schemeClr val="bg1"/>
              </a:gs>
              <a:gs pos="99000">
                <a:schemeClr val="bg1">
                  <a:lumMod val="8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sz="1350"/>
          </a:p>
        </p:txBody>
      </p:sp>
      <p:pic>
        <p:nvPicPr>
          <p:cNvPr id="11" name="圖片 10"/>
          <p:cNvPicPr>
            <a:picLocks noChangeAspect="1"/>
          </p:cNvPicPr>
          <p:nvPr userDrawn="1"/>
        </p:nvPicPr>
        <p:blipFill>
          <a:blip r:embed="rId16"/>
          <a:stretch>
            <a:fillRect/>
          </a:stretch>
        </p:blipFill>
        <p:spPr>
          <a:xfrm>
            <a:off x="7308304" y="-16771"/>
            <a:ext cx="1999661" cy="256054"/>
          </a:xfrm>
          <a:prstGeom prst="rect">
            <a:avLst/>
          </a:prstGeom>
        </p:spPr>
      </p:pic>
    </p:spTree>
    <p:extLst>
      <p:ext uri="{BB962C8B-B14F-4D97-AF65-F5344CB8AC3E}">
        <p14:creationId xmlns:p14="http://schemas.microsoft.com/office/powerpoint/2010/main" val="2055990614"/>
      </p:ext>
    </p:extLst>
  </p:cSld>
  <p:clrMap bg1="lt1" tx1="dk1" bg2="lt2" tx2="dk2" accent1="accent1" accent2="accent2" accent3="accent3" accent4="accent4" accent5="accent5" accent6="accent6" hlink="hlink" folHlink="folHlink"/>
  <p:sldLayoutIdLst>
    <p:sldLayoutId id="2147483669" r:id="rId1"/>
    <p:sldLayoutId id="2147483678" r:id="rId2"/>
    <p:sldLayoutId id="2147483682" r:id="rId3"/>
    <p:sldLayoutId id="2147483681" r:id="rId4"/>
    <p:sldLayoutId id="2147483679" r:id="rId5"/>
    <p:sldLayoutId id="2147483680" r:id="rId6"/>
    <p:sldLayoutId id="2147483671" r:id="rId7"/>
    <p:sldLayoutId id="2147483673" r:id="rId8"/>
    <p:sldLayoutId id="2147483674" r:id="rId9"/>
    <p:sldLayoutId id="2147483675" r:id="rId10"/>
    <p:sldLayoutId id="2147483676" r:id="rId11"/>
    <p:sldLayoutId id="2147483677" r:id="rId12"/>
  </p:sldLayoutIdLst>
  <p:hf hdr="0" ftr="0" dt="0"/>
  <p:txStyles>
    <p:titleStyle>
      <a:lvl1pPr algn="ctr" defTabSz="6858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zh-TW"/>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chart" Target="../charts/chart1.xml"/><Relationship Id="rId7"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chart" Target="../charts/chart2.xml"/><Relationship Id="rId4" Type="http://schemas.openxmlformats.org/officeDocument/2006/relationships/hyperlink" Target="https://www.sama.gov.sa/en-US/pages/default.aspx" TargetMode="External"/></Relationships>
</file>

<file path=ppt/slides/_rels/slide4.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chart" Target="../charts/chart3.xml"/><Relationship Id="rId5" Type="http://schemas.openxmlformats.org/officeDocument/2006/relationships/image" Target="../media/image6.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4">
            <a:extLst>
              <a:ext uri="{FF2B5EF4-FFF2-40B4-BE49-F238E27FC236}">
                <a16:creationId xmlns:a16="http://schemas.microsoft.com/office/drawing/2014/main" id="{E00585DD-8CF0-48CC-936F-C37175E0D479}"/>
              </a:ext>
            </a:extLst>
          </p:cNvPr>
          <p:cNvSpPr txBox="1">
            <a:spLocks/>
          </p:cNvSpPr>
          <p:nvPr/>
        </p:nvSpPr>
        <p:spPr>
          <a:xfrm>
            <a:off x="1907704" y="2852936"/>
            <a:ext cx="5184576" cy="576064"/>
          </a:xfrm>
          <a:prstGeom prst="rect">
            <a:avLst/>
          </a:prstGeom>
        </p:spPr>
        <p:txBody>
          <a:bodyPr>
            <a:noAutofit/>
          </a:bodyPr>
          <a:lstStyle>
            <a:lvl1pPr algn="l" defTabSz="685800" rtl="0" eaLnBrk="1" latinLnBrk="0" hangingPunct="1">
              <a:spcBef>
                <a:spcPct val="0"/>
              </a:spcBef>
              <a:buNone/>
              <a:defRPr sz="3000" b="1" kern="1200">
                <a:solidFill>
                  <a:schemeClr val="bg1">
                    <a:lumMod val="50000"/>
                  </a:schemeClr>
                </a:solidFill>
                <a:latin typeface="微軟正黑體" pitchFamily="34" charset="-120"/>
                <a:ea typeface="微軟正黑體" pitchFamily="34" charset="-120"/>
                <a:cs typeface="+mj-cs"/>
              </a:defRPr>
            </a:lvl1pPr>
          </a:lstStyle>
          <a:p>
            <a:pPr>
              <a:defRPr/>
            </a:pPr>
            <a:r>
              <a:rPr lang="zh-TW" altLang="en-US" dirty="0">
                <a:solidFill>
                  <a:schemeClr val="tx1">
                    <a:lumMod val="50000"/>
                    <a:lumOff val="50000"/>
                  </a:schemeClr>
                </a:solidFill>
              </a:rPr>
              <a:t>沙烏地阿拉伯</a:t>
            </a:r>
            <a:endParaRPr lang="en-US" altLang="zh-TW" dirty="0">
              <a:solidFill>
                <a:schemeClr val="tx1">
                  <a:lumMod val="50000"/>
                  <a:lumOff val="50000"/>
                </a:schemeClr>
              </a:solidFill>
            </a:endParaRPr>
          </a:p>
        </p:txBody>
      </p:sp>
      <p:sp>
        <p:nvSpPr>
          <p:cNvPr id="2" name="矩形 1"/>
          <p:cNvSpPr/>
          <p:nvPr/>
        </p:nvSpPr>
        <p:spPr>
          <a:xfrm>
            <a:off x="1907704" y="3502169"/>
            <a:ext cx="4152996" cy="430887"/>
          </a:xfrm>
          <a:prstGeom prst="rect">
            <a:avLst/>
          </a:prstGeom>
        </p:spPr>
        <p:txBody>
          <a:bodyPr wrap="none">
            <a:spAutoFit/>
          </a:bodyPr>
          <a:lstStyle/>
          <a:p>
            <a:r>
              <a:rPr lang="en-US" altLang="zh-TW" sz="2200" b="1" dirty="0">
                <a:solidFill>
                  <a:schemeClr val="tx1">
                    <a:lumMod val="50000"/>
                    <a:lumOff val="50000"/>
                  </a:schemeClr>
                </a:solidFill>
              </a:rPr>
              <a:t>The Kingdom of Saudi Arabia</a:t>
            </a:r>
          </a:p>
        </p:txBody>
      </p:sp>
      <p:pic>
        <p:nvPicPr>
          <p:cNvPr id="5" name="Picture 2" descr="Flag of Saudi Arabia.svg">
            <a:extLst>
              <a:ext uri="{FF2B5EF4-FFF2-40B4-BE49-F238E27FC236}">
                <a16:creationId xmlns:a16="http://schemas.microsoft.com/office/drawing/2014/main" id="{73F224A7-ECF9-2879-E7CD-5BA1E0E9D5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552" y="2555929"/>
            <a:ext cx="1110960" cy="74035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6" name="表格 5">
            <a:extLst>
              <a:ext uri="{FF2B5EF4-FFF2-40B4-BE49-F238E27FC236}">
                <a16:creationId xmlns:a16="http://schemas.microsoft.com/office/drawing/2014/main" id="{34B53A9F-BFDA-41B6-B8DC-95F9A35A0741}"/>
              </a:ext>
            </a:extLst>
          </p:cNvPr>
          <p:cNvGraphicFramePr>
            <a:graphicFrameLocks noGrp="1"/>
          </p:cNvGraphicFramePr>
          <p:nvPr>
            <p:extLst>
              <p:ext uri="{D42A27DB-BD31-4B8C-83A1-F6EECF244321}">
                <p14:modId xmlns:p14="http://schemas.microsoft.com/office/powerpoint/2010/main" val="873964365"/>
              </p:ext>
            </p:extLst>
          </p:nvPr>
        </p:nvGraphicFramePr>
        <p:xfrm>
          <a:off x="1115616" y="4149080"/>
          <a:ext cx="6819900" cy="974863"/>
        </p:xfrm>
        <a:graphic>
          <a:graphicData uri="http://schemas.openxmlformats.org/drawingml/2006/table">
            <a:tbl>
              <a:tblPr/>
              <a:tblGrid>
                <a:gridCol w="927100">
                  <a:extLst>
                    <a:ext uri="{9D8B030D-6E8A-4147-A177-3AD203B41FA5}">
                      <a16:colId xmlns:a16="http://schemas.microsoft.com/office/drawing/2014/main" val="2431230819"/>
                    </a:ext>
                  </a:extLst>
                </a:gridCol>
                <a:gridCol w="927100">
                  <a:extLst>
                    <a:ext uri="{9D8B030D-6E8A-4147-A177-3AD203B41FA5}">
                      <a16:colId xmlns:a16="http://schemas.microsoft.com/office/drawing/2014/main" val="4186104954"/>
                    </a:ext>
                  </a:extLst>
                </a:gridCol>
                <a:gridCol w="810096">
                  <a:extLst>
                    <a:ext uri="{9D8B030D-6E8A-4147-A177-3AD203B41FA5}">
                      <a16:colId xmlns:a16="http://schemas.microsoft.com/office/drawing/2014/main" val="1983523619"/>
                    </a:ext>
                  </a:extLst>
                </a:gridCol>
                <a:gridCol w="504056">
                  <a:extLst>
                    <a:ext uri="{9D8B030D-6E8A-4147-A177-3AD203B41FA5}">
                      <a16:colId xmlns:a16="http://schemas.microsoft.com/office/drawing/2014/main" val="949459868"/>
                    </a:ext>
                  </a:extLst>
                </a:gridCol>
                <a:gridCol w="1797348">
                  <a:extLst>
                    <a:ext uri="{9D8B030D-6E8A-4147-A177-3AD203B41FA5}">
                      <a16:colId xmlns:a16="http://schemas.microsoft.com/office/drawing/2014/main" val="1946720866"/>
                    </a:ext>
                  </a:extLst>
                </a:gridCol>
                <a:gridCol w="927100">
                  <a:extLst>
                    <a:ext uri="{9D8B030D-6E8A-4147-A177-3AD203B41FA5}">
                      <a16:colId xmlns:a16="http://schemas.microsoft.com/office/drawing/2014/main" val="1238084409"/>
                    </a:ext>
                  </a:extLst>
                </a:gridCol>
                <a:gridCol w="927100">
                  <a:extLst>
                    <a:ext uri="{9D8B030D-6E8A-4147-A177-3AD203B41FA5}">
                      <a16:colId xmlns:a16="http://schemas.microsoft.com/office/drawing/2014/main" val="3617222459"/>
                    </a:ext>
                  </a:extLst>
                </a:gridCol>
              </a:tblGrid>
              <a:tr h="254069">
                <a:tc>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商品</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發行機構</a:t>
                      </a:r>
                      <a:endParaRPr lang="en-US" altLang="zh-TW" sz="1100" b="1" i="0" u="none" strike="noStrike" dirty="0">
                        <a:solidFill>
                          <a:srgbClr val="FFFFFF"/>
                        </a:solidFill>
                        <a:effectLst/>
                        <a:latin typeface="微軟正黑體" panose="020B0604030504040204" pitchFamily="34" charset="-120"/>
                        <a:ea typeface="微軟正黑體" panose="020B0604030504040204" pitchFamily="34" charset="-120"/>
                      </a:endParaRP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票息</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幣別</a:t>
                      </a:r>
                    </a:p>
                  </a:txBody>
                  <a:tcPr marL="9525" marR="9525" marT="9525" marB="0" anchor="ctr">
                    <a:lnL>
                      <a:noFill/>
                    </a:lnL>
                    <a:lnR>
                      <a:noFill/>
                    </a:lnR>
                    <a:lnT>
                      <a:noFill/>
                    </a:lnT>
                    <a:lnB>
                      <a:noFill/>
                    </a:lnB>
                    <a:solidFill>
                      <a:srgbClr val="C00000"/>
                    </a:solidFill>
                  </a:tcPr>
                </a:tc>
                <a:tc>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信用評等</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a:solidFill>
                            <a:srgbClr val="FFFFFF"/>
                          </a:solidFill>
                          <a:effectLst/>
                          <a:latin typeface="微軟正黑體" panose="020B0604030504040204" pitchFamily="34" charset="-120"/>
                          <a:ea typeface="微軟正黑體" panose="020B0604030504040204" pitchFamily="34" charset="-120"/>
                        </a:rPr>
                        <a:t>償債順位</a:t>
                      </a:r>
                    </a:p>
                  </a:txBody>
                  <a:tcPr marL="9525" marR="9525" marT="9525" marB="0" anchor="ctr">
                    <a:lnL>
                      <a:noFill/>
                    </a:lnL>
                    <a:lnR>
                      <a:noFill/>
                    </a:lnR>
                    <a:lnT>
                      <a:noFill/>
                    </a:lnT>
                    <a:lnB>
                      <a:noFill/>
                    </a:lnB>
                    <a:solidFill>
                      <a:srgbClr val="C00000"/>
                    </a:solidFill>
                  </a:tcPr>
                </a:tc>
                <a:tc rowSpan="2">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到期日</a:t>
                      </a:r>
                    </a:p>
                  </a:txBody>
                  <a:tcPr marL="9525" marR="9525" marT="9525" marB="0" anchor="ctr">
                    <a:lnL>
                      <a:noFill/>
                    </a:lnL>
                    <a:lnR>
                      <a:noFill/>
                    </a:lnR>
                    <a:lnT>
                      <a:noFill/>
                    </a:lnT>
                    <a:lnB>
                      <a:noFill/>
                    </a:lnB>
                    <a:solidFill>
                      <a:srgbClr val="C00000"/>
                    </a:solidFill>
                  </a:tcPr>
                </a:tc>
                <a:extLst>
                  <a:ext uri="{0D108BD9-81ED-4DB2-BD59-A6C34878D82A}">
                    <a16:rowId xmlns:a16="http://schemas.microsoft.com/office/drawing/2014/main" val="2608105475"/>
                  </a:ext>
                </a:extLst>
              </a:tr>
              <a:tr h="254069">
                <a:tc>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代號</a:t>
                      </a:r>
                    </a:p>
                  </a:txBody>
                  <a:tcPr marL="9525" marR="9525" marT="9525" marB="0" anchor="ctr">
                    <a:lnL>
                      <a:noFill/>
                    </a:lnL>
                    <a:lnR>
                      <a:noFill/>
                    </a:lnR>
                    <a:lnT>
                      <a:noFill/>
                    </a:lnT>
                    <a:lnB>
                      <a:noFill/>
                    </a:lnB>
                    <a:solidFill>
                      <a:srgbClr val="C00000"/>
                    </a:solidFill>
                  </a:tcPr>
                </a:tc>
                <a:tc vMerge="1">
                  <a:txBody>
                    <a:bodyPr/>
                    <a:lstStyle/>
                    <a:p>
                      <a:endParaRPr lang="zh-TW" altLang="en-US"/>
                    </a:p>
                  </a:txBody>
                  <a:tcPr/>
                </a:tc>
                <a:tc vMerge="1">
                  <a:txBody>
                    <a:bodyPr/>
                    <a:lstStyle/>
                    <a:p>
                      <a:endParaRPr lang="zh-TW" altLang="en-US"/>
                    </a:p>
                  </a:txBody>
                  <a:tcPr/>
                </a:tc>
                <a:tc vMerge="1">
                  <a:txBody>
                    <a:bodyPr/>
                    <a:lstStyle/>
                    <a:p>
                      <a:pPr algn="ctr" rtl="0" fontAlgn="ctr"/>
                      <a:r>
                        <a:rPr lang="zh-TW" altLang="en-US" sz="1100" b="1" i="0" u="none" strike="noStrike" dirty="0">
                          <a:solidFill>
                            <a:srgbClr val="FFFFFF"/>
                          </a:solidFill>
                          <a:effectLst/>
                          <a:latin typeface="微軟正黑體" panose="020B0604030504040204" pitchFamily="34" charset="-120"/>
                          <a:ea typeface="微軟正黑體" panose="020B0604030504040204" pitchFamily="34" charset="-120"/>
                        </a:rPr>
                        <a:t>幣別</a:t>
                      </a:r>
                    </a:p>
                  </a:txBody>
                  <a:tcPr marL="9525" marR="9525" marT="9525" marB="0" anchor="ctr">
                    <a:lnL>
                      <a:noFill/>
                    </a:lnL>
                    <a:lnR>
                      <a:noFill/>
                    </a:lnR>
                    <a:lnT>
                      <a:noFill/>
                    </a:lnT>
                    <a:lnB>
                      <a:noFill/>
                    </a:lnB>
                    <a:solidFill>
                      <a:srgbClr val="C00000"/>
                    </a:solidFill>
                  </a:tcPr>
                </a:tc>
                <a:tc>
                  <a:txBody>
                    <a:bodyPr/>
                    <a:lstStyle/>
                    <a:p>
                      <a:pPr algn="ctr" rtl="0" fontAlgn="ctr"/>
                      <a:r>
                        <a:rPr lang="en-US" sz="1100" b="1" i="0" u="none" strike="noStrike" dirty="0">
                          <a:solidFill>
                            <a:srgbClr val="FFFFFF"/>
                          </a:solidFill>
                          <a:effectLst/>
                          <a:latin typeface="微軟正黑體" panose="020B0604030504040204" pitchFamily="34" charset="-120"/>
                          <a:ea typeface="微軟正黑體" panose="020B0604030504040204" pitchFamily="34" charset="-120"/>
                        </a:rPr>
                        <a:t>Moody/ S&amp;P / Fitch</a:t>
                      </a:r>
                    </a:p>
                  </a:txBody>
                  <a:tcPr marL="9525" marR="9525" marT="9525" marB="0" anchor="ctr">
                    <a:lnL>
                      <a:noFill/>
                    </a:lnL>
                    <a:lnR>
                      <a:noFill/>
                    </a:lnR>
                    <a:lnT>
                      <a:noFill/>
                    </a:lnT>
                    <a:lnB>
                      <a:noFill/>
                    </a:lnB>
                    <a:solidFill>
                      <a:srgbClr val="C00000"/>
                    </a:solidFill>
                  </a:tcPr>
                </a:tc>
                <a:tc vMerge="1">
                  <a:txBody>
                    <a:bodyPr/>
                    <a:lstStyle/>
                    <a:p>
                      <a:endParaRPr lang="zh-TW" altLang="en-US"/>
                    </a:p>
                  </a:txBody>
                  <a:tcPr/>
                </a:tc>
                <a:tc vMerge="1">
                  <a:txBody>
                    <a:bodyPr/>
                    <a:lstStyle/>
                    <a:p>
                      <a:endParaRPr lang="zh-TW" altLang="en-US"/>
                    </a:p>
                  </a:txBody>
                  <a:tcPr/>
                </a:tc>
                <a:extLst>
                  <a:ext uri="{0D108BD9-81ED-4DB2-BD59-A6C34878D82A}">
                    <a16:rowId xmlns:a16="http://schemas.microsoft.com/office/drawing/2014/main" val="133559202"/>
                  </a:ext>
                </a:extLst>
              </a:tr>
              <a:tr h="232214">
                <a:tc>
                  <a:txBody>
                    <a:bodyPr/>
                    <a:lstStyle/>
                    <a:p>
                      <a:pPr algn="ctr" rtl="0" fontAlgn="ctr"/>
                      <a:r>
                        <a:rPr lang="en-US" sz="1000" b="0" i="0" u="none" strike="noStrike" dirty="0">
                          <a:solidFill>
                            <a:srgbClr val="000000"/>
                          </a:solidFill>
                          <a:effectLst/>
                          <a:latin typeface="Arial" panose="020B0604020202020204" pitchFamily="34" charset="0"/>
                          <a:ea typeface="新細明體" panose="02020500000000000000" pitchFamily="18" charset="-120"/>
                        </a:rPr>
                        <a:t>CBON</a:t>
                      </a:r>
                    </a:p>
                  </a:txBody>
                  <a:tcPr marL="9525" marR="9525" marT="9525" marB="0" anchor="ctr">
                    <a:lnL>
                      <a:noFill/>
                    </a:lnL>
                    <a:lnR>
                      <a:noFill/>
                    </a:lnR>
                    <a:lnT>
                      <a:noFill/>
                    </a:lnT>
                    <a:lnB>
                      <a:noFill/>
                    </a:lnB>
                    <a:solidFill>
                      <a:srgbClr val="F2F2F2"/>
                    </a:solidFill>
                  </a:tcPr>
                </a:tc>
                <a:tc>
                  <a:txBody>
                    <a:bodyPr/>
                    <a:lstStyle/>
                    <a:p>
                      <a:pPr algn="ctr" rtl="0"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Saudi Government International</a:t>
                      </a:r>
                    </a:p>
                  </a:txBody>
                  <a:tcPr marL="9525" marR="9525" marT="9525" marB="0" anchor="ctr">
                    <a:lnL>
                      <a:noFill/>
                    </a:lnL>
                    <a:lnR>
                      <a:noFill/>
                    </a:lnR>
                    <a:lnT>
                      <a:noFill/>
                    </a:lnT>
                    <a:lnB>
                      <a:noFill/>
                    </a:lnB>
                  </a:tcPr>
                </a:tc>
                <a:tc>
                  <a:txBody>
                    <a:bodyPr/>
                    <a:lstStyle/>
                    <a:p>
                      <a:pPr algn="ctr" rtl="0"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5.750</a:t>
                      </a:r>
                    </a:p>
                  </a:txBody>
                  <a:tcPr marL="9525" marR="9525" marT="9525" marB="0" anchor="ctr">
                    <a:lnL>
                      <a:noFill/>
                    </a:lnL>
                    <a:lnR>
                      <a:noFill/>
                    </a:lnR>
                    <a:lnT>
                      <a:noFill/>
                    </a:lnT>
                    <a:lnB>
                      <a:noFill/>
                    </a:lnB>
                  </a:tcPr>
                </a:tc>
                <a:tc>
                  <a:txBody>
                    <a:bodyPr/>
                    <a:lstStyle/>
                    <a:p>
                      <a:pPr algn="ctr" rtl="0" fontAlgn="ctr"/>
                      <a:r>
                        <a:rPr lang="en-US" sz="1000" b="0" i="0" u="none" strike="noStrike">
                          <a:solidFill>
                            <a:srgbClr val="000000"/>
                          </a:solidFill>
                          <a:effectLst/>
                          <a:latin typeface="微軟正黑體" panose="020B0604030504040204" pitchFamily="34" charset="-120"/>
                          <a:ea typeface="微軟正黑體" panose="020B0604030504040204" pitchFamily="34" charset="-120"/>
                        </a:rPr>
                        <a:t>USD</a:t>
                      </a:r>
                    </a:p>
                  </a:txBody>
                  <a:tcPr marL="9525" marR="9525" marT="9525" marB="0" anchor="ctr">
                    <a:lnL>
                      <a:noFill/>
                    </a:lnL>
                    <a:lnR>
                      <a:noFill/>
                    </a:lnR>
                    <a:lnT>
                      <a:noFill/>
                    </a:lnT>
                    <a:lnB>
                      <a:noFill/>
                    </a:lnB>
                  </a:tcPr>
                </a:tc>
                <a:tc>
                  <a:txBody>
                    <a:bodyPr/>
                    <a:lstStyle/>
                    <a:p>
                      <a:pPr algn="ctr"/>
                      <a:r>
                        <a:rPr lang="pt-BR" altLang="zh-TW" sz="1000" dirty="0"/>
                        <a:t>Aa3</a:t>
                      </a:r>
                      <a:r>
                        <a:rPr lang="en-US" altLang="zh-TW" sz="1000" dirty="0"/>
                        <a:t>/--/</a:t>
                      </a:r>
                      <a:r>
                        <a:rPr lang="pt-BR" altLang="zh-TW" sz="1000" dirty="0"/>
                        <a:t>A+</a:t>
                      </a:r>
                    </a:p>
                  </a:txBody>
                  <a:tcPr marL="9525" marR="9525" marT="9525" marB="0" anchor="ctr">
                    <a:lnL>
                      <a:noFill/>
                    </a:lnL>
                    <a:lnR>
                      <a:noFill/>
                    </a:lnR>
                    <a:lnT>
                      <a:noFill/>
                    </a:lnT>
                    <a:lnB>
                      <a:noFill/>
                    </a:lnB>
                  </a:tcPr>
                </a:tc>
                <a:tc>
                  <a:txBody>
                    <a:bodyPr/>
                    <a:lstStyle/>
                    <a:p>
                      <a:pPr algn="ctr" rtl="0" fontAlgn="ctr"/>
                      <a:r>
                        <a:rPr lang="en-US" sz="1000" b="0" i="0" u="none" strike="noStrike" dirty="0">
                          <a:solidFill>
                            <a:srgbClr val="000000"/>
                          </a:solidFill>
                          <a:effectLst/>
                          <a:latin typeface="微軟正黑體" panose="020B0604030504040204" pitchFamily="34" charset="-120"/>
                          <a:ea typeface="微軟正黑體" panose="020B0604030504040204" pitchFamily="34" charset="-120"/>
                        </a:rPr>
                        <a:t>Sr Unsecured</a:t>
                      </a:r>
                    </a:p>
                  </a:txBody>
                  <a:tcPr marL="9525" marR="9525" marT="9525" marB="0" anchor="ctr">
                    <a:lnL>
                      <a:noFill/>
                    </a:lnL>
                    <a:lnR>
                      <a:noFill/>
                    </a:lnR>
                    <a:lnT>
                      <a:noFill/>
                    </a:lnT>
                    <a:lnB>
                      <a:noFill/>
                    </a:lnB>
                  </a:tcPr>
                </a:tc>
                <a:tc>
                  <a:txBody>
                    <a:bodyPr/>
                    <a:lstStyle/>
                    <a:p>
                      <a:pPr algn="ctr" rtl="0" fontAlgn="ctr"/>
                      <a:r>
                        <a:rPr lang="en-US" altLang="zh-TW" sz="1000" b="0" i="0" u="none" strike="noStrike" dirty="0">
                          <a:solidFill>
                            <a:srgbClr val="000000"/>
                          </a:solidFill>
                          <a:effectLst/>
                          <a:latin typeface="微軟正黑體" panose="020B0604030504040204" pitchFamily="34" charset="-120"/>
                          <a:ea typeface="微軟正黑體" panose="020B0604030504040204" pitchFamily="34" charset="-120"/>
                        </a:rPr>
                        <a:t>2054/1/16</a:t>
                      </a:r>
                    </a:p>
                  </a:txBody>
                  <a:tcPr marL="9525" marR="9525" marT="9525" marB="0" anchor="ctr">
                    <a:lnL>
                      <a:noFill/>
                    </a:lnL>
                    <a:lnR>
                      <a:noFill/>
                    </a:lnR>
                    <a:lnT>
                      <a:noFill/>
                    </a:lnT>
                    <a:lnB>
                      <a:noFill/>
                    </a:lnB>
                    <a:solidFill>
                      <a:schemeClr val="bg1"/>
                    </a:solidFill>
                  </a:tcPr>
                </a:tc>
                <a:extLst>
                  <a:ext uri="{0D108BD9-81ED-4DB2-BD59-A6C34878D82A}">
                    <a16:rowId xmlns:a16="http://schemas.microsoft.com/office/drawing/2014/main" val="2605237132"/>
                  </a:ext>
                </a:extLst>
              </a:tr>
            </a:tbl>
          </a:graphicData>
        </a:graphic>
      </p:graphicFrame>
    </p:spTree>
    <p:extLst>
      <p:ext uri="{BB962C8B-B14F-4D97-AF65-F5344CB8AC3E}">
        <p14:creationId xmlns:p14="http://schemas.microsoft.com/office/powerpoint/2010/main" val="22274388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圖表 27">
            <a:extLst>
              <a:ext uri="{FF2B5EF4-FFF2-40B4-BE49-F238E27FC236}">
                <a16:creationId xmlns:a16="http://schemas.microsoft.com/office/drawing/2014/main" id="{2EB5FC80-1C94-480A-B96D-080EBE5339FA}"/>
              </a:ext>
            </a:extLst>
          </p:cNvPr>
          <p:cNvGraphicFramePr>
            <a:graphicFrameLocks/>
          </p:cNvGraphicFramePr>
          <p:nvPr>
            <p:extLst>
              <p:ext uri="{D42A27DB-BD31-4B8C-83A1-F6EECF244321}">
                <p14:modId xmlns:p14="http://schemas.microsoft.com/office/powerpoint/2010/main" val="360960235"/>
              </p:ext>
            </p:extLst>
          </p:nvPr>
        </p:nvGraphicFramePr>
        <p:xfrm>
          <a:off x="2155363" y="4833723"/>
          <a:ext cx="3283286" cy="1617053"/>
        </p:xfrm>
        <a:graphic>
          <a:graphicData uri="http://schemas.openxmlformats.org/drawingml/2006/chart">
            <c:chart xmlns:c="http://schemas.openxmlformats.org/drawingml/2006/chart" xmlns:r="http://schemas.openxmlformats.org/officeDocument/2006/relationships" r:id="rId3"/>
          </a:graphicData>
        </a:graphic>
      </p:graphicFrame>
      <p:sp>
        <p:nvSpPr>
          <p:cNvPr id="29" name="文字方塊 22">
            <a:extLst>
              <a:ext uri="{FF2B5EF4-FFF2-40B4-BE49-F238E27FC236}">
                <a16:creationId xmlns:a16="http://schemas.microsoft.com/office/drawing/2014/main" id="{01A424C3-DC2B-4093-9EC1-45F0DE737D65}"/>
              </a:ext>
            </a:extLst>
          </p:cNvPr>
          <p:cNvSpPr txBox="1"/>
          <p:nvPr/>
        </p:nvSpPr>
        <p:spPr>
          <a:xfrm>
            <a:off x="2170198" y="4601164"/>
            <a:ext cx="3340062" cy="461665"/>
          </a:xfrm>
          <a:prstGeom prst="rect">
            <a:avLst/>
          </a:prstGeom>
          <a:noFill/>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TW" sz="1200" b="1" i="0" u="none" strike="noStrike" kern="1200" cap="none" spc="0" normalizeH="0" baseline="0" noProof="0" dirty="0">
                <a:ln>
                  <a:noFill/>
                </a:ln>
                <a:solidFill>
                  <a:srgbClr val="006F52"/>
                </a:solidFill>
                <a:effectLst/>
                <a:uLnTx/>
                <a:uFillTx/>
                <a:latin typeface="微軟正黑體"/>
                <a:ea typeface="微軟正黑體"/>
                <a:cs typeface="+mn-cs"/>
              </a:rPr>
              <a:t>IMF</a:t>
            </a:r>
            <a:r>
              <a:rPr kumimoji="0" lang="zh-TW" altLang="en-US" sz="1200" b="1" i="0" u="none" strike="noStrike" kern="1200" cap="none" spc="0" normalizeH="0" baseline="0" noProof="0" dirty="0">
                <a:ln>
                  <a:noFill/>
                </a:ln>
                <a:solidFill>
                  <a:srgbClr val="006F52"/>
                </a:solidFill>
                <a:effectLst/>
                <a:uLnTx/>
                <a:uFillTx/>
                <a:latin typeface="微軟正黑體"/>
                <a:ea typeface="微軟正黑體"/>
                <a:cs typeface="+mn-cs"/>
              </a:rPr>
              <a:t>預估沙國實質</a:t>
            </a:r>
            <a:r>
              <a:rPr kumimoji="0" lang="en-US" altLang="zh-TW" sz="1200" b="1" i="0" u="none" strike="noStrike" kern="1200" cap="none" spc="0" normalizeH="0" baseline="0" noProof="0" dirty="0">
                <a:ln>
                  <a:noFill/>
                </a:ln>
                <a:solidFill>
                  <a:srgbClr val="006F52"/>
                </a:solidFill>
                <a:effectLst/>
                <a:uLnTx/>
                <a:uFillTx/>
                <a:latin typeface="微軟正黑體"/>
                <a:ea typeface="微軟正黑體"/>
                <a:cs typeface="+mn-cs"/>
              </a:rPr>
              <a:t>GDP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200" b="1" i="0" u="none" strike="noStrike" kern="1200" cap="none" spc="0" normalizeH="0" baseline="0" noProof="0" dirty="0">
                <a:ln>
                  <a:noFill/>
                </a:ln>
                <a:solidFill>
                  <a:srgbClr val="006F52"/>
                </a:solidFill>
                <a:effectLst/>
                <a:uLnTx/>
                <a:uFillTx/>
                <a:latin typeface="微軟正黑體"/>
                <a:ea typeface="微軟正黑體"/>
                <a:cs typeface="+mn-cs"/>
              </a:rPr>
              <a:t>穩健</a:t>
            </a:r>
            <a:r>
              <a:rPr lang="zh-TW" altLang="en-US" sz="1200" b="1" dirty="0">
                <a:solidFill>
                  <a:srgbClr val="006F52"/>
                </a:solidFill>
                <a:latin typeface="微軟正黑體"/>
                <a:ea typeface="微軟正黑體"/>
              </a:rPr>
              <a:t>維持</a:t>
            </a:r>
            <a:r>
              <a:rPr lang="en-US" altLang="zh-TW" sz="1200" b="1" dirty="0">
                <a:solidFill>
                  <a:srgbClr val="006F52"/>
                </a:solidFill>
                <a:latin typeface="微軟正黑體"/>
                <a:ea typeface="微軟正黑體"/>
              </a:rPr>
              <a:t>3%</a:t>
            </a:r>
            <a:r>
              <a:rPr lang="zh-TW" altLang="en-US" sz="1200" b="1" dirty="0">
                <a:solidFill>
                  <a:srgbClr val="006F52"/>
                </a:solidFill>
                <a:latin typeface="微軟正黑體"/>
                <a:ea typeface="微軟正黑體"/>
              </a:rPr>
              <a:t>以上成長</a:t>
            </a:r>
            <a:endParaRPr kumimoji="0" lang="zh-TW" altLang="en-US" sz="1200" b="1" i="0" u="none" strike="noStrike" kern="1200" cap="none" spc="0" normalizeH="0" baseline="0" noProof="0" dirty="0">
              <a:ln>
                <a:noFill/>
              </a:ln>
              <a:solidFill>
                <a:srgbClr val="006F52"/>
              </a:solidFill>
              <a:effectLst/>
              <a:uLnTx/>
              <a:uFillTx/>
              <a:latin typeface="微軟正黑體"/>
              <a:ea typeface="微軟正黑體"/>
              <a:cs typeface="+mn-cs"/>
            </a:endParaRPr>
          </a:p>
        </p:txBody>
      </p:sp>
      <p:pic>
        <p:nvPicPr>
          <p:cNvPr id="5" name="圖片 4">
            <a:extLst>
              <a:ext uri="{FF2B5EF4-FFF2-40B4-BE49-F238E27FC236}">
                <a16:creationId xmlns:a16="http://schemas.microsoft.com/office/drawing/2014/main" id="{E620F441-E807-8648-4673-84E2EC4AC6A5}"/>
              </a:ext>
            </a:extLst>
          </p:cNvPr>
          <p:cNvPicPr>
            <a:picLocks noChangeAspect="1"/>
          </p:cNvPicPr>
          <p:nvPr/>
        </p:nvPicPr>
        <p:blipFill>
          <a:blip r:embed="rId4"/>
          <a:srcRect l="15257" r="10160"/>
          <a:stretch/>
        </p:blipFill>
        <p:spPr>
          <a:xfrm>
            <a:off x="738186" y="5010776"/>
            <a:ext cx="1432012" cy="1440000"/>
          </a:xfrm>
          <a:prstGeom prst="ellipse">
            <a:avLst/>
          </a:prstGeom>
        </p:spPr>
      </p:pic>
      <p:sp>
        <p:nvSpPr>
          <p:cNvPr id="2" name="投影片編號版面配置區 1"/>
          <p:cNvSpPr>
            <a:spLocks noGrp="1"/>
          </p:cNvSpPr>
          <p:nvPr>
            <p:ph type="sldNum" sz="quarter" idx="10"/>
          </p:nvPr>
        </p:nvSpPr>
        <p:spPr/>
        <p:txBody>
          <a:bodyPr/>
          <a:lstStyle/>
          <a:p>
            <a:fld id="{415482FC-CF5F-466A-B8B6-BC3733E92023}" type="slidenum">
              <a:rPr lang="zh-TW" altLang="en-US" smtClean="0">
                <a:latin typeface="微軟正黑體" panose="020B0604030504040204" pitchFamily="34" charset="-120"/>
                <a:ea typeface="微軟正黑體" panose="020B0604030504040204" pitchFamily="34" charset="-120"/>
              </a:rPr>
              <a:pPr/>
              <a:t>2</a:t>
            </a:fld>
            <a:endParaRPr lang="zh-TW" altLang="en-US" dirty="0">
              <a:latin typeface="微軟正黑體" panose="020B0604030504040204" pitchFamily="34" charset="-120"/>
              <a:ea typeface="微軟正黑體" panose="020B0604030504040204" pitchFamily="34" charset="-120"/>
            </a:endParaRPr>
          </a:p>
        </p:txBody>
      </p:sp>
      <p:sp>
        <p:nvSpPr>
          <p:cNvPr id="7" name="矩形 6"/>
          <p:cNvSpPr/>
          <p:nvPr/>
        </p:nvSpPr>
        <p:spPr>
          <a:xfrm>
            <a:off x="461487" y="6547585"/>
            <a:ext cx="4614569" cy="215444"/>
          </a:xfrm>
          <a:prstGeom prst="rect">
            <a:avLst/>
          </a:prstGeom>
        </p:spPr>
        <p:txBody>
          <a:bodyPr wrap="square">
            <a:spAutoFit/>
          </a:bodyPr>
          <a:lstStyle/>
          <a:p>
            <a:r>
              <a:rPr lang="zh-TW" altLang="en-US" sz="800" dirty="0">
                <a:latin typeface="微軟正黑體" panose="020B0604030504040204" pitchFamily="34" charset="-120"/>
                <a:ea typeface="微軟正黑體" panose="020B0604030504040204" pitchFamily="34" charset="-120"/>
              </a:rPr>
              <a:t>資料來源：貿易俱樂部、</a:t>
            </a:r>
            <a:r>
              <a:rPr lang="en-US" altLang="zh-TW" sz="800" dirty="0">
                <a:latin typeface="微軟正黑體" panose="020B0604030504040204" pitchFamily="34" charset="-120"/>
                <a:ea typeface="微軟正黑體" panose="020B0604030504040204" pitchFamily="34" charset="-120"/>
              </a:rPr>
              <a:t>IMF</a:t>
            </a:r>
            <a:r>
              <a:rPr lang="zh-TW" altLang="en-US" sz="800" dirty="0">
                <a:latin typeface="微軟正黑體" panose="020B0604030504040204" pitchFamily="34" charset="-120"/>
                <a:ea typeface="微軟正黑體" panose="020B0604030504040204" pitchFamily="34" charset="-120"/>
              </a:rPr>
              <a:t>、</a:t>
            </a:r>
            <a:r>
              <a:rPr lang="en-US" altLang="zh-TW" sz="800" dirty="0">
                <a:latin typeface="微軟正黑體" panose="020B0604030504040204" pitchFamily="34" charset="-120"/>
                <a:ea typeface="微軟正黑體" panose="020B0604030504040204" pitchFamily="34" charset="-120"/>
              </a:rPr>
              <a:t>World Bank</a:t>
            </a:r>
            <a:r>
              <a:rPr lang="zh-TW" altLang="en-US" sz="800" dirty="0">
                <a:latin typeface="微軟正黑體" panose="020B0604030504040204" pitchFamily="34" charset="-120"/>
                <a:ea typeface="微軟正黑體" panose="020B0604030504040204" pitchFamily="34" charset="-120"/>
              </a:rPr>
              <a:t>、</a:t>
            </a:r>
            <a:r>
              <a:rPr lang="en-US" altLang="zh-TW" sz="800" dirty="0">
                <a:latin typeface="微軟正黑體" panose="020B0604030504040204" pitchFamily="34" charset="-120"/>
                <a:ea typeface="微軟正黑體" panose="020B0604030504040204" pitchFamily="34" charset="-120"/>
              </a:rPr>
              <a:t>EIA</a:t>
            </a:r>
            <a:r>
              <a:rPr lang="zh-TW" altLang="en-US" sz="800" dirty="0">
                <a:latin typeface="微軟正黑體" panose="020B0604030504040204" pitchFamily="34" charset="-120"/>
                <a:ea typeface="微軟正黑體" panose="020B0604030504040204" pitchFamily="34" charset="-120"/>
              </a:rPr>
              <a:t>、</a:t>
            </a:r>
            <a:r>
              <a:rPr lang="en-US" altLang="zh-TW" sz="800" dirty="0">
                <a:latin typeface="微軟正黑體" panose="020B0604030504040204" pitchFamily="34" charset="-120"/>
                <a:ea typeface="微軟正黑體" panose="020B0604030504040204" pitchFamily="34" charset="-120"/>
              </a:rPr>
              <a:t>St. Louis Fed</a:t>
            </a:r>
            <a:r>
              <a:rPr lang="zh-TW" altLang="en-US" sz="800" dirty="0">
                <a:latin typeface="微軟正黑體" panose="020B0604030504040204" pitchFamily="34" charset="-120"/>
                <a:ea typeface="微軟正黑體" panose="020B0604030504040204" pitchFamily="34" charset="-120"/>
              </a:rPr>
              <a:t>、維基百科、新聞整理</a:t>
            </a:r>
          </a:p>
        </p:txBody>
      </p:sp>
      <p:sp>
        <p:nvSpPr>
          <p:cNvPr id="18" name="標題 38"/>
          <p:cNvSpPr txBox="1">
            <a:spLocks/>
          </p:cNvSpPr>
          <p:nvPr/>
        </p:nvSpPr>
        <p:spPr>
          <a:xfrm>
            <a:off x="448054" y="189928"/>
            <a:ext cx="5816355" cy="540000"/>
          </a:xfrm>
          <a:prstGeom prst="rect">
            <a:avLst/>
          </a:prstGeom>
        </p:spPr>
        <p:txBody>
          <a:bodyPr anchor="b">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r>
              <a:rPr lang="zh-TW" altLang="en-US" sz="2400" dirty="0"/>
              <a:t>沙烏地阿拉伯 </a:t>
            </a:r>
            <a:r>
              <a:rPr lang="zh-TW" altLang="en-US" sz="2000" dirty="0"/>
              <a:t>中東北非最大經濟體 </a:t>
            </a:r>
          </a:p>
        </p:txBody>
      </p:sp>
      <p:pic>
        <p:nvPicPr>
          <p:cNvPr id="13" name="圖片 12"/>
          <p:cNvPicPr>
            <a:picLocks noChangeAspect="1"/>
          </p:cNvPicPr>
          <p:nvPr/>
        </p:nvPicPr>
        <p:blipFill rotWithShape="1">
          <a:blip r:embed="rId5"/>
          <a:srcRect t="-1" r="71437" b="5854"/>
          <a:stretch/>
        </p:blipFill>
        <p:spPr>
          <a:xfrm>
            <a:off x="502050" y="836712"/>
            <a:ext cx="350010" cy="348686"/>
          </a:xfrm>
          <a:prstGeom prst="rect">
            <a:avLst/>
          </a:prstGeom>
        </p:spPr>
      </p:pic>
      <p:sp>
        <p:nvSpPr>
          <p:cNvPr id="38" name="文字方塊 37">
            <a:extLst>
              <a:ext uri="{FF2B5EF4-FFF2-40B4-BE49-F238E27FC236}">
                <a16:creationId xmlns:a16="http://schemas.microsoft.com/office/drawing/2014/main" id="{08825B23-620A-B348-AC6A-86474623CBB0}"/>
              </a:ext>
            </a:extLst>
          </p:cNvPr>
          <p:cNvSpPr txBox="1"/>
          <p:nvPr/>
        </p:nvSpPr>
        <p:spPr>
          <a:xfrm>
            <a:off x="446081" y="4591231"/>
            <a:ext cx="2016223" cy="400110"/>
          </a:xfrm>
          <a:prstGeom prst="rect">
            <a:avLst/>
          </a:prstGeom>
          <a:noFill/>
        </p:spPr>
        <p:txBody>
          <a:bodyPr wrap="square" rtlCol="0">
            <a:spAutoFit/>
          </a:bodyPr>
          <a:lstStyle/>
          <a:p>
            <a:pPr algn="ctr"/>
            <a:r>
              <a:rPr lang="zh-TW" altLang="en-US" sz="1000" b="1" dirty="0">
                <a:latin typeface="微軟正黑體" panose="020B0604030504040204" pitchFamily="34" charset="-120"/>
                <a:ea typeface="微軟正黑體" panose="020B0604030504040204" pitchFamily="34" charset="-120"/>
              </a:rPr>
              <a:t>沙國首相</a:t>
            </a:r>
            <a:r>
              <a:rPr lang="en-US" altLang="zh-TW" sz="1000" b="1" dirty="0">
                <a:latin typeface="微軟正黑體" panose="020B0604030504040204" pitchFamily="34" charset="-120"/>
                <a:ea typeface="微軟正黑體" panose="020B0604030504040204" pitchFamily="34" charset="-120"/>
              </a:rPr>
              <a:t>&amp;</a:t>
            </a:r>
            <a:r>
              <a:rPr lang="zh-TW" altLang="en-US" sz="1000" b="1" dirty="0">
                <a:latin typeface="微軟正黑體" panose="020B0604030504040204" pitchFamily="34" charset="-120"/>
                <a:ea typeface="微軟正黑體" panose="020B0604030504040204" pitchFamily="34" charset="-120"/>
              </a:rPr>
              <a:t>實質掌權者</a:t>
            </a:r>
            <a:br>
              <a:rPr lang="en-US" altLang="zh-TW" sz="1000" b="1" dirty="0">
                <a:latin typeface="微軟正黑體" panose="020B0604030504040204" pitchFamily="34" charset="-120"/>
                <a:ea typeface="微軟正黑體" panose="020B0604030504040204" pitchFamily="34" charset="-120"/>
              </a:rPr>
            </a:br>
            <a:r>
              <a:rPr lang="zh-TW" altLang="en-US" sz="1000" b="1" dirty="0">
                <a:latin typeface="微軟正黑體" panose="020B0604030504040204" pitchFamily="34" charset="-120"/>
                <a:ea typeface="微軟正黑體" panose="020B0604030504040204" pitchFamily="34" charset="-120"/>
              </a:rPr>
              <a:t>穆罕默德．本．沙爾曼王儲</a:t>
            </a:r>
          </a:p>
        </p:txBody>
      </p:sp>
      <p:sp>
        <p:nvSpPr>
          <p:cNvPr id="11" name="矩形 10"/>
          <p:cNvSpPr/>
          <p:nvPr/>
        </p:nvSpPr>
        <p:spPr>
          <a:xfrm>
            <a:off x="790082" y="845855"/>
            <a:ext cx="1306768" cy="307777"/>
          </a:xfrm>
          <a:prstGeom prst="rect">
            <a:avLst/>
          </a:prstGeom>
        </p:spPr>
        <p:txBody>
          <a:bodyPr wrap="none">
            <a:spAutoFit/>
          </a:bodyPr>
          <a:lstStyle/>
          <a:p>
            <a:r>
              <a:rPr lang="zh-TW" altLang="en-US" sz="1400" b="1" dirty="0">
                <a:solidFill>
                  <a:schemeClr val="bg1">
                    <a:lumMod val="50000"/>
                  </a:schemeClr>
                </a:solidFill>
                <a:latin typeface="微軟正黑體" panose="020B0604030504040204" pitchFamily="34" charset="-120"/>
                <a:ea typeface="微軟正黑體" panose="020B0604030504040204" pitchFamily="34" charset="-120"/>
              </a:rPr>
              <a:t>發行機構簡介 </a:t>
            </a:r>
            <a:endParaRPr lang="zh-TW" altLang="en-US" sz="1400" dirty="0">
              <a:solidFill>
                <a:schemeClr val="bg1">
                  <a:lumMod val="50000"/>
                </a:schemeClr>
              </a:solidFill>
              <a:latin typeface="微軟正黑體" panose="020B0604030504040204" pitchFamily="34" charset="-120"/>
              <a:ea typeface="微軟正黑體" panose="020B0604030504040204" pitchFamily="34" charset="-120"/>
            </a:endParaRPr>
          </a:p>
        </p:txBody>
      </p:sp>
      <p:sp>
        <p:nvSpPr>
          <p:cNvPr id="43" name="文字版面配置區 15">
            <a:extLst>
              <a:ext uri="{FF2B5EF4-FFF2-40B4-BE49-F238E27FC236}">
                <a16:creationId xmlns:a16="http://schemas.microsoft.com/office/drawing/2014/main" id="{11A04B46-DE0C-4282-BFCA-6BA92CADD11B}"/>
              </a:ext>
            </a:extLst>
          </p:cNvPr>
          <p:cNvSpPr txBox="1">
            <a:spLocks/>
          </p:cNvSpPr>
          <p:nvPr/>
        </p:nvSpPr>
        <p:spPr>
          <a:xfrm>
            <a:off x="545107" y="1118811"/>
            <a:ext cx="4837111" cy="3388353"/>
          </a:xfrm>
          <a:prstGeom prst="rect">
            <a:avLst/>
          </a:prstGeom>
        </p:spPr>
        <p:txBody>
          <a:bodyPr>
            <a:noAutofit/>
          </a:bodyPr>
          <a:lstStyle>
            <a:lvl1pPr marL="257175" indent="-257175" algn="l" defTabSz="6858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just">
              <a:lnSpc>
                <a:spcPts val="1500"/>
              </a:lnSpc>
              <a:spcBef>
                <a:spcPts val="300"/>
              </a:spcBef>
              <a:buFont typeface="Wingdings" panose="05000000000000000000" pitchFamily="2" charset="2"/>
              <a:buChar char="n"/>
            </a:pPr>
            <a:r>
              <a:rPr lang="zh-TW" altLang="en-US" sz="1100" dirty="0">
                <a:latin typeface="微軟正黑體" panose="020B0604030504040204" pitchFamily="34" charset="-120"/>
                <a:ea typeface="微軟正黑體" panose="020B0604030504040204" pitchFamily="34" charset="-120"/>
              </a:rPr>
              <a:t>沙烏地阿拉伯王國</a:t>
            </a:r>
            <a:r>
              <a:rPr lang="en-US" altLang="zh-TW" sz="1100" dirty="0">
                <a:latin typeface="微軟正黑體" panose="020B0604030504040204" pitchFamily="34" charset="-120"/>
                <a:ea typeface="微軟正黑體" panose="020B0604030504040204" pitchFamily="34" charset="-120"/>
              </a:rPr>
              <a:t>(The Kingdom of Saudi Arabia)</a:t>
            </a:r>
            <a:r>
              <a:rPr lang="zh-TW" altLang="en-US" sz="1100" dirty="0">
                <a:latin typeface="微軟正黑體" panose="020B0604030504040204" pitchFamily="34" charset="-120"/>
                <a:ea typeface="微軟正黑體" panose="020B0604030504040204" pitchFamily="34" charset="-120"/>
              </a:rPr>
              <a:t>面積約</a:t>
            </a:r>
            <a:r>
              <a:rPr lang="en-US" altLang="zh-TW" sz="1100" dirty="0">
                <a:latin typeface="微軟正黑體" panose="020B0604030504040204" pitchFamily="34" charset="-120"/>
                <a:ea typeface="微軟正黑體" panose="020B0604030504040204" pitchFamily="34" charset="-120"/>
              </a:rPr>
              <a:t>215</a:t>
            </a:r>
            <a:r>
              <a:rPr lang="zh-TW" altLang="en-US" sz="1100" dirty="0">
                <a:latin typeface="微軟正黑體" panose="020B0604030504040204" pitchFamily="34" charset="-120"/>
                <a:ea typeface="微軟正黑體" panose="020B0604030504040204" pitchFamily="34" charset="-120"/>
              </a:rPr>
              <a:t>萬平方公里，是中東地區地理面積第一大的國家，且是唯一同時擁有紅海和波斯灣海岸線的國家，是中東北非最大經濟體和全球第</a:t>
            </a:r>
            <a:r>
              <a:rPr lang="en-US" altLang="zh-TW" sz="1100" dirty="0">
                <a:latin typeface="微軟正黑體" panose="020B0604030504040204" pitchFamily="34" charset="-120"/>
                <a:ea typeface="微軟正黑體" panose="020B0604030504040204" pitchFamily="34" charset="-120"/>
              </a:rPr>
              <a:t>19</a:t>
            </a:r>
            <a:r>
              <a:rPr lang="zh-TW" altLang="en-US" sz="1100" dirty="0">
                <a:latin typeface="微軟正黑體" panose="020B0604030504040204" pitchFamily="34" charset="-120"/>
                <a:ea typeface="微軟正黑體" panose="020B0604030504040204" pitchFamily="34" charset="-120"/>
              </a:rPr>
              <a:t>大經濟體</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據</a:t>
            </a:r>
            <a:r>
              <a:rPr lang="en-US" altLang="zh-TW" sz="1100" dirty="0">
                <a:latin typeface="微軟正黑體" panose="020B0604030504040204" pitchFamily="34" charset="-120"/>
                <a:ea typeface="微軟正黑體" panose="020B0604030504040204" pitchFamily="34" charset="-120"/>
              </a:rPr>
              <a:t>IMF</a:t>
            </a:r>
            <a:r>
              <a:rPr lang="zh-TW" altLang="en-US" sz="1100" dirty="0">
                <a:latin typeface="微軟正黑體" panose="020B0604030504040204" pitchFamily="34" charset="-120"/>
                <a:ea typeface="微軟正黑體" panose="020B0604030504040204" pitchFamily="34" charset="-120"/>
              </a:rPr>
              <a:t>統計的</a:t>
            </a:r>
            <a:r>
              <a:rPr lang="en-US" altLang="zh-TW" sz="1100" dirty="0">
                <a:latin typeface="微軟正黑體" panose="020B0604030504040204" pitchFamily="34" charset="-120"/>
                <a:ea typeface="微軟正黑體" panose="020B0604030504040204" pitchFamily="34" charset="-120"/>
              </a:rPr>
              <a:t>2025</a:t>
            </a:r>
            <a:r>
              <a:rPr lang="zh-TW" altLang="en-US" sz="1100" dirty="0">
                <a:latin typeface="微軟正黑體" panose="020B0604030504040204" pitchFamily="34" charset="-120"/>
                <a:ea typeface="微軟正黑體" panose="020B0604030504040204" pitchFamily="34" charset="-120"/>
              </a:rPr>
              <a:t>年全球國家</a:t>
            </a:r>
            <a:r>
              <a:rPr lang="en-US" altLang="zh-TW" sz="1100" dirty="0">
                <a:latin typeface="微軟正黑體" panose="020B0604030504040204" pitchFamily="34" charset="-120"/>
                <a:ea typeface="微軟正黑體" panose="020B0604030504040204" pitchFamily="34" charset="-120"/>
              </a:rPr>
              <a:t>GDP</a:t>
            </a:r>
            <a:r>
              <a:rPr lang="zh-TW" altLang="en-US" sz="1100" dirty="0">
                <a:latin typeface="微軟正黑體" panose="020B0604030504040204" pitchFamily="34" charset="-120"/>
                <a:ea typeface="微軟正黑體" panose="020B0604030504040204" pitchFamily="34" charset="-120"/>
              </a:rPr>
              <a:t>排名</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。於象徵</a:t>
            </a:r>
            <a:r>
              <a:rPr lang="zh-CN" altLang="en-US" sz="1100" dirty="0">
                <a:latin typeface="微軟正黑體" panose="020B0604030504040204" pitchFamily="34" charset="-120"/>
                <a:ea typeface="微軟正黑體" panose="020B0604030504040204" pitchFamily="34" charset="-120"/>
              </a:rPr>
              <a:t>國</a:t>
            </a:r>
            <a:r>
              <a:rPr lang="zh-TW" altLang="en-US" sz="1100" dirty="0">
                <a:latin typeface="微軟正黑體" panose="020B0604030504040204" pitchFamily="34" charset="-120"/>
                <a:ea typeface="微軟正黑體" panose="020B0604030504040204" pitchFamily="34" charset="-120"/>
              </a:rPr>
              <a:t>家</a:t>
            </a:r>
            <a:r>
              <a:rPr lang="zh-CN" altLang="en-US" sz="1100" dirty="0">
                <a:latin typeface="微軟正黑體" panose="020B0604030504040204" pitchFamily="34" charset="-120"/>
                <a:ea typeface="微軟正黑體" panose="020B0604030504040204" pitchFamily="34" charset="-120"/>
              </a:rPr>
              <a:t>財政重要基礎</a:t>
            </a:r>
            <a:r>
              <a:rPr lang="zh-TW" altLang="en-US" sz="1100" dirty="0">
                <a:latin typeface="微軟正黑體" panose="020B0604030504040204" pitchFamily="34" charset="-120"/>
                <a:ea typeface="微軟正黑體" panose="020B0604030504040204" pitchFamily="34" charset="-120"/>
              </a:rPr>
              <a:t>的外匯存底排名躋身全球前十強，另據全球主權基金研究機構</a:t>
            </a:r>
            <a:r>
              <a:rPr lang="en-US" altLang="zh-TW" sz="1100" dirty="0">
                <a:latin typeface="微軟正黑體" panose="020B0604030504040204" pitchFamily="34" charset="-120"/>
                <a:ea typeface="微軟正黑體" panose="020B0604030504040204" pitchFamily="34" charset="-120"/>
              </a:rPr>
              <a:t>(Sovereign Wealth Fund Institute)</a:t>
            </a:r>
            <a:r>
              <a:rPr lang="zh-TW" altLang="en-US" sz="1100" dirty="0">
                <a:latin typeface="微軟正黑體" panose="020B0604030504040204" pitchFamily="34" charset="-120"/>
                <a:ea typeface="微軟正黑體" panose="020B0604030504040204" pitchFamily="34" charset="-120"/>
              </a:rPr>
              <a:t>統計，沙烏地主權基金</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公共投資基金</a:t>
            </a:r>
            <a:r>
              <a:rPr lang="en-US" altLang="zh-TW" sz="1100" dirty="0">
                <a:latin typeface="微軟正黑體" panose="020B0604030504040204" pitchFamily="34" charset="-120"/>
                <a:ea typeface="微軟正黑體" panose="020B0604030504040204" pitchFamily="34" charset="-120"/>
              </a:rPr>
              <a:t>(PIF)</a:t>
            </a:r>
            <a:r>
              <a:rPr lang="zh-TW" altLang="en-US" sz="1100" dirty="0">
                <a:latin typeface="微軟正黑體" panose="020B0604030504040204" pitchFamily="34" charset="-120"/>
                <a:ea typeface="微軟正黑體" panose="020B0604030504040204" pitchFamily="34" charset="-120"/>
              </a:rPr>
              <a:t>於各國主權基金中按總資產排名第</a:t>
            </a:r>
            <a:r>
              <a:rPr lang="en-US" altLang="zh-TW" sz="1100" dirty="0">
                <a:latin typeface="微軟正黑體" panose="020B0604030504040204" pitchFamily="34" charset="-120"/>
                <a:ea typeface="微軟正黑體" panose="020B0604030504040204" pitchFamily="34" charset="-120"/>
              </a:rPr>
              <a:t>6</a:t>
            </a:r>
            <a:r>
              <a:rPr lang="zh-TW" altLang="en-US" sz="1100" dirty="0">
                <a:latin typeface="微軟正黑體" panose="020B0604030504040204" pitchFamily="34" charset="-120"/>
                <a:ea typeface="微軟正黑體" panose="020B0604030504040204" pitchFamily="34" charset="-120"/>
              </a:rPr>
              <a:t>位。</a:t>
            </a:r>
            <a:endParaRPr lang="en-US" altLang="zh-TW" sz="1100" dirty="0">
              <a:latin typeface="微軟正黑體" panose="020B0604030504040204" pitchFamily="34" charset="-120"/>
              <a:ea typeface="微軟正黑體" panose="020B0604030504040204" pitchFamily="34" charset="-120"/>
            </a:endParaRPr>
          </a:p>
          <a:p>
            <a:pPr algn="just">
              <a:lnSpc>
                <a:spcPts val="1500"/>
              </a:lnSpc>
              <a:spcBef>
                <a:spcPts val="300"/>
              </a:spcBef>
              <a:buFont typeface="Wingdings" panose="05000000000000000000" pitchFamily="2" charset="2"/>
              <a:buChar char="n"/>
            </a:pPr>
            <a:r>
              <a:rPr lang="zh-TW" altLang="en-US" sz="1100" dirty="0">
                <a:latin typeface="微軟正黑體" panose="020B0604030504040204" pitchFamily="34" charset="-120"/>
                <a:ea typeface="微軟正黑體" panose="020B0604030504040204" pitchFamily="34" charset="-120"/>
              </a:rPr>
              <a:t>石油為沙國重要的經濟支柱，</a:t>
            </a:r>
            <a:r>
              <a:rPr lang="en-US" altLang="zh-TW" sz="1100" dirty="0">
                <a:latin typeface="微軟正黑體" panose="020B0604030504040204" pitchFamily="34" charset="-120"/>
                <a:ea typeface="微軟正黑體" panose="020B0604030504040204" pitchFamily="34" charset="-120"/>
              </a:rPr>
              <a:t>2024</a:t>
            </a:r>
            <a:r>
              <a:rPr lang="zh-TW" altLang="en-US" sz="1100" dirty="0">
                <a:latin typeface="微軟正黑體" panose="020B0604030504040204" pitchFamily="34" charset="-120"/>
                <a:ea typeface="微軟正黑體" panose="020B0604030504040204" pitchFamily="34" charset="-120"/>
              </a:rPr>
              <a:t>年沙國的石油收入約佔政府財政總收入的</a:t>
            </a:r>
            <a:r>
              <a:rPr lang="en-US" altLang="zh-TW" sz="1100" dirty="0">
                <a:latin typeface="微軟正黑體" panose="020B0604030504040204" pitchFamily="34" charset="-120"/>
                <a:ea typeface="微軟正黑體" panose="020B0604030504040204" pitchFamily="34" charset="-120"/>
              </a:rPr>
              <a:t>60%</a:t>
            </a:r>
            <a:r>
              <a:rPr lang="zh-TW" altLang="en-US" sz="1100" dirty="0">
                <a:latin typeface="微軟正黑體" panose="020B0604030504040204" pitchFamily="34" charset="-120"/>
                <a:ea typeface="微軟正黑體" panose="020B0604030504040204" pitchFamily="34" charset="-120"/>
              </a:rPr>
              <a:t>。沙國是全球最大的石油出口國和第二大原油蘊藏量國家</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第一名為委內瑞拉</a:t>
            </a:r>
            <a:r>
              <a:rPr lang="en-US" altLang="zh-TW" sz="1100" dirty="0">
                <a:latin typeface="微軟正黑體" panose="020B0604030504040204" pitchFamily="34" charset="-120"/>
                <a:ea typeface="微軟正黑體" panose="020B0604030504040204" pitchFamily="34" charset="-120"/>
              </a:rPr>
              <a:t>)</a:t>
            </a:r>
            <a:r>
              <a:rPr lang="zh-TW" altLang="en-US" sz="1100" dirty="0">
                <a:latin typeface="微軟正黑體" panose="020B0604030504040204" pitchFamily="34" charset="-120"/>
                <a:ea typeface="微軟正黑體" panose="020B0604030504040204" pitchFamily="34" charset="-120"/>
              </a:rPr>
              <a:t>，沙國亦是石油輸出國組織</a:t>
            </a:r>
            <a:r>
              <a:rPr lang="en-US" altLang="zh-TW" sz="1100" dirty="0">
                <a:latin typeface="微軟正黑體" panose="020B0604030504040204" pitchFamily="34" charset="-120"/>
                <a:ea typeface="微軟正黑體" panose="020B0604030504040204" pitchFamily="34" charset="-120"/>
              </a:rPr>
              <a:t>(OPEC)</a:t>
            </a:r>
            <a:r>
              <a:rPr lang="zh-TW" altLang="en-US" sz="1100" dirty="0">
                <a:latin typeface="微軟正黑體" panose="020B0604030504040204" pitchFamily="34" charset="-120"/>
                <a:ea typeface="微軟正黑體" panose="020B0604030504040204" pitchFamily="34" charset="-120"/>
              </a:rPr>
              <a:t>中最大的原油生產國。</a:t>
            </a:r>
            <a:endParaRPr lang="en-US" altLang="zh-TW" sz="1100" dirty="0">
              <a:latin typeface="微軟正黑體" panose="020B0604030504040204" pitchFamily="34" charset="-120"/>
              <a:ea typeface="微軟正黑體" panose="020B0604030504040204" pitchFamily="34" charset="-120"/>
            </a:endParaRPr>
          </a:p>
          <a:p>
            <a:pPr algn="just">
              <a:lnSpc>
                <a:spcPts val="1500"/>
              </a:lnSpc>
              <a:spcBef>
                <a:spcPts val="300"/>
              </a:spcBef>
              <a:buFont typeface="Wingdings" panose="05000000000000000000" pitchFamily="2" charset="2"/>
              <a:buChar char="n"/>
            </a:pPr>
            <a:r>
              <a:rPr lang="zh-TW" altLang="en-US" sz="1100" dirty="0">
                <a:latin typeface="微軟正黑體" panose="020B0604030504040204" pitchFamily="34" charset="-120"/>
                <a:ea typeface="微軟正黑體" panose="020B0604030504040204" pitchFamily="34" charset="-120"/>
              </a:rPr>
              <a:t>近年來沙烏地大力扶持非油氣產業，致力於讓經濟更加多元化；沙國於</a:t>
            </a:r>
            <a:r>
              <a:rPr lang="en-US" altLang="zh-TW" sz="1100" dirty="0">
                <a:latin typeface="微軟正黑體" panose="020B0604030504040204" pitchFamily="34" charset="-120"/>
                <a:ea typeface="微軟正黑體" panose="020B0604030504040204" pitchFamily="34" charset="-120"/>
              </a:rPr>
              <a:t>2016</a:t>
            </a:r>
            <a:r>
              <a:rPr lang="zh-TW" altLang="en-US" sz="1100" dirty="0">
                <a:latin typeface="微軟正黑體" panose="020B0604030504040204" pitchFamily="34" charset="-120"/>
                <a:ea typeface="微軟正黑體" panose="020B0604030504040204" pitchFamily="34" charset="-120"/>
              </a:rPr>
              <a:t>年提出「願景</a:t>
            </a:r>
            <a:r>
              <a:rPr lang="en-US" altLang="zh-TW" sz="1100" dirty="0">
                <a:latin typeface="微軟正黑體" panose="020B0604030504040204" pitchFamily="34" charset="-120"/>
                <a:ea typeface="微軟正黑體" panose="020B0604030504040204" pitchFamily="34" charset="-120"/>
              </a:rPr>
              <a:t>2030</a:t>
            </a:r>
            <a:r>
              <a:rPr lang="zh-TW" altLang="en-US" sz="1100" dirty="0">
                <a:latin typeface="微軟正黑體" panose="020B0604030504040204" pitchFamily="34" charset="-120"/>
                <a:ea typeface="微軟正黑體" panose="020B0604030504040204" pitchFamily="34" charset="-120"/>
              </a:rPr>
              <a:t>」計畫，促進工業、醫療及再生能源等多元產業發展，且藉由主辦</a:t>
            </a:r>
            <a:r>
              <a:rPr lang="en-US" altLang="zh-TW" sz="1100" dirty="0">
                <a:latin typeface="微軟正黑體" panose="020B0604030504040204" pitchFamily="34" charset="-120"/>
                <a:ea typeface="微軟正黑體" panose="020B0604030504040204" pitchFamily="34" charset="-120"/>
              </a:rPr>
              <a:t>2030</a:t>
            </a:r>
            <a:r>
              <a:rPr lang="zh-TW" altLang="en-US" sz="1100" dirty="0">
                <a:latin typeface="微軟正黑體" panose="020B0604030504040204" pitchFamily="34" charset="-120"/>
                <a:ea typeface="微軟正黑體" panose="020B0604030504040204" pitchFamily="34" charset="-120"/>
              </a:rPr>
              <a:t>年世界博覽會、</a:t>
            </a:r>
            <a:r>
              <a:rPr lang="en-US" altLang="zh-TW" sz="1100" dirty="0">
                <a:latin typeface="微軟正黑體" panose="020B0604030504040204" pitchFamily="34" charset="-120"/>
                <a:ea typeface="微軟正黑體" panose="020B0604030504040204" pitchFamily="34" charset="-120"/>
              </a:rPr>
              <a:t>2034</a:t>
            </a:r>
            <a:r>
              <a:rPr lang="zh-TW" altLang="en-US" sz="1100" dirty="0">
                <a:latin typeface="微軟正黑體" panose="020B0604030504040204" pitchFamily="34" charset="-120"/>
                <a:ea typeface="微軟正黑體" panose="020B0604030504040204" pitchFamily="34" charset="-120"/>
              </a:rPr>
              <a:t>年世界盃足球賽等國際賽事來加速建設；穆迪看好非油氣部門的</a:t>
            </a:r>
            <a:r>
              <a:rPr lang="en-US" altLang="zh-TW" sz="1100" dirty="0">
                <a:latin typeface="微軟正黑體" panose="020B0604030504040204" pitchFamily="34" charset="-120"/>
                <a:ea typeface="微軟正黑體" panose="020B0604030504040204" pitchFamily="34" charset="-120"/>
              </a:rPr>
              <a:t>GDP</a:t>
            </a:r>
            <a:r>
              <a:rPr lang="zh-TW" altLang="en-US" sz="1100" dirty="0">
                <a:latin typeface="微軟正黑體" panose="020B0604030504040204" pitchFamily="34" charset="-120"/>
                <a:ea typeface="微軟正黑體" panose="020B0604030504040204" pitchFamily="34" charset="-120"/>
              </a:rPr>
              <a:t>將繼續以</a:t>
            </a:r>
            <a:r>
              <a:rPr lang="en-US" altLang="zh-TW" sz="1100" dirty="0">
                <a:latin typeface="微軟正黑體" panose="020B0604030504040204" pitchFamily="34" charset="-120"/>
                <a:ea typeface="微軟正黑體" panose="020B0604030504040204" pitchFamily="34" charset="-120"/>
              </a:rPr>
              <a:t>4-5%</a:t>
            </a:r>
            <a:r>
              <a:rPr lang="zh-TW" altLang="en-US" sz="1100" dirty="0">
                <a:latin typeface="微軟正黑體" panose="020B0604030504040204" pitchFamily="34" charset="-120"/>
                <a:ea typeface="微軟正黑體" panose="020B0604030504040204" pitchFamily="34" charset="-120"/>
              </a:rPr>
              <a:t>增長，標普也因其非油氣成長強勁，於</a:t>
            </a:r>
            <a:r>
              <a:rPr lang="en-US" altLang="zh-TW" sz="1100" dirty="0">
                <a:latin typeface="微軟正黑體" panose="020B0604030504040204" pitchFamily="34" charset="-120"/>
                <a:ea typeface="微軟正黑體" panose="020B0604030504040204" pitchFamily="34" charset="-120"/>
              </a:rPr>
              <a:t>2025</a:t>
            </a:r>
            <a:r>
              <a:rPr lang="zh-TW" altLang="en-US" sz="1100" dirty="0">
                <a:latin typeface="微軟正黑體" panose="020B0604030504040204" pitchFamily="34" charset="-120"/>
                <a:ea typeface="微軟正黑體" panose="020B0604030504040204" pitchFamily="34" charset="-120"/>
              </a:rPr>
              <a:t>年</a:t>
            </a:r>
            <a:r>
              <a:rPr lang="en-US" altLang="zh-TW" sz="1100" dirty="0">
                <a:latin typeface="微軟正黑體" panose="020B0604030504040204" pitchFamily="34" charset="-120"/>
                <a:ea typeface="微軟正黑體" panose="020B0604030504040204" pitchFamily="34" charset="-120"/>
              </a:rPr>
              <a:t>3</a:t>
            </a:r>
            <a:r>
              <a:rPr lang="zh-TW" altLang="en-US" sz="1100" dirty="0">
                <a:latin typeface="微軟正黑體" panose="020B0604030504040204" pitchFamily="34" charset="-120"/>
                <a:ea typeface="微軟正黑體" panose="020B0604030504040204" pitchFamily="34" charset="-120"/>
              </a:rPr>
              <a:t>月上調其評等。沙國國營</a:t>
            </a:r>
            <a:r>
              <a:rPr lang="en-US" altLang="zh-TW" sz="1100" dirty="0">
                <a:latin typeface="微軟正黑體" panose="020B0604030504040204" pitchFamily="34" charset="-120"/>
                <a:ea typeface="微軟正黑體" panose="020B0604030504040204" pitchFamily="34" charset="-120"/>
              </a:rPr>
              <a:t>AI</a:t>
            </a:r>
            <a:r>
              <a:rPr lang="zh-TW" altLang="en-US" sz="1100" dirty="0">
                <a:latin typeface="微軟正黑體" panose="020B0604030504040204" pitchFamily="34" charset="-120"/>
                <a:ea typeface="微軟正黑體" panose="020B0604030504040204" pitchFamily="34" charset="-120"/>
              </a:rPr>
              <a:t>公司</a:t>
            </a:r>
            <a:r>
              <a:rPr lang="en-US" altLang="zh-TW" sz="1100" dirty="0" err="1">
                <a:latin typeface="微軟正黑體" panose="020B0604030504040204" pitchFamily="34" charset="-120"/>
                <a:ea typeface="微軟正黑體" panose="020B0604030504040204" pitchFamily="34" charset="-120"/>
              </a:rPr>
              <a:t>Humain</a:t>
            </a:r>
            <a:r>
              <a:rPr lang="zh-TW" altLang="en-US" sz="1100" dirty="0">
                <a:latin typeface="微軟正黑體" panose="020B0604030504040204" pitchFamily="34" charset="-120"/>
                <a:ea typeface="微軟正黑體" panose="020B0604030504040204" pitchFamily="34" charset="-120"/>
              </a:rPr>
              <a:t>與</a:t>
            </a:r>
            <a:r>
              <a:rPr lang="en-US" altLang="zh-TW" sz="1100" dirty="0" err="1">
                <a:latin typeface="微軟正黑體" panose="020B0604030504040204" pitchFamily="34" charset="-120"/>
                <a:ea typeface="微軟正黑體" panose="020B0604030504040204" pitchFamily="34" charset="-120"/>
              </a:rPr>
              <a:t>xAI</a:t>
            </a:r>
            <a:r>
              <a:rPr lang="zh-TW" altLang="en-US" sz="1100" dirty="0">
                <a:latin typeface="微軟正黑體" panose="020B0604030504040204" pitchFamily="34" charset="-120"/>
                <a:ea typeface="微軟正黑體" panose="020B0604030504040204" pitchFamily="34" charset="-120"/>
              </a:rPr>
              <a:t>、輝達、亞馬遜等科技巨頭合作，目標在十年內承擔全球</a:t>
            </a:r>
            <a:r>
              <a:rPr lang="en-US" altLang="zh-TW" sz="1100" dirty="0">
                <a:latin typeface="微軟正黑體" panose="020B0604030504040204" pitchFamily="34" charset="-120"/>
                <a:ea typeface="微軟正黑體" panose="020B0604030504040204" pitchFamily="34" charset="-120"/>
              </a:rPr>
              <a:t>6%</a:t>
            </a:r>
            <a:r>
              <a:rPr lang="zh-TW" altLang="en-US" sz="1100" dirty="0">
                <a:latin typeface="微軟正黑體" panose="020B0604030504040204" pitchFamily="34" charset="-120"/>
                <a:ea typeface="微軟正黑體" panose="020B0604030504040204" pitchFamily="34" charset="-120"/>
              </a:rPr>
              <a:t>的</a:t>
            </a:r>
            <a:r>
              <a:rPr lang="en-US" altLang="zh-TW" sz="1100" dirty="0">
                <a:latin typeface="微軟正黑體" panose="020B0604030504040204" pitchFamily="34" charset="-120"/>
                <a:ea typeface="微軟正黑體" panose="020B0604030504040204" pitchFamily="34" charset="-120"/>
              </a:rPr>
              <a:t>AI</a:t>
            </a:r>
            <a:r>
              <a:rPr lang="zh-TW" altLang="en-US" sz="1100" dirty="0">
                <a:latin typeface="微軟正黑體" panose="020B0604030504040204" pitchFamily="34" charset="-120"/>
                <a:ea typeface="微軟正黑體" panose="020B0604030504040204" pitchFamily="34" charset="-120"/>
              </a:rPr>
              <a:t>運算需求，</a:t>
            </a:r>
            <a:r>
              <a:rPr lang="en-US" altLang="zh-TW" sz="1100" dirty="0">
                <a:latin typeface="微軟正黑體" panose="020B0604030504040204" pitchFamily="34" charset="-120"/>
                <a:ea typeface="微軟正黑體" panose="020B0604030504040204" pitchFamily="34" charset="-120"/>
              </a:rPr>
              <a:t>PwC</a:t>
            </a:r>
            <a:r>
              <a:rPr lang="zh-TW" altLang="en-US" sz="1100" dirty="0">
                <a:latin typeface="微軟正黑體" panose="020B0604030504040204" pitchFamily="34" charset="-120"/>
                <a:ea typeface="微軟正黑體" panose="020B0604030504040204" pitchFamily="34" charset="-120"/>
              </a:rPr>
              <a:t>預估</a:t>
            </a:r>
            <a:r>
              <a:rPr lang="en-US" altLang="zh-TW" sz="1100" dirty="0">
                <a:latin typeface="微軟正黑體" panose="020B0604030504040204" pitchFamily="34" charset="-120"/>
                <a:ea typeface="微軟正黑體" panose="020B0604030504040204" pitchFamily="34" charset="-120"/>
              </a:rPr>
              <a:t>2030</a:t>
            </a:r>
            <a:r>
              <a:rPr lang="zh-TW" altLang="en-US" sz="1100" dirty="0">
                <a:latin typeface="微軟正黑體" panose="020B0604030504040204" pitchFamily="34" charset="-120"/>
                <a:ea typeface="微軟正黑體" panose="020B0604030504040204" pitchFamily="34" charset="-120"/>
              </a:rPr>
              <a:t>年前</a:t>
            </a:r>
            <a:r>
              <a:rPr lang="en-US" altLang="zh-TW" sz="1100" dirty="0">
                <a:latin typeface="微軟正黑體" panose="020B0604030504040204" pitchFamily="34" charset="-120"/>
                <a:ea typeface="微軟正黑體" panose="020B0604030504040204" pitchFamily="34" charset="-120"/>
              </a:rPr>
              <a:t>AI</a:t>
            </a:r>
            <a:r>
              <a:rPr lang="zh-TW" altLang="en-US" sz="1100" dirty="0">
                <a:latin typeface="微軟正黑體" panose="020B0604030504040204" pitchFamily="34" charset="-120"/>
                <a:ea typeface="微軟正黑體" panose="020B0604030504040204" pitchFamily="34" charset="-120"/>
              </a:rPr>
              <a:t>將帶來</a:t>
            </a:r>
            <a:r>
              <a:rPr lang="en-US" altLang="zh-TW" sz="1100" dirty="0">
                <a:latin typeface="微軟正黑體" panose="020B0604030504040204" pitchFamily="34" charset="-120"/>
                <a:ea typeface="微軟正黑體" panose="020B0604030504040204" pitchFamily="34" charset="-120"/>
              </a:rPr>
              <a:t>1,350</a:t>
            </a:r>
            <a:r>
              <a:rPr lang="zh-TW" altLang="en-US" sz="1100" dirty="0">
                <a:latin typeface="微軟正黑體" panose="020B0604030504040204" pitchFamily="34" charset="-120"/>
                <a:ea typeface="微軟正黑體" panose="020B0604030504040204" pitchFamily="34" charset="-120"/>
              </a:rPr>
              <a:t>億美元的收益。</a:t>
            </a:r>
          </a:p>
          <a:p>
            <a:pPr algn="just">
              <a:lnSpc>
                <a:spcPts val="1500"/>
              </a:lnSpc>
              <a:spcBef>
                <a:spcPts val="300"/>
              </a:spcBef>
              <a:buFont typeface="Wingdings" panose="05000000000000000000" pitchFamily="2" charset="2"/>
              <a:buChar char="n"/>
            </a:pPr>
            <a:endParaRPr lang="zh-TW" altLang="en-US" sz="1100" dirty="0">
              <a:latin typeface="微軟正黑體" panose="020B0604030504040204" pitchFamily="34" charset="-120"/>
              <a:ea typeface="微軟正黑體" panose="020B0604030504040204" pitchFamily="34" charset="-120"/>
            </a:endParaRPr>
          </a:p>
        </p:txBody>
      </p:sp>
      <p:grpSp>
        <p:nvGrpSpPr>
          <p:cNvPr id="44" name="群組 43"/>
          <p:cNvGrpSpPr/>
          <p:nvPr/>
        </p:nvGrpSpPr>
        <p:grpSpPr>
          <a:xfrm>
            <a:off x="5580112" y="917326"/>
            <a:ext cx="3283286" cy="5464001"/>
            <a:chOff x="8325670" y="1196750"/>
            <a:chExt cx="3283286" cy="5369605"/>
          </a:xfrm>
          <a:solidFill>
            <a:srgbClr val="FFEFEF"/>
          </a:solidFill>
        </p:grpSpPr>
        <p:sp>
          <p:nvSpPr>
            <p:cNvPr id="45" name="矩形 44"/>
            <p:cNvSpPr/>
            <p:nvPr/>
          </p:nvSpPr>
          <p:spPr>
            <a:xfrm>
              <a:off x="8325670" y="1196750"/>
              <a:ext cx="3283286" cy="5369605"/>
            </a:xfrm>
            <a:prstGeom prst="rect">
              <a:avLst/>
            </a:prstGeom>
            <a:grp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sysClr val="window" lastClr="FFFFFF"/>
                </a:solidFill>
                <a:effectLst/>
                <a:uLnTx/>
                <a:uFillTx/>
                <a:latin typeface="微軟正黑體" panose="020B0604030504040204" pitchFamily="34" charset="-120"/>
                <a:ea typeface="微軟正黑體" panose="020B0604030504040204" pitchFamily="34" charset="-120"/>
              </a:endParaRPr>
            </a:p>
          </p:txBody>
        </p:sp>
        <p:sp>
          <p:nvSpPr>
            <p:cNvPr id="46" name="文字方塊 45"/>
            <p:cNvSpPr txBox="1"/>
            <p:nvPr/>
          </p:nvSpPr>
          <p:spPr>
            <a:xfrm>
              <a:off x="8897701" y="1385070"/>
              <a:ext cx="2031325" cy="369332"/>
            </a:xfrm>
            <a:prstGeom prst="rect">
              <a:avLst/>
            </a:prstGeom>
            <a:grp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TW" altLang="en-US" sz="1800" b="1"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沙烏地阿拉伯王國</a:t>
              </a:r>
            </a:p>
          </p:txBody>
        </p:sp>
        <p:sp>
          <p:nvSpPr>
            <p:cNvPr id="48" name="矩形 47"/>
            <p:cNvSpPr/>
            <p:nvPr/>
          </p:nvSpPr>
          <p:spPr>
            <a:xfrm>
              <a:off x="8940789" y="1659749"/>
              <a:ext cx="1840568" cy="261610"/>
            </a:xfrm>
            <a:prstGeom prst="rect">
              <a:avLst/>
            </a:prstGeom>
            <a:grpFill/>
          </p:spPr>
          <p:txBody>
            <a:bodyPr wrap="non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TW" sz="1100" b="0" i="0" u="none" strike="noStrike" kern="0" cap="none" spc="0" normalizeH="0" baseline="0" noProof="0" dirty="0">
                  <a:ln>
                    <a:noFill/>
                  </a:ln>
                  <a:solidFill>
                    <a:srgbClr val="222222"/>
                  </a:solidFill>
                  <a:effectLst/>
                  <a:uLnTx/>
                  <a:uFillTx/>
                  <a:latin typeface="微軟正黑體" panose="020B0604030504040204" pitchFamily="34" charset="-120"/>
                  <a:ea typeface="微軟正黑體" panose="020B0604030504040204" pitchFamily="34" charset="-120"/>
                </a:rPr>
                <a:t>Kingdom of Saudi Arabia</a:t>
              </a:r>
              <a:endParaRPr kumimoji="0" lang="zh-TW" altLang="en-US" sz="11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endParaRPr>
            </a:p>
          </p:txBody>
        </p:sp>
        <p:sp>
          <p:nvSpPr>
            <p:cNvPr id="49" name="文字方塊 48"/>
            <p:cNvSpPr txBox="1"/>
            <p:nvPr/>
          </p:nvSpPr>
          <p:spPr>
            <a:xfrm>
              <a:off x="8573101" y="2004548"/>
              <a:ext cx="2776905" cy="1350985"/>
            </a:xfrm>
            <a:prstGeom prst="rect">
              <a:avLst/>
            </a:prstGeom>
            <a:grpFill/>
          </p:spPr>
          <p:txBody>
            <a:bodyPr wrap="square" rtlCol="0" anchor="t">
              <a:spAutoFit/>
            </a:bodyPr>
            <a:lstStyle/>
            <a:p>
              <a:pPr marL="0" marR="0" lvl="0" indent="0" algn="just" defTabSz="914400" eaLnBrk="1" fontAlgn="auto" latinLnBrk="0" hangingPunct="1">
                <a:lnSpc>
                  <a:spcPts val="2000"/>
                </a:lnSpc>
                <a:spcBef>
                  <a:spcPts val="0"/>
                </a:spcBef>
                <a:spcAft>
                  <a:spcPts val="0"/>
                </a:spcAft>
                <a:buClrTx/>
                <a:buSzTx/>
                <a:buFontTx/>
                <a:buNone/>
                <a:tabLst/>
                <a:defRPr/>
              </a:pP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GDP</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12,800</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億美元</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a:t>
              </a:r>
              <a:r>
                <a:rPr kumimoji="0" lang="en-US" altLang="zh-TW" sz="1200" b="0" i="0" u="none" strike="noStrike" kern="0" cap="none" spc="0" normalizeH="0" baseline="0" noProof="0" dirty="0">
                  <a:ln>
                    <a:noFill/>
                  </a:ln>
                  <a:effectLst/>
                  <a:uLnTx/>
                  <a:uFillTx/>
                  <a:latin typeface="微軟正黑體" panose="020B0604030504040204" pitchFamily="34" charset="-120"/>
                  <a:ea typeface="微軟正黑體" panose="020B0604030504040204" pitchFamily="34" charset="-120"/>
                </a:rPr>
                <a:t>2025</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年</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第</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19</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名</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a:t>
              </a:r>
            </a:p>
            <a:p>
              <a:pPr marL="0" marR="0" lvl="0" indent="0" algn="just" defTabSz="914400" eaLnBrk="1" fontAlgn="auto" latinLnBrk="0" hangingPunct="1">
                <a:lnSpc>
                  <a:spcPts val="2000"/>
                </a:lnSpc>
                <a:spcBef>
                  <a:spcPts val="0"/>
                </a:spcBef>
                <a:spcAft>
                  <a:spcPts val="0"/>
                </a:spcAft>
                <a:buClrTx/>
                <a:buSzTx/>
                <a:buFontTx/>
                <a:buNone/>
                <a:tabLst/>
                <a:defRPr/>
              </a:pP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人均</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GDP</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a:t>
              </a:r>
              <a:r>
                <a:rPr lang="en-US" altLang="zh-TW" sz="1200" kern="0" dirty="0">
                  <a:solidFill>
                    <a:sysClr val="windowText" lastClr="000000"/>
                  </a:solidFill>
                  <a:latin typeface="微軟正黑體" panose="020B0604030504040204" pitchFamily="34" charset="-120"/>
                  <a:ea typeface="微軟正黑體" panose="020B0604030504040204" pitchFamily="34" charset="-120"/>
                </a:rPr>
                <a:t>35</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,230</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美元</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/2025</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年</a:t>
              </a:r>
              <a:endPar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endParaRPr>
            </a:p>
            <a:p>
              <a:pPr marL="0" marR="0" lvl="0" indent="0" algn="just" defTabSz="914400" eaLnBrk="1" fontAlgn="auto" latinLnBrk="0" hangingPunct="1">
                <a:lnSpc>
                  <a:spcPts val="2000"/>
                </a:lnSpc>
                <a:spcBef>
                  <a:spcPts val="0"/>
                </a:spcBef>
                <a:spcAft>
                  <a:spcPts val="0"/>
                </a:spcAft>
                <a:buClrTx/>
                <a:buSzTx/>
                <a:buFontTx/>
                <a:buNone/>
                <a:tabLst/>
                <a:defRPr/>
              </a:pP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面積：約</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215</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萬平方公里</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第</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13</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名</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a:t>
              </a:r>
            </a:p>
            <a:p>
              <a:pPr marL="0" marR="0" lvl="0" indent="0" algn="just" defTabSz="914400" eaLnBrk="1" fontAlgn="auto" latinLnBrk="0" hangingPunct="1">
                <a:lnSpc>
                  <a:spcPts val="2000"/>
                </a:lnSpc>
                <a:spcBef>
                  <a:spcPts val="0"/>
                </a:spcBef>
                <a:spcAft>
                  <a:spcPts val="0"/>
                </a:spcAft>
                <a:buClrTx/>
                <a:buSzTx/>
                <a:buFontTx/>
                <a:buNone/>
                <a:tabLst/>
                <a:defRPr/>
              </a:pP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人口：約</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3,673</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萬人</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/2025</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年</a:t>
              </a:r>
            </a:p>
            <a:p>
              <a:pPr marL="0" marR="0" lvl="0" indent="0" algn="just" defTabSz="914400" eaLnBrk="1" fontAlgn="auto" latinLnBrk="0" hangingPunct="1">
                <a:lnSpc>
                  <a:spcPts val="2000"/>
                </a:lnSpc>
                <a:spcBef>
                  <a:spcPts val="0"/>
                </a:spcBef>
                <a:spcAft>
                  <a:spcPts val="0"/>
                </a:spcAft>
                <a:buClrTx/>
                <a:buSzTx/>
                <a:buFontTx/>
                <a:buNone/>
                <a:tabLst/>
                <a:defRPr/>
              </a:pP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外匯存底：約</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4,639</a:t>
              </a:r>
              <a:r>
                <a:rPr kumimoji="0" lang="zh-TW" altLang="en-US"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億美元</a:t>
              </a:r>
              <a:r>
                <a:rPr kumimoji="0" lang="en-US" altLang="zh-TW" sz="12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a:t>
              </a:r>
              <a:r>
                <a:rPr lang="zh-TW" altLang="en-US" sz="1200" kern="0" noProof="0" dirty="0">
                  <a:solidFill>
                    <a:sysClr val="windowText" lastClr="000000"/>
                  </a:solidFill>
                  <a:latin typeface="微軟正黑體" panose="020B0604030504040204" pitchFamily="34" charset="-120"/>
                  <a:ea typeface="微軟正黑體" panose="020B0604030504040204" pitchFamily="34" charset="-120"/>
                </a:rPr>
                <a:t>第</a:t>
              </a:r>
              <a:r>
                <a:rPr lang="en-US" altLang="zh-TW" sz="1200" kern="0" noProof="0" dirty="0">
                  <a:solidFill>
                    <a:sysClr val="windowText" lastClr="000000"/>
                  </a:solidFill>
                  <a:latin typeface="微軟正黑體" panose="020B0604030504040204" pitchFamily="34" charset="-120"/>
                  <a:ea typeface="微軟正黑體" panose="020B0604030504040204" pitchFamily="34" charset="-120"/>
                </a:rPr>
                <a:t>8</a:t>
              </a:r>
              <a:r>
                <a:rPr lang="zh-TW" altLang="en-US" sz="1200" kern="0" noProof="0" dirty="0">
                  <a:solidFill>
                    <a:sysClr val="windowText" lastClr="000000"/>
                  </a:solidFill>
                  <a:latin typeface="微軟正黑體" panose="020B0604030504040204" pitchFamily="34" charset="-120"/>
                  <a:ea typeface="微軟正黑體" panose="020B0604030504040204" pitchFamily="34" charset="-120"/>
                </a:rPr>
                <a:t>名</a:t>
              </a:r>
              <a:r>
                <a:rPr lang="en-US" altLang="zh-TW" sz="1200" kern="0" dirty="0">
                  <a:solidFill>
                    <a:sysClr val="windowText" lastClr="000000"/>
                  </a:solidFill>
                  <a:latin typeface="微軟正黑體" panose="020B0604030504040204" pitchFamily="34" charset="-120"/>
                  <a:ea typeface="微軟正黑體" panose="020B0604030504040204" pitchFamily="34" charset="-120"/>
                </a:rPr>
                <a:t>)</a:t>
              </a:r>
              <a:endParaRPr kumimoji="0" lang="en-US" altLang="zh-TW" sz="1400" b="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endParaRPr>
            </a:p>
          </p:txBody>
        </p:sp>
        <p:cxnSp>
          <p:nvCxnSpPr>
            <p:cNvPr id="50" name="直線接點 49"/>
            <p:cNvCxnSpPr/>
            <p:nvPr/>
          </p:nvCxnSpPr>
          <p:spPr>
            <a:xfrm>
              <a:off x="8559147" y="1921359"/>
              <a:ext cx="2708433" cy="0"/>
            </a:xfrm>
            <a:prstGeom prst="line">
              <a:avLst/>
            </a:prstGeom>
            <a:grpFill/>
            <a:ln w="12700" cap="flat" cmpd="sng" algn="ctr">
              <a:solidFill>
                <a:srgbClr val="4F271C">
                  <a:lumMod val="50000"/>
                </a:srgbClr>
              </a:solidFill>
              <a:prstDash val="solid"/>
            </a:ln>
            <a:effectLst/>
          </p:spPr>
        </p:cxnSp>
      </p:grpSp>
      <p:sp>
        <p:nvSpPr>
          <p:cNvPr id="51" name="文字方塊 14">
            <a:extLst>
              <a:ext uri="{FF2B5EF4-FFF2-40B4-BE49-F238E27FC236}">
                <a16:creationId xmlns:a16="http://schemas.microsoft.com/office/drawing/2014/main" id="{860E8E98-D4A7-5B05-19A5-C6D5B20973F4}"/>
              </a:ext>
            </a:extLst>
          </p:cNvPr>
          <p:cNvSpPr txBox="1"/>
          <p:nvPr/>
        </p:nvSpPr>
        <p:spPr>
          <a:xfrm>
            <a:off x="5580113" y="4931033"/>
            <a:ext cx="3283286" cy="1339534"/>
          </a:xfrm>
          <a:prstGeom prst="rect">
            <a:avLst/>
          </a:prstGeom>
          <a:noFill/>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lgn="just">
              <a:lnSpc>
                <a:spcPts val="1800"/>
              </a:lnSpc>
              <a:spcBef>
                <a:spcPts val="300"/>
              </a:spcBef>
              <a:buFont typeface="Arial" panose="020B0604020202020204" pitchFamily="34" charset="0"/>
              <a:buChar char="•"/>
              <a:defRPr/>
            </a:pPr>
            <a:r>
              <a:rPr lang="en-US" altLang="zh-TW" sz="1200" b="1" kern="0" dirty="0">
                <a:solidFill>
                  <a:sysClr val="windowText" lastClr="000000"/>
                </a:solidFill>
                <a:latin typeface="微軟正黑體" panose="020B0604030504040204" pitchFamily="34" charset="-120"/>
                <a:ea typeface="微軟正黑體" panose="020B0604030504040204" pitchFamily="34" charset="-120"/>
              </a:rPr>
              <a:t>OPEC</a:t>
            </a:r>
            <a:r>
              <a:rPr lang="zh-TW" altLang="en-US" sz="1200" b="1" kern="0" dirty="0">
                <a:solidFill>
                  <a:sysClr val="windowText" lastClr="000000"/>
                </a:solidFill>
                <a:latin typeface="微軟正黑體" panose="020B0604030504040204" pitchFamily="34" charset="-120"/>
                <a:ea typeface="微軟正黑體" panose="020B0604030504040204" pitchFamily="34" charset="-120"/>
              </a:rPr>
              <a:t>創始國、擁有全球營收最高油氣企業「沙烏地阿拉伯國家石油公司」</a:t>
            </a:r>
            <a:endParaRPr lang="en-US" altLang="zh-TW" sz="1200" b="1" kern="0" dirty="0">
              <a:solidFill>
                <a:sysClr val="windowText" lastClr="000000"/>
              </a:solidFill>
              <a:latin typeface="微軟正黑體" panose="020B0604030504040204" pitchFamily="34" charset="-120"/>
              <a:ea typeface="微軟正黑體" panose="020B0604030504040204" pitchFamily="34" charset="-120"/>
            </a:endParaRPr>
          </a:p>
          <a:p>
            <a:pPr marL="171450" marR="0" lvl="0" indent="-171450" algn="just" defTabSz="914400" rtl="0" eaLnBrk="1" fontAlgn="auto" latinLnBrk="0" hangingPunct="1">
              <a:lnSpc>
                <a:spcPts val="1800"/>
              </a:lnSpc>
              <a:spcBef>
                <a:spcPts val="300"/>
              </a:spcBef>
              <a:buClrTx/>
              <a:buSzTx/>
              <a:buFont typeface="Arial" panose="020B0604020202020204" pitchFamily="34" charset="0"/>
              <a:buChar char="•"/>
              <a:tabLst/>
              <a:defRPr/>
            </a:pPr>
            <a:r>
              <a:rPr lang="zh-TW" altLang="en-US" sz="1200" b="1" kern="0" dirty="0">
                <a:solidFill>
                  <a:sysClr val="windowText" lastClr="000000"/>
                </a:solidFill>
                <a:latin typeface="微軟正黑體" panose="020B0604030504040204" pitchFamily="34" charset="-120"/>
                <a:ea typeface="微軟正黑體" panose="020B0604030504040204" pitchFamily="34" charset="-120"/>
              </a:rPr>
              <a:t>原油產量</a:t>
            </a:r>
            <a:r>
              <a:rPr kumimoji="0" lang="zh-TW" altLang="en-US" sz="1200" b="1"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a:t>
            </a:r>
            <a:r>
              <a:rPr kumimoji="0" lang="en-US" altLang="zh-TW" sz="120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1,00</a:t>
            </a:r>
            <a:r>
              <a:rPr lang="en-US" altLang="zh-TW" sz="1200" kern="0" noProof="0" dirty="0">
                <a:solidFill>
                  <a:sysClr val="windowText" lastClr="000000"/>
                </a:solidFill>
                <a:latin typeface="微軟正黑體" panose="020B0604030504040204" pitchFamily="34" charset="-120"/>
                <a:ea typeface="微軟正黑體" panose="020B0604030504040204" pitchFamily="34" charset="-120"/>
              </a:rPr>
              <a:t>0</a:t>
            </a:r>
            <a:r>
              <a:rPr kumimoji="0" lang="zh-TW" altLang="en-US" sz="120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萬桶</a:t>
            </a:r>
            <a:r>
              <a:rPr kumimoji="0" lang="en-US" altLang="zh-TW" sz="120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a:t>
            </a:r>
            <a:r>
              <a:rPr kumimoji="0" lang="zh-TW" altLang="en-US" sz="120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日</a:t>
            </a:r>
            <a:r>
              <a:rPr lang="zh-TW" altLang="en-US" sz="1200" kern="0" dirty="0">
                <a:solidFill>
                  <a:sysClr val="windowText" lastClr="000000"/>
                </a:solidFill>
                <a:latin typeface="微軟正黑體" panose="020B0604030504040204" pitchFamily="34" charset="-120"/>
                <a:ea typeface="微軟正黑體" panose="020B0604030504040204" pitchFamily="34" charset="-120"/>
              </a:rPr>
              <a:t>，</a:t>
            </a:r>
            <a:r>
              <a:rPr kumimoji="0" lang="zh-TW" altLang="en-US" sz="120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全球第</a:t>
            </a:r>
            <a:r>
              <a:rPr kumimoji="0" lang="en-US" altLang="zh-TW" sz="1200" i="0" u="none" strike="noStrike" kern="0" cap="none" spc="0" normalizeH="0" baseline="0" noProof="0" dirty="0">
                <a:ln>
                  <a:noFill/>
                </a:ln>
                <a:solidFill>
                  <a:sysClr val="windowText" lastClr="000000"/>
                </a:solidFill>
                <a:effectLst/>
                <a:uLnTx/>
                <a:uFillTx/>
                <a:latin typeface="微軟正黑體" panose="020B0604030504040204" pitchFamily="34" charset="-120"/>
                <a:ea typeface="微軟正黑體" panose="020B0604030504040204" pitchFamily="34" charset="-120"/>
              </a:rPr>
              <a:t>2</a:t>
            </a:r>
          </a:p>
          <a:p>
            <a:pPr marL="171450" lvl="0" indent="-171450" algn="just">
              <a:lnSpc>
                <a:spcPts val="1800"/>
              </a:lnSpc>
              <a:spcBef>
                <a:spcPts val="300"/>
              </a:spcBef>
              <a:buFont typeface="Arial" panose="020B0604020202020204" pitchFamily="34" charset="0"/>
              <a:buChar char="•"/>
              <a:defRPr/>
            </a:pPr>
            <a:r>
              <a:rPr lang="zh-TW" altLang="en-US" sz="1200" b="1" kern="0" dirty="0">
                <a:solidFill>
                  <a:sysClr val="windowText" lastClr="000000"/>
                </a:solidFill>
                <a:latin typeface="微軟正黑體" panose="020B0604030504040204" pitchFamily="34" charset="-120"/>
                <a:ea typeface="微軟正黑體" panose="020B0604030504040204" pitchFamily="34" charset="-120"/>
              </a:rPr>
              <a:t>原油出口量：≈</a:t>
            </a:r>
            <a:r>
              <a:rPr lang="en-US" altLang="zh-TW" sz="1200" kern="0" dirty="0">
                <a:solidFill>
                  <a:sysClr val="windowText" lastClr="000000"/>
                </a:solidFill>
                <a:latin typeface="微軟正黑體" panose="020B0604030504040204" pitchFamily="34" charset="-120"/>
                <a:ea typeface="微軟正黑體" panose="020B0604030504040204" pitchFamily="34" charset="-120"/>
              </a:rPr>
              <a:t>700</a:t>
            </a:r>
            <a:r>
              <a:rPr lang="zh-TW" altLang="en-US" sz="1200" kern="0" dirty="0">
                <a:solidFill>
                  <a:sysClr val="windowText" lastClr="000000"/>
                </a:solidFill>
                <a:latin typeface="微軟正黑體" panose="020B0604030504040204" pitchFamily="34" charset="-120"/>
                <a:ea typeface="微軟正黑體" panose="020B0604030504040204" pitchFamily="34" charset="-120"/>
              </a:rPr>
              <a:t>萬桶</a:t>
            </a:r>
            <a:r>
              <a:rPr lang="en-US" altLang="zh-TW" sz="1200" kern="0" dirty="0">
                <a:solidFill>
                  <a:sysClr val="windowText" lastClr="000000"/>
                </a:solidFill>
                <a:latin typeface="微軟正黑體" panose="020B0604030504040204" pitchFamily="34" charset="-120"/>
                <a:ea typeface="微軟正黑體" panose="020B0604030504040204" pitchFamily="34" charset="-120"/>
              </a:rPr>
              <a:t>/</a:t>
            </a:r>
            <a:r>
              <a:rPr lang="zh-TW" altLang="en-US" sz="1200" kern="0" dirty="0">
                <a:solidFill>
                  <a:sysClr val="windowText" lastClr="000000"/>
                </a:solidFill>
                <a:latin typeface="微軟正黑體" panose="020B0604030504040204" pitchFamily="34" charset="-120"/>
                <a:ea typeface="微軟正黑體" panose="020B0604030504040204" pitchFamily="34" charset="-120"/>
              </a:rPr>
              <a:t>日，全球第</a:t>
            </a:r>
            <a:r>
              <a:rPr lang="en-US" altLang="zh-TW" sz="1200" kern="0" dirty="0">
                <a:solidFill>
                  <a:sysClr val="windowText" lastClr="000000"/>
                </a:solidFill>
                <a:latin typeface="微軟正黑體" panose="020B0604030504040204" pitchFamily="34" charset="-120"/>
                <a:ea typeface="微軟正黑體" panose="020B0604030504040204" pitchFamily="34" charset="-120"/>
              </a:rPr>
              <a:t>1</a:t>
            </a:r>
          </a:p>
          <a:p>
            <a:pPr marL="171450" marR="0" lvl="0" indent="-171450" algn="just" defTabSz="914400" rtl="0" eaLnBrk="1" fontAlgn="auto" latinLnBrk="0" hangingPunct="1">
              <a:lnSpc>
                <a:spcPts val="1800"/>
              </a:lnSpc>
              <a:spcBef>
                <a:spcPts val="300"/>
              </a:spcBef>
              <a:buClrTx/>
              <a:buSzTx/>
              <a:buFont typeface="Arial" panose="020B0604020202020204" pitchFamily="34" charset="0"/>
              <a:buChar char="•"/>
              <a:tabLst/>
              <a:defRPr/>
            </a:pPr>
            <a:r>
              <a:rPr lang="zh-TW" altLang="en-US" sz="1200" b="1" kern="0" dirty="0">
                <a:solidFill>
                  <a:sysClr val="windowText" lastClr="000000"/>
                </a:solidFill>
                <a:latin typeface="微軟正黑體" panose="020B0604030504040204" pitchFamily="34" charset="-120"/>
                <a:ea typeface="微軟正黑體" panose="020B0604030504040204" pitchFamily="34" charset="-120"/>
              </a:rPr>
              <a:t>原油蘊藏</a:t>
            </a:r>
            <a:r>
              <a:rPr lang="zh-TW" altLang="en-US" sz="1200" kern="0" dirty="0">
                <a:solidFill>
                  <a:sysClr val="windowText" lastClr="000000"/>
                </a:solidFill>
                <a:latin typeface="微軟正黑體" panose="020B0604030504040204" pitchFamily="34" charset="-120"/>
                <a:ea typeface="微軟正黑體" panose="020B0604030504040204" pitchFamily="34" charset="-120"/>
              </a:rPr>
              <a:t>：</a:t>
            </a:r>
            <a:r>
              <a:rPr lang="en-US" altLang="zh-TW" sz="1200" kern="0" dirty="0">
                <a:solidFill>
                  <a:sysClr val="windowText" lastClr="000000"/>
                </a:solidFill>
                <a:latin typeface="微軟正黑體" panose="020B0604030504040204" pitchFamily="34" charset="-120"/>
                <a:ea typeface="微軟正黑體" panose="020B0604030504040204" pitchFamily="34" charset="-120"/>
              </a:rPr>
              <a:t>2,670</a:t>
            </a:r>
            <a:r>
              <a:rPr lang="zh-TW" altLang="en-US" sz="1200" kern="0" dirty="0">
                <a:solidFill>
                  <a:sysClr val="windowText" lastClr="000000"/>
                </a:solidFill>
                <a:latin typeface="微軟正黑體" panose="020B0604030504040204" pitchFamily="34" charset="-120"/>
                <a:ea typeface="微軟正黑體" panose="020B0604030504040204" pitchFamily="34" charset="-120"/>
              </a:rPr>
              <a:t>億桶，全球第</a:t>
            </a:r>
            <a:r>
              <a:rPr lang="en-US" altLang="zh-TW" sz="1200" kern="0" dirty="0">
                <a:solidFill>
                  <a:sysClr val="windowText" lastClr="000000"/>
                </a:solidFill>
                <a:latin typeface="微軟正黑體" panose="020B0604030504040204" pitchFamily="34" charset="-120"/>
                <a:ea typeface="微軟正黑體" panose="020B0604030504040204" pitchFamily="34" charset="-120"/>
              </a:rPr>
              <a:t>2</a:t>
            </a:r>
          </a:p>
        </p:txBody>
      </p:sp>
      <p:pic>
        <p:nvPicPr>
          <p:cNvPr id="52" name="圖片 51" descr="一張含有 地圖 的圖片&#10;&#10;自動產生的描述">
            <a:extLst>
              <a:ext uri="{FF2B5EF4-FFF2-40B4-BE49-F238E27FC236}">
                <a16:creationId xmlns:a16="http://schemas.microsoft.com/office/drawing/2014/main" id="{CEBFBB8C-9AD9-1E81-31D1-1911BFA962B6}"/>
              </a:ext>
            </a:extLst>
          </p:cNvPr>
          <p:cNvPicPr>
            <a:picLocks noChangeAspect="1"/>
          </p:cNvPicPr>
          <p:nvPr/>
        </p:nvPicPr>
        <p:blipFill rotWithShape="1">
          <a:blip r:embed="rId6">
            <a:extLst>
              <a:ext uri="{28A0092B-C50C-407E-A947-70E740481C1C}">
                <a14:useLocalDpi xmlns:a14="http://schemas.microsoft.com/office/drawing/2010/main" val="0"/>
              </a:ext>
            </a:extLst>
          </a:blip>
          <a:srcRect l="14441" t="18886" r="14441" b="9996"/>
          <a:stretch/>
        </p:blipFill>
        <p:spPr>
          <a:xfrm>
            <a:off x="6565233" y="3193901"/>
            <a:ext cx="1301523" cy="1301523"/>
          </a:xfrm>
          <a:prstGeom prst="ellipse">
            <a:avLst/>
          </a:prstGeom>
        </p:spPr>
      </p:pic>
      <p:grpSp>
        <p:nvGrpSpPr>
          <p:cNvPr id="53" name="群組 52">
            <a:extLst>
              <a:ext uri="{FF2B5EF4-FFF2-40B4-BE49-F238E27FC236}">
                <a16:creationId xmlns:a16="http://schemas.microsoft.com/office/drawing/2014/main" id="{3279A759-9EAD-0B72-6F31-ABEC0D4494C1}"/>
              </a:ext>
            </a:extLst>
          </p:cNvPr>
          <p:cNvGrpSpPr/>
          <p:nvPr/>
        </p:nvGrpSpPr>
        <p:grpSpPr>
          <a:xfrm>
            <a:off x="9500763" y="4494727"/>
            <a:ext cx="1795718" cy="872612"/>
            <a:chOff x="7025118" y="3260595"/>
            <a:chExt cx="1814962" cy="816749"/>
          </a:xfrm>
        </p:grpSpPr>
        <p:pic>
          <p:nvPicPr>
            <p:cNvPr id="54" name="圖片 53">
              <a:extLst>
                <a:ext uri="{FF2B5EF4-FFF2-40B4-BE49-F238E27FC236}">
                  <a16:creationId xmlns:a16="http://schemas.microsoft.com/office/drawing/2014/main" id="{9FFB3C0A-BFDE-3E84-1E6C-9DCA41335E46}"/>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5104" b="25104"/>
            <a:stretch/>
          </p:blipFill>
          <p:spPr>
            <a:xfrm>
              <a:off x="7070317" y="3537594"/>
              <a:ext cx="1724564" cy="539750"/>
            </a:xfrm>
            <a:prstGeom prst="rect">
              <a:avLst/>
            </a:prstGeom>
          </p:spPr>
        </p:pic>
        <p:sp>
          <p:nvSpPr>
            <p:cNvPr id="55" name="文字方塊 54">
              <a:extLst>
                <a:ext uri="{FF2B5EF4-FFF2-40B4-BE49-F238E27FC236}">
                  <a16:creationId xmlns:a16="http://schemas.microsoft.com/office/drawing/2014/main" id="{9C36AA29-5B67-673C-28B3-D26C79C39AEC}"/>
                </a:ext>
              </a:extLst>
            </p:cNvPr>
            <p:cNvSpPr txBox="1"/>
            <p:nvPr/>
          </p:nvSpPr>
          <p:spPr>
            <a:xfrm>
              <a:off x="7025118" y="3260595"/>
              <a:ext cx="1814962" cy="276999"/>
            </a:xfrm>
            <a:prstGeom prst="rect">
              <a:avLst/>
            </a:prstGeom>
            <a:noFill/>
          </p:spPr>
          <p:txBody>
            <a:bodyPr wrap="square" rtlCol="0">
              <a:spAutoFit/>
            </a:bodyPr>
            <a:lstStyle/>
            <a:p>
              <a:pPr algn="ctr"/>
              <a:r>
                <a:rPr lang="zh-TW" altLang="en-US" sz="1200" b="1" dirty="0">
                  <a:latin typeface="微軟正黑體" panose="020B0604030504040204" pitchFamily="34" charset="-120"/>
                  <a:ea typeface="微軟正黑體" panose="020B0604030504040204" pitchFamily="34" charset="-120"/>
                </a:rPr>
                <a:t>沙烏地阿拉伯國家石油</a:t>
              </a:r>
            </a:p>
          </p:txBody>
        </p:sp>
      </p:grpSp>
      <p:pic>
        <p:nvPicPr>
          <p:cNvPr id="57" name="Picture 2" descr="Flag of Saudi Arabia.sv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71584" y="260648"/>
            <a:ext cx="786798" cy="524328"/>
          </a:xfrm>
          <a:prstGeom prst="rect">
            <a:avLst/>
          </a:prstGeom>
          <a:noFill/>
          <a:extLst>
            <a:ext uri="{909E8E84-426E-40DD-AFC4-6F175D3DCCD1}">
              <a14:hiddenFill xmlns:a14="http://schemas.microsoft.com/office/drawing/2010/main">
                <a:solidFill>
                  <a:srgbClr val="FFFFFF"/>
                </a:solidFill>
              </a14:hiddenFill>
            </a:ext>
          </a:extLst>
        </p:spPr>
      </p:pic>
      <p:sp>
        <p:nvSpPr>
          <p:cNvPr id="3" name="文字方塊 2">
            <a:extLst>
              <a:ext uri="{FF2B5EF4-FFF2-40B4-BE49-F238E27FC236}">
                <a16:creationId xmlns:a16="http://schemas.microsoft.com/office/drawing/2014/main" id="{92A5C924-2663-1296-CA2B-4B6B62B44E31}"/>
              </a:ext>
            </a:extLst>
          </p:cNvPr>
          <p:cNvSpPr txBox="1"/>
          <p:nvPr/>
        </p:nvSpPr>
        <p:spPr>
          <a:xfrm>
            <a:off x="5580111" y="4548294"/>
            <a:ext cx="1051038" cy="276999"/>
          </a:xfrm>
          <a:prstGeom prst="rect">
            <a:avLst/>
          </a:prstGeom>
          <a:solidFill>
            <a:srgbClr val="006C35"/>
          </a:solidFill>
          <a:ln>
            <a:noFill/>
            <a:prstDash val="sysDash"/>
          </a:ln>
        </p:spPr>
        <p:txBody>
          <a:bodyPr wrap="square" rtlCol="0">
            <a:spAutoFit/>
          </a:bodyPr>
          <a:lstStyle/>
          <a:p>
            <a:pPr algn="ctr"/>
            <a:r>
              <a:rPr lang="en-US" altLang="zh-TW" sz="1200" b="1" dirty="0">
                <a:solidFill>
                  <a:schemeClr val="bg1"/>
                </a:solidFill>
                <a:latin typeface="微軟正黑體" panose="020B0604030504040204" pitchFamily="34" charset="-120"/>
                <a:ea typeface="微軟正黑體" panose="020B0604030504040204" pitchFamily="34" charset="-120"/>
              </a:rPr>
              <a:t>2025</a:t>
            </a:r>
            <a:r>
              <a:rPr lang="zh-TW" altLang="en-US" sz="1200" b="1" dirty="0">
                <a:solidFill>
                  <a:schemeClr val="bg1"/>
                </a:solidFill>
                <a:latin typeface="微軟正黑體" panose="020B0604030504040204" pitchFamily="34" charset="-120"/>
                <a:ea typeface="微軟正黑體" panose="020B0604030504040204" pitchFamily="34" charset="-120"/>
              </a:rPr>
              <a:t>年數據</a:t>
            </a:r>
          </a:p>
        </p:txBody>
      </p:sp>
      <p:cxnSp>
        <p:nvCxnSpPr>
          <p:cNvPr id="12" name="直線單箭頭接點 11">
            <a:extLst>
              <a:ext uri="{FF2B5EF4-FFF2-40B4-BE49-F238E27FC236}">
                <a16:creationId xmlns:a16="http://schemas.microsoft.com/office/drawing/2014/main" id="{096C9451-BEB6-FF1D-AC3A-3D9CDBB39370}"/>
              </a:ext>
            </a:extLst>
          </p:cNvPr>
          <p:cNvCxnSpPr>
            <a:cxnSpLocks/>
          </p:cNvCxnSpPr>
          <p:nvPr/>
        </p:nvCxnSpPr>
        <p:spPr>
          <a:xfrm>
            <a:off x="3820840" y="5457418"/>
            <a:ext cx="1390431" cy="0"/>
          </a:xfrm>
          <a:prstGeom prst="straightConnector1">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6" name="直線接點 5">
            <a:extLst>
              <a:ext uri="{FF2B5EF4-FFF2-40B4-BE49-F238E27FC236}">
                <a16:creationId xmlns:a16="http://schemas.microsoft.com/office/drawing/2014/main" id="{55E55B05-CAD1-CC51-AD14-1B8010656172}"/>
              </a:ext>
            </a:extLst>
          </p:cNvPr>
          <p:cNvCxnSpPr>
            <a:cxnSpLocks/>
          </p:cNvCxnSpPr>
          <p:nvPr/>
        </p:nvCxnSpPr>
        <p:spPr>
          <a:xfrm>
            <a:off x="3820840" y="5457418"/>
            <a:ext cx="0" cy="813149"/>
          </a:xfrm>
          <a:prstGeom prst="line">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4" name="文字方塊 13">
            <a:extLst>
              <a:ext uri="{FF2B5EF4-FFF2-40B4-BE49-F238E27FC236}">
                <a16:creationId xmlns:a16="http://schemas.microsoft.com/office/drawing/2014/main" id="{5DDF00EA-E3A6-8A9A-6A7C-69589BC50795}"/>
              </a:ext>
            </a:extLst>
          </p:cNvPr>
          <p:cNvSpPr txBox="1"/>
          <p:nvPr/>
        </p:nvSpPr>
        <p:spPr>
          <a:xfrm>
            <a:off x="3797006" y="5156829"/>
            <a:ext cx="961376" cy="215444"/>
          </a:xfrm>
          <a:prstGeom prst="rect">
            <a:avLst/>
          </a:prstGeom>
          <a:noFill/>
        </p:spPr>
        <p:txBody>
          <a:bodyPr wrap="square" rtlCol="0">
            <a:spAutoFit/>
          </a:bodyPr>
          <a:lstStyle/>
          <a:p>
            <a:pPr algn="ctr"/>
            <a:r>
              <a:rPr lang="en-US" altLang="zh-TW" sz="800" b="1" dirty="0">
                <a:latin typeface="微軟正黑體" panose="020B0604030504040204" pitchFamily="34" charset="-120"/>
                <a:ea typeface="微軟正黑體" panose="020B0604030504040204" pitchFamily="34" charset="-120"/>
              </a:rPr>
              <a:t>IMF</a:t>
            </a:r>
            <a:r>
              <a:rPr lang="zh-TW" altLang="en-US" sz="800" b="1" dirty="0">
                <a:latin typeface="微軟正黑體" panose="020B0604030504040204" pitchFamily="34" charset="-120"/>
                <a:ea typeface="微軟正黑體" panose="020B0604030504040204" pitchFamily="34" charset="-120"/>
              </a:rPr>
              <a:t> </a:t>
            </a:r>
            <a:r>
              <a:rPr lang="en-US" altLang="zh-TW" sz="800" b="1" dirty="0">
                <a:latin typeface="微軟正黑體" panose="020B0604030504040204" pitchFamily="34" charset="-120"/>
                <a:ea typeface="微軟正黑體" panose="020B0604030504040204" pitchFamily="34" charset="-120"/>
              </a:rPr>
              <a:t>forecast</a:t>
            </a:r>
            <a:endParaRPr lang="zh-TW" altLang="en-US" sz="800" b="1"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5741720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B08D90E2-3E9E-139B-701D-D5AD9235A71B}"/>
              </a:ext>
            </a:extLst>
          </p:cNvPr>
          <p:cNvSpPr>
            <a:spLocks noGrp="1"/>
          </p:cNvSpPr>
          <p:nvPr>
            <p:ph type="sldNum" sz="quarter" idx="10"/>
          </p:nvPr>
        </p:nvSpPr>
        <p:spPr/>
        <p:txBody>
          <a:bodyPr/>
          <a:lstStyle/>
          <a:p>
            <a:fld id="{415482FC-CF5F-466A-B8B6-BC3733E92023}" type="slidenum">
              <a:rPr lang="zh-TW" altLang="en-US" smtClean="0"/>
              <a:pPr/>
              <a:t>3</a:t>
            </a:fld>
            <a:endParaRPr lang="zh-TW" altLang="en-US" dirty="0"/>
          </a:p>
        </p:txBody>
      </p:sp>
      <p:sp>
        <p:nvSpPr>
          <p:cNvPr id="63" name="文字方塊 23">
            <a:extLst>
              <a:ext uri="{FF2B5EF4-FFF2-40B4-BE49-F238E27FC236}">
                <a16:creationId xmlns:a16="http://schemas.microsoft.com/office/drawing/2014/main" id="{243A4290-A7D0-2A09-4C7C-571A3F66084B}"/>
              </a:ext>
            </a:extLst>
          </p:cNvPr>
          <p:cNvSpPr txBox="1"/>
          <p:nvPr/>
        </p:nvSpPr>
        <p:spPr>
          <a:xfrm>
            <a:off x="404811" y="3702511"/>
            <a:ext cx="3946632" cy="2785443"/>
          </a:xfrm>
          <a:prstGeom prst="rect">
            <a:avLst/>
          </a:prstGeom>
          <a:noFill/>
          <a:ln w="19050">
            <a:noFill/>
          </a:ln>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just" hangingPunct="0">
              <a:lnSpc>
                <a:spcPts val="1900"/>
              </a:lnSpc>
              <a:spcBef>
                <a:spcPts val="300"/>
              </a:spcBef>
              <a:buFont typeface="Wingdings" panose="05000000000000000000" pitchFamily="2" charset="2"/>
              <a:buChar char="p"/>
              <a:defRPr/>
            </a:pPr>
            <a:r>
              <a:rPr lang="zh-TW" altLang="en-US" sz="1200" dirty="0">
                <a:latin typeface="微軟正黑體" panose="020B0604030504040204" pitchFamily="34" charset="-120"/>
                <a:ea typeface="微軟正黑體" panose="020B0604030504040204" pitchFamily="34" charset="-120"/>
              </a:rPr>
              <a:t>沙烏地國家統計局公佈的數據顯示，</a:t>
            </a:r>
            <a:r>
              <a:rPr lang="en-US" altLang="zh-TW" sz="1200" dirty="0">
                <a:latin typeface="微軟正黑體" panose="020B0604030504040204" pitchFamily="34" charset="-120"/>
                <a:ea typeface="微軟正黑體" panose="020B0604030504040204" pitchFamily="34" charset="-120"/>
              </a:rPr>
              <a:t>4Q25</a:t>
            </a:r>
            <a:r>
              <a:rPr lang="zh-TW" altLang="en-US" sz="1200" dirty="0">
                <a:latin typeface="微軟正黑體" panose="020B0604030504040204" pitchFamily="34" charset="-120"/>
                <a:ea typeface="微軟正黑體" panose="020B0604030504040204" pitchFamily="34" charset="-120"/>
              </a:rPr>
              <a:t>實際</a:t>
            </a:r>
            <a:r>
              <a:rPr lang="en-US" altLang="zh-TW" sz="1200" dirty="0">
                <a:latin typeface="微軟正黑體" panose="020B0604030504040204" pitchFamily="34" charset="-120"/>
                <a:ea typeface="微軟正黑體" panose="020B0604030504040204" pitchFamily="34" charset="-120"/>
              </a:rPr>
              <a:t>GDP</a:t>
            </a:r>
            <a:r>
              <a:rPr lang="zh-TW" altLang="en-US" sz="1200" dirty="0">
                <a:latin typeface="微軟正黑體" panose="020B0604030504040204" pitchFamily="34" charset="-120"/>
                <a:ea typeface="微軟正黑體" panose="020B0604030504040204" pitchFamily="34" charset="-120"/>
              </a:rPr>
              <a:t>年增</a:t>
            </a:r>
            <a:r>
              <a:rPr lang="en-US" altLang="zh-TW" sz="1200" dirty="0">
                <a:latin typeface="微軟正黑體" panose="020B0604030504040204" pitchFamily="34" charset="-120"/>
                <a:ea typeface="微軟正黑體" panose="020B0604030504040204" pitchFamily="34" charset="-120"/>
              </a:rPr>
              <a:t>5%</a:t>
            </a:r>
            <a:r>
              <a:rPr lang="zh-TW"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2025</a:t>
            </a:r>
            <a:r>
              <a:rPr lang="zh-TW" altLang="en-US" sz="1200" dirty="0">
                <a:latin typeface="微軟正黑體" panose="020B0604030504040204" pitchFamily="34" charset="-120"/>
                <a:ea typeface="微軟正黑體" panose="020B0604030504040204" pitchFamily="34" charset="-120"/>
              </a:rPr>
              <a:t>全年</a:t>
            </a:r>
            <a:r>
              <a:rPr lang="en-US" altLang="zh-TW" sz="1200" dirty="0">
                <a:latin typeface="微軟正黑體" panose="020B0604030504040204" pitchFamily="34" charset="-120"/>
                <a:ea typeface="微軟正黑體" panose="020B0604030504040204" pitchFamily="34" charset="-120"/>
              </a:rPr>
              <a:t>GDP</a:t>
            </a:r>
            <a:r>
              <a:rPr lang="zh-TW" altLang="en-US" sz="1200" dirty="0">
                <a:latin typeface="微軟正黑體" panose="020B0604030504040204" pitchFamily="34" charset="-120"/>
                <a:ea typeface="微軟正黑體" panose="020B0604030504040204" pitchFamily="34" charset="-120"/>
              </a:rPr>
              <a:t>成長</a:t>
            </a:r>
            <a:r>
              <a:rPr lang="en-US" altLang="zh-TW" sz="1200" dirty="0">
                <a:latin typeface="微軟正黑體" panose="020B0604030504040204" pitchFamily="34" charset="-120"/>
                <a:ea typeface="微軟正黑體" panose="020B0604030504040204" pitchFamily="34" charset="-120"/>
              </a:rPr>
              <a:t>4.5%</a:t>
            </a:r>
            <a:r>
              <a:rPr lang="zh-TW" altLang="en-US" sz="1200" dirty="0">
                <a:latin typeface="微軟正黑體" panose="020B0604030504040204" pitchFamily="34" charset="-120"/>
                <a:ea typeface="微軟正黑體" panose="020B0604030504040204" pitchFamily="34" charset="-120"/>
              </a:rPr>
              <a:t>達</a:t>
            </a:r>
            <a:r>
              <a:rPr lang="en-US" altLang="zh-TW" sz="1200" dirty="0">
                <a:latin typeface="微軟正黑體" panose="020B0604030504040204" pitchFamily="34" charset="-120"/>
                <a:ea typeface="微軟正黑體" panose="020B0604030504040204" pitchFamily="34" charset="-120"/>
              </a:rPr>
              <a:t>1.28</a:t>
            </a:r>
            <a:r>
              <a:rPr lang="zh-TW" altLang="en-US" sz="1200" dirty="0">
                <a:latin typeface="微軟正黑體" panose="020B0604030504040204" pitchFamily="34" charset="-120"/>
                <a:ea typeface="微軟正黑體" panose="020B0604030504040204" pitchFamily="34" charset="-120"/>
              </a:rPr>
              <a:t>兆美元，其中石油業成長</a:t>
            </a:r>
            <a:r>
              <a:rPr lang="en-US" altLang="zh-TW" sz="1200" dirty="0">
                <a:latin typeface="微軟正黑體" panose="020B0604030504040204" pitchFamily="34" charset="-120"/>
                <a:ea typeface="微軟正黑體" panose="020B0604030504040204" pitchFamily="34" charset="-120"/>
              </a:rPr>
              <a:t>5.7%</a:t>
            </a:r>
            <a:r>
              <a:rPr lang="zh-TW" altLang="en-US" sz="1200" dirty="0">
                <a:latin typeface="微軟正黑體" panose="020B0604030504040204" pitchFamily="34" charset="-120"/>
                <a:ea typeface="微軟正黑體" panose="020B0604030504040204" pitchFamily="34" charset="-120"/>
              </a:rPr>
              <a:t>，非石油業成長</a:t>
            </a:r>
            <a:r>
              <a:rPr lang="en-US" altLang="zh-TW" sz="1200" dirty="0">
                <a:latin typeface="微軟正黑體" panose="020B0604030504040204" pitchFamily="34" charset="-120"/>
                <a:ea typeface="微軟正黑體" panose="020B0604030504040204" pitchFamily="34" charset="-120"/>
              </a:rPr>
              <a:t>4.9%</a:t>
            </a:r>
            <a:r>
              <a:rPr lang="zh-TW" altLang="en-US"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a:p>
            <a:pPr marL="285750" lvl="0" indent="-285750" algn="just" hangingPunct="0">
              <a:lnSpc>
                <a:spcPts val="1900"/>
              </a:lnSpc>
              <a:spcBef>
                <a:spcPts val="300"/>
              </a:spcBef>
              <a:buFont typeface="Wingdings" panose="05000000000000000000" pitchFamily="2" charset="2"/>
              <a:buChar char="p"/>
              <a:defRPr/>
            </a:pPr>
            <a:r>
              <a:rPr lang="zh-TW" altLang="en-US" sz="1200" dirty="0">
                <a:latin typeface="微軟正黑體" panose="020B0604030504040204" pitchFamily="34" charset="-120"/>
                <a:ea typeface="微軟正黑體" panose="020B0604030504040204" pitchFamily="34" charset="-120"/>
              </a:rPr>
              <a:t>與此同時，沙烏地阿拉伯的非石油出口額飆升至有史以來最高的季度水平，</a:t>
            </a:r>
            <a:r>
              <a:rPr lang="en-US" altLang="zh-TW" sz="1200" dirty="0">
                <a:latin typeface="微軟正黑體" panose="020B0604030504040204" pitchFamily="34" charset="-120"/>
                <a:ea typeface="微軟正黑體" panose="020B0604030504040204" pitchFamily="34" charset="-120"/>
              </a:rPr>
              <a:t>4Q25</a:t>
            </a:r>
            <a:r>
              <a:rPr lang="zh-TW" altLang="en-US" sz="1200" dirty="0">
                <a:latin typeface="微軟正黑體" panose="020B0604030504040204" pitchFamily="34" charset="-120"/>
                <a:ea typeface="微軟正黑體" panose="020B0604030504040204" pitchFamily="34" charset="-120"/>
              </a:rPr>
              <a:t>達到</a:t>
            </a:r>
            <a:r>
              <a:rPr lang="en-US" altLang="zh-TW" sz="1200" dirty="0">
                <a:latin typeface="微軟正黑體" panose="020B0604030504040204" pitchFamily="34" charset="-120"/>
                <a:ea typeface="微軟正黑體" panose="020B0604030504040204" pitchFamily="34" charset="-120"/>
              </a:rPr>
              <a:t>259</a:t>
            </a:r>
            <a:r>
              <a:rPr lang="zh-TW" altLang="en-US" sz="1200" dirty="0">
                <a:latin typeface="微軟正黑體" panose="020B0604030504040204" pitchFamily="34" charset="-120"/>
                <a:ea typeface="微軟正黑體" panose="020B0604030504040204" pitchFamily="34" charset="-120"/>
              </a:rPr>
              <a:t>億美元，比沙烏地阿拉伯開始公佈該數據的</a:t>
            </a:r>
            <a:r>
              <a:rPr lang="en-US" altLang="zh-TW" sz="1200" dirty="0">
                <a:latin typeface="微軟正黑體" panose="020B0604030504040204" pitchFamily="34" charset="-120"/>
                <a:ea typeface="微軟正黑體" panose="020B0604030504040204" pitchFamily="34" charset="-120"/>
              </a:rPr>
              <a:t>2017</a:t>
            </a:r>
            <a:r>
              <a:rPr lang="zh-TW" altLang="en-US" sz="1200" dirty="0">
                <a:latin typeface="微軟正黑體" panose="020B0604030504040204" pitchFamily="34" charset="-120"/>
                <a:ea typeface="微軟正黑體" panose="020B0604030504040204" pitchFamily="34" charset="-120"/>
              </a:rPr>
              <a:t>年</a:t>
            </a:r>
            <a:r>
              <a:rPr lang="en-US" altLang="zh-TW" sz="1200" dirty="0">
                <a:latin typeface="微軟正黑體" panose="020B0604030504040204" pitchFamily="34" charset="-120"/>
                <a:ea typeface="微軟正黑體" panose="020B0604030504040204" pitchFamily="34" charset="-120"/>
              </a:rPr>
              <a:t>Q1</a:t>
            </a:r>
            <a:r>
              <a:rPr lang="zh-TW" altLang="en-US" sz="1200" dirty="0">
                <a:latin typeface="微軟正黑體" panose="020B0604030504040204" pitchFamily="34" charset="-120"/>
                <a:ea typeface="微軟正黑體" panose="020B0604030504040204" pitchFamily="34" charset="-120"/>
              </a:rPr>
              <a:t>增長了</a:t>
            </a:r>
            <a:r>
              <a:rPr lang="en-US" altLang="zh-TW" sz="1200" dirty="0">
                <a:latin typeface="微軟正黑體" panose="020B0604030504040204" pitchFamily="34" charset="-120"/>
                <a:ea typeface="微軟正黑體" panose="020B0604030504040204" pitchFamily="34" charset="-120"/>
              </a:rPr>
              <a:t>114%</a:t>
            </a:r>
            <a:r>
              <a:rPr lang="zh-TW" altLang="en-US" sz="1200" dirty="0">
                <a:latin typeface="微軟正黑體" panose="020B0604030504040204" pitchFamily="34" charset="-120"/>
                <a:ea typeface="微軟正黑體" panose="020B0604030504040204" pitchFamily="34" charset="-120"/>
              </a:rPr>
              <a:t>。非石油出口的成長凸顯了沙烏地阿拉伯王國「</a:t>
            </a:r>
            <a:r>
              <a:rPr lang="en-US" altLang="zh-TW" sz="1200" dirty="0">
                <a:latin typeface="微軟正黑體" panose="020B0604030504040204" pitchFamily="34" charset="-120"/>
                <a:ea typeface="微軟正黑體" panose="020B0604030504040204" pitchFamily="34" charset="-120"/>
              </a:rPr>
              <a:t>2030</a:t>
            </a:r>
            <a:r>
              <a:rPr lang="zh-TW" altLang="en-US" sz="1200" dirty="0">
                <a:latin typeface="微軟正黑體" panose="020B0604030504040204" pitchFamily="34" charset="-120"/>
                <a:ea typeface="微軟正黑體" panose="020B0604030504040204" pitchFamily="34" charset="-120"/>
              </a:rPr>
              <a:t>願景」計畫的進展。該計劃旨在透過減少對原油收入的依賴，實現經濟多元化，並力爭到</a:t>
            </a:r>
            <a:r>
              <a:rPr lang="en-US" altLang="zh-TW" sz="1200" dirty="0">
                <a:latin typeface="微軟正黑體" panose="020B0604030504040204" pitchFamily="34" charset="-120"/>
                <a:ea typeface="微軟正黑體" panose="020B0604030504040204" pitchFamily="34" charset="-120"/>
              </a:rPr>
              <a:t>2030</a:t>
            </a:r>
            <a:r>
              <a:rPr lang="zh-TW" altLang="en-US" sz="1200" dirty="0">
                <a:latin typeface="微軟正黑體" panose="020B0604030504040204" pitchFamily="34" charset="-120"/>
                <a:ea typeface="微軟正黑體" panose="020B0604030504040204" pitchFamily="34" charset="-120"/>
              </a:rPr>
              <a:t>年末將非石油出口對非石油國內生產總值的貢獻提高到</a:t>
            </a:r>
            <a:r>
              <a:rPr lang="en-US" altLang="zh-TW" sz="1200" dirty="0">
                <a:latin typeface="微軟正黑體" panose="020B0604030504040204" pitchFamily="34" charset="-120"/>
                <a:ea typeface="微軟正黑體" panose="020B0604030504040204" pitchFamily="34" charset="-120"/>
              </a:rPr>
              <a:t>50%</a:t>
            </a:r>
            <a:r>
              <a:rPr lang="zh-TW" altLang="en-US" sz="1200" dirty="0">
                <a:latin typeface="微軟正黑體" panose="020B0604030504040204" pitchFamily="34" charset="-120"/>
                <a:ea typeface="微軟正黑體" panose="020B0604030504040204" pitchFamily="34" charset="-120"/>
              </a:rPr>
              <a:t>。</a:t>
            </a:r>
          </a:p>
        </p:txBody>
      </p:sp>
      <p:sp>
        <p:nvSpPr>
          <p:cNvPr id="64" name="文字方塊 25">
            <a:extLst>
              <a:ext uri="{FF2B5EF4-FFF2-40B4-BE49-F238E27FC236}">
                <a16:creationId xmlns:a16="http://schemas.microsoft.com/office/drawing/2014/main" id="{B5ADD5FC-9616-35E0-728C-6E69B41354D2}"/>
              </a:ext>
            </a:extLst>
          </p:cNvPr>
          <p:cNvSpPr txBox="1"/>
          <p:nvPr/>
        </p:nvSpPr>
        <p:spPr>
          <a:xfrm>
            <a:off x="404812" y="1133377"/>
            <a:ext cx="3946632" cy="2143898"/>
          </a:xfrm>
          <a:prstGeom prst="rect">
            <a:avLst/>
          </a:prstGeom>
          <a:noFill/>
          <a:ln w="3175">
            <a:noFill/>
          </a:ln>
        </p:spPr>
        <p:txBody>
          <a:bodyPr wrap="square" tIns="90000" bIns="9000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lvl="0" indent="-285750" algn="just">
              <a:lnSpc>
                <a:spcPts val="1900"/>
              </a:lnSpc>
              <a:spcBef>
                <a:spcPts val="300"/>
              </a:spcBef>
              <a:buFont typeface="Wingdings" panose="05000000000000000000" pitchFamily="2" charset="2"/>
              <a:buChar char="p"/>
              <a:defRPr/>
            </a:pPr>
            <a:r>
              <a:rPr lang="zh-TW" altLang="en-US" sz="1200" dirty="0">
                <a:latin typeface="微軟正黑體" panose="020B0604030504040204" pitchFamily="34" charset="-120"/>
                <a:ea typeface="微軟正黑體" panose="020B0604030504040204" pitchFamily="34" charset="-120"/>
              </a:rPr>
              <a:t>由於沙烏地里亞爾</a:t>
            </a:r>
            <a:r>
              <a:rPr lang="en-US" altLang="zh-TW" sz="1200" dirty="0">
                <a:latin typeface="微軟正黑體" panose="020B0604030504040204" pitchFamily="34" charset="-120"/>
                <a:ea typeface="微軟正黑體" panose="020B0604030504040204" pitchFamily="34" charset="-120"/>
              </a:rPr>
              <a:t>(SAR)</a:t>
            </a:r>
            <a:r>
              <a:rPr lang="zh-TW" altLang="en-US" sz="1200" dirty="0">
                <a:latin typeface="微軟正黑體" panose="020B0604030504040204" pitchFamily="34" charset="-120"/>
                <a:ea typeface="微軟正黑體" panose="020B0604030504040204" pitchFamily="34" charset="-120"/>
              </a:rPr>
              <a:t>匯率與美元掛鉤</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保持</a:t>
            </a: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美元兌</a:t>
            </a:r>
            <a:r>
              <a:rPr lang="en-US" altLang="zh-TW" sz="1200" dirty="0">
                <a:latin typeface="微軟正黑體" panose="020B0604030504040204" pitchFamily="34" charset="-120"/>
                <a:ea typeface="微軟正黑體" panose="020B0604030504040204" pitchFamily="34" charset="-120"/>
              </a:rPr>
              <a:t>3.75</a:t>
            </a:r>
            <a:r>
              <a:rPr lang="zh-TW" altLang="en-US" sz="1200" dirty="0">
                <a:latin typeface="微軟正黑體" panose="020B0604030504040204" pitchFamily="34" charset="-120"/>
                <a:ea typeface="微軟正黑體" panose="020B0604030504040204" pitchFamily="34" charset="-120"/>
              </a:rPr>
              <a:t>沙烏地里亞爾</a:t>
            </a:r>
            <a:r>
              <a:rPr lang="en-US" altLang="zh-TW" sz="1200" dirty="0">
                <a:latin typeface="微軟正黑體" panose="020B0604030504040204" pitchFamily="34" charset="-120"/>
                <a:ea typeface="微軟正黑體" panose="020B0604030504040204" pitchFamily="34" charset="-120"/>
              </a:rPr>
              <a:t>)</a:t>
            </a:r>
            <a:r>
              <a:rPr lang="zh-TW" altLang="en-US" sz="1200" dirty="0">
                <a:latin typeface="微軟正黑體" panose="020B0604030504040204" pitchFamily="34" charset="-120"/>
                <a:ea typeface="微軟正黑體" panose="020B0604030504040204" pitchFamily="34" charset="-120"/>
              </a:rPr>
              <a:t>，因此沙烏地阿拉伯央行利率政策緊跟隨美國聯準會腳步。</a:t>
            </a:r>
            <a:r>
              <a:rPr lang="en-US" altLang="zh-TW" sz="1200" dirty="0">
                <a:latin typeface="微軟正黑體" panose="020B0604030504040204" pitchFamily="34" charset="-120"/>
                <a:ea typeface="微軟正黑體" panose="020B0604030504040204" pitchFamily="34" charset="-120"/>
              </a:rPr>
              <a:t>2025</a:t>
            </a:r>
            <a:r>
              <a:rPr lang="zh-TW" altLang="en-US" sz="1200" dirty="0">
                <a:latin typeface="微軟正黑體" panose="020B0604030504040204" pitchFamily="34" charset="-120"/>
                <a:ea typeface="微軟正黑體" panose="020B0604030504040204" pitchFamily="34" charset="-120"/>
              </a:rPr>
              <a:t>年沙烏地阿拉伯央行將</a:t>
            </a:r>
            <a:r>
              <a:rPr lang="zh-TW" altLang="en-US" sz="1200" u="sng" dirty="0">
                <a:latin typeface="微軟正黑體" panose="020B0604030504040204" pitchFamily="34" charset="-120"/>
                <a:ea typeface="微軟正黑體" panose="020B0604030504040204" pitchFamily="34" charset="-120"/>
              </a:rPr>
              <a:t>回購利率</a:t>
            </a:r>
            <a:r>
              <a:rPr lang="en-US" altLang="zh-TW" sz="1200" u="sng" dirty="0">
                <a:latin typeface="微軟正黑體" panose="020B0604030504040204" pitchFamily="34" charset="-120"/>
                <a:ea typeface="微軟正黑體" panose="020B0604030504040204" pitchFamily="34" charset="-120"/>
              </a:rPr>
              <a:t>(Repo Rate)</a:t>
            </a:r>
            <a:r>
              <a:rPr lang="zh-TW" altLang="en-US" sz="1200" dirty="0">
                <a:latin typeface="微軟正黑體" panose="020B0604030504040204" pitchFamily="34" charset="-120"/>
                <a:ea typeface="微軟正黑體" panose="020B0604030504040204" pitchFamily="34" charset="-120"/>
              </a:rPr>
              <a:t>和</a:t>
            </a:r>
            <a:r>
              <a:rPr lang="zh-TW" altLang="en-US" sz="1200" u="sng" dirty="0">
                <a:latin typeface="微軟正黑體" panose="020B0604030504040204" pitchFamily="34" charset="-120"/>
                <a:ea typeface="微軟正黑體" panose="020B0604030504040204" pitchFamily="34" charset="-120"/>
              </a:rPr>
              <a:t>逆回購利率</a:t>
            </a:r>
            <a:r>
              <a:rPr lang="en-US" altLang="zh-TW" sz="1200" u="sng" dirty="0">
                <a:latin typeface="微軟正黑體" panose="020B0604030504040204" pitchFamily="34" charset="-120"/>
                <a:ea typeface="微軟正黑體" panose="020B0604030504040204" pitchFamily="34" charset="-120"/>
              </a:rPr>
              <a:t>(Reserve Repo Rate)</a:t>
            </a:r>
            <a:r>
              <a:rPr lang="zh-TW" altLang="en-US" sz="1200" dirty="0">
                <a:latin typeface="微軟正黑體" panose="020B0604030504040204" pitchFamily="34" charset="-120"/>
                <a:ea typeface="微軟正黑體" panose="020B0604030504040204" pitchFamily="34" charset="-120"/>
              </a:rPr>
              <a:t>下調三碼，至</a:t>
            </a:r>
            <a:r>
              <a:rPr lang="en-US" altLang="zh-TW" sz="1200" dirty="0">
                <a:latin typeface="微軟正黑體" panose="020B0604030504040204" pitchFamily="34" charset="-120"/>
                <a:ea typeface="微軟正黑體" panose="020B0604030504040204" pitchFamily="34" charset="-120"/>
              </a:rPr>
              <a:t>4.25%</a:t>
            </a:r>
            <a:r>
              <a:rPr lang="zh-TW" altLang="en-US" sz="1200" dirty="0">
                <a:latin typeface="微軟正黑體" panose="020B0604030504040204" pitchFamily="34" charset="-120"/>
                <a:ea typeface="微軟正黑體" panose="020B0604030504040204" pitchFamily="34" charset="-120"/>
              </a:rPr>
              <a:t>和</a:t>
            </a:r>
            <a:r>
              <a:rPr lang="en-US" altLang="zh-TW" sz="1200" dirty="0">
                <a:latin typeface="微軟正黑體" panose="020B0604030504040204" pitchFamily="34" charset="-120"/>
                <a:ea typeface="微軟正黑體" panose="020B0604030504040204" pitchFamily="34" charset="-120"/>
              </a:rPr>
              <a:t>3.75%</a:t>
            </a:r>
            <a:r>
              <a:rPr lang="zh-TW" altLang="en-US"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a:p>
            <a:pPr marL="285750" lvl="0" indent="-285750" algn="just">
              <a:lnSpc>
                <a:spcPts val="1900"/>
              </a:lnSpc>
              <a:spcBef>
                <a:spcPts val="300"/>
              </a:spcBef>
              <a:buFont typeface="Wingdings" panose="05000000000000000000" pitchFamily="2" charset="2"/>
              <a:buChar char="p"/>
              <a:defRPr/>
            </a:pPr>
            <a:r>
              <a:rPr lang="zh-TW" altLang="en-US" sz="1200" dirty="0">
                <a:latin typeface="微軟正黑體" panose="020B0604030504040204" pitchFamily="34" charset="-120"/>
                <a:ea typeface="微軟正黑體" panose="020B0604030504040204" pitchFamily="34" charset="-120"/>
              </a:rPr>
              <a:t>沙國物價穩定，儘管</a:t>
            </a:r>
            <a:r>
              <a:rPr lang="en-US" altLang="zh-TW" sz="1200" dirty="0">
                <a:latin typeface="微軟正黑體" panose="020B0604030504040204" pitchFamily="34" charset="-120"/>
                <a:ea typeface="微軟正黑體" panose="020B0604030504040204" pitchFamily="34" charset="-120"/>
              </a:rPr>
              <a:t>2025</a:t>
            </a:r>
            <a:r>
              <a:rPr lang="zh-TW" altLang="en-US" sz="1200" dirty="0">
                <a:latin typeface="微軟正黑體" panose="020B0604030504040204" pitchFamily="34" charset="-120"/>
                <a:ea typeface="微軟正黑體" panose="020B0604030504040204" pitchFamily="34" charset="-120"/>
              </a:rPr>
              <a:t>年</a:t>
            </a:r>
            <a:r>
              <a:rPr lang="en-US" altLang="zh-TW" sz="1200" dirty="0">
                <a:latin typeface="微軟正黑體" panose="020B0604030504040204" pitchFamily="34" charset="-120"/>
                <a:ea typeface="微軟正黑體" panose="020B0604030504040204" pitchFamily="34" charset="-120"/>
              </a:rPr>
              <a:t>CPI</a:t>
            </a:r>
            <a:r>
              <a:rPr lang="zh-TW" altLang="en-US" sz="1200" dirty="0">
                <a:latin typeface="微軟正黑體" panose="020B0604030504040204" pitchFamily="34" charset="-120"/>
                <a:ea typeface="微軟正黑體" panose="020B0604030504040204" pitchFamily="34" charset="-120"/>
              </a:rPr>
              <a:t>略為上升，但</a:t>
            </a:r>
            <a:r>
              <a:rPr lang="en-US" altLang="zh-TW" sz="1200" dirty="0">
                <a:latin typeface="微軟正黑體" panose="020B0604030504040204" pitchFamily="34" charset="-120"/>
                <a:ea typeface="微軟正黑體" panose="020B0604030504040204" pitchFamily="34" charset="-120"/>
              </a:rPr>
              <a:t>2026</a:t>
            </a:r>
            <a:r>
              <a:rPr lang="zh-TW" altLang="en-US" sz="1200" dirty="0">
                <a:latin typeface="微軟正黑體" panose="020B0604030504040204" pitchFamily="34" charset="-120"/>
                <a:ea typeface="微軟正黑體" panose="020B0604030504040204" pitchFamily="34" charset="-120"/>
              </a:rPr>
              <a:t>年</a:t>
            </a:r>
            <a:r>
              <a:rPr lang="en-US" altLang="zh-TW" sz="1200" dirty="0">
                <a:latin typeface="微軟正黑體" panose="020B0604030504040204" pitchFamily="34" charset="-120"/>
                <a:ea typeface="微軟正黑體" panose="020B0604030504040204" pitchFamily="34" charset="-120"/>
              </a:rPr>
              <a:t>1</a:t>
            </a:r>
            <a:r>
              <a:rPr lang="zh-TW" altLang="en-US" sz="1200" dirty="0">
                <a:latin typeface="微軟正黑體" panose="020B0604030504040204" pitchFamily="34" charset="-120"/>
                <a:ea typeface="微軟正黑體" panose="020B0604030504040204" pitchFamily="34" charset="-120"/>
              </a:rPr>
              <a:t>月下降至</a:t>
            </a:r>
            <a:r>
              <a:rPr lang="en-US" altLang="zh-TW" sz="1200" dirty="0">
                <a:latin typeface="微軟正黑體" panose="020B0604030504040204" pitchFamily="34" charset="-120"/>
                <a:ea typeface="微軟正黑體" panose="020B0604030504040204" pitchFamily="34" charset="-120"/>
              </a:rPr>
              <a:t>1.8%</a:t>
            </a:r>
            <a:r>
              <a:rPr lang="zh-TW" altLang="en-US" sz="1200" dirty="0">
                <a:latin typeface="微軟正黑體" panose="020B0604030504040204" pitchFamily="34" charset="-120"/>
                <a:ea typeface="微軟正黑體" panose="020B0604030504040204" pitchFamily="34" charset="-120"/>
              </a:rPr>
              <a:t>；</a:t>
            </a:r>
            <a:r>
              <a:rPr lang="en-US" altLang="zh-TW" sz="1200" dirty="0">
                <a:latin typeface="微軟正黑體" panose="020B0604030504040204" pitchFamily="34" charset="-120"/>
                <a:ea typeface="微軟正黑體" panose="020B0604030504040204" pitchFamily="34" charset="-120"/>
              </a:rPr>
              <a:t>IMF</a:t>
            </a:r>
            <a:r>
              <a:rPr lang="zh-TW" altLang="en-US" sz="1200" dirty="0">
                <a:latin typeface="微軟正黑體" panose="020B0604030504040204" pitchFamily="34" charset="-120"/>
                <a:ea typeface="微軟正黑體" panose="020B0604030504040204" pitchFamily="34" charset="-120"/>
              </a:rPr>
              <a:t>認為，</a:t>
            </a:r>
            <a:r>
              <a:rPr lang="en-US" altLang="zh-TW" sz="1200" dirty="0">
                <a:latin typeface="微軟正黑體" panose="020B0604030504040204" pitchFamily="34" charset="-120"/>
                <a:ea typeface="微軟正黑體" panose="020B0604030504040204" pitchFamily="34" charset="-120"/>
              </a:rPr>
              <a:t>2026-2030</a:t>
            </a:r>
            <a:r>
              <a:rPr lang="zh-TW" altLang="en-US" sz="1200" dirty="0">
                <a:latin typeface="微軟正黑體" panose="020B0604030504040204" pitchFamily="34" charset="-120"/>
                <a:ea typeface="微軟正黑體" panose="020B0604030504040204" pitchFamily="34" charset="-120"/>
              </a:rPr>
              <a:t>年的</a:t>
            </a:r>
            <a:r>
              <a:rPr lang="en-US" altLang="zh-TW" sz="1200" dirty="0">
                <a:latin typeface="微軟正黑體" panose="020B0604030504040204" pitchFamily="34" charset="-120"/>
                <a:ea typeface="微軟正黑體" panose="020B0604030504040204" pitchFamily="34" charset="-120"/>
              </a:rPr>
              <a:t>CPI</a:t>
            </a:r>
            <a:r>
              <a:rPr lang="zh-TW" altLang="en-US" sz="1200" dirty="0">
                <a:latin typeface="微軟正黑體" panose="020B0604030504040204" pitchFamily="34" charset="-120"/>
                <a:ea typeface="微軟正黑體" panose="020B0604030504040204" pitchFamily="34" charset="-120"/>
              </a:rPr>
              <a:t>年增率將持穩於</a:t>
            </a:r>
            <a:r>
              <a:rPr lang="en-US" altLang="zh-TW" sz="1200" dirty="0">
                <a:latin typeface="微軟正黑體" panose="020B0604030504040204" pitchFamily="34" charset="-120"/>
                <a:ea typeface="微軟正黑體" panose="020B0604030504040204" pitchFamily="34" charset="-120"/>
              </a:rPr>
              <a:t>2%</a:t>
            </a:r>
            <a:r>
              <a:rPr lang="zh-TW" altLang="en-US" sz="1200" dirty="0">
                <a:latin typeface="微軟正黑體" panose="020B0604030504040204" pitchFamily="34" charset="-120"/>
                <a:ea typeface="微軟正黑體" panose="020B0604030504040204" pitchFamily="34" charset="-120"/>
              </a:rPr>
              <a:t>。</a:t>
            </a:r>
            <a:endParaRPr lang="en-US" altLang="zh-TW" sz="1200" dirty="0">
              <a:latin typeface="微軟正黑體" panose="020B0604030504040204" pitchFamily="34" charset="-120"/>
              <a:ea typeface="微軟正黑體" panose="020B0604030504040204" pitchFamily="34" charset="-120"/>
            </a:endParaRPr>
          </a:p>
        </p:txBody>
      </p:sp>
      <p:sp>
        <p:nvSpPr>
          <p:cNvPr id="73" name="文字方塊 4">
            <a:extLst>
              <a:ext uri="{FF2B5EF4-FFF2-40B4-BE49-F238E27FC236}">
                <a16:creationId xmlns:a16="http://schemas.microsoft.com/office/drawing/2014/main" id="{28F9A787-84D6-2D8D-C29E-9D3EB8952DAA}"/>
              </a:ext>
            </a:extLst>
          </p:cNvPr>
          <p:cNvSpPr txBox="1"/>
          <p:nvPr/>
        </p:nvSpPr>
        <p:spPr>
          <a:xfrm>
            <a:off x="4599669" y="839307"/>
            <a:ext cx="4292811" cy="307777"/>
          </a:xfrm>
          <a:prstGeom prst="rect">
            <a:avLst/>
          </a:prstGeom>
          <a:noFill/>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kumimoji="0" lang="en-US" altLang="zh-TW" sz="1400" b="1" i="0" u="none" strike="noStrike" kern="1200" cap="none" spc="0" normalizeH="0" baseline="0" noProof="0" dirty="0">
                <a:ln>
                  <a:noFill/>
                </a:ln>
                <a:solidFill>
                  <a:srgbClr val="006F52"/>
                </a:solidFill>
                <a:effectLst/>
                <a:uLnTx/>
                <a:uFillTx/>
                <a:latin typeface="微軟正黑體"/>
                <a:ea typeface="微軟正黑體"/>
                <a:cs typeface="+mn-cs"/>
              </a:rPr>
              <a:t>2025</a:t>
            </a:r>
            <a:r>
              <a:rPr kumimoji="0" lang="zh-TW" altLang="en-US" sz="1400" b="1" i="0" u="none" strike="noStrike" kern="1200" cap="none" spc="0" normalizeH="0" baseline="0" noProof="0" dirty="0">
                <a:ln>
                  <a:noFill/>
                </a:ln>
                <a:solidFill>
                  <a:srgbClr val="006F52"/>
                </a:solidFill>
                <a:effectLst/>
                <a:uLnTx/>
                <a:uFillTx/>
                <a:latin typeface="微軟正黑體"/>
                <a:ea typeface="微軟正黑體"/>
                <a:cs typeface="+mn-cs"/>
              </a:rPr>
              <a:t>年通膨升溫但仍是</a:t>
            </a:r>
            <a:r>
              <a:rPr lang="en-US" altLang="zh-TW" sz="1400" b="1" dirty="0">
                <a:solidFill>
                  <a:srgbClr val="006F52"/>
                </a:solidFill>
              </a:rPr>
              <a:t>G20</a:t>
            </a:r>
            <a:r>
              <a:rPr lang="zh-TW" altLang="en-US" sz="1400" b="1" dirty="0">
                <a:solidFill>
                  <a:srgbClr val="006F52"/>
                </a:solidFill>
              </a:rPr>
              <a:t>集團內通膨偏低的國家</a:t>
            </a:r>
            <a:endParaRPr kumimoji="0" lang="zh-TW" altLang="en-US" sz="1400" b="1" i="0" u="none" strike="noStrike" kern="1200" cap="none" spc="0" normalizeH="0" baseline="0" noProof="0" dirty="0">
              <a:ln>
                <a:noFill/>
              </a:ln>
              <a:solidFill>
                <a:srgbClr val="006F52"/>
              </a:solidFill>
              <a:effectLst/>
              <a:uLnTx/>
              <a:uFillTx/>
              <a:latin typeface="微軟正黑體"/>
              <a:ea typeface="微軟正黑體"/>
              <a:cs typeface="+mn-cs"/>
            </a:endParaRPr>
          </a:p>
        </p:txBody>
      </p:sp>
      <p:sp>
        <p:nvSpPr>
          <p:cNvPr id="75" name="文字方塊 24">
            <a:extLst>
              <a:ext uri="{FF2B5EF4-FFF2-40B4-BE49-F238E27FC236}">
                <a16:creationId xmlns:a16="http://schemas.microsoft.com/office/drawing/2014/main" id="{9BCEB256-361D-5458-9B08-9694834FE4B0}"/>
              </a:ext>
            </a:extLst>
          </p:cNvPr>
          <p:cNvSpPr txBox="1"/>
          <p:nvPr/>
        </p:nvSpPr>
        <p:spPr>
          <a:xfrm>
            <a:off x="390494" y="3265239"/>
            <a:ext cx="1425600" cy="307777"/>
          </a:xfrm>
          <a:prstGeom prst="rect">
            <a:avLst/>
          </a:prstGeom>
          <a:solidFill>
            <a:srgbClr val="C00000"/>
          </a:solidFill>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dirty="0">
                <a:ln>
                  <a:noFill/>
                </a:ln>
                <a:solidFill>
                  <a:sysClr val="window" lastClr="FFFFFF"/>
                </a:solidFill>
                <a:effectLst/>
                <a:uLnTx/>
                <a:uFillTx/>
                <a:latin typeface="微軟正黑體" panose="020B0604030504040204" pitchFamily="34" charset="-120"/>
                <a:ea typeface="微軟正黑體" panose="020B0604030504040204" pitchFamily="34" charset="-120"/>
                <a:cs typeface="+mn-cs"/>
              </a:rPr>
              <a:t>經濟成長</a:t>
            </a:r>
            <a:endParaRPr kumimoji="0" lang="en-US" altLang="zh-TW" sz="1400" b="1" i="0" u="none" strike="noStrike" kern="1200" cap="none" spc="0" normalizeH="0" baseline="0" noProof="0" dirty="0">
              <a:ln>
                <a:noFill/>
              </a:ln>
              <a:solidFill>
                <a:sysClr val="window" lastClr="FFFFFF"/>
              </a:solidFill>
              <a:effectLst/>
              <a:uLnTx/>
              <a:uFillTx/>
              <a:latin typeface="微軟正黑體" panose="020B0604030504040204" pitchFamily="34" charset="-120"/>
              <a:ea typeface="微軟正黑體" panose="020B0604030504040204" pitchFamily="34" charset="-120"/>
              <a:cs typeface="+mn-cs"/>
            </a:endParaRPr>
          </a:p>
        </p:txBody>
      </p:sp>
      <p:sp>
        <p:nvSpPr>
          <p:cNvPr id="76" name="矩形 75">
            <a:extLst>
              <a:ext uri="{FF2B5EF4-FFF2-40B4-BE49-F238E27FC236}">
                <a16:creationId xmlns:a16="http://schemas.microsoft.com/office/drawing/2014/main" id="{A8A8A6A3-C2A7-1914-B852-2492DAAC685D}"/>
              </a:ext>
            </a:extLst>
          </p:cNvPr>
          <p:cNvSpPr/>
          <p:nvPr/>
        </p:nvSpPr>
        <p:spPr>
          <a:xfrm>
            <a:off x="366884" y="754606"/>
            <a:ext cx="4041569" cy="3536294"/>
          </a:xfrm>
          <a:prstGeom prst="rect">
            <a:avLst/>
          </a:prstGeom>
          <a:noFill/>
          <a:ln w="1905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TW" altLang="en-US" sz="1600" b="1" i="0" u="none" strike="noStrike" kern="1200" cap="none" spc="0" normalizeH="0" baseline="0" noProof="0" dirty="0">
              <a:ln>
                <a:noFill/>
              </a:ln>
              <a:solidFill>
                <a:sysClr val="window" lastClr="FFFFFF"/>
              </a:solidFill>
              <a:effectLst/>
              <a:uLnTx/>
              <a:uFillTx/>
              <a:latin typeface="微軟正黑體" panose="020B0604030504040204" pitchFamily="34" charset="-120"/>
              <a:ea typeface="微軟正黑體" panose="020B0604030504040204" pitchFamily="34" charset="-120"/>
              <a:cs typeface="+mn-cs"/>
            </a:endParaRPr>
          </a:p>
        </p:txBody>
      </p:sp>
      <p:sp>
        <p:nvSpPr>
          <p:cNvPr id="77" name="矩形 76">
            <a:extLst>
              <a:ext uri="{FF2B5EF4-FFF2-40B4-BE49-F238E27FC236}">
                <a16:creationId xmlns:a16="http://schemas.microsoft.com/office/drawing/2014/main" id="{BE8E3509-4965-0C22-E098-E4B5ACDA6E65}"/>
              </a:ext>
            </a:extLst>
          </p:cNvPr>
          <p:cNvSpPr/>
          <p:nvPr/>
        </p:nvSpPr>
        <p:spPr>
          <a:xfrm>
            <a:off x="1816094" y="3264820"/>
            <a:ext cx="2559600" cy="308196"/>
          </a:xfrm>
          <a:prstGeom prst="rect">
            <a:avLst/>
          </a:prstGeom>
          <a:solidFill>
            <a:schemeClr val="bg1">
              <a:lumMod val="65000"/>
            </a:schemeClr>
          </a:solidFill>
          <a:ln w="2540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10000"/>
              </a:lnSpc>
              <a:spcBef>
                <a:spcPct val="50000"/>
              </a:spcBef>
              <a:spcAft>
                <a:spcPct val="0"/>
              </a:spcAft>
              <a:buClr>
                <a:srgbClr val="D56C2A"/>
              </a:buClr>
              <a:buSzPct val="90000"/>
              <a:buFontTx/>
              <a:buNone/>
              <a:tabLst/>
              <a:defRPr/>
            </a:pPr>
            <a:r>
              <a:rPr kumimoji="1" lang="en-US" altLang="zh-TW" sz="14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Arial" panose="020B0604020202020204" pitchFamily="34" charset="0"/>
              </a:rPr>
              <a:t>Economic Growth</a:t>
            </a:r>
            <a:endParaRPr kumimoji="1" lang="zh-TW" altLang="en-US" sz="14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81" name="矩形 80">
            <a:extLst>
              <a:ext uri="{FF2B5EF4-FFF2-40B4-BE49-F238E27FC236}">
                <a16:creationId xmlns:a16="http://schemas.microsoft.com/office/drawing/2014/main" id="{B34597FA-A983-8996-586F-D730CF36768D}"/>
              </a:ext>
            </a:extLst>
          </p:cNvPr>
          <p:cNvSpPr/>
          <p:nvPr/>
        </p:nvSpPr>
        <p:spPr>
          <a:xfrm>
            <a:off x="1825851" y="836613"/>
            <a:ext cx="2560709" cy="307777"/>
          </a:xfrm>
          <a:prstGeom prst="rect">
            <a:avLst/>
          </a:prstGeom>
          <a:solidFill>
            <a:schemeClr val="bg1">
              <a:lumMod val="65000"/>
            </a:schemeClr>
          </a:solidFill>
          <a:ln w="25400" cap="flat" cmpd="sng" algn="ctr">
            <a:noFill/>
            <a:prstDash val="solid"/>
          </a:ln>
          <a:effectLst/>
        </p:spPr>
        <p:txBody>
          <a:bodyPr rtlCol="0" anchor="ctr"/>
          <a:lstStyle>
            <a:defPPr>
              <a:defRPr lang="zh-TW"/>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base" latinLnBrk="0" hangingPunct="1">
              <a:lnSpc>
                <a:spcPct val="110000"/>
              </a:lnSpc>
              <a:spcBef>
                <a:spcPct val="50000"/>
              </a:spcBef>
              <a:spcAft>
                <a:spcPct val="0"/>
              </a:spcAft>
              <a:buClr>
                <a:srgbClr val="D56C2A"/>
              </a:buClr>
              <a:buSzPct val="90000"/>
              <a:buFontTx/>
              <a:buNone/>
              <a:tabLst/>
              <a:defRPr/>
            </a:pPr>
            <a:r>
              <a:rPr kumimoji="1" lang="en-US" altLang="zh-TW" sz="14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Arial" panose="020B0604020202020204" pitchFamily="34" charset="0"/>
              </a:rPr>
              <a:t>Monetary Policy</a:t>
            </a:r>
            <a:r>
              <a:rPr kumimoji="1" lang="zh-TW" altLang="en-US" sz="14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Arial" panose="020B0604020202020204" pitchFamily="34" charset="0"/>
              </a:rPr>
              <a:t> </a:t>
            </a:r>
            <a:r>
              <a:rPr kumimoji="1" lang="en-US" altLang="zh-TW" sz="14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Arial" panose="020B0604020202020204" pitchFamily="34" charset="0"/>
              </a:rPr>
              <a:t>&amp;</a:t>
            </a:r>
            <a:r>
              <a:rPr kumimoji="1" lang="zh-TW" altLang="en-US" sz="14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Arial" panose="020B0604020202020204" pitchFamily="34" charset="0"/>
              </a:rPr>
              <a:t> </a:t>
            </a:r>
            <a:r>
              <a:rPr kumimoji="1" lang="en-US" altLang="zh-TW" sz="14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Arial" panose="020B0604020202020204" pitchFamily="34" charset="0"/>
              </a:rPr>
              <a:t>Inflation</a:t>
            </a:r>
            <a:endParaRPr kumimoji="1" lang="zh-TW" altLang="en-US" sz="1400" b="1" i="0" u="none" strike="noStrike" kern="1200" cap="none" spc="0" normalizeH="0" baseline="0" noProof="0" dirty="0">
              <a:ln>
                <a:noFill/>
              </a:ln>
              <a:solidFill>
                <a:schemeClr val="bg1"/>
              </a:solidFill>
              <a:effectLst/>
              <a:uLnTx/>
              <a:uFillTx/>
              <a:latin typeface="微軟正黑體" panose="020B0604030504040204" pitchFamily="34" charset="-120"/>
              <a:ea typeface="微軟正黑體" panose="020B0604030504040204" pitchFamily="34" charset="-120"/>
              <a:cs typeface="Arial" panose="020B0604020202020204" pitchFamily="34" charset="0"/>
            </a:endParaRPr>
          </a:p>
        </p:txBody>
      </p:sp>
      <p:sp>
        <p:nvSpPr>
          <p:cNvPr id="82" name="文字方塊 42">
            <a:extLst>
              <a:ext uri="{FF2B5EF4-FFF2-40B4-BE49-F238E27FC236}">
                <a16:creationId xmlns:a16="http://schemas.microsoft.com/office/drawing/2014/main" id="{35E38875-F070-57AE-1833-D6C07C7F1E95}"/>
              </a:ext>
            </a:extLst>
          </p:cNvPr>
          <p:cNvSpPr txBox="1"/>
          <p:nvPr/>
        </p:nvSpPr>
        <p:spPr>
          <a:xfrm>
            <a:off x="401842" y="836613"/>
            <a:ext cx="1424009" cy="307777"/>
          </a:xfrm>
          <a:prstGeom prst="rect">
            <a:avLst/>
          </a:prstGeom>
          <a:solidFill>
            <a:srgbClr val="C00000"/>
          </a:solidFill>
          <a:ln>
            <a:noFill/>
          </a:ln>
        </p:spPr>
        <p:txBody>
          <a:bodyPr wrap="square" rtlCol="0">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dirty="0">
                <a:ln>
                  <a:noFill/>
                </a:ln>
                <a:solidFill>
                  <a:sysClr val="window" lastClr="FFFFFF"/>
                </a:solidFill>
                <a:effectLst/>
                <a:uLnTx/>
                <a:uFillTx/>
                <a:latin typeface="微軟正黑體" panose="020B0604030504040204" pitchFamily="34" charset="-120"/>
                <a:ea typeface="微軟正黑體" panose="020B0604030504040204" pitchFamily="34" charset="-120"/>
                <a:cs typeface="+mn-cs"/>
              </a:rPr>
              <a:t>貨幣政策</a:t>
            </a:r>
            <a:r>
              <a:rPr kumimoji="0" lang="en-US" altLang="zh-TW" sz="1400" b="1" i="0" u="none" strike="noStrike" kern="1200" cap="none" spc="0" normalizeH="0" baseline="0" noProof="0" dirty="0">
                <a:ln>
                  <a:noFill/>
                </a:ln>
                <a:solidFill>
                  <a:sysClr val="window" lastClr="FFFFFF"/>
                </a:solidFill>
                <a:effectLst/>
                <a:uLnTx/>
                <a:uFillTx/>
                <a:latin typeface="微軟正黑體" panose="020B0604030504040204" pitchFamily="34" charset="-120"/>
                <a:ea typeface="微軟正黑體" panose="020B0604030504040204" pitchFamily="34" charset="-120"/>
                <a:cs typeface="+mn-cs"/>
              </a:rPr>
              <a:t>&amp;</a:t>
            </a:r>
            <a:r>
              <a:rPr kumimoji="0" lang="zh-TW" altLang="en-US" sz="1400" b="1" i="0" u="none" strike="noStrike" kern="1200" cap="none" spc="0" normalizeH="0" baseline="0" noProof="0" dirty="0">
                <a:ln>
                  <a:noFill/>
                </a:ln>
                <a:solidFill>
                  <a:sysClr val="window" lastClr="FFFFFF"/>
                </a:solidFill>
                <a:effectLst/>
                <a:uLnTx/>
                <a:uFillTx/>
                <a:latin typeface="微軟正黑體" panose="020B0604030504040204" pitchFamily="34" charset="-120"/>
                <a:ea typeface="微軟正黑體" panose="020B0604030504040204" pitchFamily="34" charset="-120"/>
                <a:cs typeface="+mn-cs"/>
              </a:rPr>
              <a:t>物價</a:t>
            </a:r>
            <a:endParaRPr kumimoji="0" lang="en-US" altLang="zh-TW" sz="1400" b="1" i="0" u="none" strike="noStrike" kern="1200" cap="none" spc="0" normalizeH="0" baseline="0" noProof="0" dirty="0">
              <a:ln>
                <a:noFill/>
              </a:ln>
              <a:solidFill>
                <a:sysClr val="window" lastClr="FFFFFF"/>
              </a:solidFill>
              <a:effectLst/>
              <a:uLnTx/>
              <a:uFillTx/>
              <a:latin typeface="微軟正黑體" panose="020B0604030504040204" pitchFamily="34" charset="-120"/>
              <a:ea typeface="微軟正黑體" panose="020B0604030504040204" pitchFamily="34" charset="-120"/>
              <a:cs typeface="+mn-cs"/>
            </a:endParaRPr>
          </a:p>
        </p:txBody>
      </p:sp>
      <p:pic>
        <p:nvPicPr>
          <p:cNvPr id="86" name="Picture 2" descr="Flag of Saudi Arabia.svg">
            <a:extLst>
              <a:ext uri="{FF2B5EF4-FFF2-40B4-BE49-F238E27FC236}">
                <a16:creationId xmlns:a16="http://schemas.microsoft.com/office/drawing/2014/main" id="{F250C624-249F-B8B2-D18D-34F7765260B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71584" y="260648"/>
            <a:ext cx="786798" cy="524328"/>
          </a:xfrm>
          <a:prstGeom prst="rect">
            <a:avLst/>
          </a:prstGeom>
          <a:noFill/>
          <a:extLst>
            <a:ext uri="{909E8E84-426E-40DD-AFC4-6F175D3DCCD1}">
              <a14:hiddenFill xmlns:a14="http://schemas.microsoft.com/office/drawing/2010/main">
                <a:solidFill>
                  <a:srgbClr val="FFFFFF"/>
                </a:solidFill>
              </a14:hiddenFill>
            </a:ext>
          </a:extLst>
        </p:spPr>
      </p:pic>
      <p:sp>
        <p:nvSpPr>
          <p:cNvPr id="11" name="標題 1">
            <a:extLst>
              <a:ext uri="{FF2B5EF4-FFF2-40B4-BE49-F238E27FC236}">
                <a16:creationId xmlns:a16="http://schemas.microsoft.com/office/drawing/2014/main" id="{312D3683-F5E8-6A32-4822-E02053368613}"/>
              </a:ext>
            </a:extLst>
          </p:cNvPr>
          <p:cNvSpPr txBox="1">
            <a:spLocks/>
          </p:cNvSpPr>
          <p:nvPr/>
        </p:nvSpPr>
        <p:spPr bwMode="auto">
          <a:xfrm>
            <a:off x="229944" y="161162"/>
            <a:ext cx="776452" cy="633413"/>
          </a:xfrm>
          <a:prstGeom prst="rect">
            <a:avLst/>
          </a:prstGeom>
          <a:solidFill>
            <a:srgbClr val="C00000"/>
          </a:solidFill>
          <a:ln>
            <a:noFill/>
          </a:ln>
        </p:spPr>
        <p:txBody>
          <a:bodyPr anchor="ctr">
            <a:noAutofit/>
          </a:bodyPr>
          <a:lstStyle>
            <a:lvl1pPr algn="l" rtl="0" eaLnBrk="0" fontAlgn="base" hangingPunct="0">
              <a:spcBef>
                <a:spcPct val="0"/>
              </a:spcBef>
              <a:spcAft>
                <a:spcPct val="0"/>
              </a:spcAft>
              <a:defRPr kumimoji="1" sz="3000" b="1">
                <a:solidFill>
                  <a:schemeClr val="tx2"/>
                </a:solidFill>
                <a:latin typeface="+mj-lt"/>
                <a:ea typeface="+mj-ea"/>
                <a:cs typeface="+mj-cs"/>
              </a:defRPr>
            </a:lvl1pPr>
            <a:lvl2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algn="l" rtl="0" fontAlgn="base">
              <a:spcBef>
                <a:spcPct val="0"/>
              </a:spcBef>
              <a:spcAft>
                <a:spcPct val="0"/>
              </a:spcAft>
              <a:defRPr kumimoji="1" sz="3000" b="1">
                <a:solidFill>
                  <a:schemeClr val="tx2"/>
                </a:solidFill>
                <a:latin typeface="標楷體" pitchFamily="65" charset="-120"/>
                <a:ea typeface="標楷體" pitchFamily="65" charset="-120"/>
              </a:defRPr>
            </a:lvl6pPr>
            <a:lvl7pPr marL="914400" algn="l" rtl="0" fontAlgn="base">
              <a:spcBef>
                <a:spcPct val="0"/>
              </a:spcBef>
              <a:spcAft>
                <a:spcPct val="0"/>
              </a:spcAft>
              <a:defRPr kumimoji="1" sz="3000" b="1">
                <a:solidFill>
                  <a:schemeClr val="tx2"/>
                </a:solidFill>
                <a:latin typeface="標楷體" pitchFamily="65" charset="-120"/>
                <a:ea typeface="標楷體" pitchFamily="65" charset="-120"/>
              </a:defRPr>
            </a:lvl7pPr>
            <a:lvl8pPr marL="1371600" algn="l" rtl="0" fontAlgn="base">
              <a:spcBef>
                <a:spcPct val="0"/>
              </a:spcBef>
              <a:spcAft>
                <a:spcPct val="0"/>
              </a:spcAft>
              <a:defRPr kumimoji="1" sz="3000" b="1">
                <a:solidFill>
                  <a:schemeClr val="tx2"/>
                </a:solidFill>
                <a:latin typeface="標楷體" pitchFamily="65" charset="-120"/>
                <a:ea typeface="標楷體" pitchFamily="65" charset="-120"/>
              </a:defRPr>
            </a:lvl8pPr>
            <a:lvl9pPr marL="1828800" algn="l" rtl="0" fontAlgn="base">
              <a:spcBef>
                <a:spcPct val="0"/>
              </a:spcBef>
              <a:spcAft>
                <a:spcPct val="0"/>
              </a:spcAft>
              <a:defRPr kumimoji="1" sz="3000" b="1">
                <a:solidFill>
                  <a:schemeClr val="tx2"/>
                </a:solidFill>
                <a:latin typeface="標楷體" pitchFamily="65" charset="-120"/>
                <a:ea typeface="標楷體" pitchFamily="65" charset="-120"/>
              </a:defRPr>
            </a:lvl9pPr>
          </a:lstStyle>
          <a:p>
            <a:pPr algn="ctr">
              <a:defRPr/>
            </a:pPr>
            <a:r>
              <a:rPr lang="zh-TW" altLang="en-US" sz="2000" kern="0" dirty="0">
                <a:solidFill>
                  <a:schemeClr val="bg1"/>
                </a:solidFill>
              </a:rPr>
              <a:t>經濟表現</a:t>
            </a:r>
          </a:p>
        </p:txBody>
      </p:sp>
      <p:sp>
        <p:nvSpPr>
          <p:cNvPr id="2" name="標題 1">
            <a:extLst>
              <a:ext uri="{FF2B5EF4-FFF2-40B4-BE49-F238E27FC236}">
                <a16:creationId xmlns:a16="http://schemas.microsoft.com/office/drawing/2014/main" id="{E2091F36-9575-57FB-44E7-00AC0AC57882}"/>
              </a:ext>
            </a:extLst>
          </p:cNvPr>
          <p:cNvSpPr txBox="1">
            <a:spLocks noChangeArrowheads="1"/>
          </p:cNvSpPr>
          <p:nvPr/>
        </p:nvSpPr>
        <p:spPr>
          <a:xfrm>
            <a:off x="1053599" y="142648"/>
            <a:ext cx="5174585"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defRPr/>
            </a:pPr>
            <a:r>
              <a:rPr lang="zh-TW" altLang="en-US" sz="2400" dirty="0"/>
              <a:t>「願景</a:t>
            </a:r>
            <a:r>
              <a:rPr lang="en-US" altLang="zh-TW" sz="2400" dirty="0"/>
              <a:t>2030</a:t>
            </a:r>
            <a:r>
              <a:rPr lang="zh-TW" altLang="en-US" sz="2400" dirty="0"/>
              <a:t>」帶動經濟持續成長</a:t>
            </a:r>
          </a:p>
        </p:txBody>
      </p:sp>
      <p:sp>
        <p:nvSpPr>
          <p:cNvPr id="71" name="文字方塊 22">
            <a:extLst>
              <a:ext uri="{FF2B5EF4-FFF2-40B4-BE49-F238E27FC236}">
                <a16:creationId xmlns:a16="http://schemas.microsoft.com/office/drawing/2014/main" id="{B0946E36-D4D9-0702-A473-D7CFDCDEE7CD}"/>
              </a:ext>
            </a:extLst>
          </p:cNvPr>
          <p:cNvSpPr txBox="1"/>
          <p:nvPr/>
        </p:nvSpPr>
        <p:spPr>
          <a:xfrm>
            <a:off x="4443574" y="3645024"/>
            <a:ext cx="4448906" cy="307777"/>
          </a:xfrm>
          <a:prstGeom prst="rect">
            <a:avLst/>
          </a:prstGeom>
          <a:noFill/>
        </p:spPr>
        <p:txBody>
          <a:bodyPr wrap="square">
            <a:spAutoFit/>
          </a:bodyPr>
          <a:ls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TW" altLang="en-US" sz="1400" b="1" i="0" u="none" strike="noStrike" kern="1200" cap="none" spc="0" normalizeH="0" baseline="0" noProof="0" dirty="0">
                <a:ln>
                  <a:noFill/>
                </a:ln>
                <a:solidFill>
                  <a:srgbClr val="006F52"/>
                </a:solidFill>
                <a:effectLst/>
                <a:uLnTx/>
                <a:uFillTx/>
                <a:latin typeface="微軟正黑體"/>
                <a:ea typeface="微軟正黑體"/>
                <a:cs typeface="+mn-cs"/>
              </a:rPr>
              <a:t>非石油產業貢獻穩定的</a:t>
            </a:r>
            <a:r>
              <a:rPr kumimoji="0" lang="en-US" altLang="zh-TW" sz="1400" b="1" i="0" u="none" strike="noStrike" kern="1200" cap="none" spc="0" normalizeH="0" baseline="0" noProof="0" dirty="0">
                <a:ln>
                  <a:noFill/>
                </a:ln>
                <a:solidFill>
                  <a:srgbClr val="006F52"/>
                </a:solidFill>
                <a:effectLst/>
                <a:uLnTx/>
                <a:uFillTx/>
                <a:latin typeface="微軟正黑體"/>
                <a:ea typeface="微軟正黑體"/>
                <a:cs typeface="+mn-cs"/>
              </a:rPr>
              <a:t>GDP</a:t>
            </a:r>
            <a:r>
              <a:rPr kumimoji="0" lang="zh-TW" altLang="en-US" sz="1400" b="1" i="0" u="none" strike="noStrike" kern="1200" cap="none" spc="0" normalizeH="0" baseline="0" noProof="0" dirty="0">
                <a:ln>
                  <a:noFill/>
                </a:ln>
                <a:solidFill>
                  <a:srgbClr val="006F52"/>
                </a:solidFill>
                <a:effectLst/>
                <a:uLnTx/>
                <a:uFillTx/>
                <a:latin typeface="微軟正黑體"/>
                <a:ea typeface="微軟正黑體"/>
                <a:cs typeface="+mn-cs"/>
              </a:rPr>
              <a:t>成長</a:t>
            </a:r>
          </a:p>
        </p:txBody>
      </p:sp>
      <p:sp>
        <p:nvSpPr>
          <p:cNvPr id="18" name="文字方塊 30">
            <a:extLst>
              <a:ext uri="{FF2B5EF4-FFF2-40B4-BE49-F238E27FC236}">
                <a16:creationId xmlns:a16="http://schemas.microsoft.com/office/drawing/2014/main" id="{67C56E94-FF7E-CEB5-7A6A-9A392C6D13F3}"/>
              </a:ext>
            </a:extLst>
          </p:cNvPr>
          <p:cNvSpPr txBox="1">
            <a:spLocks noChangeArrowheads="1"/>
          </p:cNvSpPr>
          <p:nvPr/>
        </p:nvSpPr>
        <p:spPr bwMode="auto">
          <a:xfrm>
            <a:off x="411545" y="6530454"/>
            <a:ext cx="2720295"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1pPr>
            <a:lvl2pPr marL="742950" indent="-285750">
              <a:spcBef>
                <a:spcPct val="20000"/>
              </a:spcBef>
              <a:buClr>
                <a:srgbClr val="FF3300"/>
              </a:buClr>
              <a:buFont typeface="Wingdings" panose="05000000000000000000" pitchFamily="2" charset="2"/>
              <a:buChar char="n"/>
              <a:defRPr kumimoji="1" sz="2000" b="1">
                <a:solidFill>
                  <a:schemeClr val="tx1"/>
                </a:solidFill>
                <a:latin typeface="Arial" panose="020B0604020202020204" pitchFamily="34" charset="0"/>
                <a:ea typeface="標楷體" panose="03000509000000000000" pitchFamily="65" charset="-120"/>
              </a:defRPr>
            </a:lvl2pPr>
            <a:lvl3pPr marL="1143000" indent="-228600">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None/>
            </a:pPr>
            <a:r>
              <a:rPr lang="zh-TW" altLang="en-US" sz="800" b="0" dirty="0">
                <a:latin typeface="+mj-ea"/>
                <a:ea typeface="+mj-ea"/>
              </a:rPr>
              <a:t>資料來源：</a:t>
            </a:r>
            <a:r>
              <a:rPr lang="en-US" altLang="zh-TW" sz="800" b="0" dirty="0">
                <a:latin typeface="+mj-ea"/>
                <a:ea typeface="+mj-ea"/>
              </a:rPr>
              <a:t>IMF</a:t>
            </a:r>
            <a:r>
              <a:rPr lang="zh-TW" altLang="en-US" sz="800" b="0" dirty="0">
                <a:latin typeface="+mj-ea"/>
                <a:ea typeface="+mj-ea"/>
              </a:rPr>
              <a:t>、</a:t>
            </a:r>
            <a:r>
              <a:rPr lang="en-US" altLang="zh-TW" sz="800" b="0" dirty="0">
                <a:latin typeface="+mj-ea"/>
                <a:ea typeface="+mj-ea"/>
              </a:rPr>
              <a:t>World Bank</a:t>
            </a:r>
            <a:r>
              <a:rPr lang="zh-TW" altLang="en-US" sz="800" b="0" dirty="0">
                <a:latin typeface="+mj-ea"/>
                <a:ea typeface="+mj-ea"/>
              </a:rPr>
              <a:t>、</a:t>
            </a:r>
            <a:r>
              <a:rPr lang="zh-TW" altLang="en-US" sz="800" b="0" dirty="0">
                <a:latin typeface="+mj-ea"/>
                <a:ea typeface="+mj-ea"/>
                <a:hlinkClick r:id="rId4"/>
              </a:rPr>
              <a:t>沙烏地央行</a:t>
            </a:r>
            <a:endParaRPr lang="zh-TW" altLang="en-US" sz="800" b="0" dirty="0">
              <a:latin typeface="+mj-ea"/>
              <a:ea typeface="+mj-ea"/>
            </a:endParaRPr>
          </a:p>
        </p:txBody>
      </p:sp>
      <p:graphicFrame>
        <p:nvGraphicFramePr>
          <p:cNvPr id="12" name="圖表 11">
            <a:extLst>
              <a:ext uri="{FF2B5EF4-FFF2-40B4-BE49-F238E27FC236}">
                <a16:creationId xmlns:a16="http://schemas.microsoft.com/office/drawing/2014/main" id="{E4F6ECE1-C68F-1680-9975-377D7DE2EACE}"/>
              </a:ext>
            </a:extLst>
          </p:cNvPr>
          <p:cNvGraphicFramePr>
            <a:graphicFrameLocks/>
          </p:cNvGraphicFramePr>
          <p:nvPr>
            <p:extLst>
              <p:ext uri="{D42A27DB-BD31-4B8C-83A1-F6EECF244321}">
                <p14:modId xmlns:p14="http://schemas.microsoft.com/office/powerpoint/2010/main" val="4226252274"/>
              </p:ext>
            </p:extLst>
          </p:nvPr>
        </p:nvGraphicFramePr>
        <p:xfrm>
          <a:off x="4572000" y="1200191"/>
          <a:ext cx="4280962" cy="2372825"/>
        </p:xfrm>
        <a:graphic>
          <a:graphicData uri="http://schemas.openxmlformats.org/drawingml/2006/chart">
            <c:chart xmlns:c="http://schemas.openxmlformats.org/drawingml/2006/chart" xmlns:r="http://schemas.openxmlformats.org/officeDocument/2006/relationships" r:id="rId5"/>
          </a:graphicData>
        </a:graphic>
      </p:graphicFrame>
      <p:cxnSp>
        <p:nvCxnSpPr>
          <p:cNvPr id="14" name="直線接點 13">
            <a:extLst>
              <a:ext uri="{FF2B5EF4-FFF2-40B4-BE49-F238E27FC236}">
                <a16:creationId xmlns:a16="http://schemas.microsoft.com/office/drawing/2014/main" id="{32EF06DA-854B-8E19-B434-2CE0B8C4F935}"/>
              </a:ext>
            </a:extLst>
          </p:cNvPr>
          <p:cNvCxnSpPr>
            <a:cxnSpLocks/>
          </p:cNvCxnSpPr>
          <p:nvPr/>
        </p:nvCxnSpPr>
        <p:spPr>
          <a:xfrm>
            <a:off x="4971558" y="1988840"/>
            <a:ext cx="3920922" cy="0"/>
          </a:xfrm>
          <a:prstGeom prst="line">
            <a:avLst/>
          </a:prstGeom>
          <a:ln>
            <a:solidFill>
              <a:schemeClr val="tx1">
                <a:lumMod val="95000"/>
                <a:lumOff val="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文字方塊 7">
            <a:extLst>
              <a:ext uri="{FF2B5EF4-FFF2-40B4-BE49-F238E27FC236}">
                <a16:creationId xmlns:a16="http://schemas.microsoft.com/office/drawing/2014/main" id="{5CD4D4BF-0AF6-091B-0261-1A1207CA88EA}"/>
              </a:ext>
            </a:extLst>
          </p:cNvPr>
          <p:cNvSpPr txBox="1"/>
          <p:nvPr/>
        </p:nvSpPr>
        <p:spPr>
          <a:xfrm>
            <a:off x="4537555" y="1865729"/>
            <a:ext cx="400079" cy="246221"/>
          </a:xfrm>
          <a:prstGeom prst="rect">
            <a:avLst/>
          </a:prstGeom>
          <a:noFill/>
        </p:spPr>
        <p:txBody>
          <a:bodyPr wrap="square" rtlCol="0">
            <a:spAutoFit/>
          </a:bodyPr>
          <a:lstStyle/>
          <a:p>
            <a:r>
              <a:rPr lang="en-US" altLang="zh-TW" sz="1000" dirty="0"/>
              <a:t>2%</a:t>
            </a:r>
            <a:endParaRPr lang="zh-TW" altLang="en-US" sz="1000" dirty="0"/>
          </a:p>
        </p:txBody>
      </p:sp>
      <p:cxnSp>
        <p:nvCxnSpPr>
          <p:cNvPr id="10" name="直線接點 9">
            <a:extLst>
              <a:ext uri="{FF2B5EF4-FFF2-40B4-BE49-F238E27FC236}">
                <a16:creationId xmlns:a16="http://schemas.microsoft.com/office/drawing/2014/main" id="{6175E657-4C23-6749-20AA-1C251A20725D}"/>
              </a:ext>
            </a:extLst>
          </p:cNvPr>
          <p:cNvCxnSpPr>
            <a:cxnSpLocks/>
          </p:cNvCxnSpPr>
          <p:nvPr/>
        </p:nvCxnSpPr>
        <p:spPr>
          <a:xfrm>
            <a:off x="8604448" y="1494108"/>
            <a:ext cx="0" cy="1770712"/>
          </a:xfrm>
          <a:prstGeom prst="line">
            <a:avLst/>
          </a:prstGeom>
          <a:ln>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6" name="圖片 5">
            <a:extLst>
              <a:ext uri="{FF2B5EF4-FFF2-40B4-BE49-F238E27FC236}">
                <a16:creationId xmlns:a16="http://schemas.microsoft.com/office/drawing/2014/main" id="{E94A3781-073F-4DF1-A317-E388DE908487}"/>
              </a:ext>
            </a:extLst>
          </p:cNvPr>
          <p:cNvPicPr>
            <a:picLocks noChangeAspect="1"/>
          </p:cNvPicPr>
          <p:nvPr/>
        </p:nvPicPr>
        <p:blipFill>
          <a:blip r:embed="rId6"/>
          <a:stretch>
            <a:fillRect/>
          </a:stretch>
        </p:blipFill>
        <p:spPr>
          <a:xfrm>
            <a:off x="4735549" y="4016047"/>
            <a:ext cx="3960000" cy="2388481"/>
          </a:xfrm>
          <a:prstGeom prst="rect">
            <a:avLst/>
          </a:prstGeom>
        </p:spPr>
      </p:pic>
    </p:spTree>
    <p:extLst>
      <p:ext uri="{BB962C8B-B14F-4D97-AF65-F5344CB8AC3E}">
        <p14:creationId xmlns:p14="http://schemas.microsoft.com/office/powerpoint/2010/main" val="2018406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6EF0A8B5-88FD-4B5B-A03C-4DBB95EB11C3}"/>
              </a:ext>
            </a:extLst>
          </p:cNvPr>
          <p:cNvSpPr>
            <a:spLocks noGrp="1"/>
          </p:cNvSpPr>
          <p:nvPr>
            <p:ph type="sldNum" sz="quarter" idx="10"/>
          </p:nvPr>
        </p:nvSpPr>
        <p:spPr/>
        <p:txBody>
          <a:bodyPr/>
          <a:lstStyle/>
          <a:p>
            <a:fld id="{415482FC-CF5F-466A-B8B6-BC3733E92023}" type="slidenum">
              <a:rPr lang="zh-TW" altLang="en-US" smtClean="0"/>
              <a:pPr/>
              <a:t>4</a:t>
            </a:fld>
            <a:endParaRPr lang="zh-TW" altLang="en-US" dirty="0"/>
          </a:p>
        </p:txBody>
      </p:sp>
      <p:graphicFrame>
        <p:nvGraphicFramePr>
          <p:cNvPr id="5" name="表格 4">
            <a:extLst>
              <a:ext uri="{FF2B5EF4-FFF2-40B4-BE49-F238E27FC236}">
                <a16:creationId xmlns:a16="http://schemas.microsoft.com/office/drawing/2014/main" id="{9442BF18-3693-438F-888C-033744E3D115}"/>
              </a:ext>
            </a:extLst>
          </p:cNvPr>
          <p:cNvGraphicFramePr>
            <a:graphicFrameLocks noGrp="1"/>
          </p:cNvGraphicFramePr>
          <p:nvPr>
            <p:extLst>
              <p:ext uri="{D42A27DB-BD31-4B8C-83A1-F6EECF244321}">
                <p14:modId xmlns:p14="http://schemas.microsoft.com/office/powerpoint/2010/main" val="1314836636"/>
              </p:ext>
            </p:extLst>
          </p:nvPr>
        </p:nvGraphicFramePr>
        <p:xfrm>
          <a:off x="285620" y="1259531"/>
          <a:ext cx="4704076" cy="797860"/>
        </p:xfrm>
        <a:graphic>
          <a:graphicData uri="http://schemas.openxmlformats.org/drawingml/2006/table">
            <a:tbl>
              <a:tblPr firstRow="1" bandRow="1">
                <a:tableStyleId>{F5AB1C69-6EDB-4FF4-983F-18BD219EF322}</a:tableStyleId>
              </a:tblPr>
              <a:tblGrid>
                <a:gridCol w="1215699">
                  <a:extLst>
                    <a:ext uri="{9D8B030D-6E8A-4147-A177-3AD203B41FA5}">
                      <a16:colId xmlns:a16="http://schemas.microsoft.com/office/drawing/2014/main" val="20000"/>
                    </a:ext>
                  </a:extLst>
                </a:gridCol>
                <a:gridCol w="1234066">
                  <a:extLst>
                    <a:ext uri="{9D8B030D-6E8A-4147-A177-3AD203B41FA5}">
                      <a16:colId xmlns:a16="http://schemas.microsoft.com/office/drawing/2014/main" val="20001"/>
                    </a:ext>
                  </a:extLst>
                </a:gridCol>
                <a:gridCol w="1125158">
                  <a:extLst>
                    <a:ext uri="{9D8B030D-6E8A-4147-A177-3AD203B41FA5}">
                      <a16:colId xmlns:a16="http://schemas.microsoft.com/office/drawing/2014/main" val="4281322441"/>
                    </a:ext>
                  </a:extLst>
                </a:gridCol>
                <a:gridCol w="1129153">
                  <a:extLst>
                    <a:ext uri="{9D8B030D-6E8A-4147-A177-3AD203B41FA5}">
                      <a16:colId xmlns:a16="http://schemas.microsoft.com/office/drawing/2014/main" val="3420147475"/>
                    </a:ext>
                  </a:extLst>
                </a:gridCol>
              </a:tblGrid>
              <a:tr h="262579">
                <a:tc>
                  <a:txBody>
                    <a:bodyPr/>
                    <a:lstStyle/>
                    <a:p>
                      <a:r>
                        <a:rPr lang="zh-TW" altLang="en-US" sz="1400" b="0" dirty="0">
                          <a:solidFill>
                            <a:schemeClr val="tx1"/>
                          </a:solidFill>
                          <a:latin typeface="+mn-ea"/>
                          <a:ea typeface="+mn-ea"/>
                        </a:rPr>
                        <a:t>長期評等</a:t>
                      </a:r>
                    </a:p>
                  </a:txBody>
                  <a:tcPr marL="91453" marR="91453" marT="45743" marB="45743" anchor="ctr" anchorCtr="1">
                    <a:noFill/>
                  </a:tcPr>
                </a:tc>
                <a:tc>
                  <a:txBody>
                    <a:bodyPr/>
                    <a:lstStyle/>
                    <a:p>
                      <a:pPr marL="0" algn="ctr" defTabSz="914400" rtl="0" eaLnBrk="1" fontAlgn="ctr" latinLnBrk="0" hangingPunct="1"/>
                      <a:r>
                        <a:rPr lang="en-US" altLang="zh-TW" sz="1400" b="1" kern="1200" dirty="0">
                          <a:solidFill>
                            <a:schemeClr val="tx1"/>
                          </a:solidFill>
                          <a:latin typeface="微軟正黑體" pitchFamily="34" charset="-120"/>
                          <a:ea typeface="微軟正黑體" pitchFamily="34" charset="-120"/>
                          <a:cs typeface="+mn-cs"/>
                        </a:rPr>
                        <a:t>Aa3</a:t>
                      </a:r>
                      <a:endParaRPr lang="zh-TW" altLang="en-US" sz="1400" b="1" kern="1200" dirty="0">
                        <a:solidFill>
                          <a:schemeClr val="tx1"/>
                        </a:solidFill>
                        <a:latin typeface="微軟正黑體" pitchFamily="34" charset="-120"/>
                        <a:ea typeface="微軟正黑體" pitchFamily="34" charset="-120"/>
                        <a:cs typeface="+mn-cs"/>
                      </a:endParaRPr>
                    </a:p>
                  </a:txBody>
                  <a:tcPr marL="91482" marR="91482" marT="45732" marB="45732" anchor="ctr">
                    <a:noFill/>
                  </a:tcPr>
                </a:tc>
                <a:tc>
                  <a:txBody>
                    <a:bodyPr/>
                    <a:lstStyle/>
                    <a:p>
                      <a:pPr marL="0" algn="ctr" defTabSz="457200" rtl="0" eaLnBrk="1" fontAlgn="ctr" latinLnBrk="0" hangingPunct="1"/>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A+</a:t>
                      </a:r>
                      <a:endParaRPr lang="zh-TW" altLang="en-US" sz="1400" b="1"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endParaRPr>
                    </a:p>
                  </a:txBody>
                  <a:tcPr marL="91482" marR="91482" marT="45732" marB="45732" anchor="ctr">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A+</a:t>
                      </a:r>
                      <a:endParaRPr lang="zh-TW" altLang="en-US" sz="1400" b="1" i="0" u="none" strike="noStrike" kern="1200" dirty="0">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endParaRPr>
                    </a:p>
                  </a:txBody>
                  <a:tcPr marL="91482" marR="91482" marT="45732" marB="45732" anchor="ctr">
                    <a:noFill/>
                  </a:tcPr>
                </a:tc>
                <a:extLst>
                  <a:ext uri="{0D108BD9-81ED-4DB2-BD59-A6C34878D82A}">
                    <a16:rowId xmlns:a16="http://schemas.microsoft.com/office/drawing/2014/main" val="10001"/>
                  </a:ext>
                </a:extLst>
              </a:tr>
              <a:tr h="233365">
                <a:tc>
                  <a:txBody>
                    <a:bodyPr/>
                    <a:lstStyle/>
                    <a:p>
                      <a:pPr algn="ctr">
                        <a:lnSpc>
                          <a:spcPts val="1200"/>
                        </a:lnSpc>
                      </a:pPr>
                      <a:r>
                        <a:rPr lang="zh-TW" altLang="en-US" sz="1400" b="0" dirty="0">
                          <a:solidFill>
                            <a:schemeClr val="tx1"/>
                          </a:solidFill>
                          <a:latin typeface="+mn-ea"/>
                          <a:ea typeface="+mn-ea"/>
                        </a:rPr>
                        <a:t>評等展望</a:t>
                      </a:r>
                    </a:p>
                  </a:txBody>
                  <a:tcPr anchor="ctr">
                    <a:noFill/>
                  </a:tcPr>
                </a:tc>
                <a:tc>
                  <a:txBody>
                    <a:bodyPr/>
                    <a:lstStyle/>
                    <a:p>
                      <a:pPr algn="ctr">
                        <a:lnSpc>
                          <a:spcPts val="1200"/>
                        </a:lnSpc>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穩定</a:t>
                      </a:r>
                      <a:endParaRPr lang="en-US" altLang="zh-TW" sz="1400" b="1" kern="1200" dirty="0">
                        <a:solidFill>
                          <a:schemeClr val="tx1"/>
                        </a:solidFill>
                        <a:latin typeface="微軟正黑體" panose="020B0604030504040204" pitchFamily="34" charset="-120"/>
                        <a:ea typeface="微軟正黑體" panose="020B0604030504040204" pitchFamily="34" charset="-120"/>
                        <a:cs typeface="+mn-cs"/>
                      </a:endParaRPr>
                    </a:p>
                  </a:txBody>
                  <a:tcPr anchor="ctr">
                    <a:noFill/>
                  </a:tcPr>
                </a:tc>
                <a:tc>
                  <a:txBody>
                    <a:bodyPr/>
                    <a:lstStyle/>
                    <a:p>
                      <a:pPr algn="ctr">
                        <a:lnSpc>
                          <a:spcPts val="1200"/>
                        </a:lnSpc>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穩定</a:t>
                      </a:r>
                      <a:endParaRPr lang="en-US" altLang="zh-TW" sz="1400" b="1" kern="1200" dirty="0">
                        <a:solidFill>
                          <a:schemeClr val="tx1"/>
                        </a:solidFill>
                        <a:latin typeface="微軟正黑體" panose="020B0604030504040204" pitchFamily="34" charset="-120"/>
                        <a:ea typeface="微軟正黑體" panose="020B0604030504040204" pitchFamily="34" charset="-120"/>
                        <a:cs typeface="+mn-cs"/>
                      </a:endParaRPr>
                    </a:p>
                  </a:txBody>
                  <a:tcPr anchor="ctr">
                    <a:noFill/>
                  </a:tcPr>
                </a:tc>
                <a:tc>
                  <a:txBody>
                    <a:bodyPr/>
                    <a:lstStyle/>
                    <a:p>
                      <a:pPr algn="ctr">
                        <a:lnSpc>
                          <a:spcPts val="1200"/>
                        </a:lnSpc>
                      </a:pPr>
                      <a:r>
                        <a:rPr lang="zh-TW" altLang="en-US" sz="1400" b="1" kern="1200" dirty="0">
                          <a:solidFill>
                            <a:schemeClr val="tx1"/>
                          </a:solidFill>
                          <a:latin typeface="微軟正黑體" panose="020B0604030504040204" pitchFamily="34" charset="-120"/>
                          <a:ea typeface="微軟正黑體" panose="020B0604030504040204" pitchFamily="34" charset="-120"/>
                          <a:cs typeface="+mn-cs"/>
                        </a:rPr>
                        <a:t>穩定</a:t>
                      </a:r>
                      <a:endParaRPr lang="en-US" altLang="zh-TW" sz="1400" b="1" kern="1200" dirty="0">
                        <a:solidFill>
                          <a:schemeClr val="tx1"/>
                        </a:solidFill>
                        <a:latin typeface="微軟正黑體" panose="020B0604030504040204" pitchFamily="34" charset="-120"/>
                        <a:ea typeface="微軟正黑體" panose="020B0604030504040204" pitchFamily="34" charset="-120"/>
                        <a:cs typeface="+mn-cs"/>
                      </a:endParaRPr>
                    </a:p>
                  </a:txBody>
                  <a:tcPr anchor="ctr">
                    <a:noFill/>
                  </a:tcPr>
                </a:tc>
                <a:extLst>
                  <a:ext uri="{0D108BD9-81ED-4DB2-BD59-A6C34878D82A}">
                    <a16:rowId xmlns:a16="http://schemas.microsoft.com/office/drawing/2014/main" val="196673928"/>
                  </a:ext>
                </a:extLst>
              </a:tr>
              <a:tr h="233365">
                <a:tc>
                  <a:txBody>
                    <a:bodyPr/>
                    <a:lstStyle/>
                    <a:p>
                      <a:pPr algn="ctr">
                        <a:lnSpc>
                          <a:spcPts val="1200"/>
                        </a:lnSpc>
                      </a:pPr>
                      <a:r>
                        <a:rPr lang="zh-TW" altLang="en-US" sz="1400" b="0" dirty="0">
                          <a:solidFill>
                            <a:schemeClr val="tx1"/>
                          </a:solidFill>
                          <a:latin typeface="+mn-ea"/>
                          <a:ea typeface="+mn-ea"/>
                        </a:rPr>
                        <a:t>展望發佈日</a:t>
                      </a:r>
                    </a:p>
                  </a:txBody>
                  <a:tcPr anchor="ctr">
                    <a:noFill/>
                  </a:tcPr>
                </a:tc>
                <a:tc>
                  <a:txBody>
                    <a:bodyPr/>
                    <a:lstStyle/>
                    <a:p>
                      <a:pPr algn="ctr">
                        <a:lnSpc>
                          <a:spcPts val="1200"/>
                        </a:lnSpc>
                      </a:pP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2024/11/22</a:t>
                      </a:r>
                    </a:p>
                  </a:txBody>
                  <a:tcPr marL="9527" marR="9527" marT="9524" marB="0" anchor="ctr">
                    <a:noFill/>
                  </a:tcPr>
                </a:tc>
                <a:tc>
                  <a:txBody>
                    <a:bodyPr/>
                    <a:lstStyle/>
                    <a:p>
                      <a:pPr algn="ctr">
                        <a:lnSpc>
                          <a:spcPts val="1200"/>
                        </a:lnSpc>
                      </a:pP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2025/3/14</a:t>
                      </a:r>
                    </a:p>
                  </a:txBody>
                  <a:tcPr anchor="ctr">
                    <a:noFill/>
                  </a:tcPr>
                </a:tc>
                <a:tc>
                  <a:txBody>
                    <a:bodyPr/>
                    <a:lstStyle/>
                    <a:p>
                      <a:pPr algn="ctr">
                        <a:lnSpc>
                          <a:spcPts val="1200"/>
                        </a:lnSpc>
                      </a:pPr>
                      <a:r>
                        <a:rPr lang="en-US" altLang="zh-TW" sz="1400" b="1" kern="1200" dirty="0">
                          <a:solidFill>
                            <a:schemeClr val="tx1"/>
                          </a:solidFill>
                          <a:latin typeface="微軟正黑體" panose="020B0604030504040204" pitchFamily="34" charset="-120"/>
                          <a:ea typeface="微軟正黑體" panose="020B0604030504040204" pitchFamily="34" charset="-120"/>
                          <a:cs typeface="+mn-cs"/>
                        </a:rPr>
                        <a:t>2023/4/5</a:t>
                      </a:r>
                    </a:p>
                  </a:txBody>
                  <a:tcPr marL="9527" marR="9527" marT="9524" marB="0" anchor="ctr">
                    <a:noFill/>
                  </a:tcPr>
                </a:tc>
                <a:extLst>
                  <a:ext uri="{0D108BD9-81ED-4DB2-BD59-A6C34878D82A}">
                    <a16:rowId xmlns:a16="http://schemas.microsoft.com/office/drawing/2014/main" val="224355770"/>
                  </a:ext>
                </a:extLst>
              </a:tr>
            </a:tbl>
          </a:graphicData>
        </a:graphic>
      </p:graphicFrame>
      <p:sp>
        <p:nvSpPr>
          <p:cNvPr id="6" name="矩形 5">
            <a:extLst>
              <a:ext uri="{FF2B5EF4-FFF2-40B4-BE49-F238E27FC236}">
                <a16:creationId xmlns:a16="http://schemas.microsoft.com/office/drawing/2014/main" id="{7F32E6B1-8215-42F9-B58B-AB271DC16EC0}"/>
              </a:ext>
            </a:extLst>
          </p:cNvPr>
          <p:cNvSpPr/>
          <p:nvPr/>
        </p:nvSpPr>
        <p:spPr>
          <a:xfrm>
            <a:off x="238782" y="853179"/>
            <a:ext cx="4765265" cy="5600157"/>
          </a:xfrm>
          <a:prstGeom prst="rect">
            <a:avLst/>
          </a:prstGeom>
          <a:noFill/>
          <a:ln w="19050">
            <a:solidFill>
              <a:srgbClr val="E6E6E6"/>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nvGrpSpPr>
          <p:cNvPr id="10" name="群組 9">
            <a:extLst>
              <a:ext uri="{FF2B5EF4-FFF2-40B4-BE49-F238E27FC236}">
                <a16:creationId xmlns:a16="http://schemas.microsoft.com/office/drawing/2014/main" id="{34E11A40-93D2-4384-90CB-26D23D3B612E}"/>
              </a:ext>
            </a:extLst>
          </p:cNvPr>
          <p:cNvGrpSpPr/>
          <p:nvPr/>
        </p:nvGrpSpPr>
        <p:grpSpPr>
          <a:xfrm>
            <a:off x="2849553" y="1023395"/>
            <a:ext cx="2082852" cy="257358"/>
            <a:chOff x="3419702" y="1069163"/>
            <a:chExt cx="2786985" cy="379934"/>
          </a:xfrm>
        </p:grpSpPr>
        <p:pic>
          <p:nvPicPr>
            <p:cNvPr id="8" name="圖片 54">
              <a:extLst>
                <a:ext uri="{FF2B5EF4-FFF2-40B4-BE49-F238E27FC236}">
                  <a16:creationId xmlns:a16="http://schemas.microsoft.com/office/drawing/2014/main" id="{D39401C7-C41B-41E4-812C-5C1F3055EB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7138"/>
            <a:stretch/>
          </p:blipFill>
          <p:spPr bwMode="auto">
            <a:xfrm>
              <a:off x="3419702" y="1069163"/>
              <a:ext cx="1223962" cy="333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圖片 56">
              <a:extLst>
                <a:ext uri="{FF2B5EF4-FFF2-40B4-BE49-F238E27FC236}">
                  <a16:creationId xmlns:a16="http://schemas.microsoft.com/office/drawing/2014/main" id="{BD08D917-B5FB-4983-A865-9B717D29B45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99856" y="1069163"/>
              <a:ext cx="1406831" cy="379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1" name="標題 1">
            <a:extLst>
              <a:ext uri="{FF2B5EF4-FFF2-40B4-BE49-F238E27FC236}">
                <a16:creationId xmlns:a16="http://schemas.microsoft.com/office/drawing/2014/main" id="{1F6C633C-FD3F-4225-8F6B-2A885AD6D4DE}"/>
              </a:ext>
            </a:extLst>
          </p:cNvPr>
          <p:cNvSpPr txBox="1">
            <a:spLocks/>
          </p:cNvSpPr>
          <p:nvPr/>
        </p:nvSpPr>
        <p:spPr bwMode="auto">
          <a:xfrm>
            <a:off x="229944" y="161162"/>
            <a:ext cx="776452" cy="633413"/>
          </a:xfrm>
          <a:prstGeom prst="rect">
            <a:avLst/>
          </a:prstGeom>
          <a:solidFill>
            <a:srgbClr val="C00000"/>
          </a:solidFill>
          <a:ln>
            <a:noFill/>
          </a:ln>
        </p:spPr>
        <p:txBody>
          <a:bodyPr anchor="ctr">
            <a:noAutofit/>
          </a:bodyPr>
          <a:lstStyle>
            <a:lvl1pPr algn="l" rtl="0" eaLnBrk="0" fontAlgn="base" hangingPunct="0">
              <a:spcBef>
                <a:spcPct val="0"/>
              </a:spcBef>
              <a:spcAft>
                <a:spcPct val="0"/>
              </a:spcAft>
              <a:defRPr kumimoji="1" sz="3000" b="1">
                <a:solidFill>
                  <a:schemeClr val="tx2"/>
                </a:solidFill>
                <a:latin typeface="+mj-lt"/>
                <a:ea typeface="+mj-ea"/>
                <a:cs typeface="+mj-cs"/>
              </a:defRPr>
            </a:lvl1pPr>
            <a:lvl2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2pPr>
            <a:lvl3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3pPr>
            <a:lvl4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4pPr>
            <a:lvl5pPr algn="l" rtl="0" eaLnBrk="0" fontAlgn="base" hangingPunct="0">
              <a:spcBef>
                <a:spcPct val="0"/>
              </a:spcBef>
              <a:spcAft>
                <a:spcPct val="0"/>
              </a:spcAft>
              <a:defRPr kumimoji="1" sz="3000" b="1">
                <a:solidFill>
                  <a:schemeClr val="tx2"/>
                </a:solidFill>
                <a:latin typeface="標楷體" pitchFamily="65" charset="-120"/>
                <a:ea typeface="標楷體" pitchFamily="65" charset="-120"/>
              </a:defRPr>
            </a:lvl5pPr>
            <a:lvl6pPr marL="457200" algn="l" rtl="0" fontAlgn="base">
              <a:spcBef>
                <a:spcPct val="0"/>
              </a:spcBef>
              <a:spcAft>
                <a:spcPct val="0"/>
              </a:spcAft>
              <a:defRPr kumimoji="1" sz="3000" b="1">
                <a:solidFill>
                  <a:schemeClr val="tx2"/>
                </a:solidFill>
                <a:latin typeface="標楷體" pitchFamily="65" charset="-120"/>
                <a:ea typeface="標楷體" pitchFamily="65" charset="-120"/>
              </a:defRPr>
            </a:lvl6pPr>
            <a:lvl7pPr marL="914400" algn="l" rtl="0" fontAlgn="base">
              <a:spcBef>
                <a:spcPct val="0"/>
              </a:spcBef>
              <a:spcAft>
                <a:spcPct val="0"/>
              </a:spcAft>
              <a:defRPr kumimoji="1" sz="3000" b="1">
                <a:solidFill>
                  <a:schemeClr val="tx2"/>
                </a:solidFill>
                <a:latin typeface="標楷體" pitchFamily="65" charset="-120"/>
                <a:ea typeface="標楷體" pitchFamily="65" charset="-120"/>
              </a:defRPr>
            </a:lvl7pPr>
            <a:lvl8pPr marL="1371600" algn="l" rtl="0" fontAlgn="base">
              <a:spcBef>
                <a:spcPct val="0"/>
              </a:spcBef>
              <a:spcAft>
                <a:spcPct val="0"/>
              </a:spcAft>
              <a:defRPr kumimoji="1" sz="3000" b="1">
                <a:solidFill>
                  <a:schemeClr val="tx2"/>
                </a:solidFill>
                <a:latin typeface="標楷體" pitchFamily="65" charset="-120"/>
                <a:ea typeface="標楷體" pitchFamily="65" charset="-120"/>
              </a:defRPr>
            </a:lvl8pPr>
            <a:lvl9pPr marL="1828800" algn="l" rtl="0" fontAlgn="base">
              <a:spcBef>
                <a:spcPct val="0"/>
              </a:spcBef>
              <a:spcAft>
                <a:spcPct val="0"/>
              </a:spcAft>
              <a:defRPr kumimoji="1" sz="3000" b="1">
                <a:solidFill>
                  <a:schemeClr val="tx2"/>
                </a:solidFill>
                <a:latin typeface="標楷體" pitchFamily="65" charset="-120"/>
                <a:ea typeface="標楷體" pitchFamily="65" charset="-120"/>
              </a:defRPr>
            </a:lvl9pPr>
          </a:lstStyle>
          <a:p>
            <a:pPr algn="ctr">
              <a:defRPr/>
            </a:pPr>
            <a:r>
              <a:rPr lang="zh-TW" altLang="en-US" sz="2000" kern="0" dirty="0">
                <a:solidFill>
                  <a:schemeClr val="bg1"/>
                </a:solidFill>
              </a:rPr>
              <a:t>信用表現</a:t>
            </a:r>
          </a:p>
        </p:txBody>
      </p:sp>
      <p:sp>
        <p:nvSpPr>
          <p:cNvPr id="12" name="標題 1">
            <a:extLst>
              <a:ext uri="{FF2B5EF4-FFF2-40B4-BE49-F238E27FC236}">
                <a16:creationId xmlns:a16="http://schemas.microsoft.com/office/drawing/2014/main" id="{EEAC3B23-009C-42B9-AD90-EBE9DCD17178}"/>
              </a:ext>
            </a:extLst>
          </p:cNvPr>
          <p:cNvSpPr txBox="1">
            <a:spLocks noChangeArrowheads="1"/>
          </p:cNvSpPr>
          <p:nvPr/>
        </p:nvSpPr>
        <p:spPr>
          <a:xfrm>
            <a:off x="1053599" y="142648"/>
            <a:ext cx="7141365" cy="633413"/>
          </a:xfrm>
          <a:prstGeom prst="rect">
            <a:avLst/>
          </a:prstGeom>
        </p:spPr>
        <p:txBody>
          <a:bodyPr anchor="ctr" anchorCtr="0">
            <a:noAutofit/>
          </a:bodyPr>
          <a:lstStyle>
            <a:lvl1pPr algn="l" defTabSz="914400" rtl="0" eaLnBrk="1" latinLnBrk="0" hangingPunct="1">
              <a:spcBef>
                <a:spcPct val="0"/>
              </a:spcBef>
              <a:buNone/>
              <a:defRPr sz="2800" b="1" kern="1200">
                <a:solidFill>
                  <a:schemeClr val="tx2">
                    <a:lumMod val="75000"/>
                  </a:schemeClr>
                </a:solidFill>
                <a:latin typeface="微軟正黑體" pitchFamily="34" charset="-120"/>
                <a:ea typeface="微軟正黑體" pitchFamily="34" charset="-120"/>
                <a:cs typeface="+mj-cs"/>
              </a:defRPr>
            </a:lvl1pPr>
          </a:lstStyle>
          <a:p>
            <a:pPr>
              <a:defRPr/>
            </a:pPr>
            <a:r>
              <a:rPr lang="zh-TW" altLang="en-US" sz="2400" dirty="0"/>
              <a:t>中東衝突不影響信用展望</a:t>
            </a:r>
          </a:p>
        </p:txBody>
      </p:sp>
      <p:sp>
        <p:nvSpPr>
          <p:cNvPr id="16" name="文字方塊 30">
            <a:extLst>
              <a:ext uri="{FF2B5EF4-FFF2-40B4-BE49-F238E27FC236}">
                <a16:creationId xmlns:a16="http://schemas.microsoft.com/office/drawing/2014/main" id="{9556191C-8845-4178-962E-5B7639354AEC}"/>
              </a:ext>
            </a:extLst>
          </p:cNvPr>
          <p:cNvSpPr txBox="1">
            <a:spLocks noChangeArrowheads="1"/>
          </p:cNvSpPr>
          <p:nvPr/>
        </p:nvSpPr>
        <p:spPr bwMode="auto">
          <a:xfrm>
            <a:off x="411545" y="6530454"/>
            <a:ext cx="1856199"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1pPr>
            <a:lvl2pPr marL="742950" indent="-285750">
              <a:spcBef>
                <a:spcPct val="20000"/>
              </a:spcBef>
              <a:buClr>
                <a:srgbClr val="FF3300"/>
              </a:buClr>
              <a:buFont typeface="Wingdings" panose="05000000000000000000" pitchFamily="2" charset="2"/>
              <a:buChar char="n"/>
              <a:defRPr kumimoji="1" sz="2000" b="1">
                <a:solidFill>
                  <a:schemeClr val="tx1"/>
                </a:solidFill>
                <a:latin typeface="Arial" panose="020B0604020202020204" pitchFamily="34" charset="0"/>
                <a:ea typeface="標楷體" panose="03000509000000000000" pitchFamily="65" charset="-120"/>
              </a:defRPr>
            </a:lvl2pPr>
            <a:lvl3pPr marL="1143000" indent="-228600">
              <a:spcBef>
                <a:spcPct val="20000"/>
              </a:spcBef>
              <a:buClr>
                <a:srgbClr val="FF3300"/>
              </a:buClr>
              <a:buFont typeface="Wingdings" panose="05000000000000000000" pitchFamily="2" charset="2"/>
              <a:buChar char="n"/>
              <a:defRPr kumimoji="1" sz="2400" b="1">
                <a:solidFill>
                  <a:schemeClr val="tx1"/>
                </a:solidFill>
                <a:latin typeface="Arial" panose="020B0604020202020204" pitchFamily="34" charset="0"/>
                <a:ea typeface="標楷體" panose="03000509000000000000" pitchFamily="65"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spcBef>
                <a:spcPct val="0"/>
              </a:spcBef>
              <a:buClrTx/>
              <a:buNone/>
            </a:pPr>
            <a:r>
              <a:rPr lang="zh-TW" altLang="en-US" sz="800" b="0" dirty="0">
                <a:latin typeface="+mj-ea"/>
                <a:ea typeface="+mj-ea"/>
              </a:rPr>
              <a:t>資料來源：彭博、信評機構 </a:t>
            </a:r>
            <a:endParaRPr lang="en-US" altLang="zh-TW" sz="800" b="0" dirty="0">
              <a:latin typeface="+mj-ea"/>
              <a:ea typeface="+mj-ea"/>
            </a:endParaRPr>
          </a:p>
        </p:txBody>
      </p:sp>
      <p:sp>
        <p:nvSpPr>
          <p:cNvPr id="2" name="矩形 1"/>
          <p:cNvSpPr/>
          <p:nvPr/>
        </p:nvSpPr>
        <p:spPr>
          <a:xfrm>
            <a:off x="269376" y="2067288"/>
            <a:ext cx="4704076" cy="4295728"/>
          </a:xfrm>
          <a:prstGeom prst="rect">
            <a:avLst/>
          </a:prstGeom>
        </p:spPr>
        <p:txBody>
          <a:bodyPr wrap="square">
            <a:spAutoFit/>
          </a:bodyPr>
          <a:lstStyle/>
          <a:p>
            <a:pPr lvl="0" algn="just">
              <a:lnSpc>
                <a:spcPts val="1600"/>
              </a:lnSpc>
              <a:spcAft>
                <a:spcPts val="300"/>
              </a:spcAft>
              <a:defRPr/>
            </a:pPr>
            <a:r>
              <a:rPr lang="zh-TW" altLang="en-US" sz="1100" b="1" dirty="0">
                <a:latin typeface="微軟正黑體" panose="020B0604030504040204" pitchFamily="34" charset="-120"/>
                <a:ea typeface="微軟正黑體" panose="020B0604030504040204" pitchFamily="34" charset="-120"/>
              </a:rPr>
              <a:t>標普於</a:t>
            </a:r>
            <a:r>
              <a:rPr lang="en-US" altLang="zh-TW" sz="1100" b="1" dirty="0">
                <a:latin typeface="微軟正黑體" panose="020B0604030504040204" pitchFamily="34" charset="-120"/>
                <a:ea typeface="微軟正黑體" panose="020B0604030504040204" pitchFamily="34" charset="-120"/>
              </a:rPr>
              <a:t>2025/3/14</a:t>
            </a:r>
            <a:r>
              <a:rPr lang="zh-TW" altLang="en-US" sz="1100" b="1" dirty="0">
                <a:latin typeface="微軟正黑體" panose="020B0604030504040204" pitchFamily="34" charset="-120"/>
                <a:ea typeface="微軟正黑體" panose="020B0604030504040204" pitchFamily="34" charset="-120"/>
              </a:rPr>
              <a:t>將沙烏地阿拉伯評等由</a:t>
            </a:r>
            <a:r>
              <a:rPr lang="en-US" altLang="zh-TW" sz="1100" b="1" dirty="0">
                <a:latin typeface="微軟正黑體" panose="020B0604030504040204" pitchFamily="34" charset="-120"/>
                <a:ea typeface="微軟正黑體" panose="020B0604030504040204" pitchFamily="34" charset="-120"/>
              </a:rPr>
              <a:t>A</a:t>
            </a:r>
            <a:r>
              <a:rPr lang="zh-TW" altLang="en-US" sz="1100" b="1" dirty="0">
                <a:latin typeface="微軟正黑體" panose="020B0604030504040204" pitchFamily="34" charset="-120"/>
                <a:ea typeface="微軟正黑體" panose="020B0604030504040204" pitchFamily="34" charset="-120"/>
              </a:rPr>
              <a:t>上調至</a:t>
            </a:r>
            <a:r>
              <a:rPr lang="en-US" altLang="zh-TW" sz="1100" b="1" dirty="0">
                <a:latin typeface="微軟正黑體" panose="020B0604030504040204" pitchFamily="34" charset="-120"/>
                <a:ea typeface="微軟正黑體" panose="020B0604030504040204" pitchFamily="34" charset="-120"/>
              </a:rPr>
              <a:t>A+</a:t>
            </a:r>
            <a:r>
              <a:rPr lang="zh-TW" altLang="en-US" sz="1100" b="1" dirty="0">
                <a:latin typeface="微軟正黑體" panose="020B0604030504040204" pitchFamily="34" charset="-120"/>
                <a:ea typeface="微軟正黑體" panose="020B0604030504040204" pitchFamily="34" charset="-120"/>
              </a:rPr>
              <a:t>，並於</a:t>
            </a:r>
            <a:r>
              <a:rPr lang="en-US" altLang="zh-TW" sz="1100" b="1" dirty="0">
                <a:latin typeface="微軟正黑體" panose="020B0604030504040204" pitchFamily="34" charset="-120"/>
                <a:ea typeface="微軟正黑體" panose="020B0604030504040204" pitchFamily="34" charset="-120"/>
              </a:rPr>
              <a:t>2026/3/13</a:t>
            </a:r>
            <a:r>
              <a:rPr lang="zh-TW" altLang="en-US" sz="1100" b="1" dirty="0">
                <a:latin typeface="微軟正黑體" panose="020B0604030504040204" pitchFamily="34" charset="-120"/>
                <a:ea typeface="微軟正黑體" panose="020B0604030504040204" pitchFamily="34" charset="-120"/>
              </a:rPr>
              <a:t>重申</a:t>
            </a:r>
            <a:r>
              <a:rPr lang="en-US" altLang="zh-TW" sz="1100" b="1" dirty="0">
                <a:latin typeface="微軟正黑體" panose="020B0604030504040204" pitchFamily="34" charset="-120"/>
                <a:ea typeface="微軟正黑體" panose="020B0604030504040204" pitchFamily="34" charset="-120"/>
              </a:rPr>
              <a:t>A+</a:t>
            </a:r>
            <a:r>
              <a:rPr lang="zh-TW" altLang="en-US" sz="1100" b="1" dirty="0">
                <a:latin typeface="微軟正黑體" panose="020B0604030504040204" pitchFamily="34" charset="-120"/>
                <a:ea typeface="微軟正黑體" panose="020B0604030504040204" pitchFamily="34" charset="-120"/>
              </a:rPr>
              <a:t>評等以及穩定展望</a:t>
            </a:r>
            <a:endParaRPr lang="en-US" altLang="zh-TW" sz="1100" b="1" dirty="0">
              <a:latin typeface="微軟正黑體" panose="020B0604030504040204" pitchFamily="34" charset="-120"/>
              <a:ea typeface="微軟正黑體" panose="020B0604030504040204" pitchFamily="34" charset="-120"/>
            </a:endParaRPr>
          </a:p>
          <a:p>
            <a:pPr marL="171450" indent="-171450" algn="just">
              <a:lnSpc>
                <a:spcPts val="1500"/>
              </a:lnSpc>
              <a:spcAft>
                <a:spcPts val="300"/>
              </a:spcAft>
              <a:buFont typeface="Arial" panose="020B0604020202020204" pitchFamily="34" charset="0"/>
              <a:buChar char="•"/>
            </a:pPr>
            <a:r>
              <a:rPr lang="zh-TW" altLang="en-US" sz="1100" dirty="0">
                <a:latin typeface="微軟正黑體" panose="020B0604030504040204" pitchFamily="34" charset="-120"/>
                <a:ea typeface="微軟正黑體" panose="020B0604030504040204" pitchFamily="34" charset="-120"/>
              </a:rPr>
              <a:t>穩定的展望反映標普認為沙烏地阿拉伯能夠經受住當前地區衝突的考驗。這主要得益於其有能力將石油出口轉向紅海港口、善用其龐大的石油蘊藏量以及在衝突後提高石油產量。此外，標普認為非石油業的成長動能和相關的非石油收入，以及政府根據「</a:t>
            </a:r>
            <a:r>
              <a:rPr lang="en-US" altLang="zh-TW" sz="1100" dirty="0">
                <a:latin typeface="微軟正黑體" panose="020B0604030504040204" pitchFamily="34" charset="-120"/>
                <a:ea typeface="微軟正黑體" panose="020B0604030504040204" pitchFamily="34" charset="-120"/>
              </a:rPr>
              <a:t>2030</a:t>
            </a:r>
            <a:r>
              <a:rPr lang="zh-TW" altLang="en-US" sz="1100" dirty="0">
                <a:latin typeface="微軟正黑體" panose="020B0604030504040204" pitchFamily="34" charset="-120"/>
                <a:ea typeface="微軟正黑體" panose="020B0604030504040204" pitchFamily="34" charset="-120"/>
              </a:rPr>
              <a:t>願景」調整投資支出的能力，都將支撐沙烏地阿拉伯的經濟和財政發展。</a:t>
            </a:r>
            <a:endParaRPr lang="en-US" altLang="zh-TW" sz="1100" dirty="0">
              <a:latin typeface="微軟正黑體" panose="020B0604030504040204" pitchFamily="34" charset="-120"/>
              <a:ea typeface="微軟正黑體" panose="020B0604030504040204" pitchFamily="34" charset="-120"/>
            </a:endParaRPr>
          </a:p>
          <a:p>
            <a:pPr algn="just">
              <a:lnSpc>
                <a:spcPts val="1500"/>
              </a:lnSpc>
              <a:spcAft>
                <a:spcPts val="300"/>
              </a:spcAft>
            </a:pPr>
            <a:r>
              <a:rPr lang="zh-TW" altLang="en-US" sz="1100" b="1" dirty="0">
                <a:solidFill>
                  <a:srgbClr val="000000"/>
                </a:solidFill>
                <a:latin typeface="微軟正黑體" panose="020B0604030504040204" pitchFamily="34" charset="-120"/>
                <a:ea typeface="微軟正黑體" panose="020B0604030504040204" pitchFamily="34" charset="-120"/>
              </a:rPr>
              <a:t>穆迪於</a:t>
            </a:r>
            <a:r>
              <a:rPr lang="en-US" altLang="zh-TW" sz="1100" b="1" dirty="0">
                <a:solidFill>
                  <a:srgbClr val="000000"/>
                </a:solidFill>
                <a:latin typeface="微軟正黑體" panose="020B0604030504040204" pitchFamily="34" charset="-120"/>
                <a:ea typeface="微軟正黑體" panose="020B0604030504040204" pitchFamily="34" charset="-120"/>
              </a:rPr>
              <a:t>2025/11/28</a:t>
            </a:r>
            <a:r>
              <a:rPr lang="zh-TW" altLang="en-US" sz="1100" b="1" dirty="0">
                <a:solidFill>
                  <a:srgbClr val="000000"/>
                </a:solidFill>
                <a:latin typeface="微軟正黑體" panose="020B0604030504040204" pitchFamily="34" charset="-120"/>
                <a:ea typeface="微軟正黑體" panose="020B0604030504040204" pitchFamily="34" charset="-120"/>
              </a:rPr>
              <a:t>重申沙烏地阿拉伯的發行評等於</a:t>
            </a:r>
            <a:r>
              <a:rPr lang="en-US" altLang="zh-TW" sz="1100" b="1" dirty="0">
                <a:solidFill>
                  <a:srgbClr val="000000"/>
                </a:solidFill>
                <a:latin typeface="微軟正黑體" panose="020B0604030504040204" pitchFamily="34" charset="-120"/>
                <a:ea typeface="微軟正黑體" panose="020B0604030504040204" pitchFamily="34" charset="-120"/>
              </a:rPr>
              <a:t>Aa3</a:t>
            </a:r>
          </a:p>
          <a:p>
            <a:pPr marL="171450" lvl="0" indent="-171450" algn="just">
              <a:lnSpc>
                <a:spcPts val="1500"/>
              </a:lnSpc>
              <a:spcAft>
                <a:spcPts val="300"/>
              </a:spcAft>
              <a:buFont typeface="Arial" panose="020B0604020202020204" pitchFamily="34" charset="0"/>
              <a:buChar char="•"/>
              <a:defRPr/>
            </a:pPr>
            <a:r>
              <a:rPr lang="zh-TW" altLang="en-US" sz="1100" dirty="0">
                <a:solidFill>
                  <a:srgbClr val="000000"/>
                </a:solidFill>
                <a:latin typeface="微軟正黑體" panose="020B0604030504040204" pitchFamily="34" charset="-120"/>
                <a:ea typeface="微軟正黑體" panose="020B0604030504040204" pitchFamily="34" charset="-120"/>
              </a:rPr>
              <a:t>沙烏地阿拉伯的評等反映其龐大而富裕的經濟體，這得益於其豐富的油氣資源、不斷提升的機構和政策效率，以及穩健的政府資產負債表。儘管評等仍面臨油價週期性下跌和全球碳轉型帶來的長期風險，但隨著經濟和財政多元化進程的持續推進，沙國對油氣資源的依賴程度和對石油市場波動的曝險將逐步降低。惟沙國政府的信用狀況受到長期存在的地區地緣政治緊張局勢所帶來的政治風險的影響。</a:t>
            </a:r>
            <a:endParaRPr lang="en-US" altLang="zh-TW" sz="1100" dirty="0">
              <a:solidFill>
                <a:srgbClr val="000000"/>
              </a:solidFill>
              <a:latin typeface="微軟正黑體" panose="020B0604030504040204" pitchFamily="34" charset="-120"/>
              <a:ea typeface="微軟正黑體" panose="020B0604030504040204" pitchFamily="34" charset="-120"/>
            </a:endParaRPr>
          </a:p>
          <a:p>
            <a:pPr algn="just">
              <a:lnSpc>
                <a:spcPts val="1500"/>
              </a:lnSpc>
              <a:spcAft>
                <a:spcPts val="300"/>
              </a:spcAft>
            </a:pPr>
            <a:r>
              <a:rPr lang="zh-TW" altLang="en-US" sz="1100" b="1" dirty="0">
                <a:latin typeface="微軟正黑體" panose="020B0604030504040204" pitchFamily="34" charset="-120"/>
                <a:ea typeface="微軟正黑體" panose="020B0604030504040204" pitchFamily="34" charset="-120"/>
              </a:rPr>
              <a:t>惠譽於</a:t>
            </a:r>
            <a:r>
              <a:rPr lang="en-US" altLang="zh-TW" sz="1100" b="1" dirty="0">
                <a:latin typeface="微軟正黑體" panose="020B0604030504040204" pitchFamily="34" charset="-120"/>
                <a:ea typeface="微軟正黑體" panose="020B0604030504040204" pitchFamily="34" charset="-120"/>
              </a:rPr>
              <a:t>2026/1/16</a:t>
            </a:r>
            <a:r>
              <a:rPr lang="zh-TW" altLang="en-US" sz="1100" b="1" dirty="0">
                <a:latin typeface="微軟正黑體" panose="020B0604030504040204" pitchFamily="34" charset="-120"/>
                <a:ea typeface="微軟正黑體" panose="020B0604030504040204" pitchFamily="34" charset="-120"/>
              </a:rPr>
              <a:t>重申沙烏地阿拉伯評等於</a:t>
            </a:r>
            <a:r>
              <a:rPr lang="en-US" altLang="zh-TW" sz="1100" b="1" dirty="0">
                <a:latin typeface="微軟正黑體" panose="020B0604030504040204" pitchFamily="34" charset="-120"/>
                <a:ea typeface="微軟正黑體" panose="020B0604030504040204" pitchFamily="34" charset="-120"/>
              </a:rPr>
              <a:t>A+</a:t>
            </a:r>
            <a:r>
              <a:rPr lang="zh-TW" altLang="en-US" sz="1100" b="1" dirty="0">
                <a:latin typeface="微軟正黑體" panose="020B0604030504040204" pitchFamily="34" charset="-120"/>
                <a:ea typeface="微軟正黑體" panose="020B0604030504040204" pitchFamily="34" charset="-120"/>
              </a:rPr>
              <a:t>；展望穩定</a:t>
            </a:r>
          </a:p>
          <a:p>
            <a:pPr marL="171450" indent="-171450" algn="just">
              <a:lnSpc>
                <a:spcPts val="1500"/>
              </a:lnSpc>
              <a:spcAft>
                <a:spcPts val="300"/>
              </a:spcAft>
              <a:buFont typeface="Arial" panose="020B0604020202020204" pitchFamily="34" charset="0"/>
              <a:buChar char="•"/>
            </a:pPr>
            <a:r>
              <a:rPr lang="en-US" altLang="zh-TW" sz="1100" dirty="0">
                <a:latin typeface="微軟正黑體" panose="020B0604030504040204" pitchFamily="34" charset="-120"/>
                <a:ea typeface="微軟正黑體" panose="020B0604030504040204" pitchFamily="34" charset="-120"/>
              </a:rPr>
              <a:t>A+</a:t>
            </a:r>
            <a:r>
              <a:rPr lang="zh-TW" altLang="en-US" sz="1100" dirty="0">
                <a:latin typeface="微軟正黑體" panose="020B0604030504040204" pitchFamily="34" charset="-120"/>
                <a:ea typeface="微軟正黑體" panose="020B0604030504040204" pitchFamily="34" charset="-120"/>
              </a:rPr>
              <a:t>評等反映其強勁的財政和外部資產負債表，政府債務佔</a:t>
            </a:r>
            <a:r>
              <a:rPr lang="en-US" altLang="zh-TW" sz="1100" dirty="0">
                <a:latin typeface="微軟正黑體" panose="020B0604030504040204" pitchFamily="34" charset="-120"/>
                <a:ea typeface="微軟正黑體" panose="020B0604030504040204" pitchFamily="34" charset="-120"/>
              </a:rPr>
              <a:t>GDP</a:t>
            </a:r>
            <a:r>
              <a:rPr lang="zh-TW" altLang="en-US" sz="1100" dirty="0">
                <a:latin typeface="微軟正黑體" panose="020B0604030504040204" pitchFamily="34" charset="-120"/>
                <a:ea typeface="微軟正黑體" panose="020B0604030504040204" pitchFamily="34" charset="-120"/>
              </a:rPr>
              <a:t>比率和主權淨外國資產均遠高於「</a:t>
            </a:r>
            <a:r>
              <a:rPr lang="en-US" altLang="zh-TW" sz="1100" dirty="0">
                <a:latin typeface="微軟正黑體" panose="020B0604030504040204" pitchFamily="34" charset="-120"/>
                <a:ea typeface="微軟正黑體" panose="020B0604030504040204" pitchFamily="34" charset="-120"/>
              </a:rPr>
              <a:t>A</a:t>
            </a:r>
            <a:r>
              <a:rPr lang="zh-TW" altLang="en-US" sz="1100" dirty="0">
                <a:latin typeface="微軟正黑體" panose="020B0604030504040204" pitchFamily="34" charset="-120"/>
                <a:ea typeface="微軟正黑體" panose="020B0604030504040204" pitchFamily="34" charset="-120"/>
              </a:rPr>
              <a:t>」級和「</a:t>
            </a:r>
            <a:r>
              <a:rPr lang="en-US" altLang="zh-TW" sz="1100" dirty="0">
                <a:latin typeface="微軟正黑體" panose="020B0604030504040204" pitchFamily="34" charset="-120"/>
                <a:ea typeface="微軟正黑體" panose="020B0604030504040204" pitchFamily="34" charset="-120"/>
              </a:rPr>
              <a:t>AA</a:t>
            </a:r>
            <a:r>
              <a:rPr lang="zh-TW" altLang="en-US" sz="1100" dirty="0">
                <a:latin typeface="微軟正黑體" panose="020B0604030504040204" pitchFamily="34" charset="-120"/>
                <a:ea typeface="微軟正黑體" panose="020B0604030504040204" pitchFamily="34" charset="-120"/>
              </a:rPr>
              <a:t>」級的中位數，且擁有以存款和其他公共部門資產形式存在的雄厚財政緩衝。石油依賴度、世界銀行治理指標以及對地緣政治衝擊的脆弱性均有所改善，但仍是其弱點。在「</a:t>
            </a:r>
            <a:r>
              <a:rPr lang="en-US" altLang="zh-TW" sz="1100" dirty="0">
                <a:latin typeface="微軟正黑體" panose="020B0604030504040204" pitchFamily="34" charset="-120"/>
                <a:ea typeface="微軟正黑體" panose="020B0604030504040204" pitchFamily="34" charset="-120"/>
              </a:rPr>
              <a:t>2030</a:t>
            </a:r>
            <a:r>
              <a:rPr lang="zh-TW" altLang="en-US" sz="1100" dirty="0">
                <a:latin typeface="微軟正黑體" panose="020B0604030504040204" pitchFamily="34" charset="-120"/>
                <a:ea typeface="微軟正黑體" panose="020B0604030504040204" pitchFamily="34" charset="-120"/>
              </a:rPr>
              <a:t>願景」下實施的深入而廣泛的社會和經濟改革正在推動經濟活動的多元化，儘管這給資產負債表帶來了相當大的壓力。</a:t>
            </a:r>
            <a:endParaRPr lang="en-US" altLang="zh-TW" sz="1100" dirty="0">
              <a:latin typeface="微軟正黑體" panose="020B0604030504040204" pitchFamily="34" charset="-120"/>
              <a:ea typeface="微軟正黑體" panose="020B0604030504040204" pitchFamily="34" charset="-120"/>
            </a:endParaRPr>
          </a:p>
        </p:txBody>
      </p:sp>
      <p:pic>
        <p:nvPicPr>
          <p:cNvPr id="3" name="Picture 2" descr="Flag of Saudi Arabia.svg">
            <a:extLst>
              <a:ext uri="{FF2B5EF4-FFF2-40B4-BE49-F238E27FC236}">
                <a16:creationId xmlns:a16="http://schemas.microsoft.com/office/drawing/2014/main" id="{823C8661-B0B1-9888-A54E-A28045283C0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71584" y="260648"/>
            <a:ext cx="786798" cy="524328"/>
          </a:xfrm>
          <a:prstGeom prst="rect">
            <a:avLst/>
          </a:prstGeom>
          <a:noFill/>
          <a:extLst>
            <a:ext uri="{909E8E84-426E-40DD-AFC4-6F175D3DCCD1}">
              <a14:hiddenFill xmlns:a14="http://schemas.microsoft.com/office/drawing/2010/main">
                <a:solidFill>
                  <a:srgbClr val="FFFFFF"/>
                </a:solidFill>
              </a14:hiddenFill>
            </a:ext>
          </a:extLst>
        </p:spPr>
      </p:pic>
      <p:sp>
        <p:nvSpPr>
          <p:cNvPr id="14" name="文字方塊 13">
            <a:extLst>
              <a:ext uri="{FF2B5EF4-FFF2-40B4-BE49-F238E27FC236}">
                <a16:creationId xmlns:a16="http://schemas.microsoft.com/office/drawing/2014/main" id="{006C4536-37AC-CA90-4E64-30B4BAFD446F}"/>
              </a:ext>
            </a:extLst>
          </p:cNvPr>
          <p:cNvSpPr txBox="1"/>
          <p:nvPr/>
        </p:nvSpPr>
        <p:spPr>
          <a:xfrm>
            <a:off x="5251173" y="905029"/>
            <a:ext cx="216023" cy="246221"/>
          </a:xfrm>
          <a:prstGeom prst="rect">
            <a:avLst/>
          </a:prstGeom>
          <a:noFill/>
        </p:spPr>
        <p:txBody>
          <a:bodyPr wrap="square" rtlCol="0">
            <a:spAutoFit/>
          </a:bodyPr>
          <a:lstStyle/>
          <a:p>
            <a:pPr algn="ctr"/>
            <a:r>
              <a:rPr lang="en-US" altLang="zh-TW" sz="1000" dirty="0">
                <a:latin typeface="微軟正黑體" panose="020B0604030504040204" pitchFamily="34" charset="-120"/>
                <a:ea typeface="微軟正黑體" panose="020B0604030504040204" pitchFamily="34" charset="-120"/>
              </a:rPr>
              <a:t>%</a:t>
            </a:r>
            <a:endParaRPr lang="zh-TW" altLang="en-US" sz="1000" dirty="0">
              <a:latin typeface="微軟正黑體" panose="020B0604030504040204" pitchFamily="34" charset="-120"/>
              <a:ea typeface="微軟正黑體" panose="020B0604030504040204" pitchFamily="34" charset="-120"/>
            </a:endParaRPr>
          </a:p>
        </p:txBody>
      </p:sp>
      <p:grpSp>
        <p:nvGrpSpPr>
          <p:cNvPr id="17" name="群組 16">
            <a:extLst>
              <a:ext uri="{FF2B5EF4-FFF2-40B4-BE49-F238E27FC236}">
                <a16:creationId xmlns:a16="http://schemas.microsoft.com/office/drawing/2014/main" id="{38ABADF1-86CD-E9FE-B1A9-0DB55113AC30}"/>
              </a:ext>
            </a:extLst>
          </p:cNvPr>
          <p:cNvGrpSpPr/>
          <p:nvPr/>
        </p:nvGrpSpPr>
        <p:grpSpPr>
          <a:xfrm>
            <a:off x="5138828" y="789096"/>
            <a:ext cx="3711933" cy="1620311"/>
            <a:chOff x="5146448" y="850056"/>
            <a:chExt cx="3711933" cy="2183622"/>
          </a:xfrm>
        </p:grpSpPr>
        <p:graphicFrame>
          <p:nvGraphicFramePr>
            <p:cNvPr id="13" name="圖表 12">
              <a:extLst>
                <a:ext uri="{FF2B5EF4-FFF2-40B4-BE49-F238E27FC236}">
                  <a16:creationId xmlns:a16="http://schemas.microsoft.com/office/drawing/2014/main" id="{B2D2F8AF-A757-4CB0-3572-DFF3536F98FE}"/>
                </a:ext>
              </a:extLst>
            </p:cNvPr>
            <p:cNvGraphicFramePr>
              <a:graphicFrameLocks/>
            </p:cNvGraphicFramePr>
            <p:nvPr>
              <p:extLst>
                <p:ext uri="{D42A27DB-BD31-4B8C-83A1-F6EECF244321}">
                  <p14:modId xmlns:p14="http://schemas.microsoft.com/office/powerpoint/2010/main" val="1450129693"/>
                </p:ext>
              </p:extLst>
            </p:nvPr>
          </p:nvGraphicFramePr>
          <p:xfrm>
            <a:off x="5146448" y="1411875"/>
            <a:ext cx="3711933" cy="1621803"/>
          </p:xfrm>
          <a:graphic>
            <a:graphicData uri="http://schemas.openxmlformats.org/drawingml/2006/chart">
              <c:chart xmlns:c="http://schemas.openxmlformats.org/drawingml/2006/chart" xmlns:r="http://schemas.openxmlformats.org/officeDocument/2006/relationships" r:id="rId6"/>
            </a:graphicData>
          </a:graphic>
        </p:graphicFrame>
        <p:sp>
          <p:nvSpPr>
            <p:cNvPr id="15" name="文字方塊 14">
              <a:extLst>
                <a:ext uri="{FF2B5EF4-FFF2-40B4-BE49-F238E27FC236}">
                  <a16:creationId xmlns:a16="http://schemas.microsoft.com/office/drawing/2014/main" id="{D590B80C-4391-CDF1-6755-155CF5EC2380}"/>
                </a:ext>
              </a:extLst>
            </p:cNvPr>
            <p:cNvSpPr txBox="1"/>
            <p:nvPr/>
          </p:nvSpPr>
          <p:spPr>
            <a:xfrm>
              <a:off x="5217179" y="850056"/>
              <a:ext cx="3641202" cy="312779"/>
            </a:xfrm>
            <a:prstGeom prst="rect">
              <a:avLst/>
            </a:prstGeom>
            <a:noFill/>
          </p:spPr>
          <p:txBody>
            <a:bodyPr wrap="square" rtlCol="0">
              <a:spAutoFit/>
            </a:bodyPr>
            <a:lstStyle/>
            <a:p>
              <a:pPr algn="ctr"/>
              <a:r>
                <a:rPr lang="zh-TW" altLang="en-US" sz="1200" b="1" dirty="0">
                  <a:latin typeface="微軟正黑體" panose="020B0604030504040204" pitchFamily="34" charset="-120"/>
                  <a:ea typeface="微軟正黑體" panose="020B0604030504040204" pitchFamily="34" charset="-120"/>
                </a:rPr>
                <a:t>沙國失業率逐步下降</a:t>
              </a:r>
            </a:p>
          </p:txBody>
        </p:sp>
      </p:grpSp>
      <p:pic>
        <p:nvPicPr>
          <p:cNvPr id="1026" name="Picture 2" descr="File:Moody's Logo.png - Wikimedia Commons"/>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5920" t="21745" r="6029" b="21922"/>
          <a:stretch/>
        </p:blipFill>
        <p:spPr bwMode="auto">
          <a:xfrm>
            <a:off x="1722938" y="1092835"/>
            <a:ext cx="777233" cy="137394"/>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F3B75A1E-55B7-4280-ACF1-A32DBB4C064A}"/>
              </a:ext>
            </a:extLst>
          </p:cNvPr>
          <p:cNvSpPr/>
          <p:nvPr/>
        </p:nvSpPr>
        <p:spPr>
          <a:xfrm>
            <a:off x="5147315" y="4403241"/>
            <a:ext cx="3727309" cy="2050095"/>
          </a:xfrm>
          <a:prstGeom prst="rect">
            <a:avLst/>
          </a:prstGeom>
          <a:ln>
            <a:solidFill>
              <a:schemeClr val="bg1">
                <a:lumMod val="65000"/>
              </a:schemeClr>
            </a:solidFill>
          </a:ln>
        </p:spPr>
        <p:txBody>
          <a:bodyPr wrap="square" lIns="72000" tIns="72000" rIns="108000" bIns="72000">
            <a:spAutoFit/>
          </a:bodyPr>
          <a:lstStyle/>
          <a:p>
            <a:pPr lvl="0" algn="just">
              <a:lnSpc>
                <a:spcPts val="1600"/>
              </a:lnSpc>
              <a:spcAft>
                <a:spcPts val="300"/>
              </a:spcAft>
              <a:defRPr/>
            </a:pPr>
            <a:r>
              <a:rPr lang="zh-TW" altLang="en-US" sz="1200" b="1" dirty="0">
                <a:latin typeface="微軟正黑體" panose="020B0604030504040204" pitchFamily="34" charset="-120"/>
                <a:ea typeface="微軟正黑體" panose="020B0604030504040204" pitchFamily="34" charset="-120"/>
              </a:rPr>
              <a:t>伊朗戰爭的影響</a:t>
            </a:r>
            <a:endParaRPr lang="en-US" altLang="zh-TW" sz="1200" b="1" dirty="0">
              <a:latin typeface="微軟正黑體" panose="020B0604030504040204" pitchFamily="34" charset="-120"/>
              <a:ea typeface="微軟正黑體" panose="020B0604030504040204" pitchFamily="34" charset="-120"/>
            </a:endParaRPr>
          </a:p>
          <a:p>
            <a:pPr marL="171450" indent="-171450" algn="just">
              <a:lnSpc>
                <a:spcPts val="1600"/>
              </a:lnSpc>
              <a:spcAft>
                <a:spcPts val="300"/>
              </a:spcAft>
              <a:buFont typeface="Arial" panose="020B0604020202020204" pitchFamily="34" charset="0"/>
              <a:buChar char="•"/>
            </a:pPr>
            <a:r>
              <a:rPr lang="zh-TW" altLang="en-US" sz="1100" b="1" dirty="0">
                <a:latin typeface="微軟正黑體" panose="020B0604030504040204" pitchFamily="34" charset="-120"/>
                <a:ea typeface="微軟正黑體" panose="020B0604030504040204" pitchFamily="34" charset="-120"/>
              </a:rPr>
              <a:t>惠譽於</a:t>
            </a:r>
            <a:r>
              <a:rPr lang="en-US" altLang="zh-TW" sz="1100" b="1" dirty="0">
                <a:latin typeface="微軟正黑體" panose="020B0604030504040204" pitchFamily="34" charset="-120"/>
                <a:ea typeface="微軟正黑體" panose="020B0604030504040204" pitchFamily="34" charset="-120"/>
              </a:rPr>
              <a:t>2026/3/5</a:t>
            </a:r>
            <a:r>
              <a:rPr lang="zh-TW" altLang="en-US" sz="1100" b="1" dirty="0">
                <a:latin typeface="微軟正黑體" panose="020B0604030504040204" pitchFamily="34" charset="-120"/>
                <a:ea typeface="微軟正黑體" panose="020B0604030504040204" pitchFamily="34" charset="-120"/>
              </a:rPr>
              <a:t>表示荷姆茲海峽關閉對沙烏地阿拉伯的衝擊有限，高油價甚至有望挹注</a:t>
            </a:r>
            <a:r>
              <a:rPr lang="en-US" altLang="zh-TW" sz="1100" b="1" dirty="0">
                <a:latin typeface="微軟正黑體" panose="020B0604030504040204" pitchFamily="34" charset="-120"/>
                <a:ea typeface="微軟正黑體" panose="020B0604030504040204" pitchFamily="34" charset="-120"/>
              </a:rPr>
              <a:t>GDP</a:t>
            </a:r>
            <a:r>
              <a:rPr lang="zh-TW" altLang="en-US" sz="1100" b="1" dirty="0">
                <a:latin typeface="微軟正黑體" panose="020B0604030504040204" pitchFamily="34" charset="-120"/>
                <a:ea typeface="微軟正黑體" panose="020B0604030504040204" pitchFamily="34" charset="-120"/>
              </a:rPr>
              <a:t>成長</a:t>
            </a:r>
          </a:p>
          <a:p>
            <a:pPr marL="171450" indent="-171450" algn="just">
              <a:lnSpc>
                <a:spcPts val="1600"/>
              </a:lnSpc>
              <a:spcAft>
                <a:spcPts val="300"/>
              </a:spcAft>
              <a:buFont typeface="Arial" panose="020B0604020202020204" pitchFamily="34" charset="0"/>
              <a:buChar char="•"/>
            </a:pPr>
            <a:r>
              <a:rPr lang="zh-TW" altLang="en-US" sz="1100" dirty="0">
                <a:latin typeface="微軟正黑體" panose="020B0604030504040204" pitchFamily="34" charset="-120"/>
                <a:ea typeface="微軟正黑體" panose="020B0604030504040204" pitchFamily="34" charset="-120"/>
              </a:rPr>
              <a:t>惠譽預期伊朗戰爭導致荷姆茲海峽的關閉時間將至少一個月，且能源生產和運輸的基礎設施不會遭到重大損害。沙烏地阿拉伯擁有可繞過該海峽的油氣出口基礎設施。在油價上漲到每桶</a:t>
            </a:r>
            <a:r>
              <a:rPr lang="en-US" altLang="zh-TW" sz="1100" dirty="0">
                <a:latin typeface="微軟正黑體" panose="020B0604030504040204" pitchFamily="34" charset="-120"/>
                <a:ea typeface="微軟正黑體" panose="020B0604030504040204" pitchFamily="34" charset="-120"/>
              </a:rPr>
              <a:t>85</a:t>
            </a:r>
            <a:r>
              <a:rPr lang="zh-TW" altLang="en-US" sz="1100" dirty="0">
                <a:latin typeface="微軟正黑體" panose="020B0604030504040204" pitchFamily="34" charset="-120"/>
                <a:ea typeface="微軟正黑體" panose="020B0604030504040204" pitchFamily="34" charset="-120"/>
              </a:rPr>
              <a:t>美元的假設下，出口收入將略高於衝突前的水準，海峽關閉一個月反而將挹注其</a:t>
            </a:r>
            <a:r>
              <a:rPr lang="en-US" altLang="zh-TW" sz="1100" dirty="0">
                <a:latin typeface="微軟正黑體" panose="020B0604030504040204" pitchFamily="34" charset="-120"/>
                <a:ea typeface="微軟正黑體" panose="020B0604030504040204" pitchFamily="34" charset="-120"/>
              </a:rPr>
              <a:t>GDP</a:t>
            </a:r>
            <a:r>
              <a:rPr lang="zh-TW" altLang="en-US" sz="1100" dirty="0">
                <a:latin typeface="微軟正黑體" panose="020B0604030504040204" pitchFamily="34" charset="-120"/>
                <a:ea typeface="微軟正黑體" panose="020B0604030504040204" pitchFamily="34" charset="-120"/>
              </a:rPr>
              <a:t>成長率</a:t>
            </a:r>
            <a:r>
              <a:rPr lang="en-US" altLang="zh-TW" sz="1100" dirty="0">
                <a:latin typeface="微軟正黑體" panose="020B0604030504040204" pitchFamily="34" charset="-120"/>
                <a:ea typeface="微軟正黑體" panose="020B0604030504040204" pitchFamily="34" charset="-120"/>
              </a:rPr>
              <a:t>0.1%</a:t>
            </a:r>
            <a:r>
              <a:rPr lang="zh-TW" altLang="en-US" sz="1100" dirty="0">
                <a:latin typeface="微軟正黑體" panose="020B0604030504040204" pitchFamily="34" charset="-120"/>
                <a:ea typeface="微軟正黑體" panose="020B0604030504040204" pitchFamily="34" charset="-120"/>
              </a:rPr>
              <a:t>。</a:t>
            </a:r>
            <a:endParaRPr lang="en-US" altLang="zh-TW" sz="1100" dirty="0">
              <a:latin typeface="微軟正黑體" panose="020B0604030504040204" pitchFamily="34" charset="-120"/>
              <a:ea typeface="微軟正黑體" panose="020B0604030504040204" pitchFamily="34" charset="-120"/>
            </a:endParaRPr>
          </a:p>
        </p:txBody>
      </p:sp>
      <p:grpSp>
        <p:nvGrpSpPr>
          <p:cNvPr id="19" name="群組 18">
            <a:extLst>
              <a:ext uri="{FF2B5EF4-FFF2-40B4-BE49-F238E27FC236}">
                <a16:creationId xmlns:a16="http://schemas.microsoft.com/office/drawing/2014/main" id="{9EEA8ACB-FAA9-42A9-ABA5-CF425D414FFF}"/>
              </a:ext>
            </a:extLst>
          </p:cNvPr>
          <p:cNvGrpSpPr/>
          <p:nvPr/>
        </p:nvGrpSpPr>
        <p:grpSpPr>
          <a:xfrm>
            <a:off x="5185058" y="2503702"/>
            <a:ext cx="3711933" cy="1899539"/>
            <a:chOff x="5146448" y="850056"/>
            <a:chExt cx="3711933" cy="2183622"/>
          </a:xfrm>
        </p:grpSpPr>
        <p:graphicFrame>
          <p:nvGraphicFramePr>
            <p:cNvPr id="20" name="圖表 19">
              <a:extLst>
                <a:ext uri="{FF2B5EF4-FFF2-40B4-BE49-F238E27FC236}">
                  <a16:creationId xmlns:a16="http://schemas.microsoft.com/office/drawing/2014/main" id="{B5897102-268E-46EB-B9D9-5A99D10B71C2}"/>
                </a:ext>
              </a:extLst>
            </p:cNvPr>
            <p:cNvGraphicFramePr>
              <a:graphicFrameLocks/>
            </p:cNvGraphicFramePr>
            <p:nvPr>
              <p:extLst>
                <p:ext uri="{D42A27DB-BD31-4B8C-83A1-F6EECF244321}">
                  <p14:modId xmlns:p14="http://schemas.microsoft.com/office/powerpoint/2010/main" val="1887748803"/>
                </p:ext>
              </p:extLst>
            </p:nvPr>
          </p:nvGraphicFramePr>
          <p:xfrm>
            <a:off x="5146448" y="1235876"/>
            <a:ext cx="3711933" cy="1797802"/>
          </p:xfrm>
          <a:graphic>
            <a:graphicData uri="http://schemas.openxmlformats.org/drawingml/2006/chart">
              <c:chart xmlns:c="http://schemas.openxmlformats.org/drawingml/2006/chart" xmlns:r="http://schemas.openxmlformats.org/officeDocument/2006/relationships" r:id="rId8"/>
            </a:graphicData>
          </a:graphic>
        </p:graphicFrame>
        <p:sp>
          <p:nvSpPr>
            <p:cNvPr id="21" name="文字方塊 20">
              <a:extLst>
                <a:ext uri="{FF2B5EF4-FFF2-40B4-BE49-F238E27FC236}">
                  <a16:creationId xmlns:a16="http://schemas.microsoft.com/office/drawing/2014/main" id="{41AFAA15-2BC4-4138-A11D-0270B0EC85DD}"/>
                </a:ext>
              </a:extLst>
            </p:cNvPr>
            <p:cNvSpPr txBox="1"/>
            <p:nvPr/>
          </p:nvSpPr>
          <p:spPr>
            <a:xfrm>
              <a:off x="5217179" y="850056"/>
              <a:ext cx="3641202" cy="318425"/>
            </a:xfrm>
            <a:prstGeom prst="rect">
              <a:avLst/>
            </a:prstGeom>
            <a:noFill/>
          </p:spPr>
          <p:txBody>
            <a:bodyPr wrap="square" rtlCol="0">
              <a:spAutoFit/>
            </a:bodyPr>
            <a:lstStyle/>
            <a:p>
              <a:pPr algn="ctr"/>
              <a:r>
                <a:rPr lang="zh-TW" altLang="en-US" sz="1200" b="1" dirty="0">
                  <a:latin typeface="微軟正黑體" panose="020B0604030504040204" pitchFamily="34" charset="-120"/>
                  <a:ea typeface="微軟正黑體" panose="020B0604030504040204" pitchFamily="34" charset="-120"/>
                </a:rPr>
                <a:t>預期實質</a:t>
              </a:r>
              <a:r>
                <a:rPr lang="en-US" altLang="zh-TW" sz="1200" b="1" dirty="0">
                  <a:latin typeface="微軟正黑體" panose="020B0604030504040204" pitchFamily="34" charset="-120"/>
                  <a:ea typeface="微軟正黑體" panose="020B0604030504040204" pitchFamily="34" charset="-120"/>
                </a:rPr>
                <a:t>GDP</a:t>
              </a:r>
              <a:r>
                <a:rPr lang="zh-TW" altLang="en-US" sz="1200" b="1" dirty="0">
                  <a:latin typeface="微軟正黑體" panose="020B0604030504040204" pitchFamily="34" charset="-120"/>
                  <a:ea typeface="微軟正黑體" panose="020B0604030504040204" pitchFamily="34" charset="-120"/>
                </a:rPr>
                <a:t>穩步成長</a:t>
              </a:r>
            </a:p>
          </p:txBody>
        </p:sp>
      </p:grpSp>
    </p:spTree>
    <p:extLst>
      <p:ext uri="{BB962C8B-B14F-4D97-AF65-F5344CB8AC3E}">
        <p14:creationId xmlns:p14="http://schemas.microsoft.com/office/powerpoint/2010/main" val="10115870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18013" y="1484785"/>
            <a:ext cx="7992888" cy="1338828"/>
          </a:xfrm>
          <a:prstGeom prst="rect">
            <a:avLst/>
          </a:prstGeom>
        </p:spPr>
        <p:txBody>
          <a:bodyPr wrap="square">
            <a:spAutoFit/>
          </a:bodyPr>
          <a:lstStyle/>
          <a:p>
            <a:pPr algn="just"/>
            <a:r>
              <a:rPr lang="zh-TW" altLang="zh-TW" sz="1350" b="1" dirty="0">
                <a:solidFill>
                  <a:srgbClr val="C92223"/>
                </a:solidFill>
                <a:latin typeface="微軟正黑體" pitchFamily="34" charset="-120"/>
                <a:ea typeface="微軟正黑體" pitchFamily="34" charset="-120"/>
              </a:rPr>
              <a:t>免責宣言說明</a:t>
            </a:r>
            <a:endParaRPr lang="en-US" altLang="zh-TW" sz="1350" b="1" dirty="0">
              <a:solidFill>
                <a:srgbClr val="C92223"/>
              </a:solidFill>
              <a:latin typeface="微軟正黑體" pitchFamily="34" charset="-120"/>
              <a:ea typeface="微軟正黑體" pitchFamily="34" charset="-120"/>
            </a:endParaRPr>
          </a:p>
          <a:p>
            <a:pPr algn="just"/>
            <a:endParaRPr lang="en-US" altLang="zh-TW" sz="1350" dirty="0">
              <a:latin typeface="微軟正黑體" pitchFamily="34" charset="-120"/>
              <a:ea typeface="微軟正黑體" pitchFamily="34" charset="-120"/>
            </a:endParaRPr>
          </a:p>
          <a:p>
            <a:pPr algn="just"/>
            <a:r>
              <a:rPr lang="zh-TW" altLang="en-US" sz="1350" dirty="0">
                <a:latin typeface="微軟正黑體" pitchFamily="34" charset="-120"/>
                <a:ea typeface="微軟正黑體" pitchFamily="34" charset="-120"/>
              </a:rPr>
              <a:t>本報告所載內容僅供參考，台新綜合證券</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股</a:t>
            </a:r>
            <a:r>
              <a:rPr lang="en-US" altLang="zh-TW" sz="1350" dirty="0">
                <a:latin typeface="微軟正黑體" pitchFamily="34" charset="-120"/>
                <a:ea typeface="微軟正黑體" pitchFamily="34" charset="-120"/>
              </a:rPr>
              <a:t>)</a:t>
            </a:r>
            <a:r>
              <a:rPr lang="zh-TW" altLang="en-US" sz="1350" dirty="0">
                <a:latin typeface="微軟正黑體" pitchFamily="34" charset="-120"/>
                <a:ea typeface="微軟正黑體" pitchFamily="34" charset="-120"/>
              </a:rPr>
              <a:t>公司不保證其正確性及完整性。內容如涉及任何有價證券或金融市場商品相關記載或說明，並不構成要約、招攬、宣傳、建議或推薦買賣等任何形式之表示，任何人如參考本報告後，所進行相關投資行為或交易，應自行承擔所有損益，本公司並不負任何法律責任。此外，非經本公司同意，不得將本報告內容之一部或全部加以複製、轉載或散布。</a:t>
            </a:r>
          </a:p>
        </p:txBody>
      </p:sp>
    </p:spTree>
    <p:extLst>
      <p:ext uri="{BB962C8B-B14F-4D97-AF65-F5344CB8AC3E}">
        <p14:creationId xmlns:p14="http://schemas.microsoft.com/office/powerpoint/2010/main" val="3532227976"/>
      </p:ext>
    </p:extLst>
  </p:cSld>
  <p:clrMapOvr>
    <a:masterClrMapping/>
  </p:clrMapOvr>
</p:sld>
</file>

<file path=ppt/theme/theme1.xml><?xml version="1.0" encoding="utf-8"?>
<a:theme xmlns:a="http://schemas.openxmlformats.org/drawingml/2006/main" name="報告佈景主題PPT">
  <a:themeElements>
    <a:clrScheme name="複委託4">
      <a:dk1>
        <a:srgbClr val="000000"/>
      </a:dk1>
      <a:lt1>
        <a:srgbClr val="FFFFFF"/>
      </a:lt1>
      <a:dk2>
        <a:srgbClr val="7F7F7F"/>
      </a:dk2>
      <a:lt2>
        <a:srgbClr val="C00000"/>
      </a:lt2>
      <a:accent1>
        <a:srgbClr val="C95E0D"/>
      </a:accent1>
      <a:accent2>
        <a:srgbClr val="704C61"/>
      </a:accent2>
      <a:accent3>
        <a:srgbClr val="C0CBD1"/>
      </a:accent3>
      <a:accent4>
        <a:srgbClr val="8994A6"/>
      </a:accent4>
      <a:accent5>
        <a:srgbClr val="C39E64"/>
      </a:accent5>
      <a:accent6>
        <a:srgbClr val="B8B1A7"/>
      </a:accent6>
      <a:hlink>
        <a:srgbClr val="0070C0"/>
      </a:hlink>
      <a:folHlink>
        <a:srgbClr val="000000"/>
      </a:folHlink>
    </a:clrScheme>
    <a:fontScheme name="台新投顧">
      <a:majorFont>
        <a:latin typeface="微軟正黑體"/>
        <a:ea typeface="微軟正黑體"/>
        <a:cs typeface=""/>
      </a:majorFont>
      <a:minorFont>
        <a:latin typeface="微軟正黑體"/>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
  <TotalTime>12240</TotalTime>
  <Words>2004</Words>
  <Application>Microsoft Office PowerPoint</Application>
  <PresentationFormat>如螢幕大小 (4:3)</PresentationFormat>
  <Paragraphs>142</Paragraphs>
  <Slides>5</Slides>
  <Notes>3</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5</vt:i4>
      </vt:variant>
    </vt:vector>
  </HeadingPairs>
  <TitlesOfParts>
    <vt:vector size="10" baseType="lpstr">
      <vt:lpstr>微軟正黑體</vt:lpstr>
      <vt:lpstr>Arial</vt:lpstr>
      <vt:lpstr>Calibri</vt:lpstr>
      <vt:lpstr>Wingdings</vt:lpstr>
      <vt:lpstr>報告佈景主題PPT</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台新B2B Team</dc:creator>
  <cp:lastModifiedBy>張軒愷</cp:lastModifiedBy>
  <cp:revision>11524</cp:revision>
  <cp:lastPrinted>2021-03-31T07:17:07Z</cp:lastPrinted>
  <dcterms:created xsi:type="dcterms:W3CDTF">2013-05-02T15:04:30Z</dcterms:created>
  <dcterms:modified xsi:type="dcterms:W3CDTF">2026-05-07T09:27:46Z</dcterms:modified>
</cp:coreProperties>
</file>