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notesSlides/notesSlide3.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8"/>
  </p:notesMasterIdLst>
  <p:handoutMasterIdLst>
    <p:handoutMasterId r:id="rId9"/>
  </p:handoutMasterIdLst>
  <p:sldIdLst>
    <p:sldId id="1345" r:id="rId2"/>
    <p:sldId id="1343" r:id="rId3"/>
    <p:sldId id="1342" r:id="rId4"/>
    <p:sldId id="1347" r:id="rId5"/>
    <p:sldId id="1346" r:id="rId6"/>
    <p:sldId id="1338" r:id="rId7"/>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71824B8-F3CE-4E38-AD2B-803D36CA02E5}">
          <p14:sldIdLst>
            <p14:sldId id="1345"/>
            <p14:sldId id="1343"/>
            <p14:sldId id="1342"/>
            <p14:sldId id="1347"/>
            <p14:sldId id="1346"/>
            <p14:sldId id="1338"/>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orient="horz" pos="590" userDrawn="1">
          <p15:clr>
            <a:srgbClr val="A4A3A4"/>
          </p15:clr>
        </p15:guide>
        <p15:guide id="4" pos="2880" userDrawn="1">
          <p15:clr>
            <a:srgbClr val="A4A3A4"/>
          </p15:clr>
        </p15:guide>
        <p15:guide id="5" pos="295" userDrawn="1">
          <p15:clr>
            <a:srgbClr val="A4A3A4"/>
          </p15:clr>
        </p15:guide>
        <p15:guide id="6" pos="5468" userDrawn="1">
          <p15:clr>
            <a:srgbClr val="A4A3A4"/>
          </p15:clr>
        </p15:guide>
        <p15:guide id="7" orient="horz" pos="1071" userDrawn="1">
          <p15:clr>
            <a:srgbClr val="A4A3A4"/>
          </p15:clr>
        </p15:guide>
        <p15:guide id="8" pos="5465"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guide id="3" orient="horz" pos="3130" userDrawn="1">
          <p15:clr>
            <a:srgbClr val="A4A3A4"/>
          </p15:clr>
        </p15:guide>
        <p15:guide id="4"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建宇 陳" initials="建宇" lastIdx="2" clrIdx="0"/>
  <p:cmAuthor id="2" name="吳培菁" initials="吳培菁" lastIdx="1" clrIdx="1">
    <p:extLst>
      <p:ext uri="{19B8F6BF-5375-455C-9EA6-DF929625EA0E}">
        <p15:presenceInfo xmlns:p15="http://schemas.microsoft.com/office/powerpoint/2012/main" userId="S-1-5-21-2744940397-1624504133-3266513053-966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B2520A"/>
    <a:srgbClr val="D79885"/>
    <a:srgbClr val="000000"/>
    <a:srgbClr val="FF0000"/>
    <a:srgbClr val="FFBFBF"/>
    <a:srgbClr val="BFBFBF"/>
    <a:srgbClr val="4F81BD"/>
    <a:srgbClr val="86A9D2"/>
    <a:srgbClr val="FAA3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56" autoAdjust="0"/>
    <p:restoredTop sz="96318" autoAdjust="0"/>
  </p:normalViewPr>
  <p:slideViewPr>
    <p:cSldViewPr showGuides="1">
      <p:cViewPr varScale="1">
        <p:scale>
          <a:sx n="66" d="100"/>
          <a:sy n="66" d="100"/>
        </p:scale>
        <p:origin x="1224" y="52"/>
      </p:cViewPr>
      <p:guideLst>
        <p:guide orient="horz" pos="2160"/>
        <p:guide orient="horz" pos="482"/>
        <p:guide orient="horz" pos="590"/>
        <p:guide pos="2880"/>
        <p:guide pos="295"/>
        <p:guide pos="5468"/>
        <p:guide orient="horz" pos="1071"/>
        <p:guide pos="546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p:cViewPr varScale="1">
        <p:scale>
          <a:sx n="80" d="100"/>
          <a:sy n="80" d="100"/>
        </p:scale>
        <p:origin x="-3996" y="-96"/>
      </p:cViewPr>
      <p:guideLst>
        <p:guide orient="horz" pos="3126"/>
        <p:guide pos="2141"/>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8.0085795783807104E-2"/>
          <c:y val="0.15318096912427207"/>
          <c:w val="0.455857717754587"/>
          <c:h val="0.83064884478645373"/>
        </c:manualLayout>
      </c:layout>
      <c:doughnutChart>
        <c:varyColors val="1"/>
        <c:ser>
          <c:idx val="0"/>
          <c:order val="0"/>
          <c:tx>
            <c:strRef>
              <c:f>工作表1!$B$1</c:f>
              <c:strCache>
                <c:ptCount val="1"/>
                <c:pt idx="0">
                  <c:v>欄1</c:v>
                </c:pt>
              </c:strCache>
            </c:strRef>
          </c:tx>
          <c:spPr>
            <a:solidFill>
              <a:srgbClr val="C00000"/>
            </a:solidFill>
          </c:spPr>
          <c:dPt>
            <c:idx val="0"/>
            <c:bubble3D val="0"/>
            <c:spPr>
              <a:solidFill>
                <a:srgbClr val="C00000"/>
              </a:solidFill>
              <a:ln w="19050">
                <a:solidFill>
                  <a:schemeClr val="lt1"/>
                </a:solidFill>
              </a:ln>
              <a:effectLst/>
            </c:spPr>
            <c:extLst>
              <c:ext xmlns:c16="http://schemas.microsoft.com/office/drawing/2014/chart" uri="{C3380CC4-5D6E-409C-BE32-E72D297353CC}">
                <c16:uniqueId val="{00000001-F1FF-4977-BD3E-6AC063F3702F}"/>
              </c:ext>
            </c:extLst>
          </c:dPt>
          <c:dPt>
            <c:idx val="1"/>
            <c:bubble3D val="0"/>
            <c:spPr>
              <a:solidFill>
                <a:srgbClr val="41B6E6"/>
              </a:solidFill>
              <a:ln w="19050">
                <a:solidFill>
                  <a:schemeClr val="lt1"/>
                </a:solidFill>
              </a:ln>
              <a:effectLst/>
            </c:spPr>
            <c:extLst>
              <c:ext xmlns:c16="http://schemas.microsoft.com/office/drawing/2014/chart" uri="{C3380CC4-5D6E-409C-BE32-E72D297353CC}">
                <c16:uniqueId val="{00000003-F1FF-4977-BD3E-6AC063F3702F}"/>
              </c:ext>
            </c:extLst>
          </c:dPt>
          <c:dPt>
            <c:idx val="2"/>
            <c:bubble3D val="0"/>
            <c:spPr>
              <a:solidFill>
                <a:srgbClr val="7F7F7F"/>
              </a:solidFill>
              <a:ln w="19050">
                <a:solidFill>
                  <a:schemeClr val="lt1"/>
                </a:solidFill>
              </a:ln>
              <a:effectLst/>
            </c:spPr>
            <c:extLst>
              <c:ext xmlns:c16="http://schemas.microsoft.com/office/drawing/2014/chart" uri="{C3380CC4-5D6E-409C-BE32-E72D297353CC}">
                <c16:uniqueId val="{00000005-F1FF-4977-BD3E-6AC063F3702F}"/>
              </c:ext>
            </c:extLst>
          </c:dPt>
          <c:dPt>
            <c:idx val="3"/>
            <c:bubble3D val="0"/>
            <c:spPr>
              <a:solidFill>
                <a:srgbClr val="78BE20"/>
              </a:solidFill>
              <a:ln w="19050">
                <a:solidFill>
                  <a:schemeClr val="lt1"/>
                </a:solidFill>
              </a:ln>
              <a:effectLst/>
            </c:spPr>
            <c:extLst>
              <c:ext xmlns:c16="http://schemas.microsoft.com/office/drawing/2014/chart" uri="{C3380CC4-5D6E-409C-BE32-E72D297353CC}">
                <c16:uniqueId val="{00000007-F1FF-4977-BD3E-6AC063F3702F}"/>
              </c:ext>
            </c:extLst>
          </c:dPt>
          <c:dPt>
            <c:idx val="4"/>
            <c:bubble3D val="0"/>
            <c:spPr>
              <a:solidFill>
                <a:srgbClr val="7030A0"/>
              </a:solidFill>
              <a:ln w="19050">
                <a:solidFill>
                  <a:schemeClr val="lt1"/>
                </a:solidFill>
              </a:ln>
              <a:effectLst/>
            </c:spPr>
            <c:extLst>
              <c:ext xmlns:c16="http://schemas.microsoft.com/office/drawing/2014/chart" uri="{C3380CC4-5D6E-409C-BE32-E72D297353CC}">
                <c16:uniqueId val="{00000009-F1FF-4977-BD3E-6AC063F3702F}"/>
              </c:ext>
            </c:extLst>
          </c:dPt>
          <c:dPt>
            <c:idx val="5"/>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B-F1FF-4977-BD3E-6AC063F3702F}"/>
              </c:ext>
            </c:extLst>
          </c:dPt>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工作表1!$A$2:$A$6</c:f>
              <c:strCache>
                <c:ptCount val="5"/>
                <c:pt idx="0">
                  <c:v>美洲</c:v>
                </c:pt>
                <c:pt idx="1">
                  <c:v>歐洲</c:v>
                </c:pt>
                <c:pt idx="2">
                  <c:v>大中華區</c:v>
                </c:pt>
                <c:pt idx="3">
                  <c:v>日本</c:v>
                </c:pt>
                <c:pt idx="4">
                  <c:v>其他</c:v>
                </c:pt>
              </c:strCache>
            </c:strRef>
          </c:cat>
          <c:val>
            <c:numRef>
              <c:f>工作表1!$B$2:$B$6</c:f>
              <c:numCache>
                <c:formatCode>#,##0</c:formatCode>
                <c:ptCount val="5"/>
                <c:pt idx="0">
                  <c:v>178353</c:v>
                </c:pt>
                <c:pt idx="1">
                  <c:v>111032</c:v>
                </c:pt>
                <c:pt idx="2">
                  <c:v>64377</c:v>
                </c:pt>
                <c:pt idx="3">
                  <c:v>28703</c:v>
                </c:pt>
                <c:pt idx="4">
                  <c:v>33696</c:v>
                </c:pt>
              </c:numCache>
            </c:numRef>
          </c:val>
          <c:extLst>
            <c:ext xmlns:c16="http://schemas.microsoft.com/office/drawing/2014/chart" uri="{C3380CC4-5D6E-409C-BE32-E72D297353CC}">
              <c16:uniqueId val="{0000000C-F1FF-4977-BD3E-6AC063F3702F}"/>
            </c:ext>
          </c:extLst>
        </c:ser>
        <c:dLbls>
          <c:showLegendKey val="0"/>
          <c:showVal val="0"/>
          <c:showCatName val="0"/>
          <c:showSerName val="0"/>
          <c:showPercent val="0"/>
          <c:showBubbleSize val="0"/>
          <c:showLeaderLines val="1"/>
        </c:dLbls>
        <c:firstSliceAng val="321"/>
        <c:holeSize val="61"/>
      </c:doughnutChart>
      <c:spPr>
        <a:noFill/>
        <a:ln>
          <a:noFill/>
        </a:ln>
        <a:effectLst/>
      </c:spPr>
    </c:plotArea>
    <c:legend>
      <c:legendPos val="r"/>
      <c:layout>
        <c:manualLayout>
          <c:xMode val="edge"/>
          <c:yMode val="edge"/>
          <c:x val="0.53611281631539454"/>
          <c:y val="0.26696652897774831"/>
          <c:w val="0.40701180001364162"/>
          <c:h val="0.70978005609057515"/>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5.2301581322366869E-2"/>
          <c:y val="0.11741644005489772"/>
          <c:w val="0.47803957072826037"/>
          <c:h val="0.8530911316035753"/>
        </c:manualLayout>
      </c:layout>
      <c:doughnutChart>
        <c:varyColors val="1"/>
        <c:ser>
          <c:idx val="0"/>
          <c:order val="0"/>
          <c:tx>
            <c:strRef>
              <c:f>工作表1!$B$1</c:f>
              <c:strCache>
                <c:ptCount val="1"/>
                <c:pt idx="0">
                  <c:v>欄1</c:v>
                </c:pt>
              </c:strCache>
            </c:strRef>
          </c:tx>
          <c:spPr>
            <a:solidFill>
              <a:srgbClr val="C00000"/>
            </a:solidFill>
          </c:spPr>
          <c:dPt>
            <c:idx val="0"/>
            <c:bubble3D val="0"/>
            <c:explosion val="5"/>
            <c:spPr>
              <a:solidFill>
                <a:srgbClr val="C00000"/>
              </a:solidFill>
              <a:ln w="19050">
                <a:solidFill>
                  <a:schemeClr val="lt1"/>
                </a:solidFill>
              </a:ln>
              <a:effectLst/>
            </c:spPr>
            <c:extLst>
              <c:ext xmlns:c16="http://schemas.microsoft.com/office/drawing/2014/chart" uri="{C3380CC4-5D6E-409C-BE32-E72D297353CC}">
                <c16:uniqueId val="{00000001-827C-4560-B5CA-78CF585AC853}"/>
              </c:ext>
            </c:extLst>
          </c:dPt>
          <c:dPt>
            <c:idx val="1"/>
            <c:bubble3D val="0"/>
            <c:spPr>
              <a:solidFill>
                <a:srgbClr val="41B6E6"/>
              </a:solidFill>
              <a:ln w="19050">
                <a:solidFill>
                  <a:schemeClr val="lt1"/>
                </a:solidFill>
              </a:ln>
              <a:effectLst/>
            </c:spPr>
            <c:extLst>
              <c:ext xmlns:c16="http://schemas.microsoft.com/office/drawing/2014/chart" uri="{C3380CC4-5D6E-409C-BE32-E72D297353CC}">
                <c16:uniqueId val="{00000003-827C-4560-B5CA-78CF585AC853}"/>
              </c:ext>
            </c:extLst>
          </c:dPt>
          <c:dPt>
            <c:idx val="2"/>
            <c:bubble3D val="0"/>
            <c:spPr>
              <a:solidFill>
                <a:schemeClr val="tx1">
                  <a:lumMod val="50000"/>
                  <a:lumOff val="50000"/>
                </a:schemeClr>
              </a:solidFill>
              <a:ln w="19050">
                <a:solidFill>
                  <a:schemeClr val="lt1"/>
                </a:solidFill>
              </a:ln>
              <a:effectLst/>
            </c:spPr>
            <c:extLst>
              <c:ext xmlns:c16="http://schemas.microsoft.com/office/drawing/2014/chart" uri="{C3380CC4-5D6E-409C-BE32-E72D297353CC}">
                <c16:uniqueId val="{00000005-827C-4560-B5CA-78CF585AC853}"/>
              </c:ext>
            </c:extLst>
          </c:dPt>
          <c:dPt>
            <c:idx val="3"/>
            <c:bubble3D val="0"/>
            <c:spPr>
              <a:solidFill>
                <a:srgbClr val="78BE20"/>
              </a:solidFill>
              <a:ln w="19050">
                <a:solidFill>
                  <a:schemeClr val="lt1"/>
                </a:solidFill>
              </a:ln>
              <a:effectLst/>
            </c:spPr>
            <c:extLst>
              <c:ext xmlns:c16="http://schemas.microsoft.com/office/drawing/2014/chart" uri="{C3380CC4-5D6E-409C-BE32-E72D297353CC}">
                <c16:uniqueId val="{00000007-827C-4560-B5CA-78CF585AC853}"/>
              </c:ext>
            </c:extLst>
          </c:dPt>
          <c:dPt>
            <c:idx val="4"/>
            <c:bubble3D val="0"/>
            <c:spPr>
              <a:solidFill>
                <a:srgbClr val="7030A0"/>
              </a:solidFill>
              <a:ln w="19050">
                <a:solidFill>
                  <a:schemeClr val="lt1"/>
                </a:solidFill>
              </a:ln>
              <a:effectLst/>
            </c:spPr>
            <c:extLst>
              <c:ext xmlns:c16="http://schemas.microsoft.com/office/drawing/2014/chart" uri="{C3380CC4-5D6E-409C-BE32-E72D297353CC}">
                <c16:uniqueId val="{00000009-827C-4560-B5CA-78CF585AC853}"/>
              </c:ext>
            </c:extLst>
          </c:dPt>
          <c:dPt>
            <c:idx val="5"/>
            <c:bubble3D val="0"/>
            <c:spPr>
              <a:solidFill>
                <a:srgbClr val="C00000"/>
              </a:solidFill>
              <a:ln w="19050">
                <a:solidFill>
                  <a:schemeClr val="lt1"/>
                </a:solidFill>
              </a:ln>
              <a:effectLst/>
            </c:spPr>
            <c:extLst>
              <c:ext xmlns:c16="http://schemas.microsoft.com/office/drawing/2014/chart" uri="{C3380CC4-5D6E-409C-BE32-E72D297353CC}">
                <c16:uniqueId val="{0000000B-827C-4560-B5CA-78CF585AC853}"/>
              </c:ext>
            </c:extLst>
          </c:dPt>
          <c:dLbls>
            <c:dLbl>
              <c:idx val="2"/>
              <c:layout>
                <c:manualLayout>
                  <c:x val="-1.3046551759985029E-3"/>
                  <c:y val="1.8676630897095797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27C-4560-B5CA-78CF585AC853}"/>
                </c:ext>
              </c:extLst>
            </c:dLbl>
            <c:dLbl>
              <c:idx val="4"/>
              <c:layout>
                <c:manualLayout>
                  <c:x val="1.8276002712174389E-3"/>
                  <c:y val="-2.3675801578657767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827C-4560-B5CA-78CF585AC853}"/>
                </c:ext>
              </c:extLst>
            </c:dLbl>
            <c:dLbl>
              <c:idx val="5"/>
              <c:layout>
                <c:manualLayout>
                  <c:x val="-1.5974265081608721E-2"/>
                  <c:y val="-0.11113309573732141"/>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827C-4560-B5CA-78CF585AC853}"/>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bg1"/>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工作表1!$A$2:$A$6</c:f>
              <c:strCache>
                <c:ptCount val="5"/>
                <c:pt idx="0">
                  <c:v>iPhone</c:v>
                </c:pt>
                <c:pt idx="1">
                  <c:v>WH&amp;A *</c:v>
                </c:pt>
                <c:pt idx="2">
                  <c:v>Mac</c:v>
                </c:pt>
                <c:pt idx="3">
                  <c:v>iPad</c:v>
                </c:pt>
                <c:pt idx="4">
                  <c:v>服務</c:v>
                </c:pt>
              </c:strCache>
            </c:strRef>
          </c:cat>
          <c:val>
            <c:numRef>
              <c:f>工作表1!$B$2:$B$6</c:f>
              <c:numCache>
                <c:formatCode>#,##0</c:formatCode>
                <c:ptCount val="5"/>
                <c:pt idx="0">
                  <c:v>209586</c:v>
                </c:pt>
                <c:pt idx="1">
                  <c:v>35686</c:v>
                </c:pt>
                <c:pt idx="2">
                  <c:v>33708</c:v>
                </c:pt>
                <c:pt idx="3">
                  <c:v>28023</c:v>
                </c:pt>
                <c:pt idx="4">
                  <c:v>109158</c:v>
                </c:pt>
              </c:numCache>
            </c:numRef>
          </c:val>
          <c:extLst>
            <c:ext xmlns:c16="http://schemas.microsoft.com/office/drawing/2014/chart" uri="{C3380CC4-5D6E-409C-BE32-E72D297353CC}">
              <c16:uniqueId val="{0000000C-827C-4560-B5CA-78CF585AC853}"/>
            </c:ext>
          </c:extLst>
        </c:ser>
        <c:dLbls>
          <c:showLegendKey val="0"/>
          <c:showVal val="0"/>
          <c:showCatName val="0"/>
          <c:showSerName val="0"/>
          <c:showPercent val="0"/>
          <c:showBubbleSize val="0"/>
          <c:showLeaderLines val="1"/>
        </c:dLbls>
        <c:firstSliceAng val="321"/>
        <c:holeSize val="60"/>
      </c:doughnutChart>
      <c:spPr>
        <a:noFill/>
        <a:ln>
          <a:noFill/>
        </a:ln>
        <a:effectLst/>
      </c:spPr>
    </c:plotArea>
    <c:legend>
      <c:legendPos val="t"/>
      <c:layout>
        <c:manualLayout>
          <c:xMode val="edge"/>
          <c:yMode val="edge"/>
          <c:x val="0.55817925810080249"/>
          <c:y val="0.25805874798836093"/>
          <c:w val="0.30308386438088902"/>
          <c:h val="0.69922019232778865"/>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16784253211631"/>
          <c:y val="0.21916820312553151"/>
          <c:w val="0.47918267422384109"/>
          <c:h val="0.66825075008674462"/>
        </c:manualLayout>
      </c:layout>
      <c:barChart>
        <c:barDir val="bar"/>
        <c:grouping val="clustered"/>
        <c:varyColors val="0"/>
        <c:ser>
          <c:idx val="0"/>
          <c:order val="0"/>
          <c:tx>
            <c:strRef>
              <c:f>工作表1!$B$1</c:f>
              <c:strCache>
                <c:ptCount val="1"/>
                <c:pt idx="0">
                  <c:v>欄3</c:v>
                </c:pt>
              </c:strCache>
            </c:strRef>
          </c:tx>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D7A4-437F-9656-94F1DABCDB9A}"/>
              </c:ext>
            </c:extLst>
          </c:dPt>
          <c:dPt>
            <c:idx val="1"/>
            <c:invertIfNegative val="0"/>
            <c:bubble3D val="0"/>
            <c:spPr>
              <a:solidFill>
                <a:schemeClr val="bg1">
                  <a:lumMod val="65000"/>
                </a:schemeClr>
              </a:solidFill>
              <a:ln>
                <a:noFill/>
              </a:ln>
              <a:effectLst/>
            </c:spPr>
            <c:extLst>
              <c:ext xmlns:c16="http://schemas.microsoft.com/office/drawing/2014/chart" uri="{C3380CC4-5D6E-409C-BE32-E72D297353CC}">
                <c16:uniqueId val="{00000003-D7A4-437F-9656-94F1DABCDB9A}"/>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D7A4-437F-9656-94F1DABCDB9A}"/>
              </c:ext>
            </c:extLst>
          </c:dPt>
          <c:dPt>
            <c:idx val="3"/>
            <c:invertIfNegative val="0"/>
            <c:bubble3D val="0"/>
            <c:spPr>
              <a:solidFill>
                <a:srgbClr val="A6A6A6"/>
              </a:solidFill>
              <a:ln>
                <a:noFill/>
              </a:ln>
              <a:effectLst/>
            </c:spPr>
            <c:extLst>
              <c:ext xmlns:c16="http://schemas.microsoft.com/office/drawing/2014/chart" uri="{C3380CC4-5D6E-409C-BE32-E72D297353CC}">
                <c16:uniqueId val="{00000007-D7A4-437F-9656-94F1DABCDB9A}"/>
              </c:ext>
            </c:extLst>
          </c:dPt>
          <c:dLbls>
            <c:numFmt formatCode="#,##0.0_ "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工作表1!$A$2:$A$5</c:f>
              <c:strCache>
                <c:ptCount val="4"/>
                <c:pt idx="0">
                  <c:v>蘋果</c:v>
                </c:pt>
                <c:pt idx="1">
                  <c:v>華為</c:v>
                </c:pt>
                <c:pt idx="2">
                  <c:v>三星電子</c:v>
                </c:pt>
                <c:pt idx="3">
                  <c:v>小米集團</c:v>
                </c:pt>
              </c:strCache>
            </c:strRef>
          </c:cat>
          <c:val>
            <c:numRef>
              <c:f>工作表1!$B$2:$B$5</c:f>
              <c:numCache>
                <c:formatCode>#,##0</c:formatCode>
                <c:ptCount val="4"/>
                <c:pt idx="0">
                  <c:v>209.6</c:v>
                </c:pt>
                <c:pt idx="1">
                  <c:v>118</c:v>
                </c:pt>
                <c:pt idx="2">
                  <c:v>110.7</c:v>
                </c:pt>
                <c:pt idx="3">
                  <c:v>26.6</c:v>
                </c:pt>
              </c:numCache>
            </c:numRef>
          </c:val>
          <c:extLst>
            <c:ext xmlns:c16="http://schemas.microsoft.com/office/drawing/2014/chart" uri="{C3380CC4-5D6E-409C-BE32-E72D297353CC}">
              <c16:uniqueId val="{00000008-D7A4-437F-9656-94F1DABCDB9A}"/>
            </c:ext>
          </c:extLst>
        </c:ser>
        <c:dLbls>
          <c:showLegendKey val="0"/>
          <c:showVal val="0"/>
          <c:showCatName val="0"/>
          <c:showSerName val="0"/>
          <c:showPercent val="0"/>
          <c:showBubbleSize val="0"/>
        </c:dLbls>
        <c:gapWidth val="20"/>
        <c:axId val="137528064"/>
        <c:axId val="137529600"/>
      </c:barChart>
      <c:catAx>
        <c:axId val="13752806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crossAx val="137529600"/>
        <c:crosses val="autoZero"/>
        <c:auto val="1"/>
        <c:lblAlgn val="ctr"/>
        <c:lblOffset val="100"/>
        <c:noMultiLvlLbl val="0"/>
      </c:catAx>
      <c:valAx>
        <c:axId val="137529600"/>
        <c:scaling>
          <c:orientation val="minMax"/>
        </c:scaling>
        <c:delete val="1"/>
        <c:axPos val="t"/>
        <c:numFmt formatCode="#,##0" sourceLinked="1"/>
        <c:majorTickMark val="none"/>
        <c:minorTickMark val="none"/>
        <c:tickLblPos val="nextTo"/>
        <c:crossAx val="137528064"/>
        <c:crosses val="autoZero"/>
        <c:crossBetween val="between"/>
      </c:valAx>
      <c:spPr>
        <a:noFill/>
        <a:ln>
          <a:noFill/>
        </a:ln>
        <a:effectLst/>
      </c:spPr>
    </c:plotArea>
    <c:plotVisOnly val="1"/>
    <c:dispBlanksAs val="gap"/>
    <c:showDLblsOverMax val="0"/>
  </c:chart>
  <c:spPr>
    <a:noFill/>
    <a:ln>
      <a:noFill/>
    </a:ln>
    <a:effectLst/>
  </c:spPr>
  <c:txPr>
    <a:bodyPr/>
    <a:lstStyle/>
    <a:p>
      <a:pPr>
        <a:defRPr sz="1400"/>
      </a:pPr>
      <a:endParaRPr lang="zh-TW"/>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16784253211631"/>
          <c:y val="0.21916820312553151"/>
          <c:w val="0.44345702151737176"/>
          <c:h val="0.66825075008674462"/>
        </c:manualLayout>
      </c:layout>
      <c:barChart>
        <c:barDir val="bar"/>
        <c:grouping val="clustered"/>
        <c:varyColors val="0"/>
        <c:ser>
          <c:idx val="0"/>
          <c:order val="0"/>
          <c:tx>
            <c:strRef>
              <c:f>工作表1!$B$1</c:f>
              <c:strCache>
                <c:ptCount val="1"/>
                <c:pt idx="0">
                  <c:v>欄3</c:v>
                </c:pt>
              </c:strCache>
            </c:strRef>
          </c:tx>
          <c:spPr>
            <a:solidFill>
              <a:schemeClr val="bg1">
                <a:lumMod val="65000"/>
              </a:schemeClr>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2112-4E4F-A306-6039190B2835}"/>
              </c:ext>
            </c:extLst>
          </c:dPt>
          <c:dPt>
            <c:idx val="1"/>
            <c:invertIfNegative val="0"/>
            <c:bubble3D val="0"/>
            <c:spPr>
              <a:solidFill>
                <a:srgbClr val="A6A6A6"/>
              </a:solidFill>
              <a:ln>
                <a:noFill/>
              </a:ln>
              <a:effectLst/>
            </c:spPr>
            <c:extLst>
              <c:ext xmlns:c16="http://schemas.microsoft.com/office/drawing/2014/chart" uri="{C3380CC4-5D6E-409C-BE32-E72D297353CC}">
                <c16:uniqueId val="{00000003-2112-4E4F-A306-6039190B2835}"/>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2112-4E4F-A306-6039190B2835}"/>
              </c:ext>
            </c:extLst>
          </c:dPt>
          <c:dPt>
            <c:idx val="3"/>
            <c:invertIfNegative val="0"/>
            <c:bubble3D val="0"/>
            <c:spPr>
              <a:solidFill>
                <a:schemeClr val="bg1">
                  <a:lumMod val="65000"/>
                </a:schemeClr>
              </a:solidFill>
              <a:ln>
                <a:noFill/>
              </a:ln>
              <a:effectLst/>
            </c:spPr>
            <c:extLst>
              <c:ext xmlns:c16="http://schemas.microsoft.com/office/drawing/2014/chart" uri="{C3380CC4-5D6E-409C-BE32-E72D297353CC}">
                <c16:uniqueId val="{00000007-2112-4E4F-A306-6039190B2835}"/>
              </c:ext>
            </c:extLst>
          </c:dPt>
          <c:dLbls>
            <c:numFmt formatCode="#,##0.0_ " sourceLinked="0"/>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微軟正黑體" panose="020B0604030504040204" pitchFamily="34" charset="-120"/>
                    <a:ea typeface="微軟正黑體" panose="020B0604030504040204" pitchFamily="34" charset="-120"/>
                    <a:cs typeface="+mn-cs"/>
                  </a:defRPr>
                </a:pPr>
                <a:endParaRPr lang="zh-TW"/>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工作表1!$A$2:$A$5</c:f>
              <c:strCache>
                <c:ptCount val="4"/>
                <c:pt idx="0">
                  <c:v>蘋果</c:v>
                </c:pt>
                <c:pt idx="1">
                  <c:v>戴爾</c:v>
                </c:pt>
                <c:pt idx="2">
                  <c:v>聯想</c:v>
                </c:pt>
                <c:pt idx="3">
                  <c:v>惠普</c:v>
                </c:pt>
              </c:strCache>
            </c:strRef>
          </c:cat>
          <c:val>
            <c:numRef>
              <c:f>工作表1!$B$2:$B$5</c:f>
              <c:numCache>
                <c:formatCode>0.00_);[Red]\(0.00\)</c:formatCode>
                <c:ptCount val="4"/>
                <c:pt idx="0">
                  <c:v>61.7</c:v>
                </c:pt>
                <c:pt idx="1">
                  <c:v>51</c:v>
                </c:pt>
                <c:pt idx="2">
                  <c:v>50.5</c:v>
                </c:pt>
                <c:pt idx="3">
                  <c:v>38.5</c:v>
                </c:pt>
              </c:numCache>
            </c:numRef>
          </c:val>
          <c:extLst>
            <c:ext xmlns:c16="http://schemas.microsoft.com/office/drawing/2014/chart" uri="{C3380CC4-5D6E-409C-BE32-E72D297353CC}">
              <c16:uniqueId val="{00000008-2112-4E4F-A306-6039190B2835}"/>
            </c:ext>
          </c:extLst>
        </c:ser>
        <c:dLbls>
          <c:showLegendKey val="0"/>
          <c:showVal val="0"/>
          <c:showCatName val="0"/>
          <c:showSerName val="0"/>
          <c:showPercent val="0"/>
          <c:showBubbleSize val="0"/>
        </c:dLbls>
        <c:gapWidth val="20"/>
        <c:axId val="183612928"/>
        <c:axId val="183614464"/>
      </c:barChart>
      <c:catAx>
        <c:axId val="183612928"/>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crossAx val="183614464"/>
        <c:crosses val="autoZero"/>
        <c:auto val="1"/>
        <c:lblAlgn val="ctr"/>
        <c:lblOffset val="100"/>
        <c:noMultiLvlLbl val="0"/>
      </c:catAx>
      <c:valAx>
        <c:axId val="183614464"/>
        <c:scaling>
          <c:orientation val="minMax"/>
        </c:scaling>
        <c:delete val="1"/>
        <c:axPos val="t"/>
        <c:numFmt formatCode="0.00_);[Red]\(0.00\)" sourceLinked="1"/>
        <c:majorTickMark val="none"/>
        <c:minorTickMark val="none"/>
        <c:tickLblPos val="nextTo"/>
        <c:crossAx val="183612928"/>
        <c:crosses val="autoZero"/>
        <c:crossBetween val="between"/>
      </c:valAx>
      <c:spPr>
        <a:noFill/>
        <a:ln>
          <a:noFill/>
        </a:ln>
        <a:effectLst/>
      </c:spPr>
    </c:plotArea>
    <c:plotVisOnly val="1"/>
    <c:dispBlanksAs val="gap"/>
    <c:showDLblsOverMax val="0"/>
  </c:chart>
  <c:spPr>
    <a:noFill/>
    <a:ln>
      <a:noFill/>
    </a:ln>
    <a:effectLst/>
  </c:spPr>
  <c:txPr>
    <a:bodyPr/>
    <a:lstStyle/>
    <a:p>
      <a:pPr>
        <a:defRPr sz="1400"/>
      </a:pPr>
      <a:endParaRPr lang="zh-TW"/>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230029802186781"/>
          <c:y val="0.21916820312553151"/>
          <c:w val="0.30565807536384715"/>
          <c:h val="0.66825075008674462"/>
        </c:manualLayout>
      </c:layout>
      <c:barChart>
        <c:barDir val="bar"/>
        <c:grouping val="clustered"/>
        <c:varyColors val="0"/>
        <c:ser>
          <c:idx val="0"/>
          <c:order val="0"/>
          <c:tx>
            <c:strRef>
              <c:f>工作表1!$B$1</c:f>
              <c:strCache>
                <c:ptCount val="1"/>
                <c:pt idx="0">
                  <c:v>欄3</c:v>
                </c:pt>
              </c:strCache>
            </c:strRef>
          </c:tx>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1A63-413C-81BF-A8D582BBEF13}"/>
              </c:ext>
            </c:extLst>
          </c:dPt>
          <c:dPt>
            <c:idx val="1"/>
            <c:invertIfNegative val="0"/>
            <c:bubble3D val="0"/>
            <c:spPr>
              <a:solidFill>
                <a:schemeClr val="bg1">
                  <a:lumMod val="65000"/>
                </a:schemeClr>
              </a:solidFill>
              <a:ln>
                <a:noFill/>
              </a:ln>
              <a:effectLst/>
            </c:spPr>
            <c:extLst>
              <c:ext xmlns:c16="http://schemas.microsoft.com/office/drawing/2014/chart" uri="{C3380CC4-5D6E-409C-BE32-E72D297353CC}">
                <c16:uniqueId val="{00000003-1A63-413C-81BF-A8D582BBEF13}"/>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1A63-413C-81BF-A8D582BBEF13}"/>
              </c:ext>
            </c:extLst>
          </c:dPt>
          <c:dPt>
            <c:idx val="3"/>
            <c:invertIfNegative val="0"/>
            <c:bubble3D val="0"/>
            <c:spPr>
              <a:solidFill>
                <a:srgbClr val="A6A6A6"/>
              </a:solidFill>
              <a:ln>
                <a:noFill/>
              </a:ln>
              <a:effectLst/>
            </c:spPr>
            <c:extLst>
              <c:ext xmlns:c16="http://schemas.microsoft.com/office/drawing/2014/chart" uri="{C3380CC4-5D6E-409C-BE32-E72D297353CC}">
                <c16:uniqueId val="{00000007-1A63-413C-81BF-A8D582BBEF13}"/>
              </c:ext>
            </c:extLst>
          </c:dPt>
          <c:dLbls>
            <c:dLbl>
              <c:idx val="0"/>
              <c:numFmt formatCode="#,##0.00_ " sourceLinked="0"/>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微軟正黑體" panose="020B0604030504040204" pitchFamily="34" charset="-120"/>
                      <a:ea typeface="微軟正黑體" panose="020B0604030504040204" pitchFamily="34" charset="-120"/>
                      <a:cs typeface="+mn-cs"/>
                    </a:defRPr>
                  </a:pPr>
                  <a:endParaRPr lang="zh-TW"/>
                </a:p>
              </c:txPr>
              <c:dLblPos val="inEnd"/>
              <c:showLegendKey val="0"/>
              <c:showVal val="1"/>
              <c:showCatName val="0"/>
              <c:showSerName val="0"/>
              <c:showPercent val="0"/>
              <c:showBubbleSize val="0"/>
              <c:extLst>
                <c:ext xmlns:c16="http://schemas.microsoft.com/office/drawing/2014/chart" uri="{C3380CC4-5D6E-409C-BE32-E72D297353CC}">
                  <c16:uniqueId val="{00000001-1A63-413C-81BF-A8D582BBEF13}"/>
                </c:ext>
              </c:extLst>
            </c:dLbl>
            <c:dLbl>
              <c:idx val="1"/>
              <c:layout>
                <c:manualLayout>
                  <c:x val="-2.4148773030789165E-2"/>
                  <c:y val="6.6486444078916752E-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A63-413C-81BF-A8D582BBEF13}"/>
                </c:ext>
              </c:extLst>
            </c:dLbl>
            <c:dLbl>
              <c:idx val="2"/>
              <c:layout>
                <c:manualLayout>
                  <c:x val="-2.258914133052136E-2"/>
                  <c:y val="7.7400407845755983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A63-413C-81BF-A8D582BBEF13}"/>
                </c:ext>
              </c:extLst>
            </c:dLbl>
            <c:numFmt formatCode="#,##0.00_ "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工作表1!$A$2:$A$5</c:f>
              <c:strCache>
                <c:ptCount val="4"/>
                <c:pt idx="0">
                  <c:v>蘋果</c:v>
                </c:pt>
                <c:pt idx="1">
                  <c:v>鴻海精密</c:v>
                </c:pt>
                <c:pt idx="2">
                  <c:v>奇鋐科技</c:v>
                </c:pt>
                <c:pt idx="3">
                  <c:v>羅技國際</c:v>
                </c:pt>
              </c:strCache>
            </c:strRef>
          </c:cat>
          <c:val>
            <c:numRef>
              <c:f>工作表1!$B$2:$B$5</c:f>
              <c:numCache>
                <c:formatCode>#,##0.00_);[Red]\(#,##0.00\)</c:formatCode>
                <c:ptCount val="4"/>
                <c:pt idx="0">
                  <c:v>35.700000000000003</c:v>
                </c:pt>
                <c:pt idx="1">
                  <c:v>5.6</c:v>
                </c:pt>
                <c:pt idx="2">
                  <c:v>4.5</c:v>
                </c:pt>
                <c:pt idx="3">
                  <c:v>4.4000000000000004</c:v>
                </c:pt>
              </c:numCache>
            </c:numRef>
          </c:val>
          <c:extLst>
            <c:ext xmlns:c16="http://schemas.microsoft.com/office/drawing/2014/chart" uri="{C3380CC4-5D6E-409C-BE32-E72D297353CC}">
              <c16:uniqueId val="{00000008-1A63-413C-81BF-A8D582BBEF13}"/>
            </c:ext>
          </c:extLst>
        </c:ser>
        <c:dLbls>
          <c:showLegendKey val="0"/>
          <c:showVal val="0"/>
          <c:showCatName val="0"/>
          <c:showSerName val="0"/>
          <c:showPercent val="0"/>
          <c:showBubbleSize val="0"/>
        </c:dLbls>
        <c:gapWidth val="20"/>
        <c:axId val="137599616"/>
        <c:axId val="137613696"/>
      </c:barChart>
      <c:catAx>
        <c:axId val="13759961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crossAx val="137613696"/>
        <c:crosses val="autoZero"/>
        <c:auto val="1"/>
        <c:lblAlgn val="ctr"/>
        <c:lblOffset val="100"/>
        <c:noMultiLvlLbl val="0"/>
      </c:catAx>
      <c:valAx>
        <c:axId val="137613696"/>
        <c:scaling>
          <c:orientation val="minMax"/>
        </c:scaling>
        <c:delete val="1"/>
        <c:axPos val="t"/>
        <c:numFmt formatCode="#,##0.00_);[Red]\(#,##0.00\)" sourceLinked="1"/>
        <c:majorTickMark val="none"/>
        <c:minorTickMark val="none"/>
        <c:tickLblPos val="nextTo"/>
        <c:crossAx val="137599616"/>
        <c:crosses val="autoZero"/>
        <c:crossBetween val="between"/>
      </c:valAx>
      <c:spPr>
        <a:noFill/>
        <a:ln>
          <a:noFill/>
        </a:ln>
        <a:effectLst/>
      </c:spPr>
    </c:plotArea>
    <c:plotVisOnly val="1"/>
    <c:dispBlanksAs val="gap"/>
    <c:showDLblsOverMax val="0"/>
  </c:chart>
  <c:spPr>
    <a:noFill/>
    <a:ln>
      <a:noFill/>
    </a:ln>
    <a:effectLst/>
  </c:spPr>
  <c:txPr>
    <a:bodyPr/>
    <a:lstStyle/>
    <a:p>
      <a:pPr>
        <a:defRPr sz="1400"/>
      </a:pPr>
      <a:endParaRPr lang="zh-TW"/>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TW"/>
              <a:t>按淨利排名</a:t>
            </a:r>
          </a:p>
        </c:rich>
      </c:tx>
      <c:layout>
        <c:manualLayout>
          <c:xMode val="edge"/>
          <c:yMode val="edge"/>
          <c:x val="0.74637102176851577"/>
          <c:y val="1.0742973925871788E-2"/>
        </c:manualLayout>
      </c:layout>
      <c:overlay val="0"/>
    </c:title>
    <c:autoTitleDeleted val="0"/>
    <c:plotArea>
      <c:layout>
        <c:manualLayout>
          <c:layoutTarget val="inner"/>
          <c:xMode val="edge"/>
          <c:yMode val="edge"/>
          <c:x val="4.5175283008434555E-2"/>
          <c:y val="0"/>
          <c:w val="0.90964943398313092"/>
          <c:h val="0.37424697570860777"/>
        </c:manualLayout>
      </c:layout>
      <c:barChart>
        <c:barDir val="col"/>
        <c:grouping val="clustered"/>
        <c:varyColors val="0"/>
        <c:ser>
          <c:idx val="1"/>
          <c:order val="0"/>
          <c:tx>
            <c:strRef>
              <c:f>工作表1!$C$1</c:f>
              <c:strCache>
                <c:ptCount val="1"/>
                <c:pt idx="0">
                  <c:v>按淨利排名</c:v>
                </c:pt>
              </c:strCache>
            </c:strRef>
          </c:tx>
          <c:spPr>
            <a:solidFill>
              <a:schemeClr val="bg1">
                <a:lumMod val="75000"/>
              </a:schemeClr>
            </a:solidFill>
          </c:spPr>
          <c:invertIfNegative val="0"/>
          <c:dPt>
            <c:idx val="1"/>
            <c:invertIfNegative val="0"/>
            <c:bubble3D val="0"/>
            <c:spPr>
              <a:solidFill>
                <a:srgbClr val="FF0000"/>
              </a:solidFill>
            </c:spPr>
            <c:extLst>
              <c:ext xmlns:c16="http://schemas.microsoft.com/office/drawing/2014/chart" uri="{C3380CC4-5D6E-409C-BE32-E72D297353CC}">
                <c16:uniqueId val="{00000001-095E-4930-B0D2-EDA6190FD8F7}"/>
              </c:ext>
            </c:extLst>
          </c:dPt>
          <c:dPt>
            <c:idx val="7"/>
            <c:invertIfNegative val="0"/>
            <c:bubble3D val="0"/>
            <c:extLst>
              <c:ext xmlns:c16="http://schemas.microsoft.com/office/drawing/2014/chart" uri="{C3380CC4-5D6E-409C-BE32-E72D297353CC}">
                <c16:uniqueId val="{00000002-095E-4930-B0D2-EDA6190FD8F7}"/>
              </c:ext>
            </c:extLst>
          </c:dPt>
          <c:dLbls>
            <c:dLbl>
              <c:idx val="0"/>
              <c:delete val="1"/>
              <c:extLst>
                <c:ext xmlns:c15="http://schemas.microsoft.com/office/drawing/2012/chart" uri="{CE6537A1-D6FC-4f65-9D91-7224C49458BB}"/>
                <c:ext xmlns:c16="http://schemas.microsoft.com/office/drawing/2014/chart" uri="{C3380CC4-5D6E-409C-BE32-E72D297353CC}">
                  <c16:uniqueId val="{00000004-78C5-4EA1-B040-37432B9E7C88}"/>
                </c:ext>
              </c:extLst>
            </c:dLbl>
            <c:dLbl>
              <c:idx val="2"/>
              <c:delete val="1"/>
              <c:extLst>
                <c:ext xmlns:c15="http://schemas.microsoft.com/office/drawing/2012/chart" uri="{CE6537A1-D6FC-4f65-9D91-7224C49458BB}"/>
                <c:ext xmlns:c16="http://schemas.microsoft.com/office/drawing/2014/chart" uri="{C3380CC4-5D6E-409C-BE32-E72D297353CC}">
                  <c16:uniqueId val="{00000005-78C5-4EA1-B040-37432B9E7C88}"/>
                </c:ext>
              </c:extLst>
            </c:dLbl>
            <c:dLbl>
              <c:idx val="3"/>
              <c:delete val="1"/>
              <c:extLst>
                <c:ext xmlns:c15="http://schemas.microsoft.com/office/drawing/2012/chart" uri="{CE6537A1-D6FC-4f65-9D91-7224C49458BB}"/>
                <c:ext xmlns:c16="http://schemas.microsoft.com/office/drawing/2014/chart" uri="{C3380CC4-5D6E-409C-BE32-E72D297353CC}">
                  <c16:uniqueId val="{00000006-78C5-4EA1-B040-37432B9E7C88}"/>
                </c:ext>
              </c:extLst>
            </c:dLbl>
            <c:dLbl>
              <c:idx val="4"/>
              <c:delete val="1"/>
              <c:extLst>
                <c:ext xmlns:c15="http://schemas.microsoft.com/office/drawing/2012/chart" uri="{CE6537A1-D6FC-4f65-9D91-7224C49458BB}"/>
                <c:ext xmlns:c16="http://schemas.microsoft.com/office/drawing/2014/chart" uri="{C3380CC4-5D6E-409C-BE32-E72D297353CC}">
                  <c16:uniqueId val="{00000007-78C5-4EA1-B040-37432B9E7C88}"/>
                </c:ext>
              </c:extLst>
            </c:dLbl>
            <c:dLbl>
              <c:idx val="5"/>
              <c:delete val="1"/>
              <c:extLst>
                <c:ext xmlns:c15="http://schemas.microsoft.com/office/drawing/2012/chart" uri="{CE6537A1-D6FC-4f65-9D91-7224C49458BB}"/>
                <c:ext xmlns:c16="http://schemas.microsoft.com/office/drawing/2014/chart" uri="{C3380CC4-5D6E-409C-BE32-E72D297353CC}">
                  <c16:uniqueId val="{00000008-78C5-4EA1-B040-37432B9E7C88}"/>
                </c:ext>
              </c:extLst>
            </c:dLbl>
            <c:dLbl>
              <c:idx val="6"/>
              <c:delete val="1"/>
              <c:extLst>
                <c:ext xmlns:c15="http://schemas.microsoft.com/office/drawing/2012/chart" uri="{CE6537A1-D6FC-4f65-9D91-7224C49458BB}"/>
                <c:ext xmlns:c16="http://schemas.microsoft.com/office/drawing/2014/chart" uri="{C3380CC4-5D6E-409C-BE32-E72D297353CC}">
                  <c16:uniqueId val="{00000009-78C5-4EA1-B040-37432B9E7C88}"/>
                </c:ext>
              </c:extLst>
            </c:dLbl>
            <c:dLbl>
              <c:idx val="7"/>
              <c:delete val="1"/>
              <c:extLst>
                <c:ext xmlns:c15="http://schemas.microsoft.com/office/drawing/2012/chart" uri="{CE6537A1-D6FC-4f65-9D91-7224C49458BB}"/>
                <c:ext xmlns:c16="http://schemas.microsoft.com/office/drawing/2014/chart" uri="{C3380CC4-5D6E-409C-BE32-E72D297353CC}">
                  <c16:uniqueId val="{00000002-095E-4930-B0D2-EDA6190FD8F7}"/>
                </c:ext>
              </c:extLst>
            </c:dLbl>
            <c:dLbl>
              <c:idx val="8"/>
              <c:delete val="1"/>
              <c:extLst>
                <c:ext xmlns:c15="http://schemas.microsoft.com/office/drawing/2012/chart" uri="{CE6537A1-D6FC-4f65-9D91-7224C49458BB}"/>
                <c:ext xmlns:c16="http://schemas.microsoft.com/office/drawing/2014/chart" uri="{C3380CC4-5D6E-409C-BE32-E72D297353CC}">
                  <c16:uniqueId val="{0000000A-78C5-4EA1-B040-37432B9E7C88}"/>
                </c:ext>
              </c:extLst>
            </c:dLbl>
            <c:dLbl>
              <c:idx val="9"/>
              <c:delete val="1"/>
              <c:extLst>
                <c:ext xmlns:c15="http://schemas.microsoft.com/office/drawing/2012/chart" uri="{CE6537A1-D6FC-4f65-9D91-7224C49458BB}"/>
                <c:ext xmlns:c16="http://schemas.microsoft.com/office/drawing/2014/chart" uri="{C3380CC4-5D6E-409C-BE32-E72D297353CC}">
                  <c16:uniqueId val="{0000000B-78C5-4EA1-B040-37432B9E7C88}"/>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multiLvlStrRef>
              <c:f>工作表1!$A$2:$B$11</c:f>
              <c:multiLvlStrCache>
                <c:ptCount val="10"/>
                <c:lvl>
                  <c:pt idx="0">
                    <c:v>Alphabet</c:v>
                  </c:pt>
                  <c:pt idx="1">
                    <c:v>蘋果</c:v>
                  </c:pt>
                  <c:pt idx="2">
                    <c:v>波克夏</c:v>
                  </c:pt>
                  <c:pt idx="3">
                    <c:v>微軟</c:v>
                  </c:pt>
                  <c:pt idx="4">
                    <c:v>輝達</c:v>
                  </c:pt>
                  <c:pt idx="5">
                    <c:v>Meta</c:v>
                  </c:pt>
                  <c:pt idx="6">
                    <c:v>Amazon</c:v>
                  </c:pt>
                  <c:pt idx="7">
                    <c:v>摩根大通</c:v>
                  </c:pt>
                  <c:pt idx="8">
                    <c:v>埃克森美孚</c:v>
                  </c:pt>
                  <c:pt idx="9">
                    <c:v>美國銀行</c:v>
                  </c:pt>
                </c:lvl>
                <c:lvl>
                  <c:pt idx="0">
                    <c:v>#1</c:v>
                  </c:pt>
                  <c:pt idx="1">
                    <c:v>#2</c:v>
                  </c:pt>
                  <c:pt idx="2">
                    <c:v>#3</c:v>
                  </c:pt>
                  <c:pt idx="3">
                    <c:v>#4</c:v>
                  </c:pt>
                  <c:pt idx="4">
                    <c:v>#5</c:v>
                  </c:pt>
                  <c:pt idx="5">
                    <c:v>#6</c:v>
                  </c:pt>
                  <c:pt idx="6">
                    <c:v>#7</c:v>
                  </c:pt>
                  <c:pt idx="7">
                    <c:v>#8</c:v>
                  </c:pt>
                  <c:pt idx="8">
                    <c:v>#9</c:v>
                  </c:pt>
                  <c:pt idx="9">
                    <c:v>#10</c:v>
                  </c:pt>
                </c:lvl>
              </c:multiLvlStrCache>
            </c:multiLvlStrRef>
          </c:cat>
          <c:val>
            <c:numRef>
              <c:f>工作表1!$C$2:$C$11</c:f>
              <c:numCache>
                <c:formatCode>"$"#,##0_);[Red]\("$"#,##0\)</c:formatCode>
                <c:ptCount val="10"/>
                <c:pt idx="0">
                  <c:v>100118</c:v>
                </c:pt>
                <c:pt idx="1">
                  <c:v>93736</c:v>
                </c:pt>
                <c:pt idx="2">
                  <c:v>88995</c:v>
                </c:pt>
                <c:pt idx="3">
                  <c:v>88136</c:v>
                </c:pt>
                <c:pt idx="4">
                  <c:v>72880</c:v>
                </c:pt>
                <c:pt idx="5">
                  <c:v>62360</c:v>
                </c:pt>
                <c:pt idx="6">
                  <c:v>59248</c:v>
                </c:pt>
                <c:pt idx="7">
                  <c:v>58471</c:v>
                </c:pt>
                <c:pt idx="8">
                  <c:v>33680</c:v>
                </c:pt>
                <c:pt idx="9">
                  <c:v>27132</c:v>
                </c:pt>
              </c:numCache>
            </c:numRef>
          </c:val>
          <c:extLst>
            <c:ext xmlns:c16="http://schemas.microsoft.com/office/drawing/2014/chart" uri="{C3380CC4-5D6E-409C-BE32-E72D297353CC}">
              <c16:uniqueId val="{00000003-095E-4930-B0D2-EDA6190FD8F7}"/>
            </c:ext>
          </c:extLst>
        </c:ser>
        <c:dLbls>
          <c:dLblPos val="outEnd"/>
          <c:showLegendKey val="0"/>
          <c:showVal val="1"/>
          <c:showCatName val="0"/>
          <c:showSerName val="0"/>
          <c:showPercent val="0"/>
          <c:showBubbleSize val="0"/>
        </c:dLbls>
        <c:gapWidth val="150"/>
        <c:axId val="137324416"/>
        <c:axId val="137325952"/>
      </c:barChart>
      <c:catAx>
        <c:axId val="137324416"/>
        <c:scaling>
          <c:orientation val="minMax"/>
        </c:scaling>
        <c:delete val="0"/>
        <c:axPos val="b"/>
        <c:numFmt formatCode="General" sourceLinked="1"/>
        <c:majorTickMark val="out"/>
        <c:minorTickMark val="none"/>
        <c:tickLblPos val="nextTo"/>
        <c:crossAx val="137325952"/>
        <c:crosses val="autoZero"/>
        <c:auto val="1"/>
        <c:lblAlgn val="ctr"/>
        <c:lblOffset val="100"/>
        <c:noMultiLvlLbl val="0"/>
      </c:catAx>
      <c:valAx>
        <c:axId val="137325952"/>
        <c:scaling>
          <c:orientation val="minMax"/>
        </c:scaling>
        <c:delete val="1"/>
        <c:axPos val="l"/>
        <c:numFmt formatCode="&quot;$&quot;#,##0_);[Red]\(&quot;$&quot;#,##0\)" sourceLinked="1"/>
        <c:majorTickMark val="out"/>
        <c:minorTickMark val="none"/>
        <c:tickLblPos val="nextTo"/>
        <c:crossAx val="137324416"/>
        <c:crosses val="autoZero"/>
        <c:crossBetween val="between"/>
      </c:valAx>
    </c:plotArea>
    <c:plotVisOnly val="1"/>
    <c:dispBlanksAs val="gap"/>
    <c:showDLblsOverMax val="0"/>
  </c:chart>
  <c:txPr>
    <a:bodyPr/>
    <a:lstStyle/>
    <a:p>
      <a:pPr>
        <a:defRPr sz="600" baseline="0">
          <a:latin typeface="Arial" panose="020B0604020202020204" pitchFamily="34" charset="0"/>
          <a:ea typeface="微軟正黑體" panose="020B0604030504040204" pitchFamily="34" charset="-120"/>
        </a:defRPr>
      </a:pPr>
      <a:endParaRPr lang="zh-TW"/>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6.4390514424873715E-2"/>
          <c:y val="0.26861627982968528"/>
          <c:w val="0.91827629873224359"/>
          <c:h val="0.52206819702834417"/>
        </c:manualLayout>
      </c:layout>
      <c:barChart>
        <c:barDir val="col"/>
        <c:grouping val="clustered"/>
        <c:varyColors val="0"/>
        <c:ser>
          <c:idx val="0"/>
          <c:order val="0"/>
          <c:tx>
            <c:strRef>
              <c:f>工作表1!$D$3</c:f>
              <c:strCache>
                <c:ptCount val="1"/>
                <c:pt idx="0">
                  <c:v>FY18</c:v>
                </c:pt>
              </c:strCache>
            </c:strRef>
          </c:tx>
          <c:spPr>
            <a:solidFill>
              <a:schemeClr val="accent1">
                <a:tint val="46000"/>
              </a:schemeClr>
            </a:solidFill>
            <a:ln>
              <a:noFill/>
            </a:ln>
            <a:effectLst/>
          </c:spPr>
          <c:invertIfNegative val="0"/>
          <c:cat>
            <c:strRef>
              <c:f>工作表1!$C$4:$C$8</c:f>
              <c:strCache>
                <c:ptCount val="5"/>
                <c:pt idx="0">
                  <c:v>iPhone</c:v>
                </c:pt>
                <c:pt idx="1">
                  <c:v>iPad</c:v>
                </c:pt>
                <c:pt idx="2">
                  <c:v>Services</c:v>
                </c:pt>
                <c:pt idx="3">
                  <c:v>WH&amp;A</c:v>
                </c:pt>
                <c:pt idx="4">
                  <c:v>Mac</c:v>
                </c:pt>
              </c:strCache>
            </c:strRef>
          </c:cat>
          <c:val>
            <c:numRef>
              <c:f>工作表1!$D$4:$D$8</c:f>
              <c:numCache>
                <c:formatCode>General</c:formatCode>
                <c:ptCount val="5"/>
                <c:pt idx="0">
                  <c:v>18</c:v>
                </c:pt>
                <c:pt idx="1">
                  <c:v>-2</c:v>
                </c:pt>
                <c:pt idx="2">
                  <c:v>22</c:v>
                </c:pt>
                <c:pt idx="3">
                  <c:v>36</c:v>
                </c:pt>
                <c:pt idx="4">
                  <c:v>-1</c:v>
                </c:pt>
              </c:numCache>
            </c:numRef>
          </c:val>
          <c:extLst>
            <c:ext xmlns:c16="http://schemas.microsoft.com/office/drawing/2014/chart" uri="{C3380CC4-5D6E-409C-BE32-E72D297353CC}">
              <c16:uniqueId val="{00000000-ECB0-48FA-9947-E9ED06827706}"/>
            </c:ext>
          </c:extLst>
        </c:ser>
        <c:ser>
          <c:idx val="1"/>
          <c:order val="1"/>
          <c:tx>
            <c:strRef>
              <c:f>工作表1!$E$3</c:f>
              <c:strCache>
                <c:ptCount val="1"/>
                <c:pt idx="0">
                  <c:v>FY19</c:v>
                </c:pt>
              </c:strCache>
            </c:strRef>
          </c:tx>
          <c:spPr>
            <a:solidFill>
              <a:schemeClr val="accent1">
                <a:tint val="62000"/>
              </a:schemeClr>
            </a:solidFill>
            <a:ln>
              <a:noFill/>
            </a:ln>
            <a:effectLst/>
          </c:spPr>
          <c:invertIfNegative val="0"/>
          <c:cat>
            <c:strRef>
              <c:f>工作表1!$C$4:$C$8</c:f>
              <c:strCache>
                <c:ptCount val="5"/>
                <c:pt idx="0">
                  <c:v>iPhone</c:v>
                </c:pt>
                <c:pt idx="1">
                  <c:v>iPad</c:v>
                </c:pt>
                <c:pt idx="2">
                  <c:v>Services</c:v>
                </c:pt>
                <c:pt idx="3">
                  <c:v>WH&amp;A</c:v>
                </c:pt>
                <c:pt idx="4">
                  <c:v>Mac</c:v>
                </c:pt>
              </c:strCache>
            </c:strRef>
          </c:cat>
          <c:val>
            <c:numRef>
              <c:f>工作表1!$E$4:$E$8</c:f>
              <c:numCache>
                <c:formatCode>General</c:formatCode>
                <c:ptCount val="5"/>
                <c:pt idx="0">
                  <c:v>-14</c:v>
                </c:pt>
                <c:pt idx="1">
                  <c:v>16</c:v>
                </c:pt>
                <c:pt idx="2">
                  <c:v>16</c:v>
                </c:pt>
                <c:pt idx="3">
                  <c:v>41</c:v>
                </c:pt>
                <c:pt idx="4">
                  <c:v>2</c:v>
                </c:pt>
              </c:numCache>
            </c:numRef>
          </c:val>
          <c:extLst>
            <c:ext xmlns:c16="http://schemas.microsoft.com/office/drawing/2014/chart" uri="{C3380CC4-5D6E-409C-BE32-E72D297353CC}">
              <c16:uniqueId val="{00000001-ECB0-48FA-9947-E9ED06827706}"/>
            </c:ext>
          </c:extLst>
        </c:ser>
        <c:ser>
          <c:idx val="2"/>
          <c:order val="2"/>
          <c:tx>
            <c:strRef>
              <c:f>工作表1!$F$3</c:f>
              <c:strCache>
                <c:ptCount val="1"/>
                <c:pt idx="0">
                  <c:v>FY20</c:v>
                </c:pt>
              </c:strCache>
            </c:strRef>
          </c:tx>
          <c:spPr>
            <a:solidFill>
              <a:schemeClr val="accent1">
                <a:tint val="77000"/>
              </a:schemeClr>
            </a:solidFill>
            <a:ln>
              <a:noFill/>
            </a:ln>
            <a:effectLst/>
          </c:spPr>
          <c:invertIfNegative val="0"/>
          <c:cat>
            <c:strRef>
              <c:f>工作表1!$C$4:$C$8</c:f>
              <c:strCache>
                <c:ptCount val="5"/>
                <c:pt idx="0">
                  <c:v>iPhone</c:v>
                </c:pt>
                <c:pt idx="1">
                  <c:v>iPad</c:v>
                </c:pt>
                <c:pt idx="2">
                  <c:v>Services</c:v>
                </c:pt>
                <c:pt idx="3">
                  <c:v>WH&amp;A</c:v>
                </c:pt>
                <c:pt idx="4">
                  <c:v>Mac</c:v>
                </c:pt>
              </c:strCache>
            </c:strRef>
          </c:cat>
          <c:val>
            <c:numRef>
              <c:f>工作表1!$F$4:$F$8</c:f>
              <c:numCache>
                <c:formatCode>General</c:formatCode>
                <c:ptCount val="5"/>
                <c:pt idx="0">
                  <c:v>-3</c:v>
                </c:pt>
                <c:pt idx="1">
                  <c:v>11</c:v>
                </c:pt>
                <c:pt idx="2">
                  <c:v>16</c:v>
                </c:pt>
                <c:pt idx="3">
                  <c:v>25</c:v>
                </c:pt>
                <c:pt idx="4">
                  <c:v>11</c:v>
                </c:pt>
              </c:numCache>
            </c:numRef>
          </c:val>
          <c:extLst>
            <c:ext xmlns:c16="http://schemas.microsoft.com/office/drawing/2014/chart" uri="{C3380CC4-5D6E-409C-BE32-E72D297353CC}">
              <c16:uniqueId val="{00000002-ECB0-48FA-9947-E9ED06827706}"/>
            </c:ext>
          </c:extLst>
        </c:ser>
        <c:ser>
          <c:idx val="3"/>
          <c:order val="3"/>
          <c:tx>
            <c:strRef>
              <c:f>工作表1!$G$3</c:f>
              <c:strCache>
                <c:ptCount val="1"/>
                <c:pt idx="0">
                  <c:v>FY21</c:v>
                </c:pt>
              </c:strCache>
            </c:strRef>
          </c:tx>
          <c:spPr>
            <a:solidFill>
              <a:schemeClr val="accent1">
                <a:tint val="93000"/>
              </a:schemeClr>
            </a:solidFill>
            <a:ln>
              <a:noFill/>
            </a:ln>
            <a:effectLst/>
          </c:spPr>
          <c:invertIfNegative val="0"/>
          <c:cat>
            <c:strRef>
              <c:f>工作表1!$C$4:$C$8</c:f>
              <c:strCache>
                <c:ptCount val="5"/>
                <c:pt idx="0">
                  <c:v>iPhone</c:v>
                </c:pt>
                <c:pt idx="1">
                  <c:v>iPad</c:v>
                </c:pt>
                <c:pt idx="2">
                  <c:v>Services</c:v>
                </c:pt>
                <c:pt idx="3">
                  <c:v>WH&amp;A</c:v>
                </c:pt>
                <c:pt idx="4">
                  <c:v>Mac</c:v>
                </c:pt>
              </c:strCache>
            </c:strRef>
          </c:cat>
          <c:val>
            <c:numRef>
              <c:f>工作表1!$G$4:$G$8</c:f>
              <c:numCache>
                <c:formatCode>General</c:formatCode>
                <c:ptCount val="5"/>
                <c:pt idx="0">
                  <c:v>39</c:v>
                </c:pt>
                <c:pt idx="1">
                  <c:v>34</c:v>
                </c:pt>
                <c:pt idx="2">
                  <c:v>27</c:v>
                </c:pt>
                <c:pt idx="3">
                  <c:v>25</c:v>
                </c:pt>
                <c:pt idx="4">
                  <c:v>23</c:v>
                </c:pt>
              </c:numCache>
            </c:numRef>
          </c:val>
          <c:extLst>
            <c:ext xmlns:c16="http://schemas.microsoft.com/office/drawing/2014/chart" uri="{C3380CC4-5D6E-409C-BE32-E72D297353CC}">
              <c16:uniqueId val="{00000003-ECB0-48FA-9947-E9ED06827706}"/>
            </c:ext>
          </c:extLst>
        </c:ser>
        <c:ser>
          <c:idx val="4"/>
          <c:order val="4"/>
          <c:tx>
            <c:strRef>
              <c:f>工作表1!$H$3</c:f>
              <c:strCache>
                <c:ptCount val="1"/>
                <c:pt idx="0">
                  <c:v>FY22</c:v>
                </c:pt>
              </c:strCache>
            </c:strRef>
          </c:tx>
          <c:spPr>
            <a:solidFill>
              <a:schemeClr val="accent1">
                <a:shade val="92000"/>
              </a:schemeClr>
            </a:solidFill>
            <a:ln>
              <a:noFill/>
            </a:ln>
            <a:effectLst/>
          </c:spPr>
          <c:invertIfNegative val="0"/>
          <c:cat>
            <c:strRef>
              <c:f>工作表1!$C$4:$C$8</c:f>
              <c:strCache>
                <c:ptCount val="5"/>
                <c:pt idx="0">
                  <c:v>iPhone</c:v>
                </c:pt>
                <c:pt idx="1">
                  <c:v>iPad</c:v>
                </c:pt>
                <c:pt idx="2">
                  <c:v>Services</c:v>
                </c:pt>
                <c:pt idx="3">
                  <c:v>WH&amp;A</c:v>
                </c:pt>
                <c:pt idx="4">
                  <c:v>Mac</c:v>
                </c:pt>
              </c:strCache>
            </c:strRef>
          </c:cat>
          <c:val>
            <c:numRef>
              <c:f>工作表1!$H$4:$H$8</c:f>
              <c:numCache>
                <c:formatCode>General</c:formatCode>
                <c:ptCount val="5"/>
                <c:pt idx="0">
                  <c:v>7</c:v>
                </c:pt>
                <c:pt idx="1">
                  <c:v>-8</c:v>
                </c:pt>
                <c:pt idx="2">
                  <c:v>14</c:v>
                </c:pt>
                <c:pt idx="3">
                  <c:v>7</c:v>
                </c:pt>
                <c:pt idx="4">
                  <c:v>14</c:v>
                </c:pt>
              </c:numCache>
            </c:numRef>
          </c:val>
          <c:extLst>
            <c:ext xmlns:c16="http://schemas.microsoft.com/office/drawing/2014/chart" uri="{C3380CC4-5D6E-409C-BE32-E72D297353CC}">
              <c16:uniqueId val="{00000004-ECB0-48FA-9947-E9ED06827706}"/>
            </c:ext>
          </c:extLst>
        </c:ser>
        <c:ser>
          <c:idx val="5"/>
          <c:order val="5"/>
          <c:tx>
            <c:strRef>
              <c:f>工作表1!$I$3</c:f>
              <c:strCache>
                <c:ptCount val="1"/>
                <c:pt idx="0">
                  <c:v>FY23</c:v>
                </c:pt>
              </c:strCache>
            </c:strRef>
          </c:tx>
          <c:spPr>
            <a:solidFill>
              <a:schemeClr val="accent1">
                <a:shade val="76000"/>
              </a:schemeClr>
            </a:solidFill>
            <a:ln>
              <a:noFill/>
            </a:ln>
            <a:effectLst/>
          </c:spPr>
          <c:invertIfNegative val="0"/>
          <c:cat>
            <c:strRef>
              <c:f>工作表1!$C$4:$C$8</c:f>
              <c:strCache>
                <c:ptCount val="5"/>
                <c:pt idx="0">
                  <c:v>iPhone</c:v>
                </c:pt>
                <c:pt idx="1">
                  <c:v>iPad</c:v>
                </c:pt>
                <c:pt idx="2">
                  <c:v>Services</c:v>
                </c:pt>
                <c:pt idx="3">
                  <c:v>WH&amp;A</c:v>
                </c:pt>
                <c:pt idx="4">
                  <c:v>Mac</c:v>
                </c:pt>
              </c:strCache>
            </c:strRef>
          </c:cat>
          <c:val>
            <c:numRef>
              <c:f>工作表1!$I$4:$I$8</c:f>
              <c:numCache>
                <c:formatCode>#,##0_ </c:formatCode>
                <c:ptCount val="5"/>
                <c:pt idx="0">
                  <c:v>-2.3874757286278099</c:v>
                </c:pt>
                <c:pt idx="1">
                  <c:v>-3.3865901952751605</c:v>
                </c:pt>
                <c:pt idx="2">
                  <c:v>9.0504166186691251</c:v>
                </c:pt>
                <c:pt idx="3">
                  <c:v>-3.3849809655439973</c:v>
                </c:pt>
                <c:pt idx="4">
                  <c:v>-26.930831072504169</c:v>
                </c:pt>
              </c:numCache>
            </c:numRef>
          </c:val>
          <c:extLst>
            <c:ext xmlns:c16="http://schemas.microsoft.com/office/drawing/2014/chart" uri="{C3380CC4-5D6E-409C-BE32-E72D297353CC}">
              <c16:uniqueId val="{00000005-ECB0-48FA-9947-E9ED06827706}"/>
            </c:ext>
          </c:extLst>
        </c:ser>
        <c:ser>
          <c:idx val="6"/>
          <c:order val="6"/>
          <c:tx>
            <c:strRef>
              <c:f>工作表1!$J$3</c:f>
              <c:strCache>
                <c:ptCount val="1"/>
                <c:pt idx="0">
                  <c:v>FY24</c:v>
                </c:pt>
              </c:strCache>
            </c:strRef>
          </c:tx>
          <c:spPr>
            <a:solidFill>
              <a:schemeClr val="accent1">
                <a:shade val="61000"/>
              </a:schemeClr>
            </a:solidFill>
            <a:ln>
              <a:noFill/>
            </a:ln>
            <a:effectLst/>
          </c:spPr>
          <c:invertIfNegative val="0"/>
          <c:cat>
            <c:strRef>
              <c:f>工作表1!$C$4:$C$8</c:f>
              <c:strCache>
                <c:ptCount val="5"/>
                <c:pt idx="0">
                  <c:v>iPhone</c:v>
                </c:pt>
                <c:pt idx="1">
                  <c:v>iPad</c:v>
                </c:pt>
                <c:pt idx="2">
                  <c:v>Services</c:v>
                </c:pt>
                <c:pt idx="3">
                  <c:v>WH&amp;A</c:v>
                </c:pt>
                <c:pt idx="4">
                  <c:v>Mac</c:v>
                </c:pt>
              </c:strCache>
            </c:strRef>
          </c:cat>
          <c:val>
            <c:numRef>
              <c:f>工作表1!$J$4:$J$8</c:f>
              <c:numCache>
                <c:formatCode>#,##0_ </c:formatCode>
                <c:ptCount val="5"/>
                <c:pt idx="0">
                  <c:v>0.2</c:v>
                </c:pt>
                <c:pt idx="1">
                  <c:v>-6</c:v>
                </c:pt>
                <c:pt idx="2">
                  <c:v>12.7</c:v>
                </c:pt>
                <c:pt idx="3">
                  <c:v>-7</c:v>
                </c:pt>
                <c:pt idx="4">
                  <c:v>2</c:v>
                </c:pt>
              </c:numCache>
            </c:numRef>
          </c:val>
          <c:extLst>
            <c:ext xmlns:c16="http://schemas.microsoft.com/office/drawing/2014/chart" uri="{C3380CC4-5D6E-409C-BE32-E72D297353CC}">
              <c16:uniqueId val="{00000006-ECB0-48FA-9947-E9ED06827706}"/>
            </c:ext>
          </c:extLst>
        </c:ser>
        <c:ser>
          <c:idx val="7"/>
          <c:order val="7"/>
          <c:tx>
            <c:strRef>
              <c:f>工作表1!$K$3</c:f>
              <c:strCache>
                <c:ptCount val="1"/>
                <c:pt idx="0">
                  <c:v>FY25</c:v>
                </c:pt>
              </c:strCache>
            </c:strRef>
          </c:tx>
          <c:spPr>
            <a:solidFill>
              <a:schemeClr val="accent1">
                <a:shade val="4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工作表1!$C$4:$C$8</c:f>
              <c:strCache>
                <c:ptCount val="5"/>
                <c:pt idx="0">
                  <c:v>iPhone</c:v>
                </c:pt>
                <c:pt idx="1">
                  <c:v>iPad</c:v>
                </c:pt>
                <c:pt idx="2">
                  <c:v>Services</c:v>
                </c:pt>
                <c:pt idx="3">
                  <c:v>WH&amp;A</c:v>
                </c:pt>
                <c:pt idx="4">
                  <c:v>Mac</c:v>
                </c:pt>
              </c:strCache>
            </c:strRef>
          </c:cat>
          <c:val>
            <c:numRef>
              <c:f>工作表1!$K$4:$K$8</c:f>
              <c:numCache>
                <c:formatCode>General</c:formatCode>
                <c:ptCount val="5"/>
                <c:pt idx="0">
                  <c:v>4</c:v>
                </c:pt>
                <c:pt idx="1">
                  <c:v>5</c:v>
                </c:pt>
                <c:pt idx="2">
                  <c:v>14</c:v>
                </c:pt>
                <c:pt idx="3">
                  <c:v>-3.6</c:v>
                </c:pt>
                <c:pt idx="4">
                  <c:v>12</c:v>
                </c:pt>
              </c:numCache>
            </c:numRef>
          </c:val>
          <c:extLst>
            <c:ext xmlns:c16="http://schemas.microsoft.com/office/drawing/2014/chart" uri="{C3380CC4-5D6E-409C-BE32-E72D297353CC}">
              <c16:uniqueId val="{00000001-0A0A-4FAF-944B-6E1504A75D10}"/>
            </c:ext>
          </c:extLst>
        </c:ser>
        <c:dLbls>
          <c:showLegendKey val="0"/>
          <c:showVal val="0"/>
          <c:showCatName val="0"/>
          <c:showSerName val="0"/>
          <c:showPercent val="0"/>
          <c:showBubbleSize val="0"/>
        </c:dLbls>
        <c:gapWidth val="100"/>
        <c:overlap val="-27"/>
        <c:axId val="138382720"/>
        <c:axId val="138384512"/>
      </c:barChart>
      <c:catAx>
        <c:axId val="138382720"/>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crossAx val="138384512"/>
        <c:crosses val="autoZero"/>
        <c:auto val="1"/>
        <c:lblAlgn val="ctr"/>
        <c:lblOffset val="100"/>
        <c:noMultiLvlLbl val="0"/>
      </c:catAx>
      <c:valAx>
        <c:axId val="138384512"/>
        <c:scaling>
          <c:orientation val="minMax"/>
        </c:scaling>
        <c:delete val="0"/>
        <c:axPos val="l"/>
        <c:numFmt formatCode="General"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38382720"/>
        <c:crosses val="autoZero"/>
        <c:crossBetween val="between"/>
        <c:majorUnit val="20"/>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noFill/>
    <a:ln w="9525" cap="flat" cmpd="sng" algn="ctr">
      <a:noFill/>
      <a:prstDash val="solid"/>
    </a:ln>
    <a:effectLst/>
  </c:spPr>
  <c:txPr>
    <a:bodyPr/>
    <a:lstStyle/>
    <a:p>
      <a:pPr>
        <a:defRPr/>
      </a:pPr>
      <a:endParaRPr lang="zh-TW"/>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工作表2!$B$5</c:f>
              <c:strCache>
                <c:ptCount val="1"/>
                <c:pt idx="0">
                  <c:v>營收</c:v>
                </c:pt>
              </c:strCache>
            </c:strRef>
          </c:tx>
          <c:spPr>
            <a:solidFill>
              <a:schemeClr val="accent1">
                <a:tint val="65000"/>
              </a:schemeClr>
            </a:solidFill>
            <a:ln>
              <a:noFill/>
            </a:ln>
            <a:effectLst/>
          </c:spPr>
          <c:invertIfNegative val="0"/>
          <c:dLbls>
            <c:numFmt formatCode="#,##0_);[Red]\(#,##0\)" sourceLinked="0"/>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工作表2!$N$4:$R$4</c:f>
              <c:strCache>
                <c:ptCount val="5"/>
                <c:pt idx="0">
                  <c:v>1QFY25</c:v>
                </c:pt>
                <c:pt idx="1">
                  <c:v>2QFY25</c:v>
                </c:pt>
                <c:pt idx="2">
                  <c:v>3QFY25</c:v>
                </c:pt>
                <c:pt idx="3">
                  <c:v>4QFY25</c:v>
                </c:pt>
                <c:pt idx="4">
                  <c:v>1QFY26</c:v>
                </c:pt>
              </c:strCache>
            </c:strRef>
          </c:cat>
          <c:val>
            <c:numRef>
              <c:f>工作表2!$N$5:$R$5</c:f>
              <c:numCache>
                <c:formatCode>#,##0</c:formatCode>
                <c:ptCount val="5"/>
                <c:pt idx="0">
                  <c:v>124300</c:v>
                </c:pt>
                <c:pt idx="1">
                  <c:v>95359</c:v>
                </c:pt>
                <c:pt idx="2">
                  <c:v>94036</c:v>
                </c:pt>
                <c:pt idx="3">
                  <c:v>102466</c:v>
                </c:pt>
                <c:pt idx="4">
                  <c:v>143756</c:v>
                </c:pt>
              </c:numCache>
            </c:numRef>
          </c:val>
          <c:extLst>
            <c:ext xmlns:c16="http://schemas.microsoft.com/office/drawing/2014/chart" uri="{C3380CC4-5D6E-409C-BE32-E72D297353CC}">
              <c16:uniqueId val="{00000000-C1E6-453E-8C76-23C590FFCAE3}"/>
            </c:ext>
          </c:extLst>
        </c:ser>
        <c:ser>
          <c:idx val="1"/>
          <c:order val="1"/>
          <c:tx>
            <c:strRef>
              <c:f>工作表2!$B$6</c:f>
              <c:strCache>
                <c:ptCount val="1"/>
                <c:pt idx="0">
                  <c:v>營業淨利</c:v>
                </c:pt>
              </c:strCache>
            </c:strRef>
          </c:tx>
          <c:spPr>
            <a:solidFill>
              <a:schemeClr val="accent1"/>
            </a:solidFill>
            <a:ln>
              <a:noFill/>
            </a:ln>
            <a:effectLst/>
          </c:spPr>
          <c:invertIfNegative val="0"/>
          <c:dLbls>
            <c:dLbl>
              <c:idx val="0"/>
              <c:layout>
                <c:manualLayout>
                  <c:x val="0"/>
                  <c:y val="-6.62847608986022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1E6-453E-8C76-23C590FFCAE3}"/>
                </c:ext>
              </c:extLst>
            </c:dLbl>
            <c:dLbl>
              <c:idx val="1"/>
              <c:layout>
                <c:manualLayout>
                  <c:x val="0"/>
                  <c:y val="-6.62847608986022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1E6-453E-8C76-23C590FFCAE3}"/>
                </c:ext>
              </c:extLst>
            </c:dLbl>
            <c:dLbl>
              <c:idx val="2"/>
              <c:layout>
                <c:manualLayout>
                  <c:x val="0"/>
                  <c:y val="-2.209492029953405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1E6-453E-8C76-23C590FFCAE3}"/>
                </c:ext>
              </c:extLst>
            </c:dLbl>
            <c:dLbl>
              <c:idx val="3"/>
              <c:layout>
                <c:manualLayout>
                  <c:x val="0"/>
                  <c:y val="-4.41898405990681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1E6-453E-8C76-23C590FFCAE3}"/>
                </c:ext>
              </c:extLst>
            </c:dLbl>
            <c:dLbl>
              <c:idx val="4"/>
              <c:layout>
                <c:manualLayout>
                  <c:x val="0"/>
                  <c:y val="-3.866611052418468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1E6-453E-8C76-23C590FFCAE3}"/>
                </c:ext>
              </c:extLst>
            </c:dLbl>
            <c:dLbl>
              <c:idx val="5"/>
              <c:layout>
                <c:manualLayout>
                  <c:x val="0"/>
                  <c:y val="-3.31423804493011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1E6-453E-8C76-23C590FFCAE3}"/>
                </c:ext>
              </c:extLst>
            </c:dLbl>
            <c:numFmt formatCode="#,##0_);[Red]\(#,##0\)" sourceLinked="0"/>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工作表2!$N$4:$R$4</c:f>
              <c:strCache>
                <c:ptCount val="5"/>
                <c:pt idx="0">
                  <c:v>1QFY25</c:v>
                </c:pt>
                <c:pt idx="1">
                  <c:v>2QFY25</c:v>
                </c:pt>
                <c:pt idx="2">
                  <c:v>3QFY25</c:v>
                </c:pt>
                <c:pt idx="3">
                  <c:v>4QFY25</c:v>
                </c:pt>
                <c:pt idx="4">
                  <c:v>1QFY26</c:v>
                </c:pt>
              </c:strCache>
            </c:strRef>
          </c:cat>
          <c:val>
            <c:numRef>
              <c:f>工作表2!$N$6:$R$6</c:f>
              <c:numCache>
                <c:formatCode>#,##0</c:formatCode>
                <c:ptCount val="5"/>
                <c:pt idx="0">
                  <c:v>42832</c:v>
                </c:pt>
                <c:pt idx="1">
                  <c:v>29589</c:v>
                </c:pt>
                <c:pt idx="2">
                  <c:v>28202</c:v>
                </c:pt>
                <c:pt idx="3">
                  <c:v>32427</c:v>
                </c:pt>
                <c:pt idx="4">
                  <c:v>50852</c:v>
                </c:pt>
              </c:numCache>
            </c:numRef>
          </c:val>
          <c:extLst>
            <c:ext xmlns:c16="http://schemas.microsoft.com/office/drawing/2014/chart" uri="{C3380CC4-5D6E-409C-BE32-E72D297353CC}">
              <c16:uniqueId val="{00000007-C1E6-453E-8C76-23C590FFCAE3}"/>
            </c:ext>
          </c:extLst>
        </c:ser>
        <c:ser>
          <c:idx val="2"/>
          <c:order val="2"/>
          <c:tx>
            <c:strRef>
              <c:f>工作表2!$B$7</c:f>
              <c:strCache>
                <c:ptCount val="1"/>
                <c:pt idx="0">
                  <c:v>普通股可分配淨利</c:v>
                </c:pt>
              </c:strCache>
            </c:strRef>
          </c:tx>
          <c:spPr>
            <a:solidFill>
              <a:schemeClr val="accent1">
                <a:shade val="65000"/>
              </a:schemeClr>
            </a:solidFill>
            <a:ln>
              <a:noFill/>
            </a:ln>
            <a:effectLst/>
          </c:spPr>
          <c:invertIfNegative val="0"/>
          <c:dLbls>
            <c:numFmt formatCode="#,##0_);[Red]\(#,##0\)" sourceLinked="0"/>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工作表2!$N$4:$R$4</c:f>
              <c:strCache>
                <c:ptCount val="5"/>
                <c:pt idx="0">
                  <c:v>1QFY25</c:v>
                </c:pt>
                <c:pt idx="1">
                  <c:v>2QFY25</c:v>
                </c:pt>
                <c:pt idx="2">
                  <c:v>3QFY25</c:v>
                </c:pt>
                <c:pt idx="3">
                  <c:v>4QFY25</c:v>
                </c:pt>
                <c:pt idx="4">
                  <c:v>1QFY26</c:v>
                </c:pt>
              </c:strCache>
            </c:strRef>
          </c:cat>
          <c:val>
            <c:numRef>
              <c:f>工作表2!$N$7:$R$7</c:f>
              <c:numCache>
                <c:formatCode>#,##0</c:formatCode>
                <c:ptCount val="5"/>
                <c:pt idx="0">
                  <c:v>36330</c:v>
                </c:pt>
                <c:pt idx="1">
                  <c:v>24780</c:v>
                </c:pt>
                <c:pt idx="2">
                  <c:v>23434</c:v>
                </c:pt>
                <c:pt idx="3">
                  <c:v>27466</c:v>
                </c:pt>
                <c:pt idx="4">
                  <c:v>42097</c:v>
                </c:pt>
              </c:numCache>
            </c:numRef>
          </c:val>
          <c:extLst>
            <c:ext xmlns:c16="http://schemas.microsoft.com/office/drawing/2014/chart" uri="{C3380CC4-5D6E-409C-BE32-E72D297353CC}">
              <c16:uniqueId val="{00000008-C1E6-453E-8C76-23C590FFCAE3}"/>
            </c:ext>
          </c:extLst>
        </c:ser>
        <c:dLbls>
          <c:showLegendKey val="0"/>
          <c:showVal val="0"/>
          <c:showCatName val="0"/>
          <c:showSerName val="0"/>
          <c:showPercent val="0"/>
          <c:showBubbleSize val="0"/>
        </c:dLbls>
        <c:gapWidth val="67"/>
        <c:axId val="137849856"/>
        <c:axId val="137872128"/>
      </c:barChart>
      <c:catAx>
        <c:axId val="137849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37872128"/>
        <c:crosses val="autoZero"/>
        <c:auto val="1"/>
        <c:lblAlgn val="ctr"/>
        <c:lblOffset val="100"/>
        <c:noMultiLvlLbl val="0"/>
      </c:catAx>
      <c:valAx>
        <c:axId val="137872128"/>
        <c:scaling>
          <c:orientation val="minMax"/>
        </c:scaling>
        <c:delete val="1"/>
        <c:axPos val="l"/>
        <c:numFmt formatCode="#,##0" sourceLinked="1"/>
        <c:majorTickMark val="none"/>
        <c:minorTickMark val="none"/>
        <c:tickLblPos val="nextTo"/>
        <c:crossAx val="137849856"/>
        <c:crosses val="autoZero"/>
        <c:crossBetween val="between"/>
      </c:valAx>
      <c:spPr>
        <a:noFill/>
        <a:ln>
          <a:noFill/>
        </a:ln>
        <a:effectLst/>
      </c:spPr>
    </c:plotArea>
    <c:legend>
      <c:legendPos val="t"/>
      <c:layout>
        <c:manualLayout>
          <c:xMode val="edge"/>
          <c:yMode val="edge"/>
          <c:x val="0.19323047081508929"/>
          <c:y val="4.0645180905726115E-2"/>
          <c:w val="0.67812797913218426"/>
          <c:h val="0.1209210133985078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029619181946404E-2"/>
          <c:y val="0.28292939020199026"/>
          <c:w val="0.93794076163610718"/>
          <c:h val="0.5680503143236717"/>
        </c:manualLayout>
      </c:layout>
      <c:lineChart>
        <c:grouping val="standard"/>
        <c:varyColors val="0"/>
        <c:ser>
          <c:idx val="0"/>
          <c:order val="0"/>
          <c:tx>
            <c:strRef>
              <c:f>工作表1!$B$1</c:f>
              <c:strCache>
                <c:ptCount val="1"/>
                <c:pt idx="0">
                  <c:v>Gross Margin(%)</c:v>
                </c:pt>
              </c:strCache>
            </c:strRef>
          </c:tx>
          <c:spPr>
            <a:ln w="28575" cap="rnd">
              <a:solidFill>
                <a:schemeClr val="tx1">
                  <a:lumMod val="50000"/>
                  <a:lumOff val="50000"/>
                </a:schemeClr>
              </a:solidFill>
              <a:round/>
            </a:ln>
            <a:effectLst/>
          </c:spPr>
          <c:marker>
            <c:symbol val="circle"/>
            <c:size val="5"/>
            <c:spPr>
              <a:solidFill>
                <a:schemeClr val="bg1"/>
              </a:solidFill>
              <a:ln w="9525">
                <a:solidFill>
                  <a:schemeClr val="tx1">
                    <a:lumMod val="50000"/>
                    <a:lumOff val="50000"/>
                  </a:schemeClr>
                </a:solidFill>
              </a:ln>
              <a:effectLst/>
            </c:spPr>
          </c:marker>
          <c:dLbls>
            <c:dLbl>
              <c:idx val="0"/>
              <c:layout>
                <c:manualLayout>
                  <c:x val="-4.51339915373766E-2"/>
                  <c:y val="-5.89165615459644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91F-4AC7-B5A7-7BC20FB3F7B3}"/>
                </c:ext>
              </c:extLst>
            </c:dLbl>
            <c:dLbl>
              <c:idx val="1"/>
              <c:layout>
                <c:manualLayout>
                  <c:x val="-5.3596614950634697E-2"/>
                  <c:y val="-6.87359884702917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91F-4AC7-B5A7-7BC20FB3F7B3}"/>
                </c:ext>
              </c:extLst>
            </c:dLbl>
            <c:dLbl>
              <c:idx val="2"/>
              <c:layout>
                <c:manualLayout>
                  <c:x val="-4.5133991537376641E-2"/>
                  <c:y val="-5.89165615459643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91F-4AC7-B5A7-7BC20FB3F7B3}"/>
                </c:ext>
              </c:extLst>
            </c:dLbl>
            <c:dLbl>
              <c:idx val="3"/>
              <c:layout>
                <c:manualLayout>
                  <c:x val="-5.0775740479548657E-2"/>
                  <c:y val="-6.3826275008128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91F-4AC7-B5A7-7BC20FB3F7B3}"/>
                </c:ext>
              </c:extLst>
            </c:dLbl>
            <c:dLbl>
              <c:idx val="4"/>
              <c:layout>
                <c:manualLayout>
                  <c:x val="-4.5133991537376586E-2"/>
                  <c:y val="-5.89165615459643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91F-4AC7-B5A7-7BC20FB3F7B3}"/>
                </c:ext>
              </c:extLst>
            </c:dLbl>
            <c:dLbl>
              <c:idx val="5"/>
              <c:layout>
                <c:manualLayout>
                  <c:x val="-5.3596614950634801E-2"/>
                  <c:y val="-6.87359884702918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91F-4AC7-B5A7-7BC20FB3F7B3}"/>
                </c:ext>
              </c:extLst>
            </c:dLbl>
            <c:dLbl>
              <c:idx val="6"/>
              <c:layout>
                <c:manualLayout>
                  <c:x val="-4.7954866008462729E-2"/>
                  <c:y val="-6.38262750081280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91F-4AC7-B5A7-7BC20FB3F7B3}"/>
                </c:ext>
              </c:extLst>
            </c:dLbl>
            <c:dLbl>
              <c:idx val="7"/>
              <c:layout>
                <c:manualLayout>
                  <c:x val="-5.0775740479548657E-2"/>
                  <c:y val="-6.37044986506020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91F-4AC7-B5A7-7BC20FB3F7B3}"/>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工作表1!$A$2:$A$7</c:f>
              <c:strCache>
                <c:ptCount val="6"/>
                <c:pt idx="0">
                  <c:v>FY23</c:v>
                </c:pt>
                <c:pt idx="1">
                  <c:v>FY24</c:v>
                </c:pt>
                <c:pt idx="2">
                  <c:v>FY25 </c:v>
                </c:pt>
                <c:pt idx="3">
                  <c:v>FY26 F</c:v>
                </c:pt>
                <c:pt idx="4">
                  <c:v>FY27 F</c:v>
                </c:pt>
                <c:pt idx="5">
                  <c:v>FY28 F</c:v>
                </c:pt>
              </c:strCache>
            </c:strRef>
          </c:cat>
          <c:val>
            <c:numRef>
              <c:f>工作表1!$B$2:$B$7</c:f>
              <c:numCache>
                <c:formatCode>0.0</c:formatCode>
                <c:ptCount val="6"/>
                <c:pt idx="0">
                  <c:v>44.1</c:v>
                </c:pt>
                <c:pt idx="1">
                  <c:v>46.2</c:v>
                </c:pt>
                <c:pt idx="2">
                  <c:v>46.9</c:v>
                </c:pt>
                <c:pt idx="3">
                  <c:v>48</c:v>
                </c:pt>
                <c:pt idx="4">
                  <c:v>48.01</c:v>
                </c:pt>
                <c:pt idx="5">
                  <c:v>48.48</c:v>
                </c:pt>
              </c:numCache>
            </c:numRef>
          </c:val>
          <c:smooth val="0"/>
          <c:extLst>
            <c:ext xmlns:c16="http://schemas.microsoft.com/office/drawing/2014/chart" uri="{C3380CC4-5D6E-409C-BE32-E72D297353CC}">
              <c16:uniqueId val="{00000008-F91F-4AC7-B5A7-7BC20FB3F7B3}"/>
            </c:ext>
          </c:extLst>
        </c:ser>
        <c:ser>
          <c:idx val="1"/>
          <c:order val="1"/>
          <c:tx>
            <c:strRef>
              <c:f>工作表1!$C$1</c:f>
              <c:strCache>
                <c:ptCount val="1"/>
                <c:pt idx="0">
                  <c:v>EBITDA Margin(%)</c:v>
                </c:pt>
              </c:strCache>
            </c:strRef>
          </c:tx>
          <c:spPr>
            <a:ln w="28575" cap="rnd">
              <a:solidFill>
                <a:srgbClr val="B2520A"/>
              </a:solidFill>
              <a:round/>
            </a:ln>
            <a:effectLst/>
          </c:spPr>
          <c:marker>
            <c:symbol val="circle"/>
            <c:size val="5"/>
            <c:spPr>
              <a:solidFill>
                <a:schemeClr val="bg1"/>
              </a:solidFill>
              <a:ln w="9525">
                <a:solidFill>
                  <a:srgbClr val="B2520A"/>
                </a:solidFill>
              </a:ln>
              <a:effectLst/>
            </c:spPr>
          </c:marker>
          <c:dLbls>
            <c:dLbl>
              <c:idx val="0"/>
              <c:layout>
                <c:manualLayout>
                  <c:x val="-4.2313132551038121E-2"/>
                  <c:y val="-6.56306631526645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91F-4AC7-B5A7-7BC20FB3F7B3}"/>
                </c:ext>
              </c:extLst>
            </c:dLbl>
            <c:dLbl>
              <c:idx val="1"/>
              <c:layout>
                <c:manualLayout>
                  <c:x val="-5.0775740479548685E-2"/>
                  <c:y val="-4.5283018867924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91F-4AC7-B5A7-7BC20FB3F7B3}"/>
                </c:ext>
              </c:extLst>
            </c:dLbl>
            <c:dLbl>
              <c:idx val="2"/>
              <c:layout>
                <c:manualLayout>
                  <c:x val="-5.0775740479548657E-2"/>
                  <c:y val="-4.5283018867924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91F-4AC7-B5A7-7BC20FB3F7B3}"/>
                </c:ext>
              </c:extLst>
            </c:dLbl>
            <c:dLbl>
              <c:idx val="3"/>
              <c:layout>
                <c:manualLayout>
                  <c:x val="-4.7954866008462625E-2"/>
                  <c:y val="-4.025157232704402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91F-4AC7-B5A7-7BC20FB3F7B3}"/>
                </c:ext>
              </c:extLst>
            </c:dLbl>
            <c:dLbl>
              <c:idx val="4"/>
              <c:layout>
                <c:manualLayout>
                  <c:x val="-5.0775740479548657E-2"/>
                  <c:y val="-5.03144654088050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F91F-4AC7-B5A7-7BC20FB3F7B3}"/>
                </c:ext>
              </c:extLst>
            </c:dLbl>
            <c:dLbl>
              <c:idx val="5"/>
              <c:layout>
                <c:manualLayout>
                  <c:x val="-4.7954866008462729E-2"/>
                  <c:y val="-5.03144654088050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91F-4AC7-B5A7-7BC20FB3F7B3}"/>
                </c:ext>
              </c:extLst>
            </c:dLbl>
            <c:dLbl>
              <c:idx val="6"/>
              <c:layout>
                <c:manualLayout>
                  <c:x val="-5.0775740479548762E-2"/>
                  <c:y val="-4.5283018867924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F91F-4AC7-B5A7-7BC20FB3F7B3}"/>
                </c:ext>
              </c:extLst>
            </c:dLbl>
            <c:dLbl>
              <c:idx val="7"/>
              <c:layout>
                <c:manualLayout>
                  <c:x val="-5.0775740479548657E-2"/>
                  <c:y val="-5.03144654088050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F91F-4AC7-B5A7-7BC20FB3F7B3}"/>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工作表1!$A$2:$A$7</c:f>
              <c:strCache>
                <c:ptCount val="6"/>
                <c:pt idx="0">
                  <c:v>FY23</c:v>
                </c:pt>
                <c:pt idx="1">
                  <c:v>FY24</c:v>
                </c:pt>
                <c:pt idx="2">
                  <c:v>FY25 </c:v>
                </c:pt>
                <c:pt idx="3">
                  <c:v>FY26 F</c:v>
                </c:pt>
                <c:pt idx="4">
                  <c:v>FY27 F</c:v>
                </c:pt>
                <c:pt idx="5">
                  <c:v>FY28 F</c:v>
                </c:pt>
              </c:strCache>
            </c:strRef>
          </c:cat>
          <c:val>
            <c:numRef>
              <c:f>工作表1!$C$2:$C$7</c:f>
              <c:numCache>
                <c:formatCode>0.0</c:formatCode>
                <c:ptCount val="6"/>
                <c:pt idx="0">
                  <c:v>32.799999999999997</c:v>
                </c:pt>
                <c:pt idx="1">
                  <c:v>34.4</c:v>
                </c:pt>
                <c:pt idx="2">
                  <c:v>34.799999999999997</c:v>
                </c:pt>
                <c:pt idx="3">
                  <c:v>35.03</c:v>
                </c:pt>
                <c:pt idx="4">
                  <c:v>34.880000000000003</c:v>
                </c:pt>
                <c:pt idx="5">
                  <c:v>35.26</c:v>
                </c:pt>
              </c:numCache>
            </c:numRef>
          </c:val>
          <c:smooth val="0"/>
          <c:extLst>
            <c:ext xmlns:c16="http://schemas.microsoft.com/office/drawing/2014/chart" uri="{C3380CC4-5D6E-409C-BE32-E72D297353CC}">
              <c16:uniqueId val="{00000011-F91F-4AC7-B5A7-7BC20FB3F7B3}"/>
            </c:ext>
          </c:extLst>
        </c:ser>
        <c:dLbls>
          <c:showLegendKey val="0"/>
          <c:showVal val="0"/>
          <c:showCatName val="0"/>
          <c:showSerName val="0"/>
          <c:showPercent val="0"/>
          <c:showBubbleSize val="0"/>
        </c:dLbls>
        <c:marker val="1"/>
        <c:smooth val="0"/>
        <c:axId val="569547512"/>
        <c:axId val="569541280"/>
      </c:lineChart>
      <c:valAx>
        <c:axId val="569541280"/>
        <c:scaling>
          <c:orientation val="minMax"/>
          <c:max val="60"/>
          <c:min val="20"/>
        </c:scaling>
        <c:delete val="1"/>
        <c:axPos val="l"/>
        <c:numFmt formatCode="0.0" sourceLinked="1"/>
        <c:majorTickMark val="out"/>
        <c:minorTickMark val="none"/>
        <c:tickLblPos val="nextTo"/>
        <c:crossAx val="569547512"/>
        <c:crosses val="autoZero"/>
        <c:crossBetween val="between"/>
      </c:valAx>
      <c:catAx>
        <c:axId val="56954751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crossAx val="569541280"/>
        <c:crosses val="autoZero"/>
        <c:auto val="1"/>
        <c:lblAlgn val="ctr"/>
        <c:lblOffset val="100"/>
        <c:noMultiLvlLbl val="0"/>
      </c:catAx>
      <c:spPr>
        <a:noFill/>
        <a:ln>
          <a:noFill/>
        </a:ln>
        <a:effectLst/>
      </c:spPr>
    </c:plotArea>
    <c:legend>
      <c:legendPos val="t"/>
      <c:layout>
        <c:manualLayout>
          <c:xMode val="edge"/>
          <c:yMode val="edge"/>
          <c:x val="0.14963408401927072"/>
          <c:y val="3.5098265788691345E-2"/>
          <c:w val="0.71849538553802073"/>
          <c:h val="9.410412999684154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5148118662244209"/>
          <c:y val="0.18736649255476728"/>
          <c:w val="0.79176707100559673"/>
          <c:h val="0.65084419701087959"/>
        </c:manualLayout>
      </c:layout>
      <c:barChart>
        <c:barDir val="col"/>
        <c:grouping val="clustered"/>
        <c:varyColors val="0"/>
        <c:ser>
          <c:idx val="0"/>
          <c:order val="0"/>
          <c:tx>
            <c:strRef>
              <c:f>工作表1!$B$1</c:f>
              <c:strCache>
                <c:ptCount val="1"/>
                <c:pt idx="0">
                  <c:v>營運現金流量</c:v>
                </c:pt>
              </c:strCache>
            </c:strRef>
          </c:tx>
          <c:spPr>
            <a:solidFill>
              <a:schemeClr val="accent1">
                <a:tint val="77000"/>
              </a:schemeClr>
            </a:solidFill>
            <a:ln>
              <a:noFill/>
            </a:ln>
            <a:effectLst/>
          </c:spPr>
          <c:invertIfNegative val="0"/>
          <c:cat>
            <c:strRef>
              <c:f>工作表1!$A$2:$A$9</c:f>
              <c:strCache>
                <c:ptCount val="8"/>
                <c:pt idx="0">
                  <c:v>FY18</c:v>
                </c:pt>
                <c:pt idx="1">
                  <c:v>FY19</c:v>
                </c:pt>
                <c:pt idx="2">
                  <c:v>FY20</c:v>
                </c:pt>
                <c:pt idx="3">
                  <c:v>FY21</c:v>
                </c:pt>
                <c:pt idx="4">
                  <c:v>FY22</c:v>
                </c:pt>
                <c:pt idx="5">
                  <c:v>FY23</c:v>
                </c:pt>
                <c:pt idx="6">
                  <c:v>FY24</c:v>
                </c:pt>
                <c:pt idx="7">
                  <c:v>FY25</c:v>
                </c:pt>
              </c:strCache>
            </c:strRef>
          </c:cat>
          <c:val>
            <c:numRef>
              <c:f>工作表1!$B$2:$B$9</c:f>
              <c:numCache>
                <c:formatCode>_-* #,##0_-;\-* #,##0_-;_-* "-"??_-;_-@_-</c:formatCode>
                <c:ptCount val="8"/>
                <c:pt idx="0">
                  <c:v>77434</c:v>
                </c:pt>
                <c:pt idx="1">
                  <c:v>69391</c:v>
                </c:pt>
                <c:pt idx="2">
                  <c:v>80674</c:v>
                </c:pt>
                <c:pt idx="3">
                  <c:v>104038</c:v>
                </c:pt>
                <c:pt idx="4">
                  <c:v>122151</c:v>
                </c:pt>
                <c:pt idx="5">
                  <c:v>110543</c:v>
                </c:pt>
                <c:pt idx="6">
                  <c:v>118254</c:v>
                </c:pt>
                <c:pt idx="7">
                  <c:v>111482</c:v>
                </c:pt>
              </c:numCache>
            </c:numRef>
          </c:val>
          <c:extLst>
            <c:ext xmlns:c16="http://schemas.microsoft.com/office/drawing/2014/chart" uri="{C3380CC4-5D6E-409C-BE32-E72D297353CC}">
              <c16:uniqueId val="{00000000-5F5A-49B5-8EDF-91D923869F88}"/>
            </c:ext>
          </c:extLst>
        </c:ser>
        <c:ser>
          <c:idx val="1"/>
          <c:order val="1"/>
          <c:tx>
            <c:strRef>
              <c:f>工作表1!$C$1</c:f>
              <c:strCache>
                <c:ptCount val="1"/>
                <c:pt idx="0">
                  <c:v>自由現金流量</c:v>
                </c:pt>
              </c:strCache>
            </c:strRef>
          </c:tx>
          <c:spPr>
            <a:solidFill>
              <a:schemeClr val="accent1">
                <a:shade val="76000"/>
              </a:schemeClr>
            </a:solidFill>
            <a:ln>
              <a:noFill/>
            </a:ln>
            <a:effectLst/>
          </c:spPr>
          <c:invertIfNegative val="0"/>
          <c:dLbls>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7E6-4A28-9E6B-93A226AC94B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工作表1!$A$2:$A$9</c:f>
              <c:strCache>
                <c:ptCount val="8"/>
                <c:pt idx="0">
                  <c:v>FY18</c:v>
                </c:pt>
                <c:pt idx="1">
                  <c:v>FY19</c:v>
                </c:pt>
                <c:pt idx="2">
                  <c:v>FY20</c:v>
                </c:pt>
                <c:pt idx="3">
                  <c:v>FY21</c:v>
                </c:pt>
                <c:pt idx="4">
                  <c:v>FY22</c:v>
                </c:pt>
                <c:pt idx="5">
                  <c:v>FY23</c:v>
                </c:pt>
                <c:pt idx="6">
                  <c:v>FY24</c:v>
                </c:pt>
                <c:pt idx="7">
                  <c:v>FY25</c:v>
                </c:pt>
              </c:strCache>
            </c:strRef>
          </c:cat>
          <c:val>
            <c:numRef>
              <c:f>工作表1!$C$2:$C$9</c:f>
              <c:numCache>
                <c:formatCode>_-* #,##0_-;\-* #,##0_-;_-* "-"??_-;_-@_-</c:formatCode>
                <c:ptCount val="8"/>
                <c:pt idx="0">
                  <c:v>64121</c:v>
                </c:pt>
                <c:pt idx="1">
                  <c:v>58896</c:v>
                </c:pt>
                <c:pt idx="2">
                  <c:v>73365</c:v>
                </c:pt>
                <c:pt idx="3">
                  <c:v>92953</c:v>
                </c:pt>
                <c:pt idx="4">
                  <c:v>111443</c:v>
                </c:pt>
                <c:pt idx="5">
                  <c:v>99584</c:v>
                </c:pt>
                <c:pt idx="6">
                  <c:v>108807</c:v>
                </c:pt>
                <c:pt idx="7">
                  <c:v>98767</c:v>
                </c:pt>
              </c:numCache>
            </c:numRef>
          </c:val>
          <c:extLst>
            <c:ext xmlns:c16="http://schemas.microsoft.com/office/drawing/2014/chart" uri="{C3380CC4-5D6E-409C-BE32-E72D297353CC}">
              <c16:uniqueId val="{00000002-5F5A-49B5-8EDF-91D923869F88}"/>
            </c:ext>
          </c:extLst>
        </c:ser>
        <c:dLbls>
          <c:showLegendKey val="0"/>
          <c:showVal val="0"/>
          <c:showCatName val="0"/>
          <c:showSerName val="0"/>
          <c:showPercent val="0"/>
          <c:showBubbleSize val="0"/>
        </c:dLbls>
        <c:gapWidth val="138"/>
        <c:overlap val="-16"/>
        <c:axId val="890083992"/>
        <c:axId val="890084648"/>
      </c:barChart>
      <c:catAx>
        <c:axId val="89008399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TW"/>
          </a:p>
        </c:txPr>
        <c:crossAx val="890084648"/>
        <c:crosses val="autoZero"/>
        <c:auto val="1"/>
        <c:lblAlgn val="ctr"/>
        <c:lblOffset val="100"/>
        <c:noMultiLvlLbl val="0"/>
      </c:catAx>
      <c:valAx>
        <c:axId val="890084648"/>
        <c:scaling>
          <c:orientation val="minMax"/>
        </c:scaling>
        <c:delete val="0"/>
        <c:axPos val="l"/>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TW"/>
          </a:p>
        </c:txPr>
        <c:crossAx val="890083992"/>
        <c:crosses val="autoZero"/>
        <c:crossBetween val="between"/>
      </c:valAx>
      <c:spPr>
        <a:noFill/>
        <a:ln>
          <a:noFill/>
        </a:ln>
        <a:effectLst/>
      </c:spPr>
    </c:plotArea>
    <c:legend>
      <c:legendPos val="t"/>
      <c:layout>
        <c:manualLayout>
          <c:xMode val="edge"/>
          <c:yMode val="edge"/>
          <c:x val="0.26158606131818063"/>
          <c:y val="1.65016501650165E-2"/>
          <c:w val="0.59674377516241273"/>
          <c:h val="0.10542865310153063"/>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Arial" panose="020B0604020202020204" pitchFamily="34" charset="0"/>
            </a:defRPr>
          </a:pPr>
          <a:endParaRPr lang="zh-TW"/>
        </a:p>
      </c:txPr>
    </c:legend>
    <c:plotVisOnly val="1"/>
    <c:dispBlanksAs val="gap"/>
    <c:showDLblsOverMax val="0"/>
  </c:chart>
  <c:spPr>
    <a:noFill/>
    <a:ln>
      <a:noFill/>
    </a:ln>
    <a:effectLst/>
  </c:spPr>
  <c:txPr>
    <a:bodyPr/>
    <a:lstStyle/>
    <a:p>
      <a:pPr>
        <a:defRPr sz="800">
          <a:latin typeface="Arial" panose="020B0604020202020204" pitchFamily="34" charset="0"/>
          <a:cs typeface="Arial" panose="020B0604020202020204" pitchFamily="34" charset="0"/>
        </a:defRPr>
      </a:pPr>
      <a:endParaRPr lang="zh-TW"/>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5148118662244209"/>
          <c:y val="0.18736649255476728"/>
          <c:w val="0.79176707100559673"/>
          <c:h val="0.65084419701087959"/>
        </c:manualLayout>
      </c:layout>
      <c:barChart>
        <c:barDir val="col"/>
        <c:grouping val="clustered"/>
        <c:varyColors val="0"/>
        <c:ser>
          <c:idx val="0"/>
          <c:order val="0"/>
          <c:tx>
            <c:strRef>
              <c:f>工作表1!$B$1</c:f>
              <c:strCache>
                <c:ptCount val="1"/>
                <c:pt idx="0">
                  <c:v>總債務/EBITDA</c:v>
                </c:pt>
              </c:strCache>
            </c:strRef>
          </c:tx>
          <c:spPr>
            <a:solidFill>
              <a:schemeClr val="accent1">
                <a:tint val="77000"/>
              </a:schemeClr>
            </a:solidFill>
            <a:ln>
              <a:noFill/>
            </a:ln>
            <a:effectLst/>
          </c:spPr>
          <c:invertIfNegative val="0"/>
          <c:dLbls>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149-4E17-B3E4-9406223F6331}"/>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工作表1!$A$2:$A$9</c:f>
              <c:strCache>
                <c:ptCount val="8"/>
                <c:pt idx="0">
                  <c:v>FY18</c:v>
                </c:pt>
                <c:pt idx="1">
                  <c:v>FY19</c:v>
                </c:pt>
                <c:pt idx="2">
                  <c:v>FY20</c:v>
                </c:pt>
                <c:pt idx="3">
                  <c:v>FY21</c:v>
                </c:pt>
                <c:pt idx="4">
                  <c:v>FY22</c:v>
                </c:pt>
                <c:pt idx="5">
                  <c:v>FY23</c:v>
                </c:pt>
                <c:pt idx="6">
                  <c:v>FY24</c:v>
                </c:pt>
                <c:pt idx="7">
                  <c:v>FY25</c:v>
                </c:pt>
              </c:strCache>
            </c:strRef>
          </c:cat>
          <c:val>
            <c:numRef>
              <c:f>工作表1!$B$2:$B$9</c:f>
              <c:numCache>
                <c:formatCode>General</c:formatCode>
                <c:ptCount val="8"/>
                <c:pt idx="0">
                  <c:v>1.4</c:v>
                </c:pt>
                <c:pt idx="1">
                  <c:v>1.41</c:v>
                </c:pt>
                <c:pt idx="2">
                  <c:v>1.55</c:v>
                </c:pt>
                <c:pt idx="3">
                  <c:v>1.1200000000000001</c:v>
                </c:pt>
                <c:pt idx="4">
                  <c:v>1</c:v>
                </c:pt>
                <c:pt idx="5">
                  <c:v>0.97</c:v>
                </c:pt>
                <c:pt idx="6">
                  <c:v>0.79</c:v>
                </c:pt>
                <c:pt idx="7">
                  <c:v>0.77</c:v>
                </c:pt>
              </c:numCache>
            </c:numRef>
          </c:val>
          <c:extLst>
            <c:ext xmlns:c16="http://schemas.microsoft.com/office/drawing/2014/chart" uri="{C3380CC4-5D6E-409C-BE32-E72D297353CC}">
              <c16:uniqueId val="{00000001-4D9C-4A52-AD8F-AFE8FE0F5E36}"/>
            </c:ext>
          </c:extLst>
        </c:ser>
        <c:ser>
          <c:idx val="1"/>
          <c:order val="1"/>
          <c:tx>
            <c:strRef>
              <c:f>工作表1!$C$1</c:f>
              <c:strCache>
                <c:ptCount val="1"/>
                <c:pt idx="0">
                  <c:v>淨債務/EBITDA</c:v>
                </c:pt>
              </c:strCache>
            </c:strRef>
          </c:tx>
          <c:spPr>
            <a:solidFill>
              <a:schemeClr val="accent1">
                <a:shade val="76000"/>
              </a:schemeClr>
            </a:solidFill>
            <a:ln>
              <a:noFill/>
            </a:ln>
            <a:effectLst/>
          </c:spPr>
          <c:invertIfNegative val="0"/>
          <c:dLbls>
            <c:dLbl>
              <c:idx val="7"/>
              <c:layout>
                <c:manualLayout>
                  <c:x val="-3.5269381705523061E-3"/>
                  <c:y val="-3.05779227397818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149-4E17-B3E4-9406223F6331}"/>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工作表1!$A$2:$A$9</c:f>
              <c:strCache>
                <c:ptCount val="8"/>
                <c:pt idx="0">
                  <c:v>FY18</c:v>
                </c:pt>
                <c:pt idx="1">
                  <c:v>FY19</c:v>
                </c:pt>
                <c:pt idx="2">
                  <c:v>FY20</c:v>
                </c:pt>
                <c:pt idx="3">
                  <c:v>FY21</c:v>
                </c:pt>
                <c:pt idx="4">
                  <c:v>FY22</c:v>
                </c:pt>
                <c:pt idx="5">
                  <c:v>FY23</c:v>
                </c:pt>
                <c:pt idx="6">
                  <c:v>FY24</c:v>
                </c:pt>
                <c:pt idx="7">
                  <c:v>FY25</c:v>
                </c:pt>
              </c:strCache>
            </c:strRef>
          </c:cat>
          <c:val>
            <c:numRef>
              <c:f>工作表1!$C$2:$C$9</c:f>
              <c:numCache>
                <c:formatCode>General</c:formatCode>
                <c:ptCount val="8"/>
                <c:pt idx="0">
                  <c:v>-1.5</c:v>
                </c:pt>
                <c:pt idx="1">
                  <c:v>-1.28</c:v>
                </c:pt>
                <c:pt idx="2">
                  <c:v>-0.88</c:v>
                </c:pt>
                <c:pt idx="3">
                  <c:v>-0.44</c:v>
                </c:pt>
                <c:pt idx="4">
                  <c:v>-0.28000000000000003</c:v>
                </c:pt>
                <c:pt idx="5">
                  <c:v>-0.3</c:v>
                </c:pt>
                <c:pt idx="6">
                  <c:v>-0.35</c:v>
                </c:pt>
                <c:pt idx="7">
                  <c:v>-0.14000000000000001</c:v>
                </c:pt>
              </c:numCache>
            </c:numRef>
          </c:val>
          <c:extLst>
            <c:ext xmlns:c16="http://schemas.microsoft.com/office/drawing/2014/chart" uri="{C3380CC4-5D6E-409C-BE32-E72D297353CC}">
              <c16:uniqueId val="{00000003-4D9C-4A52-AD8F-AFE8FE0F5E36}"/>
            </c:ext>
          </c:extLst>
        </c:ser>
        <c:dLbls>
          <c:showLegendKey val="0"/>
          <c:showVal val="0"/>
          <c:showCatName val="0"/>
          <c:showSerName val="0"/>
          <c:showPercent val="0"/>
          <c:showBubbleSize val="0"/>
        </c:dLbls>
        <c:gapWidth val="138"/>
        <c:overlap val="-16"/>
        <c:axId val="890083992"/>
        <c:axId val="890084648"/>
      </c:barChart>
      <c:catAx>
        <c:axId val="89008399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TW"/>
          </a:p>
        </c:txPr>
        <c:crossAx val="890084648"/>
        <c:crosses val="autoZero"/>
        <c:auto val="1"/>
        <c:lblAlgn val="ctr"/>
        <c:lblOffset val="100"/>
        <c:noMultiLvlLbl val="0"/>
      </c:catAx>
      <c:valAx>
        <c:axId val="89008464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TW"/>
          </a:p>
        </c:txPr>
        <c:crossAx val="890083992"/>
        <c:crosses val="autoZero"/>
        <c:crossBetween val="between"/>
      </c:valAx>
      <c:spPr>
        <a:noFill/>
        <a:ln>
          <a:noFill/>
        </a:ln>
        <a:effectLst/>
      </c:spPr>
    </c:plotArea>
    <c:legend>
      <c:legendPos val="t"/>
      <c:layout>
        <c:manualLayout>
          <c:xMode val="edge"/>
          <c:yMode val="edge"/>
          <c:x val="0.15930485437216751"/>
          <c:y val="1.65016501650165E-2"/>
          <c:w val="0.79425231271333463"/>
          <c:h val="0.17518193551930575"/>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Arial" panose="020B0604020202020204" pitchFamily="34" charset="0"/>
            </a:defRPr>
          </a:pPr>
          <a:endParaRPr lang="zh-TW"/>
        </a:p>
      </c:txPr>
    </c:legend>
    <c:plotVisOnly val="1"/>
    <c:dispBlanksAs val="gap"/>
    <c:showDLblsOverMax val="0"/>
  </c:chart>
  <c:spPr>
    <a:noFill/>
    <a:ln>
      <a:noFill/>
    </a:ln>
    <a:effectLst/>
  </c:spPr>
  <c:txPr>
    <a:bodyPr/>
    <a:lstStyle/>
    <a:p>
      <a:pPr>
        <a:defRPr sz="800">
          <a:latin typeface="Arial" panose="020B0604020202020204" pitchFamily="34" charset="0"/>
          <a:cs typeface="Arial" panose="020B0604020202020204" pitchFamily="34" charset="0"/>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Reversed" id="21">
  <a:schemeClr val="accent1"/>
</cs:colorStyle>
</file>

<file path=ppt/charts/colors7.xml><?xml version="1.0" encoding="utf-8"?>
<cs:colorStyle xmlns:cs="http://schemas.microsoft.com/office/drawing/2012/chartStyle" xmlns:a="http://schemas.openxmlformats.org/drawingml/2006/main" meth="withinLinearReversed" id="21">
  <a:schemeClr val="accent1"/>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withinLinearReversed" id="21">
  <a:schemeClr val="accent1"/>
</cs:colorStyle>
</file>

<file path=ppt/charts/colors10.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2"/>
            <a:ext cx="2950052" cy="497126"/>
          </a:xfrm>
          <a:prstGeom prst="rect">
            <a:avLst/>
          </a:prstGeom>
        </p:spPr>
        <p:txBody>
          <a:bodyPr vert="horz" lIns="91468" tIns="45733" rIns="91468" bIns="45733" rtlCol="0"/>
          <a:lstStyle>
            <a:lvl1pPr algn="l">
              <a:defRPr sz="1200"/>
            </a:lvl1pPr>
          </a:lstStyle>
          <a:p>
            <a:endParaRPr lang="zh-TW" altLang="en-US"/>
          </a:p>
        </p:txBody>
      </p:sp>
      <p:sp>
        <p:nvSpPr>
          <p:cNvPr id="3" name="日期版面配置區 2"/>
          <p:cNvSpPr>
            <a:spLocks noGrp="1"/>
          </p:cNvSpPr>
          <p:nvPr>
            <p:ph type="dt" sz="quarter" idx="1"/>
          </p:nvPr>
        </p:nvSpPr>
        <p:spPr>
          <a:xfrm>
            <a:off x="3855563" y="2"/>
            <a:ext cx="2950051" cy="497126"/>
          </a:xfrm>
          <a:prstGeom prst="rect">
            <a:avLst/>
          </a:prstGeom>
        </p:spPr>
        <p:txBody>
          <a:bodyPr vert="horz" lIns="91468" tIns="45733" rIns="91468" bIns="45733" rtlCol="0"/>
          <a:lstStyle>
            <a:lvl1pPr algn="r">
              <a:defRPr sz="1200"/>
            </a:lvl1pPr>
          </a:lstStyle>
          <a:p>
            <a:fld id="{DB0088FA-AB4C-4EE3-831C-E6A5D9B6A47F}" type="datetimeFigureOut">
              <a:rPr lang="zh-TW" altLang="en-US" smtClean="0"/>
              <a:t>2026/4/13</a:t>
            </a:fld>
            <a:endParaRPr lang="zh-TW" altLang="en-US"/>
          </a:p>
        </p:txBody>
      </p:sp>
      <p:sp>
        <p:nvSpPr>
          <p:cNvPr id="4" name="頁尾版面配置區 3"/>
          <p:cNvSpPr>
            <a:spLocks noGrp="1"/>
          </p:cNvSpPr>
          <p:nvPr>
            <p:ph type="ftr" sz="quarter" idx="2"/>
          </p:nvPr>
        </p:nvSpPr>
        <p:spPr>
          <a:xfrm>
            <a:off x="0" y="9440624"/>
            <a:ext cx="2950052" cy="497126"/>
          </a:xfrm>
          <a:prstGeom prst="rect">
            <a:avLst/>
          </a:prstGeom>
        </p:spPr>
        <p:txBody>
          <a:bodyPr vert="horz" lIns="91468" tIns="45733" rIns="91468" bIns="45733"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563" y="9440624"/>
            <a:ext cx="2950051" cy="497126"/>
          </a:xfrm>
          <a:prstGeom prst="rect">
            <a:avLst/>
          </a:prstGeom>
        </p:spPr>
        <p:txBody>
          <a:bodyPr vert="horz" lIns="91468" tIns="45733" rIns="91468" bIns="45733" rtlCol="0" anchor="b"/>
          <a:lstStyle>
            <a:lvl1pPr algn="r">
              <a:defRPr sz="1200"/>
            </a:lvl1pPr>
          </a:lstStyle>
          <a:p>
            <a:fld id="{E6DE1C6A-2ED3-47EA-84F1-8271108DD2DB}" type="slidenum">
              <a:rPr lang="zh-TW" altLang="en-US" smtClean="0"/>
              <a:t>‹#›</a:t>
            </a:fld>
            <a:endParaRPr lang="zh-TW" altLang="en-US"/>
          </a:p>
        </p:txBody>
      </p:sp>
    </p:spTree>
    <p:extLst>
      <p:ext uri="{BB962C8B-B14F-4D97-AF65-F5344CB8AC3E}">
        <p14:creationId xmlns:p14="http://schemas.microsoft.com/office/powerpoint/2010/main" val="2103890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9" y="2"/>
            <a:ext cx="2949786" cy="496967"/>
          </a:xfrm>
          <a:prstGeom prst="rect">
            <a:avLst/>
          </a:prstGeom>
        </p:spPr>
        <p:txBody>
          <a:bodyPr vert="horz" lIns="91160" tIns="45572" rIns="91160" bIns="45572"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160" tIns="45572" rIns="91160" bIns="45572" rtlCol="0"/>
          <a:lstStyle>
            <a:lvl1pPr algn="r">
              <a:defRPr sz="1200"/>
            </a:lvl1pPr>
          </a:lstStyle>
          <a:p>
            <a:fld id="{35708A9D-C909-4D66-A4DC-8E952B844F82}" type="datetimeFigureOut">
              <a:rPr lang="zh-TW" altLang="en-US" smtClean="0"/>
              <a:t>2026/4/13</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160" tIns="45572" rIns="91160" bIns="45572"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160" tIns="45572" rIns="91160" bIns="45572"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29" y="9440676"/>
            <a:ext cx="2949786" cy="496967"/>
          </a:xfrm>
          <a:prstGeom prst="rect">
            <a:avLst/>
          </a:prstGeom>
        </p:spPr>
        <p:txBody>
          <a:bodyPr vert="horz" lIns="91160" tIns="45572" rIns="91160" bIns="45572"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76"/>
            <a:ext cx="2949786" cy="496967"/>
          </a:xfrm>
          <a:prstGeom prst="rect">
            <a:avLst/>
          </a:prstGeom>
        </p:spPr>
        <p:txBody>
          <a:bodyPr vert="horz" lIns="91160" tIns="45572" rIns="91160" bIns="45572" rtlCol="0" anchor="b"/>
          <a:lstStyle>
            <a:lvl1pPr algn="r">
              <a:defRPr sz="1200"/>
            </a:lvl1pPr>
          </a:lstStyle>
          <a:p>
            <a:fld id="{677EE9C5-7ACF-43E8-ABC9-16737D2E075F}" type="slidenum">
              <a:rPr lang="zh-TW" altLang="en-US" smtClean="0"/>
              <a:t>‹#›</a:t>
            </a:fld>
            <a:endParaRPr lang="zh-TW" altLang="en-US"/>
          </a:p>
        </p:txBody>
      </p:sp>
    </p:spTree>
    <p:extLst>
      <p:ext uri="{BB962C8B-B14F-4D97-AF65-F5344CB8AC3E}">
        <p14:creationId xmlns:p14="http://schemas.microsoft.com/office/powerpoint/2010/main" val="225193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全球智慧型手機製造商第一名</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https://www.techbang.com/posts/126308-global-smartphone-revenue-record-apple-samsung-vivo</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全球品牌價值第一名</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https://static.brandirectory.com/reports/brand-finance-global-500-2025-preview.pdf</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美國</a:t>
            </a:r>
            <a:r>
              <a:rPr lang="en-US" altLang="zh-TW" dirty="0">
                <a:latin typeface="微軟正黑體" panose="020B0604030504040204" pitchFamily="34" charset="-120"/>
                <a:ea typeface="微軟正黑體" panose="020B0604030504040204" pitchFamily="34" charset="-120"/>
              </a:rPr>
              <a:t>500</a:t>
            </a:r>
            <a:r>
              <a:rPr lang="zh-TW" altLang="en-US" dirty="0">
                <a:latin typeface="微軟正黑體" panose="020B0604030504040204" pitchFamily="34" charset="-120"/>
                <a:ea typeface="微軟正黑體" panose="020B0604030504040204" pitchFamily="34" charset="-120"/>
              </a:rPr>
              <a:t>強獲利第二名</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https://fortune.com/ranking/fortune500/</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4. iPhone17</a:t>
            </a:r>
            <a:r>
              <a:rPr lang="zh-TW" altLang="en-US" dirty="0">
                <a:latin typeface="微軟正黑體" panose="020B0604030504040204" pitchFamily="34" charset="-120"/>
                <a:ea typeface="微軟正黑體" panose="020B0604030504040204" pitchFamily="34" charset="-120"/>
              </a:rPr>
              <a:t>因部分</a:t>
            </a:r>
            <a:r>
              <a:rPr lang="en-US" altLang="zh-TW" dirty="0">
                <a:latin typeface="微軟正黑體" panose="020B0604030504040204" pitchFamily="34" charset="-120"/>
                <a:ea typeface="微軟正黑體" panose="020B0604030504040204" pitchFamily="34" charset="-120"/>
              </a:rPr>
              <a:t>Pro</a:t>
            </a:r>
            <a:r>
              <a:rPr lang="zh-TW" altLang="en-US" dirty="0">
                <a:latin typeface="微軟正黑體" panose="020B0604030504040204" pitchFamily="34" charset="-120"/>
                <a:ea typeface="微軟正黑體" panose="020B0604030504040204" pitchFamily="34" charset="-120"/>
              </a:rPr>
              <a:t>功能帶來強烈性價比</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https://counterpointresearch.com/en/insights/apple-iphone-market-share</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5.</a:t>
            </a:r>
            <a:r>
              <a:rPr lang="zh-TW" altLang="en-US" dirty="0">
                <a:latin typeface="微軟正黑體" panose="020B0604030504040204" pitchFamily="34" charset="-120"/>
                <a:ea typeface="微軟正黑體" panose="020B0604030504040204" pitchFamily="34" charset="-120"/>
              </a:rPr>
              <a:t>營運表現</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https://www.apple.com/newsroom/pdfs/fy2025-q4/FY25_Q4_Consolidated_Financial_Statements.pdf</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br>
              <a:rPr lang="zh-TW" altLang="en-US" dirty="0"/>
            </a:br>
            <a:r>
              <a:rPr lang="zh-TW" altLang="en-US" b="1" i="0" dirty="0">
                <a:solidFill>
                  <a:srgbClr val="455F7C"/>
                </a:solidFill>
                <a:effectLst/>
                <a:latin typeface="Open Sans" panose="020B0606030504020204" pitchFamily="34" charset="0"/>
              </a:rPr>
              <a:t>蘋果活躍設備數量突破</a:t>
            </a:r>
            <a:r>
              <a:rPr lang="en-US" altLang="zh-TW" b="1" i="0" dirty="0">
                <a:solidFill>
                  <a:srgbClr val="455F7C"/>
                </a:solidFill>
                <a:effectLst/>
                <a:latin typeface="Open Sans" panose="020B0606030504020204" pitchFamily="34" charset="0"/>
              </a:rPr>
              <a:t>25</a:t>
            </a:r>
            <a:r>
              <a:rPr lang="zh-TW" altLang="en-US" b="1" i="0" dirty="0">
                <a:solidFill>
                  <a:srgbClr val="455F7C"/>
                </a:solidFill>
                <a:effectLst/>
                <a:latin typeface="Open Sans" panose="020B0606030504020204" pitchFamily="34" charset="0"/>
              </a:rPr>
              <a:t>億</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https://www.statista.com/chart/35762/apple-installed-base-of-active-devices/#:~:text=Aside%20from%20new%20sales%20and,segment%20can't%20stop%20growing.</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b="1" i="0" dirty="0">
                <a:solidFill>
                  <a:srgbClr val="000000"/>
                </a:solidFill>
                <a:effectLst/>
                <a:latin typeface="Bricolage Grotesque"/>
              </a:rPr>
              <a:t>Number of subscribers to iOS apps</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https://www.businessofapps.com/data/apple-statistics/</a:t>
            </a:r>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2</a:t>
            </a:fld>
            <a:endParaRPr lang="zh-TW" altLang="en-US"/>
          </a:p>
        </p:txBody>
      </p:sp>
    </p:spTree>
    <p:extLst>
      <p:ext uri="{BB962C8B-B14F-4D97-AF65-F5344CB8AC3E}">
        <p14:creationId xmlns:p14="http://schemas.microsoft.com/office/powerpoint/2010/main" val="3679305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en-US" altLang="zh-TW" dirty="0"/>
              <a:t>1.</a:t>
            </a:r>
            <a:r>
              <a:rPr lang="zh-TW" altLang="en-US" dirty="0">
                <a:latin typeface="微軟正黑體" panose="020B0604030504040204" pitchFamily="34" charset="-120"/>
                <a:ea typeface="微軟正黑體" panose="020B0604030504040204" pitchFamily="34" charset="-120"/>
              </a:rPr>
              <a:t>全球品牌價值第一名</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https://static.brandirectory.com/reports/brand-finance-global-500-2025-preview.pdf</a:t>
            </a:r>
          </a:p>
          <a:p>
            <a:pPr algn="l"/>
            <a:endParaRPr lang="en-US" altLang="zh-TW" dirty="0"/>
          </a:p>
          <a:p>
            <a:pPr algn="l"/>
            <a:r>
              <a:rPr lang="en-US" altLang="zh-TW" dirty="0"/>
              <a:t>2.</a:t>
            </a:r>
            <a:r>
              <a:rPr lang="zh-TW" altLang="en-US" dirty="0"/>
              <a:t>蘋果手機收入第一名</a:t>
            </a:r>
            <a:endParaRPr lang="en-US" altLang="zh-TW" dirty="0"/>
          </a:p>
          <a:p>
            <a:pPr algn="l"/>
            <a:r>
              <a:rPr lang="en-US" altLang="zh-TW" dirty="0"/>
              <a:t>https://www.techbang.com/posts/126308-global-smartphone-revenue-record-apple-samsung-vivo</a:t>
            </a:r>
          </a:p>
          <a:p>
            <a:pPr algn="l"/>
            <a:endParaRPr lang="en-US" altLang="zh-TW" dirty="0"/>
          </a:p>
          <a:p>
            <a:pPr algn="l"/>
            <a:r>
              <a:rPr lang="en-US" altLang="zh-TW" dirty="0"/>
              <a:t>3.Fortune</a:t>
            </a:r>
            <a:r>
              <a:rPr lang="zh-TW" altLang="en-US" dirty="0"/>
              <a:t>全球</a:t>
            </a:r>
            <a:r>
              <a:rPr lang="en-US" altLang="zh-TW" dirty="0"/>
              <a:t>500</a:t>
            </a:r>
            <a:r>
              <a:rPr lang="zh-TW" altLang="en-US" dirty="0"/>
              <a:t>強排名</a:t>
            </a:r>
            <a:endParaRPr lang="en-US" altLang="zh-TW" dirty="0"/>
          </a:p>
          <a:p>
            <a:pPr algn="l"/>
            <a:r>
              <a:rPr lang="en-US" altLang="zh-TW" dirty="0"/>
              <a:t>https://fortune.com/ranking/global500/?fg500_country=U.S.</a:t>
            </a:r>
          </a:p>
          <a:p>
            <a:pPr algn="l"/>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4. IDC</a:t>
            </a:r>
            <a:r>
              <a:rPr lang="zh-TW" altLang="en-US" dirty="0"/>
              <a:t>穿戴式設備市佔率</a:t>
            </a:r>
            <a:endParaRPr lang="en-US" altLang="zh-TW" dirty="0"/>
          </a:p>
          <a:p>
            <a:pPr algn="l"/>
            <a:r>
              <a:rPr lang="en-US" altLang="zh-TW" dirty="0"/>
              <a:t>https://www.idc.com/promo/wearablevendor/</a:t>
            </a:r>
          </a:p>
          <a:p>
            <a:pPr algn="l"/>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latin typeface="微軟正黑體" panose="020B0604030504040204" pitchFamily="34" charset="-120"/>
                <a:ea typeface="微軟正黑體" panose="020B0604030504040204" pitchFamily="34" charset="-120"/>
              </a:rPr>
              <a:t>4Q25</a:t>
            </a:r>
            <a:r>
              <a:rPr lang="zh-TW" altLang="en-US" sz="1200" b="0" dirty="0">
                <a:latin typeface="微軟正黑體" panose="020B0604030504040204" pitchFamily="34" charset="-120"/>
                <a:ea typeface="微軟正黑體" panose="020B0604030504040204" pitchFamily="34" charset="-120"/>
              </a:rPr>
              <a:t>全球十大暢銷手機榜單中奪</a:t>
            </a:r>
            <a:r>
              <a:rPr lang="en-US" altLang="zh-TW" sz="1200" b="0" dirty="0">
                <a:latin typeface="微軟正黑體" panose="020B0604030504040204" pitchFamily="34" charset="-120"/>
                <a:ea typeface="微軟正黑體" panose="020B0604030504040204" pitchFamily="34" charset="-120"/>
              </a:rPr>
              <a:t>5</a:t>
            </a:r>
            <a:r>
              <a:rPr lang="zh-TW" altLang="en-US" sz="1200" b="0" dirty="0">
                <a:latin typeface="微軟正黑體" panose="020B0604030504040204" pitchFamily="34" charset="-120"/>
                <a:ea typeface="微軟正黑體" panose="020B0604030504040204" pitchFamily="34" charset="-120"/>
              </a:rPr>
              <a:t>席</a:t>
            </a:r>
            <a:endParaRPr lang="en-US" altLang="zh-TW" b="0" dirty="0"/>
          </a:p>
          <a:p>
            <a:pPr algn="l"/>
            <a:r>
              <a:rPr lang="en-US" altLang="zh-TW" dirty="0"/>
              <a:t>https://technews.tw/2026/04/09/global-smartphone-sales-top-10-best-sellers/</a:t>
            </a:r>
          </a:p>
          <a:p>
            <a:pPr algn="l"/>
            <a:endParaRPr lang="en-US" altLang="zh-TW" dirty="0"/>
          </a:p>
          <a:p>
            <a:pPr algn="l"/>
            <a:r>
              <a:rPr lang="zh-TW" altLang="en-US" b="0" i="0" dirty="0">
                <a:solidFill>
                  <a:srgbClr val="041427"/>
                </a:solidFill>
                <a:effectLst/>
                <a:latin typeface="Verdana" panose="020B0604030504040204" pitchFamily="34" charset="0"/>
              </a:rPr>
              <a:t>三星以 </a:t>
            </a:r>
            <a:r>
              <a:rPr lang="en-US" altLang="zh-TW" b="0" i="0" dirty="0">
                <a:solidFill>
                  <a:srgbClr val="041427"/>
                </a:solidFill>
                <a:effectLst/>
                <a:latin typeface="Verdana" panose="020B0604030504040204" pitchFamily="34" charset="0"/>
              </a:rPr>
              <a:t>19% </a:t>
            </a:r>
            <a:r>
              <a:rPr lang="zh-TW" altLang="en-US" b="0" i="0" dirty="0">
                <a:solidFill>
                  <a:srgbClr val="041427"/>
                </a:solidFill>
                <a:effectLst/>
                <a:latin typeface="Verdana" panose="020B0604030504040204" pitchFamily="34" charset="0"/>
              </a:rPr>
              <a:t>的市佔率和 </a:t>
            </a:r>
            <a:r>
              <a:rPr lang="en-US" altLang="zh-TW" b="0" i="0" dirty="0">
                <a:solidFill>
                  <a:srgbClr val="041427"/>
                </a:solidFill>
                <a:effectLst/>
                <a:latin typeface="Verdana" panose="020B0604030504040204" pitchFamily="34" charset="0"/>
              </a:rPr>
              <a:t>5% </a:t>
            </a:r>
            <a:r>
              <a:rPr lang="zh-TW" altLang="en-US" b="0" i="0" dirty="0">
                <a:solidFill>
                  <a:srgbClr val="041427"/>
                </a:solidFill>
                <a:effectLst/>
                <a:latin typeface="Verdana" panose="020B0604030504040204" pitchFamily="34" charset="0"/>
              </a:rPr>
              <a:t>的出貨量成長位居第二，僅次於蘋果</a:t>
            </a:r>
            <a:endParaRPr lang="en-US" altLang="zh-TW" b="0" i="0" dirty="0">
              <a:solidFill>
                <a:srgbClr val="041427"/>
              </a:solidFill>
              <a:effectLst/>
              <a:latin typeface="Verdana" panose="020B0604030504040204" pitchFamily="34" charset="0"/>
            </a:endParaRPr>
          </a:p>
          <a:p>
            <a:pPr algn="l"/>
            <a:r>
              <a:rPr lang="en-US" altLang="zh-TW" dirty="0"/>
              <a:t>https://www.macrumors.com/2026/01/12/apple-tops-2025-smartphone-market/</a:t>
            </a:r>
            <a:endParaRPr lang="zh-TW" altLang="en-US" dirty="0"/>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3</a:t>
            </a:fld>
            <a:endParaRPr lang="zh-TW" altLang="en-US"/>
          </a:p>
        </p:txBody>
      </p:sp>
    </p:spTree>
    <p:extLst>
      <p:ext uri="{BB962C8B-B14F-4D97-AF65-F5344CB8AC3E}">
        <p14:creationId xmlns:p14="http://schemas.microsoft.com/office/powerpoint/2010/main" val="2392941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4</a:t>
            </a:fld>
            <a:endParaRPr lang="zh-TW" altLang="en-US"/>
          </a:p>
        </p:txBody>
      </p:sp>
    </p:spTree>
    <p:extLst>
      <p:ext uri="{BB962C8B-B14F-4D97-AF65-F5344CB8AC3E}">
        <p14:creationId xmlns:p14="http://schemas.microsoft.com/office/powerpoint/2010/main" val="39255127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標題投影片">
    <p:spTree>
      <p:nvGrpSpPr>
        <p:cNvPr id="1" name=""/>
        <p:cNvGrpSpPr/>
        <p:nvPr/>
      </p:nvGrpSpPr>
      <p:grpSpPr>
        <a:xfrm>
          <a:off x="0" y="0"/>
          <a:ext cx="0" cy="0"/>
          <a:chOff x="0" y="0"/>
          <a:chExt cx="0" cy="0"/>
        </a:xfrm>
      </p:grpSpPr>
      <p:sp>
        <p:nvSpPr>
          <p:cNvPr id="11" name="副標題 2"/>
          <p:cNvSpPr>
            <a:spLocks noGrp="1"/>
          </p:cNvSpPr>
          <p:nvPr>
            <p:ph type="subTitle" idx="1"/>
          </p:nvPr>
        </p:nvSpPr>
        <p:spPr>
          <a:xfrm>
            <a:off x="1926186" y="3501008"/>
            <a:ext cx="4320000" cy="432048"/>
          </a:xfrm>
          <a:prstGeom prst="rect">
            <a:avLst/>
          </a:prstGeom>
        </p:spPr>
        <p:txBody>
          <a:bodyPr>
            <a:noAutofit/>
          </a:bodyPr>
          <a:lstStyle>
            <a:lvl1pPr marL="0" marR="0" indent="0" algn="l" defTabSz="685800" rtl="0" eaLnBrk="1" fontAlgn="auto" latinLnBrk="0" hangingPunct="1">
              <a:lnSpc>
                <a:spcPct val="100000"/>
              </a:lnSpc>
              <a:spcBef>
                <a:spcPct val="20000"/>
              </a:spcBef>
              <a:spcAft>
                <a:spcPts val="0"/>
              </a:spcAft>
              <a:buClrTx/>
              <a:buSzTx/>
              <a:buFontTx/>
              <a:buNone/>
              <a:tabLst/>
              <a:defRPr sz="1800" b="1">
                <a:solidFill>
                  <a:schemeClr val="bg1">
                    <a:lumMod val="50000"/>
                  </a:schemeClr>
                </a:solidFill>
                <a:latin typeface="微軟正黑體" pitchFamily="34" charset="-120"/>
                <a:ea typeface="微軟正黑體" pitchFamily="34" charset="-12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dirty="0"/>
              <a:t>按一下以編輯母片副標題樣式</a:t>
            </a:r>
          </a:p>
        </p:txBody>
      </p:sp>
      <p:sp>
        <p:nvSpPr>
          <p:cNvPr id="17" name="標題 1"/>
          <p:cNvSpPr>
            <a:spLocks noGrp="1"/>
          </p:cNvSpPr>
          <p:nvPr>
            <p:ph type="ctrTitle"/>
          </p:nvPr>
        </p:nvSpPr>
        <p:spPr>
          <a:xfrm>
            <a:off x="1871700" y="2771403"/>
            <a:ext cx="4860000" cy="576064"/>
          </a:xfrm>
          <a:prstGeom prst="rect">
            <a:avLst/>
          </a:prstGeom>
        </p:spPr>
        <p:txBody>
          <a:bodyPr>
            <a:noAutofit/>
          </a:bodyPr>
          <a:lstStyle>
            <a:lvl1pPr algn="l">
              <a:defRPr sz="3000" b="1">
                <a:solidFill>
                  <a:schemeClr val="bg1">
                    <a:lumMod val="50000"/>
                  </a:schemeClr>
                </a:solidFill>
                <a:latin typeface="微軟正黑體" pitchFamily="34" charset="-120"/>
                <a:ea typeface="微軟正黑體" pitchFamily="34" charset="-120"/>
              </a:defRPr>
            </a:lvl1pPr>
          </a:lstStyle>
          <a:p>
            <a:r>
              <a:rPr lang="zh-TW" altLang="en-US" dirty="0"/>
              <a:t>按一下以編輯母片標題樣式</a:t>
            </a:r>
          </a:p>
        </p:txBody>
      </p:sp>
      <p:pic>
        <p:nvPicPr>
          <p:cNvPr id="3" name="图片 2">
            <a:extLst>
              <a:ext uri="{FF2B5EF4-FFF2-40B4-BE49-F238E27FC236}">
                <a16:creationId xmlns:a16="http://schemas.microsoft.com/office/drawing/2014/main" id="{7A7DB523-7990-4024-ADA2-E061F0DAD6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32240" y="2845174"/>
            <a:ext cx="1584176" cy="583155"/>
          </a:xfrm>
          <a:prstGeom prst="rect">
            <a:avLst/>
          </a:prstGeom>
        </p:spPr>
      </p:pic>
      <p:cxnSp>
        <p:nvCxnSpPr>
          <p:cNvPr id="9" name="直接连接符 14">
            <a:extLst>
              <a:ext uri="{FF2B5EF4-FFF2-40B4-BE49-F238E27FC236}">
                <a16:creationId xmlns:a16="http://schemas.microsoft.com/office/drawing/2014/main" id="{EC0A9803-A926-48F3-9681-2B42C0C06D43}"/>
              </a:ext>
            </a:extLst>
          </p:cNvPr>
          <p:cNvCxnSpPr>
            <a:cxnSpLocks/>
          </p:cNvCxnSpPr>
          <p:nvPr userDrawn="1"/>
        </p:nvCxnSpPr>
        <p:spPr>
          <a:xfrm flipH="1">
            <a:off x="0" y="3429000"/>
            <a:ext cx="8082390"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cxnSp>
        <p:nvCxnSpPr>
          <p:cNvPr id="12"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5964485"/>
            <a:ext cx="3550109" cy="0"/>
          </a:xfrm>
          <a:prstGeom prst="line">
            <a:avLst/>
          </a:prstGeom>
          <a:ln w="28575">
            <a:gradFill flip="none" rotWithShape="1">
              <a:gsLst>
                <a:gs pos="100000">
                  <a:schemeClr val="bg1">
                    <a:lumMod val="75000"/>
                    <a:alpha val="0"/>
                  </a:schemeClr>
                </a:gs>
                <a:gs pos="0">
                  <a:schemeClr val="bg1">
                    <a:lumMod val="85000"/>
                  </a:schemeClr>
                </a:gs>
              </a:gsLst>
              <a:lin ang="0" scaled="1"/>
              <a:tileRect/>
            </a:gra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sp>
        <p:nvSpPr>
          <p:cNvPr id="4" name="文字方塊 3"/>
          <p:cNvSpPr txBox="1"/>
          <p:nvPr userDrawn="1"/>
        </p:nvSpPr>
        <p:spPr>
          <a:xfrm>
            <a:off x="497592" y="5579948"/>
            <a:ext cx="2608406" cy="300082"/>
          </a:xfrm>
          <a:prstGeom prst="rect">
            <a:avLst/>
          </a:prstGeom>
          <a:noFill/>
        </p:spPr>
        <p:txBody>
          <a:bodyPr wrap="none" rtlCol="0">
            <a:spAutoFit/>
          </a:bodyPr>
          <a:lstStyle/>
          <a:p>
            <a:r>
              <a:rPr lang="zh-TW" altLang="en-US" sz="1350" b="1" dirty="0">
                <a:solidFill>
                  <a:schemeClr val="bg1">
                    <a:lumMod val="50000"/>
                  </a:schemeClr>
                </a:solidFill>
              </a:rPr>
              <a:t>國外固定利率債券發行機構簡介</a:t>
            </a:r>
          </a:p>
        </p:txBody>
      </p:sp>
      <p:sp>
        <p:nvSpPr>
          <p:cNvPr id="8" name="文字方塊 7"/>
          <p:cNvSpPr txBox="1"/>
          <p:nvPr userDrawn="1"/>
        </p:nvSpPr>
        <p:spPr>
          <a:xfrm>
            <a:off x="6246186" y="3429000"/>
            <a:ext cx="1890210" cy="300082"/>
          </a:xfrm>
          <a:prstGeom prst="rect">
            <a:avLst/>
          </a:prstGeom>
          <a:noFill/>
        </p:spPr>
        <p:txBody>
          <a:bodyPr wrap="square" rtlCol="0">
            <a:spAutoFit/>
          </a:bodyPr>
          <a:lstStyle/>
          <a:p>
            <a:pPr algn="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B2B</a:t>
            </a:r>
            <a:r>
              <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 </a:t>
            </a: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TEAM</a:t>
            </a:r>
            <a:endPar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964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5" y="980728"/>
            <a:ext cx="8213303" cy="5220000"/>
          </a:xfrm>
          <a:prstGeom prst="rect">
            <a:avLst/>
          </a:prstGeom>
        </p:spPr>
        <p:txBody>
          <a:bodyPr/>
          <a:lstStyle>
            <a:lvl1pPr marL="257175" indent="-257175">
              <a:buFont typeface="Wingdings" panose="05000000000000000000" pitchFamily="2" charset="2"/>
              <a:buChar char="n"/>
              <a:defRPr sz="1800">
                <a:latin typeface="微軟正黑體" pitchFamily="34" charset="-120"/>
                <a:ea typeface="微軟正黑體" pitchFamily="34" charset="-120"/>
              </a:defRPr>
            </a:lvl1pPr>
            <a:lvl2pPr>
              <a:defRPr sz="1500" b="0">
                <a:latin typeface="微軟正黑體" pitchFamily="34" charset="-120"/>
                <a:ea typeface="微軟正黑體" pitchFamily="34" charset="-120"/>
              </a:defRPr>
            </a:lvl2pPr>
            <a:lvl3pPr>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zh-TW" altLang="en-US" dirty="0"/>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35811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073CA6E-B980-4BED-B859-79E8C0786146}"/>
              </a:ext>
            </a:extLst>
          </p:cNvPr>
          <p:cNvSpPr/>
          <p:nvPr userDrawn="1"/>
        </p:nvSpPr>
        <p:spPr>
          <a:xfrm>
            <a:off x="6732240" y="0"/>
            <a:ext cx="241176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cxnSp>
        <p:nvCxnSpPr>
          <p:cNvPr id="4" name="直接连接符 14">
            <a:extLst>
              <a:ext uri="{FF2B5EF4-FFF2-40B4-BE49-F238E27FC236}">
                <a16:creationId xmlns:a16="http://schemas.microsoft.com/office/drawing/2014/main" id="{7D116BA9-9B78-42D3-9A3A-32518048A7C5}"/>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pic>
        <p:nvPicPr>
          <p:cNvPr id="9" name="圖片 8" descr="一張含有 文字 的圖片&#10;&#10;自動產生的描述">
            <a:extLst>
              <a:ext uri="{FF2B5EF4-FFF2-40B4-BE49-F238E27FC236}">
                <a16:creationId xmlns:a16="http://schemas.microsoft.com/office/drawing/2014/main" id="{EDD6439E-0668-40EB-8EE8-43DD01AC00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8248" y="6497912"/>
            <a:ext cx="753090" cy="171448"/>
          </a:xfrm>
          <a:prstGeom prst="rect">
            <a:avLst/>
          </a:prstGeom>
        </p:spPr>
      </p:pic>
      <p:sp>
        <p:nvSpPr>
          <p:cNvPr id="6" name="矩形 5">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7" name="圖片 6"/>
          <p:cNvPicPr>
            <a:picLocks noChangeAspect="1"/>
          </p:cNvPicPr>
          <p:nvPr userDrawn="1"/>
        </p:nvPicPr>
        <p:blipFill>
          <a:blip r:embed="rId3"/>
          <a:stretch>
            <a:fillRect/>
          </a:stretch>
        </p:blipFill>
        <p:spPr>
          <a:xfrm>
            <a:off x="7308304" y="-16771"/>
            <a:ext cx="1999661" cy="256054"/>
          </a:xfrm>
          <a:prstGeom prst="rect">
            <a:avLst/>
          </a:prstGeom>
        </p:spPr>
      </p:pic>
    </p:spTree>
    <p:extLst>
      <p:ext uri="{BB962C8B-B14F-4D97-AF65-F5344CB8AC3E}">
        <p14:creationId xmlns:p14="http://schemas.microsoft.com/office/powerpoint/2010/main" val="32612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90618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txBody>
          <a:bodyPr>
            <a:noAutofit/>
          </a:bodyPr>
          <a:lstStyle>
            <a:lvl1pPr marL="214313" indent="-214313"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txBody>
          <a:bodyPr>
            <a:noAutofit/>
          </a:bodyPr>
          <a:lstStyle>
            <a:lvl1pPr marL="257175" indent="-257175"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54831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兩項物件">
    <p:spTree>
      <p:nvGrpSpPr>
        <p:cNvPr id="1" name=""/>
        <p:cNvGrpSpPr/>
        <p:nvPr/>
      </p:nvGrpSpPr>
      <p:grpSpPr>
        <a:xfrm>
          <a:off x="0" y="0"/>
          <a:ext cx="0" cy="0"/>
          <a:chOff x="0" y="0"/>
          <a:chExt cx="0" cy="0"/>
        </a:xfrm>
      </p:grpSpPr>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9" name="內容版面配置區 8"/>
          <p:cNvSpPr>
            <a:spLocks noGrp="1"/>
          </p:cNvSpPr>
          <p:nvPr>
            <p:ph sz="quarter" idx="20"/>
          </p:nvPr>
        </p:nvSpPr>
        <p:spPr>
          <a:xfrm>
            <a:off x="475060" y="1017312"/>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6" name="內容版面配置區 8"/>
          <p:cNvSpPr>
            <a:spLocks noGrp="1"/>
          </p:cNvSpPr>
          <p:nvPr>
            <p:ph sz="quarter" idx="21"/>
          </p:nvPr>
        </p:nvSpPr>
        <p:spPr>
          <a:xfrm>
            <a:off x="4626456" y="1053296"/>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0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b="1">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4" y="1268761"/>
            <a:ext cx="8219256" cy="5040560"/>
          </a:xfrm>
          <a:prstGeom prst="rect">
            <a:avLst/>
          </a:prstGeom>
        </p:spPr>
        <p:txBody>
          <a:bodyPr/>
          <a:lstStyle>
            <a:lvl1pPr>
              <a:defRPr sz="1800">
                <a:latin typeface="微軟正黑體" pitchFamily="34" charset="-120"/>
                <a:ea typeface="微軟正黑體" pitchFamily="34" charset="-120"/>
              </a:defRPr>
            </a:lvl1pPr>
            <a:lvl2pPr marL="557213" indent="-214313">
              <a:buFont typeface="Wingdings" panose="05000000000000000000" pitchFamily="2" charset="2"/>
              <a:buChar char="Ø"/>
              <a:defRPr sz="1500" b="0">
                <a:latin typeface="微軟正黑體" pitchFamily="34" charset="-120"/>
                <a:ea typeface="微軟正黑體" pitchFamily="34" charset="-120"/>
              </a:defRPr>
            </a:lvl2pPr>
            <a:lvl3pPr marL="857250" indent="-171450">
              <a:buFont typeface="Wingdings" panose="05000000000000000000" pitchFamily="2" charset="2"/>
              <a:buChar char="ü"/>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633048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6" name="內容版面配置區 3"/>
          <p:cNvSpPr>
            <a:spLocks noGrp="1"/>
          </p:cNvSpPr>
          <p:nvPr>
            <p:ph sz="half" idx="2"/>
          </p:nvPr>
        </p:nvSpPr>
        <p:spPr>
          <a:xfrm>
            <a:off x="467544"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9"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73600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73600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68315" y="1268760"/>
            <a:ext cx="8208143" cy="1224136"/>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7"/>
          <p:cNvSpPr>
            <a:spLocks noGrp="1"/>
          </p:cNvSpPr>
          <p:nvPr>
            <p:ph type="body" sz="quarter" idx="12"/>
          </p:nvPr>
        </p:nvSpPr>
        <p:spPr>
          <a:xfrm>
            <a:off x="467544" y="6192000"/>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977986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0" name="文字版面配置區 2"/>
          <p:cNvSpPr>
            <a:spLocks noGrp="1"/>
          </p:cNvSpPr>
          <p:nvPr>
            <p:ph type="body" sz="quarter" idx="17"/>
          </p:nvPr>
        </p:nvSpPr>
        <p:spPr>
          <a:xfrm>
            <a:off x="468314"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1" name="內容版面配置區 3"/>
          <p:cNvSpPr>
            <a:spLocks noGrp="1"/>
          </p:cNvSpPr>
          <p:nvPr>
            <p:ph sz="half" idx="16"/>
          </p:nvPr>
        </p:nvSpPr>
        <p:spPr>
          <a:xfrm>
            <a:off x="4644009"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2" name="文字版面配置區 2"/>
          <p:cNvSpPr>
            <a:spLocks noGrp="1"/>
          </p:cNvSpPr>
          <p:nvPr>
            <p:ph type="body" sz="quarter" idx="18"/>
          </p:nvPr>
        </p:nvSpPr>
        <p:spPr>
          <a:xfrm>
            <a:off x="467546" y="126876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3" name="文字版面配置區 2"/>
          <p:cNvSpPr>
            <a:spLocks noGrp="1"/>
          </p:cNvSpPr>
          <p:nvPr>
            <p:ph type="body" sz="quarter" idx="19"/>
          </p:nvPr>
        </p:nvSpPr>
        <p:spPr>
          <a:xfrm>
            <a:off x="4644779" y="126876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6" name="文字版面配置區 2"/>
          <p:cNvSpPr>
            <a:spLocks noGrp="1"/>
          </p:cNvSpPr>
          <p:nvPr>
            <p:ph type="body" sz="quarter" idx="20"/>
          </p:nvPr>
        </p:nvSpPr>
        <p:spPr>
          <a:xfrm>
            <a:off x="4644779"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7" name="文字版面配置區 7"/>
          <p:cNvSpPr>
            <a:spLocks noGrp="1"/>
          </p:cNvSpPr>
          <p:nvPr>
            <p:ph type="body" sz="quarter" idx="1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18" name="內容版面配置區 3"/>
          <p:cNvSpPr>
            <a:spLocks noGrp="1"/>
          </p:cNvSpPr>
          <p:nvPr>
            <p:ph sz="half" idx="21"/>
          </p:nvPr>
        </p:nvSpPr>
        <p:spPr>
          <a:xfrm>
            <a:off x="467544"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Tree>
    <p:extLst>
      <p:ext uri="{BB962C8B-B14F-4D97-AF65-F5344CB8AC3E}">
        <p14:creationId xmlns:p14="http://schemas.microsoft.com/office/powerpoint/2010/main" val="36355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4" name="文字版面配置區 2"/>
          <p:cNvSpPr>
            <a:spLocks noGrp="1"/>
          </p:cNvSpPr>
          <p:nvPr>
            <p:ph type="body" sz="quarter" idx="18"/>
          </p:nvPr>
        </p:nvSpPr>
        <p:spPr>
          <a:xfrm>
            <a:off x="467546" y="1268760"/>
            <a:ext cx="4031679" cy="792088"/>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2"/>
          <p:cNvSpPr>
            <a:spLocks noGrp="1"/>
          </p:cNvSpPr>
          <p:nvPr>
            <p:ph type="body" sz="quarter" idx="19"/>
          </p:nvPr>
        </p:nvSpPr>
        <p:spPr>
          <a:xfrm>
            <a:off x="4644779" y="1268760"/>
            <a:ext cx="4031679" cy="792088"/>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9" name="文字版面配置區 7"/>
          <p:cNvSpPr>
            <a:spLocks noGrp="1"/>
          </p:cNvSpPr>
          <p:nvPr>
            <p:ph type="body" sz="quarter" idx="12"/>
          </p:nvPr>
        </p:nvSpPr>
        <p:spPr>
          <a:xfrm>
            <a:off x="467544" y="5229201"/>
            <a:ext cx="8208912" cy="720080"/>
          </a:xfrm>
          <a:prstGeom prst="rect">
            <a:avLst/>
          </a:prstGeom>
        </p:spPr>
        <p:txBody>
          <a:bodyPr>
            <a:normAutofit/>
          </a:bodyPr>
          <a:lstStyle>
            <a:lvl1pPr marL="128588" indent="-128588">
              <a:buFont typeface="Arial" pitchFamily="34" charset="0"/>
              <a:buChar char="•"/>
              <a:defRPr sz="900">
                <a:latin typeface="微軟正黑體" pitchFamily="34" charset="-120"/>
                <a:ea typeface="微軟正黑體" pitchFamily="34" charset="-120"/>
              </a:defRPr>
            </a:lvl1pPr>
          </a:lstStyle>
          <a:p>
            <a:pPr lvl="0"/>
            <a:r>
              <a:rPr lang="zh-TW" altLang="en-US"/>
              <a:t>按一下以編輯母片文字樣式</a:t>
            </a:r>
          </a:p>
        </p:txBody>
      </p:sp>
      <p:sp>
        <p:nvSpPr>
          <p:cNvPr id="20" name="內容版面配置區 3"/>
          <p:cNvSpPr>
            <a:spLocks noGrp="1"/>
          </p:cNvSpPr>
          <p:nvPr>
            <p:ph sz="half" idx="20"/>
          </p:nvPr>
        </p:nvSpPr>
        <p:spPr>
          <a:xfrm>
            <a:off x="4644009"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1" name="內容版面配置區 3"/>
          <p:cNvSpPr>
            <a:spLocks noGrp="1"/>
          </p:cNvSpPr>
          <p:nvPr>
            <p:ph sz="half" idx="2"/>
          </p:nvPr>
        </p:nvSpPr>
        <p:spPr>
          <a:xfrm>
            <a:off x="467544"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 name="投影片編號版面配置區 1"/>
          <p:cNvSpPr>
            <a:spLocks noGrp="1"/>
          </p:cNvSpPr>
          <p:nvPr>
            <p:ph type="sldNum" sz="quarter" idx="21"/>
          </p:nvPr>
        </p:nvSpPr>
        <p:spPr/>
        <p:txBody>
          <a:bodyPr/>
          <a:lstStyle/>
          <a:p>
            <a:fld id="{415482FC-CF5F-466A-B8B6-BC3733E92023}" type="slidenum">
              <a:rPr lang="zh-TW" altLang="en-US" smtClean="0"/>
              <a:pPr/>
              <a:t>‹#›</a:t>
            </a:fld>
            <a:endParaRPr lang="zh-TW" altLang="en-US" dirty="0"/>
          </a:p>
        </p:txBody>
      </p:sp>
      <p:sp>
        <p:nvSpPr>
          <p:cNvPr id="10" name="文字版面配置區 7"/>
          <p:cNvSpPr>
            <a:spLocks noGrp="1"/>
          </p:cNvSpPr>
          <p:nvPr>
            <p:ph type="body" sz="quarter" idx="2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Tree>
    <p:extLst>
      <p:ext uri="{BB962C8B-B14F-4D97-AF65-F5344CB8AC3E}">
        <p14:creationId xmlns:p14="http://schemas.microsoft.com/office/powerpoint/2010/main" val="44568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8" name="文字版面配置區 3"/>
          <p:cNvSpPr>
            <a:spLocks noGrp="1"/>
          </p:cNvSpPr>
          <p:nvPr>
            <p:ph type="body" sz="half" idx="2"/>
          </p:nvPr>
        </p:nvSpPr>
        <p:spPr>
          <a:xfrm>
            <a:off x="5597355" y="1268761"/>
            <a:ext cx="3079103" cy="4608512"/>
          </a:xfrm>
          <a:prstGeom prst="rect">
            <a:avLst/>
          </a:prstGeom>
        </p:spPr>
        <p:txBody>
          <a:bodyPr>
            <a:normAutofit/>
          </a:bodyPr>
          <a:lstStyle>
            <a:lvl1pPr marL="214313" indent="-214313">
              <a:buFont typeface="Arial" pitchFamily="34" charset="0"/>
              <a:buChar char="•"/>
              <a:defRPr sz="1200">
                <a:latin typeface="微軟正黑體" pitchFamily="34" charset="-120"/>
                <a:ea typeface="微軟正黑體" pitchFamily="34" charset="-12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10" name="內容版面配置區 3"/>
          <p:cNvSpPr>
            <a:spLocks noGrp="1"/>
          </p:cNvSpPr>
          <p:nvPr>
            <p:ph sz="half" idx="10"/>
          </p:nvPr>
        </p:nvSpPr>
        <p:spPr>
          <a:xfrm>
            <a:off x="467545" y="1268760"/>
            <a:ext cx="5040560" cy="4248472"/>
          </a:xfrm>
          <a:prstGeom prst="rect">
            <a:avLst/>
          </a:prstGeom>
        </p:spPr>
        <p:txBody>
          <a:bodyPr/>
          <a:lstStyle>
            <a:lvl1pPr>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20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1" name="文字版面配置區 7"/>
          <p:cNvSpPr>
            <a:spLocks noGrp="1"/>
          </p:cNvSpPr>
          <p:nvPr>
            <p:ph type="body" sz="quarter" idx="12"/>
          </p:nvPr>
        </p:nvSpPr>
        <p:spPr>
          <a:xfrm>
            <a:off x="467545" y="5589241"/>
            <a:ext cx="5040560"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2" name="投影片編號版面配置區 1"/>
          <p:cNvSpPr>
            <a:spLocks noGrp="1"/>
          </p:cNvSpPr>
          <p:nvPr>
            <p:ph type="sldNum" sz="quarter" idx="13"/>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784869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9_免責聲明">
    <p:spTree>
      <p:nvGrpSpPr>
        <p:cNvPr id="1" name=""/>
        <p:cNvGrpSpPr/>
        <p:nvPr/>
      </p:nvGrpSpPr>
      <p:grpSpPr>
        <a:xfrm>
          <a:off x="0" y="0"/>
          <a:ext cx="0" cy="0"/>
          <a:chOff x="0" y="0"/>
          <a:chExt cx="0" cy="0"/>
        </a:xfrm>
      </p:grpSpPr>
      <p:sp>
        <p:nvSpPr>
          <p:cNvPr id="2" name="投影片編號版面配置區 1"/>
          <p:cNvSpPr>
            <a:spLocks noGrp="1"/>
          </p:cNvSpPr>
          <p:nvPr>
            <p:ph type="sldNum" sz="quarter" idx="18"/>
          </p:nvPr>
        </p:nvSpPr>
        <p:spPr/>
        <p:txBody>
          <a:bodyPr/>
          <a:lstStyle/>
          <a:p>
            <a:fld id="{415482FC-CF5F-466A-B8B6-BC3733E92023}" type="slidenum">
              <a:rPr lang="zh-TW" altLang="en-US" smtClean="0"/>
              <a:pPr/>
              <a:t>‹#›</a:t>
            </a:fld>
            <a:endParaRPr lang="zh-TW" altLang="en-US" dirty="0"/>
          </a:p>
        </p:txBody>
      </p:sp>
      <p:sp>
        <p:nvSpPr>
          <p:cNvPr id="3" name="矩形 2"/>
          <p:cNvSpPr/>
          <p:nvPr/>
        </p:nvSpPr>
        <p:spPr>
          <a:xfrm>
            <a:off x="518013" y="836715"/>
            <a:ext cx="7992888" cy="507831"/>
          </a:xfrm>
          <a:prstGeom prst="rect">
            <a:avLst/>
          </a:prstGeom>
        </p:spPr>
        <p:txBody>
          <a:bodyPr wrap="square">
            <a:spAutoFit/>
          </a:bodyPr>
          <a:lstStyle/>
          <a:p>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endParaRPr lang="en-US" altLang="zh-TW" sz="1350" dirty="0">
              <a:latin typeface="微軟正黑體" pitchFamily="34" charset="-120"/>
              <a:ea typeface="微軟正黑體" pitchFamily="34" charset="-120"/>
            </a:endParaRPr>
          </a:p>
        </p:txBody>
      </p:sp>
      <p:sp>
        <p:nvSpPr>
          <p:cNvPr id="5" name="矩形 4"/>
          <p:cNvSpPr/>
          <p:nvPr userDrawn="1"/>
        </p:nvSpPr>
        <p:spPr>
          <a:xfrm>
            <a:off x="518013" y="836712"/>
            <a:ext cx="7992888" cy="2169825"/>
          </a:xfrm>
          <a:prstGeom prst="rect">
            <a:avLst/>
          </a:prstGeom>
        </p:spPr>
        <p:txBody>
          <a:bodyPr wrap="square">
            <a:spAutoFit/>
          </a:bodyPr>
          <a:lstStyle/>
          <a:p>
            <a:pPr algn="just"/>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免責聲明</a:t>
            </a:r>
            <a:r>
              <a:rPr lang="en-US" altLang="zh-TW" sz="1350" dirty="0">
                <a:latin typeface="微軟正黑體" pitchFamily="34" charset="-120"/>
                <a:ea typeface="微軟正黑體" pitchFamily="34" charset="-120"/>
              </a:rPr>
              <a:t>:</a:t>
            </a:r>
          </a:p>
          <a:p>
            <a:pPr algn="just"/>
            <a:r>
              <a:rPr lang="zh-TW" altLang="en-US" sz="1350" dirty="0">
                <a:latin typeface="微軟正黑體" pitchFamily="34" charset="-120"/>
                <a:ea typeface="微軟正黑體" pitchFamily="34" charset="-120"/>
              </a:rPr>
              <a:t>台新證券投資顧問股份有限公司 </a:t>
            </a:r>
            <a:r>
              <a:rPr lang="en-US" altLang="zh-TW" sz="1350" dirty="0">
                <a:latin typeface="微軟正黑體" pitchFamily="34" charset="-120"/>
                <a:ea typeface="微軟正黑體" pitchFamily="34" charset="-120"/>
              </a:rPr>
              <a:t>(02)5589-9558  Fax:(02)3707-6769  </a:t>
            </a:r>
            <a:r>
              <a:rPr lang="zh-TW" altLang="en-US" sz="1350" dirty="0">
                <a:latin typeface="微軟正黑體" pitchFamily="34" charset="-120"/>
                <a:ea typeface="微軟正黑體" pitchFamily="34" charset="-120"/>
              </a:rPr>
              <a:t>地址</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台北市仁愛路四段</a:t>
            </a:r>
            <a:r>
              <a:rPr lang="en-US" altLang="zh-TW" sz="1350" dirty="0">
                <a:latin typeface="微軟正黑體" pitchFamily="34" charset="-120"/>
                <a:ea typeface="微軟正黑體" pitchFamily="34" charset="-120"/>
              </a:rPr>
              <a:t>118</a:t>
            </a:r>
            <a:r>
              <a:rPr lang="zh-TW" altLang="en-US" sz="1350" dirty="0">
                <a:latin typeface="微軟正黑體" pitchFamily="34" charset="-120"/>
                <a:ea typeface="微軟正黑體" pitchFamily="34" charset="-120"/>
              </a:rPr>
              <a:t>號</a:t>
            </a:r>
            <a:r>
              <a:rPr lang="en-US" altLang="zh-TW" sz="1350" dirty="0">
                <a:latin typeface="微軟正黑體" pitchFamily="34" charset="-120"/>
                <a:ea typeface="微軟正黑體" pitchFamily="34" charset="-120"/>
              </a:rPr>
              <a:t>16</a:t>
            </a:r>
            <a:r>
              <a:rPr lang="zh-TW" altLang="en-US" sz="1350" dirty="0">
                <a:latin typeface="微軟正黑體" pitchFamily="34" charset="-120"/>
                <a:ea typeface="微軟正黑體" pitchFamily="34" charset="-120"/>
              </a:rPr>
              <a:t>樓  一百零八金管投顧新字第零壹柒號。本報告所載係根據各項市場資訊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加以整理、彙集及研究分析。僅供參考，本公司不保證其正確性及完整性。內容如涉及有價證券或金融商品相關記載或說明，並不構成要約、招攬、宣傳、建議或推薦買賣等任何形式之表示，投資人如參考本報告進行相關投資或交易，應自行承擔所有損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本公司不負任何法律責任。另本公司同時擔任木星基金總代理人，惟本公司投資研究部門與招攬木星基金之業務部門，不相隸屬且予適當區隔，不致侵害客戶利益。此外，非經本公司同意，不得將本報告內容之部份或全部加以複製、轉載或散布。</a:t>
            </a:r>
            <a:endParaRPr lang="en-US" altLang="zh-TW" sz="1350" dirty="0">
              <a:latin typeface="微軟正黑體" pitchFamily="34" charset="-120"/>
              <a:ea typeface="微軟正黑體" pitchFamily="34" charset="-120"/>
            </a:endParaRPr>
          </a:p>
        </p:txBody>
      </p:sp>
    </p:spTree>
    <p:extLst>
      <p:ext uri="{BB962C8B-B14F-4D97-AF65-F5344CB8AC3E}">
        <p14:creationId xmlns:p14="http://schemas.microsoft.com/office/powerpoint/2010/main" val="1203142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投影片編號版面配置區 5"/>
          <p:cNvSpPr>
            <a:spLocks noGrp="1"/>
          </p:cNvSpPr>
          <p:nvPr>
            <p:ph type="sldNum" sz="quarter" idx="4"/>
          </p:nvPr>
        </p:nvSpPr>
        <p:spPr>
          <a:xfrm>
            <a:off x="197514" y="6381328"/>
            <a:ext cx="395064" cy="288032"/>
          </a:xfrm>
          <a:prstGeom prst="rect">
            <a:avLst/>
          </a:prstGeom>
        </p:spPr>
        <p:txBody>
          <a:bodyPr/>
          <a:lstStyle>
            <a:lvl1pPr>
              <a:defRPr sz="900">
                <a:latin typeface="Arial" pitchFamily="34" charset="0"/>
                <a:cs typeface="Arial" pitchFamily="34" charset="0"/>
              </a:defRPr>
            </a:lvl1pPr>
          </a:lstStyle>
          <a:p>
            <a:fld id="{415482FC-CF5F-466A-B8B6-BC3733E92023}" type="slidenum">
              <a:rPr lang="zh-TW" altLang="en-US" smtClean="0"/>
              <a:pPr/>
              <a:t>‹#›</a:t>
            </a:fld>
            <a:endParaRPr lang="zh-TW" altLang="en-US" dirty="0"/>
          </a:p>
        </p:txBody>
      </p:sp>
      <p:cxnSp>
        <p:nvCxnSpPr>
          <p:cNvPr id="7"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pic>
        <p:nvPicPr>
          <p:cNvPr id="14" name="Picture 2" descr="台新綜合證券股份有限公司等包銷聯上實業股份有限公司國內第三次無擔保轉">
            <a:extLst>
              <a:ext uri="{FF2B5EF4-FFF2-40B4-BE49-F238E27FC236}">
                <a16:creationId xmlns:a16="http://schemas.microsoft.com/office/drawing/2014/main" id="{2FD9BB75-12CC-AE4F-BABA-8091371005B8}"/>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7758353" y="6513190"/>
            <a:ext cx="648646" cy="171451"/>
          </a:xfrm>
          <a:prstGeom prst="rect">
            <a:avLst/>
          </a:prstGeom>
          <a:noFill/>
          <a:extLst>
            <a:ext uri="{909E8E84-426E-40DD-AFC4-6F175D3DCCD1}">
              <a14:hiddenFill xmlns:a14="http://schemas.microsoft.com/office/drawing/2010/main">
                <a:solidFill>
                  <a:srgbClr val="FFFFFF"/>
                </a:solidFill>
              </a14:hiddenFill>
            </a:ext>
          </a:extLst>
        </p:spPr>
      </p:pic>
      <p:pic>
        <p:nvPicPr>
          <p:cNvPr id="8" name="圖片 7">
            <a:extLst>
              <a:ext uri="{FF2B5EF4-FFF2-40B4-BE49-F238E27FC236}">
                <a16:creationId xmlns:a16="http://schemas.microsoft.com/office/drawing/2014/main" id="{077F17E0-39B1-4EAF-8142-AA65E5998D16}"/>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r="72177" b="35515"/>
          <a:stretch/>
        </p:blipFill>
        <p:spPr>
          <a:xfrm>
            <a:off x="8388424" y="6453336"/>
            <a:ext cx="605138" cy="225344"/>
          </a:xfrm>
          <a:prstGeom prst="rect">
            <a:avLst/>
          </a:prstGeom>
        </p:spPr>
      </p:pic>
      <p:sp>
        <p:nvSpPr>
          <p:cNvPr id="9" name="矩形 8">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11" name="圖片 10"/>
          <p:cNvPicPr>
            <a:picLocks noChangeAspect="1"/>
          </p:cNvPicPr>
          <p:nvPr userDrawn="1"/>
        </p:nvPicPr>
        <p:blipFill>
          <a:blip r:embed="rId16"/>
          <a:stretch>
            <a:fillRect/>
          </a:stretch>
        </p:blipFill>
        <p:spPr>
          <a:xfrm>
            <a:off x="7308304" y="-16771"/>
            <a:ext cx="1999661" cy="256054"/>
          </a:xfrm>
          <a:prstGeom prst="rect">
            <a:avLst/>
          </a:prstGeom>
        </p:spPr>
      </p:pic>
    </p:spTree>
    <p:extLst>
      <p:ext uri="{BB962C8B-B14F-4D97-AF65-F5344CB8AC3E}">
        <p14:creationId xmlns:p14="http://schemas.microsoft.com/office/powerpoint/2010/main" val="2055990614"/>
      </p:ext>
    </p:extLst>
  </p:cSld>
  <p:clrMap bg1="lt1" tx1="dk1" bg2="lt2" tx2="dk2" accent1="accent1" accent2="accent2" accent3="accent3" accent4="accent4" accent5="accent5" accent6="accent6" hlink="hlink" folHlink="folHlink"/>
  <p:sldLayoutIdLst>
    <p:sldLayoutId id="2147483669" r:id="rId1"/>
    <p:sldLayoutId id="2147483678" r:id="rId2"/>
    <p:sldLayoutId id="2147483682" r:id="rId3"/>
    <p:sldLayoutId id="2147483681" r:id="rId4"/>
    <p:sldLayoutId id="2147483679" r:id="rId5"/>
    <p:sldLayoutId id="2147483680" r:id="rId6"/>
    <p:sldLayoutId id="2147483671" r:id="rId7"/>
    <p:sldLayoutId id="2147483673" r:id="rId8"/>
    <p:sldLayoutId id="2147483674" r:id="rId9"/>
    <p:sldLayoutId id="2147483675" r:id="rId10"/>
    <p:sldLayoutId id="2147483676" r:id="rId11"/>
    <p:sldLayoutId id="2147483677" r:id="rId12"/>
  </p:sldLayoutIdLst>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8.png"/><Relationship Id="rId7"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10.png"/><Relationship Id="rId10" Type="http://schemas.microsoft.com/office/2007/relationships/hdphoto" Target="../media/hdphoto1.wdp"/><Relationship Id="rId4" Type="http://schemas.openxmlformats.org/officeDocument/2006/relationships/image" Target="../media/image9.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jpeg"/><Relationship Id="rId18" Type="http://schemas.openxmlformats.org/officeDocument/2006/relationships/image" Target="../media/image24.png"/><Relationship Id="rId3" Type="http://schemas.openxmlformats.org/officeDocument/2006/relationships/chart" Target="../charts/chart3.xml"/><Relationship Id="rId21" Type="http://schemas.openxmlformats.org/officeDocument/2006/relationships/image" Target="../media/image26.png"/><Relationship Id="rId7" Type="http://schemas.openxmlformats.org/officeDocument/2006/relationships/image" Target="../media/image13.png"/><Relationship Id="rId12" Type="http://schemas.openxmlformats.org/officeDocument/2006/relationships/image" Target="../media/image18.jpeg"/><Relationship Id="rId17" Type="http://schemas.openxmlformats.org/officeDocument/2006/relationships/image" Target="../media/image23.png"/><Relationship Id="rId25" Type="http://schemas.openxmlformats.org/officeDocument/2006/relationships/image" Target="../media/image30.png"/><Relationship Id="rId2" Type="http://schemas.openxmlformats.org/officeDocument/2006/relationships/notesSlide" Target="../notesSlides/notesSlide2.xml"/><Relationship Id="rId16" Type="http://schemas.openxmlformats.org/officeDocument/2006/relationships/image" Target="../media/image22.jpe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jpeg"/><Relationship Id="rId24" Type="http://schemas.openxmlformats.org/officeDocument/2006/relationships/image" Target="../media/image29.png"/><Relationship Id="rId5" Type="http://schemas.openxmlformats.org/officeDocument/2006/relationships/chart" Target="../charts/chart5.xml"/><Relationship Id="rId15" Type="http://schemas.openxmlformats.org/officeDocument/2006/relationships/image" Target="../media/image21.png"/><Relationship Id="rId23" Type="http://schemas.openxmlformats.org/officeDocument/2006/relationships/image" Target="../media/image28.png"/><Relationship Id="rId10" Type="http://schemas.openxmlformats.org/officeDocument/2006/relationships/image" Target="../media/image16.jpeg"/><Relationship Id="rId19" Type="http://schemas.openxmlformats.org/officeDocument/2006/relationships/chart" Target="../charts/chart6.xml"/><Relationship Id="rId4" Type="http://schemas.openxmlformats.org/officeDocument/2006/relationships/chart" Target="../charts/chart4.xml"/><Relationship Id="rId9" Type="http://schemas.openxmlformats.org/officeDocument/2006/relationships/image" Target="../media/image15.jpeg"/><Relationship Id="rId14" Type="http://schemas.openxmlformats.org/officeDocument/2006/relationships/image" Target="../media/image20.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hart" Target="../charts/chart8.xml"/><Relationship Id="rId4" Type="http://schemas.openxmlformats.org/officeDocument/2006/relationships/chart" Target="../charts/char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hart" Target="../charts/chart9.xml"/><Relationship Id="rId1" Type="http://schemas.openxmlformats.org/officeDocument/2006/relationships/slideLayout" Target="../slideLayouts/slideLayout2.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2664328" y="3483648"/>
            <a:ext cx="4626574" cy="349749"/>
          </a:xfrm>
        </p:spPr>
        <p:txBody>
          <a:bodyPr/>
          <a:lstStyle/>
          <a:p>
            <a:r>
              <a:rPr lang="en-US" altLang="zh-TW" dirty="0"/>
              <a:t>Apple Inc.</a:t>
            </a:r>
          </a:p>
        </p:txBody>
      </p:sp>
      <p:sp>
        <p:nvSpPr>
          <p:cNvPr id="8" name="标题 4">
            <a:extLst>
              <a:ext uri="{FF2B5EF4-FFF2-40B4-BE49-F238E27FC236}">
                <a16:creationId xmlns:a16="http://schemas.microsoft.com/office/drawing/2014/main" id="{1AE4FD0B-D14F-4EEF-AFF6-9742FB255240}"/>
              </a:ext>
            </a:extLst>
          </p:cNvPr>
          <p:cNvSpPr txBox="1">
            <a:spLocks/>
          </p:cNvSpPr>
          <p:nvPr/>
        </p:nvSpPr>
        <p:spPr>
          <a:xfrm>
            <a:off x="359533" y="3429000"/>
            <a:ext cx="6048671" cy="432048"/>
          </a:xfrm>
          <a:prstGeom prst="rect">
            <a:avLst/>
          </a:prstGeom>
        </p:spPr>
        <p:txBody>
          <a:bodyPr>
            <a:noAutofit/>
          </a:bodyPr>
          <a:lstStyle>
            <a:lvl1pPr algn="l" defTabSz="914400" rtl="0" eaLnBrk="1" latinLnBrk="0" hangingPunct="1">
              <a:spcBef>
                <a:spcPct val="0"/>
              </a:spcBef>
              <a:buNone/>
              <a:defRPr sz="4000" b="1" kern="1200">
                <a:solidFill>
                  <a:schemeClr val="tx1">
                    <a:lumMod val="95000"/>
                    <a:lumOff val="5000"/>
                  </a:schemeClr>
                </a:solidFill>
                <a:latin typeface="微軟正黑體" pitchFamily="34" charset="-120"/>
                <a:ea typeface="微軟正黑體" pitchFamily="34" charset="-120"/>
                <a:cs typeface="+mj-cs"/>
              </a:defRPr>
            </a:lvl1pPr>
          </a:lstStyle>
          <a:p>
            <a:pPr>
              <a:defRPr/>
            </a:pPr>
            <a:br>
              <a:rPr lang="zh-TW" altLang="en-US" sz="3000" dirty="0">
                <a:solidFill>
                  <a:schemeClr val="tx2"/>
                </a:solidFill>
              </a:rPr>
            </a:br>
            <a:endParaRPr lang="en-US" altLang="zh-TW" sz="3000" dirty="0">
              <a:solidFill>
                <a:schemeClr val="tx1">
                  <a:lumMod val="75000"/>
                  <a:lumOff val="25000"/>
                </a:schemeClr>
              </a:solidFill>
              <a:effectLst>
                <a:outerShdw blurRad="38100" dist="38100" dir="2700000" algn="tl">
                  <a:srgbClr val="000000">
                    <a:alpha val="43137"/>
                  </a:srgbClr>
                </a:outerShdw>
              </a:effectLst>
              <a:latin typeface="+mn-ea"/>
              <a:ea typeface="+mn-ea"/>
            </a:endParaRPr>
          </a:p>
        </p:txBody>
      </p:sp>
      <p:sp>
        <p:nvSpPr>
          <p:cNvPr id="4" name="標題 3"/>
          <p:cNvSpPr>
            <a:spLocks noGrp="1"/>
          </p:cNvSpPr>
          <p:nvPr>
            <p:ph type="ctrTitle"/>
          </p:nvPr>
        </p:nvSpPr>
        <p:spPr>
          <a:xfrm>
            <a:off x="2664328" y="2935160"/>
            <a:ext cx="4860000" cy="439193"/>
          </a:xfrm>
        </p:spPr>
        <p:txBody>
          <a:bodyPr/>
          <a:lstStyle/>
          <a:p>
            <a:r>
              <a:rPr lang="zh-TW" altLang="en-US" sz="2800" dirty="0"/>
              <a:t>蘋果公司</a:t>
            </a:r>
          </a:p>
        </p:txBody>
      </p:sp>
      <p:pic>
        <p:nvPicPr>
          <p:cNvPr id="9" name="圖片 8"/>
          <p:cNvPicPr>
            <a:picLocks noChangeAspect="1"/>
          </p:cNvPicPr>
          <p:nvPr/>
        </p:nvPicPr>
        <p:blipFill>
          <a:blip r:embed="rId4">
            <a:clrChange>
              <a:clrFrom>
                <a:srgbClr val="FFFFFF"/>
              </a:clrFrom>
              <a:clrTo>
                <a:srgbClr val="FFFFFF">
                  <a:alpha val="0"/>
                </a:srgbClr>
              </a:clrTo>
            </a:clrChange>
          </a:blip>
          <a:stretch>
            <a:fillRect/>
          </a:stretch>
        </p:blipFill>
        <p:spPr>
          <a:xfrm>
            <a:off x="839416" y="2371418"/>
            <a:ext cx="1233846" cy="1057582"/>
          </a:xfrm>
          <a:prstGeom prst="rect">
            <a:avLst/>
          </a:prstGeom>
        </p:spPr>
      </p:pic>
      <p:graphicFrame>
        <p:nvGraphicFramePr>
          <p:cNvPr id="10" name="表格 9">
            <a:extLst>
              <a:ext uri="{FF2B5EF4-FFF2-40B4-BE49-F238E27FC236}">
                <a16:creationId xmlns:a16="http://schemas.microsoft.com/office/drawing/2014/main" id="{A82DBE52-A1CC-4957-A96D-F89AE507DF4D}"/>
              </a:ext>
            </a:extLst>
          </p:cNvPr>
          <p:cNvGraphicFramePr>
            <a:graphicFrameLocks noGrp="1"/>
          </p:cNvGraphicFramePr>
          <p:nvPr>
            <p:extLst>
              <p:ext uri="{D42A27DB-BD31-4B8C-83A1-F6EECF244321}">
                <p14:modId xmlns:p14="http://schemas.microsoft.com/office/powerpoint/2010/main" val="1494041590"/>
              </p:ext>
            </p:extLst>
          </p:nvPr>
        </p:nvGraphicFramePr>
        <p:xfrm>
          <a:off x="1115616" y="4149080"/>
          <a:ext cx="6819900" cy="1028700"/>
        </p:xfrm>
        <a:graphic>
          <a:graphicData uri="http://schemas.openxmlformats.org/drawingml/2006/table">
            <a:tbl>
              <a:tblPr/>
              <a:tblGrid>
                <a:gridCol w="927100">
                  <a:extLst>
                    <a:ext uri="{9D8B030D-6E8A-4147-A177-3AD203B41FA5}">
                      <a16:colId xmlns:a16="http://schemas.microsoft.com/office/drawing/2014/main" val="2431230819"/>
                    </a:ext>
                  </a:extLst>
                </a:gridCol>
                <a:gridCol w="927100">
                  <a:extLst>
                    <a:ext uri="{9D8B030D-6E8A-4147-A177-3AD203B41FA5}">
                      <a16:colId xmlns:a16="http://schemas.microsoft.com/office/drawing/2014/main" val="4186104954"/>
                    </a:ext>
                  </a:extLst>
                </a:gridCol>
                <a:gridCol w="927100">
                  <a:extLst>
                    <a:ext uri="{9D8B030D-6E8A-4147-A177-3AD203B41FA5}">
                      <a16:colId xmlns:a16="http://schemas.microsoft.com/office/drawing/2014/main" val="1983523619"/>
                    </a:ext>
                  </a:extLst>
                </a:gridCol>
                <a:gridCol w="927100">
                  <a:extLst>
                    <a:ext uri="{9D8B030D-6E8A-4147-A177-3AD203B41FA5}">
                      <a16:colId xmlns:a16="http://schemas.microsoft.com/office/drawing/2014/main" val="949459868"/>
                    </a:ext>
                  </a:extLst>
                </a:gridCol>
                <a:gridCol w="1257300">
                  <a:extLst>
                    <a:ext uri="{9D8B030D-6E8A-4147-A177-3AD203B41FA5}">
                      <a16:colId xmlns:a16="http://schemas.microsoft.com/office/drawing/2014/main" val="1946720866"/>
                    </a:ext>
                  </a:extLst>
                </a:gridCol>
                <a:gridCol w="927100">
                  <a:extLst>
                    <a:ext uri="{9D8B030D-6E8A-4147-A177-3AD203B41FA5}">
                      <a16:colId xmlns:a16="http://schemas.microsoft.com/office/drawing/2014/main" val="1238084409"/>
                    </a:ext>
                  </a:extLst>
                </a:gridCol>
                <a:gridCol w="927100">
                  <a:extLst>
                    <a:ext uri="{9D8B030D-6E8A-4147-A177-3AD203B41FA5}">
                      <a16:colId xmlns:a16="http://schemas.microsoft.com/office/drawing/2014/main" val="3617222459"/>
                    </a:ext>
                  </a:extLst>
                </a:gridCol>
              </a:tblGrid>
              <a:tr h="209550">
                <a:tc>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商品</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債券名稱</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票息</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幣</a:t>
                      </a: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別</a:t>
                      </a:r>
                    </a:p>
                  </a:txBody>
                  <a:tcPr marL="9525" marR="9525" marT="9525" marB="0" anchor="ctr">
                    <a:lnL>
                      <a:noFill/>
                    </a:lnL>
                    <a:lnR>
                      <a:noFill/>
                    </a:lnR>
                    <a:lnT>
                      <a:noFill/>
                    </a:lnT>
                    <a:lnB>
                      <a:noFill/>
                    </a:lnB>
                    <a:solidFill>
                      <a:srgbClr val="C00000"/>
                    </a:solidFill>
                  </a:tcPr>
                </a:tc>
                <a:tc>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信用評等</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償債順位</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剩餘年期</a:t>
                      </a:r>
                    </a:p>
                  </a:txBody>
                  <a:tcPr marL="9525" marR="9525" marT="9525" marB="0" anchor="ctr">
                    <a:lnL>
                      <a:noFill/>
                    </a:lnL>
                    <a:lnR>
                      <a:noFill/>
                    </a:lnR>
                    <a:lnT>
                      <a:noFill/>
                    </a:lnT>
                    <a:lnB>
                      <a:noFill/>
                    </a:lnB>
                    <a:solidFill>
                      <a:srgbClr val="C00000"/>
                    </a:solidFill>
                  </a:tcPr>
                </a:tc>
                <a:extLst>
                  <a:ext uri="{0D108BD9-81ED-4DB2-BD59-A6C34878D82A}">
                    <a16:rowId xmlns:a16="http://schemas.microsoft.com/office/drawing/2014/main" val="2608105475"/>
                  </a:ext>
                </a:extLst>
              </a:tr>
              <a:tr h="390525">
                <a:tc>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代號</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tc vMerge="1">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幣別</a:t>
                      </a:r>
                    </a:p>
                  </a:txBody>
                  <a:tcPr marL="9525" marR="9525" marT="9525" marB="0" anchor="ctr">
                    <a:lnL>
                      <a:noFill/>
                    </a:lnL>
                    <a:lnR>
                      <a:noFill/>
                    </a:lnR>
                    <a:lnT>
                      <a:noFill/>
                    </a:lnT>
                    <a:lnB>
                      <a:noFill/>
                    </a:lnB>
                    <a:solidFill>
                      <a:srgbClr val="C00000"/>
                    </a:solidFill>
                  </a:tcPr>
                </a:tc>
                <a:tc>
                  <a:txBody>
                    <a:bodyPr/>
                    <a:lstStyle/>
                    <a:p>
                      <a:pPr algn="ctr" rtl="0" fontAlgn="ctr"/>
                      <a:r>
                        <a:rPr lang="en-US" sz="1100" b="1" i="0" u="none" strike="noStrike">
                          <a:solidFill>
                            <a:srgbClr val="FFFFFF"/>
                          </a:solidFill>
                          <a:effectLst/>
                          <a:latin typeface="微軟正黑體" panose="020B0604030504040204" pitchFamily="34" charset="-120"/>
                          <a:ea typeface="微軟正黑體" panose="020B0604030504040204" pitchFamily="34" charset="-120"/>
                        </a:rPr>
                        <a:t>Moody/ S&amp;P / Fitch</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33559202"/>
                  </a:ext>
                </a:extLst>
              </a:tr>
              <a:tr h="219075">
                <a:tc>
                  <a:txBody>
                    <a:bodyPr/>
                    <a:lstStyle/>
                    <a:p>
                      <a:pPr algn="ctr" rtl="0" fontAlgn="ctr"/>
                      <a:r>
                        <a:rPr lang="en-US" sz="1000" b="0" i="0" u="none" strike="noStrike">
                          <a:solidFill>
                            <a:srgbClr val="000000"/>
                          </a:solidFill>
                          <a:effectLst/>
                          <a:latin typeface="Arial" panose="020B0604020202020204" pitchFamily="34" charset="0"/>
                          <a:ea typeface="新細明體" panose="02020500000000000000" pitchFamily="18" charset="-120"/>
                        </a:rPr>
                        <a:t>CBIV</a:t>
                      </a:r>
                    </a:p>
                  </a:txBody>
                  <a:tcPr marL="9525" marR="9525" marT="9525" marB="0" anchor="ctr">
                    <a:lnL>
                      <a:noFill/>
                    </a:lnL>
                    <a:lnR>
                      <a:noFill/>
                    </a:lnR>
                    <a:lnT>
                      <a:noFill/>
                    </a:lnT>
                    <a:lnB>
                      <a:noFill/>
                    </a:lnB>
                    <a:solidFill>
                      <a:srgbClr val="F2F2F2"/>
                    </a:solidFill>
                  </a:tcPr>
                </a:tc>
                <a:tc>
                  <a:txBody>
                    <a:bodyPr/>
                    <a:lstStyle/>
                    <a:p>
                      <a:pPr algn="ctr" rtl="0" fontAlgn="ctr"/>
                      <a:r>
                        <a:rPr lang="zh-TW" altLang="en-US" sz="1000" b="0" i="0" u="none" strike="noStrike">
                          <a:solidFill>
                            <a:srgbClr val="000000"/>
                          </a:solidFill>
                          <a:effectLst/>
                          <a:latin typeface="微軟正黑體" panose="020B0604030504040204" pitchFamily="34" charset="-120"/>
                          <a:ea typeface="微軟正黑體" panose="020B0604030504040204" pitchFamily="34" charset="-120"/>
                        </a:rPr>
                        <a:t>蘋果公司</a:t>
                      </a:r>
                    </a:p>
                  </a:txBody>
                  <a:tcPr marL="9525" marR="9525" marT="9525" marB="0" anchor="ctr">
                    <a:lnL>
                      <a:noFill/>
                    </a:lnL>
                    <a:lnR>
                      <a:noFill/>
                    </a:lnR>
                    <a:lnT>
                      <a:noFill/>
                    </a:lnT>
                    <a:lnB>
                      <a:noFill/>
                    </a:lnB>
                  </a:tcPr>
                </a:tc>
                <a:tc>
                  <a:txBody>
                    <a:bodyPr/>
                    <a:lstStyle/>
                    <a:p>
                      <a:pPr algn="ctr" rtl="0" fontAlgn="ctr"/>
                      <a:r>
                        <a:rPr lang="en-US" altLang="zh-TW" sz="1000" b="0" i="0" u="none" strike="noStrike">
                          <a:solidFill>
                            <a:srgbClr val="000000"/>
                          </a:solidFill>
                          <a:effectLst/>
                          <a:latin typeface="微軟正黑體" panose="020B0604030504040204" pitchFamily="34" charset="-120"/>
                          <a:ea typeface="微軟正黑體" panose="020B0604030504040204" pitchFamily="34" charset="-120"/>
                        </a:rPr>
                        <a:t>3.250</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微軟正黑體" panose="020B0604030504040204" pitchFamily="34" charset="-120"/>
                          <a:ea typeface="微軟正黑體" panose="020B0604030504040204" pitchFamily="34" charset="-120"/>
                        </a:rPr>
                        <a:t>USD</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Arial" panose="020B0604020202020204" pitchFamily="34" charset="0"/>
                          <a:ea typeface="新細明體" panose="02020500000000000000" pitchFamily="18" charset="-120"/>
                        </a:rPr>
                        <a:t>Aaa / AA+ / --</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微軟正黑體" panose="020B0604030504040204" pitchFamily="34" charset="-120"/>
                          <a:ea typeface="微軟正黑體" panose="020B0604030504040204" pitchFamily="34" charset="-120"/>
                        </a:rPr>
                        <a:t>Sr Unsecured</a:t>
                      </a:r>
                    </a:p>
                  </a:txBody>
                  <a:tcPr marL="9525" marR="9525" marT="9525" marB="0" anchor="ctr">
                    <a:lnL>
                      <a:noFill/>
                    </a:lnL>
                    <a:lnR>
                      <a:noFill/>
                    </a:lnR>
                    <a:lnT>
                      <a:noFill/>
                    </a:lnT>
                    <a:lnB>
                      <a:noFill/>
                    </a:lnB>
                  </a:tcPr>
                </a:tc>
                <a:tc>
                  <a:txBody>
                    <a:bodyPr/>
                    <a:lstStyle/>
                    <a:p>
                      <a:pPr algn="ctr" rtl="0" fontAlgn="ctr"/>
                      <a:r>
                        <a:rPr lang="en-US" altLang="zh-TW" sz="1000" b="0" i="0" u="none" strike="noStrike">
                          <a:solidFill>
                            <a:srgbClr val="000000"/>
                          </a:solidFill>
                          <a:effectLst/>
                          <a:latin typeface="微軟正黑體" panose="020B0604030504040204" pitchFamily="34" charset="-120"/>
                          <a:ea typeface="微軟正黑體" panose="020B0604030504040204" pitchFamily="34" charset="-120"/>
                        </a:rPr>
                        <a:t>3.3</a:t>
                      </a:r>
                    </a:p>
                  </a:txBody>
                  <a:tcPr marL="9525" marR="9525" marT="9525" marB="0" anchor="ctr">
                    <a:lnL>
                      <a:noFill/>
                    </a:lnL>
                    <a:lnR>
                      <a:noFill/>
                    </a:lnR>
                    <a:lnT>
                      <a:noFill/>
                    </a:lnT>
                    <a:lnB>
                      <a:noFill/>
                    </a:lnB>
                    <a:solidFill>
                      <a:srgbClr val="F2F2F2"/>
                    </a:solidFill>
                  </a:tcPr>
                </a:tc>
                <a:extLst>
                  <a:ext uri="{0D108BD9-81ED-4DB2-BD59-A6C34878D82A}">
                    <a16:rowId xmlns:a16="http://schemas.microsoft.com/office/drawing/2014/main" val="2605237132"/>
                  </a:ext>
                </a:extLst>
              </a:tr>
              <a:tr h="209550">
                <a:tc>
                  <a:txBody>
                    <a:bodyPr/>
                    <a:lstStyle/>
                    <a:p>
                      <a:pPr algn="ctr" rtl="0" fontAlgn="ctr"/>
                      <a:r>
                        <a:rPr lang="en-US" sz="1000" b="0" i="0" u="none" strike="noStrike" dirty="0">
                          <a:solidFill>
                            <a:srgbClr val="000000"/>
                          </a:solidFill>
                          <a:effectLst/>
                          <a:latin typeface="Arial" panose="020B0604020202020204" pitchFamily="34" charset="0"/>
                          <a:ea typeface="新細明體" panose="02020500000000000000" pitchFamily="18" charset="-120"/>
                        </a:rPr>
                        <a:t>CBSG</a:t>
                      </a:r>
                    </a:p>
                  </a:txBody>
                  <a:tcPr marL="9525" marR="9525" marT="9525" marB="0" anchor="ctr">
                    <a:lnL>
                      <a:noFill/>
                    </a:lnL>
                    <a:lnR>
                      <a:noFill/>
                    </a:lnR>
                    <a:lnT>
                      <a:noFill/>
                    </a:lnT>
                    <a:lnB>
                      <a:noFill/>
                    </a:lnB>
                    <a:solidFill>
                      <a:srgbClr val="F2F2F2"/>
                    </a:solidFill>
                  </a:tcPr>
                </a:tc>
                <a:tc>
                  <a:txBody>
                    <a:bodyPr/>
                    <a:lstStyle/>
                    <a:p>
                      <a:pPr algn="ctr" rtl="0" fontAlgn="ctr"/>
                      <a:r>
                        <a:rPr lang="zh-TW" altLang="en-US" sz="1000" b="0" i="0" u="none" strike="noStrike">
                          <a:solidFill>
                            <a:srgbClr val="000000"/>
                          </a:solidFill>
                          <a:effectLst/>
                          <a:latin typeface="微軟正黑體" panose="020B0604030504040204" pitchFamily="34" charset="-120"/>
                          <a:ea typeface="微軟正黑體" panose="020B0604030504040204" pitchFamily="34" charset="-120"/>
                        </a:rPr>
                        <a:t>蘋果公司</a:t>
                      </a:r>
                    </a:p>
                  </a:txBody>
                  <a:tcPr marL="9525" marR="9525" marT="9525" marB="0" anchor="ctr">
                    <a:lnL>
                      <a:noFill/>
                    </a:lnL>
                    <a:lnR>
                      <a:noFill/>
                    </a:lnR>
                    <a:lnT>
                      <a:noFill/>
                    </a:lnT>
                    <a:lnB>
                      <a:noFill/>
                    </a:lnB>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4.500</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微軟正黑體" panose="020B0604030504040204" pitchFamily="34" charset="-120"/>
                          <a:ea typeface="微軟正黑體" panose="020B0604030504040204" pitchFamily="34" charset="-120"/>
                        </a:rPr>
                        <a:t>USD</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Arial" panose="020B0604020202020204" pitchFamily="34" charset="0"/>
                          <a:ea typeface="新細明體" panose="02020500000000000000" pitchFamily="18" charset="-120"/>
                        </a:rPr>
                        <a:t>Aaa / AA+ / --</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微軟正黑體" panose="020B0604030504040204" pitchFamily="34" charset="-120"/>
                          <a:ea typeface="微軟正黑體" panose="020B0604030504040204" pitchFamily="34" charset="-120"/>
                        </a:rPr>
                        <a:t>Sr Unsecured</a:t>
                      </a:r>
                    </a:p>
                  </a:txBody>
                  <a:tcPr marL="9525" marR="9525" marT="9525" marB="0" anchor="ctr">
                    <a:lnL>
                      <a:noFill/>
                    </a:lnL>
                    <a:lnR>
                      <a:noFill/>
                    </a:lnR>
                    <a:lnT>
                      <a:noFill/>
                    </a:lnT>
                    <a:lnB>
                      <a:noFill/>
                    </a:lnB>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9.9</a:t>
                      </a:r>
                    </a:p>
                  </a:txBody>
                  <a:tcPr marL="9525" marR="9525" marT="9525" marB="0" anchor="ctr">
                    <a:lnL>
                      <a:noFill/>
                    </a:lnL>
                    <a:lnR>
                      <a:noFill/>
                    </a:lnR>
                    <a:lnT>
                      <a:noFill/>
                    </a:lnT>
                    <a:lnB>
                      <a:noFill/>
                    </a:lnB>
                    <a:solidFill>
                      <a:srgbClr val="F2F2F2"/>
                    </a:solidFill>
                  </a:tcPr>
                </a:tc>
                <a:extLst>
                  <a:ext uri="{0D108BD9-81ED-4DB2-BD59-A6C34878D82A}">
                    <a16:rowId xmlns:a16="http://schemas.microsoft.com/office/drawing/2014/main" val="598229747"/>
                  </a:ext>
                </a:extLst>
              </a:tr>
            </a:tbl>
          </a:graphicData>
        </a:graphic>
      </p:graphicFrame>
      <p:pic>
        <p:nvPicPr>
          <p:cNvPr id="5" name="luvvoice.com-20260413-wwcqz5">
            <a:hlinkClick r:id="" action="ppaction://media"/>
            <a:extLst>
              <a:ext uri="{FF2B5EF4-FFF2-40B4-BE49-F238E27FC236}">
                <a16:creationId xmlns:a16="http://schemas.microsoft.com/office/drawing/2014/main" id="{DB73E448-D699-5EB5-9F24-12110B2E606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660232" y="980728"/>
            <a:ext cx="406400" cy="406400"/>
          </a:xfrm>
          <a:prstGeom prst="rect">
            <a:avLst/>
          </a:prstGeom>
        </p:spPr>
      </p:pic>
    </p:spTree>
    <p:extLst>
      <p:ext uri="{BB962C8B-B14F-4D97-AF65-F5344CB8AC3E}">
        <p14:creationId xmlns:p14="http://schemas.microsoft.com/office/powerpoint/2010/main" val="3814018382"/>
      </p:ext>
    </p:extLst>
  </p:cSld>
  <p:clrMapOvr>
    <a:masterClrMapping/>
  </p:clrMapOvr>
  <mc:AlternateContent xmlns:mc="http://schemas.openxmlformats.org/markup-compatibility/2006">
    <mc:Choice xmlns:p14="http://schemas.microsoft.com/office/powerpoint/2010/main" Requires="p14">
      <p:transition spd="slow" p14:dur="2000" advTm="28843"/>
    </mc:Choice>
    <mc:Fallback>
      <p:transition spd="slow" advTm="288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fill="hold" display="0">
                  <p:stCondLst>
                    <p:cond delay="indefinite"/>
                  </p:stCondLst>
                  <p:endCondLst>
                    <p:cond evt="onStopAudio" delay="0">
                      <p:tgtEl>
                        <p:sldTgt/>
                      </p:tgtEl>
                    </p:cond>
                  </p:endCondLst>
                </p:cTn>
                <p:tgtEl>
                  <p:spTgt spid="5"/>
                </p:tgtEl>
              </p:cMediaNode>
            </p:audio>
          </p:childTnLst>
        </p:cTn>
      </p:par>
    </p:tnLst>
  </p:timing>
  <p:extLst>
    <p:ext uri="{E180D4A7-C9FB-4DFB-919C-405C955672EB}">
      <p14:showEvtLst xmlns:p14="http://schemas.microsoft.com/office/powerpoint/2010/main">
        <p14:playEvt time="227" objId="5"/>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699700B-649E-4B41-BD33-38C3C73BF142}"/>
              </a:ext>
            </a:extLst>
          </p:cNvPr>
          <p:cNvSpPr/>
          <p:nvPr/>
        </p:nvSpPr>
        <p:spPr>
          <a:xfrm>
            <a:off x="473084" y="4572415"/>
            <a:ext cx="5935044" cy="1846672"/>
          </a:xfrm>
          <a:prstGeom prst="rect">
            <a:avLst/>
          </a:prstGeom>
          <a:noFill/>
          <a:ln>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8" name="圖片 37"/>
          <p:cNvPicPr>
            <a:picLocks noChangeAspect="1"/>
          </p:cNvPicPr>
          <p:nvPr/>
        </p:nvPicPr>
        <p:blipFill>
          <a:blip r:embed="rId3"/>
          <a:stretch>
            <a:fillRect/>
          </a:stretch>
        </p:blipFill>
        <p:spPr>
          <a:xfrm>
            <a:off x="671087" y="4437112"/>
            <a:ext cx="1225403" cy="397799"/>
          </a:xfrm>
          <a:prstGeom prst="rect">
            <a:avLst/>
          </a:prstGeom>
        </p:spPr>
      </p:pic>
      <p:cxnSp>
        <p:nvCxnSpPr>
          <p:cNvPr id="21" name="直線接點 20">
            <a:extLst>
              <a:ext uri="{FF2B5EF4-FFF2-40B4-BE49-F238E27FC236}">
                <a16:creationId xmlns:a16="http://schemas.microsoft.com/office/drawing/2014/main" id="{A26FFA02-BC8E-4348-BE69-507F7E444674}"/>
              </a:ext>
            </a:extLst>
          </p:cNvPr>
          <p:cNvCxnSpPr/>
          <p:nvPr/>
        </p:nvCxnSpPr>
        <p:spPr>
          <a:xfrm>
            <a:off x="7076640" y="988389"/>
            <a:ext cx="1715711" cy="0"/>
          </a:xfrm>
          <a:prstGeom prst="line">
            <a:avLst/>
          </a:prstGeom>
          <a:ln w="19050">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cxnSp>
        <p:nvCxnSpPr>
          <p:cNvPr id="18" name="直線接點 17">
            <a:extLst>
              <a:ext uri="{FF2B5EF4-FFF2-40B4-BE49-F238E27FC236}">
                <a16:creationId xmlns:a16="http://schemas.microsoft.com/office/drawing/2014/main" id="{A04FBD28-E6A3-4645-9422-603BD8C266EB}"/>
              </a:ext>
            </a:extLst>
          </p:cNvPr>
          <p:cNvCxnSpPr/>
          <p:nvPr/>
        </p:nvCxnSpPr>
        <p:spPr>
          <a:xfrm>
            <a:off x="7076640" y="988389"/>
            <a:ext cx="1715711" cy="0"/>
          </a:xfrm>
          <a:prstGeom prst="line">
            <a:avLst/>
          </a:prstGeom>
          <a:ln w="19050">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pic>
        <p:nvPicPr>
          <p:cNvPr id="27" name="圖片 26">
            <a:extLst>
              <a:ext uri="{FF2B5EF4-FFF2-40B4-BE49-F238E27FC236}">
                <a16:creationId xmlns:a16="http://schemas.microsoft.com/office/drawing/2014/main" id="{812C6449-9CF8-4E1F-B004-6A52F2380BE4}"/>
              </a:ext>
            </a:extLst>
          </p:cNvPr>
          <p:cNvPicPr>
            <a:picLocks noChangeAspect="1"/>
          </p:cNvPicPr>
          <p:nvPr/>
        </p:nvPicPr>
        <p:blipFill>
          <a:blip r:embed="rId4"/>
          <a:stretch>
            <a:fillRect/>
          </a:stretch>
        </p:blipFill>
        <p:spPr>
          <a:xfrm>
            <a:off x="513429" y="832569"/>
            <a:ext cx="5894699" cy="3593931"/>
          </a:xfrm>
          <a:prstGeom prst="rect">
            <a:avLst/>
          </a:prstGeom>
        </p:spPr>
      </p:pic>
      <p:sp>
        <p:nvSpPr>
          <p:cNvPr id="30" name="標題 38">
            <a:extLst>
              <a:ext uri="{FF2B5EF4-FFF2-40B4-BE49-F238E27FC236}">
                <a16:creationId xmlns:a16="http://schemas.microsoft.com/office/drawing/2014/main" id="{D0FCD71C-3094-47DE-B012-FBB187335D3D}"/>
              </a:ext>
            </a:extLst>
          </p:cNvPr>
          <p:cNvSpPr txBox="1">
            <a:spLocks/>
          </p:cNvSpPr>
          <p:nvPr/>
        </p:nvSpPr>
        <p:spPr>
          <a:xfrm>
            <a:off x="448054" y="189928"/>
            <a:ext cx="6068162" cy="540000"/>
          </a:xfrm>
          <a:prstGeom prst="rect">
            <a:avLst/>
          </a:prstGeom>
        </p:spPr>
        <p:txBody>
          <a:bodyPr anchor="b">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r>
              <a:rPr lang="zh-TW" altLang="en-US" sz="2400" dirty="0"/>
              <a:t>蘋果公司</a:t>
            </a:r>
            <a:endParaRPr lang="zh-TW" altLang="en-US" sz="2000" dirty="0">
              <a:solidFill>
                <a:srgbClr val="516C99"/>
              </a:solidFill>
            </a:endParaRPr>
          </a:p>
        </p:txBody>
      </p:sp>
      <p:pic>
        <p:nvPicPr>
          <p:cNvPr id="31" name="圖片 30">
            <a:extLst>
              <a:ext uri="{FF2B5EF4-FFF2-40B4-BE49-F238E27FC236}">
                <a16:creationId xmlns:a16="http://schemas.microsoft.com/office/drawing/2014/main" id="{DA6EE68A-0572-4D43-A46B-756CDAED3F81}"/>
              </a:ext>
            </a:extLst>
          </p:cNvPr>
          <p:cNvPicPr>
            <a:picLocks noChangeAspect="1"/>
          </p:cNvPicPr>
          <p:nvPr/>
        </p:nvPicPr>
        <p:blipFill>
          <a:blip r:embed="rId5"/>
          <a:stretch>
            <a:fillRect/>
          </a:stretch>
        </p:blipFill>
        <p:spPr>
          <a:xfrm>
            <a:off x="638492" y="692696"/>
            <a:ext cx="1225403" cy="370364"/>
          </a:xfrm>
          <a:prstGeom prst="rect">
            <a:avLst/>
          </a:prstGeom>
        </p:spPr>
      </p:pic>
      <p:sp>
        <p:nvSpPr>
          <p:cNvPr id="36" name="矩形 35">
            <a:extLst>
              <a:ext uri="{FF2B5EF4-FFF2-40B4-BE49-F238E27FC236}">
                <a16:creationId xmlns:a16="http://schemas.microsoft.com/office/drawing/2014/main" id="{D4DC56DD-E210-43A3-BFD1-55FEBC81DD9B}"/>
              </a:ext>
            </a:extLst>
          </p:cNvPr>
          <p:cNvSpPr/>
          <p:nvPr/>
        </p:nvSpPr>
        <p:spPr>
          <a:xfrm>
            <a:off x="461487" y="6547585"/>
            <a:ext cx="7206857" cy="461665"/>
          </a:xfrm>
          <a:prstGeom prst="rect">
            <a:avLst/>
          </a:prstGeom>
        </p:spPr>
        <p:txBody>
          <a:bodyPr wrap="square">
            <a:spAutoFit/>
          </a:bodyPr>
          <a:lstStyle/>
          <a:p>
            <a:r>
              <a:rPr lang="zh-TW" altLang="en-US" sz="800" dirty="0">
                <a:latin typeface="微軟正黑體" panose="020B0604030504040204" pitchFamily="34" charset="-120"/>
                <a:ea typeface="微軟正黑體" panose="020B0604030504040204" pitchFamily="34" charset="-120"/>
              </a:rPr>
              <a:t>資料來源：</a:t>
            </a:r>
            <a:r>
              <a:rPr lang="en-US" altLang="zh-TW" sz="800" dirty="0">
                <a:latin typeface="微軟正黑體" panose="020B0604030504040204" pitchFamily="34" charset="-120"/>
                <a:ea typeface="微軟正黑體" panose="020B0604030504040204" pitchFamily="34" charset="-120"/>
              </a:rPr>
              <a:t>Bloomberg</a:t>
            </a:r>
            <a:r>
              <a:rPr lang="zh-TW" altLang="en-US" sz="800" dirty="0">
                <a:latin typeface="微軟正黑體" panose="020B0604030504040204" pitchFamily="34" charset="-120"/>
                <a:ea typeface="微軟正黑體" panose="020B0604030504040204" pitchFamily="34" charset="-120"/>
              </a:rPr>
              <a:t>、官網、新聞整理 </a:t>
            </a:r>
            <a:r>
              <a:rPr lang="en-US" altLang="zh-TW" sz="800" dirty="0">
                <a:latin typeface="微軟正黑體" panose="020B0604030504040204" pitchFamily="34" charset="-120"/>
                <a:ea typeface="微軟正黑體" panose="020B0604030504040204" pitchFamily="34" charset="-120"/>
              </a:rPr>
              <a:t>| </a:t>
            </a:r>
            <a:r>
              <a:rPr lang="zh-TW" altLang="en-US" sz="800" dirty="0">
                <a:latin typeface="微軟正黑體" panose="020B0604030504040204" pitchFamily="34" charset="-120"/>
                <a:ea typeface="微軟正黑體" panose="020B0604030504040204" pitchFamily="34" charset="-120"/>
              </a:rPr>
              <a:t>註：</a:t>
            </a:r>
            <a:r>
              <a:rPr lang="en-US" altLang="zh-TW" sz="800" dirty="0">
                <a:latin typeface="微軟正黑體" panose="020B0604030504040204" pitchFamily="34" charset="-120"/>
                <a:ea typeface="微軟正黑體" panose="020B0604030504040204" pitchFamily="34" charset="-120"/>
              </a:rPr>
              <a:t>*WH&amp;A</a:t>
            </a:r>
            <a:r>
              <a:rPr lang="zh-TW" altLang="en-US" sz="800" dirty="0">
                <a:latin typeface="微軟正黑體" panose="020B0604030504040204" pitchFamily="34" charset="-120"/>
                <a:ea typeface="微軟正黑體" panose="020B0604030504040204" pitchFamily="34" charset="-120"/>
              </a:rPr>
              <a:t>乃指穿戴式裝置、家用裝置和配件</a:t>
            </a:r>
            <a:r>
              <a:rPr lang="en-US" altLang="zh-TW" sz="800" dirty="0">
                <a:latin typeface="微軟正黑體" panose="020B0604030504040204" pitchFamily="34" charset="-120"/>
                <a:ea typeface="微軟正黑體" panose="020B0604030504040204" pitchFamily="34" charset="-120"/>
              </a:rPr>
              <a:t>(Wearables, Home and Accessories)</a:t>
            </a:r>
            <a:r>
              <a:rPr lang="zh-TW" altLang="en-US" sz="800" dirty="0">
                <a:latin typeface="微軟正黑體" panose="020B0604030504040204" pitchFamily="34" charset="-120"/>
                <a:ea typeface="微軟正黑體" panose="020B0604030504040204" pitchFamily="34" charset="-120"/>
              </a:rPr>
              <a:t>業務，包括</a:t>
            </a:r>
            <a:r>
              <a:rPr lang="en-US" altLang="zh-TW" sz="800" dirty="0" err="1">
                <a:latin typeface="微軟正黑體" panose="020B0604030504040204" pitchFamily="34" charset="-120"/>
                <a:ea typeface="微軟正黑體" panose="020B0604030504040204" pitchFamily="34" charset="-120"/>
              </a:rPr>
              <a:t>AirPods</a:t>
            </a:r>
            <a:r>
              <a:rPr lang="zh-TW" altLang="en-US" sz="800" dirty="0">
                <a:latin typeface="微軟正黑體" panose="020B0604030504040204" pitchFamily="34" charset="-120"/>
                <a:ea typeface="微軟正黑體" panose="020B0604030504040204" pitchFamily="34" charset="-120"/>
              </a:rPr>
              <a:t>、</a:t>
            </a:r>
            <a:r>
              <a:rPr lang="en-US" altLang="zh-TW" sz="800" dirty="0">
                <a:latin typeface="微軟正黑體" panose="020B0604030504040204" pitchFamily="34" charset="-120"/>
                <a:ea typeface="微軟正黑體" panose="020B0604030504040204" pitchFamily="34" charset="-120"/>
              </a:rPr>
              <a:t>Apple TV</a:t>
            </a:r>
            <a:r>
              <a:rPr lang="zh-TW" altLang="en-US" sz="800" dirty="0">
                <a:latin typeface="微軟正黑體" panose="020B0604030504040204" pitchFamily="34" charset="-120"/>
                <a:ea typeface="微軟正黑體" panose="020B0604030504040204" pitchFamily="34" charset="-120"/>
              </a:rPr>
              <a:t>、</a:t>
            </a:r>
            <a:r>
              <a:rPr lang="en-US" altLang="zh-TW" sz="800" dirty="0">
                <a:latin typeface="微軟正黑體" panose="020B0604030504040204" pitchFamily="34" charset="-120"/>
                <a:ea typeface="微軟正黑體" panose="020B0604030504040204" pitchFamily="34" charset="-120"/>
              </a:rPr>
              <a:t>Apple Watch</a:t>
            </a:r>
            <a:r>
              <a:rPr lang="zh-TW" altLang="en-US" sz="800" dirty="0">
                <a:latin typeface="微軟正黑體" panose="020B0604030504040204" pitchFamily="34" charset="-120"/>
                <a:ea typeface="微軟正黑體" panose="020B0604030504040204" pitchFamily="34" charset="-120"/>
              </a:rPr>
              <a:t>、</a:t>
            </a:r>
            <a:r>
              <a:rPr lang="en-US" altLang="zh-TW" sz="800" dirty="0" err="1">
                <a:latin typeface="微軟正黑體" panose="020B0604030504040204" pitchFamily="34" charset="-120"/>
                <a:ea typeface="微軟正黑體" panose="020B0604030504040204" pitchFamily="34" charset="-120"/>
              </a:rPr>
              <a:t>HomePod</a:t>
            </a:r>
            <a:r>
              <a:rPr lang="zh-TW" altLang="en-US" sz="800" dirty="0">
                <a:latin typeface="微軟正黑體" panose="020B0604030504040204" pitchFamily="34" charset="-120"/>
                <a:ea typeface="微軟正黑體" panose="020B0604030504040204" pitchFamily="34" charset="-120"/>
              </a:rPr>
              <a:t>等產品及</a:t>
            </a:r>
            <a:r>
              <a:rPr lang="en-US" altLang="zh-TW" sz="800" dirty="0">
                <a:latin typeface="微軟正黑體" panose="020B0604030504040204" pitchFamily="34" charset="-120"/>
                <a:ea typeface="微軟正黑體" panose="020B0604030504040204" pitchFamily="34" charset="-120"/>
              </a:rPr>
              <a:t>Apple</a:t>
            </a:r>
            <a:r>
              <a:rPr lang="zh-TW" altLang="en-US" sz="800" dirty="0">
                <a:latin typeface="微軟正黑體" panose="020B0604030504040204" pitchFamily="34" charset="-120"/>
                <a:ea typeface="微軟正黑體" panose="020B0604030504040204" pitchFamily="34" charset="-120"/>
              </a:rPr>
              <a:t>品牌和第三方配件。</a:t>
            </a: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服務收入則包括來自數位內容商店及串流媒體服務、</a:t>
            </a:r>
            <a:r>
              <a:rPr lang="en-US" altLang="zh-TW" sz="800" dirty="0">
                <a:latin typeface="微軟正黑體" panose="020B0604030504040204" pitchFamily="34" charset="-120"/>
                <a:ea typeface="微軟正黑體" panose="020B0604030504040204" pitchFamily="34" charset="-120"/>
              </a:rPr>
              <a:t>AppleCare</a:t>
            </a:r>
            <a:r>
              <a:rPr lang="zh-TW" altLang="en-US" sz="800" dirty="0">
                <a:latin typeface="微軟正黑體" panose="020B0604030504040204" pitchFamily="34" charset="-120"/>
                <a:ea typeface="微軟正黑體" panose="020B0604030504040204" pitchFamily="34" charset="-120"/>
              </a:rPr>
              <a:t>及授權與其他服務。</a:t>
            </a:r>
            <a:endParaRPr lang="en-US" altLang="zh-TW" sz="800" dirty="0">
              <a:latin typeface="微軟正黑體" panose="020B0604030504040204" pitchFamily="34" charset="-120"/>
              <a:ea typeface="微軟正黑體" panose="020B0604030504040204" pitchFamily="34" charset="-120"/>
              <a:cs typeface="ＭＳ Ｐゴシック" pitchFamily="-112" charset="-128"/>
            </a:endParaRPr>
          </a:p>
          <a:p>
            <a:endParaRPr lang="en-US" altLang="zh-TW" sz="800" dirty="0">
              <a:latin typeface="微軟正黑體" panose="020B0604030504040204" pitchFamily="34" charset="-120"/>
              <a:ea typeface="微軟正黑體" panose="020B0604030504040204" pitchFamily="34" charset="-120"/>
            </a:endParaRPr>
          </a:p>
        </p:txBody>
      </p:sp>
      <p:sp>
        <p:nvSpPr>
          <p:cNvPr id="44" name="圓角矩形 36">
            <a:extLst>
              <a:ext uri="{FF2B5EF4-FFF2-40B4-BE49-F238E27FC236}">
                <a16:creationId xmlns:a16="http://schemas.microsoft.com/office/drawing/2014/main" id="{5260B2CD-FEE4-47F6-BD3F-4145A777A1CE}"/>
              </a:ext>
            </a:extLst>
          </p:cNvPr>
          <p:cNvSpPr/>
          <p:nvPr/>
        </p:nvSpPr>
        <p:spPr>
          <a:xfrm>
            <a:off x="2607902" y="4454242"/>
            <a:ext cx="2700301" cy="26392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業務及地域結構多元</a:t>
            </a:r>
          </a:p>
        </p:txBody>
      </p:sp>
      <p:pic>
        <p:nvPicPr>
          <p:cNvPr id="37" name="圖片 36"/>
          <p:cNvPicPr>
            <a:picLocks noChangeAspect="1"/>
          </p:cNvPicPr>
          <p:nvPr/>
        </p:nvPicPr>
        <p:blipFill>
          <a:blip r:embed="rId6">
            <a:clrChange>
              <a:clrFrom>
                <a:srgbClr val="FFFFFF"/>
              </a:clrFrom>
              <a:clrTo>
                <a:srgbClr val="FFFFFF">
                  <a:alpha val="0"/>
                </a:srgbClr>
              </a:clrTo>
            </a:clrChange>
          </a:blip>
          <a:stretch>
            <a:fillRect/>
          </a:stretch>
        </p:blipFill>
        <p:spPr>
          <a:xfrm>
            <a:off x="7460774" y="257608"/>
            <a:ext cx="927650" cy="795128"/>
          </a:xfrm>
          <a:prstGeom prst="rect">
            <a:avLst/>
          </a:prstGeom>
        </p:spPr>
      </p:pic>
      <p:sp>
        <p:nvSpPr>
          <p:cNvPr id="43" name="矩形 42"/>
          <p:cNvSpPr/>
          <p:nvPr/>
        </p:nvSpPr>
        <p:spPr>
          <a:xfrm>
            <a:off x="6668482" y="1661247"/>
            <a:ext cx="2503780" cy="492443"/>
          </a:xfrm>
          <a:prstGeom prst="rect">
            <a:avLst/>
          </a:prstGeom>
        </p:spPr>
        <p:txBody>
          <a:bodyPr wrap="square">
            <a:spAutoFit/>
          </a:bodyPr>
          <a:lstStyle/>
          <a:p>
            <a:pPr algn="ct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全球智慧手機製造商排名</a:t>
            </a:r>
          </a:p>
          <a:p>
            <a:pPr algn="ct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按營收及利潤</a:t>
            </a: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a:t>
            </a:r>
          </a:p>
        </p:txBody>
      </p:sp>
      <p:sp>
        <p:nvSpPr>
          <p:cNvPr id="51" name="文字方塊 50"/>
          <p:cNvSpPr txBox="1"/>
          <p:nvPr/>
        </p:nvSpPr>
        <p:spPr>
          <a:xfrm>
            <a:off x="6672573" y="1052736"/>
            <a:ext cx="2495598" cy="707886"/>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dirty="0">
                <a:latin typeface="微軟正黑體" panose="020B0604030504040204" pitchFamily="34" charset="-120"/>
                <a:ea typeface="微軟正黑體" panose="020B0604030504040204" pitchFamily="34" charset="-120"/>
              </a:rPr>
              <a:t>#1</a:t>
            </a:r>
            <a:endParaRPr lang="zh-TW" altLang="en-US" dirty="0">
              <a:latin typeface="微軟正黑體" panose="020B0604030504040204" pitchFamily="34" charset="-120"/>
              <a:ea typeface="微軟正黑體" panose="020B0604030504040204" pitchFamily="34" charset="-120"/>
            </a:endParaRPr>
          </a:p>
        </p:txBody>
      </p:sp>
      <p:sp>
        <p:nvSpPr>
          <p:cNvPr id="52" name="矩形 51"/>
          <p:cNvSpPr/>
          <p:nvPr/>
        </p:nvSpPr>
        <p:spPr>
          <a:xfrm>
            <a:off x="6668481" y="2893586"/>
            <a:ext cx="2503783" cy="492443"/>
          </a:xfrm>
          <a:prstGeom prst="rect">
            <a:avLst/>
          </a:prstGeom>
        </p:spPr>
        <p:txBody>
          <a:bodyPr wrap="square">
            <a:spAutoFit/>
          </a:bodyPr>
          <a:lstStyle/>
          <a:p>
            <a:pPr algn="ct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全球品牌價值排名</a:t>
            </a:r>
            <a:endParaRPr lang="en-US" altLang="zh-TW" sz="1400" b="1" dirty="0">
              <a:solidFill>
                <a:schemeClr val="tx1">
                  <a:lumMod val="85000"/>
                  <a:lumOff val="15000"/>
                </a:schemeClr>
              </a:solidFill>
              <a:latin typeface="微軟正黑體" panose="020B0604030504040204" pitchFamily="34" charset="-120"/>
              <a:ea typeface="微軟正黑體" panose="020B0604030504040204" pitchFamily="34" charset="-120"/>
            </a:endParaRPr>
          </a:p>
          <a:p>
            <a:pPr algn="ct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(Brand finance 2026)</a:t>
            </a:r>
            <a:endPar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endParaRPr>
          </a:p>
        </p:txBody>
      </p:sp>
      <p:sp>
        <p:nvSpPr>
          <p:cNvPr id="53" name="文字方塊 52"/>
          <p:cNvSpPr txBox="1"/>
          <p:nvPr/>
        </p:nvSpPr>
        <p:spPr>
          <a:xfrm>
            <a:off x="6672573" y="2276872"/>
            <a:ext cx="2495598" cy="707886"/>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dirty="0">
                <a:latin typeface="微軟正黑體" panose="020B0604030504040204" pitchFamily="34" charset="-120"/>
                <a:ea typeface="微軟正黑體" panose="020B0604030504040204" pitchFamily="34" charset="-120"/>
              </a:rPr>
              <a:t>#1</a:t>
            </a:r>
            <a:endParaRPr lang="zh-TW" altLang="en-US" dirty="0">
              <a:latin typeface="微軟正黑體" panose="020B0604030504040204" pitchFamily="34" charset="-120"/>
              <a:ea typeface="微軟正黑體" panose="020B0604030504040204" pitchFamily="34" charset="-120"/>
            </a:endParaRPr>
          </a:p>
        </p:txBody>
      </p:sp>
      <p:grpSp>
        <p:nvGrpSpPr>
          <p:cNvPr id="33" name="群組 32">
            <a:extLst>
              <a:ext uri="{FF2B5EF4-FFF2-40B4-BE49-F238E27FC236}">
                <a16:creationId xmlns:a16="http://schemas.microsoft.com/office/drawing/2014/main" id="{7E80E193-2CE6-4DB9-8CCE-F860462D9222}"/>
              </a:ext>
            </a:extLst>
          </p:cNvPr>
          <p:cNvGrpSpPr/>
          <p:nvPr/>
        </p:nvGrpSpPr>
        <p:grpSpPr>
          <a:xfrm>
            <a:off x="3440000" y="4659184"/>
            <a:ext cx="2932200" cy="1609183"/>
            <a:chOff x="1945536" y="4286098"/>
            <a:chExt cx="3320692" cy="2058102"/>
          </a:xfrm>
        </p:grpSpPr>
        <p:graphicFrame>
          <p:nvGraphicFramePr>
            <p:cNvPr id="39" name="圖表 38">
              <a:extLst>
                <a:ext uri="{FF2B5EF4-FFF2-40B4-BE49-F238E27FC236}">
                  <a16:creationId xmlns:a16="http://schemas.microsoft.com/office/drawing/2014/main" id="{DF889F7A-958B-40F1-BEA4-E678EA62DE26}"/>
                </a:ext>
              </a:extLst>
            </p:cNvPr>
            <p:cNvGraphicFramePr/>
            <p:nvPr>
              <p:extLst>
                <p:ext uri="{D42A27DB-BD31-4B8C-83A1-F6EECF244321}">
                  <p14:modId xmlns:p14="http://schemas.microsoft.com/office/powerpoint/2010/main" val="222769157"/>
                </p:ext>
              </p:extLst>
            </p:nvPr>
          </p:nvGraphicFramePr>
          <p:xfrm>
            <a:off x="1945536" y="4286098"/>
            <a:ext cx="3320692" cy="2058102"/>
          </p:xfrm>
          <a:graphic>
            <a:graphicData uri="http://schemas.openxmlformats.org/drawingml/2006/chart">
              <c:chart xmlns:c="http://schemas.openxmlformats.org/drawingml/2006/chart" xmlns:r="http://schemas.openxmlformats.org/officeDocument/2006/relationships" r:id="rId7"/>
            </a:graphicData>
          </a:graphic>
        </p:graphicFrame>
        <p:sp>
          <p:nvSpPr>
            <p:cNvPr id="40" name="文字方塊 39">
              <a:extLst>
                <a:ext uri="{FF2B5EF4-FFF2-40B4-BE49-F238E27FC236}">
                  <a16:creationId xmlns:a16="http://schemas.microsoft.com/office/drawing/2014/main" id="{4A4BA83C-263B-4EC0-8482-F9701D3A9259}"/>
                </a:ext>
              </a:extLst>
            </p:cNvPr>
            <p:cNvSpPr txBox="1"/>
            <p:nvPr/>
          </p:nvSpPr>
          <p:spPr>
            <a:xfrm>
              <a:off x="2314034" y="5074279"/>
              <a:ext cx="1331664" cy="866003"/>
            </a:xfrm>
            <a:prstGeom prst="rect">
              <a:avLst/>
            </a:prstGeom>
            <a:noFill/>
          </p:spPr>
          <p:txBody>
            <a:bodyPr wrap="square" rtlCol="0">
              <a:spAutoFit/>
            </a:bodyPr>
            <a:lstStyle/>
            <a:p>
              <a:pPr algn="ctr"/>
              <a:r>
                <a:rPr lang="en-US" altLang="zh-TW" sz="1000" dirty="0">
                  <a:latin typeface="微軟正黑體" panose="020B0604030504040204" pitchFamily="34" charset="-120"/>
                  <a:ea typeface="微軟正黑體" panose="020B0604030504040204" pitchFamily="34" charset="-120"/>
                </a:rPr>
                <a:t>FY25</a:t>
              </a:r>
            </a:p>
            <a:p>
              <a:pPr algn="ct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截至</a:t>
              </a:r>
              <a:r>
                <a:rPr lang="en-US" altLang="zh-TW" sz="800" dirty="0">
                  <a:latin typeface="微軟正黑體" panose="020B0604030504040204" pitchFamily="34" charset="-120"/>
                  <a:ea typeface="微軟正黑體" panose="020B0604030504040204" pitchFamily="34" charset="-120"/>
                </a:rPr>
                <a:t>2025/9/27)</a:t>
              </a:r>
            </a:p>
            <a:p>
              <a:pPr algn="ctr"/>
              <a:r>
                <a:rPr lang="zh-TW" altLang="en-US" sz="1000" dirty="0">
                  <a:latin typeface="微軟正黑體" panose="020B0604030504040204" pitchFamily="34" charset="-120"/>
                  <a:ea typeface="微軟正黑體" panose="020B0604030504040204" pitchFamily="34" charset="-120"/>
                </a:rPr>
                <a:t>營收</a:t>
              </a:r>
              <a:endParaRPr lang="en-US" altLang="zh-TW" sz="1000" dirty="0">
                <a:latin typeface="微軟正黑體" panose="020B0604030504040204" pitchFamily="34" charset="-120"/>
                <a:ea typeface="微軟正黑體" panose="020B0604030504040204" pitchFamily="34" charset="-120"/>
              </a:endParaRPr>
            </a:p>
            <a:p>
              <a:pPr algn="ctr"/>
              <a:r>
                <a:rPr lang="en-US" altLang="zh-TW" sz="1000" dirty="0">
                  <a:latin typeface="微軟正黑體" panose="020B0604030504040204" pitchFamily="34" charset="-120"/>
                  <a:ea typeface="微軟正黑體" panose="020B0604030504040204" pitchFamily="34" charset="-120"/>
                </a:rPr>
                <a:t>$4,161</a:t>
              </a:r>
              <a:r>
                <a:rPr lang="zh-TW" altLang="en-US" sz="1000" dirty="0">
                  <a:latin typeface="微軟正黑體" panose="020B0604030504040204" pitchFamily="34" charset="-120"/>
                  <a:ea typeface="微軟正黑體" panose="020B0604030504040204" pitchFamily="34" charset="-120"/>
                </a:rPr>
                <a:t>億</a:t>
              </a:r>
              <a:endParaRPr lang="zh-TW" altLang="en-US" sz="1000" b="1" dirty="0">
                <a:latin typeface="微軟正黑體" panose="020B0604030504040204" pitchFamily="34" charset="-120"/>
                <a:ea typeface="微軟正黑體" panose="020B0604030504040204" pitchFamily="34" charset="-120"/>
              </a:endParaRPr>
            </a:p>
          </p:txBody>
        </p:sp>
      </p:grpSp>
      <p:grpSp>
        <p:nvGrpSpPr>
          <p:cNvPr id="41" name="群組 40">
            <a:extLst>
              <a:ext uri="{FF2B5EF4-FFF2-40B4-BE49-F238E27FC236}">
                <a16:creationId xmlns:a16="http://schemas.microsoft.com/office/drawing/2014/main" id="{8306EB10-0F4F-4C99-BEC7-2945CC4E26DA}"/>
              </a:ext>
            </a:extLst>
          </p:cNvPr>
          <p:cNvGrpSpPr/>
          <p:nvPr/>
        </p:nvGrpSpPr>
        <p:grpSpPr>
          <a:xfrm>
            <a:off x="417338" y="4658852"/>
            <a:ext cx="3079448" cy="1722476"/>
            <a:chOff x="2614658" y="4289987"/>
            <a:chExt cx="3127651" cy="2058102"/>
          </a:xfrm>
        </p:grpSpPr>
        <p:graphicFrame>
          <p:nvGraphicFramePr>
            <p:cNvPr id="46" name="圖表 45">
              <a:extLst>
                <a:ext uri="{FF2B5EF4-FFF2-40B4-BE49-F238E27FC236}">
                  <a16:creationId xmlns:a16="http://schemas.microsoft.com/office/drawing/2014/main" id="{2451091C-CBE9-4D99-A24F-606BA361DB4B}"/>
                </a:ext>
              </a:extLst>
            </p:cNvPr>
            <p:cNvGraphicFramePr/>
            <p:nvPr>
              <p:extLst>
                <p:ext uri="{D42A27DB-BD31-4B8C-83A1-F6EECF244321}">
                  <p14:modId xmlns:p14="http://schemas.microsoft.com/office/powerpoint/2010/main" val="2834228181"/>
                </p:ext>
              </p:extLst>
            </p:nvPr>
          </p:nvGraphicFramePr>
          <p:xfrm>
            <a:off x="2614658" y="4289987"/>
            <a:ext cx="3127651" cy="2058102"/>
          </p:xfrm>
          <a:graphic>
            <a:graphicData uri="http://schemas.openxmlformats.org/drawingml/2006/chart">
              <c:chart xmlns:c="http://schemas.openxmlformats.org/drawingml/2006/chart" xmlns:r="http://schemas.openxmlformats.org/officeDocument/2006/relationships" r:id="rId8"/>
            </a:graphicData>
          </a:graphic>
        </p:graphicFrame>
        <p:sp>
          <p:nvSpPr>
            <p:cNvPr id="47" name="文字方塊 46">
              <a:extLst>
                <a:ext uri="{FF2B5EF4-FFF2-40B4-BE49-F238E27FC236}">
                  <a16:creationId xmlns:a16="http://schemas.microsoft.com/office/drawing/2014/main" id="{404F4B3B-A1D4-4B2B-BB36-21CE3316681C}"/>
                </a:ext>
              </a:extLst>
            </p:cNvPr>
            <p:cNvSpPr txBox="1"/>
            <p:nvPr/>
          </p:nvSpPr>
          <p:spPr>
            <a:xfrm>
              <a:off x="2970189" y="5009535"/>
              <a:ext cx="1140361" cy="809043"/>
            </a:xfrm>
            <a:prstGeom prst="rect">
              <a:avLst/>
            </a:prstGeom>
            <a:noFill/>
          </p:spPr>
          <p:txBody>
            <a:bodyPr wrap="square" rtlCol="0">
              <a:spAutoFit/>
            </a:bodyPr>
            <a:lstStyle/>
            <a:p>
              <a:pPr algn="ctr"/>
              <a:r>
                <a:rPr lang="en-US" altLang="zh-TW" sz="1000" dirty="0">
                  <a:latin typeface="微軟正黑體" panose="020B0604030504040204" pitchFamily="34" charset="-120"/>
                  <a:ea typeface="微軟正黑體" panose="020B0604030504040204" pitchFamily="34" charset="-120"/>
                </a:rPr>
                <a:t>FY25</a:t>
              </a:r>
            </a:p>
            <a:p>
              <a:pPr algn="ct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截至</a:t>
              </a:r>
              <a:r>
                <a:rPr lang="en-US" altLang="zh-TW" sz="800" dirty="0">
                  <a:latin typeface="微軟正黑體" panose="020B0604030504040204" pitchFamily="34" charset="-120"/>
                  <a:ea typeface="微軟正黑體" panose="020B0604030504040204" pitchFamily="34" charset="-120"/>
                </a:rPr>
                <a:t>2025/9/27)</a:t>
              </a:r>
            </a:p>
            <a:p>
              <a:pPr algn="ctr"/>
              <a:r>
                <a:rPr lang="zh-TW" altLang="en-US" sz="1000" dirty="0">
                  <a:latin typeface="微軟正黑體" panose="020B0604030504040204" pitchFamily="34" charset="-120"/>
                  <a:ea typeface="微軟正黑體" panose="020B0604030504040204" pitchFamily="34" charset="-120"/>
                </a:rPr>
                <a:t>營收</a:t>
              </a:r>
              <a:endParaRPr lang="en-US" altLang="zh-TW" sz="1000" dirty="0">
                <a:latin typeface="微軟正黑體" panose="020B0604030504040204" pitchFamily="34" charset="-120"/>
                <a:ea typeface="微軟正黑體" panose="020B0604030504040204" pitchFamily="34" charset="-120"/>
              </a:endParaRPr>
            </a:p>
            <a:p>
              <a:pPr algn="ctr"/>
              <a:r>
                <a:rPr lang="en-US" altLang="zh-TW" sz="1000" dirty="0">
                  <a:latin typeface="微軟正黑體" panose="020B0604030504040204" pitchFamily="34" charset="-120"/>
                  <a:ea typeface="微軟正黑體" panose="020B0604030504040204" pitchFamily="34" charset="-120"/>
                </a:rPr>
                <a:t>$4,161</a:t>
              </a:r>
              <a:r>
                <a:rPr lang="zh-TW" altLang="en-US" sz="1000" dirty="0">
                  <a:latin typeface="微軟正黑體" panose="020B0604030504040204" pitchFamily="34" charset="-120"/>
                  <a:ea typeface="微軟正黑體" panose="020B0604030504040204" pitchFamily="34" charset="-120"/>
                </a:rPr>
                <a:t>億</a:t>
              </a:r>
              <a:endParaRPr lang="zh-TW" altLang="en-US" sz="1000" b="1" dirty="0">
                <a:latin typeface="微軟正黑體" panose="020B0604030504040204" pitchFamily="34" charset="-120"/>
                <a:ea typeface="微軟正黑體" panose="020B0604030504040204" pitchFamily="34" charset="-120"/>
              </a:endParaRPr>
            </a:p>
          </p:txBody>
        </p:sp>
      </p:grpSp>
      <p:cxnSp>
        <p:nvCxnSpPr>
          <p:cNvPr id="48" name="直線接點 47">
            <a:extLst>
              <a:ext uri="{FF2B5EF4-FFF2-40B4-BE49-F238E27FC236}">
                <a16:creationId xmlns:a16="http://schemas.microsoft.com/office/drawing/2014/main" id="{51732942-D62E-4311-9728-AB3543C25425}"/>
              </a:ext>
            </a:extLst>
          </p:cNvPr>
          <p:cNvCxnSpPr/>
          <p:nvPr/>
        </p:nvCxnSpPr>
        <p:spPr>
          <a:xfrm>
            <a:off x="3239928" y="5057491"/>
            <a:ext cx="0" cy="1008112"/>
          </a:xfrm>
          <a:prstGeom prst="line">
            <a:avLst/>
          </a:prstGeom>
          <a:ln>
            <a:solidFill>
              <a:srgbClr val="E4E4E4"/>
            </a:solidFill>
          </a:ln>
        </p:spPr>
        <p:style>
          <a:lnRef idx="1">
            <a:schemeClr val="accent3"/>
          </a:lnRef>
          <a:fillRef idx="0">
            <a:schemeClr val="accent3"/>
          </a:fillRef>
          <a:effectRef idx="0">
            <a:schemeClr val="accent3"/>
          </a:effectRef>
          <a:fontRef idx="minor">
            <a:schemeClr val="tx1"/>
          </a:fontRef>
        </p:style>
      </p:cxnSp>
      <p:sp>
        <p:nvSpPr>
          <p:cNvPr id="49" name="文字方塊 48">
            <a:extLst>
              <a:ext uri="{FF2B5EF4-FFF2-40B4-BE49-F238E27FC236}">
                <a16:creationId xmlns:a16="http://schemas.microsoft.com/office/drawing/2014/main" id="{5B89675B-733B-43D8-8527-B18090A3BF68}"/>
              </a:ext>
            </a:extLst>
          </p:cNvPr>
          <p:cNvSpPr txBox="1"/>
          <p:nvPr/>
        </p:nvSpPr>
        <p:spPr>
          <a:xfrm>
            <a:off x="2087800" y="4851762"/>
            <a:ext cx="864095" cy="276999"/>
          </a:xfrm>
          <a:prstGeom prst="rect">
            <a:avLst/>
          </a:prstGeom>
          <a:noFill/>
        </p:spPr>
        <p:txBody>
          <a:bodyPr wrap="square">
            <a:spAutoFit/>
          </a:bodyPr>
          <a:lstStyle/>
          <a:p>
            <a:r>
              <a:rPr lang="zh-TW" altLang="en-US" sz="1200" b="1" dirty="0">
                <a:latin typeface="微軟正黑體" panose="020B0604030504040204" pitchFamily="34" charset="-120"/>
                <a:ea typeface="微軟正黑體" panose="020B0604030504040204" pitchFamily="34" charset="-120"/>
              </a:rPr>
              <a:t>按業務別</a:t>
            </a:r>
          </a:p>
        </p:txBody>
      </p:sp>
      <p:sp>
        <p:nvSpPr>
          <p:cNvPr id="50" name="文字方塊 49">
            <a:extLst>
              <a:ext uri="{FF2B5EF4-FFF2-40B4-BE49-F238E27FC236}">
                <a16:creationId xmlns:a16="http://schemas.microsoft.com/office/drawing/2014/main" id="{A4E89574-B41B-4841-851D-EAD2AAB90476}"/>
              </a:ext>
            </a:extLst>
          </p:cNvPr>
          <p:cNvSpPr txBox="1"/>
          <p:nvPr/>
        </p:nvSpPr>
        <p:spPr>
          <a:xfrm>
            <a:off x="4948629" y="4791717"/>
            <a:ext cx="1080118" cy="276999"/>
          </a:xfrm>
          <a:prstGeom prst="rect">
            <a:avLst/>
          </a:prstGeom>
          <a:noFill/>
        </p:spPr>
        <p:txBody>
          <a:bodyPr wrap="square">
            <a:spAutoFit/>
          </a:bodyPr>
          <a:lstStyle/>
          <a:p>
            <a:r>
              <a:rPr lang="zh-TW" altLang="en-US" sz="1200" b="1" dirty="0">
                <a:latin typeface="微軟正黑體" panose="020B0604030504040204" pitchFamily="34" charset="-120"/>
                <a:ea typeface="微軟正黑體" panose="020B0604030504040204" pitchFamily="34" charset="-120"/>
              </a:rPr>
              <a:t>按地域別</a:t>
            </a:r>
          </a:p>
        </p:txBody>
      </p:sp>
      <p:sp>
        <p:nvSpPr>
          <p:cNvPr id="35" name="文字版面配置區 15">
            <a:extLst>
              <a:ext uri="{FF2B5EF4-FFF2-40B4-BE49-F238E27FC236}">
                <a16:creationId xmlns:a16="http://schemas.microsoft.com/office/drawing/2014/main" id="{11A04B46-DE0C-4282-BFCA-6BA92CADD11B}"/>
              </a:ext>
            </a:extLst>
          </p:cNvPr>
          <p:cNvSpPr txBox="1">
            <a:spLocks/>
          </p:cNvSpPr>
          <p:nvPr/>
        </p:nvSpPr>
        <p:spPr>
          <a:xfrm>
            <a:off x="492407" y="1005240"/>
            <a:ext cx="5899116" cy="3210451"/>
          </a:xfrm>
          <a:prstGeom prst="rect">
            <a:avLst/>
          </a:prstGeom>
        </p:spPr>
        <p:txBody>
          <a:bodyPr>
            <a:no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a:lnSpc>
                <a:spcPts val="1700"/>
              </a:lnSpc>
              <a:buNone/>
            </a:pP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蘋果公司（</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Apple Inc.</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NASDAQ: AAPL</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）成立於</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1977</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年，總部位於美國加利福尼亞州，以電子科技產品為核心業務，並以硬體創新和軟體整合聞名於全球高科技行業。作為全球首家市值突破</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3</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兆美元的企業，蘋果專注於設計、製造和銷售行動通訊設備、媒體設備及個人電腦，同時提供多樣化的相關軟體、服務、配件、第三方數位內容及應用程式，致力於打造完整且高黏著性的產品生態系統。</a:t>
            </a:r>
          </a:p>
          <a:p>
            <a:pPr marL="0" indent="0" algn="just">
              <a:lnSpc>
                <a:spcPts val="1700"/>
              </a:lnSpc>
              <a:buNone/>
            </a:pP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蘋果憑藉著</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iPhone</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智慧型手機、</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iPad</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平板電腦、</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Mac</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電腦、</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Apple Watch</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及</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Apple TV</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等創新硬體產品，並透過五大軟體平台：</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iOS</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100" dirty="0" err="1">
                <a:solidFill>
                  <a:schemeClr val="tx1">
                    <a:lumMod val="75000"/>
                    <a:lumOff val="25000"/>
                  </a:schemeClr>
                </a:solidFill>
                <a:latin typeface="微軟正黑體" panose="020B0604030504040204" pitchFamily="34" charset="-120"/>
                <a:ea typeface="微軟正黑體" panose="020B0604030504040204" pitchFamily="34" charset="-120"/>
              </a:rPr>
              <a:t>iPadOS</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100" dirty="0" err="1">
                <a:solidFill>
                  <a:schemeClr val="tx1">
                    <a:lumMod val="75000"/>
                    <a:lumOff val="25000"/>
                  </a:schemeClr>
                </a:solidFill>
                <a:latin typeface="微軟正黑體" panose="020B0604030504040204" pitchFamily="34" charset="-120"/>
                <a:ea typeface="微軟正黑體" panose="020B0604030504040204" pitchFamily="34" charset="-120"/>
              </a:rPr>
              <a:t>macOS</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100" dirty="0" err="1">
                <a:solidFill>
                  <a:schemeClr val="tx1">
                    <a:lumMod val="75000"/>
                    <a:lumOff val="25000"/>
                  </a:schemeClr>
                </a:solidFill>
                <a:latin typeface="微軟正黑體" panose="020B0604030504040204" pitchFamily="34" charset="-120"/>
                <a:ea typeface="微軟正黑體" panose="020B0604030504040204" pitchFamily="34" charset="-120"/>
              </a:rPr>
              <a:t>watchOS</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和</a:t>
            </a:r>
            <a:r>
              <a:rPr lang="en-US" altLang="zh-TW" sz="1100" dirty="0" err="1">
                <a:solidFill>
                  <a:schemeClr val="tx1">
                    <a:lumMod val="75000"/>
                    <a:lumOff val="25000"/>
                  </a:schemeClr>
                </a:solidFill>
                <a:latin typeface="微軟正黑體" panose="020B0604030504040204" pitchFamily="34" charset="-120"/>
                <a:ea typeface="微軟正黑體" panose="020B0604030504040204" pitchFamily="34" charset="-120"/>
              </a:rPr>
              <a:t>tvOS</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在所有</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Apple</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裝置間提供順暢無縫的使用體驗，再輔以</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App Store</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Apple Music</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Apple Pay</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和</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iCloud</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等軟體服務擴大蘋果生態系以及加深產品的護城河。</a:t>
            </a:r>
          </a:p>
          <a:p>
            <a:pPr algn="just">
              <a:lnSpc>
                <a:spcPts val="1700"/>
              </a:lnSpc>
              <a:buFont typeface="Wingdings" panose="05000000000000000000" pitchFamily="2" charset="2"/>
              <a:buChar char="ü"/>
            </a:pPr>
            <a:r>
              <a:rPr lang="zh-TW" altLang="en-US" sz="1100" b="1" dirty="0">
                <a:solidFill>
                  <a:srgbClr val="FF0000"/>
                </a:solidFill>
                <a:latin typeface="微軟正黑體" panose="020B0604030504040204" pitchFamily="34" charset="-120"/>
                <a:ea typeface="微軟正黑體" panose="020B0604030504040204" pitchFamily="34" charset="-120"/>
              </a:rPr>
              <a:t>軟硬體結合的強大生態系奠定全球品牌價值龍頭地位</a:t>
            </a:r>
            <a:r>
              <a:rPr lang="zh-TW" altLang="en-US" sz="11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除</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iPhone</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 Apple Watch</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等硬體造就蘋果全球活躍裝置數量逾</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25</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億部之外，</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Apple Music</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Apple TV+</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等軟體服務亦使旗下服務事業擁有逾</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12</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億的付費訂閱用戶，軟硬結合的蘋果生態系讓「果粉們」愛不釋手。</a:t>
            </a:r>
          </a:p>
          <a:p>
            <a:pPr algn="just">
              <a:lnSpc>
                <a:spcPts val="1700"/>
              </a:lnSpc>
              <a:buFont typeface="Wingdings" panose="05000000000000000000" pitchFamily="2" charset="2"/>
              <a:buChar char="ü"/>
            </a:pPr>
            <a:r>
              <a:rPr lang="en-US" altLang="zh-TW" sz="1100" b="1" dirty="0">
                <a:solidFill>
                  <a:srgbClr val="FF0000"/>
                </a:solidFill>
                <a:latin typeface="微軟正黑體" panose="020B0604030504040204" pitchFamily="34" charset="-120"/>
                <a:ea typeface="微軟正黑體" panose="020B0604030504040204" pitchFamily="34" charset="-120"/>
              </a:rPr>
              <a:t>3A</a:t>
            </a:r>
            <a:r>
              <a:rPr lang="zh-TW" altLang="en-US" sz="1100" b="1" dirty="0">
                <a:solidFill>
                  <a:srgbClr val="FF0000"/>
                </a:solidFill>
                <a:latin typeface="微軟正黑體" panose="020B0604030504040204" pitchFamily="34" charset="-120"/>
                <a:ea typeface="微軟正黑體" panose="020B0604030504040204" pitchFamily="34" charset="-120"/>
              </a:rPr>
              <a:t>頂級俱樂部成員之一</a:t>
            </a:r>
            <a:r>
              <a:rPr lang="zh-TW" altLang="en-US" sz="11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穆迪在</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2021</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年</a:t>
            </a:r>
            <a:r>
              <a:rPr lang="en-US" altLang="zh-TW" sz="1100" dirty="0">
                <a:solidFill>
                  <a:schemeClr val="tx1">
                    <a:lumMod val="75000"/>
                    <a:lumOff val="25000"/>
                  </a:schemeClr>
                </a:solidFill>
                <a:latin typeface="微軟正黑體" panose="020B0604030504040204" pitchFamily="34" charset="-120"/>
                <a:ea typeface="微軟正黑體" panose="020B0604030504040204" pitchFamily="34" charset="-120"/>
              </a:rPr>
              <a:t>12</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月將蘋果長期信用評等調升至</a:t>
            </a:r>
            <a:r>
              <a:rPr lang="en-US" altLang="zh-TW" sz="1100" dirty="0" err="1">
                <a:solidFill>
                  <a:schemeClr val="tx1">
                    <a:lumMod val="75000"/>
                    <a:lumOff val="25000"/>
                  </a:schemeClr>
                </a:solidFill>
                <a:latin typeface="微軟正黑體" panose="020B0604030504040204" pitchFamily="34" charset="-120"/>
                <a:ea typeface="微軟正黑體" panose="020B0604030504040204" pitchFamily="34" charset="-120"/>
              </a:rPr>
              <a:t>Aaa</a:t>
            </a:r>
            <a:r>
              <a:rPr lang="zh-TW" altLang="en-US" sz="1100" dirty="0">
                <a:solidFill>
                  <a:schemeClr val="tx1">
                    <a:lumMod val="75000"/>
                    <a:lumOff val="25000"/>
                  </a:schemeClr>
                </a:solidFill>
                <a:latin typeface="微軟正黑體" panose="020B0604030504040204" pitchFamily="34" charset="-120"/>
                <a:ea typeface="微軟正黑體" panose="020B0604030504040204" pitchFamily="34" charset="-120"/>
              </a:rPr>
              <a:t>，為繼微軟和嬌生後的擁有頂級信評的美企，穆迪看好蘋果優良的流動性及獲利前景。</a:t>
            </a:r>
          </a:p>
        </p:txBody>
      </p:sp>
      <p:sp>
        <p:nvSpPr>
          <p:cNvPr id="55" name="矩形 54"/>
          <p:cNvSpPr/>
          <p:nvPr/>
        </p:nvSpPr>
        <p:spPr>
          <a:xfrm>
            <a:off x="6668481" y="4160693"/>
            <a:ext cx="2503783" cy="492443"/>
          </a:xfrm>
          <a:prstGeom prst="rect">
            <a:avLst/>
          </a:prstGeom>
        </p:spPr>
        <p:txBody>
          <a:bodyPr wrap="square">
            <a:spAutoFit/>
          </a:bodyPr>
          <a:lstStyle/>
          <a:p>
            <a:pPr algn="ct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美國</a:t>
            </a:r>
            <a:r>
              <a:rPr lang="en-US" altLang="zh-TW" sz="1400" b="1" dirty="0">
                <a:solidFill>
                  <a:schemeClr val="tx1">
                    <a:lumMod val="85000"/>
                    <a:lumOff val="15000"/>
                  </a:schemeClr>
                </a:solidFill>
                <a:latin typeface="微軟正黑體" panose="020B0604030504040204" pitchFamily="34" charset="-120"/>
                <a:ea typeface="微軟正黑體" panose="020B0604030504040204" pitchFamily="34" charset="-120"/>
              </a:rPr>
              <a:t>500</a:t>
            </a: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強獲利排名</a:t>
            </a:r>
            <a:endParaRPr lang="en-US" altLang="zh-TW" sz="1400" b="1" dirty="0">
              <a:solidFill>
                <a:schemeClr val="tx1">
                  <a:lumMod val="85000"/>
                  <a:lumOff val="15000"/>
                </a:schemeClr>
              </a:solidFill>
              <a:latin typeface="微軟正黑體" panose="020B0604030504040204" pitchFamily="34" charset="-120"/>
              <a:ea typeface="微軟正黑體" panose="020B0604030504040204" pitchFamily="34" charset="-120"/>
            </a:endParaRPr>
          </a:p>
          <a:p>
            <a:pPr algn="ct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(Fortune 2025)</a:t>
            </a:r>
            <a:endPar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endParaRPr>
          </a:p>
        </p:txBody>
      </p:sp>
      <p:sp>
        <p:nvSpPr>
          <p:cNvPr id="56" name="文字方塊 55"/>
          <p:cNvSpPr txBox="1"/>
          <p:nvPr/>
        </p:nvSpPr>
        <p:spPr>
          <a:xfrm>
            <a:off x="6672573" y="3543979"/>
            <a:ext cx="2495598" cy="707886"/>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dirty="0">
                <a:latin typeface="微軟正黑體" panose="020B0604030504040204" pitchFamily="34" charset="-120"/>
                <a:ea typeface="微軟正黑體" panose="020B0604030504040204" pitchFamily="34" charset="-120"/>
              </a:rPr>
              <a:t>#2</a:t>
            </a:r>
            <a:endParaRPr lang="zh-TW" altLang="en-US" dirty="0">
              <a:latin typeface="微軟正黑體" panose="020B0604030504040204" pitchFamily="34" charset="-120"/>
              <a:ea typeface="微軟正黑體" panose="020B0604030504040204" pitchFamily="34" charset="-120"/>
            </a:endParaRPr>
          </a:p>
        </p:txBody>
      </p:sp>
      <p:sp>
        <p:nvSpPr>
          <p:cNvPr id="58" name="文字方塊 57"/>
          <p:cNvSpPr txBox="1"/>
          <p:nvPr/>
        </p:nvSpPr>
        <p:spPr>
          <a:xfrm>
            <a:off x="6711052" y="4644178"/>
            <a:ext cx="2503781" cy="461665"/>
          </a:xfrm>
          <a:prstGeom prst="rect">
            <a:avLst/>
          </a:prstGeom>
          <a:noFill/>
        </p:spPr>
        <p:txBody>
          <a:bodyPr wrap="square" rtlCol="0">
            <a:spAutoFit/>
          </a:bodyPr>
          <a:lstStyle/>
          <a:p>
            <a:pPr algn="ctr"/>
            <a:r>
              <a:rPr lang="en-US" altLang="zh-TW" sz="1200" dirty="0">
                <a:latin typeface="jf金萱那提2.0 六分糖" panose="020B0700000000000000" pitchFamily="34" charset="-120"/>
                <a:ea typeface="jf金萱那提2.0 六分糖" panose="020B0700000000000000" pitchFamily="34" charset="-120"/>
              </a:rPr>
              <a:t>iPhone17 </a:t>
            </a:r>
            <a:r>
              <a:rPr lang="zh-TW" altLang="en-US" sz="1200" dirty="0">
                <a:latin typeface="jf金萱那提2.0 六分糖" panose="020B0700000000000000" pitchFamily="34" charset="-120"/>
                <a:ea typeface="jf金萱那提2.0 六分糖" panose="020B0700000000000000" pitchFamily="34" charset="-120"/>
              </a:rPr>
              <a:t>因標準版大幅升級</a:t>
            </a:r>
            <a:endParaRPr lang="en-US" altLang="zh-TW" sz="1200" dirty="0">
              <a:latin typeface="jf金萱那提2.0 六分糖" panose="020B0700000000000000" pitchFamily="34" charset="-120"/>
              <a:ea typeface="jf金萱那提2.0 六分糖" panose="020B0700000000000000" pitchFamily="34" charset="-120"/>
            </a:endParaRPr>
          </a:p>
          <a:p>
            <a:pPr algn="ctr"/>
            <a:r>
              <a:rPr lang="zh-TW" altLang="en-US" sz="1200" dirty="0">
                <a:latin typeface="jf金萱那提2.0 六分糖" panose="020B0700000000000000" pitchFamily="34" charset="-120"/>
                <a:ea typeface="jf金萱那提2.0 六分糖" panose="020B0700000000000000" pitchFamily="34" charset="-120"/>
              </a:rPr>
              <a:t>帶來強烈的性價比</a:t>
            </a:r>
          </a:p>
        </p:txBody>
      </p:sp>
      <p:pic>
        <p:nvPicPr>
          <p:cNvPr id="4" name="圖片 3">
            <a:extLst>
              <a:ext uri="{FF2B5EF4-FFF2-40B4-BE49-F238E27FC236}">
                <a16:creationId xmlns:a16="http://schemas.microsoft.com/office/drawing/2014/main" id="{D7D23C35-F0B7-43C7-B6AB-62F3A9E3777B}"/>
              </a:ext>
            </a:extLst>
          </p:cNvPr>
          <p:cNvPicPr>
            <a:picLocks noChangeAspect="1"/>
          </p:cNvPicPr>
          <p:nvPr/>
        </p:nvPicPr>
        <p:blipFill rotWithShape="1">
          <a:blip r:embed="rId9">
            <a:extLst>
              <a:ext uri="{BEBA8EAE-BF5A-486C-A8C5-ECC9F3942E4B}">
                <a14:imgProps xmlns:a14="http://schemas.microsoft.com/office/drawing/2010/main">
                  <a14:imgLayer r:embed="rId10">
                    <a14:imgEffect>
                      <a14:backgroundRemoval t="9943" b="89675" l="6887" r="93544">
                        <a14:foregroundMark x1="15065" y1="36711" x2="15065" y2="36711"/>
                        <a14:foregroundMark x1="13486" y1="15296" x2="13486" y2="15296"/>
                        <a14:foregroundMark x1="16643" y1="15105" x2="16643" y2="15105"/>
                        <a14:foregroundMark x1="13773" y1="18547" x2="12482" y2="48948"/>
                        <a14:foregroundMark x1="12482" y1="48948" x2="16356" y2="58126"/>
                        <a14:foregroundMark x1="16356" y1="58126" x2="14921" y2="41300"/>
                        <a14:foregroundMark x1="14921" y1="41300" x2="9900" y2="52008"/>
                        <a14:foregroundMark x1="9900" y1="52008" x2="10904" y2="79350"/>
                        <a14:foregroundMark x1="7174" y1="13384" x2="6887" y2="45889"/>
                        <a14:foregroundMark x1="34290" y1="13576" x2="34290" y2="13576"/>
                        <a14:foregroundMark x1="34864" y1="13002" x2="34864" y2="13002"/>
                        <a14:foregroundMark x1="35581" y1="12428" x2="35581" y2="12428"/>
                        <a14:foregroundMark x1="37303" y1="12428" x2="37303" y2="12428"/>
                        <a14:foregroundMark x1="38594" y1="12046" x2="38594" y2="12046"/>
                        <a14:foregroundMark x1="39311" y1="12428" x2="39311" y2="12428"/>
                        <a14:foregroundMark x1="39885" y1="12428" x2="39885" y2="12428"/>
                        <a14:foregroundMark x1="41750" y1="13002" x2="41750" y2="13002"/>
                        <a14:foregroundMark x1="43615" y1="14340" x2="43615" y2="14340"/>
                        <a14:foregroundMark x1="43185" y1="13767" x2="43185" y2="13767"/>
                        <a14:foregroundMark x1="42611" y1="13576" x2="39168" y2="12620"/>
                        <a14:foregroundMark x1="38020" y1="12046" x2="36011" y2="12237"/>
                        <a14:foregroundMark x1="35868" y1="12046" x2="38307" y2="12620"/>
                        <a14:foregroundMark x1="36442" y1="12237" x2="39455" y2="12620"/>
                        <a14:foregroundMark x1="35581" y1="12428" x2="38020" y2="11855"/>
                        <a14:foregroundMark x1="34864" y1="12620" x2="36155" y2="11855"/>
                        <a14:foregroundMark x1="79484" y1="26769" x2="84362" y2="38050"/>
                        <a14:foregroundMark x1="84362" y1="38050" x2="84935" y2="57170"/>
                        <a14:foregroundMark x1="84935" y1="57170" x2="83214" y2="35946"/>
                        <a14:foregroundMark x1="83214" y1="35946" x2="83357" y2="36902"/>
                        <a14:foregroundMark x1="77475" y1="15296" x2="85509" y2="17973"/>
                        <a14:foregroundMark x1="85509" y1="17973" x2="93544" y2="27916"/>
                        <a14:foregroundMark x1="93544" y1="27916" x2="85653" y2="78776"/>
                        <a14:foregroundMark x1="85653" y1="78776" x2="78766" y2="41109"/>
                        <a14:foregroundMark x1="76901" y1="17782" x2="80201" y2="27533"/>
                        <a14:foregroundMark x1="80201" y1="27533" x2="79484" y2="21033"/>
                        <a14:foregroundMark x1="76758" y1="69407" x2="81349" y2="83174"/>
                        <a14:foregroundMark x1="81349" y1="83174" x2="90100" y2="86424"/>
                        <a14:foregroundMark x1="90100" y1="86424" x2="92970" y2="69025"/>
                        <a14:foregroundMark x1="92970" y1="69025" x2="85509" y2="57744"/>
                        <a14:foregroundMark x1="85509" y1="57744" x2="79627" y2="65392"/>
                        <a14:foregroundMark x1="79627" y1="65392" x2="79340" y2="65966"/>
                      </a14:backgroundRemoval>
                    </a14:imgEffect>
                  </a14:imgLayer>
                </a14:imgProps>
              </a:ext>
            </a:extLst>
          </a:blip>
          <a:srcRect b="24250"/>
          <a:stretch/>
        </p:blipFill>
        <p:spPr>
          <a:xfrm>
            <a:off x="6450697" y="4884869"/>
            <a:ext cx="2803973" cy="1593759"/>
          </a:xfrm>
          <a:prstGeom prst="rect">
            <a:avLst/>
          </a:prstGeom>
        </p:spPr>
      </p:pic>
    </p:spTree>
    <p:extLst>
      <p:ext uri="{BB962C8B-B14F-4D97-AF65-F5344CB8AC3E}">
        <p14:creationId xmlns:p14="http://schemas.microsoft.com/office/powerpoint/2010/main" val="3823933520"/>
      </p:ext>
    </p:extLst>
  </p:cSld>
  <p:clrMapOvr>
    <a:masterClrMapping/>
  </p:clrMapOvr>
  <mc:AlternateContent xmlns:mc="http://schemas.openxmlformats.org/markup-compatibility/2006">
    <mc:Choice xmlns:p14="http://schemas.microsoft.com/office/powerpoint/2010/main" Requires="p14">
      <p:transition spd="slow" p14:dur="2000" advTm="41206"/>
    </mc:Choice>
    <mc:Fallback>
      <p:transition spd="slow" advTm="4120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表格 20">
            <a:extLst>
              <a:ext uri="{FF2B5EF4-FFF2-40B4-BE49-F238E27FC236}">
                <a16:creationId xmlns:a16="http://schemas.microsoft.com/office/drawing/2014/main" id="{CABB71E9-B4DC-44BA-B3EA-5E16BD56FFEF}"/>
              </a:ext>
            </a:extLst>
          </p:cNvPr>
          <p:cNvGraphicFramePr>
            <a:graphicFrameLocks noGrp="1"/>
          </p:cNvGraphicFramePr>
          <p:nvPr>
            <p:extLst>
              <p:ext uri="{D42A27DB-BD31-4B8C-83A1-F6EECF244321}">
                <p14:modId xmlns:p14="http://schemas.microsoft.com/office/powerpoint/2010/main" val="2150472622"/>
              </p:ext>
            </p:extLst>
          </p:nvPr>
        </p:nvGraphicFramePr>
        <p:xfrm>
          <a:off x="3569697" y="5051824"/>
          <a:ext cx="2611295" cy="1266349"/>
        </p:xfrm>
        <a:graphic>
          <a:graphicData uri="http://schemas.openxmlformats.org/drawingml/2006/table">
            <a:tbl>
              <a:tblPr>
                <a:tableStyleId>{5C22544A-7EE6-4342-B048-85BDC9FD1C3A}</a:tableStyleId>
              </a:tblPr>
              <a:tblGrid>
                <a:gridCol w="1012856">
                  <a:extLst>
                    <a:ext uri="{9D8B030D-6E8A-4147-A177-3AD203B41FA5}">
                      <a16:colId xmlns:a16="http://schemas.microsoft.com/office/drawing/2014/main" val="2426165892"/>
                    </a:ext>
                  </a:extLst>
                </a:gridCol>
                <a:gridCol w="532813">
                  <a:extLst>
                    <a:ext uri="{9D8B030D-6E8A-4147-A177-3AD203B41FA5}">
                      <a16:colId xmlns:a16="http://schemas.microsoft.com/office/drawing/2014/main" val="1656842297"/>
                    </a:ext>
                  </a:extLst>
                </a:gridCol>
                <a:gridCol w="532813">
                  <a:extLst>
                    <a:ext uri="{9D8B030D-6E8A-4147-A177-3AD203B41FA5}">
                      <a16:colId xmlns:a16="http://schemas.microsoft.com/office/drawing/2014/main" val="2819243421"/>
                    </a:ext>
                  </a:extLst>
                </a:gridCol>
                <a:gridCol w="532813">
                  <a:extLst>
                    <a:ext uri="{9D8B030D-6E8A-4147-A177-3AD203B41FA5}">
                      <a16:colId xmlns:a16="http://schemas.microsoft.com/office/drawing/2014/main" val="2620907513"/>
                    </a:ext>
                  </a:extLst>
                </a:gridCol>
              </a:tblGrid>
              <a:tr h="156626">
                <a:tc>
                  <a:txBody>
                    <a:bodyPr/>
                    <a:lstStyle/>
                    <a:p>
                      <a:pPr algn="ctr" fontAlgn="ctr"/>
                      <a:r>
                        <a:rPr lang="en-US" sz="800" b="1" u="none" strike="noStrike" dirty="0">
                          <a:solidFill>
                            <a:schemeClr val="bg1"/>
                          </a:solidFill>
                          <a:effectLst/>
                          <a:latin typeface="+mn-ea"/>
                          <a:ea typeface="+mn-ea"/>
                        </a:rPr>
                        <a:t>Company</a:t>
                      </a:r>
                      <a:endParaRPr lang="en-US" sz="800" b="1" i="0" u="none" strike="noStrike" dirty="0">
                        <a:solidFill>
                          <a:schemeClr val="bg1"/>
                        </a:solidFill>
                        <a:effectLst/>
                        <a:latin typeface="+mn-ea"/>
                        <a:ea typeface="+mn-ea"/>
                      </a:endParaRPr>
                    </a:p>
                  </a:txBody>
                  <a:tcPr marL="9525" marR="9525" marT="9525" marB="0" anchor="ctr">
                    <a:solidFill>
                      <a:srgbClr val="C00000"/>
                    </a:solidFill>
                  </a:tcPr>
                </a:tc>
                <a:tc>
                  <a:txBody>
                    <a:bodyPr/>
                    <a:lstStyle/>
                    <a:p>
                      <a:pPr algn="ctr" fontAlgn="ctr"/>
                      <a:r>
                        <a:rPr lang="en-US" sz="800" b="1" u="none" strike="noStrike" dirty="0">
                          <a:solidFill>
                            <a:schemeClr val="bg1"/>
                          </a:solidFill>
                          <a:effectLst/>
                          <a:latin typeface="+mn-ea"/>
                          <a:ea typeface="+mn-ea"/>
                        </a:rPr>
                        <a:t>202</a:t>
                      </a:r>
                      <a:r>
                        <a:rPr lang="en-US" altLang="zh-TW" sz="800" b="1" u="none" strike="noStrike" dirty="0">
                          <a:solidFill>
                            <a:schemeClr val="bg1"/>
                          </a:solidFill>
                          <a:effectLst/>
                          <a:latin typeface="+mn-ea"/>
                          <a:ea typeface="+mn-ea"/>
                        </a:rPr>
                        <a:t>5</a:t>
                      </a:r>
                      <a:r>
                        <a:rPr lang="en-US" sz="800" b="1" u="none" strike="noStrike" dirty="0">
                          <a:solidFill>
                            <a:schemeClr val="bg1"/>
                          </a:solidFill>
                          <a:effectLst/>
                          <a:latin typeface="+mn-ea"/>
                          <a:ea typeface="+mn-ea"/>
                        </a:rPr>
                        <a:t>Q</a:t>
                      </a:r>
                      <a:r>
                        <a:rPr lang="en-US" altLang="zh-TW" sz="800" b="1" u="none" strike="noStrike" dirty="0">
                          <a:solidFill>
                            <a:schemeClr val="bg1"/>
                          </a:solidFill>
                          <a:effectLst/>
                          <a:latin typeface="+mn-ea"/>
                          <a:ea typeface="+mn-ea"/>
                        </a:rPr>
                        <a:t>2</a:t>
                      </a:r>
                      <a:endParaRPr lang="en-US" sz="800" b="1" i="0" u="none" strike="noStrike" dirty="0">
                        <a:solidFill>
                          <a:schemeClr val="bg1"/>
                        </a:solidFill>
                        <a:effectLst/>
                        <a:latin typeface="+mn-ea"/>
                        <a:ea typeface="+mn-ea"/>
                      </a:endParaRPr>
                    </a:p>
                  </a:txBody>
                  <a:tcPr marL="9525" marR="9525" marT="9525" marB="0" anchor="ctr">
                    <a:solidFill>
                      <a:srgbClr val="C00000"/>
                    </a:solidFill>
                  </a:tcPr>
                </a:tc>
                <a:tc>
                  <a:txBody>
                    <a:bodyPr/>
                    <a:lstStyle/>
                    <a:p>
                      <a:pPr algn="ctr" fontAlgn="ctr"/>
                      <a:r>
                        <a:rPr lang="en-US" sz="800" b="1" u="none" strike="noStrike" dirty="0">
                          <a:solidFill>
                            <a:schemeClr val="bg1"/>
                          </a:solidFill>
                          <a:effectLst/>
                          <a:latin typeface="+mn-ea"/>
                          <a:ea typeface="+mn-ea"/>
                        </a:rPr>
                        <a:t>2025Q</a:t>
                      </a:r>
                      <a:r>
                        <a:rPr lang="en-US" altLang="zh-TW" sz="800" b="1" u="none" strike="noStrike" dirty="0">
                          <a:solidFill>
                            <a:schemeClr val="bg1"/>
                          </a:solidFill>
                          <a:effectLst/>
                          <a:latin typeface="+mn-ea"/>
                          <a:ea typeface="+mn-ea"/>
                        </a:rPr>
                        <a:t>3</a:t>
                      </a:r>
                      <a:endParaRPr lang="en-US" sz="800" b="1" i="0" u="none" strike="noStrike" dirty="0">
                        <a:solidFill>
                          <a:schemeClr val="bg1"/>
                        </a:solidFill>
                        <a:effectLst/>
                        <a:latin typeface="+mn-ea"/>
                        <a:ea typeface="+mn-ea"/>
                      </a:endParaRPr>
                    </a:p>
                  </a:txBody>
                  <a:tcPr marL="9525" marR="9525" marT="9525" marB="0" anchor="ctr">
                    <a:solidFill>
                      <a:srgbClr val="C00000"/>
                    </a:solidFill>
                  </a:tcPr>
                </a:tc>
                <a:tc>
                  <a:txBody>
                    <a:bodyPr/>
                    <a:lstStyle/>
                    <a:p>
                      <a:pPr algn="ctr" fontAlgn="ctr"/>
                      <a:r>
                        <a:rPr lang="en-US" sz="800" b="1" u="none" strike="noStrike" dirty="0">
                          <a:solidFill>
                            <a:schemeClr val="bg1"/>
                          </a:solidFill>
                          <a:effectLst/>
                          <a:latin typeface="+mn-ea"/>
                          <a:ea typeface="+mn-ea"/>
                        </a:rPr>
                        <a:t>2025Q</a:t>
                      </a:r>
                      <a:r>
                        <a:rPr lang="en-US" altLang="zh-TW" sz="800" b="1" u="none" strike="noStrike" dirty="0">
                          <a:solidFill>
                            <a:schemeClr val="bg1"/>
                          </a:solidFill>
                          <a:effectLst/>
                          <a:latin typeface="+mn-ea"/>
                          <a:ea typeface="+mn-ea"/>
                        </a:rPr>
                        <a:t>4</a:t>
                      </a:r>
                      <a:endParaRPr lang="en-US" sz="800" b="1" i="0" u="none" strike="noStrike" dirty="0">
                        <a:solidFill>
                          <a:schemeClr val="bg1"/>
                        </a:solidFill>
                        <a:effectLst/>
                        <a:latin typeface="+mn-ea"/>
                        <a:ea typeface="+mn-ea"/>
                      </a:endParaRPr>
                    </a:p>
                  </a:txBody>
                  <a:tcPr marL="9525" marR="9525" marT="9525" marB="0" anchor="ctr">
                    <a:solidFill>
                      <a:srgbClr val="C00000"/>
                    </a:solidFill>
                  </a:tcPr>
                </a:tc>
                <a:extLst>
                  <a:ext uri="{0D108BD9-81ED-4DB2-BD59-A6C34878D82A}">
                    <a16:rowId xmlns:a16="http://schemas.microsoft.com/office/drawing/2014/main" val="2797902675"/>
                  </a:ext>
                </a:extLst>
              </a:tr>
              <a:tr h="156626">
                <a:tc>
                  <a:txBody>
                    <a:bodyPr/>
                    <a:lstStyle/>
                    <a:p>
                      <a:pPr algn="ctr" fontAlgn="ctr"/>
                      <a:r>
                        <a:rPr lang="en-US" sz="1000" b="1" u="none" strike="noStrike" dirty="0">
                          <a:solidFill>
                            <a:srgbClr val="C00000"/>
                          </a:solidFill>
                          <a:effectLst/>
                          <a:latin typeface="+mn-ea"/>
                          <a:ea typeface="+mn-ea"/>
                        </a:rPr>
                        <a:t>Apple</a:t>
                      </a:r>
                      <a:endParaRPr lang="en-US" sz="1000" b="1" i="0" u="none" strike="noStrike" dirty="0">
                        <a:solidFill>
                          <a:srgbClr val="C00000"/>
                        </a:solidFill>
                        <a:effectLst/>
                        <a:latin typeface="+mn-ea"/>
                        <a:ea typeface="+mn-ea"/>
                      </a:endParaRPr>
                    </a:p>
                  </a:txBody>
                  <a:tcPr marL="9525" marR="9525" marT="9525" marB="0" anchor="ctr">
                    <a:noFill/>
                  </a:tcPr>
                </a:tc>
                <a:tc>
                  <a:txBody>
                    <a:bodyPr/>
                    <a:lstStyle/>
                    <a:p>
                      <a:pPr algn="ctr" fontAlgn="ctr"/>
                      <a:r>
                        <a:rPr lang="en-US" altLang="zh-TW" sz="1000" b="1" i="0" u="none" strike="noStrike" dirty="0">
                          <a:solidFill>
                            <a:srgbClr val="C00000"/>
                          </a:solidFill>
                          <a:effectLst/>
                          <a:latin typeface="+mn-ea"/>
                          <a:ea typeface="+mn-ea"/>
                        </a:rPr>
                        <a:t>14.70%</a:t>
                      </a:r>
                    </a:p>
                  </a:txBody>
                  <a:tcPr marL="9525" marR="9525" marT="9525" marB="0" anchor="ctr">
                    <a:noFill/>
                  </a:tcPr>
                </a:tc>
                <a:tc>
                  <a:txBody>
                    <a:bodyPr/>
                    <a:lstStyle/>
                    <a:p>
                      <a:pPr algn="ctr" fontAlgn="ctr"/>
                      <a:r>
                        <a:rPr lang="en-US" altLang="zh-TW" sz="1000" b="1" i="0" u="none" strike="noStrike" dirty="0">
                          <a:solidFill>
                            <a:srgbClr val="C00000"/>
                          </a:solidFill>
                          <a:effectLst/>
                          <a:latin typeface="+mn-ea"/>
                          <a:ea typeface="+mn-ea"/>
                        </a:rPr>
                        <a:t>19.00%</a:t>
                      </a:r>
                    </a:p>
                  </a:txBody>
                  <a:tcPr marL="9525" marR="9525" marT="9525" marB="0" anchor="ctr">
                    <a:noFill/>
                  </a:tcPr>
                </a:tc>
                <a:tc>
                  <a:txBody>
                    <a:bodyPr/>
                    <a:lstStyle/>
                    <a:p>
                      <a:pPr algn="ctr" fontAlgn="ctr"/>
                      <a:r>
                        <a:rPr lang="en-US" altLang="zh-TW" sz="1000" b="1" i="0" u="none" strike="noStrike" dirty="0">
                          <a:solidFill>
                            <a:srgbClr val="C00000"/>
                          </a:solidFill>
                          <a:effectLst/>
                          <a:latin typeface="+mn-ea"/>
                          <a:ea typeface="+mn-ea"/>
                        </a:rPr>
                        <a:t>21.00%</a:t>
                      </a:r>
                    </a:p>
                  </a:txBody>
                  <a:tcPr marL="9525" marR="9525" marT="9525" marB="0" anchor="ctr">
                    <a:noFill/>
                  </a:tcPr>
                </a:tc>
                <a:extLst>
                  <a:ext uri="{0D108BD9-81ED-4DB2-BD59-A6C34878D82A}">
                    <a16:rowId xmlns:a16="http://schemas.microsoft.com/office/drawing/2014/main" val="1420819491"/>
                  </a:ext>
                </a:extLst>
              </a:tr>
              <a:tr h="156626">
                <a:tc>
                  <a:txBody>
                    <a:bodyPr/>
                    <a:lstStyle/>
                    <a:p>
                      <a:pPr algn="ctr" fontAlgn="ctr"/>
                      <a:r>
                        <a:rPr lang="en-US" sz="800" u="none" strike="noStrike" dirty="0">
                          <a:effectLst/>
                          <a:latin typeface="+mn-ea"/>
                          <a:ea typeface="+mn-ea"/>
                        </a:rPr>
                        <a:t>Xiaomi</a:t>
                      </a:r>
                      <a:endParaRPr lang="en-US" sz="800" b="0" i="0" u="none" strike="noStrike" dirty="0">
                        <a:solidFill>
                          <a:srgbClr val="0A0A0A"/>
                        </a:solidFill>
                        <a:effectLst/>
                        <a:latin typeface="+mn-ea"/>
                        <a:ea typeface="+mn-ea"/>
                      </a:endParaRP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13.00%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10.80%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10.30%</a:t>
                      </a:r>
                    </a:p>
                  </a:txBody>
                  <a:tcPr marL="9525" marR="9525" marT="9525" marB="0" anchor="ctr"/>
                </a:tc>
                <a:extLst>
                  <a:ext uri="{0D108BD9-81ED-4DB2-BD59-A6C34878D82A}">
                    <a16:rowId xmlns:a16="http://schemas.microsoft.com/office/drawing/2014/main" val="499015035"/>
                  </a:ext>
                </a:extLst>
              </a:tr>
              <a:tr h="156626">
                <a:tc>
                  <a:txBody>
                    <a:bodyPr/>
                    <a:lstStyle/>
                    <a:p>
                      <a:pPr algn="ctr" fontAlgn="ctr"/>
                      <a:r>
                        <a:rPr lang="en-US" sz="800" u="none" strike="noStrike" dirty="0">
                          <a:effectLst/>
                          <a:latin typeface="+mn-ea"/>
                          <a:ea typeface="+mn-ea"/>
                        </a:rPr>
                        <a:t>Huawei</a:t>
                      </a:r>
                      <a:endParaRPr lang="en-US" sz="800" b="0" i="0" u="none" strike="noStrike" dirty="0">
                        <a:solidFill>
                          <a:srgbClr val="0A0A0A"/>
                        </a:solidFill>
                        <a:effectLst/>
                        <a:latin typeface="+mn-ea"/>
                        <a:ea typeface="+mn-ea"/>
                      </a:endParaRP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10.40%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7.90%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8.00%</a:t>
                      </a:r>
                    </a:p>
                  </a:txBody>
                  <a:tcPr marL="9525" marR="9525" marT="9525" marB="0" anchor="ctr"/>
                </a:tc>
                <a:extLst>
                  <a:ext uri="{0D108BD9-81ED-4DB2-BD59-A6C34878D82A}">
                    <a16:rowId xmlns:a16="http://schemas.microsoft.com/office/drawing/2014/main" val="3485435947"/>
                  </a:ext>
                </a:extLst>
              </a:tr>
              <a:tr h="156626">
                <a:tc>
                  <a:txBody>
                    <a:bodyPr/>
                    <a:lstStyle/>
                    <a:p>
                      <a:pPr algn="ctr" fontAlgn="ctr"/>
                      <a:r>
                        <a:rPr lang="en-US" sz="800" u="none" strike="noStrike">
                          <a:effectLst/>
                          <a:latin typeface="+mn-ea"/>
                          <a:ea typeface="+mn-ea"/>
                        </a:rPr>
                        <a:t>Samsung</a:t>
                      </a:r>
                      <a:endParaRPr lang="en-US" sz="800" b="0" i="0" u="none" strike="noStrike">
                        <a:solidFill>
                          <a:srgbClr val="0A0A0A"/>
                        </a:solidFill>
                        <a:effectLst/>
                        <a:latin typeface="+mn-ea"/>
                        <a:ea typeface="+mn-ea"/>
                      </a:endParaRP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7.30%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8.10%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7.70%</a:t>
                      </a:r>
                    </a:p>
                  </a:txBody>
                  <a:tcPr marL="9525" marR="9525" marT="9525" marB="0" anchor="ctr"/>
                </a:tc>
                <a:extLst>
                  <a:ext uri="{0D108BD9-81ED-4DB2-BD59-A6C34878D82A}">
                    <a16:rowId xmlns:a16="http://schemas.microsoft.com/office/drawing/2014/main" val="3255008131"/>
                  </a:ext>
                </a:extLst>
              </a:tr>
              <a:tr h="164668">
                <a:tc>
                  <a:txBody>
                    <a:bodyPr/>
                    <a:lstStyle/>
                    <a:p>
                      <a:pPr algn="ctr" fontAlgn="ctr"/>
                      <a:r>
                        <a:rPr lang="en-US" sz="800" u="none" strike="noStrike" dirty="0">
                          <a:effectLst/>
                          <a:latin typeface="+mn-ea"/>
                          <a:ea typeface="+mn-ea"/>
                        </a:rPr>
                        <a:t>Imagine Marketing</a:t>
                      </a:r>
                      <a:endParaRPr lang="en-US" sz="800" b="0" i="0" u="none" strike="noStrike" dirty="0">
                        <a:solidFill>
                          <a:srgbClr val="0A0A0A"/>
                        </a:solidFill>
                        <a:effectLst/>
                        <a:latin typeface="+mn-ea"/>
                        <a:ea typeface="+mn-ea"/>
                      </a:endParaRP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5.20%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7.70%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3.70%</a:t>
                      </a:r>
                    </a:p>
                  </a:txBody>
                  <a:tcPr marL="9525" marR="9525" marT="9525" marB="0" anchor="ctr"/>
                </a:tc>
                <a:extLst>
                  <a:ext uri="{0D108BD9-81ED-4DB2-BD59-A6C34878D82A}">
                    <a16:rowId xmlns:a16="http://schemas.microsoft.com/office/drawing/2014/main" val="2667521200"/>
                  </a:ext>
                </a:extLst>
              </a:tr>
              <a:tr h="156626">
                <a:tc>
                  <a:txBody>
                    <a:bodyPr/>
                    <a:lstStyle/>
                    <a:p>
                      <a:pPr algn="ctr" fontAlgn="ctr"/>
                      <a:r>
                        <a:rPr lang="en-US" sz="800" u="none" strike="noStrike" dirty="0">
                          <a:effectLst/>
                          <a:latin typeface="+mn-ea"/>
                          <a:ea typeface="+mn-ea"/>
                        </a:rPr>
                        <a:t>Others</a:t>
                      </a:r>
                      <a:endParaRPr lang="en-US" sz="800" b="0" i="0" u="none" strike="noStrike" dirty="0">
                        <a:solidFill>
                          <a:srgbClr val="0A0A0A"/>
                        </a:solidFill>
                        <a:effectLst/>
                        <a:latin typeface="+mn-ea"/>
                        <a:ea typeface="+mn-ea"/>
                      </a:endParaRP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49.40%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46.60%</a:t>
                      </a:r>
                    </a:p>
                  </a:txBody>
                  <a:tcPr marL="9525" marR="9525" marT="9525" marB="0" anchor="ctr"/>
                </a:tc>
                <a:tc>
                  <a:txBody>
                    <a:bodyPr/>
                    <a:lstStyle/>
                    <a:p>
                      <a:pPr algn="ctr" fontAlgn="ctr"/>
                      <a:r>
                        <a:rPr lang="en-US" altLang="zh-TW" sz="800" b="0" i="0" u="none" strike="noStrike">
                          <a:solidFill>
                            <a:srgbClr val="0A0A0A"/>
                          </a:solidFill>
                          <a:effectLst/>
                          <a:latin typeface="+mn-ea"/>
                          <a:ea typeface="+mn-ea"/>
                        </a:rPr>
                        <a:t>49.40%</a:t>
                      </a:r>
                    </a:p>
                  </a:txBody>
                  <a:tcPr marL="9525" marR="9525" marT="9525" marB="0" anchor="ctr"/>
                </a:tc>
                <a:extLst>
                  <a:ext uri="{0D108BD9-81ED-4DB2-BD59-A6C34878D82A}">
                    <a16:rowId xmlns:a16="http://schemas.microsoft.com/office/drawing/2014/main" val="4023630289"/>
                  </a:ext>
                </a:extLst>
              </a:tr>
              <a:tr h="156626">
                <a:tc>
                  <a:txBody>
                    <a:bodyPr/>
                    <a:lstStyle/>
                    <a:p>
                      <a:pPr algn="ctr" fontAlgn="ctr"/>
                      <a:r>
                        <a:rPr lang="en-US" sz="800" u="none" strike="noStrike" dirty="0">
                          <a:effectLst/>
                          <a:latin typeface="+mn-ea"/>
                          <a:ea typeface="+mn-ea"/>
                        </a:rPr>
                        <a:t>Total</a:t>
                      </a:r>
                      <a:endParaRPr lang="en-US" sz="800" b="1" i="0" u="none" strike="noStrike" dirty="0">
                        <a:solidFill>
                          <a:srgbClr val="0A0A0A"/>
                        </a:solidFill>
                        <a:effectLst/>
                        <a:latin typeface="+mn-ea"/>
                        <a:ea typeface="+mn-ea"/>
                      </a:endParaRPr>
                    </a:p>
                  </a:txBody>
                  <a:tcPr marL="9525" marR="9525" marT="9525" marB="0" anchor="ctr"/>
                </a:tc>
                <a:tc>
                  <a:txBody>
                    <a:bodyPr/>
                    <a:lstStyle/>
                    <a:p>
                      <a:pPr algn="ctr" fontAlgn="ctr"/>
                      <a:r>
                        <a:rPr lang="zh-TW" altLang="en-US" sz="800" b="1" i="0" u="none" strike="noStrike">
                          <a:solidFill>
                            <a:srgbClr val="0A0A0A"/>
                          </a:solidFill>
                          <a:effectLst/>
                          <a:latin typeface="+mn-ea"/>
                          <a:ea typeface="+mn-ea"/>
                        </a:rPr>
                        <a:t> </a:t>
                      </a:r>
                      <a:r>
                        <a:rPr lang="en-US" altLang="zh-TW" sz="800" b="1" i="0" u="none" strike="noStrike">
                          <a:solidFill>
                            <a:srgbClr val="0A0A0A"/>
                          </a:solidFill>
                          <a:effectLst/>
                          <a:latin typeface="+mn-ea"/>
                          <a:ea typeface="+mn-ea"/>
                        </a:rPr>
                        <a:t>100.0%</a:t>
                      </a:r>
                    </a:p>
                  </a:txBody>
                  <a:tcPr marL="9525" marR="9525" marT="9525" marB="0" anchor="ctr"/>
                </a:tc>
                <a:tc>
                  <a:txBody>
                    <a:bodyPr/>
                    <a:lstStyle/>
                    <a:p>
                      <a:pPr algn="ctr" fontAlgn="ctr"/>
                      <a:r>
                        <a:rPr lang="zh-TW" altLang="en-US" sz="800" b="1" i="0" u="none" strike="noStrike">
                          <a:solidFill>
                            <a:srgbClr val="0A0A0A"/>
                          </a:solidFill>
                          <a:effectLst/>
                          <a:latin typeface="+mn-ea"/>
                          <a:ea typeface="+mn-ea"/>
                        </a:rPr>
                        <a:t> </a:t>
                      </a:r>
                      <a:r>
                        <a:rPr lang="en-US" altLang="zh-TW" sz="800" b="1" i="0" u="none" strike="noStrike">
                          <a:solidFill>
                            <a:srgbClr val="0A0A0A"/>
                          </a:solidFill>
                          <a:effectLst/>
                          <a:latin typeface="+mn-ea"/>
                          <a:ea typeface="+mn-ea"/>
                        </a:rPr>
                        <a:t>100.0%</a:t>
                      </a:r>
                    </a:p>
                  </a:txBody>
                  <a:tcPr marL="9525" marR="9525" marT="9525" marB="0" anchor="ctr"/>
                </a:tc>
                <a:tc>
                  <a:txBody>
                    <a:bodyPr/>
                    <a:lstStyle/>
                    <a:p>
                      <a:pPr algn="ctr" fontAlgn="ctr"/>
                      <a:r>
                        <a:rPr lang="zh-TW" altLang="en-US" sz="800" b="1" i="0" u="none" strike="noStrike" dirty="0">
                          <a:solidFill>
                            <a:srgbClr val="0A0A0A"/>
                          </a:solidFill>
                          <a:effectLst/>
                          <a:latin typeface="+mn-ea"/>
                          <a:ea typeface="+mn-ea"/>
                        </a:rPr>
                        <a:t> </a:t>
                      </a:r>
                      <a:r>
                        <a:rPr lang="en-US" altLang="zh-TW" sz="800" b="1" i="0" u="none" strike="noStrike" dirty="0">
                          <a:solidFill>
                            <a:srgbClr val="0A0A0A"/>
                          </a:solidFill>
                          <a:effectLst/>
                          <a:latin typeface="+mn-ea"/>
                          <a:ea typeface="+mn-ea"/>
                        </a:rPr>
                        <a:t>100.0%</a:t>
                      </a:r>
                    </a:p>
                  </a:txBody>
                  <a:tcPr marL="9525" marR="9525" marT="9525" marB="0" anchor="ctr"/>
                </a:tc>
                <a:extLst>
                  <a:ext uri="{0D108BD9-81ED-4DB2-BD59-A6C34878D82A}">
                    <a16:rowId xmlns:a16="http://schemas.microsoft.com/office/drawing/2014/main" val="2260618563"/>
                  </a:ext>
                </a:extLst>
              </a:tr>
            </a:tbl>
          </a:graphicData>
        </a:graphic>
      </p:graphicFrame>
      <p:sp>
        <p:nvSpPr>
          <p:cNvPr id="4" name="投影片編號版面配置區 3"/>
          <p:cNvSpPr>
            <a:spLocks noGrp="1"/>
          </p:cNvSpPr>
          <p:nvPr>
            <p:ph type="sldNum" sz="quarter" idx="10"/>
          </p:nvPr>
        </p:nvSpPr>
        <p:spPr/>
        <p:txBody>
          <a:bodyPr/>
          <a:lstStyle/>
          <a:p>
            <a:fld id="{415482FC-CF5F-466A-B8B6-BC3733E92023}" type="slidenum">
              <a:rPr lang="zh-TW" altLang="en-US" smtClean="0"/>
              <a:pPr/>
              <a:t>3</a:t>
            </a:fld>
            <a:endParaRPr lang="zh-TW" altLang="en-US" dirty="0"/>
          </a:p>
        </p:txBody>
      </p:sp>
      <p:sp>
        <p:nvSpPr>
          <p:cNvPr id="30" name="標題 1">
            <a:extLst>
              <a:ext uri="{FF2B5EF4-FFF2-40B4-BE49-F238E27FC236}">
                <a16:creationId xmlns:a16="http://schemas.microsoft.com/office/drawing/2014/main" id="{5AA51018-5D74-493D-9F95-C9549A33D53F}"/>
              </a:ext>
            </a:extLst>
          </p:cNvPr>
          <p:cNvSpPr txBox="1">
            <a:spLocks/>
          </p:cNvSpPr>
          <p:nvPr/>
        </p:nvSpPr>
        <p:spPr bwMode="auto">
          <a:xfrm>
            <a:off x="246781" y="116632"/>
            <a:ext cx="636966" cy="609218"/>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sz="1700" dirty="0"/>
              <a:t>市場地位</a:t>
            </a:r>
          </a:p>
        </p:txBody>
      </p:sp>
      <p:sp>
        <p:nvSpPr>
          <p:cNvPr id="3" name="標題 2"/>
          <p:cNvSpPr>
            <a:spLocks noGrp="1"/>
          </p:cNvSpPr>
          <p:nvPr>
            <p:ph type="title"/>
          </p:nvPr>
        </p:nvSpPr>
        <p:spPr>
          <a:xfrm>
            <a:off x="883747" y="326966"/>
            <a:ext cx="7645318" cy="378042"/>
          </a:xfrm>
        </p:spPr>
        <p:txBody>
          <a:bodyPr/>
          <a:lstStyle/>
          <a:p>
            <a:pPr>
              <a:defRPr/>
            </a:pPr>
            <a:r>
              <a:rPr lang="zh-TW" altLang="en-US" sz="2400" dirty="0"/>
              <a:t>全球智慧手機營收及利潤雙冠王</a:t>
            </a:r>
          </a:p>
        </p:txBody>
      </p:sp>
      <p:sp>
        <p:nvSpPr>
          <p:cNvPr id="33" name="文字方塊 30">
            <a:extLst>
              <a:ext uri="{FF2B5EF4-FFF2-40B4-BE49-F238E27FC236}">
                <a16:creationId xmlns:a16="http://schemas.microsoft.com/office/drawing/2014/main" id="{7DBE5702-0DCD-4B6D-8748-06B32B81D60A}"/>
              </a:ext>
            </a:extLst>
          </p:cNvPr>
          <p:cNvSpPr txBox="1">
            <a:spLocks noChangeArrowheads="1"/>
          </p:cNvSpPr>
          <p:nvPr/>
        </p:nvSpPr>
        <p:spPr bwMode="auto">
          <a:xfrm>
            <a:off x="323528" y="6598614"/>
            <a:ext cx="94378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None/>
            </a:pPr>
            <a:r>
              <a:rPr lang="zh-TW" altLang="en-US" sz="800" b="0" dirty="0">
                <a:latin typeface="微軟正黑體" panose="020B0604030504040204" pitchFamily="34" charset="-120"/>
                <a:ea typeface="微軟正黑體" panose="020B0604030504040204" pitchFamily="34" charset="-120"/>
              </a:rPr>
              <a:t>資料</a:t>
            </a:r>
            <a:r>
              <a:rPr lang="zh-TW" altLang="en-US" sz="800" b="0" dirty="0">
                <a:latin typeface="+mn-ea"/>
                <a:ea typeface="+mn-ea"/>
              </a:rPr>
              <a:t>來源：</a:t>
            </a:r>
            <a:r>
              <a:rPr lang="zh-TW" altLang="en-US" sz="800" b="0" dirty="0">
                <a:latin typeface="微軟正黑體" panose="020B0604030504040204" pitchFamily="34" charset="-120"/>
                <a:ea typeface="微軟正黑體" panose="020B0604030504040204" pitchFamily="34" charset="-120"/>
              </a:rPr>
              <a:t>彭博</a:t>
            </a:r>
            <a:r>
              <a:rPr lang="en-US" altLang="zh-TW" sz="800" b="0" dirty="0">
                <a:latin typeface="微軟正黑體" panose="020B0604030504040204" pitchFamily="34" charset="-120"/>
                <a:ea typeface="微軟正黑體" panose="020B0604030504040204" pitchFamily="34" charset="-120"/>
              </a:rPr>
              <a:t>(</a:t>
            </a:r>
            <a:r>
              <a:rPr lang="zh-TW" altLang="en-US" sz="800" b="0" dirty="0">
                <a:latin typeface="微軟正黑體" panose="020B0604030504040204" pitchFamily="34" charset="-120"/>
                <a:ea typeface="微軟正黑體" panose="020B0604030504040204" pitchFamily="34" charset="-120"/>
              </a:rPr>
              <a:t>更新日為</a:t>
            </a:r>
            <a:r>
              <a:rPr lang="en-US" altLang="zh-TW" sz="800" b="0" dirty="0">
                <a:latin typeface="微軟正黑體" panose="020B0604030504040204" pitchFamily="34" charset="-120"/>
                <a:ea typeface="微軟正黑體" panose="020B0604030504040204" pitchFamily="34" charset="-120"/>
              </a:rPr>
              <a:t>2026/4/9)</a:t>
            </a:r>
            <a:r>
              <a:rPr lang="zh-TW" altLang="en-US" sz="800" b="0" dirty="0">
                <a:latin typeface="微軟正黑體" panose="020B0604030504040204" pitchFamily="34" charset="-120"/>
                <a:ea typeface="微軟正黑體" panose="020B0604030504040204" pitchFamily="34" charset="-120"/>
              </a:rPr>
              <a:t>、財富、</a:t>
            </a:r>
            <a:r>
              <a:rPr lang="en-US" altLang="zh-TW" sz="800" b="0" dirty="0">
                <a:latin typeface="微軟正黑體" panose="020B0604030504040204" pitchFamily="34" charset="-120"/>
                <a:ea typeface="微軟正黑體" panose="020B0604030504040204" pitchFamily="34" charset="-120"/>
              </a:rPr>
              <a:t>IDC</a:t>
            </a:r>
            <a:r>
              <a:rPr lang="zh-TW" altLang="en-US" sz="800" b="0" dirty="0">
                <a:latin typeface="微軟正黑體" panose="020B0604030504040204" pitchFamily="34" charset="-120"/>
                <a:ea typeface="微軟正黑體" panose="020B0604030504040204" pitchFamily="34" charset="-120"/>
              </a:rPr>
              <a:t>、</a:t>
            </a:r>
            <a:r>
              <a:rPr lang="en-US" altLang="zh-TW" sz="800" b="0" dirty="0">
                <a:latin typeface="微軟正黑體" panose="020B0604030504040204" pitchFamily="34" charset="-120"/>
                <a:ea typeface="微軟正黑體" panose="020B0604030504040204" pitchFamily="34" charset="-120"/>
              </a:rPr>
              <a:t>Counterpoint research</a:t>
            </a:r>
          </a:p>
        </p:txBody>
      </p:sp>
      <p:sp>
        <p:nvSpPr>
          <p:cNvPr id="42" name="標題 1">
            <a:extLst>
              <a:ext uri="{FF2B5EF4-FFF2-40B4-BE49-F238E27FC236}">
                <a16:creationId xmlns:a16="http://schemas.microsoft.com/office/drawing/2014/main" id="{5AA51018-5D74-493D-9F95-C9549A33D53F}"/>
              </a:ext>
            </a:extLst>
          </p:cNvPr>
          <p:cNvSpPr txBox="1">
            <a:spLocks/>
          </p:cNvSpPr>
          <p:nvPr/>
        </p:nvSpPr>
        <p:spPr bwMode="auto">
          <a:xfrm>
            <a:off x="6337520" y="111764"/>
            <a:ext cx="776452" cy="633413"/>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dirty="0"/>
              <a:t>業務地位</a:t>
            </a:r>
          </a:p>
        </p:txBody>
      </p:sp>
      <p:sp>
        <p:nvSpPr>
          <p:cNvPr id="79" name="標題 1">
            <a:extLst>
              <a:ext uri="{FF2B5EF4-FFF2-40B4-BE49-F238E27FC236}">
                <a16:creationId xmlns:a16="http://schemas.microsoft.com/office/drawing/2014/main" id="{FBB16115-9627-41A8-A1FD-404F529C42E8}"/>
              </a:ext>
            </a:extLst>
          </p:cNvPr>
          <p:cNvSpPr txBox="1">
            <a:spLocks noChangeArrowheads="1"/>
          </p:cNvSpPr>
          <p:nvPr/>
        </p:nvSpPr>
        <p:spPr>
          <a:xfrm>
            <a:off x="7141153" y="111764"/>
            <a:ext cx="1980276" cy="633413"/>
          </a:xfrm>
          <a:prstGeom prst="rect">
            <a:avLst/>
          </a:prstGeom>
        </p:spPr>
        <p:txBody>
          <a:bodyPr anchor="b"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defRPr/>
            </a:pPr>
            <a:r>
              <a:rPr lang="zh-TW" altLang="en-US" sz="2400" dirty="0"/>
              <a:t>拔得頭籌</a:t>
            </a:r>
          </a:p>
        </p:txBody>
      </p:sp>
      <p:sp>
        <p:nvSpPr>
          <p:cNvPr id="45" name="矩形 44"/>
          <p:cNvSpPr/>
          <p:nvPr/>
        </p:nvSpPr>
        <p:spPr>
          <a:xfrm>
            <a:off x="6337519" y="718269"/>
            <a:ext cx="2647505" cy="569168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50" name="矩形 49">
            <a:extLst>
              <a:ext uri="{FF2B5EF4-FFF2-40B4-BE49-F238E27FC236}">
                <a16:creationId xmlns:a16="http://schemas.microsoft.com/office/drawing/2014/main" id="{A235DFA7-C6E5-4CDB-8A9C-B0025A7AC59E}"/>
              </a:ext>
            </a:extLst>
          </p:cNvPr>
          <p:cNvSpPr/>
          <p:nvPr/>
        </p:nvSpPr>
        <p:spPr>
          <a:xfrm>
            <a:off x="6323020" y="946818"/>
            <a:ext cx="2785484" cy="461665"/>
          </a:xfrm>
          <a:prstGeom prst="rect">
            <a:avLst/>
          </a:prstGeom>
        </p:spPr>
        <p:txBody>
          <a:bodyPr wrap="square">
            <a:spAutoFit/>
          </a:bodyPr>
          <a:lstStyle/>
          <a:p>
            <a:pPr algn="ctr"/>
            <a:r>
              <a:rPr lang="zh-TW" altLang="en-US" sz="1200" b="1" dirty="0">
                <a:latin typeface="微軟正黑體" panose="020B0604030504040204" pitchFamily="34" charset="-120"/>
                <a:ea typeface="微軟正黑體" panose="020B0604030504040204" pitchFamily="34" charset="-120"/>
              </a:rPr>
              <a:t>依據彭博產業分類標準</a:t>
            </a:r>
            <a:r>
              <a:rPr lang="en-US" altLang="zh-TW" sz="1200" b="1" dirty="0">
                <a:latin typeface="微軟正黑體" panose="020B0604030504040204" pitchFamily="34" charset="-120"/>
                <a:ea typeface="微軟正黑體" panose="020B0604030504040204" pitchFamily="34" charset="-120"/>
              </a:rPr>
              <a:t>(BICS)</a:t>
            </a:r>
          </a:p>
          <a:p>
            <a:pPr algn="ctr"/>
            <a:r>
              <a:rPr lang="zh-TW" altLang="en-US" sz="1200" b="1" dirty="0">
                <a:latin typeface="微軟正黑體" panose="020B0604030504040204" pitchFamily="34" charset="-120"/>
                <a:ea typeface="微軟正黑體" panose="020B0604030504040204" pitchFamily="34" charset="-120"/>
              </a:rPr>
              <a:t>選定產業營收</a:t>
            </a:r>
            <a:r>
              <a:rPr lang="en-US" altLang="zh-TW" sz="1200" b="1" dirty="0">
                <a:latin typeface="微軟正黑體" panose="020B0604030504040204" pitchFamily="34" charset="-120"/>
                <a:ea typeface="微軟正黑體" panose="020B0604030504040204" pitchFamily="34" charset="-120"/>
              </a:rPr>
              <a:t>(</a:t>
            </a:r>
            <a:r>
              <a:rPr lang="zh-TW" altLang="en-US" sz="1200" b="1" dirty="0">
                <a:latin typeface="微軟正黑體" panose="020B0604030504040204" pitchFamily="34" charset="-120"/>
                <a:ea typeface="微軟正黑體" panose="020B0604030504040204" pitchFamily="34" charset="-120"/>
              </a:rPr>
              <a:t>十億美元，</a:t>
            </a:r>
            <a:r>
              <a:rPr lang="en-US" altLang="zh-TW" sz="1200" b="1" dirty="0">
                <a:latin typeface="微軟正黑體" panose="020B0604030504040204" pitchFamily="34" charset="-120"/>
                <a:ea typeface="微軟正黑體" panose="020B0604030504040204" pitchFamily="34" charset="-120"/>
              </a:rPr>
              <a:t>FY2025)</a:t>
            </a:r>
            <a:endParaRPr lang="zh-TW" altLang="en-US" sz="1200" b="1" dirty="0">
              <a:latin typeface="微軟正黑體" panose="020B0604030504040204" pitchFamily="34" charset="-120"/>
              <a:ea typeface="微軟正黑體" panose="020B0604030504040204" pitchFamily="34" charset="-120"/>
            </a:endParaRPr>
          </a:p>
        </p:txBody>
      </p:sp>
      <p:sp>
        <p:nvSpPr>
          <p:cNvPr id="54" name="內容版面配置區 4"/>
          <p:cNvSpPr>
            <a:spLocks noGrp="1"/>
          </p:cNvSpPr>
          <p:nvPr/>
        </p:nvSpPr>
        <p:spPr bwMode="auto">
          <a:xfrm>
            <a:off x="226342" y="765677"/>
            <a:ext cx="5939283" cy="213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lstStyle>
            <a:lvl1pPr marL="342900" indent="-342900" algn="l" rtl="0" eaLnBrk="0" fontAlgn="base" hangingPunct="0">
              <a:spcBef>
                <a:spcPct val="20000"/>
              </a:spcBef>
              <a:spcAft>
                <a:spcPct val="0"/>
              </a:spcAft>
              <a:defRPr sz="2400">
                <a:solidFill>
                  <a:schemeClr val="tx1"/>
                </a:solidFill>
                <a:latin typeface="Times New Roman" pitchFamily="18" charset="0"/>
                <a:ea typeface="細明體" pitchFamily="49" charset="-120"/>
                <a:cs typeface="MS PGothic" pitchFamily="34" charset="-128"/>
              </a:defRPr>
            </a:lvl1pPr>
            <a:lvl2pPr marL="381000" indent="-190500" algn="l" rtl="0" eaLnBrk="0" fontAlgn="base" hangingPunct="0">
              <a:spcBef>
                <a:spcPct val="20000"/>
              </a:spcBef>
              <a:spcAft>
                <a:spcPct val="0"/>
              </a:spcAft>
              <a:buFont typeface="Times" pitchFamily="18" charset="0"/>
              <a:buChar char="•"/>
              <a:defRPr sz="2000">
                <a:solidFill>
                  <a:schemeClr val="tx1"/>
                </a:solidFill>
                <a:latin typeface="Times New Roman" pitchFamily="18" charset="0"/>
                <a:ea typeface="細明體" pitchFamily="49" charset="-120"/>
                <a:cs typeface="標楷體" pitchFamily="65" charset="-120"/>
              </a:defRPr>
            </a:lvl2pPr>
            <a:lvl3pPr marL="762000" indent="-190500" algn="l" rtl="0" eaLnBrk="0" fontAlgn="base" hangingPunct="0">
              <a:spcBef>
                <a:spcPct val="20000"/>
              </a:spcBef>
              <a:spcAft>
                <a:spcPct val="0"/>
              </a:spcAft>
              <a:buFont typeface="Times" pitchFamily="18" charset="0"/>
              <a:buChar char="•"/>
              <a:defRPr sz="1800">
                <a:solidFill>
                  <a:schemeClr val="tx1"/>
                </a:solidFill>
                <a:latin typeface="Times New Roman" pitchFamily="18" charset="0"/>
                <a:ea typeface="細明體" pitchFamily="49" charset="-120"/>
                <a:cs typeface="標楷體" pitchFamily="65" charset="-120"/>
              </a:defRPr>
            </a:lvl3pPr>
            <a:lvl4pPr marL="1143000" indent="-190500" algn="l" rtl="0" eaLnBrk="0" fontAlgn="base" hangingPunct="0">
              <a:spcBef>
                <a:spcPct val="20000"/>
              </a:spcBef>
              <a:spcAft>
                <a:spcPct val="0"/>
              </a:spcAft>
              <a:buFont typeface="Times" pitchFamily="18" charset="0"/>
              <a:buChar char="•"/>
              <a:defRPr sz="1600">
                <a:solidFill>
                  <a:schemeClr val="tx1"/>
                </a:solidFill>
                <a:latin typeface="Times New Roman" pitchFamily="18" charset="0"/>
                <a:ea typeface="細明體" pitchFamily="49" charset="-120"/>
                <a:cs typeface="標楷體" pitchFamily="65" charset="-120"/>
              </a:defRPr>
            </a:lvl4pPr>
            <a:lvl5pPr marL="1524000" indent="-190500" algn="l" rtl="0" eaLnBrk="0" fontAlgn="base" hangingPunct="0">
              <a:spcBef>
                <a:spcPct val="20000"/>
              </a:spcBef>
              <a:spcAft>
                <a:spcPct val="0"/>
              </a:spcAft>
              <a:buFont typeface="Times" pitchFamily="18" charset="0"/>
              <a:buChar char="•"/>
              <a:defRPr sz="1600">
                <a:solidFill>
                  <a:schemeClr val="tx1"/>
                </a:solidFill>
                <a:latin typeface="Times New Roman" pitchFamily="18" charset="0"/>
                <a:ea typeface="細明體" pitchFamily="49" charset="-120"/>
                <a:cs typeface="標楷體" pitchFamily="65" charset="-120"/>
              </a:defRPr>
            </a:lvl5pPr>
            <a:lvl6pPr marL="1981200" indent="-190500" algn="l" rtl="0" fontAlgn="base">
              <a:spcBef>
                <a:spcPct val="20000"/>
              </a:spcBef>
              <a:spcAft>
                <a:spcPct val="0"/>
              </a:spcAft>
              <a:buFont typeface="Times" pitchFamily="-112" charset="0"/>
              <a:buChar char="•"/>
              <a:defRPr sz="1600">
                <a:solidFill>
                  <a:schemeClr val="tx1"/>
                </a:solidFill>
                <a:latin typeface="+mn-lt"/>
                <a:ea typeface="+mn-ea"/>
              </a:defRPr>
            </a:lvl6pPr>
            <a:lvl7pPr marL="2438400" indent="-190500" algn="l" rtl="0" fontAlgn="base">
              <a:spcBef>
                <a:spcPct val="20000"/>
              </a:spcBef>
              <a:spcAft>
                <a:spcPct val="0"/>
              </a:spcAft>
              <a:buFont typeface="Times" pitchFamily="-112" charset="0"/>
              <a:buChar char="•"/>
              <a:defRPr sz="1600">
                <a:solidFill>
                  <a:schemeClr val="tx1"/>
                </a:solidFill>
                <a:latin typeface="+mn-lt"/>
                <a:ea typeface="+mn-ea"/>
              </a:defRPr>
            </a:lvl7pPr>
            <a:lvl8pPr marL="2895600" indent="-190500" algn="l" rtl="0" fontAlgn="base">
              <a:spcBef>
                <a:spcPct val="20000"/>
              </a:spcBef>
              <a:spcAft>
                <a:spcPct val="0"/>
              </a:spcAft>
              <a:buFont typeface="Times" pitchFamily="-112" charset="0"/>
              <a:buChar char="•"/>
              <a:defRPr sz="1600">
                <a:solidFill>
                  <a:schemeClr val="tx1"/>
                </a:solidFill>
                <a:latin typeface="+mn-lt"/>
                <a:ea typeface="+mn-ea"/>
              </a:defRPr>
            </a:lvl8pPr>
            <a:lvl9pPr marL="3352800" indent="-190500" algn="l" rtl="0" fontAlgn="base">
              <a:spcBef>
                <a:spcPct val="20000"/>
              </a:spcBef>
              <a:spcAft>
                <a:spcPct val="0"/>
              </a:spcAft>
              <a:buFont typeface="Times" pitchFamily="-112" charset="0"/>
              <a:buChar char="•"/>
              <a:defRPr sz="1600">
                <a:solidFill>
                  <a:schemeClr val="tx1"/>
                </a:solidFill>
                <a:latin typeface="+mn-lt"/>
                <a:ea typeface="+mn-ea"/>
              </a:defRPr>
            </a:lvl9pPr>
          </a:lstStyle>
          <a:p>
            <a:pPr marL="285750" indent="-285750" algn="just">
              <a:lnSpc>
                <a:spcPts val="1500"/>
              </a:lnSpc>
              <a:spcBef>
                <a:spcPts val="300"/>
              </a:spcBef>
              <a:buFont typeface="Wingdings" panose="05000000000000000000" pitchFamily="2" charset="2"/>
              <a:buChar char="n"/>
              <a:defRPr/>
            </a:pPr>
            <a:r>
              <a:rPr lang="zh-TW" altLang="en-US" sz="1200" b="1" dirty="0">
                <a:solidFill>
                  <a:srgbClr val="FF0000"/>
                </a:solidFill>
                <a:latin typeface="微軟正黑體" pitchFamily="34" charset="-120"/>
                <a:ea typeface="微軟正黑體" pitchFamily="34" charset="-120"/>
              </a:rPr>
              <a:t>全球品牌價值龍頭</a:t>
            </a:r>
            <a:r>
              <a:rPr lang="zh-TW" altLang="en-US" sz="1200" dirty="0">
                <a:latin typeface="微軟正黑體" pitchFamily="34" charset="-120"/>
                <a:ea typeface="微軟正黑體" pitchFamily="34" charset="-120"/>
              </a:rPr>
              <a:t>。</a:t>
            </a:r>
            <a:r>
              <a:rPr lang="en-US" altLang="zh-TW" sz="1200" dirty="0">
                <a:latin typeface="微軟正黑體" pitchFamily="34" charset="-120"/>
                <a:ea typeface="微軟正黑體" pitchFamily="34" charset="-120"/>
              </a:rPr>
              <a:t>2026</a:t>
            </a:r>
            <a:r>
              <a:rPr lang="zh-TW" altLang="en-US" sz="1200" dirty="0">
                <a:latin typeface="微軟正黑體" pitchFamily="34" charset="-120"/>
                <a:ea typeface="微軟正黑體" pitchFamily="34" charset="-120"/>
              </a:rPr>
              <a:t>年度</a:t>
            </a:r>
            <a:r>
              <a:rPr lang="en-US" altLang="zh-TW" sz="1200" dirty="0">
                <a:latin typeface="微軟正黑體" pitchFamily="34" charset="-120"/>
                <a:ea typeface="微軟正黑體" pitchFamily="34" charset="-120"/>
              </a:rPr>
              <a:t>《</a:t>
            </a:r>
            <a:r>
              <a:rPr lang="en-US" altLang="zh-TW" sz="1200" dirty="0" err="1">
                <a:latin typeface="微軟正黑體" pitchFamily="34" charset="-120"/>
                <a:ea typeface="微軟正黑體" pitchFamily="34" charset="-120"/>
              </a:rPr>
              <a:t>BrandFinance</a:t>
            </a:r>
            <a:r>
              <a:rPr lang="en-US" altLang="zh-TW" sz="1200" dirty="0">
                <a:latin typeface="微軟正黑體" pitchFamily="34" charset="-120"/>
                <a:ea typeface="微軟正黑體" pitchFamily="34" charset="-120"/>
              </a:rPr>
              <a:t>》</a:t>
            </a:r>
            <a:r>
              <a:rPr lang="zh-TW" altLang="en-US" sz="1200" dirty="0">
                <a:latin typeface="微軟正黑體" pitchFamily="34" charset="-120"/>
                <a:ea typeface="微軟正黑體" pitchFamily="34" charset="-120"/>
              </a:rPr>
              <a:t>蘋果品牌價值年增</a:t>
            </a:r>
            <a:r>
              <a:rPr lang="en-US" altLang="zh-TW" sz="1200" dirty="0">
                <a:latin typeface="微軟正黑體" pitchFamily="34" charset="-120"/>
                <a:ea typeface="微軟正黑體" pitchFamily="34" charset="-120"/>
              </a:rPr>
              <a:t>6%</a:t>
            </a:r>
            <a:r>
              <a:rPr lang="zh-TW" altLang="en-US" sz="1200" dirty="0">
                <a:latin typeface="微軟正黑體" pitchFamily="34" charset="-120"/>
                <a:ea typeface="微軟正黑體" pitchFamily="34" charset="-120"/>
              </a:rPr>
              <a:t>至</a:t>
            </a:r>
            <a:r>
              <a:rPr lang="en-US" altLang="zh-TW" sz="1200" dirty="0">
                <a:latin typeface="微軟正黑體" pitchFamily="34" charset="-120"/>
                <a:ea typeface="微軟正黑體" pitchFamily="34" charset="-120"/>
              </a:rPr>
              <a:t>6,076</a:t>
            </a:r>
            <a:r>
              <a:rPr lang="zh-TW" altLang="en-US" sz="1200" dirty="0">
                <a:latin typeface="微軟正黑體" pitchFamily="34" charset="-120"/>
                <a:ea typeface="微軟正黑體" pitchFamily="34" charset="-120"/>
              </a:rPr>
              <a:t>億美元，得益於蘋果的品牌價值根植於穩健增長的硬體，並持續透過服務強化其生態系統，廣告、雲端服務和</a:t>
            </a:r>
            <a:r>
              <a:rPr lang="en-US" altLang="zh-TW" sz="1200" dirty="0">
                <a:latin typeface="微軟正黑體" pitchFamily="34" charset="-120"/>
                <a:ea typeface="微軟正黑體" pitchFamily="34" charset="-120"/>
              </a:rPr>
              <a:t>App Store</a:t>
            </a:r>
            <a:r>
              <a:rPr lang="zh-TW" altLang="en-US" sz="1200" dirty="0">
                <a:latin typeface="微軟正黑體" pitchFamily="34" charset="-120"/>
                <a:ea typeface="微軟正黑體" pitchFamily="34" charset="-120"/>
              </a:rPr>
              <a:t>的成長支持整體業績，也體現全球規模和韌性。</a:t>
            </a:r>
            <a:endParaRPr lang="en-US" altLang="zh-TW" sz="1200" dirty="0">
              <a:latin typeface="微軟正黑體" pitchFamily="34" charset="-120"/>
              <a:ea typeface="微軟正黑體" pitchFamily="34" charset="-120"/>
            </a:endParaRPr>
          </a:p>
          <a:p>
            <a:pPr marL="285750" indent="-285750" algn="just">
              <a:lnSpc>
                <a:spcPts val="1500"/>
              </a:lnSpc>
              <a:spcBef>
                <a:spcPts val="300"/>
              </a:spcBef>
              <a:buFont typeface="Wingdings" panose="05000000000000000000" pitchFamily="2" charset="2"/>
              <a:buChar char="n"/>
              <a:defRPr/>
            </a:pPr>
            <a:r>
              <a:rPr lang="zh-TW" altLang="en-US" sz="1200" b="1" dirty="0">
                <a:solidFill>
                  <a:srgbClr val="FF0000"/>
                </a:solidFill>
                <a:latin typeface="微軟正黑體" pitchFamily="34" charset="-120"/>
                <a:ea typeface="微軟正黑體" pitchFamily="34" charset="-120"/>
              </a:rPr>
              <a:t>全球科技業營收龍頭</a:t>
            </a:r>
            <a:r>
              <a:rPr lang="zh-TW" altLang="en-US" sz="1200" dirty="0">
                <a:latin typeface="微軟正黑體" pitchFamily="34" charset="-120"/>
                <a:ea typeface="微軟正黑體" pitchFamily="34" charset="-120"/>
              </a:rPr>
              <a:t>。</a:t>
            </a:r>
            <a:r>
              <a:rPr lang="en-US" altLang="zh-TW" sz="1200" dirty="0">
                <a:latin typeface="微軟正黑體" pitchFamily="34" charset="-120"/>
                <a:ea typeface="微軟正黑體" pitchFamily="34" charset="-120"/>
              </a:rPr>
              <a:t>2025</a:t>
            </a:r>
            <a:r>
              <a:rPr lang="zh-TW" altLang="en-US" sz="1200" dirty="0">
                <a:latin typeface="微軟正黑體" pitchFamily="34" charset="-120"/>
                <a:ea typeface="微軟正黑體" pitchFamily="34" charset="-120"/>
              </a:rPr>
              <a:t>年度</a:t>
            </a:r>
            <a:r>
              <a:rPr lang="en-US" altLang="zh-TW" sz="1200" dirty="0">
                <a:latin typeface="微軟正黑體" pitchFamily="34" charset="-120"/>
                <a:ea typeface="微軟正黑體" pitchFamily="34" charset="-120"/>
              </a:rPr>
              <a:t>《</a:t>
            </a:r>
            <a:r>
              <a:rPr lang="zh-TW" altLang="en-US" sz="1200" dirty="0">
                <a:latin typeface="微軟正黑體" pitchFamily="34" charset="-120"/>
                <a:ea typeface="微軟正黑體" pitchFamily="34" charset="-120"/>
              </a:rPr>
              <a:t>財富</a:t>
            </a:r>
            <a:r>
              <a:rPr lang="en-US" altLang="zh-TW" sz="1200" dirty="0">
                <a:latin typeface="微軟正黑體" pitchFamily="34" charset="-120"/>
                <a:ea typeface="微軟正黑體" pitchFamily="34" charset="-120"/>
              </a:rPr>
              <a:t>》</a:t>
            </a:r>
            <a:r>
              <a:rPr lang="zh-TW" altLang="en-US" sz="1200" dirty="0">
                <a:latin typeface="微軟正黑體" pitchFamily="34" charset="-120"/>
                <a:ea typeface="微軟正黑體" pitchFamily="34" charset="-120"/>
              </a:rPr>
              <a:t>全球</a:t>
            </a:r>
            <a:r>
              <a:rPr lang="en-US" altLang="zh-TW" sz="1200" dirty="0">
                <a:latin typeface="微軟正黑體" pitchFamily="34" charset="-120"/>
                <a:ea typeface="微軟正黑體" pitchFamily="34" charset="-120"/>
              </a:rPr>
              <a:t>500</a:t>
            </a:r>
            <a:r>
              <a:rPr lang="zh-TW" altLang="en-US" sz="1200" dirty="0">
                <a:latin typeface="微軟正黑體" pitchFamily="34" charset="-120"/>
                <a:ea typeface="微軟正黑體" pitchFamily="34" charset="-120"/>
              </a:rPr>
              <a:t>強排名第</a:t>
            </a:r>
            <a:r>
              <a:rPr lang="en-US" altLang="zh-TW" sz="1200" dirty="0">
                <a:latin typeface="微軟正黑體" pitchFamily="34" charset="-120"/>
                <a:ea typeface="微軟正黑體" pitchFamily="34" charset="-120"/>
              </a:rPr>
              <a:t>8</a:t>
            </a:r>
            <a:r>
              <a:rPr lang="zh-TW" altLang="en-US" sz="1200" dirty="0">
                <a:latin typeface="微軟正黑體" pitchFamily="34" charset="-120"/>
                <a:ea typeface="微軟正黑體" pitchFamily="34" charset="-120"/>
              </a:rPr>
              <a:t>位，按企業營收於「科技業」排名居首；按獲利排名，位居美國第二、全球第三。</a:t>
            </a:r>
            <a:endParaRPr lang="en-US" altLang="zh-TW" sz="1200" dirty="0">
              <a:latin typeface="微軟正黑體" pitchFamily="34" charset="-120"/>
              <a:ea typeface="微軟正黑體" pitchFamily="34" charset="-120"/>
            </a:endParaRPr>
          </a:p>
          <a:p>
            <a:pPr marL="285750" indent="-285750" algn="just">
              <a:lnSpc>
                <a:spcPts val="1500"/>
              </a:lnSpc>
              <a:spcBef>
                <a:spcPts val="300"/>
              </a:spcBef>
              <a:buFont typeface="Wingdings" panose="05000000000000000000" pitchFamily="2" charset="2"/>
              <a:buChar char="n"/>
              <a:defRPr/>
            </a:pPr>
            <a:r>
              <a:rPr lang="en-US" altLang="zh-TW" sz="1200" b="1" dirty="0">
                <a:solidFill>
                  <a:srgbClr val="FF0000"/>
                </a:solidFill>
                <a:latin typeface="微軟正黑體" pitchFamily="34" charset="-120"/>
                <a:ea typeface="微軟正黑體" pitchFamily="34" charset="-120"/>
              </a:rPr>
              <a:t>iPhone 17</a:t>
            </a:r>
            <a:r>
              <a:rPr lang="zh-TW" altLang="en-US" sz="1200" b="1" dirty="0">
                <a:solidFill>
                  <a:srgbClr val="FF0000"/>
                </a:solidFill>
                <a:latin typeface="微軟正黑體" pitchFamily="34" charset="-120"/>
                <a:ea typeface="微軟正黑體" pitchFamily="34" charset="-120"/>
              </a:rPr>
              <a:t>系列獲市場認可</a:t>
            </a:r>
            <a:r>
              <a:rPr lang="zh-TW" altLang="en-US" sz="1200" dirty="0">
                <a:latin typeface="微軟正黑體" pitchFamily="34" charset="-120"/>
                <a:ea typeface="微軟正黑體" pitchFamily="34" charset="-120"/>
              </a:rPr>
              <a:t>。據</a:t>
            </a:r>
            <a:r>
              <a:rPr lang="en-US" altLang="zh-TW" sz="1200" dirty="0">
                <a:latin typeface="微軟正黑體" pitchFamily="34" charset="-120"/>
                <a:ea typeface="微軟正黑體" pitchFamily="34" charset="-120"/>
              </a:rPr>
              <a:t>Counterpoint 4Q25</a:t>
            </a:r>
            <a:r>
              <a:rPr lang="zh-TW" altLang="en-US" sz="1200" dirty="0">
                <a:latin typeface="微軟正黑體" pitchFamily="34" charset="-120"/>
                <a:ea typeface="微軟正黑體" pitchFamily="34" charset="-120"/>
              </a:rPr>
              <a:t>，蘋果在全球智慧型手機出貨量中佔比達到</a:t>
            </a:r>
            <a:r>
              <a:rPr lang="en-US" altLang="zh-TW" sz="1200" dirty="0">
                <a:latin typeface="微軟正黑體" pitchFamily="34" charset="-120"/>
                <a:ea typeface="微軟正黑體" pitchFamily="34" charset="-120"/>
              </a:rPr>
              <a:t>20%</a:t>
            </a:r>
            <a:r>
              <a:rPr lang="zh-TW" altLang="en-US" sz="1200" dirty="0">
                <a:latin typeface="微軟正黑體" pitchFamily="34" charset="-120"/>
                <a:ea typeface="微軟正黑體" pitchFamily="34" charset="-120"/>
              </a:rPr>
              <a:t>，超越三星的</a:t>
            </a:r>
            <a:r>
              <a:rPr lang="en-US" altLang="zh-TW" sz="1200" dirty="0">
                <a:latin typeface="微軟正黑體" pitchFamily="34" charset="-120"/>
                <a:ea typeface="微軟正黑體" pitchFamily="34" charset="-120"/>
              </a:rPr>
              <a:t>19%</a:t>
            </a:r>
            <a:r>
              <a:rPr lang="zh-TW" altLang="en-US" sz="1200" dirty="0">
                <a:latin typeface="微軟正黑體" pitchFamily="34" charset="-120"/>
                <a:ea typeface="微軟正黑體" pitchFamily="34" charset="-120"/>
              </a:rPr>
              <a:t>奪冠，且在全球十大暢銷手機榜單中奪</a:t>
            </a:r>
            <a:r>
              <a:rPr lang="en-US" altLang="zh-TW" sz="1200" dirty="0">
                <a:latin typeface="微軟正黑體" pitchFamily="34" charset="-120"/>
                <a:ea typeface="微軟正黑體" pitchFamily="34" charset="-120"/>
              </a:rPr>
              <a:t>5</a:t>
            </a:r>
            <a:r>
              <a:rPr lang="zh-TW" altLang="en-US" sz="1200" dirty="0">
                <a:latin typeface="微軟正黑體" pitchFamily="34" charset="-120"/>
                <a:ea typeface="微軟正黑體" pitchFamily="34" charset="-120"/>
              </a:rPr>
              <a:t>個席次，並囊括前四名，以</a:t>
            </a:r>
            <a:r>
              <a:rPr lang="en-US" altLang="zh-TW" sz="1200" dirty="0">
                <a:latin typeface="微軟正黑體" pitchFamily="34" charset="-120"/>
                <a:ea typeface="微軟正黑體" pitchFamily="34" charset="-120"/>
              </a:rPr>
              <a:t>iPhone 17 Pro Max</a:t>
            </a:r>
            <a:r>
              <a:rPr lang="zh-TW" altLang="en-US" sz="1200" dirty="0">
                <a:latin typeface="微軟正黑體" pitchFamily="34" charset="-120"/>
                <a:ea typeface="微軟正黑體" pitchFamily="34" charset="-120"/>
              </a:rPr>
              <a:t>居冠。</a:t>
            </a:r>
            <a:endParaRPr lang="en-US" altLang="zh-TW" sz="1200" dirty="0">
              <a:latin typeface="微軟正黑體" pitchFamily="34" charset="-120"/>
              <a:ea typeface="微軟正黑體" pitchFamily="34" charset="-120"/>
            </a:endParaRPr>
          </a:p>
          <a:p>
            <a:pPr marL="285750" indent="-285750" algn="just">
              <a:lnSpc>
                <a:spcPts val="1500"/>
              </a:lnSpc>
              <a:spcBef>
                <a:spcPts val="300"/>
              </a:spcBef>
              <a:buFont typeface="Wingdings" panose="05000000000000000000" pitchFamily="2" charset="2"/>
              <a:buChar char="n"/>
              <a:defRPr/>
            </a:pPr>
            <a:r>
              <a:rPr lang="zh-TW" altLang="en-US" sz="1200" b="1" dirty="0">
                <a:solidFill>
                  <a:srgbClr val="FF0000"/>
                </a:solidFill>
                <a:latin typeface="微軟正黑體" pitchFamily="34" charset="-120"/>
                <a:ea typeface="微軟正黑體" pitchFamily="34" charset="-120"/>
              </a:rPr>
              <a:t>高速增長的軟體業務</a:t>
            </a:r>
            <a:r>
              <a:rPr lang="zh-TW" altLang="en-US" sz="1200" dirty="0">
                <a:solidFill>
                  <a:schemeClr val="tx1">
                    <a:lumMod val="75000"/>
                    <a:lumOff val="25000"/>
                  </a:schemeClr>
                </a:solidFill>
                <a:latin typeface="微軟正黑體" pitchFamily="34" charset="-120"/>
                <a:ea typeface="微軟正黑體" pitchFamily="34" charset="-120"/>
              </a:rPr>
              <a:t>。</a:t>
            </a:r>
            <a:r>
              <a:rPr lang="en-US" altLang="zh-TW" sz="1200" dirty="0">
                <a:solidFill>
                  <a:schemeClr val="tx1">
                    <a:lumMod val="75000"/>
                    <a:lumOff val="25000"/>
                  </a:schemeClr>
                </a:solidFill>
                <a:latin typeface="微軟正黑體" pitchFamily="34" charset="-120"/>
                <a:ea typeface="微軟正黑體" pitchFamily="34" charset="-120"/>
              </a:rPr>
              <a:t>4</a:t>
            </a:r>
            <a:r>
              <a:rPr lang="en-US" altLang="zh-TW" sz="1200" dirty="0">
                <a:latin typeface="微軟正黑體" pitchFamily="34" charset="-120"/>
                <a:ea typeface="微軟正黑體" pitchFamily="34" charset="-120"/>
              </a:rPr>
              <a:t>QFY25</a:t>
            </a:r>
            <a:r>
              <a:rPr lang="zh-TW" altLang="en-US" sz="1200" dirty="0">
                <a:latin typeface="微軟正黑體" pitchFamily="34" charset="-120"/>
                <a:ea typeface="微軟正黑體" pitchFamily="34" charset="-120"/>
              </a:rPr>
              <a:t>財報，蘋果服務業務收入年增</a:t>
            </a:r>
            <a:r>
              <a:rPr lang="en-US" altLang="zh-TW" sz="1200" dirty="0">
                <a:latin typeface="微軟正黑體" pitchFamily="34" charset="-120"/>
                <a:ea typeface="微軟正黑體" pitchFamily="34" charset="-120"/>
              </a:rPr>
              <a:t>15%</a:t>
            </a:r>
            <a:r>
              <a:rPr lang="zh-TW" altLang="en-US" sz="1200" dirty="0">
                <a:latin typeface="微軟正黑體" pitchFamily="34" charset="-120"/>
                <a:ea typeface="微軟正黑體" pitchFamily="34" charset="-120"/>
              </a:rPr>
              <a:t>，且該業務年收幾乎達千億美元，在</a:t>
            </a:r>
            <a:r>
              <a:rPr lang="en-US" altLang="zh-TW" sz="1200" dirty="0">
                <a:latin typeface="微軟正黑體" pitchFamily="34" charset="-120"/>
                <a:ea typeface="微軟正黑體" pitchFamily="34" charset="-120"/>
              </a:rPr>
              <a:t>《Fortune》500</a:t>
            </a:r>
            <a:r>
              <a:rPr lang="zh-TW" altLang="en-US" sz="1200" dirty="0">
                <a:latin typeface="微軟正黑體" pitchFamily="34" charset="-120"/>
                <a:ea typeface="微軟正黑體" pitchFamily="34" charset="-120"/>
              </a:rPr>
              <a:t>大企業可排約</a:t>
            </a:r>
            <a:r>
              <a:rPr lang="en-US" altLang="zh-TW" sz="1200" dirty="0">
                <a:latin typeface="微軟正黑體" pitchFamily="34" charset="-120"/>
                <a:ea typeface="微軟正黑體" pitchFamily="34" charset="-120"/>
              </a:rPr>
              <a:t>40</a:t>
            </a:r>
            <a:r>
              <a:rPr lang="zh-TW" altLang="en-US" sz="1200" dirty="0">
                <a:latin typeface="微軟正黑體" pitchFamily="34" charset="-120"/>
                <a:ea typeface="微軟正黑體" pitchFamily="34" charset="-120"/>
              </a:rPr>
              <a:t>名，超越摩根士丹利。</a:t>
            </a:r>
            <a:endParaRPr lang="en-US" altLang="zh-TW" sz="1200" dirty="0">
              <a:latin typeface="微軟正黑體" pitchFamily="34" charset="-120"/>
              <a:ea typeface="微軟正黑體" pitchFamily="34" charset="-120"/>
            </a:endParaRPr>
          </a:p>
          <a:p>
            <a:pPr marL="285750" indent="-285750" algn="just">
              <a:lnSpc>
                <a:spcPts val="1500"/>
              </a:lnSpc>
              <a:spcBef>
                <a:spcPts val="300"/>
              </a:spcBef>
              <a:buFont typeface="Wingdings" panose="05000000000000000000" pitchFamily="2" charset="2"/>
              <a:buChar char="n"/>
              <a:defRPr/>
            </a:pPr>
            <a:r>
              <a:rPr lang="zh-TW" altLang="en-US" sz="1200" b="1" dirty="0">
                <a:solidFill>
                  <a:srgbClr val="FF0000"/>
                </a:solidFill>
                <a:latin typeface="微軟正黑體" pitchFamily="34" charset="-120"/>
                <a:ea typeface="微軟正黑體" pitchFamily="34" charset="-120"/>
              </a:rPr>
              <a:t>蘋果穿戴式裝置全球市佔第一</a:t>
            </a:r>
            <a:r>
              <a:rPr lang="zh-TW" altLang="en-US" sz="1200" dirty="0">
                <a:latin typeface="微軟正黑體" pitchFamily="34" charset="-120"/>
                <a:ea typeface="微軟正黑體" pitchFamily="34" charset="-120"/>
              </a:rPr>
              <a:t>。據</a:t>
            </a:r>
            <a:r>
              <a:rPr lang="en-US" altLang="zh-TW" sz="1200" dirty="0">
                <a:latin typeface="微軟正黑體" pitchFamily="34" charset="-120"/>
                <a:ea typeface="微軟正黑體" pitchFamily="34" charset="-120"/>
              </a:rPr>
              <a:t>IDC</a:t>
            </a:r>
            <a:r>
              <a:rPr lang="zh-TW" altLang="en-US" sz="1200" dirty="0">
                <a:latin typeface="微軟正黑體" pitchFamily="34" charset="-120"/>
                <a:ea typeface="微軟正黑體" pitchFamily="34" charset="-120"/>
              </a:rPr>
              <a:t>，蘋果於</a:t>
            </a:r>
            <a:r>
              <a:rPr lang="en-US" altLang="zh-TW" sz="1200" dirty="0">
                <a:latin typeface="微軟正黑體" pitchFamily="34" charset="-120"/>
                <a:ea typeface="微軟正黑體" pitchFamily="34" charset="-120"/>
              </a:rPr>
              <a:t>4Q25</a:t>
            </a:r>
            <a:r>
              <a:rPr lang="zh-TW" altLang="en-US" sz="1200" dirty="0">
                <a:latin typeface="微軟正黑體" pitchFamily="34" charset="-120"/>
                <a:ea typeface="微軟正黑體" pitchFamily="34" charset="-120"/>
              </a:rPr>
              <a:t>穿戴裝置市佔成長至</a:t>
            </a:r>
            <a:r>
              <a:rPr lang="en-US" altLang="zh-TW" sz="1200" dirty="0">
                <a:latin typeface="微軟正黑體" pitchFamily="34" charset="-120"/>
                <a:ea typeface="微軟正黑體" pitchFamily="34" charset="-120"/>
              </a:rPr>
              <a:t>21%</a:t>
            </a:r>
            <a:r>
              <a:rPr lang="zh-TW" altLang="en-US" sz="1200" dirty="0">
                <a:latin typeface="微軟正黑體" pitchFamily="34" charset="-120"/>
                <a:ea typeface="微軟正黑體" pitchFamily="34" charset="-120"/>
              </a:rPr>
              <a:t>。</a:t>
            </a:r>
          </a:p>
        </p:txBody>
      </p:sp>
      <p:sp>
        <p:nvSpPr>
          <p:cNvPr id="55" name="圓角矩形 54">
            <a:extLst>
              <a:ext uri="{FF2B5EF4-FFF2-40B4-BE49-F238E27FC236}">
                <a16:creationId xmlns:a16="http://schemas.microsoft.com/office/drawing/2014/main" id="{5CED9EF0-CFC6-4743-8D05-A8E3F91B217F}"/>
              </a:ext>
            </a:extLst>
          </p:cNvPr>
          <p:cNvSpPr/>
          <p:nvPr/>
        </p:nvSpPr>
        <p:spPr>
          <a:xfrm>
            <a:off x="191753" y="4725144"/>
            <a:ext cx="3268152" cy="28218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蘋果按利潤居美國第二、全球第三</a:t>
            </a:r>
            <a:endParaRPr lang="en-US" altLang="zh-TW" sz="1200" b="1" dirty="0">
              <a:latin typeface="微軟正黑體" panose="020B0604030504040204" pitchFamily="34" charset="-120"/>
              <a:ea typeface="微軟正黑體" panose="020B0604030504040204" pitchFamily="34" charset="-120"/>
            </a:endParaRPr>
          </a:p>
        </p:txBody>
      </p:sp>
      <p:graphicFrame>
        <p:nvGraphicFramePr>
          <p:cNvPr id="58" name="圖表 57">
            <a:extLst>
              <a:ext uri="{FF2B5EF4-FFF2-40B4-BE49-F238E27FC236}">
                <a16:creationId xmlns:a16="http://schemas.microsoft.com/office/drawing/2014/main" id="{8B0A502F-B0D6-42D7-91D3-24E67AB72C19}"/>
              </a:ext>
            </a:extLst>
          </p:cNvPr>
          <p:cNvGraphicFramePr/>
          <p:nvPr>
            <p:extLst>
              <p:ext uri="{D42A27DB-BD31-4B8C-83A1-F6EECF244321}">
                <p14:modId xmlns:p14="http://schemas.microsoft.com/office/powerpoint/2010/main" val="3847443228"/>
              </p:ext>
            </p:extLst>
          </p:nvPr>
        </p:nvGraphicFramePr>
        <p:xfrm>
          <a:off x="6274567" y="1550704"/>
          <a:ext cx="2488408" cy="136394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圖表 59">
            <a:extLst>
              <a:ext uri="{FF2B5EF4-FFF2-40B4-BE49-F238E27FC236}">
                <a16:creationId xmlns:a16="http://schemas.microsoft.com/office/drawing/2014/main" id="{4BBB1DF6-2F1D-4B07-B28C-9CFB4F8DC078}"/>
              </a:ext>
            </a:extLst>
          </p:cNvPr>
          <p:cNvGraphicFramePr/>
          <p:nvPr>
            <p:extLst>
              <p:ext uri="{D42A27DB-BD31-4B8C-83A1-F6EECF244321}">
                <p14:modId xmlns:p14="http://schemas.microsoft.com/office/powerpoint/2010/main" val="4253720658"/>
              </p:ext>
            </p:extLst>
          </p:nvPr>
        </p:nvGraphicFramePr>
        <p:xfrm>
          <a:off x="6274567" y="3192785"/>
          <a:ext cx="2488408" cy="145541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2" name="圖表 71">
            <a:extLst>
              <a:ext uri="{FF2B5EF4-FFF2-40B4-BE49-F238E27FC236}">
                <a16:creationId xmlns:a16="http://schemas.microsoft.com/office/drawing/2014/main" id="{F532E7C7-22EB-47C0-9926-252CF78864C5}"/>
              </a:ext>
            </a:extLst>
          </p:cNvPr>
          <p:cNvGraphicFramePr/>
          <p:nvPr>
            <p:extLst>
              <p:ext uri="{D42A27DB-BD31-4B8C-83A1-F6EECF244321}">
                <p14:modId xmlns:p14="http://schemas.microsoft.com/office/powerpoint/2010/main" val="4224869520"/>
              </p:ext>
            </p:extLst>
          </p:nvPr>
        </p:nvGraphicFramePr>
        <p:xfrm>
          <a:off x="6194087" y="4884034"/>
          <a:ext cx="2488408" cy="1504066"/>
        </p:xfrm>
        <a:graphic>
          <a:graphicData uri="http://schemas.openxmlformats.org/drawingml/2006/chart">
            <c:chart xmlns:c="http://schemas.openxmlformats.org/drawingml/2006/chart" xmlns:r="http://schemas.openxmlformats.org/officeDocument/2006/relationships" r:id="rId5"/>
          </a:graphicData>
        </a:graphic>
      </p:graphicFrame>
      <p:pic>
        <p:nvPicPr>
          <p:cNvPr id="73" name="圖片 72">
            <a:extLst>
              <a:ext uri="{FF2B5EF4-FFF2-40B4-BE49-F238E27FC236}">
                <a16:creationId xmlns:a16="http://schemas.microsoft.com/office/drawing/2014/main" id="{DD218E68-E5EA-4990-88C7-C89DA3062B27}"/>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226342" y="5077749"/>
            <a:ext cx="779244" cy="209797"/>
          </a:xfrm>
          <a:prstGeom prst="rect">
            <a:avLst/>
          </a:prstGeom>
        </p:spPr>
      </p:pic>
      <p:pic>
        <p:nvPicPr>
          <p:cNvPr id="74" name="圖片 73">
            <a:extLst>
              <a:ext uri="{FF2B5EF4-FFF2-40B4-BE49-F238E27FC236}">
                <a16:creationId xmlns:a16="http://schemas.microsoft.com/office/drawing/2014/main" id="{B249B750-BFA1-4F18-9E1F-AADCDA539DBC}"/>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1837529" y="5051824"/>
            <a:ext cx="936408" cy="241958"/>
          </a:xfrm>
          <a:prstGeom prst="rect">
            <a:avLst/>
          </a:prstGeom>
        </p:spPr>
      </p:pic>
      <p:sp>
        <p:nvSpPr>
          <p:cNvPr id="75" name="圓角矩形 74">
            <a:extLst>
              <a:ext uri="{FF2B5EF4-FFF2-40B4-BE49-F238E27FC236}">
                <a16:creationId xmlns:a16="http://schemas.microsoft.com/office/drawing/2014/main" id="{5CED9EF0-CFC6-4743-8D05-A8E3F91B217F}"/>
              </a:ext>
            </a:extLst>
          </p:cNvPr>
          <p:cNvSpPr/>
          <p:nvPr/>
        </p:nvSpPr>
        <p:spPr>
          <a:xfrm>
            <a:off x="153863" y="2995066"/>
            <a:ext cx="3268152" cy="28218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蘋果居全球最具品牌價值龍頭地位</a:t>
            </a:r>
            <a:endParaRPr lang="en-US" altLang="zh-TW" sz="1200" b="1" dirty="0">
              <a:latin typeface="微軟正黑體" panose="020B0604030504040204" pitchFamily="34" charset="-120"/>
              <a:ea typeface="微軟正黑體" panose="020B0604030504040204" pitchFamily="34" charset="-120"/>
            </a:endParaRPr>
          </a:p>
        </p:txBody>
      </p:sp>
      <p:sp>
        <p:nvSpPr>
          <p:cNvPr id="77" name="圓角矩形 76">
            <a:extLst>
              <a:ext uri="{FF2B5EF4-FFF2-40B4-BE49-F238E27FC236}">
                <a16:creationId xmlns:a16="http://schemas.microsoft.com/office/drawing/2014/main" id="{5CED9EF0-CFC6-4743-8D05-A8E3F91B217F}"/>
              </a:ext>
            </a:extLst>
          </p:cNvPr>
          <p:cNvSpPr/>
          <p:nvPr/>
        </p:nvSpPr>
        <p:spPr>
          <a:xfrm>
            <a:off x="3515733" y="2995067"/>
            <a:ext cx="2716300" cy="28218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latin typeface="微軟正黑體" panose="020B0604030504040204" pitchFamily="34" charset="-120"/>
                <a:ea typeface="微軟正黑體" panose="020B0604030504040204" pitchFamily="34" charset="-120"/>
              </a:rPr>
              <a:t>4Q25</a:t>
            </a:r>
            <a:r>
              <a:rPr lang="zh-TW" altLang="en-US" sz="1200" b="1" dirty="0">
                <a:latin typeface="微軟正黑體" panose="020B0604030504040204" pitchFamily="34" charset="-120"/>
                <a:ea typeface="微軟正黑體" panose="020B0604030504040204" pitchFamily="34" charset="-120"/>
              </a:rPr>
              <a:t>全球十大暢銷手機榜單中奪</a:t>
            </a:r>
            <a:r>
              <a:rPr lang="en-US" altLang="zh-TW" sz="1200" b="1" dirty="0">
                <a:latin typeface="微軟正黑體" panose="020B0604030504040204" pitchFamily="34" charset="-120"/>
                <a:ea typeface="微軟正黑體" panose="020B0604030504040204" pitchFamily="34" charset="-120"/>
              </a:rPr>
              <a:t>5</a:t>
            </a:r>
            <a:r>
              <a:rPr lang="zh-TW" altLang="en-US" sz="1200" b="1" dirty="0">
                <a:latin typeface="微軟正黑體" panose="020B0604030504040204" pitchFamily="34" charset="-120"/>
                <a:ea typeface="微軟正黑體" panose="020B0604030504040204" pitchFamily="34" charset="-120"/>
              </a:rPr>
              <a:t>席</a:t>
            </a:r>
            <a:endParaRPr lang="en-US" altLang="zh-TW" sz="1200" b="1" dirty="0">
              <a:latin typeface="微軟正黑體" panose="020B0604030504040204" pitchFamily="34" charset="-120"/>
              <a:ea typeface="微軟正黑體" panose="020B0604030504040204" pitchFamily="34" charset="-120"/>
            </a:endParaRPr>
          </a:p>
        </p:txBody>
      </p:sp>
      <p:pic>
        <p:nvPicPr>
          <p:cNvPr id="81" name="圖片 80"/>
          <p:cNvPicPr>
            <a:picLocks noChangeAspect="1"/>
          </p:cNvPicPr>
          <p:nvPr/>
        </p:nvPicPr>
        <p:blipFill rotWithShape="1">
          <a:blip r:embed="rId8" cstate="print">
            <a:extLst>
              <a:ext uri="{28A0092B-C50C-407E-A947-70E740481C1C}">
                <a14:useLocalDpi xmlns:a14="http://schemas.microsoft.com/office/drawing/2010/main" val="0"/>
              </a:ext>
            </a:extLst>
          </a:blip>
          <a:srcRect t="25421" b="27311"/>
          <a:stretch/>
        </p:blipFill>
        <p:spPr>
          <a:xfrm>
            <a:off x="7174449" y="776984"/>
            <a:ext cx="1011270" cy="199091"/>
          </a:xfrm>
          <a:prstGeom prst="rect">
            <a:avLst/>
          </a:prstGeom>
        </p:spPr>
      </p:pic>
      <p:pic>
        <p:nvPicPr>
          <p:cNvPr id="82" name="Picture 10" descr="12.9 吋iPad Pro Wi-Fi 256GB (第 5 代) - 太空灰色(整修品) - Apple (台灣)"/>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56197" y="3550390"/>
            <a:ext cx="441503" cy="441503"/>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16" descr="綠色 iMac 的背面，位於立架之上，Apple 標誌居中"/>
          <p:cNvPicPr>
            <a:picLocks noChangeAspect="1" noChangeArrowheads="1"/>
          </p:cNvPicPr>
          <p:nvPr/>
        </p:nvPicPr>
        <p:blipFill>
          <a:blip r:embed="rId10" cstate="print">
            <a:clrChange>
              <a:clrFrom>
                <a:srgbClr val="FAFAFA"/>
              </a:clrFrom>
              <a:clrTo>
                <a:srgbClr val="FAFAFA">
                  <a:alpha val="0"/>
                </a:srgbClr>
              </a:clrTo>
            </a:clrChange>
            <a:extLst>
              <a:ext uri="{28A0092B-C50C-407E-A947-70E740481C1C}">
                <a14:useLocalDpi xmlns:a14="http://schemas.microsoft.com/office/drawing/2010/main" val="0"/>
              </a:ext>
            </a:extLst>
          </a:blip>
          <a:srcRect/>
          <a:stretch>
            <a:fillRect/>
          </a:stretch>
        </p:blipFill>
        <p:spPr bwMode="auto">
          <a:xfrm>
            <a:off x="8346300" y="4075191"/>
            <a:ext cx="478246" cy="40467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0" descr="圖片展示網狀織物打造的 HomePod mini，頂部為觸控表面，備有白色、藍色、橙色、黃色及午夜色可供選擇。"/>
          <p:cNvPicPr>
            <a:picLocks noChangeAspect="1" noChangeArrowheads="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64905" y="5155796"/>
            <a:ext cx="832658" cy="678462"/>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2" descr="黑色巧控滑鼠，展示其曲線設計與多點觸控表面&#10;"/>
          <p:cNvPicPr>
            <a:picLocks noChangeAspect="1" noChangeArrowheads="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562967" y="5995988"/>
            <a:ext cx="359569" cy="359569"/>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4" descr="含數字鍵盤的白色巧控鍵盤，具備以倒 T 形排列的方向鍵佈局，以及專用的 page up 與 page down 鍵"/>
          <p:cNvPicPr>
            <a:picLocks noChangeAspect="1" noChangeArrowheads="1"/>
          </p:cNvPicPr>
          <p:nvPr/>
        </p:nvPicPr>
        <p:blipFill rotWithShape="1">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rcRect t="33034" b="32603"/>
          <a:stretch/>
        </p:blipFill>
        <p:spPr bwMode="auto">
          <a:xfrm>
            <a:off x="8133324" y="5730649"/>
            <a:ext cx="834527" cy="286769"/>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6" descr="原色鈦金屬的 6.7 吋 iPhone 15 Pro Max 背面圖與 6.1 吋 iPhone 15 Pro 正面圖。"/>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355107" y="1542525"/>
            <a:ext cx="394830" cy="526440"/>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8" descr="藍色的 6.7 吋 iPhone 14 Plus 背面圖與 6.1 吋 iPhone 14 正面圖。"/>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63339" y="2229905"/>
            <a:ext cx="369163" cy="531595"/>
          </a:xfrm>
          <a:prstGeom prst="rect">
            <a:avLst/>
          </a:prstGeom>
          <a:noFill/>
          <a:extLst>
            <a:ext uri="{909E8E84-426E-40DD-AFC4-6F175D3DCCD1}">
              <a14:hiddenFill xmlns:a14="http://schemas.microsoft.com/office/drawing/2010/main">
                <a:solidFill>
                  <a:srgbClr val="FFFFFF"/>
                </a:solidFill>
              </a14:hiddenFill>
            </a:ext>
          </a:extLst>
        </p:spPr>
      </p:pic>
      <p:sp>
        <p:nvSpPr>
          <p:cNvPr id="89" name="圓角矩形 88"/>
          <p:cNvSpPr/>
          <p:nvPr/>
        </p:nvSpPr>
        <p:spPr>
          <a:xfrm flipV="1">
            <a:off x="6533440" y="1436552"/>
            <a:ext cx="1619735" cy="284298"/>
          </a:xfrm>
          <a:prstGeom prst="roundRect">
            <a:avLst/>
          </a:prstGeom>
          <a:solidFill>
            <a:schemeClr val="bg1"/>
          </a:solidFill>
          <a:ln>
            <a:noFill/>
          </a:ln>
          <a:effectLst>
            <a:outerShdw blurRad="50800" dist="12700" dir="5400000" sx="99000" sy="99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a:extLst>
              <a:ext uri="{FF2B5EF4-FFF2-40B4-BE49-F238E27FC236}">
                <a16:creationId xmlns:a16="http://schemas.microsoft.com/office/drawing/2014/main" id="{BFF0693C-BF40-4B24-A131-632C7D59C2FE}"/>
              </a:ext>
            </a:extLst>
          </p:cNvPr>
          <p:cNvSpPr/>
          <p:nvPr/>
        </p:nvSpPr>
        <p:spPr>
          <a:xfrm>
            <a:off x="6521226" y="1433231"/>
            <a:ext cx="1631950" cy="276999"/>
          </a:xfrm>
          <a:prstGeom prst="rect">
            <a:avLst/>
          </a:prstGeom>
        </p:spPr>
        <p:txBody>
          <a:bodyPr wrap="square">
            <a:spAutoFit/>
          </a:bodyPr>
          <a:lstStyle/>
          <a:p>
            <a:pPr algn="ctr">
              <a:defRPr sz="1000" b="0" i="0" u="none" strike="noStrike" kern="1200" spc="0" baseline="0">
                <a:solidFill>
                  <a:prstClr val="black">
                    <a:lumMod val="65000"/>
                    <a:lumOff val="35000"/>
                  </a:prstClr>
                </a:solidFill>
                <a:latin typeface="+mn-lt"/>
                <a:ea typeface="+mn-ea"/>
                <a:cs typeface="+mn-cs"/>
              </a:defRPr>
            </a:pPr>
            <a:r>
              <a:rPr lang="zh-TW" altLang="en-US" sz="1200" b="1" dirty="0">
                <a:solidFill>
                  <a:schemeClr val="tx1">
                    <a:lumMod val="75000"/>
                    <a:lumOff val="25000"/>
                  </a:schemeClr>
                </a:solidFill>
                <a:latin typeface="微軟正黑體" panose="020B0604030504040204" pitchFamily="34" charset="-120"/>
                <a:ea typeface="微軟正黑體" panose="020B0604030504040204" pitchFamily="34" charset="-120"/>
              </a:rPr>
              <a:t>行動手機</a:t>
            </a:r>
            <a:endParaRPr lang="zh-TW" altLang="zh-TW" sz="1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91" name="圓角矩形 90"/>
          <p:cNvSpPr/>
          <p:nvPr/>
        </p:nvSpPr>
        <p:spPr>
          <a:xfrm flipV="1">
            <a:off x="6514953" y="3099892"/>
            <a:ext cx="1619735" cy="284298"/>
          </a:xfrm>
          <a:prstGeom prst="roundRect">
            <a:avLst/>
          </a:prstGeom>
          <a:solidFill>
            <a:schemeClr val="bg1"/>
          </a:solidFill>
          <a:ln>
            <a:noFill/>
          </a:ln>
          <a:effectLst>
            <a:outerShdw blurRad="50800" dist="12700" dir="5400000" sx="99000" sy="99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2" name="Picture 12" descr="打開的 14 吋 MacBook Pro，展示顯示器、纖薄邊框、FaceTime HD 相機、凸出的腳座與圓角設計，太空灰色。"/>
          <p:cNvPicPr>
            <a:picLocks noChangeAspect="1" noChangeArrowheads="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08981" y="3176074"/>
            <a:ext cx="543487" cy="328063"/>
          </a:xfrm>
          <a:prstGeom prst="rect">
            <a:avLst/>
          </a:prstGeom>
          <a:noFill/>
          <a:extLst>
            <a:ext uri="{909E8E84-426E-40DD-AFC4-6F175D3DCCD1}">
              <a14:hiddenFill xmlns:a14="http://schemas.microsoft.com/office/drawing/2010/main">
                <a:solidFill>
                  <a:srgbClr val="FFFFFF"/>
                </a:solidFill>
              </a14:hiddenFill>
            </a:ext>
          </a:extLst>
        </p:spPr>
      </p:pic>
      <p:sp>
        <p:nvSpPr>
          <p:cNvPr id="93" name="矩形 92">
            <a:extLst>
              <a:ext uri="{FF2B5EF4-FFF2-40B4-BE49-F238E27FC236}">
                <a16:creationId xmlns:a16="http://schemas.microsoft.com/office/drawing/2014/main" id="{00F2420B-CDE6-4F4B-B044-6B0141B9B96E}"/>
              </a:ext>
            </a:extLst>
          </p:cNvPr>
          <p:cNvSpPr/>
          <p:nvPr/>
        </p:nvSpPr>
        <p:spPr>
          <a:xfrm>
            <a:off x="6509642" y="3109376"/>
            <a:ext cx="1623682" cy="276999"/>
          </a:xfrm>
          <a:prstGeom prst="rect">
            <a:avLst/>
          </a:prstGeom>
        </p:spPr>
        <p:txBody>
          <a:bodyPr wrap="square">
            <a:spAutoFit/>
          </a:bodyPr>
          <a:lstStyle/>
          <a:p>
            <a:pPr algn="ctr">
              <a:defRPr sz="1000" b="0" i="0" u="none" strike="noStrike" kern="1200" spc="0" baseline="0">
                <a:solidFill>
                  <a:prstClr val="black">
                    <a:lumMod val="65000"/>
                    <a:lumOff val="35000"/>
                  </a:prstClr>
                </a:solidFill>
                <a:latin typeface="+mn-lt"/>
                <a:ea typeface="+mn-ea"/>
                <a:cs typeface="+mn-cs"/>
              </a:defRPr>
            </a:pPr>
            <a:r>
              <a:rPr lang="zh-TW" altLang="en-US" sz="1200" b="1" dirty="0">
                <a:solidFill>
                  <a:schemeClr val="tx1">
                    <a:lumMod val="75000"/>
                    <a:lumOff val="25000"/>
                  </a:schemeClr>
                </a:solidFill>
                <a:latin typeface="微軟正黑體" panose="020B0604030504040204" pitchFamily="34" charset="-120"/>
                <a:ea typeface="微軟正黑體" panose="020B0604030504040204" pitchFamily="34" charset="-120"/>
              </a:rPr>
              <a:t>個人電腦</a:t>
            </a:r>
            <a:endParaRPr lang="zh-TW" altLang="zh-TW" sz="1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94" name="Picture 18" descr="Apple Watch Ultra 2"/>
          <p:cNvPicPr>
            <a:picLocks noChangeAspect="1" noChangeArrowheads="1"/>
          </p:cNvPicPr>
          <p:nvPr/>
        </p:nvPicPr>
        <p:blipFill>
          <a:blip r:embed="rId17" cstate="print">
            <a:clrChange>
              <a:clrFrom>
                <a:srgbClr val="F5F5F7"/>
              </a:clrFrom>
              <a:clrTo>
                <a:srgbClr val="F5F5F7">
                  <a:alpha val="0"/>
                </a:srgbClr>
              </a:clrTo>
            </a:clrChange>
            <a:extLst>
              <a:ext uri="{28A0092B-C50C-407E-A947-70E740481C1C}">
                <a14:useLocalDpi xmlns:a14="http://schemas.microsoft.com/office/drawing/2010/main" val="0"/>
              </a:ext>
            </a:extLst>
          </a:blip>
          <a:srcRect/>
          <a:stretch>
            <a:fillRect/>
          </a:stretch>
        </p:blipFill>
        <p:spPr bwMode="auto">
          <a:xfrm>
            <a:off x="8546846" y="4862179"/>
            <a:ext cx="341342" cy="407082"/>
          </a:xfrm>
          <a:prstGeom prst="rect">
            <a:avLst/>
          </a:prstGeom>
          <a:noFill/>
          <a:extLst>
            <a:ext uri="{909E8E84-426E-40DD-AFC4-6F175D3DCCD1}">
              <a14:hiddenFill xmlns:a14="http://schemas.microsoft.com/office/drawing/2010/main">
                <a:solidFill>
                  <a:srgbClr val="FFFFFF"/>
                </a:solidFill>
              </a14:hiddenFill>
            </a:ext>
          </a:extLst>
        </p:spPr>
      </p:pic>
      <p:sp>
        <p:nvSpPr>
          <p:cNvPr id="95" name="圓角矩形 94"/>
          <p:cNvSpPr/>
          <p:nvPr/>
        </p:nvSpPr>
        <p:spPr>
          <a:xfrm flipV="1">
            <a:off x="6513589" y="4808971"/>
            <a:ext cx="1619735" cy="284298"/>
          </a:xfrm>
          <a:prstGeom prst="roundRect">
            <a:avLst/>
          </a:prstGeom>
          <a:solidFill>
            <a:schemeClr val="bg1"/>
          </a:solidFill>
          <a:ln>
            <a:noFill/>
          </a:ln>
          <a:effectLst>
            <a:outerShdw blurRad="50800" dist="12700" dir="5400000" sx="99000" sy="99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a:extLst>
              <a:ext uri="{FF2B5EF4-FFF2-40B4-BE49-F238E27FC236}">
                <a16:creationId xmlns:a16="http://schemas.microsoft.com/office/drawing/2014/main" id="{7140A09D-B0D6-4845-B229-FDA534637BDD}"/>
              </a:ext>
            </a:extLst>
          </p:cNvPr>
          <p:cNvSpPr/>
          <p:nvPr/>
        </p:nvSpPr>
        <p:spPr>
          <a:xfrm>
            <a:off x="6521225" y="4804227"/>
            <a:ext cx="1612099" cy="276999"/>
          </a:xfrm>
          <a:prstGeom prst="rect">
            <a:avLst/>
          </a:prstGeom>
        </p:spPr>
        <p:txBody>
          <a:bodyPr wrap="square">
            <a:spAutoFit/>
          </a:bodyPr>
          <a:lstStyle/>
          <a:p>
            <a:pPr algn="ctr">
              <a:defRPr sz="1000" b="0" i="0" u="none" strike="noStrike" kern="1200" spc="0" baseline="0">
                <a:solidFill>
                  <a:prstClr val="black">
                    <a:lumMod val="65000"/>
                    <a:lumOff val="35000"/>
                  </a:prstClr>
                </a:solidFill>
                <a:latin typeface="+mn-lt"/>
                <a:ea typeface="+mn-ea"/>
                <a:cs typeface="+mn-cs"/>
              </a:defRPr>
            </a:pPr>
            <a:r>
              <a:rPr lang="zh-TW" altLang="en-US" sz="1200" b="1" dirty="0">
                <a:solidFill>
                  <a:schemeClr val="tx1">
                    <a:lumMod val="75000"/>
                    <a:lumOff val="25000"/>
                  </a:schemeClr>
                </a:solidFill>
                <a:latin typeface="微軟正黑體" panose="020B0604030504040204" pitchFamily="34" charset="-120"/>
                <a:ea typeface="微軟正黑體" panose="020B0604030504040204" pitchFamily="34" charset="-120"/>
              </a:rPr>
              <a:t>鍵盤</a:t>
            </a:r>
            <a:r>
              <a:rPr lang="en-US" altLang="zh-TW" sz="12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200" b="1" dirty="0">
                <a:solidFill>
                  <a:schemeClr val="tx1">
                    <a:lumMod val="75000"/>
                    <a:lumOff val="25000"/>
                  </a:schemeClr>
                </a:solidFill>
                <a:latin typeface="微軟正黑體" panose="020B0604030504040204" pitchFamily="34" charset="-120"/>
                <a:ea typeface="微軟正黑體" panose="020B0604030504040204" pitchFamily="34" charset="-120"/>
              </a:rPr>
              <a:t>滑鼠</a:t>
            </a:r>
            <a:r>
              <a:rPr lang="en-US" altLang="zh-TW" sz="12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200" b="1" dirty="0">
                <a:solidFill>
                  <a:schemeClr val="tx1">
                    <a:lumMod val="75000"/>
                    <a:lumOff val="25000"/>
                  </a:schemeClr>
                </a:solidFill>
                <a:latin typeface="微軟正黑體" panose="020B0604030504040204" pitchFamily="34" charset="-120"/>
                <a:ea typeface="微軟正黑體" panose="020B0604030504040204" pitchFamily="34" charset="-120"/>
              </a:rPr>
              <a:t>其他裝置</a:t>
            </a:r>
            <a:endParaRPr lang="zh-TW" altLang="zh-TW" sz="1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07" name="圖片 106"/>
          <p:cNvPicPr>
            <a:picLocks noChangeAspect="1"/>
          </p:cNvPicPr>
          <p:nvPr/>
        </p:nvPicPr>
        <p:blipFill>
          <a:blip r:embed="rId18">
            <a:clrChange>
              <a:clrFrom>
                <a:srgbClr val="FBFBFB"/>
              </a:clrFrom>
              <a:clrTo>
                <a:srgbClr val="FBFBFB">
                  <a:alpha val="0"/>
                </a:srgbClr>
              </a:clrTo>
            </a:clrChange>
          </a:blip>
          <a:stretch>
            <a:fillRect/>
          </a:stretch>
        </p:blipFill>
        <p:spPr>
          <a:xfrm>
            <a:off x="3697482" y="4361075"/>
            <a:ext cx="288032" cy="153032"/>
          </a:xfrm>
          <a:prstGeom prst="rect">
            <a:avLst/>
          </a:prstGeom>
        </p:spPr>
      </p:pic>
      <p:graphicFrame>
        <p:nvGraphicFramePr>
          <p:cNvPr id="114" name="圖表 113"/>
          <p:cNvGraphicFramePr/>
          <p:nvPr>
            <p:extLst>
              <p:ext uri="{D42A27DB-BD31-4B8C-83A1-F6EECF244321}">
                <p14:modId xmlns:p14="http://schemas.microsoft.com/office/powerpoint/2010/main" val="1021917942"/>
              </p:ext>
            </p:extLst>
          </p:nvPr>
        </p:nvGraphicFramePr>
        <p:xfrm>
          <a:off x="126553" y="5324522"/>
          <a:ext cx="3455587" cy="1381814"/>
        </p:xfrm>
        <a:graphic>
          <a:graphicData uri="http://schemas.openxmlformats.org/drawingml/2006/chart">
            <c:chart xmlns:c="http://schemas.openxmlformats.org/drawingml/2006/chart" xmlns:r="http://schemas.openxmlformats.org/officeDocument/2006/relationships" r:id="rId19"/>
          </a:graphicData>
        </a:graphic>
      </p:graphicFrame>
      <p:sp>
        <p:nvSpPr>
          <p:cNvPr id="116" name="圓角矩形 115">
            <a:extLst>
              <a:ext uri="{FF2B5EF4-FFF2-40B4-BE49-F238E27FC236}">
                <a16:creationId xmlns:a16="http://schemas.microsoft.com/office/drawing/2014/main" id="{5CED9EF0-CFC6-4743-8D05-A8E3F91B217F}"/>
              </a:ext>
            </a:extLst>
          </p:cNvPr>
          <p:cNvSpPr/>
          <p:nvPr/>
        </p:nvSpPr>
        <p:spPr>
          <a:xfrm>
            <a:off x="3582140" y="4725144"/>
            <a:ext cx="2649893" cy="28218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全球穿戴式裝置市佔第一</a:t>
            </a:r>
          </a:p>
        </p:txBody>
      </p:sp>
      <p:pic>
        <p:nvPicPr>
          <p:cNvPr id="8" name="圖片 7">
            <a:extLst>
              <a:ext uri="{FF2B5EF4-FFF2-40B4-BE49-F238E27FC236}">
                <a16:creationId xmlns:a16="http://schemas.microsoft.com/office/drawing/2014/main" id="{8821B1A8-8484-46DE-9588-B9E6238181BC}"/>
              </a:ext>
            </a:extLst>
          </p:cNvPr>
          <p:cNvPicPr>
            <a:picLocks noChangeAspect="1"/>
          </p:cNvPicPr>
          <p:nvPr/>
        </p:nvPicPr>
        <p:blipFill>
          <a:blip r:embed="rId20"/>
          <a:stretch>
            <a:fillRect/>
          </a:stretch>
        </p:blipFill>
        <p:spPr>
          <a:xfrm>
            <a:off x="2872473" y="5055106"/>
            <a:ext cx="525330" cy="240267"/>
          </a:xfrm>
          <a:prstGeom prst="rect">
            <a:avLst/>
          </a:prstGeom>
        </p:spPr>
      </p:pic>
      <p:pic>
        <p:nvPicPr>
          <p:cNvPr id="7" name="圖片 6">
            <a:extLst>
              <a:ext uri="{FF2B5EF4-FFF2-40B4-BE49-F238E27FC236}">
                <a16:creationId xmlns:a16="http://schemas.microsoft.com/office/drawing/2014/main" id="{F805FF46-D8B1-4F8C-A86C-ABAEB2B0AD30}"/>
              </a:ext>
            </a:extLst>
          </p:cNvPr>
          <p:cNvPicPr>
            <a:picLocks noChangeAspect="1"/>
          </p:cNvPicPr>
          <p:nvPr/>
        </p:nvPicPr>
        <p:blipFill>
          <a:blip r:embed="rId21"/>
          <a:stretch>
            <a:fillRect/>
          </a:stretch>
        </p:blipFill>
        <p:spPr>
          <a:xfrm>
            <a:off x="189330" y="3299453"/>
            <a:ext cx="3142955" cy="1387301"/>
          </a:xfrm>
          <a:prstGeom prst="rect">
            <a:avLst/>
          </a:prstGeom>
        </p:spPr>
      </p:pic>
      <p:pic>
        <p:nvPicPr>
          <p:cNvPr id="11" name="圖片 10">
            <a:extLst>
              <a:ext uri="{FF2B5EF4-FFF2-40B4-BE49-F238E27FC236}">
                <a16:creationId xmlns:a16="http://schemas.microsoft.com/office/drawing/2014/main" id="{84C0F95D-3824-4F70-A280-C2991637F999}"/>
              </a:ext>
            </a:extLst>
          </p:cNvPr>
          <p:cNvPicPr>
            <a:picLocks noChangeAspect="1"/>
          </p:cNvPicPr>
          <p:nvPr/>
        </p:nvPicPr>
        <p:blipFill>
          <a:blip r:embed="rId22"/>
          <a:stretch>
            <a:fillRect/>
          </a:stretch>
        </p:blipFill>
        <p:spPr>
          <a:xfrm>
            <a:off x="3472962" y="3437792"/>
            <a:ext cx="2561502" cy="1266093"/>
          </a:xfrm>
          <a:prstGeom prst="rect">
            <a:avLst/>
          </a:prstGeom>
        </p:spPr>
      </p:pic>
      <p:pic>
        <p:nvPicPr>
          <p:cNvPr id="16" name="圖片 15">
            <a:extLst>
              <a:ext uri="{FF2B5EF4-FFF2-40B4-BE49-F238E27FC236}">
                <a16:creationId xmlns:a16="http://schemas.microsoft.com/office/drawing/2014/main" id="{8F1E408F-3097-42E0-8DE6-997B4317EFA2}"/>
              </a:ext>
            </a:extLst>
          </p:cNvPr>
          <p:cNvPicPr>
            <a:picLocks noChangeAspect="1"/>
          </p:cNvPicPr>
          <p:nvPr/>
        </p:nvPicPr>
        <p:blipFill>
          <a:blip r:embed="rId23"/>
          <a:stretch>
            <a:fillRect/>
          </a:stretch>
        </p:blipFill>
        <p:spPr>
          <a:xfrm>
            <a:off x="3581031" y="3302508"/>
            <a:ext cx="2255539" cy="108908"/>
          </a:xfrm>
          <a:prstGeom prst="rect">
            <a:avLst/>
          </a:prstGeom>
        </p:spPr>
      </p:pic>
      <p:pic>
        <p:nvPicPr>
          <p:cNvPr id="18" name="圖片 17">
            <a:extLst>
              <a:ext uri="{FF2B5EF4-FFF2-40B4-BE49-F238E27FC236}">
                <a16:creationId xmlns:a16="http://schemas.microsoft.com/office/drawing/2014/main" id="{6B9B65E1-AB06-4E91-A65B-824AD5182E8B}"/>
              </a:ext>
            </a:extLst>
          </p:cNvPr>
          <p:cNvPicPr>
            <a:picLocks noChangeAspect="1"/>
          </p:cNvPicPr>
          <p:nvPr/>
        </p:nvPicPr>
        <p:blipFill>
          <a:blip r:embed="rId24"/>
          <a:stretch>
            <a:fillRect/>
          </a:stretch>
        </p:blipFill>
        <p:spPr>
          <a:xfrm>
            <a:off x="4378569" y="4523620"/>
            <a:ext cx="1835676" cy="124964"/>
          </a:xfrm>
          <a:prstGeom prst="rect">
            <a:avLst/>
          </a:prstGeom>
        </p:spPr>
      </p:pic>
      <p:pic>
        <p:nvPicPr>
          <p:cNvPr id="23" name="圖片 22">
            <a:extLst>
              <a:ext uri="{FF2B5EF4-FFF2-40B4-BE49-F238E27FC236}">
                <a16:creationId xmlns:a16="http://schemas.microsoft.com/office/drawing/2014/main" id="{CC45CFB8-1753-4241-9862-64B81AFD21AA}"/>
              </a:ext>
            </a:extLst>
          </p:cNvPr>
          <p:cNvPicPr>
            <a:picLocks noChangeAspect="1"/>
          </p:cNvPicPr>
          <p:nvPr/>
        </p:nvPicPr>
        <p:blipFill>
          <a:blip r:embed="rId25"/>
          <a:stretch>
            <a:fillRect/>
          </a:stretch>
        </p:blipFill>
        <p:spPr>
          <a:xfrm>
            <a:off x="3560885" y="6343401"/>
            <a:ext cx="2681653" cy="136444"/>
          </a:xfrm>
          <a:prstGeom prst="rect">
            <a:avLst/>
          </a:prstGeom>
        </p:spPr>
      </p:pic>
    </p:spTree>
    <p:extLst>
      <p:ext uri="{BB962C8B-B14F-4D97-AF65-F5344CB8AC3E}">
        <p14:creationId xmlns:p14="http://schemas.microsoft.com/office/powerpoint/2010/main" val="1815089394"/>
      </p:ext>
    </p:extLst>
  </p:cSld>
  <p:clrMapOvr>
    <a:masterClrMapping/>
  </p:clrMapOvr>
  <mc:AlternateContent xmlns:mc="http://schemas.openxmlformats.org/markup-compatibility/2006">
    <mc:Choice xmlns:p14="http://schemas.microsoft.com/office/powerpoint/2010/main" Requires="p14">
      <p:transition spd="slow" p14:dur="2000" advTm="39951"/>
    </mc:Choice>
    <mc:Fallback>
      <p:transition spd="slow" advTm="3995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標題 1">
            <a:extLst>
              <a:ext uri="{FF2B5EF4-FFF2-40B4-BE49-F238E27FC236}">
                <a16:creationId xmlns:a16="http://schemas.microsoft.com/office/drawing/2014/main" id="{5AA51018-5D74-493D-9F95-C9549A33D53F}"/>
              </a:ext>
            </a:extLst>
          </p:cNvPr>
          <p:cNvSpPr txBox="1">
            <a:spLocks/>
          </p:cNvSpPr>
          <p:nvPr/>
        </p:nvSpPr>
        <p:spPr bwMode="auto">
          <a:xfrm>
            <a:off x="246781" y="116632"/>
            <a:ext cx="636966" cy="609218"/>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sz="1700" dirty="0"/>
              <a:t>財務表現</a:t>
            </a:r>
          </a:p>
        </p:txBody>
      </p:sp>
      <p:sp>
        <p:nvSpPr>
          <p:cNvPr id="4" name="投影片編號版面配置區 3">
            <a:extLst>
              <a:ext uri="{FF2B5EF4-FFF2-40B4-BE49-F238E27FC236}">
                <a16:creationId xmlns:a16="http://schemas.microsoft.com/office/drawing/2014/main" id="{7BBAF2F3-4DAD-C14A-B48B-E702BC7A59E7}"/>
              </a:ext>
            </a:extLst>
          </p:cNvPr>
          <p:cNvSpPr>
            <a:spLocks noGrp="1"/>
          </p:cNvSpPr>
          <p:nvPr>
            <p:ph type="sldNum" sz="quarter" idx="10"/>
          </p:nvPr>
        </p:nvSpPr>
        <p:spPr/>
        <p:txBody>
          <a:bodyPr/>
          <a:lstStyle/>
          <a:p>
            <a:fld id="{415482FC-CF5F-466A-B8B6-BC3733E92023}" type="slidenum">
              <a:rPr lang="zh-TW" altLang="en-US" smtClean="0"/>
              <a:pPr/>
              <a:t>4</a:t>
            </a:fld>
            <a:endParaRPr lang="zh-TW" altLang="en-US" dirty="0"/>
          </a:p>
        </p:txBody>
      </p:sp>
      <p:sp>
        <p:nvSpPr>
          <p:cNvPr id="8" name="標題 1">
            <a:extLst>
              <a:ext uri="{FF2B5EF4-FFF2-40B4-BE49-F238E27FC236}">
                <a16:creationId xmlns:a16="http://schemas.microsoft.com/office/drawing/2014/main" id="{7FA876EA-016F-C943-9D37-BCF80403BE81}"/>
              </a:ext>
            </a:extLst>
          </p:cNvPr>
          <p:cNvSpPr txBox="1">
            <a:spLocks noChangeArrowheads="1"/>
          </p:cNvSpPr>
          <p:nvPr/>
        </p:nvSpPr>
        <p:spPr>
          <a:xfrm>
            <a:off x="883747" y="224929"/>
            <a:ext cx="7360661" cy="475060"/>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defRPr/>
            </a:pPr>
            <a:r>
              <a:rPr lang="en-US" altLang="zh-TW" sz="2400" u="sng" dirty="0"/>
              <a:t>iPhone 17</a:t>
            </a:r>
            <a:r>
              <a:rPr lang="en-US" altLang="zh-TW" sz="2400" dirty="0"/>
              <a:t>+</a:t>
            </a:r>
            <a:r>
              <a:rPr lang="zh-TW" altLang="en-US" sz="2400" u="sng" dirty="0"/>
              <a:t>服務收入</a:t>
            </a:r>
            <a:r>
              <a:rPr lang="zh-TW" altLang="en-US" sz="2400" dirty="0"/>
              <a:t>成長，年度營收、獲利創高</a:t>
            </a:r>
          </a:p>
        </p:txBody>
      </p:sp>
      <p:sp>
        <p:nvSpPr>
          <p:cNvPr id="21" name="文字方塊 30">
            <a:extLst>
              <a:ext uri="{FF2B5EF4-FFF2-40B4-BE49-F238E27FC236}">
                <a16:creationId xmlns:a16="http://schemas.microsoft.com/office/drawing/2014/main" id="{7DB08F83-B110-3044-A817-3A8E4D3E13EB}"/>
              </a:ext>
            </a:extLst>
          </p:cNvPr>
          <p:cNvSpPr txBox="1">
            <a:spLocks noChangeArrowheads="1"/>
          </p:cNvSpPr>
          <p:nvPr/>
        </p:nvSpPr>
        <p:spPr bwMode="auto">
          <a:xfrm>
            <a:off x="480286" y="6525344"/>
            <a:ext cx="726006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buNone/>
            </a:pPr>
            <a:r>
              <a:rPr lang="zh-TW" altLang="en-US" sz="800" b="0" dirty="0">
                <a:latin typeface="微軟正黑體" panose="020B0604030504040204" pitchFamily="34" charset="-120"/>
                <a:ea typeface="微軟正黑體" panose="020B0604030504040204" pitchFamily="34" charset="-120"/>
              </a:rPr>
              <a:t>資料來源：年報、季報、彭博 </a:t>
            </a:r>
            <a:r>
              <a:rPr lang="en-US" altLang="zh-TW" sz="800" b="0" dirty="0">
                <a:latin typeface="微軟正黑體" panose="020B0604030504040204" pitchFamily="34" charset="-120"/>
                <a:ea typeface="微軟正黑體" panose="020B0604030504040204" pitchFamily="34" charset="-120"/>
              </a:rPr>
              <a:t>| </a:t>
            </a:r>
            <a:r>
              <a:rPr lang="zh-TW" altLang="en-US" sz="800" b="0" dirty="0">
                <a:latin typeface="微軟正黑體" panose="020B0604030504040204" pitchFamily="34" charset="-120"/>
                <a:ea typeface="微軟正黑體" panose="020B0604030504040204" pitchFamily="34" charset="-120"/>
              </a:rPr>
              <a:t>註：歐盟最高法院於</a:t>
            </a:r>
            <a:r>
              <a:rPr lang="en-US" altLang="zh-TW" sz="800" b="0" dirty="0">
                <a:latin typeface="微軟正黑體" panose="020B0604030504040204" pitchFamily="34" charset="-120"/>
                <a:ea typeface="微軟正黑體" panose="020B0604030504040204" pitchFamily="34" charset="-120"/>
              </a:rPr>
              <a:t>2024</a:t>
            </a:r>
            <a:r>
              <a:rPr lang="zh-TW" altLang="en-US" sz="800" b="0" dirty="0">
                <a:latin typeface="微軟正黑體" panose="020B0604030504040204" pitchFamily="34" charset="-120"/>
                <a:ea typeface="微軟正黑體" panose="020B0604030504040204" pitchFamily="34" charset="-120"/>
              </a:rPr>
              <a:t>年</a:t>
            </a:r>
            <a:r>
              <a:rPr lang="en-US" altLang="zh-TW" sz="800" b="0" dirty="0">
                <a:latin typeface="微軟正黑體" panose="020B0604030504040204" pitchFamily="34" charset="-120"/>
                <a:ea typeface="微軟正黑體" panose="020B0604030504040204" pitchFamily="34" charset="-120"/>
              </a:rPr>
              <a:t>9</a:t>
            </a:r>
            <a:r>
              <a:rPr lang="zh-TW" altLang="en-US" sz="800" b="0" dirty="0">
                <a:latin typeface="微軟正黑體" panose="020B0604030504040204" pitchFamily="34" charset="-120"/>
                <a:ea typeface="微軟正黑體" panose="020B0604030504040204" pitchFamily="34" charset="-120"/>
              </a:rPr>
              <a:t>月裁定蘋果的愛爾蘭稅收協議違反歐盟的國家援助規則，並命令蘋果向愛爾蘭政府補繳稅金和利息</a:t>
            </a:r>
          </a:p>
        </p:txBody>
      </p:sp>
      <p:pic>
        <p:nvPicPr>
          <p:cNvPr id="20" name="圖片 19"/>
          <p:cNvPicPr>
            <a:picLocks noChangeAspect="1"/>
          </p:cNvPicPr>
          <p:nvPr/>
        </p:nvPicPr>
        <p:blipFill>
          <a:blip r:embed="rId3">
            <a:clrChange>
              <a:clrFrom>
                <a:srgbClr val="FFFFFF"/>
              </a:clrFrom>
              <a:clrTo>
                <a:srgbClr val="FFFFFF">
                  <a:alpha val="0"/>
                </a:srgbClr>
              </a:clrTo>
            </a:clrChange>
          </a:blip>
          <a:stretch>
            <a:fillRect/>
          </a:stretch>
        </p:blipFill>
        <p:spPr>
          <a:xfrm>
            <a:off x="8195400" y="246966"/>
            <a:ext cx="688038" cy="589746"/>
          </a:xfrm>
          <a:prstGeom prst="rect">
            <a:avLst/>
          </a:prstGeom>
        </p:spPr>
      </p:pic>
      <p:sp>
        <p:nvSpPr>
          <p:cNvPr id="5" name="矩形 4"/>
          <p:cNvSpPr/>
          <p:nvPr/>
        </p:nvSpPr>
        <p:spPr>
          <a:xfrm>
            <a:off x="219194" y="908720"/>
            <a:ext cx="4543306" cy="5544616"/>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p:cNvSpPr/>
          <p:nvPr/>
        </p:nvSpPr>
        <p:spPr>
          <a:xfrm>
            <a:off x="4883761" y="908720"/>
            <a:ext cx="3913952" cy="5551115"/>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圓角矩形 21">
            <a:extLst>
              <a:ext uri="{FF2B5EF4-FFF2-40B4-BE49-F238E27FC236}">
                <a16:creationId xmlns:a16="http://schemas.microsoft.com/office/drawing/2014/main" id="{C7AAB1B3-3798-410E-A17A-1F4596524B0E}"/>
              </a:ext>
            </a:extLst>
          </p:cNvPr>
          <p:cNvSpPr/>
          <p:nvPr/>
        </p:nvSpPr>
        <p:spPr>
          <a:xfrm>
            <a:off x="402244" y="766758"/>
            <a:ext cx="967427" cy="26769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年度財務</a:t>
            </a:r>
          </a:p>
        </p:txBody>
      </p:sp>
      <p:sp>
        <p:nvSpPr>
          <p:cNvPr id="35" name="圓角矩形 27">
            <a:extLst>
              <a:ext uri="{FF2B5EF4-FFF2-40B4-BE49-F238E27FC236}">
                <a16:creationId xmlns:a16="http://schemas.microsoft.com/office/drawing/2014/main" id="{8DF1F1A4-FF7E-42D6-B1D6-DF653AE895D4}"/>
              </a:ext>
            </a:extLst>
          </p:cNvPr>
          <p:cNvSpPr/>
          <p:nvPr/>
        </p:nvSpPr>
        <p:spPr>
          <a:xfrm>
            <a:off x="5188749" y="764704"/>
            <a:ext cx="967427" cy="26769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季度財務</a:t>
            </a:r>
          </a:p>
        </p:txBody>
      </p:sp>
      <p:graphicFrame>
        <p:nvGraphicFramePr>
          <p:cNvPr id="29" name="表格 28"/>
          <p:cNvGraphicFramePr>
            <a:graphicFrameLocks noGrp="1"/>
          </p:cNvGraphicFramePr>
          <p:nvPr>
            <p:extLst>
              <p:ext uri="{D42A27DB-BD31-4B8C-83A1-F6EECF244321}">
                <p14:modId xmlns:p14="http://schemas.microsoft.com/office/powerpoint/2010/main" val="1383154944"/>
              </p:ext>
            </p:extLst>
          </p:nvPr>
        </p:nvGraphicFramePr>
        <p:xfrm>
          <a:off x="318457" y="1124744"/>
          <a:ext cx="4396192" cy="1164376"/>
        </p:xfrm>
        <a:graphic>
          <a:graphicData uri="http://schemas.openxmlformats.org/drawingml/2006/table">
            <a:tbl>
              <a:tblPr/>
              <a:tblGrid>
                <a:gridCol w="655246">
                  <a:extLst>
                    <a:ext uri="{9D8B030D-6E8A-4147-A177-3AD203B41FA5}">
                      <a16:colId xmlns:a16="http://schemas.microsoft.com/office/drawing/2014/main" val="20000"/>
                    </a:ext>
                  </a:extLst>
                </a:gridCol>
                <a:gridCol w="596000">
                  <a:extLst>
                    <a:ext uri="{9D8B030D-6E8A-4147-A177-3AD203B41FA5}">
                      <a16:colId xmlns:a16="http://schemas.microsoft.com/office/drawing/2014/main" val="20001"/>
                    </a:ext>
                  </a:extLst>
                </a:gridCol>
                <a:gridCol w="512194">
                  <a:extLst>
                    <a:ext uri="{9D8B030D-6E8A-4147-A177-3AD203B41FA5}">
                      <a16:colId xmlns:a16="http://schemas.microsoft.com/office/drawing/2014/main" val="20002"/>
                    </a:ext>
                  </a:extLst>
                </a:gridCol>
                <a:gridCol w="73171">
                  <a:extLst>
                    <a:ext uri="{9D8B030D-6E8A-4147-A177-3AD203B41FA5}">
                      <a16:colId xmlns:a16="http://schemas.microsoft.com/office/drawing/2014/main" val="20003"/>
                    </a:ext>
                  </a:extLst>
                </a:gridCol>
                <a:gridCol w="585364">
                  <a:extLst>
                    <a:ext uri="{9D8B030D-6E8A-4147-A177-3AD203B41FA5}">
                      <a16:colId xmlns:a16="http://schemas.microsoft.com/office/drawing/2014/main" val="20004"/>
                    </a:ext>
                  </a:extLst>
                </a:gridCol>
                <a:gridCol w="512194">
                  <a:extLst>
                    <a:ext uri="{9D8B030D-6E8A-4147-A177-3AD203B41FA5}">
                      <a16:colId xmlns:a16="http://schemas.microsoft.com/office/drawing/2014/main" val="20005"/>
                    </a:ext>
                  </a:extLst>
                </a:gridCol>
                <a:gridCol w="73171">
                  <a:extLst>
                    <a:ext uri="{9D8B030D-6E8A-4147-A177-3AD203B41FA5}">
                      <a16:colId xmlns:a16="http://schemas.microsoft.com/office/drawing/2014/main" val="20006"/>
                    </a:ext>
                  </a:extLst>
                </a:gridCol>
                <a:gridCol w="603185">
                  <a:extLst>
                    <a:ext uri="{9D8B030D-6E8A-4147-A177-3AD203B41FA5}">
                      <a16:colId xmlns:a16="http://schemas.microsoft.com/office/drawing/2014/main" val="20007"/>
                    </a:ext>
                  </a:extLst>
                </a:gridCol>
                <a:gridCol w="785667">
                  <a:extLst>
                    <a:ext uri="{9D8B030D-6E8A-4147-A177-3AD203B41FA5}">
                      <a16:colId xmlns:a16="http://schemas.microsoft.com/office/drawing/2014/main" val="20008"/>
                    </a:ext>
                  </a:extLst>
                </a:gridCol>
              </a:tblGrid>
              <a:tr h="286518">
                <a:tc>
                  <a:txBody>
                    <a:bodyPr/>
                    <a:lstStyle/>
                    <a:p>
                      <a:pPr marL="0" algn="ctr" defTabSz="685800" rtl="0" eaLnBrk="1" fontAlgn="ctr" latinLnBrk="0" hangingPunct="1"/>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年度</a:t>
                      </a:r>
                      <a:endParaRPr lang="en-US" altLang="zh-TW"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p>
                      <a:pPr marL="0" algn="ctr" defTabSz="685800" rtl="0" eaLnBrk="1" fontAlgn="ctr" latinLnBrk="0" hangingPunct="1"/>
                      <a:r>
                        <a:rPr lang="en-US" altLang="zh-TW"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百萬</a:t>
                      </a:r>
                      <a:r>
                        <a:rPr 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USD)</a:t>
                      </a:r>
                    </a:p>
                  </a:txBody>
                  <a:tcPr marL="9525" marR="9525" marT="9525" marB="0" anchor="ctr">
                    <a:lnL>
                      <a:noFill/>
                    </a:lnL>
                    <a:lnR>
                      <a:noFill/>
                    </a:lnR>
                    <a:lnT>
                      <a:noFill/>
                    </a:lnT>
                    <a:lnB>
                      <a:noFill/>
                    </a:lnB>
                    <a:solidFill>
                      <a:srgbClr val="FFBFBF"/>
                    </a:solidFill>
                  </a:tcPr>
                </a:tc>
                <a:tc>
                  <a:txBody>
                    <a:bodyPr/>
                    <a:lstStyle/>
                    <a:p>
                      <a:pPr marL="0" algn="r" defTabSz="685800" rtl="0" eaLnBrk="1" fontAlgn="ctr" latinLnBrk="0" hangingPunct="1"/>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營收</a:t>
                      </a:r>
                    </a:p>
                  </a:txBody>
                  <a:tcPr marL="9525" marR="9525" marT="9525" marB="0" anchor="ctr">
                    <a:lnL>
                      <a:noFill/>
                    </a:lnL>
                    <a:lnR>
                      <a:noFill/>
                    </a:lnR>
                    <a:lnT>
                      <a:noFill/>
                    </a:lnT>
                    <a:lnB>
                      <a:noFill/>
                    </a:lnB>
                    <a:solidFill>
                      <a:srgbClr val="FFBFBF"/>
                    </a:solidFill>
                  </a:tcPr>
                </a:tc>
                <a:tc>
                  <a:txBody>
                    <a:bodyPr/>
                    <a:lstStyle/>
                    <a:p>
                      <a:pPr marL="0" algn="r" defTabSz="685800" rtl="0" eaLnBrk="1" fontAlgn="ctr" latinLnBrk="0" hangingPunct="1"/>
                      <a:r>
                        <a:rPr lang="en-US" altLang="zh-TW"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YoY</a:t>
                      </a:r>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a:t>
                      </a:r>
                    </a:p>
                  </a:txBody>
                  <a:tcPr marL="9525" marR="9525" marT="9525" marB="0" anchor="ctr">
                    <a:lnL>
                      <a:noFill/>
                    </a:lnL>
                    <a:lnR>
                      <a:noFill/>
                    </a:lnR>
                    <a:lnT>
                      <a:noFill/>
                    </a:lnT>
                    <a:lnB>
                      <a:noFill/>
                    </a:lnB>
                    <a:solidFill>
                      <a:srgbClr val="FFBFBF"/>
                    </a:solidFill>
                  </a:tcPr>
                </a:tc>
                <a:tc>
                  <a:txBody>
                    <a:bodyPr/>
                    <a:lstStyle/>
                    <a:p>
                      <a:pPr marL="0" algn="r" defTabSz="685800" rtl="0" eaLnBrk="1" fontAlgn="ctr" latinLnBrk="0" hangingPunct="1"/>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a:t>
                      </a:r>
                    </a:p>
                  </a:txBody>
                  <a:tcPr marL="9525" marR="9525" marT="9525" marB="0" anchor="ctr">
                    <a:lnL>
                      <a:noFill/>
                    </a:lnL>
                    <a:lnR>
                      <a:noFill/>
                    </a:lnR>
                    <a:lnT>
                      <a:noFill/>
                    </a:lnT>
                    <a:lnB>
                      <a:noFill/>
                    </a:lnB>
                    <a:solidFill>
                      <a:srgbClr val="FFBFBF"/>
                    </a:solidFill>
                  </a:tcPr>
                </a:tc>
                <a:tc>
                  <a:txBody>
                    <a:bodyPr/>
                    <a:lstStyle/>
                    <a:p>
                      <a:pPr marL="0" algn="r" defTabSz="685800" rtl="0" eaLnBrk="1" fontAlgn="ctr" latinLnBrk="0" hangingPunct="1"/>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稅後淨利</a:t>
                      </a:r>
                    </a:p>
                  </a:txBody>
                  <a:tcPr marL="9525" marR="9525" marT="9525" marB="0" anchor="ctr">
                    <a:lnL>
                      <a:noFill/>
                    </a:lnL>
                    <a:lnR>
                      <a:noFill/>
                    </a:lnR>
                    <a:lnT>
                      <a:noFill/>
                    </a:lnT>
                    <a:lnB>
                      <a:noFill/>
                    </a:lnB>
                    <a:solidFill>
                      <a:srgbClr val="FFBFBF"/>
                    </a:solidFill>
                  </a:tcPr>
                </a:tc>
                <a:tc>
                  <a:txBody>
                    <a:bodyPr/>
                    <a:lstStyle/>
                    <a:p>
                      <a:pPr marL="0" algn="r" defTabSz="685800" rtl="0" eaLnBrk="1" fontAlgn="ctr" latinLnBrk="0" hangingPunct="1"/>
                      <a:r>
                        <a:rPr lang="en-US" altLang="zh-TW"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YoY</a:t>
                      </a:r>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a:t>
                      </a:r>
                    </a:p>
                  </a:txBody>
                  <a:tcPr marL="9525" marR="9525" marT="9525" marB="0" anchor="ctr">
                    <a:lnL>
                      <a:noFill/>
                    </a:lnL>
                    <a:lnR>
                      <a:noFill/>
                    </a:lnR>
                    <a:lnT>
                      <a:noFill/>
                    </a:lnT>
                    <a:lnB>
                      <a:noFill/>
                    </a:lnB>
                    <a:solidFill>
                      <a:srgbClr val="FFBFBF"/>
                    </a:solidFill>
                  </a:tcPr>
                </a:tc>
                <a:tc>
                  <a:txBody>
                    <a:bodyPr/>
                    <a:lstStyle/>
                    <a:p>
                      <a:pPr marL="0" algn="r" defTabSz="685800" rtl="0" eaLnBrk="1" fontAlgn="ctr" latinLnBrk="0" hangingPunct="1"/>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a:t>
                      </a:r>
                    </a:p>
                  </a:txBody>
                  <a:tcPr marL="9525" marR="9525" marT="9525" marB="0" anchor="ctr">
                    <a:lnL>
                      <a:noFill/>
                    </a:lnL>
                    <a:lnR>
                      <a:noFill/>
                    </a:lnR>
                    <a:lnT>
                      <a:noFill/>
                    </a:lnT>
                    <a:lnB>
                      <a:noFill/>
                    </a:lnB>
                    <a:solidFill>
                      <a:srgbClr val="FFBFBF"/>
                    </a:solidFill>
                  </a:tcPr>
                </a:tc>
                <a:tc>
                  <a:txBody>
                    <a:bodyPr/>
                    <a:lstStyle/>
                    <a:p>
                      <a:pPr marL="0" algn="r" defTabSz="685800" rtl="0" eaLnBrk="1" fontAlgn="ctr" latinLnBrk="0" hangingPunct="1"/>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資產</a:t>
                      </a:r>
                    </a:p>
                  </a:txBody>
                  <a:tcPr marL="9525" marR="9525" marT="9525" marB="0" anchor="ctr">
                    <a:lnL>
                      <a:noFill/>
                    </a:lnL>
                    <a:lnR>
                      <a:noFill/>
                    </a:lnR>
                    <a:lnT>
                      <a:noFill/>
                    </a:lnT>
                    <a:lnB>
                      <a:noFill/>
                    </a:lnB>
                    <a:solidFill>
                      <a:srgbClr val="FFBFBF"/>
                    </a:solidFill>
                  </a:tcPr>
                </a:tc>
                <a:tc>
                  <a:txBody>
                    <a:bodyPr/>
                    <a:lstStyle/>
                    <a:p>
                      <a:pPr marL="0" algn="r" defTabSz="685800" rtl="0" eaLnBrk="1" fontAlgn="ctr" latinLnBrk="0" hangingPunct="1"/>
                      <a:r>
                        <a:rPr lang="zh-TW" altLang="en-US" sz="10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總股東權益</a:t>
                      </a:r>
                    </a:p>
                  </a:txBody>
                  <a:tcPr marL="9525" marR="9525" marT="9525" marB="0" anchor="ctr">
                    <a:lnL>
                      <a:noFill/>
                    </a:lnL>
                    <a:lnR>
                      <a:noFill/>
                    </a:lnR>
                    <a:lnT>
                      <a:noFill/>
                    </a:lnT>
                    <a:lnB>
                      <a:noFill/>
                    </a:lnB>
                    <a:solidFill>
                      <a:srgbClr val="FFBFBF"/>
                    </a:solidFill>
                  </a:tcPr>
                </a:tc>
                <a:extLst>
                  <a:ext uri="{0D108BD9-81ED-4DB2-BD59-A6C34878D82A}">
                    <a16:rowId xmlns:a16="http://schemas.microsoft.com/office/drawing/2014/main" val="10000"/>
                  </a:ext>
                </a:extLst>
              </a:tr>
              <a:tr h="105027">
                <a:tc>
                  <a:txBody>
                    <a:bodyPr/>
                    <a:lstStyle/>
                    <a:p>
                      <a:pPr algn="l" fontAlgn="ctr"/>
                      <a:r>
                        <a:rPr lang="en-US" sz="900" b="1" i="0" u="none" strike="noStrike" dirty="0">
                          <a:solidFill>
                            <a:srgbClr val="000000"/>
                          </a:solidFill>
                          <a:effectLst/>
                          <a:latin typeface="微軟正黑體" panose="020B0604030504040204" pitchFamily="34" charset="-120"/>
                          <a:ea typeface="微軟正黑體" panose="020B0604030504040204" pitchFamily="34" charset="-120"/>
                        </a:rPr>
                        <a:t>FY2</a:t>
                      </a:r>
                      <a:r>
                        <a:rPr lang="en-US" altLang="zh-TW" sz="900" b="1" i="0" u="none" strike="noStrike" dirty="0">
                          <a:solidFill>
                            <a:srgbClr val="000000"/>
                          </a:solidFill>
                          <a:effectLst/>
                          <a:latin typeface="微軟正黑體" panose="020B0604030504040204" pitchFamily="34" charset="-120"/>
                          <a:ea typeface="微軟正黑體" panose="020B0604030504040204" pitchFamily="34" charset="-120"/>
                        </a:rPr>
                        <a:t>5</a:t>
                      </a:r>
                      <a:endParaRPr lang="en-US" sz="9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F2F2F2"/>
                    </a:solidFill>
                  </a:tcPr>
                </a:tc>
                <a:tc>
                  <a:txBody>
                    <a:bodyPr/>
                    <a:lstStyle/>
                    <a:p>
                      <a:pPr algn="r" fontAlgn="ctr"/>
                      <a:r>
                        <a:rPr lang="en-US" altLang="zh-TW" sz="900" b="1" i="0" u="none" strike="noStrike" dirty="0">
                          <a:solidFill>
                            <a:srgbClr val="000000"/>
                          </a:solidFill>
                          <a:effectLst/>
                          <a:latin typeface="微軟正黑體" panose="020B0604030504040204" pitchFamily="34" charset="-120"/>
                          <a:ea typeface="微軟正黑體" panose="020B0604030504040204" pitchFamily="34" charset="-120"/>
                        </a:rPr>
                        <a:t>416,161</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1" i="1" u="none" strike="noStrike" kern="1200" dirty="0">
                          <a:solidFill>
                            <a:schemeClr val="tx1"/>
                          </a:solidFill>
                          <a:effectLst/>
                          <a:latin typeface="微軟正黑體" panose="020B0604030504040204" pitchFamily="34" charset="-120"/>
                          <a:ea typeface="微軟正黑體" panose="020B0604030504040204" pitchFamily="34" charset="-120"/>
                          <a:cs typeface="+mn-cs"/>
                        </a:rPr>
                        <a:t>6.43%</a:t>
                      </a:r>
                    </a:p>
                  </a:txBody>
                  <a:tcPr marL="6350" marR="6350" marT="6350" marB="0" anchor="ctr">
                    <a:lnL>
                      <a:noFill/>
                    </a:lnL>
                    <a:lnR>
                      <a:noFill/>
                    </a:lnR>
                    <a:lnT>
                      <a:noFill/>
                    </a:lnT>
                    <a:lnB>
                      <a:noFill/>
                    </a:lnB>
                    <a:solidFill>
                      <a:srgbClr val="F2F2F2"/>
                    </a:solidFill>
                  </a:tcPr>
                </a:tc>
                <a:tc>
                  <a:txBody>
                    <a:bodyPr/>
                    <a:lstStyle/>
                    <a:p>
                      <a:pPr algn="l" fontAlgn="ctr"/>
                      <a:endParaRPr lang="zh-TW" altLang="en-US" sz="900" b="1" i="1" u="none" strike="noStrike" kern="1200" dirty="0">
                        <a:solidFill>
                          <a:srgbClr val="FF0000"/>
                        </a:solidFill>
                        <a:effectLst/>
                        <a:latin typeface="微軟正黑體" panose="020B0604030504040204" pitchFamily="34" charset="-120"/>
                        <a:ea typeface="微軟正黑體" panose="020B0604030504040204" pitchFamily="34" charset="-120"/>
                        <a:cs typeface="+mn-cs"/>
                      </a:endParaRPr>
                    </a:p>
                  </a:txBody>
                  <a:tcPr marL="6350" marR="6350" marT="6350" marB="0" anchor="ctr">
                    <a:lnL>
                      <a:noFill/>
                    </a:lnL>
                    <a:lnR>
                      <a:noFill/>
                    </a:lnR>
                    <a:lnT>
                      <a:noFill/>
                    </a:lnT>
                    <a:lnB>
                      <a:noFill/>
                    </a:lnB>
                    <a:solidFill>
                      <a:srgbClr val="F2F2F2"/>
                    </a:solidFill>
                  </a:tcPr>
                </a:tc>
                <a:tc>
                  <a:txBody>
                    <a:bodyPr/>
                    <a:lstStyle/>
                    <a:p>
                      <a:pPr algn="r" fontAlgn="ctr"/>
                      <a:r>
                        <a:rPr lang="en-US" altLang="zh-TW" sz="900" b="1" i="0" u="none" strike="noStrike" dirty="0">
                          <a:solidFill>
                            <a:srgbClr val="000000"/>
                          </a:solidFill>
                          <a:effectLst/>
                          <a:latin typeface="微軟正黑體" panose="020B0604030504040204" pitchFamily="34" charset="-120"/>
                          <a:ea typeface="微軟正黑體" panose="020B0604030504040204" pitchFamily="34" charset="-120"/>
                        </a:rPr>
                        <a:t>112,010</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1" i="1" u="none" strike="noStrike" kern="1200" dirty="0">
                          <a:solidFill>
                            <a:schemeClr val="tx1"/>
                          </a:solidFill>
                          <a:effectLst/>
                          <a:latin typeface="微軟正黑體" panose="020B0604030504040204" pitchFamily="34" charset="-120"/>
                          <a:ea typeface="微軟正黑體" panose="020B0604030504040204" pitchFamily="34" charset="-120"/>
                          <a:cs typeface="+mn-cs"/>
                        </a:rPr>
                        <a:t>19.5%</a:t>
                      </a:r>
                    </a:p>
                  </a:txBody>
                  <a:tcPr marL="6350" marR="6350" marT="6350" marB="0" anchor="ctr">
                    <a:lnL>
                      <a:noFill/>
                    </a:lnL>
                    <a:lnR>
                      <a:noFill/>
                    </a:lnR>
                    <a:lnT>
                      <a:noFill/>
                    </a:lnT>
                    <a:lnB>
                      <a:noFill/>
                    </a:lnB>
                    <a:solidFill>
                      <a:srgbClr val="F2F2F2"/>
                    </a:solidFill>
                  </a:tcPr>
                </a:tc>
                <a:tc>
                  <a:txBody>
                    <a:bodyPr/>
                    <a:lstStyle/>
                    <a:p>
                      <a:pPr algn="l" fontAlgn="ctr"/>
                      <a:endParaRPr lang="zh-TW" altLang="en-US" sz="9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F2F2F2"/>
                    </a:solidFill>
                  </a:tcPr>
                </a:tc>
                <a:tc>
                  <a:txBody>
                    <a:bodyPr/>
                    <a:lstStyle/>
                    <a:p>
                      <a:pPr algn="r" fontAlgn="ctr"/>
                      <a:r>
                        <a:rPr lang="en-US" altLang="zh-TW" sz="900" b="1" i="0" u="none" strike="noStrike" dirty="0">
                          <a:solidFill>
                            <a:srgbClr val="000000"/>
                          </a:solidFill>
                          <a:effectLst/>
                          <a:latin typeface="微軟正黑體" panose="020B0604030504040204" pitchFamily="34" charset="-120"/>
                          <a:ea typeface="微軟正黑體" panose="020B0604030504040204" pitchFamily="34" charset="-120"/>
                        </a:rPr>
                        <a:t>359,241</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1" i="0" u="none" strike="noStrike" dirty="0">
                          <a:solidFill>
                            <a:srgbClr val="000000"/>
                          </a:solidFill>
                          <a:effectLst/>
                          <a:latin typeface="微軟正黑體" panose="020B0604030504040204" pitchFamily="34" charset="-120"/>
                          <a:ea typeface="微軟正黑體" panose="020B0604030504040204" pitchFamily="34" charset="-120"/>
                        </a:rPr>
                        <a:t>73,733</a:t>
                      </a:r>
                    </a:p>
                  </a:txBody>
                  <a:tcPr marL="6350" marR="6350" marT="6350" marB="0" anchor="ctr">
                    <a:lnL>
                      <a:noFill/>
                    </a:lnL>
                    <a:lnR>
                      <a:noFill/>
                    </a:lnR>
                    <a:lnT>
                      <a:noFill/>
                    </a:lnT>
                    <a:lnB>
                      <a:noFill/>
                    </a:lnB>
                    <a:solidFill>
                      <a:srgbClr val="F2F2F2"/>
                    </a:solidFill>
                  </a:tcPr>
                </a:tc>
                <a:extLst>
                  <a:ext uri="{0D108BD9-81ED-4DB2-BD59-A6C34878D82A}">
                    <a16:rowId xmlns:a16="http://schemas.microsoft.com/office/drawing/2014/main" val="10001"/>
                  </a:ext>
                </a:extLst>
              </a:tr>
              <a:tr h="187677">
                <a:tc>
                  <a:txBody>
                    <a:bodyPr/>
                    <a:lstStyle/>
                    <a:p>
                      <a:pPr algn="l" fontAlgn="ctr"/>
                      <a:r>
                        <a:rPr lang="en-US" sz="900" b="0" i="0" u="none" strike="noStrike" dirty="0">
                          <a:solidFill>
                            <a:srgbClr val="000000"/>
                          </a:solidFill>
                          <a:effectLst/>
                          <a:latin typeface="微軟正黑體" panose="020B0604030504040204" pitchFamily="34" charset="-120"/>
                          <a:ea typeface="微軟正黑體" panose="020B0604030504040204" pitchFamily="34" charset="-120"/>
                        </a:rPr>
                        <a:t>FY24</a:t>
                      </a: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391,035</a:t>
                      </a: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1" u="none" strike="noStrike" kern="1200" dirty="0">
                          <a:solidFill>
                            <a:schemeClr val="tx1"/>
                          </a:solidFill>
                          <a:effectLst/>
                          <a:latin typeface="微軟正黑體" panose="020B0604030504040204" pitchFamily="34" charset="-120"/>
                          <a:ea typeface="微軟正黑體" panose="020B0604030504040204" pitchFamily="34" charset="-120"/>
                          <a:cs typeface="+mn-cs"/>
                        </a:rPr>
                        <a:t>2.02%</a:t>
                      </a:r>
                    </a:p>
                  </a:txBody>
                  <a:tcPr marL="6350" marR="6350" marT="6350" marB="0" anchor="ctr">
                    <a:lnL>
                      <a:noFill/>
                    </a:lnL>
                    <a:lnR>
                      <a:noFill/>
                    </a:lnR>
                    <a:lnT>
                      <a:noFill/>
                    </a:lnT>
                    <a:lnB>
                      <a:noFill/>
                    </a:lnB>
                    <a:solidFill>
                      <a:srgbClr val="FFFFFF"/>
                    </a:solidFill>
                  </a:tcPr>
                </a:tc>
                <a:tc>
                  <a:txBody>
                    <a:bodyPr/>
                    <a:lstStyle/>
                    <a:p>
                      <a:pPr algn="l" fontAlgn="ctr"/>
                      <a:endParaRPr lang="zh-TW" altLang="en-US" sz="900" b="0" i="1" u="none" strike="noStrike" kern="1200" dirty="0">
                        <a:solidFill>
                          <a:srgbClr val="FF0000"/>
                        </a:solidFill>
                        <a:effectLst/>
                        <a:latin typeface="微軟正黑體" panose="020B0604030504040204" pitchFamily="34" charset="-120"/>
                        <a:ea typeface="微軟正黑體" panose="020B0604030504040204" pitchFamily="34" charset="-120"/>
                        <a:cs typeface="+mn-cs"/>
                      </a:endParaRP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93,736</a:t>
                      </a: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1" u="none" strike="noStrike" kern="1200" dirty="0">
                          <a:solidFill>
                            <a:srgbClr val="FF0000"/>
                          </a:solidFill>
                          <a:effectLst/>
                          <a:latin typeface="微軟正黑體" panose="020B0604030504040204" pitchFamily="34" charset="-120"/>
                          <a:ea typeface="微軟正黑體" panose="020B0604030504040204" pitchFamily="34" charset="-120"/>
                          <a:cs typeface="+mn-cs"/>
                        </a:rPr>
                        <a:t>-3.36%</a:t>
                      </a:r>
                    </a:p>
                  </a:txBody>
                  <a:tcPr marL="6350" marR="6350" marT="6350" marB="0" anchor="ctr">
                    <a:lnL>
                      <a:noFill/>
                    </a:lnL>
                    <a:lnR>
                      <a:noFill/>
                    </a:lnR>
                    <a:lnT>
                      <a:noFill/>
                    </a:lnT>
                    <a:lnB>
                      <a:noFill/>
                    </a:lnB>
                    <a:solidFill>
                      <a:srgbClr val="FFFFFF"/>
                    </a:solidFill>
                  </a:tcPr>
                </a:tc>
                <a:tc>
                  <a:txBody>
                    <a:bodyPr/>
                    <a:lstStyle/>
                    <a:p>
                      <a:pPr algn="l" fontAlgn="ctr"/>
                      <a:endParaRPr lang="zh-TW" altLang="en-US" sz="9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364,980</a:t>
                      </a: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56,950</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10002"/>
                  </a:ext>
                </a:extLst>
              </a:tr>
              <a:tr h="130814">
                <a:tc>
                  <a:txBody>
                    <a:bodyPr/>
                    <a:lstStyle/>
                    <a:p>
                      <a:pPr algn="l" fontAlgn="ctr"/>
                      <a:r>
                        <a:rPr lang="en-US" sz="900" b="0" i="0" u="none" strike="noStrike" dirty="0">
                          <a:solidFill>
                            <a:srgbClr val="000000"/>
                          </a:solidFill>
                          <a:effectLst/>
                          <a:latin typeface="微軟正黑體" panose="020B0604030504040204" pitchFamily="34" charset="-120"/>
                          <a:ea typeface="微軟正黑體" panose="020B0604030504040204" pitchFamily="34" charset="-120"/>
                        </a:rPr>
                        <a:t>FY2</a:t>
                      </a: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3</a:t>
                      </a:r>
                      <a:endParaRPr lang="en-US" sz="9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383,285</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1" u="none" strike="noStrike" kern="1200" dirty="0">
                          <a:solidFill>
                            <a:srgbClr val="FF0000"/>
                          </a:solidFill>
                          <a:effectLst/>
                          <a:latin typeface="微軟正黑體" panose="020B0604030504040204" pitchFamily="34" charset="-120"/>
                          <a:ea typeface="微軟正黑體" panose="020B0604030504040204" pitchFamily="34" charset="-120"/>
                          <a:cs typeface="+mn-cs"/>
                        </a:rPr>
                        <a:t>-2.80%</a:t>
                      </a:r>
                    </a:p>
                  </a:txBody>
                  <a:tcPr marL="6350" marR="6350" marT="6350" marB="0" anchor="ctr">
                    <a:lnL>
                      <a:noFill/>
                    </a:lnL>
                    <a:lnR>
                      <a:noFill/>
                    </a:lnR>
                    <a:lnT>
                      <a:noFill/>
                    </a:lnT>
                    <a:lnB>
                      <a:noFill/>
                    </a:lnB>
                    <a:solidFill>
                      <a:srgbClr val="F2F2F2"/>
                    </a:solidFill>
                  </a:tcPr>
                </a:tc>
                <a:tc>
                  <a:txBody>
                    <a:bodyPr/>
                    <a:lstStyle/>
                    <a:p>
                      <a:pPr algn="l" fontAlgn="ctr"/>
                      <a:endParaRPr lang="zh-TW" altLang="en-US" sz="900" b="0" i="1" u="none" strike="noStrike" kern="1200" dirty="0">
                        <a:solidFill>
                          <a:srgbClr val="FF0000"/>
                        </a:solidFill>
                        <a:effectLst/>
                        <a:latin typeface="微軟正黑體" panose="020B0604030504040204" pitchFamily="34" charset="-120"/>
                        <a:ea typeface="微軟正黑體" panose="020B0604030504040204" pitchFamily="34" charset="-120"/>
                        <a:cs typeface="+mn-cs"/>
                      </a:endParaRP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96,995</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1" u="none" strike="noStrike" kern="1200" dirty="0">
                          <a:solidFill>
                            <a:srgbClr val="FF0000"/>
                          </a:solidFill>
                          <a:effectLst/>
                          <a:latin typeface="微軟正黑體" panose="020B0604030504040204" pitchFamily="34" charset="-120"/>
                          <a:ea typeface="微軟正黑體" panose="020B0604030504040204" pitchFamily="34" charset="-120"/>
                          <a:cs typeface="+mn-cs"/>
                        </a:rPr>
                        <a:t>-2.80%</a:t>
                      </a:r>
                    </a:p>
                  </a:txBody>
                  <a:tcPr marL="6350" marR="6350" marT="6350" marB="0" anchor="ctr">
                    <a:lnL>
                      <a:noFill/>
                    </a:lnL>
                    <a:lnR>
                      <a:noFill/>
                    </a:lnR>
                    <a:lnT>
                      <a:noFill/>
                    </a:lnT>
                    <a:lnB>
                      <a:noFill/>
                    </a:lnB>
                    <a:solidFill>
                      <a:srgbClr val="F2F2F2"/>
                    </a:solidFill>
                  </a:tcPr>
                </a:tc>
                <a:tc>
                  <a:txBody>
                    <a:bodyPr/>
                    <a:lstStyle/>
                    <a:p>
                      <a:pPr algn="l" fontAlgn="ctr"/>
                      <a:endParaRPr lang="zh-TW" altLang="en-US" sz="9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352,583</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62,146</a:t>
                      </a:r>
                    </a:p>
                  </a:txBody>
                  <a:tcPr marL="6350" marR="6350" marT="6350" marB="0" anchor="ctr">
                    <a:lnL>
                      <a:noFill/>
                    </a:lnL>
                    <a:lnR>
                      <a:noFill/>
                    </a:lnR>
                    <a:lnT>
                      <a:noFill/>
                    </a:lnT>
                    <a:lnB>
                      <a:noFill/>
                    </a:lnB>
                    <a:solidFill>
                      <a:srgbClr val="F2F2F2"/>
                    </a:solidFill>
                  </a:tcPr>
                </a:tc>
                <a:extLst>
                  <a:ext uri="{0D108BD9-81ED-4DB2-BD59-A6C34878D82A}">
                    <a16:rowId xmlns:a16="http://schemas.microsoft.com/office/drawing/2014/main" val="10003"/>
                  </a:ext>
                </a:extLst>
              </a:tr>
              <a:tr h="187677">
                <a:tc>
                  <a:txBody>
                    <a:bodyPr/>
                    <a:lstStyle/>
                    <a:p>
                      <a:pPr algn="l" fontAlgn="ctr"/>
                      <a:r>
                        <a:rPr lang="en-US" sz="900" b="0" i="0" u="none" strike="noStrike" dirty="0">
                          <a:solidFill>
                            <a:srgbClr val="000000"/>
                          </a:solidFill>
                          <a:effectLst/>
                          <a:latin typeface="微軟正黑體" panose="020B0604030504040204" pitchFamily="34" charset="-120"/>
                          <a:ea typeface="微軟正黑體" panose="020B0604030504040204" pitchFamily="34" charset="-120"/>
                        </a:rPr>
                        <a:t>FY22</a:t>
                      </a: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394,328</a:t>
                      </a: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1" u="none" strike="noStrike" dirty="0">
                          <a:solidFill>
                            <a:srgbClr val="000000"/>
                          </a:solidFill>
                          <a:effectLst/>
                          <a:latin typeface="微軟正黑體" panose="020B0604030504040204" pitchFamily="34" charset="-120"/>
                          <a:ea typeface="微軟正黑體" panose="020B0604030504040204" pitchFamily="34" charset="-120"/>
                        </a:rPr>
                        <a:t>7.80%</a:t>
                      </a:r>
                    </a:p>
                  </a:txBody>
                  <a:tcPr marL="6350" marR="6350" marT="6350" marB="0" anchor="ctr">
                    <a:lnL>
                      <a:noFill/>
                    </a:lnL>
                    <a:lnR>
                      <a:noFill/>
                    </a:lnR>
                    <a:lnT>
                      <a:noFill/>
                    </a:lnT>
                    <a:lnB>
                      <a:noFill/>
                    </a:lnB>
                    <a:solidFill>
                      <a:srgbClr val="FFFFFF"/>
                    </a:solidFill>
                  </a:tcPr>
                </a:tc>
                <a:tc>
                  <a:txBody>
                    <a:bodyPr/>
                    <a:lstStyle/>
                    <a:p>
                      <a:pPr algn="l" fontAlgn="ctr"/>
                      <a:endParaRPr lang="zh-TW" altLang="en-US"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99,803</a:t>
                      </a: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1" u="none" strike="noStrike" dirty="0">
                          <a:solidFill>
                            <a:srgbClr val="000000"/>
                          </a:solidFill>
                          <a:effectLst/>
                          <a:latin typeface="微軟正黑體" panose="020B0604030504040204" pitchFamily="34" charset="-120"/>
                          <a:ea typeface="微軟正黑體" panose="020B0604030504040204" pitchFamily="34" charset="-120"/>
                        </a:rPr>
                        <a:t>5.40%</a:t>
                      </a:r>
                    </a:p>
                  </a:txBody>
                  <a:tcPr marL="6350" marR="6350" marT="6350" marB="0" anchor="ctr">
                    <a:lnL>
                      <a:noFill/>
                    </a:lnL>
                    <a:lnR>
                      <a:noFill/>
                    </a:lnR>
                    <a:lnT>
                      <a:noFill/>
                    </a:lnT>
                    <a:lnB>
                      <a:noFill/>
                    </a:lnB>
                    <a:solidFill>
                      <a:srgbClr val="FFFFFF"/>
                    </a:solidFill>
                  </a:tcPr>
                </a:tc>
                <a:tc>
                  <a:txBody>
                    <a:bodyPr/>
                    <a:lstStyle/>
                    <a:p>
                      <a:pPr algn="l" fontAlgn="ctr"/>
                      <a:endParaRPr lang="zh-TW" altLang="en-US" sz="9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352,755</a:t>
                      </a:r>
                    </a:p>
                  </a:txBody>
                  <a:tcPr marL="6350" marR="6350" marT="6350" marB="0" anchor="ctr">
                    <a:lnL>
                      <a:noFill/>
                    </a:lnL>
                    <a:lnR>
                      <a:noFill/>
                    </a:lnR>
                    <a:lnT>
                      <a:noFill/>
                    </a:lnT>
                    <a:lnB>
                      <a:noFill/>
                    </a:lnB>
                    <a:solidFill>
                      <a:srgbClr val="FFFFFF"/>
                    </a:solidFill>
                  </a:tcPr>
                </a:tc>
                <a:tc>
                  <a:txBody>
                    <a:bodyPr/>
                    <a:lstStyle/>
                    <a:p>
                      <a:pPr algn="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50,672</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10004"/>
                  </a:ext>
                </a:extLst>
              </a:tr>
              <a:tr h="187677">
                <a:tc>
                  <a:txBody>
                    <a:bodyPr/>
                    <a:lstStyle/>
                    <a:p>
                      <a:pPr algn="l" fontAlgn="ctr"/>
                      <a:r>
                        <a:rPr lang="en-US" sz="900" b="0" i="0" u="none" strike="noStrike" dirty="0">
                          <a:solidFill>
                            <a:srgbClr val="000000"/>
                          </a:solidFill>
                          <a:effectLst/>
                          <a:latin typeface="微軟正黑體" panose="020B0604030504040204" pitchFamily="34" charset="-120"/>
                          <a:ea typeface="微軟正黑體" panose="020B0604030504040204" pitchFamily="34" charset="-120"/>
                        </a:rPr>
                        <a:t>FY21</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365,817</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1" u="none" strike="noStrike" dirty="0">
                          <a:solidFill>
                            <a:srgbClr val="000000"/>
                          </a:solidFill>
                          <a:effectLst/>
                          <a:latin typeface="微軟正黑體" panose="020B0604030504040204" pitchFamily="34" charset="-120"/>
                          <a:ea typeface="微軟正黑體" panose="020B0604030504040204" pitchFamily="34" charset="-120"/>
                        </a:rPr>
                        <a:t>33.3%</a:t>
                      </a:r>
                    </a:p>
                  </a:txBody>
                  <a:tcPr marL="6350" marR="6350" marT="6350" marB="0" anchor="ctr">
                    <a:lnL>
                      <a:noFill/>
                    </a:lnL>
                    <a:lnR>
                      <a:noFill/>
                    </a:lnR>
                    <a:lnT>
                      <a:noFill/>
                    </a:lnT>
                    <a:lnB>
                      <a:noFill/>
                    </a:lnB>
                    <a:solidFill>
                      <a:srgbClr val="F2F2F2"/>
                    </a:solidFill>
                  </a:tcPr>
                </a:tc>
                <a:tc>
                  <a:txBody>
                    <a:bodyPr/>
                    <a:lstStyle/>
                    <a:p>
                      <a:pPr algn="l" fontAlgn="ctr"/>
                      <a:endParaRPr lang="zh-TW" altLang="en-US" sz="9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94,680</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1" u="none" strike="noStrike" dirty="0">
                          <a:solidFill>
                            <a:srgbClr val="000000"/>
                          </a:solidFill>
                          <a:effectLst/>
                          <a:latin typeface="微軟正黑體" panose="020B0604030504040204" pitchFamily="34" charset="-120"/>
                          <a:ea typeface="微軟正黑體" panose="020B0604030504040204" pitchFamily="34" charset="-120"/>
                        </a:rPr>
                        <a:t>64.9%</a:t>
                      </a:r>
                    </a:p>
                  </a:txBody>
                  <a:tcPr marL="6350" marR="6350" marT="6350" marB="0" anchor="ctr">
                    <a:lnL>
                      <a:noFill/>
                    </a:lnL>
                    <a:lnR>
                      <a:noFill/>
                    </a:lnR>
                    <a:lnT>
                      <a:noFill/>
                    </a:lnT>
                    <a:lnB>
                      <a:noFill/>
                    </a:lnB>
                    <a:solidFill>
                      <a:srgbClr val="F2F2F2"/>
                    </a:solidFill>
                  </a:tcPr>
                </a:tc>
                <a:tc>
                  <a:txBody>
                    <a:bodyPr/>
                    <a:lstStyle/>
                    <a:p>
                      <a:pPr algn="l" fontAlgn="ctr"/>
                      <a:endParaRPr lang="zh-TW" altLang="en-US"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351,002</a:t>
                      </a:r>
                    </a:p>
                  </a:txBody>
                  <a:tcPr marL="6350" marR="6350" marT="6350" marB="0" anchor="ctr">
                    <a:lnL>
                      <a:noFill/>
                    </a:lnL>
                    <a:lnR>
                      <a:noFill/>
                    </a:lnR>
                    <a:lnT>
                      <a:noFill/>
                    </a:lnT>
                    <a:lnB>
                      <a:noFill/>
                    </a:lnB>
                    <a:solidFill>
                      <a:srgbClr val="F2F2F2"/>
                    </a:solidFill>
                  </a:tcPr>
                </a:tc>
                <a:tc>
                  <a:txBody>
                    <a:bodyPr/>
                    <a:lstStyle/>
                    <a:p>
                      <a:pPr algn="r" fontAlgn="ctr"/>
                      <a:r>
                        <a:rPr lang="en-US" altLang="zh-TW" sz="900" b="0" i="0" u="none" strike="noStrike" dirty="0">
                          <a:solidFill>
                            <a:srgbClr val="000000"/>
                          </a:solidFill>
                          <a:effectLst/>
                          <a:latin typeface="微軟正黑體" panose="020B0604030504040204" pitchFamily="34" charset="-120"/>
                          <a:ea typeface="微軟正黑體" panose="020B0604030504040204" pitchFamily="34" charset="-120"/>
                        </a:rPr>
                        <a:t>63,090</a:t>
                      </a:r>
                    </a:p>
                  </a:txBody>
                  <a:tcPr marL="6350" marR="6350" marT="6350" marB="0" anchor="ctr">
                    <a:lnL>
                      <a:noFill/>
                    </a:lnL>
                    <a:lnR>
                      <a:noFill/>
                    </a:lnR>
                    <a:lnT>
                      <a:noFill/>
                    </a:lnT>
                    <a:lnB>
                      <a:noFill/>
                    </a:lnB>
                    <a:solidFill>
                      <a:srgbClr val="F2F2F2"/>
                    </a:solidFill>
                  </a:tcPr>
                </a:tc>
                <a:extLst>
                  <a:ext uri="{0D108BD9-81ED-4DB2-BD59-A6C34878D82A}">
                    <a16:rowId xmlns:a16="http://schemas.microsoft.com/office/drawing/2014/main" val="10005"/>
                  </a:ext>
                </a:extLst>
              </a:tr>
            </a:tbl>
          </a:graphicData>
        </a:graphic>
      </p:graphicFrame>
      <p:sp>
        <p:nvSpPr>
          <p:cNvPr id="19" name="文字方塊 18"/>
          <p:cNvSpPr txBox="1"/>
          <p:nvPr/>
        </p:nvSpPr>
        <p:spPr>
          <a:xfrm>
            <a:off x="318458" y="2276872"/>
            <a:ext cx="4397558" cy="2849563"/>
          </a:xfrm>
          <a:prstGeom prst="rect">
            <a:avLst/>
          </a:prstGeom>
          <a:noFill/>
        </p:spPr>
        <p:txBody>
          <a:bodyPr wrap="square" rtlCol="0">
            <a:spAutoFit/>
          </a:bodyPr>
          <a:lstStyle>
            <a:defPPr>
              <a:defRPr lang="zh-TW"/>
            </a:defPPr>
            <a:lvl1pPr algn="just">
              <a:lnSpc>
                <a:spcPts val="1800"/>
              </a:lnSpc>
              <a:spcBef>
                <a:spcPts val="450"/>
              </a:spcBef>
              <a:defRPr sz="1200" b="1">
                <a:latin typeface="+mn-ea"/>
              </a:defRPr>
            </a:lvl1pPr>
          </a:lstStyle>
          <a:p>
            <a:pPr>
              <a:lnSpc>
                <a:spcPts val="1500"/>
              </a:lnSpc>
              <a:spcBef>
                <a:spcPts val="300"/>
              </a:spcBef>
            </a:pPr>
            <a:r>
              <a:rPr lang="en-US" altLang="zh-TW" spc="-1" dirty="0">
                <a:solidFill>
                  <a:srgbClr val="FF0000"/>
                </a:solidFill>
                <a:latin typeface="微軟正黑體" panose="020B0604030504040204" pitchFamily="34" charset="-120"/>
                <a:ea typeface="微軟正黑體" panose="020B0604030504040204" pitchFamily="34" charset="-120"/>
              </a:rPr>
              <a:t>FY25(</a:t>
            </a:r>
            <a:r>
              <a:rPr lang="zh-TW" altLang="en-US" spc="-1" dirty="0">
                <a:solidFill>
                  <a:srgbClr val="FF0000"/>
                </a:solidFill>
                <a:latin typeface="微軟正黑體" panose="020B0604030504040204" pitchFamily="34" charset="-120"/>
                <a:ea typeface="微軟正黑體" panose="020B0604030504040204" pitchFamily="34" charset="-120"/>
              </a:rPr>
              <a:t>截至</a:t>
            </a:r>
            <a:r>
              <a:rPr lang="en-US" altLang="zh-TW" spc="-1" dirty="0">
                <a:solidFill>
                  <a:srgbClr val="FF0000"/>
                </a:solidFill>
                <a:latin typeface="微軟正黑體" panose="020B0604030504040204" pitchFamily="34" charset="-120"/>
                <a:ea typeface="微軟正黑體" panose="020B0604030504040204" pitchFamily="34" charset="-120"/>
              </a:rPr>
              <a:t>2025/9/27)</a:t>
            </a:r>
            <a:r>
              <a:rPr lang="zh-TW" altLang="en-US" spc="-1" dirty="0">
                <a:solidFill>
                  <a:srgbClr val="FF0000"/>
                </a:solidFill>
                <a:latin typeface="微軟正黑體" panose="020B0604030504040204" pitchFamily="34" charset="-120"/>
                <a:ea typeface="微軟正黑體" panose="020B0604030504040204" pitchFamily="34" charset="-120"/>
              </a:rPr>
              <a:t>營收年增</a:t>
            </a:r>
            <a:r>
              <a:rPr lang="en-US" altLang="zh-TW" spc="-1" dirty="0">
                <a:solidFill>
                  <a:srgbClr val="FF0000"/>
                </a:solidFill>
                <a:latin typeface="微軟正黑體" panose="020B0604030504040204" pitchFamily="34" charset="-120"/>
                <a:ea typeface="微軟正黑體" panose="020B0604030504040204" pitchFamily="34" charset="-120"/>
              </a:rPr>
              <a:t>6%</a:t>
            </a:r>
            <a:r>
              <a:rPr lang="zh-TW" altLang="en-US" spc="-1" dirty="0">
                <a:solidFill>
                  <a:srgbClr val="FF0000"/>
                </a:solidFill>
                <a:latin typeface="微軟正黑體" panose="020B0604030504040204" pitchFamily="34" charset="-120"/>
                <a:ea typeface="微軟正黑體" panose="020B0604030504040204" pitchFamily="34" charset="-120"/>
              </a:rPr>
              <a:t>至</a:t>
            </a:r>
            <a:r>
              <a:rPr lang="en-US" altLang="zh-TW" spc="-1" dirty="0">
                <a:solidFill>
                  <a:srgbClr val="FF0000"/>
                </a:solidFill>
                <a:latin typeface="微軟正黑體" panose="020B0604030504040204" pitchFamily="34" charset="-120"/>
                <a:ea typeface="微軟正黑體" panose="020B0604030504040204" pitchFamily="34" charset="-120"/>
              </a:rPr>
              <a:t>4,162</a:t>
            </a:r>
            <a:r>
              <a:rPr lang="zh-TW" altLang="en-US" spc="-1" dirty="0">
                <a:solidFill>
                  <a:srgbClr val="FF0000"/>
                </a:solidFill>
                <a:latin typeface="微軟正黑體" panose="020B0604030504040204" pitchFamily="34" charset="-120"/>
                <a:ea typeface="微軟正黑體" panose="020B0604030504040204" pitchFamily="34" charset="-120"/>
              </a:rPr>
              <a:t>億美元</a:t>
            </a:r>
            <a:r>
              <a:rPr lang="zh-TW" altLang="en-US" b="0" spc="-1" dirty="0">
                <a:latin typeface="微軟正黑體" panose="020B0604030504040204" pitchFamily="34" charset="-120"/>
                <a:ea typeface="微軟正黑體" panose="020B0604030504040204" pitchFamily="34" charset="-120"/>
              </a:rPr>
              <a:t>，其中綜合產品與服務收入分別增長</a:t>
            </a:r>
            <a:r>
              <a:rPr lang="en-US" altLang="zh-TW" b="0" spc="-1" dirty="0">
                <a:latin typeface="微軟正黑體" panose="020B0604030504040204" pitchFamily="34" charset="-120"/>
                <a:ea typeface="微軟正黑體" panose="020B0604030504040204" pitchFamily="34" charset="-120"/>
              </a:rPr>
              <a:t>4%</a:t>
            </a:r>
            <a:r>
              <a:rPr lang="zh-TW" altLang="en-US" b="0" spc="-1" dirty="0">
                <a:latin typeface="微軟正黑體" panose="020B0604030504040204" pitchFamily="34" charset="-120"/>
                <a:ea typeface="微軟正黑體" panose="020B0604030504040204" pitchFamily="34" charset="-120"/>
              </a:rPr>
              <a:t>與</a:t>
            </a:r>
            <a:r>
              <a:rPr lang="en-US" altLang="zh-TW" b="0" spc="-1" dirty="0">
                <a:latin typeface="微軟正黑體" panose="020B0604030504040204" pitchFamily="34" charset="-120"/>
                <a:ea typeface="微軟正黑體" panose="020B0604030504040204" pitchFamily="34" charset="-120"/>
              </a:rPr>
              <a:t>14%</a:t>
            </a:r>
            <a:r>
              <a:rPr lang="zh-TW" altLang="en-US" b="0" spc="-1" dirty="0">
                <a:latin typeface="微軟正黑體" panose="020B0604030504040204" pitchFamily="34" charset="-120"/>
                <a:ea typeface="微軟正黑體" panose="020B0604030504040204" pitchFamily="34" charset="-120"/>
              </a:rPr>
              <a:t>。產品方面，除了穿戴、家庭與配件部門的收入年減</a:t>
            </a:r>
            <a:r>
              <a:rPr lang="en-US" altLang="zh-TW" b="0" spc="-1" dirty="0">
                <a:latin typeface="微軟正黑體" panose="020B0604030504040204" pitchFamily="34" charset="-120"/>
                <a:ea typeface="微軟正黑體" panose="020B0604030504040204" pitchFamily="34" charset="-120"/>
              </a:rPr>
              <a:t>3.6%</a:t>
            </a:r>
            <a:r>
              <a:rPr lang="zh-TW" altLang="en-US" b="0" spc="-1" dirty="0">
                <a:latin typeface="微軟正黑體" panose="020B0604030504040204" pitchFamily="34" charset="-120"/>
                <a:ea typeface="微軟正黑體" panose="020B0604030504040204" pitchFamily="34" charset="-120"/>
              </a:rPr>
              <a:t>之外，</a:t>
            </a:r>
            <a:r>
              <a:rPr lang="en-US" altLang="zh-TW" b="0" spc="-1" dirty="0">
                <a:latin typeface="微軟正黑體" panose="020B0604030504040204" pitchFamily="34" charset="-120"/>
                <a:ea typeface="微軟正黑體" panose="020B0604030504040204" pitchFamily="34" charset="-120"/>
              </a:rPr>
              <a:t>iPhone</a:t>
            </a:r>
            <a:r>
              <a:rPr lang="zh-TW" altLang="en-US" b="0" spc="-1" dirty="0">
                <a:latin typeface="微軟正黑體" panose="020B0604030504040204" pitchFamily="34" charset="-120"/>
                <a:ea typeface="微軟正黑體" panose="020B0604030504040204" pitchFamily="34" charset="-120"/>
              </a:rPr>
              <a:t>、</a:t>
            </a:r>
            <a:r>
              <a:rPr lang="en-US" altLang="zh-TW" b="0" spc="-1" dirty="0">
                <a:latin typeface="微軟正黑體" panose="020B0604030504040204" pitchFamily="34" charset="-120"/>
                <a:ea typeface="微軟正黑體" panose="020B0604030504040204" pitchFamily="34" charset="-120"/>
              </a:rPr>
              <a:t>iPad</a:t>
            </a:r>
            <a:r>
              <a:rPr lang="zh-TW" altLang="en-US" b="0" spc="-1" dirty="0">
                <a:latin typeface="微軟正黑體" panose="020B0604030504040204" pitchFamily="34" charset="-120"/>
                <a:ea typeface="微軟正黑體" panose="020B0604030504040204" pitchFamily="34" charset="-120"/>
              </a:rPr>
              <a:t>與</a:t>
            </a:r>
            <a:r>
              <a:rPr lang="en-US" altLang="zh-TW" b="0" spc="-1" dirty="0">
                <a:latin typeface="微軟正黑體" panose="020B0604030504040204" pitchFamily="34" charset="-120"/>
                <a:ea typeface="微軟正黑體" panose="020B0604030504040204" pitchFamily="34" charset="-120"/>
              </a:rPr>
              <a:t>Mac</a:t>
            </a:r>
            <a:r>
              <a:rPr lang="zh-TW" altLang="en-US" b="0" spc="-1" dirty="0">
                <a:latin typeface="微軟正黑體" panose="020B0604030504040204" pitchFamily="34" charset="-120"/>
                <a:ea typeface="微軟正黑體" panose="020B0604030504040204" pitchFamily="34" charset="-120"/>
              </a:rPr>
              <a:t>收入皆成長，以</a:t>
            </a:r>
            <a:r>
              <a:rPr lang="en-US" altLang="zh-TW" b="0" spc="-1" dirty="0">
                <a:latin typeface="微軟正黑體" panose="020B0604030504040204" pitchFamily="34" charset="-120"/>
                <a:ea typeface="微軟正黑體" panose="020B0604030504040204" pitchFamily="34" charset="-120"/>
              </a:rPr>
              <a:t>Mac</a:t>
            </a:r>
            <a:r>
              <a:rPr lang="zh-TW" altLang="en-US" b="0" spc="-1" dirty="0">
                <a:latin typeface="微軟正黑體" panose="020B0604030504040204" pitchFamily="34" charset="-120"/>
                <a:ea typeface="微軟正黑體" panose="020B0604030504040204" pitchFamily="34" charset="-120"/>
              </a:rPr>
              <a:t>的</a:t>
            </a:r>
            <a:r>
              <a:rPr lang="en-US" altLang="zh-TW" b="0" spc="-1" dirty="0">
                <a:latin typeface="微軟正黑體" panose="020B0604030504040204" pitchFamily="34" charset="-120"/>
                <a:ea typeface="微軟正黑體" panose="020B0604030504040204" pitchFamily="34" charset="-120"/>
              </a:rPr>
              <a:t>12%</a:t>
            </a:r>
            <a:r>
              <a:rPr lang="zh-TW" altLang="en-US" b="0" spc="-1" dirty="0">
                <a:latin typeface="微軟正黑體" panose="020B0604030504040204" pitchFamily="34" charset="-120"/>
                <a:ea typeface="微軟正黑體" panose="020B0604030504040204" pitchFamily="34" charset="-120"/>
              </a:rPr>
              <a:t>為最。</a:t>
            </a:r>
            <a:endParaRPr lang="en-US" altLang="zh-TW" b="0" spc="-1" dirty="0">
              <a:latin typeface="微軟正黑體" panose="020B0604030504040204" pitchFamily="34" charset="-120"/>
              <a:ea typeface="微軟正黑體" panose="020B0604030504040204" pitchFamily="34" charset="-120"/>
            </a:endParaRPr>
          </a:p>
          <a:p>
            <a:pPr>
              <a:lnSpc>
                <a:spcPts val="1500"/>
              </a:lnSpc>
              <a:spcBef>
                <a:spcPts val="300"/>
              </a:spcBef>
            </a:pPr>
            <a:r>
              <a:rPr lang="zh-TW" altLang="en-US" spc="-1" dirty="0">
                <a:solidFill>
                  <a:srgbClr val="FF0000"/>
                </a:solidFill>
                <a:latin typeface="微軟正黑體" panose="020B0604030504040204" pitchFamily="34" charset="-120"/>
                <a:ea typeface="微軟正黑體" panose="020B0604030504040204" pitchFamily="34" charset="-120"/>
              </a:rPr>
              <a:t>普通股可分配淨利年增</a:t>
            </a:r>
            <a:r>
              <a:rPr lang="en-US" altLang="zh-TW" spc="-1" dirty="0">
                <a:solidFill>
                  <a:srgbClr val="FF0000"/>
                </a:solidFill>
                <a:latin typeface="微軟正黑體" panose="020B0604030504040204" pitchFamily="34" charset="-120"/>
                <a:ea typeface="微軟正黑體" panose="020B0604030504040204" pitchFamily="34" charset="-120"/>
              </a:rPr>
              <a:t>20%</a:t>
            </a:r>
            <a:r>
              <a:rPr lang="zh-TW" altLang="en-US" spc="-1" dirty="0">
                <a:solidFill>
                  <a:srgbClr val="FF0000"/>
                </a:solidFill>
                <a:latin typeface="微軟正黑體" panose="020B0604030504040204" pitchFamily="34" charset="-120"/>
                <a:ea typeface="微軟正黑體" panose="020B0604030504040204" pitchFamily="34" charset="-120"/>
              </a:rPr>
              <a:t>至</a:t>
            </a:r>
            <a:r>
              <a:rPr lang="en-US" altLang="zh-TW" spc="-1" dirty="0">
                <a:solidFill>
                  <a:srgbClr val="FF0000"/>
                </a:solidFill>
                <a:latin typeface="微軟正黑體" panose="020B0604030504040204" pitchFamily="34" charset="-120"/>
                <a:ea typeface="微軟正黑體" panose="020B0604030504040204" pitchFamily="34" charset="-120"/>
              </a:rPr>
              <a:t>1,120</a:t>
            </a:r>
            <a:r>
              <a:rPr lang="zh-TW" altLang="en-US" spc="-1" dirty="0">
                <a:solidFill>
                  <a:srgbClr val="FF0000"/>
                </a:solidFill>
                <a:latin typeface="微軟正黑體" panose="020B0604030504040204" pitchFamily="34" charset="-120"/>
                <a:ea typeface="微軟正黑體" panose="020B0604030504040204" pitchFamily="34" charset="-120"/>
              </a:rPr>
              <a:t>億美元</a:t>
            </a:r>
            <a:r>
              <a:rPr lang="zh-TW" altLang="en-US" b="0" spc="-1" dirty="0">
                <a:latin typeface="微軟正黑體" panose="020B0604030504040204" pitchFamily="34" charset="-120"/>
                <a:ea typeface="微軟正黑體" panose="020B0604030504040204" pitchFamily="34" charset="-120"/>
              </a:rPr>
              <a:t>，係因</a:t>
            </a:r>
            <a:r>
              <a:rPr lang="en-US" altLang="zh-TW" b="0" spc="-1" dirty="0">
                <a:latin typeface="微軟正黑體" panose="020B0604030504040204" pitchFamily="34" charset="-120"/>
                <a:ea typeface="微軟正黑體" panose="020B0604030504040204" pitchFamily="34" charset="-120"/>
              </a:rPr>
              <a:t>1)</a:t>
            </a:r>
            <a:r>
              <a:rPr lang="zh-TW" altLang="en-US" b="0" spc="-1" dirty="0">
                <a:latin typeface="微軟正黑體" panose="020B0604030504040204" pitchFamily="34" charset="-120"/>
                <a:ea typeface="微軟正黑體" panose="020B0604030504040204" pitchFamily="34" charset="-120"/>
              </a:rPr>
              <a:t>服務毛利率上升，抵銷因關稅使產品毛利率下滑的影響，推升總毛利率年增</a:t>
            </a:r>
            <a:r>
              <a:rPr lang="en-US" altLang="zh-TW" b="0" spc="-1" dirty="0">
                <a:latin typeface="微軟正黑體" panose="020B0604030504040204" pitchFamily="34" charset="-120"/>
                <a:ea typeface="微軟正黑體" panose="020B0604030504040204" pitchFamily="34" charset="-120"/>
              </a:rPr>
              <a:t>0.7</a:t>
            </a:r>
            <a:r>
              <a:rPr lang="zh-TW" altLang="en-US" b="0" spc="-1" dirty="0">
                <a:latin typeface="微軟正黑體" panose="020B0604030504040204" pitchFamily="34" charset="-120"/>
                <a:ea typeface="微軟正黑體" panose="020B0604030504040204" pitchFamily="34" charset="-120"/>
              </a:rPr>
              <a:t>個百分點至</a:t>
            </a:r>
            <a:r>
              <a:rPr lang="en-US" altLang="zh-TW" b="0" spc="-1" dirty="0">
                <a:latin typeface="微軟正黑體" panose="020B0604030504040204" pitchFamily="34" charset="-120"/>
                <a:ea typeface="微軟正黑體" panose="020B0604030504040204" pitchFamily="34" charset="-120"/>
              </a:rPr>
              <a:t>46.9%</a:t>
            </a:r>
            <a:r>
              <a:rPr lang="zh-TW" altLang="en-US" b="0" spc="-1" dirty="0">
                <a:latin typeface="微軟正黑體" panose="020B0604030504040204" pitchFamily="34" charset="-120"/>
                <a:ea typeface="微軟正黑體" panose="020B0604030504040204" pitchFamily="34" charset="-120"/>
              </a:rPr>
              <a:t>；</a:t>
            </a:r>
            <a:r>
              <a:rPr lang="en-US" altLang="zh-TW" b="0" spc="-1" dirty="0">
                <a:latin typeface="微軟正黑體" panose="020B0604030504040204" pitchFamily="34" charset="-120"/>
                <a:ea typeface="微軟正黑體" panose="020B0604030504040204" pitchFamily="34" charset="-120"/>
              </a:rPr>
              <a:t>2)FY24</a:t>
            </a:r>
            <a:r>
              <a:rPr lang="zh-TW" altLang="en-US" b="0" spc="-1" dirty="0">
                <a:latin typeface="微軟正黑體" panose="020B0604030504040204" pitchFamily="34" charset="-120"/>
                <a:ea typeface="微軟正黑體" panose="020B0604030504040204" pitchFamily="34" charset="-120"/>
              </a:rPr>
              <a:t>認列</a:t>
            </a:r>
            <a:r>
              <a:rPr lang="en-US" altLang="zh-TW" b="0" spc="-1" dirty="0">
                <a:latin typeface="微軟正黑體" panose="020B0604030504040204" pitchFamily="34" charset="-120"/>
                <a:ea typeface="微軟正黑體" panose="020B0604030504040204" pitchFamily="34" charset="-120"/>
              </a:rPr>
              <a:t>107</a:t>
            </a:r>
            <a:r>
              <a:rPr lang="zh-TW" altLang="en-US" b="0" spc="-1" dirty="0">
                <a:latin typeface="微軟正黑體" panose="020B0604030504040204" pitchFamily="34" charset="-120"/>
                <a:ea typeface="微軟正黑體" panose="020B0604030504040204" pitchFamily="34" charset="-120"/>
              </a:rPr>
              <a:t>億美元以解決自</a:t>
            </a:r>
            <a:r>
              <a:rPr lang="en-US" altLang="zh-TW" b="0" spc="-1" dirty="0">
                <a:latin typeface="微軟正黑體" panose="020B0604030504040204" pitchFamily="34" charset="-120"/>
                <a:ea typeface="微軟正黑體" panose="020B0604030504040204" pitchFamily="34" charset="-120"/>
              </a:rPr>
              <a:t>2016</a:t>
            </a:r>
            <a:r>
              <a:rPr lang="zh-TW" altLang="en-US" b="0" spc="-1" dirty="0">
                <a:latin typeface="微軟正黑體" panose="020B0604030504040204" pitchFamily="34" charset="-120"/>
                <a:ea typeface="微軟正黑體" panose="020B0604030504040204" pitchFamily="34" charset="-120"/>
              </a:rPr>
              <a:t>年以來涉及愛爾蘭稅務問題的所得稅</a:t>
            </a:r>
            <a:r>
              <a:rPr lang="zh-TW" altLang="en-US" spc="-1" baseline="30000" dirty="0">
                <a:latin typeface="微軟正黑體" panose="020B0604030504040204" pitchFamily="34" charset="-120"/>
                <a:ea typeface="微軟正黑體" panose="020B0604030504040204" pitchFamily="34" charset="-120"/>
              </a:rPr>
              <a:t>註</a:t>
            </a:r>
            <a:r>
              <a:rPr lang="zh-TW" altLang="en-US" b="0" spc="-1" dirty="0">
                <a:latin typeface="微軟正黑體" panose="020B0604030504040204" pitchFamily="34" charset="-120"/>
                <a:ea typeface="微軟正黑體" panose="020B0604030504040204" pitchFamily="34" charset="-120"/>
              </a:rPr>
              <a:t>，墊高基期所得稅支出；抵銷</a:t>
            </a:r>
            <a:r>
              <a:rPr lang="en-US" altLang="zh-TW" b="0" spc="-1" dirty="0">
                <a:latin typeface="微軟正黑體" panose="020B0604030504040204" pitchFamily="34" charset="-120"/>
                <a:ea typeface="微軟正黑體" panose="020B0604030504040204" pitchFamily="34" charset="-120"/>
              </a:rPr>
              <a:t>3)</a:t>
            </a:r>
            <a:r>
              <a:rPr lang="zh-TW" altLang="en-US" b="0" spc="-1" dirty="0">
                <a:latin typeface="微軟正黑體" panose="020B0604030504040204" pitchFamily="34" charset="-120"/>
                <a:ea typeface="微軟正黑體" panose="020B0604030504040204" pitchFamily="34" charset="-120"/>
              </a:rPr>
              <a:t>因人員和基礎設施相關成本增加，推升營業費用年增</a:t>
            </a:r>
            <a:r>
              <a:rPr lang="en-US" altLang="zh-TW" b="0" spc="-1" dirty="0">
                <a:latin typeface="微軟正黑體" panose="020B0604030504040204" pitchFamily="34" charset="-120"/>
                <a:ea typeface="微軟正黑體" panose="020B0604030504040204" pitchFamily="34" charset="-120"/>
              </a:rPr>
              <a:t>8%</a:t>
            </a:r>
            <a:r>
              <a:rPr lang="zh-TW" altLang="en-US" b="0" spc="-1" dirty="0">
                <a:latin typeface="微軟正黑體" panose="020B0604030504040204" pitchFamily="34" charset="-120"/>
                <a:ea typeface="微軟正黑體" panose="020B0604030504040204" pitchFamily="34" charset="-120"/>
              </a:rPr>
              <a:t>，高於營收增幅的負面影響。</a:t>
            </a:r>
            <a:endParaRPr lang="en-US" altLang="zh-TW" b="0" spc="-1" dirty="0">
              <a:latin typeface="微軟正黑體" panose="020B0604030504040204" pitchFamily="34" charset="-120"/>
              <a:ea typeface="微軟正黑體" panose="020B0604030504040204" pitchFamily="34" charset="-120"/>
            </a:endParaRPr>
          </a:p>
          <a:p>
            <a:pPr>
              <a:lnSpc>
                <a:spcPts val="1500"/>
              </a:lnSpc>
              <a:spcBef>
                <a:spcPts val="300"/>
              </a:spcBef>
            </a:pPr>
            <a:r>
              <a:rPr kumimoji="1" lang="zh-TW" altLang="en-US" dirty="0">
                <a:latin typeface="微軟正黑體" pitchFamily="34" charset="-120"/>
                <a:ea typeface="微軟正黑體" pitchFamily="34" charset="-120"/>
              </a:rPr>
              <a:t>營運亮點：</a:t>
            </a:r>
            <a:r>
              <a:rPr kumimoji="1" lang="en-US" altLang="zh-TW" b="0" dirty="0">
                <a:latin typeface="微軟正黑體" pitchFamily="34" charset="-120"/>
                <a:ea typeface="微軟正黑體" pitchFamily="34" charset="-120"/>
              </a:rPr>
              <a:t>1)</a:t>
            </a:r>
            <a:r>
              <a:rPr kumimoji="1" lang="zh-TW" altLang="en-US" b="0" dirty="0">
                <a:latin typeface="微軟正黑體" pitchFamily="34" charset="-120"/>
                <a:ea typeface="微軟正黑體" pitchFamily="34" charset="-120"/>
              </a:rPr>
              <a:t>第四季</a:t>
            </a:r>
            <a:r>
              <a:rPr kumimoji="1" lang="en-US" altLang="zh-TW" b="0" dirty="0">
                <a:latin typeface="微軟正黑體" pitchFamily="34" charset="-120"/>
                <a:ea typeface="微軟正黑體" pitchFamily="34" charset="-120"/>
              </a:rPr>
              <a:t>iPhone</a:t>
            </a:r>
            <a:r>
              <a:rPr kumimoji="1" lang="zh-TW" altLang="en-US" b="0" dirty="0">
                <a:latin typeface="微軟正黑體" pitchFamily="34" charset="-120"/>
                <a:ea typeface="微軟正黑體" pitchFamily="34" charset="-120"/>
              </a:rPr>
              <a:t>收入以及全年服務收入皆創歷史新高；</a:t>
            </a:r>
            <a:r>
              <a:rPr kumimoji="1" lang="en-US" altLang="zh-TW" b="0" dirty="0">
                <a:latin typeface="微軟正黑體" pitchFamily="34" charset="-120"/>
                <a:ea typeface="微軟正黑體" pitchFamily="34" charset="-120"/>
              </a:rPr>
              <a:t>2)</a:t>
            </a:r>
            <a:r>
              <a:rPr kumimoji="1" lang="zh-TW" altLang="en-US" b="0" dirty="0">
                <a:latin typeface="微軟正黑體" pitchFamily="34" charset="-120"/>
                <a:ea typeface="微軟正黑體" pitchFamily="34" charset="-120"/>
              </a:rPr>
              <a:t>發布的搭載強勁</a:t>
            </a:r>
            <a:r>
              <a:rPr kumimoji="1" lang="en-US" altLang="zh-TW" b="0" dirty="0">
                <a:latin typeface="微軟正黑體" pitchFamily="34" charset="-120"/>
                <a:ea typeface="微軟正黑體" pitchFamily="34" charset="-120"/>
              </a:rPr>
              <a:t>M5</a:t>
            </a:r>
            <a:r>
              <a:rPr kumimoji="1" lang="zh-TW" altLang="en-US" b="0" dirty="0">
                <a:latin typeface="微軟正黑體" pitchFamily="34" charset="-120"/>
                <a:ea typeface="微軟正黑體" pitchFamily="34" charset="-120"/>
              </a:rPr>
              <a:t>晶片的</a:t>
            </a:r>
            <a:r>
              <a:rPr kumimoji="1" lang="en-US" altLang="zh-TW" b="0" dirty="0">
                <a:latin typeface="微軟正黑體" pitchFamily="34" charset="-120"/>
                <a:ea typeface="微軟正黑體" pitchFamily="34" charset="-120"/>
              </a:rPr>
              <a:t>MacBook Pro</a:t>
            </a:r>
            <a:r>
              <a:rPr kumimoji="1" lang="zh-TW" altLang="en-US" b="0" dirty="0">
                <a:latin typeface="微軟正黑體" pitchFamily="34" charset="-120"/>
                <a:ea typeface="微軟正黑體" pitchFamily="34" charset="-120"/>
              </a:rPr>
              <a:t>和</a:t>
            </a:r>
            <a:r>
              <a:rPr kumimoji="1" lang="en-US" altLang="zh-TW" b="0" dirty="0">
                <a:latin typeface="微軟正黑體" pitchFamily="34" charset="-120"/>
                <a:ea typeface="微軟正黑體" pitchFamily="34" charset="-120"/>
              </a:rPr>
              <a:t>iPad Pro</a:t>
            </a:r>
            <a:r>
              <a:rPr kumimoji="1" lang="zh-TW" altLang="en-US" b="0" dirty="0">
                <a:latin typeface="微軟正黑體" pitchFamily="34" charset="-120"/>
                <a:ea typeface="微軟正黑體" pitchFamily="34" charset="-120"/>
              </a:rPr>
              <a:t>；</a:t>
            </a:r>
            <a:r>
              <a:rPr kumimoji="1" lang="en-US" altLang="zh-TW" b="0" dirty="0">
                <a:latin typeface="微軟正黑體" pitchFamily="34" charset="-120"/>
                <a:ea typeface="微軟正黑體" pitchFamily="34" charset="-120"/>
              </a:rPr>
              <a:t>3)</a:t>
            </a:r>
            <a:r>
              <a:rPr kumimoji="1" lang="zh-TW" altLang="en-US" b="0" dirty="0">
                <a:latin typeface="微軟正黑體" pitchFamily="34" charset="-120"/>
                <a:ea typeface="微軟正黑體" pitchFamily="34" charset="-120"/>
              </a:rPr>
              <a:t>公司計劃</a:t>
            </a:r>
            <a:r>
              <a:rPr kumimoji="1" lang="en-US" altLang="zh-TW" b="0" dirty="0">
                <a:latin typeface="微軟正黑體" pitchFamily="34" charset="-120"/>
                <a:ea typeface="微軟正黑體" pitchFamily="34" charset="-120"/>
              </a:rPr>
              <a:t>2026</a:t>
            </a:r>
            <a:r>
              <a:rPr kumimoji="1" lang="zh-TW" altLang="en-US" b="0" dirty="0">
                <a:latin typeface="微軟正黑體" pitchFamily="34" charset="-120"/>
                <a:ea typeface="微軟正黑體" pitchFamily="34" charset="-120"/>
              </a:rPr>
              <a:t>年升級</a:t>
            </a:r>
            <a:r>
              <a:rPr kumimoji="1" lang="en-US" altLang="zh-TW" b="0" dirty="0">
                <a:latin typeface="微軟正黑體" pitchFamily="34" charset="-120"/>
                <a:ea typeface="微軟正黑體" pitchFamily="34" charset="-120"/>
              </a:rPr>
              <a:t>Siri</a:t>
            </a:r>
            <a:r>
              <a:rPr kumimoji="1" lang="zh-TW" altLang="en-US" b="0" dirty="0">
                <a:latin typeface="微軟正黑體" pitchFamily="34" charset="-120"/>
                <a:ea typeface="微軟正黑體" pitchFamily="34" charset="-120"/>
              </a:rPr>
              <a:t>，會與</a:t>
            </a:r>
            <a:r>
              <a:rPr kumimoji="1" lang="en-US" altLang="zh-TW" b="0" dirty="0" err="1">
                <a:latin typeface="微軟正黑體" pitchFamily="34" charset="-120"/>
                <a:ea typeface="微軟正黑體" pitchFamily="34" charset="-120"/>
              </a:rPr>
              <a:t>ChatGPT</a:t>
            </a:r>
            <a:r>
              <a:rPr kumimoji="1" lang="zh-TW" altLang="en-US" b="0" dirty="0">
                <a:latin typeface="微軟正黑體" pitchFamily="34" charset="-120"/>
                <a:ea typeface="微軟正黑體" pitchFamily="34" charset="-120"/>
              </a:rPr>
              <a:t>等大型語言模型有更多合作並整合至</a:t>
            </a:r>
            <a:r>
              <a:rPr kumimoji="1" lang="en-US" altLang="zh-TW" b="0" dirty="0">
                <a:latin typeface="微軟正黑體" pitchFamily="34" charset="-120"/>
                <a:ea typeface="微軟正黑體" pitchFamily="34" charset="-120"/>
              </a:rPr>
              <a:t>Apple Intelligence</a:t>
            </a:r>
            <a:r>
              <a:rPr kumimoji="1" lang="zh-TW" altLang="en-US" b="0" dirty="0">
                <a:latin typeface="微軟正黑體" pitchFamily="34" charset="-120"/>
                <a:ea typeface="微軟正黑體" pitchFamily="34" charset="-120"/>
              </a:rPr>
              <a:t>。</a:t>
            </a:r>
            <a:endParaRPr lang="en-US" altLang="zh-TW" b="0" spc="-1" dirty="0">
              <a:latin typeface="微軟正黑體" panose="020B0604030504040204" pitchFamily="34" charset="-120"/>
              <a:ea typeface="微軟正黑體" panose="020B0604030504040204" pitchFamily="34" charset="-120"/>
            </a:endParaRPr>
          </a:p>
        </p:txBody>
      </p:sp>
      <p:graphicFrame>
        <p:nvGraphicFramePr>
          <p:cNvPr id="22" name="圖表 21">
            <a:extLst>
              <a:ext uri="{FF2B5EF4-FFF2-40B4-BE49-F238E27FC236}">
                <a16:creationId xmlns:a16="http://schemas.microsoft.com/office/drawing/2014/main" id="{A2B0F26A-6003-450D-3AE7-2337705B799D}"/>
              </a:ext>
            </a:extLst>
          </p:cNvPr>
          <p:cNvGraphicFramePr>
            <a:graphicFrameLocks/>
          </p:cNvGraphicFramePr>
          <p:nvPr>
            <p:extLst>
              <p:ext uri="{D42A27DB-BD31-4B8C-83A1-F6EECF244321}">
                <p14:modId xmlns:p14="http://schemas.microsoft.com/office/powerpoint/2010/main" val="2194995413"/>
              </p:ext>
            </p:extLst>
          </p:nvPr>
        </p:nvGraphicFramePr>
        <p:xfrm>
          <a:off x="310999" y="5126435"/>
          <a:ext cx="4396191" cy="1208821"/>
        </p:xfrm>
        <a:graphic>
          <a:graphicData uri="http://schemas.openxmlformats.org/drawingml/2006/chart">
            <c:chart xmlns:c="http://schemas.openxmlformats.org/drawingml/2006/chart" xmlns:r="http://schemas.openxmlformats.org/officeDocument/2006/relationships" r:id="rId4"/>
          </a:graphicData>
        </a:graphic>
      </p:graphicFrame>
      <p:grpSp>
        <p:nvGrpSpPr>
          <p:cNvPr id="42" name="群組 41">
            <a:extLst>
              <a:ext uri="{FF2B5EF4-FFF2-40B4-BE49-F238E27FC236}">
                <a16:creationId xmlns:a16="http://schemas.microsoft.com/office/drawing/2014/main" id="{EEE4F59D-FE22-DDB4-88C4-B3B403391081}"/>
              </a:ext>
            </a:extLst>
          </p:cNvPr>
          <p:cNvGrpSpPr/>
          <p:nvPr/>
        </p:nvGrpSpPr>
        <p:grpSpPr>
          <a:xfrm>
            <a:off x="4959918" y="4429472"/>
            <a:ext cx="3932563" cy="1874761"/>
            <a:chOff x="4959918" y="4180414"/>
            <a:chExt cx="3932563" cy="2123821"/>
          </a:xfrm>
        </p:grpSpPr>
        <p:graphicFrame>
          <p:nvGraphicFramePr>
            <p:cNvPr id="43" name="圖表 42">
              <a:extLst>
                <a:ext uri="{FF2B5EF4-FFF2-40B4-BE49-F238E27FC236}">
                  <a16:creationId xmlns:a16="http://schemas.microsoft.com/office/drawing/2014/main" id="{8112419E-68C6-E426-80DD-E124256522DD}"/>
                </a:ext>
              </a:extLst>
            </p:cNvPr>
            <p:cNvGraphicFramePr>
              <a:graphicFrameLocks/>
            </p:cNvGraphicFramePr>
            <p:nvPr>
              <p:extLst>
                <p:ext uri="{D42A27DB-BD31-4B8C-83A1-F6EECF244321}">
                  <p14:modId xmlns:p14="http://schemas.microsoft.com/office/powerpoint/2010/main" val="1969309916"/>
                </p:ext>
              </p:extLst>
            </p:nvPr>
          </p:nvGraphicFramePr>
          <p:xfrm>
            <a:off x="4959918" y="4180414"/>
            <a:ext cx="3932563" cy="2123821"/>
          </p:xfrm>
          <a:graphic>
            <a:graphicData uri="http://schemas.openxmlformats.org/drawingml/2006/chart">
              <c:chart xmlns:c="http://schemas.openxmlformats.org/drawingml/2006/chart" xmlns:r="http://schemas.openxmlformats.org/officeDocument/2006/relationships" r:id="rId5"/>
            </a:graphicData>
          </a:graphic>
        </p:graphicFrame>
        <p:sp>
          <p:nvSpPr>
            <p:cNvPr id="44" name="矩形 43">
              <a:extLst>
                <a:ext uri="{FF2B5EF4-FFF2-40B4-BE49-F238E27FC236}">
                  <a16:creationId xmlns:a16="http://schemas.microsoft.com/office/drawing/2014/main" id="{FCBE2E57-C5E3-9F07-B535-AFFC1AA1ECD8}"/>
                </a:ext>
              </a:extLst>
            </p:cNvPr>
            <p:cNvSpPr/>
            <p:nvPr/>
          </p:nvSpPr>
          <p:spPr>
            <a:xfrm>
              <a:off x="5004048" y="4303196"/>
              <a:ext cx="720066" cy="215456"/>
            </a:xfrm>
            <a:prstGeom prst="rect">
              <a:avLst/>
            </a:prstGeom>
          </p:spPr>
          <p:txBody>
            <a:bodyPr wrap="non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altLang="zh-TW" sz="800" b="1" dirty="0">
                  <a:solidFill>
                    <a:schemeClr val="tx1">
                      <a:lumMod val="65000"/>
                      <a:lumOff val="35000"/>
                    </a:schemeClr>
                  </a:solidFill>
                  <a:latin typeface="微軟正黑體" panose="020B0604030504040204" pitchFamily="34" charset="-120"/>
                  <a:ea typeface="微軟正黑體" panose="020B0604030504040204" pitchFamily="34" charset="-120"/>
                </a:rPr>
                <a:t>(</a:t>
              </a:r>
              <a:r>
                <a:rPr lang="zh-TW" altLang="en-US" sz="800" b="1" dirty="0">
                  <a:solidFill>
                    <a:schemeClr val="tx1">
                      <a:lumMod val="65000"/>
                      <a:lumOff val="35000"/>
                    </a:schemeClr>
                  </a:solidFill>
                  <a:latin typeface="微軟正黑體" panose="020B0604030504040204" pitchFamily="34" charset="-120"/>
                  <a:ea typeface="微軟正黑體" panose="020B0604030504040204" pitchFamily="34" charset="-120"/>
                </a:rPr>
                <a:t>百萬</a:t>
              </a:r>
              <a:r>
                <a:rPr lang="en-US" altLang="zh-TW" sz="800" b="1" dirty="0">
                  <a:solidFill>
                    <a:schemeClr val="tx1">
                      <a:lumMod val="65000"/>
                      <a:lumOff val="35000"/>
                    </a:schemeClr>
                  </a:solidFill>
                  <a:latin typeface="微軟正黑體" panose="020B0604030504040204" pitchFamily="34" charset="-120"/>
                  <a:ea typeface="微軟正黑體" panose="020B0604030504040204" pitchFamily="34" charset="-120"/>
                </a:rPr>
                <a:t>/USD)</a:t>
              </a:r>
              <a:endParaRPr lang="zh-TW" altLang="en-US" sz="800" b="1" dirty="0">
                <a:solidFill>
                  <a:schemeClr val="tx1">
                    <a:lumMod val="65000"/>
                    <a:lumOff val="35000"/>
                  </a:schemeClr>
                </a:solidFill>
                <a:latin typeface="微軟正黑體" panose="020B0604030504040204" pitchFamily="34" charset="-120"/>
                <a:ea typeface="微軟正黑體" panose="020B0604030504040204" pitchFamily="34" charset="-120"/>
              </a:endParaRPr>
            </a:p>
          </p:txBody>
        </p:sp>
      </p:grpSp>
      <p:sp>
        <p:nvSpPr>
          <p:cNvPr id="45" name="文字方塊 44">
            <a:extLst>
              <a:ext uri="{FF2B5EF4-FFF2-40B4-BE49-F238E27FC236}">
                <a16:creationId xmlns:a16="http://schemas.microsoft.com/office/drawing/2014/main" id="{900DAC74-B6DD-4AA0-85ED-C426457DF264}"/>
              </a:ext>
            </a:extLst>
          </p:cNvPr>
          <p:cNvSpPr txBox="1"/>
          <p:nvPr/>
        </p:nvSpPr>
        <p:spPr>
          <a:xfrm>
            <a:off x="4883762" y="1052736"/>
            <a:ext cx="3913952" cy="3311227"/>
          </a:xfrm>
          <a:prstGeom prst="rect">
            <a:avLst/>
          </a:prstGeom>
          <a:noFill/>
        </p:spPr>
        <p:txBody>
          <a:bodyPr wrap="square">
            <a:spAutoFit/>
          </a:bodyPr>
          <a:lstStyle/>
          <a:p>
            <a:pPr algn="just">
              <a:lnSpc>
                <a:spcPts val="1500"/>
              </a:lnSpc>
              <a:spcAft>
                <a:spcPts val="600"/>
              </a:spcAft>
            </a:pPr>
            <a:r>
              <a:rPr kumimoji="1" lang="en-US" altLang="zh-TW" sz="1200" b="1" dirty="0">
                <a:solidFill>
                  <a:srgbClr val="FF0000"/>
                </a:solidFill>
                <a:latin typeface="微軟正黑體" pitchFamily="34" charset="-120"/>
                <a:ea typeface="微軟正黑體" pitchFamily="34" charset="-120"/>
              </a:rPr>
              <a:t>1QFY26(</a:t>
            </a:r>
            <a:r>
              <a:rPr kumimoji="1" lang="zh-TW" altLang="en-US" sz="1200" b="1" dirty="0">
                <a:solidFill>
                  <a:srgbClr val="FF0000"/>
                </a:solidFill>
                <a:latin typeface="微軟正黑體" pitchFamily="34" charset="-120"/>
                <a:ea typeface="微軟正黑體" pitchFamily="34" charset="-120"/>
              </a:rPr>
              <a:t>截至</a:t>
            </a:r>
            <a:r>
              <a:rPr kumimoji="1" lang="en-US" altLang="zh-TW" sz="1200" b="1" dirty="0">
                <a:solidFill>
                  <a:srgbClr val="FF0000"/>
                </a:solidFill>
                <a:latin typeface="微軟正黑體" pitchFamily="34" charset="-120"/>
                <a:ea typeface="微軟正黑體" pitchFamily="34" charset="-120"/>
              </a:rPr>
              <a:t>12/27)</a:t>
            </a:r>
            <a:r>
              <a:rPr kumimoji="1" lang="zh-TW" altLang="en-US" sz="1200" b="1" dirty="0">
                <a:solidFill>
                  <a:srgbClr val="FF0000"/>
                </a:solidFill>
                <a:latin typeface="微軟正黑體" pitchFamily="34" charset="-120"/>
                <a:ea typeface="微軟正黑體" pitchFamily="34" charset="-120"/>
              </a:rPr>
              <a:t>營收年增</a:t>
            </a:r>
            <a:r>
              <a:rPr kumimoji="1" lang="en-US" altLang="zh-TW" sz="1200" b="1" dirty="0">
                <a:solidFill>
                  <a:srgbClr val="FF0000"/>
                </a:solidFill>
                <a:latin typeface="微軟正黑體" pitchFamily="34" charset="-120"/>
                <a:ea typeface="微軟正黑體" pitchFamily="34" charset="-120"/>
              </a:rPr>
              <a:t>16%</a:t>
            </a:r>
            <a:r>
              <a:rPr kumimoji="1" lang="zh-TW" altLang="en-US" sz="1200" b="1" dirty="0">
                <a:solidFill>
                  <a:srgbClr val="FF0000"/>
                </a:solidFill>
                <a:latin typeface="微軟正黑體" pitchFamily="34" charset="-120"/>
                <a:ea typeface="微軟正黑體" pitchFamily="34" charset="-120"/>
              </a:rPr>
              <a:t>至</a:t>
            </a:r>
            <a:r>
              <a:rPr kumimoji="1" lang="en-US" altLang="zh-TW" sz="1200" b="1" dirty="0">
                <a:solidFill>
                  <a:srgbClr val="FF0000"/>
                </a:solidFill>
                <a:latin typeface="微軟正黑體" pitchFamily="34" charset="-120"/>
                <a:ea typeface="微軟正黑體" pitchFamily="34" charset="-120"/>
              </a:rPr>
              <a:t>1,438</a:t>
            </a:r>
            <a:r>
              <a:rPr kumimoji="1" lang="zh-TW" altLang="en-US" sz="1200" b="1" dirty="0">
                <a:solidFill>
                  <a:srgbClr val="FF0000"/>
                </a:solidFill>
                <a:latin typeface="微軟正黑體" pitchFamily="34" charset="-120"/>
                <a:ea typeface="微軟正黑體" pitchFamily="34" charset="-120"/>
              </a:rPr>
              <a:t>億美元、普通股可分配淨利年增</a:t>
            </a:r>
            <a:r>
              <a:rPr kumimoji="1" lang="en-US" altLang="zh-TW" sz="1200" b="1" dirty="0">
                <a:solidFill>
                  <a:srgbClr val="FF0000"/>
                </a:solidFill>
                <a:latin typeface="微軟正黑體" pitchFamily="34" charset="-120"/>
                <a:ea typeface="微軟正黑體" pitchFamily="34" charset="-120"/>
              </a:rPr>
              <a:t>16%</a:t>
            </a:r>
            <a:r>
              <a:rPr kumimoji="1" lang="zh-TW" altLang="en-US" sz="1200" b="1" dirty="0">
                <a:solidFill>
                  <a:srgbClr val="FF0000"/>
                </a:solidFill>
                <a:latin typeface="微軟正黑體" pitchFamily="34" charset="-120"/>
                <a:ea typeface="微軟正黑體" pitchFamily="34" charset="-120"/>
              </a:rPr>
              <a:t>至</a:t>
            </a:r>
            <a:r>
              <a:rPr kumimoji="1" lang="en-US" altLang="zh-TW" sz="1200" b="1" dirty="0">
                <a:solidFill>
                  <a:srgbClr val="FF0000"/>
                </a:solidFill>
                <a:latin typeface="微軟正黑體" pitchFamily="34" charset="-120"/>
                <a:ea typeface="微軟正黑體" pitchFamily="34" charset="-120"/>
              </a:rPr>
              <a:t>421</a:t>
            </a:r>
            <a:r>
              <a:rPr kumimoji="1" lang="zh-TW" altLang="en-US" sz="1200" b="1" dirty="0">
                <a:solidFill>
                  <a:srgbClr val="FF0000"/>
                </a:solidFill>
                <a:latin typeface="微軟正黑體" pitchFamily="34" charset="-120"/>
                <a:ea typeface="微軟正黑體" pitchFamily="34" charset="-120"/>
              </a:rPr>
              <a:t>億美元</a:t>
            </a:r>
            <a:r>
              <a:rPr kumimoji="1" lang="zh-TW" altLang="en-US" sz="1200" dirty="0">
                <a:latin typeface="微軟正黑體" pitchFamily="34" charset="-120"/>
                <a:ea typeface="微軟正黑體" pitchFamily="34" charset="-120"/>
              </a:rPr>
              <a:t>，反映</a:t>
            </a:r>
            <a:r>
              <a:rPr kumimoji="1" lang="en-US" altLang="zh-TW" sz="1200" dirty="0">
                <a:latin typeface="微軟正黑體" pitchFamily="34" charset="-120"/>
                <a:ea typeface="微軟正黑體" pitchFamily="34" charset="-120"/>
              </a:rPr>
              <a:t>1)iPhone 17</a:t>
            </a:r>
            <a:r>
              <a:rPr kumimoji="1" lang="zh-TW" altLang="en-US" sz="1200" dirty="0">
                <a:latin typeface="微軟正黑體" pitchFamily="34" charset="-120"/>
                <a:ea typeface="微軟正黑體" pitchFamily="34" charset="-120"/>
              </a:rPr>
              <a:t>系列產品和全球需求強勁，推動佔營收六成的</a:t>
            </a:r>
            <a:r>
              <a:rPr kumimoji="1" lang="en-US" altLang="zh-TW" sz="1200" dirty="0">
                <a:latin typeface="微軟正黑體" pitchFamily="34" charset="-120"/>
                <a:ea typeface="微軟正黑體" pitchFamily="34" charset="-120"/>
              </a:rPr>
              <a:t>iPhone</a:t>
            </a:r>
            <a:r>
              <a:rPr kumimoji="1" lang="zh-TW" altLang="en-US" sz="1200" dirty="0">
                <a:latin typeface="微軟正黑體" pitchFamily="34" charset="-120"/>
                <a:ea typeface="微軟正黑體" pitchFamily="34" charset="-120"/>
              </a:rPr>
              <a:t>收入年增</a:t>
            </a:r>
            <a:r>
              <a:rPr kumimoji="1" lang="en-US" altLang="zh-TW" sz="1200" dirty="0">
                <a:latin typeface="微軟正黑體" pitchFamily="34" charset="-120"/>
                <a:ea typeface="微軟正黑體" pitchFamily="34" charset="-120"/>
              </a:rPr>
              <a:t>23%</a:t>
            </a:r>
            <a:r>
              <a:rPr kumimoji="1" lang="zh-TW" altLang="en-US" sz="1200" dirty="0">
                <a:latin typeface="微軟正黑體" pitchFamily="34" charset="-120"/>
                <a:ea typeface="微軟正黑體" pitchFamily="34" charset="-120"/>
              </a:rPr>
              <a:t>；</a:t>
            </a:r>
            <a:r>
              <a:rPr kumimoji="1" lang="en-US" altLang="zh-TW" sz="1200" dirty="0">
                <a:latin typeface="微軟正黑體" pitchFamily="34" charset="-120"/>
                <a:ea typeface="微軟正黑體" pitchFamily="34" charset="-120"/>
              </a:rPr>
              <a:t>2)</a:t>
            </a:r>
            <a:r>
              <a:rPr kumimoji="1" lang="zh-TW" altLang="en-US" sz="1200" dirty="0">
                <a:latin typeface="微軟正黑體" pitchFamily="34" charset="-120"/>
                <a:ea typeface="微軟正黑體" pitchFamily="34" charset="-120"/>
              </a:rPr>
              <a:t>廣告、雲端、音樂和支付服務收入創新高，推動服務收入年增</a:t>
            </a:r>
            <a:r>
              <a:rPr kumimoji="1" lang="en-US" altLang="zh-TW" sz="1200" dirty="0">
                <a:latin typeface="微軟正黑體" pitchFamily="34" charset="-120"/>
                <a:ea typeface="微軟正黑體" pitchFamily="34" charset="-120"/>
              </a:rPr>
              <a:t>14%</a:t>
            </a:r>
            <a:r>
              <a:rPr kumimoji="1" lang="zh-TW" altLang="en-US" sz="1200" dirty="0">
                <a:latin typeface="微軟正黑體" pitchFamily="34" charset="-120"/>
                <a:ea typeface="微軟正黑體" pitchFamily="34" charset="-120"/>
              </a:rPr>
              <a:t>至</a:t>
            </a:r>
            <a:r>
              <a:rPr kumimoji="1" lang="en-US" altLang="zh-TW" sz="1200" dirty="0">
                <a:latin typeface="微軟正黑體" pitchFamily="34" charset="-120"/>
                <a:ea typeface="微軟正黑體" pitchFamily="34" charset="-120"/>
              </a:rPr>
              <a:t>300</a:t>
            </a:r>
            <a:r>
              <a:rPr kumimoji="1" lang="zh-TW" altLang="en-US" sz="1200" dirty="0">
                <a:latin typeface="微軟正黑體" pitchFamily="34" charset="-120"/>
                <a:ea typeface="微軟正黑體" pitchFamily="34" charset="-120"/>
              </a:rPr>
              <a:t>億美元，抵銷了</a:t>
            </a:r>
            <a:r>
              <a:rPr kumimoji="1" lang="en-US" altLang="zh-TW" sz="1200" dirty="0">
                <a:latin typeface="微軟正黑體" pitchFamily="34" charset="-120"/>
                <a:ea typeface="微軟正黑體" pitchFamily="34" charset="-120"/>
              </a:rPr>
              <a:t>3)Mac</a:t>
            </a:r>
            <a:r>
              <a:rPr kumimoji="1" lang="zh-TW" altLang="en-US" sz="1200" dirty="0">
                <a:latin typeface="微軟正黑體" pitchFamily="34" charset="-120"/>
                <a:ea typeface="微軟正黑體" pitchFamily="34" charset="-120"/>
              </a:rPr>
              <a:t>，以及穿戴式裝置、家居與配件收入分別衰退</a:t>
            </a:r>
            <a:r>
              <a:rPr kumimoji="1" lang="en-US" altLang="zh-TW" sz="1200" dirty="0">
                <a:latin typeface="微軟正黑體" pitchFamily="34" charset="-120"/>
                <a:ea typeface="微軟正黑體" pitchFamily="34" charset="-120"/>
              </a:rPr>
              <a:t>7%</a:t>
            </a:r>
            <a:r>
              <a:rPr kumimoji="1" lang="zh-TW" altLang="en-US" sz="1200" dirty="0">
                <a:latin typeface="微軟正黑體" pitchFamily="34" charset="-120"/>
                <a:ea typeface="微軟正黑體" pitchFamily="34" charset="-120"/>
              </a:rPr>
              <a:t>與</a:t>
            </a:r>
            <a:r>
              <a:rPr kumimoji="1" lang="en-US" altLang="zh-TW" sz="1200" dirty="0">
                <a:latin typeface="微軟正黑體" pitchFamily="34" charset="-120"/>
                <a:ea typeface="微軟正黑體" pitchFamily="34" charset="-120"/>
              </a:rPr>
              <a:t>2%</a:t>
            </a:r>
            <a:r>
              <a:rPr kumimoji="1" lang="zh-TW" altLang="en-US" sz="1200" dirty="0">
                <a:latin typeface="微軟正黑體" pitchFamily="34" charset="-120"/>
                <a:ea typeface="微軟正黑體" pitchFamily="34" charset="-120"/>
              </a:rPr>
              <a:t>的影響；受惠有利的產品組合，毛利率由去年同期的</a:t>
            </a:r>
            <a:r>
              <a:rPr kumimoji="1" lang="en-US" altLang="zh-TW" sz="1200" dirty="0">
                <a:latin typeface="微軟正黑體" pitchFamily="34" charset="-120"/>
                <a:ea typeface="微軟正黑體" pitchFamily="34" charset="-120"/>
              </a:rPr>
              <a:t>46.9%</a:t>
            </a:r>
            <a:r>
              <a:rPr kumimoji="1" lang="zh-TW" altLang="en-US" sz="1200" dirty="0">
                <a:latin typeface="微軟正黑體" pitchFamily="34" charset="-120"/>
                <a:ea typeface="微軟正黑體" pitchFamily="34" charset="-120"/>
              </a:rPr>
              <a:t>升至</a:t>
            </a:r>
            <a:r>
              <a:rPr kumimoji="1" lang="en-US" altLang="zh-TW" sz="1200" dirty="0">
                <a:latin typeface="微軟正黑體" pitchFamily="34" charset="-120"/>
                <a:ea typeface="微軟正黑體" pitchFamily="34" charset="-120"/>
              </a:rPr>
              <a:t>48.2%</a:t>
            </a:r>
            <a:r>
              <a:rPr kumimoji="1" lang="zh-TW" altLang="en-US" sz="1200" dirty="0">
                <a:latin typeface="微軟正黑體" pitchFamily="34" charset="-120"/>
                <a:ea typeface="微軟正黑體" pitchFamily="34" charset="-120"/>
              </a:rPr>
              <a:t>。</a:t>
            </a:r>
          </a:p>
          <a:p>
            <a:pPr algn="just">
              <a:lnSpc>
                <a:spcPts val="1500"/>
              </a:lnSpc>
              <a:spcAft>
                <a:spcPts val="600"/>
              </a:spcAft>
            </a:pPr>
            <a:r>
              <a:rPr kumimoji="1" lang="zh-TW" altLang="en-US" sz="1200" b="1" dirty="0">
                <a:latin typeface="微軟正黑體" pitchFamily="34" charset="-120"/>
                <a:ea typeface="微軟正黑體" pitchFamily="34" charset="-120"/>
              </a:rPr>
              <a:t>亮點：</a:t>
            </a:r>
            <a:r>
              <a:rPr kumimoji="1" lang="en-US" altLang="zh-TW" sz="1200" dirty="0">
                <a:latin typeface="微軟正黑體" pitchFamily="34" charset="-120"/>
                <a:ea typeface="微軟正黑體" pitchFamily="34" charset="-120"/>
              </a:rPr>
              <a:t>1)iPhone</a:t>
            </a:r>
            <a:r>
              <a:rPr kumimoji="1" lang="zh-TW" altLang="en-US" sz="1200" dirty="0">
                <a:latin typeface="微軟正黑體" pitchFamily="34" charset="-120"/>
                <a:ea typeface="微軟正黑體" pitchFamily="34" charset="-120"/>
              </a:rPr>
              <a:t>和服務收入創新高，推動營收締新猷且遠超預期，電話會議估</a:t>
            </a:r>
            <a:r>
              <a:rPr kumimoji="1" lang="en-US" altLang="zh-TW" sz="1200" dirty="0">
                <a:latin typeface="微軟正黑體" pitchFamily="34" charset="-120"/>
                <a:ea typeface="微軟正黑體" pitchFamily="34" charset="-120"/>
              </a:rPr>
              <a:t>2QFY26</a:t>
            </a:r>
            <a:r>
              <a:rPr kumimoji="1" lang="zh-TW" altLang="en-US" sz="1200" dirty="0">
                <a:latin typeface="微軟正黑體" pitchFamily="34" charset="-120"/>
                <a:ea typeface="微軟正黑體" pitchFamily="34" charset="-120"/>
              </a:rPr>
              <a:t>營收將成長</a:t>
            </a:r>
            <a:r>
              <a:rPr kumimoji="1" lang="en-US" altLang="zh-TW" sz="1200" dirty="0">
                <a:latin typeface="微軟正黑體" pitchFamily="34" charset="-120"/>
                <a:ea typeface="微軟正黑體" pitchFamily="34" charset="-120"/>
              </a:rPr>
              <a:t>13%~16%</a:t>
            </a:r>
            <a:r>
              <a:rPr kumimoji="1" lang="zh-TW" altLang="en-US" sz="1200" dirty="0">
                <a:latin typeface="微軟正黑體" pitchFamily="34" charset="-120"/>
                <a:ea typeface="微軟正黑體" pitchFamily="34" charset="-120"/>
              </a:rPr>
              <a:t>優於市場預期；</a:t>
            </a:r>
            <a:r>
              <a:rPr kumimoji="1" lang="en-US" altLang="zh-TW" sz="1200" dirty="0">
                <a:latin typeface="微軟正黑體" pitchFamily="34" charset="-120"/>
                <a:ea typeface="微軟正黑體" pitchFamily="34" charset="-120"/>
              </a:rPr>
              <a:t>2)</a:t>
            </a:r>
            <a:r>
              <a:rPr kumimoji="1" lang="zh-TW" altLang="en-US" sz="1200" dirty="0">
                <a:latin typeface="微軟正黑體" pitchFamily="34" charset="-120"/>
                <a:ea typeface="微軟正黑體" pitchFamily="34" charset="-120"/>
              </a:rPr>
              <a:t>受惠強大的客戶忠誠度及滿意度，蘋果活躍設備數量創超過</a:t>
            </a:r>
            <a:r>
              <a:rPr kumimoji="1" lang="en-US" altLang="zh-TW" sz="1200" dirty="0">
                <a:latin typeface="微軟正黑體" pitchFamily="34" charset="-120"/>
                <a:ea typeface="微軟正黑體" pitchFamily="34" charset="-120"/>
              </a:rPr>
              <a:t>25</a:t>
            </a:r>
            <a:r>
              <a:rPr kumimoji="1" lang="zh-TW" altLang="en-US" sz="1200" dirty="0">
                <a:latin typeface="微軟正黑體" pitchFamily="34" charset="-120"/>
                <a:ea typeface="微軟正黑體" pitchFamily="34" charset="-120"/>
              </a:rPr>
              <a:t>億台創新高；</a:t>
            </a:r>
            <a:r>
              <a:rPr kumimoji="1" lang="en-US" altLang="zh-TW" sz="1200" dirty="0">
                <a:latin typeface="微軟正黑體" pitchFamily="34" charset="-120"/>
                <a:ea typeface="微軟正黑體" pitchFamily="34" charset="-120"/>
              </a:rPr>
              <a:t>3)</a:t>
            </a:r>
            <a:r>
              <a:rPr kumimoji="1" lang="zh-TW" altLang="en-US" sz="1200" dirty="0">
                <a:latin typeface="微軟正黑體" pitchFamily="34" charset="-120"/>
                <a:ea typeface="微軟正黑體" pitchFamily="34" charset="-120"/>
              </a:rPr>
              <a:t>新興市場表現強勁，大中華區和印度均呈雙位數增長，前者高達</a:t>
            </a:r>
            <a:r>
              <a:rPr kumimoji="1" lang="en-US" altLang="zh-TW" sz="1200" dirty="0">
                <a:latin typeface="微軟正黑體" pitchFamily="34" charset="-120"/>
                <a:ea typeface="微軟正黑體" pitchFamily="34" charset="-120"/>
              </a:rPr>
              <a:t>38%</a:t>
            </a:r>
            <a:r>
              <a:rPr kumimoji="1" lang="zh-TW" altLang="en-US" sz="1200" dirty="0">
                <a:latin typeface="微軟正黑體" pitchFamily="34" charset="-120"/>
                <a:ea typeface="微軟正黑體" pitchFamily="34" charset="-120"/>
              </a:rPr>
              <a:t>。</a:t>
            </a:r>
          </a:p>
          <a:p>
            <a:pPr algn="just">
              <a:lnSpc>
                <a:spcPts val="1500"/>
              </a:lnSpc>
              <a:spcAft>
                <a:spcPts val="600"/>
              </a:spcAft>
            </a:pPr>
            <a:r>
              <a:rPr kumimoji="1" lang="zh-TW" altLang="en-US" sz="1200" b="1" dirty="0">
                <a:latin typeface="微軟正黑體" pitchFamily="34" charset="-120"/>
                <a:ea typeface="微軟正黑體" pitchFamily="34" charset="-120"/>
              </a:rPr>
              <a:t>風險：</a:t>
            </a:r>
            <a:r>
              <a:rPr kumimoji="1" lang="en-US" altLang="zh-TW" sz="1200" dirty="0">
                <a:latin typeface="微軟正黑體" pitchFamily="34" charset="-120"/>
                <a:ea typeface="微軟正黑體" pitchFamily="34" charset="-120"/>
              </a:rPr>
              <a:t>iPhone</a:t>
            </a:r>
            <a:r>
              <a:rPr kumimoji="1" lang="zh-TW" altLang="en-US" sz="1200" dirty="0">
                <a:latin typeface="微軟正黑體" pitchFamily="34" charset="-120"/>
                <a:ea typeface="微軟正黑體" pitchFamily="34" charset="-120"/>
              </a:rPr>
              <a:t>供應鏈緊張，</a:t>
            </a:r>
            <a:r>
              <a:rPr kumimoji="1" lang="en-US" altLang="zh-TW" sz="1200" dirty="0">
                <a:latin typeface="微軟正黑體" pitchFamily="34" charset="-120"/>
                <a:ea typeface="微軟正黑體" pitchFamily="34" charset="-120"/>
              </a:rPr>
              <a:t>AI</a:t>
            </a:r>
            <a:r>
              <a:rPr kumimoji="1" lang="zh-TW" altLang="en-US" sz="1200" dirty="0">
                <a:latin typeface="微軟正黑體" pitchFamily="34" charset="-120"/>
                <a:ea typeface="微軟正黑體" pitchFamily="34" charset="-120"/>
              </a:rPr>
              <a:t>的需求激增顯著擠壓記憶體的供應能力，此外先進製程節點的供應亦面臨限制，恐對毛利率構成威脅。</a:t>
            </a:r>
          </a:p>
        </p:txBody>
      </p:sp>
      <p:sp>
        <p:nvSpPr>
          <p:cNvPr id="23" name="矩形 22">
            <a:extLst>
              <a:ext uri="{FF2B5EF4-FFF2-40B4-BE49-F238E27FC236}">
                <a16:creationId xmlns:a16="http://schemas.microsoft.com/office/drawing/2014/main" id="{38F25C38-7F5E-4426-A896-B2B3E30D217C}"/>
              </a:ext>
            </a:extLst>
          </p:cNvPr>
          <p:cNvSpPr/>
          <p:nvPr/>
        </p:nvSpPr>
        <p:spPr>
          <a:xfrm>
            <a:off x="303026" y="5147975"/>
            <a:ext cx="348172" cy="215444"/>
          </a:xfrm>
          <a:prstGeom prst="rect">
            <a:avLst/>
          </a:prstGeom>
        </p:spPr>
        <p:txBody>
          <a:bodyPr wrap="non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altLang="zh-TW" sz="800" b="1" dirty="0">
                <a:solidFill>
                  <a:schemeClr val="tx1">
                    <a:lumMod val="65000"/>
                    <a:lumOff val="35000"/>
                  </a:schemeClr>
                </a:solidFill>
                <a:latin typeface="微軟正黑體" panose="020B0604030504040204" pitchFamily="34" charset="-120"/>
                <a:ea typeface="微軟正黑體" panose="020B0604030504040204" pitchFamily="34" charset="-120"/>
              </a:rPr>
              <a:t>(%)</a:t>
            </a:r>
            <a:endParaRPr lang="zh-TW" altLang="en-US" sz="800" b="1" dirty="0">
              <a:solidFill>
                <a:schemeClr val="tx1">
                  <a:lumMod val="65000"/>
                  <a:lumOff val="3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206885695"/>
      </p:ext>
    </p:extLst>
  </p:cSld>
  <p:clrMapOvr>
    <a:masterClrMapping/>
  </p:clrMapOvr>
  <mc:AlternateContent xmlns:mc="http://schemas.openxmlformats.org/markup-compatibility/2006">
    <mc:Choice xmlns:p14="http://schemas.microsoft.com/office/powerpoint/2010/main" Requires="p14">
      <p:transition spd="slow" p14:dur="2000" advTm="36939"/>
    </mc:Choice>
    <mc:Fallback>
      <p:transition spd="slow" advTm="3693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圓角矩形 16"/>
          <p:cNvSpPr/>
          <p:nvPr/>
        </p:nvSpPr>
        <p:spPr>
          <a:xfrm>
            <a:off x="7092281" y="1456069"/>
            <a:ext cx="1808832" cy="1529001"/>
          </a:xfrm>
          <a:prstGeom prst="roundRect">
            <a:avLst>
              <a:gd name="adj" fmla="val 6361"/>
            </a:avLst>
          </a:prstGeom>
          <a:solidFill>
            <a:srgbClr val="F2DCDB">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0" name="圖表 19"/>
          <p:cNvGraphicFramePr/>
          <p:nvPr>
            <p:extLst>
              <p:ext uri="{D42A27DB-BD31-4B8C-83A1-F6EECF244321}">
                <p14:modId xmlns:p14="http://schemas.microsoft.com/office/powerpoint/2010/main" val="4274682848"/>
              </p:ext>
            </p:extLst>
          </p:nvPr>
        </p:nvGraphicFramePr>
        <p:xfrm>
          <a:off x="5077876" y="1163564"/>
          <a:ext cx="3916680" cy="1774922"/>
        </p:xfrm>
        <a:graphic>
          <a:graphicData uri="http://schemas.openxmlformats.org/drawingml/2006/chart">
            <c:chart xmlns:c="http://schemas.openxmlformats.org/drawingml/2006/chart" xmlns:r="http://schemas.openxmlformats.org/officeDocument/2006/relationships" r:id="rId2"/>
          </a:graphicData>
        </a:graphic>
      </p:graphicFrame>
      <p:sp>
        <p:nvSpPr>
          <p:cNvPr id="4" name="投影片編號版面配置區 3">
            <a:extLst>
              <a:ext uri="{FF2B5EF4-FFF2-40B4-BE49-F238E27FC236}">
                <a16:creationId xmlns:a16="http://schemas.microsoft.com/office/drawing/2014/main" id="{46F166C5-8AE6-7D40-8727-37F08F3A6FF5}"/>
              </a:ext>
            </a:extLst>
          </p:cNvPr>
          <p:cNvSpPr>
            <a:spLocks noGrp="1"/>
          </p:cNvSpPr>
          <p:nvPr>
            <p:ph type="sldNum" sz="quarter" idx="10"/>
          </p:nvPr>
        </p:nvSpPr>
        <p:spPr/>
        <p:txBody>
          <a:bodyPr/>
          <a:lstStyle/>
          <a:p>
            <a:fld id="{415482FC-CF5F-466A-B8B6-BC3733E92023}" type="slidenum">
              <a:rPr lang="zh-TW" altLang="en-US" smtClean="0"/>
              <a:pPr/>
              <a:t>5</a:t>
            </a:fld>
            <a:endParaRPr lang="zh-TW" altLang="en-US" dirty="0"/>
          </a:p>
        </p:txBody>
      </p:sp>
      <p:sp>
        <p:nvSpPr>
          <p:cNvPr id="21" name="標題 1">
            <a:extLst>
              <a:ext uri="{FF2B5EF4-FFF2-40B4-BE49-F238E27FC236}">
                <a16:creationId xmlns:a16="http://schemas.microsoft.com/office/drawing/2014/main" id="{BE53B65A-0EAA-6F4B-AB2E-EBDCF8C6D3DE}"/>
              </a:ext>
            </a:extLst>
          </p:cNvPr>
          <p:cNvSpPr txBox="1">
            <a:spLocks noChangeArrowheads="1"/>
          </p:cNvSpPr>
          <p:nvPr/>
        </p:nvSpPr>
        <p:spPr>
          <a:xfrm>
            <a:off x="910164" y="260648"/>
            <a:ext cx="8011169" cy="475060"/>
          </a:xfrm>
          <a:prstGeom prst="rect">
            <a:avLst/>
          </a:prstGeom>
        </p:spPr>
        <p:txBody>
          <a:bodyPr anchor="ctr" anchorCtr="0">
            <a:noAutofit/>
          </a:bodyPr>
          <a:lstStyle>
            <a:defPPr>
              <a:defRPr lang="zh-TW"/>
            </a:defPPr>
            <a:lvl1pPr>
              <a:spcBef>
                <a:spcPct val="0"/>
              </a:spcBef>
              <a:buNone/>
              <a:defRPr sz="2400" b="1">
                <a:solidFill>
                  <a:schemeClr val="tx2">
                    <a:lumMod val="75000"/>
                  </a:schemeClr>
                </a:solidFill>
                <a:latin typeface="微軟正黑體" pitchFamily="34" charset="-120"/>
                <a:ea typeface="微軟正黑體" pitchFamily="34" charset="-120"/>
                <a:cs typeface="+mj-cs"/>
              </a:defRPr>
            </a:lvl1pPr>
          </a:lstStyle>
          <a:p>
            <a:pPr>
              <a:defRPr/>
            </a:pPr>
            <a:r>
              <a:rPr lang="zh-TW" altLang="en-US" dirty="0"/>
              <a:t>卓越流動性及盈利能力獲穆迪賦予</a:t>
            </a:r>
            <a:r>
              <a:rPr lang="en-US" altLang="zh-TW" dirty="0" err="1"/>
              <a:t>Aaa</a:t>
            </a:r>
            <a:r>
              <a:rPr lang="zh-TW" altLang="en-US" dirty="0"/>
              <a:t>頂級評等</a:t>
            </a:r>
          </a:p>
        </p:txBody>
      </p:sp>
      <p:sp>
        <p:nvSpPr>
          <p:cNvPr id="26" name="文字方塊 30">
            <a:extLst>
              <a:ext uri="{FF2B5EF4-FFF2-40B4-BE49-F238E27FC236}">
                <a16:creationId xmlns:a16="http://schemas.microsoft.com/office/drawing/2014/main" id="{E9C0BFBE-AEFA-4FB1-BDBB-2B98311C47CD}"/>
              </a:ext>
            </a:extLst>
          </p:cNvPr>
          <p:cNvSpPr txBox="1">
            <a:spLocks noChangeArrowheads="1"/>
          </p:cNvSpPr>
          <p:nvPr/>
        </p:nvSpPr>
        <p:spPr bwMode="auto">
          <a:xfrm>
            <a:off x="467544" y="6525344"/>
            <a:ext cx="73216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None/>
            </a:pPr>
            <a:r>
              <a:rPr lang="zh-TW" altLang="en-US" sz="800" b="0" dirty="0">
                <a:latin typeface="+mj-ea"/>
                <a:ea typeface="+mj-ea"/>
              </a:rPr>
              <a:t>資料來源：彭博</a:t>
            </a:r>
            <a:r>
              <a:rPr lang="zh-TW" altLang="en-US" sz="800" b="0" dirty="0">
                <a:latin typeface="+mn-ea"/>
                <a:ea typeface="+mn-ea"/>
              </a:rPr>
              <a:t>、信評機構</a:t>
            </a:r>
            <a:r>
              <a:rPr lang="en-US" altLang="zh-TW" sz="800" b="0" dirty="0">
                <a:latin typeface="+mj-ea"/>
                <a:ea typeface="+mj-ea"/>
              </a:rPr>
              <a:t> | </a:t>
            </a:r>
            <a:r>
              <a:rPr lang="zh-TW" altLang="en-US" sz="800" b="0" dirty="0">
                <a:latin typeface="+mj-ea"/>
                <a:ea typeface="+mj-ea"/>
              </a:rPr>
              <a:t>註：</a:t>
            </a:r>
            <a:r>
              <a:rPr lang="en-US" altLang="zh-TW" sz="800" b="0" dirty="0">
                <a:latin typeface="+mj-ea"/>
                <a:ea typeface="+mj-ea"/>
              </a:rPr>
              <a:t>FY25</a:t>
            </a:r>
            <a:r>
              <a:rPr lang="zh-TW" altLang="en-US" sz="800" b="0" dirty="0">
                <a:latin typeface="+mj-ea"/>
                <a:ea typeface="+mj-ea"/>
              </a:rPr>
              <a:t>乃截至</a:t>
            </a:r>
            <a:r>
              <a:rPr lang="en-US" altLang="zh-TW" sz="800" b="0" dirty="0">
                <a:latin typeface="+mj-ea"/>
                <a:ea typeface="+mj-ea"/>
              </a:rPr>
              <a:t>2025/9/27</a:t>
            </a:r>
          </a:p>
        </p:txBody>
      </p:sp>
      <p:sp>
        <p:nvSpPr>
          <p:cNvPr id="28" name="標題 1">
            <a:extLst>
              <a:ext uri="{FF2B5EF4-FFF2-40B4-BE49-F238E27FC236}">
                <a16:creationId xmlns:a16="http://schemas.microsoft.com/office/drawing/2014/main" id="{5AA51018-5D74-493D-9F95-C9549A33D53F}"/>
              </a:ext>
            </a:extLst>
          </p:cNvPr>
          <p:cNvSpPr txBox="1">
            <a:spLocks/>
          </p:cNvSpPr>
          <p:nvPr/>
        </p:nvSpPr>
        <p:spPr bwMode="auto">
          <a:xfrm>
            <a:off x="246781" y="116632"/>
            <a:ext cx="636966" cy="609218"/>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sz="1700" dirty="0"/>
              <a:t>信用表現</a:t>
            </a:r>
          </a:p>
        </p:txBody>
      </p:sp>
      <p:graphicFrame>
        <p:nvGraphicFramePr>
          <p:cNvPr id="15" name="表格 14">
            <a:extLst>
              <a:ext uri="{FF2B5EF4-FFF2-40B4-BE49-F238E27FC236}">
                <a16:creationId xmlns:a16="http://schemas.microsoft.com/office/drawing/2014/main" id="{9CE931C1-0D5C-412A-BBFC-4406B7D100F7}"/>
              </a:ext>
            </a:extLst>
          </p:cNvPr>
          <p:cNvGraphicFramePr>
            <a:graphicFrameLocks noGrp="1"/>
          </p:cNvGraphicFramePr>
          <p:nvPr>
            <p:extLst>
              <p:ext uri="{D42A27DB-BD31-4B8C-83A1-F6EECF244321}">
                <p14:modId xmlns:p14="http://schemas.microsoft.com/office/powerpoint/2010/main" val="3030385200"/>
              </p:ext>
            </p:extLst>
          </p:nvPr>
        </p:nvGraphicFramePr>
        <p:xfrm>
          <a:off x="264414" y="819044"/>
          <a:ext cx="4943690" cy="5595730"/>
        </p:xfrm>
        <a:graphic>
          <a:graphicData uri="http://schemas.openxmlformats.org/drawingml/2006/table">
            <a:tbl>
              <a:tblPr firstRow="1" bandRow="1">
                <a:tableStyleId>{912C8C85-51F0-491E-9774-3900AFEF0FD7}</a:tableStyleId>
              </a:tblPr>
              <a:tblGrid>
                <a:gridCol w="1343603">
                  <a:extLst>
                    <a:ext uri="{9D8B030D-6E8A-4147-A177-3AD203B41FA5}">
                      <a16:colId xmlns:a16="http://schemas.microsoft.com/office/drawing/2014/main" val="20000"/>
                    </a:ext>
                  </a:extLst>
                </a:gridCol>
                <a:gridCol w="1200029">
                  <a:extLst>
                    <a:ext uri="{9D8B030D-6E8A-4147-A177-3AD203B41FA5}">
                      <a16:colId xmlns:a16="http://schemas.microsoft.com/office/drawing/2014/main" val="20001"/>
                    </a:ext>
                  </a:extLst>
                </a:gridCol>
                <a:gridCol w="1411145">
                  <a:extLst>
                    <a:ext uri="{9D8B030D-6E8A-4147-A177-3AD203B41FA5}">
                      <a16:colId xmlns:a16="http://schemas.microsoft.com/office/drawing/2014/main" val="20002"/>
                    </a:ext>
                  </a:extLst>
                </a:gridCol>
                <a:gridCol w="988913">
                  <a:extLst>
                    <a:ext uri="{9D8B030D-6E8A-4147-A177-3AD203B41FA5}">
                      <a16:colId xmlns:a16="http://schemas.microsoft.com/office/drawing/2014/main" val="20003"/>
                    </a:ext>
                  </a:extLst>
                </a:gridCol>
              </a:tblGrid>
              <a:tr h="274112">
                <a:tc>
                  <a:txBody>
                    <a:bodyPr/>
                    <a:lstStyle/>
                    <a:p>
                      <a:pPr algn="ctr"/>
                      <a:r>
                        <a:rPr lang="zh-TW" altLang="en-US" sz="1000" dirty="0">
                          <a:solidFill>
                            <a:schemeClr val="bg1"/>
                          </a:solidFill>
                          <a:latin typeface="+mn-ea"/>
                          <a:ea typeface="+mn-ea"/>
                        </a:rPr>
                        <a:t>信用評等</a:t>
                      </a:r>
                    </a:p>
                  </a:txBody>
                  <a:tcPr anchor="ctr"/>
                </a:tc>
                <a:tc>
                  <a:txBody>
                    <a:bodyPr/>
                    <a:lstStyle/>
                    <a:p>
                      <a:pPr algn="ctr"/>
                      <a:r>
                        <a:rPr lang="zh-TW" altLang="en-US" sz="1100" dirty="0"/>
                        <a:t>穆迪</a:t>
                      </a:r>
                      <a:endParaRPr lang="zh-TW" altLang="en-US" sz="1100" b="1" dirty="0">
                        <a:solidFill>
                          <a:schemeClr val="bg1"/>
                        </a:solidFill>
                        <a:latin typeface="+mn-ea"/>
                        <a:ea typeface="+mn-ea"/>
                      </a:endParaRPr>
                    </a:p>
                  </a:txBody>
                  <a:tcPr anchor="ctr"/>
                </a:tc>
                <a:tc>
                  <a:txBody>
                    <a:bodyPr/>
                    <a:lstStyle/>
                    <a:p>
                      <a:pPr algn="ctr"/>
                      <a:r>
                        <a:rPr lang="zh-TW" altLang="en-US" sz="1100" dirty="0"/>
                        <a:t>標普</a:t>
                      </a:r>
                      <a:endParaRPr lang="zh-TW" altLang="en-US" sz="1100" b="1" dirty="0">
                        <a:solidFill>
                          <a:schemeClr val="bg1"/>
                        </a:solidFill>
                        <a:latin typeface="+mn-ea"/>
                        <a:ea typeface="+mn-ea"/>
                      </a:endParaRPr>
                    </a:p>
                  </a:txBody>
                  <a:tcPr anchor="ctr"/>
                </a:tc>
                <a:tc>
                  <a:txBody>
                    <a:bodyPr/>
                    <a:lstStyle/>
                    <a:p>
                      <a:pPr algn="ctr"/>
                      <a:r>
                        <a:rPr lang="zh-TW" altLang="en-US" sz="1100" dirty="0"/>
                        <a:t>惠譽</a:t>
                      </a:r>
                      <a:endParaRPr lang="zh-TW" altLang="en-US" sz="1100" b="1" dirty="0">
                        <a:solidFill>
                          <a:schemeClr val="bg1"/>
                        </a:solidFill>
                        <a:latin typeface="+mn-ea"/>
                        <a:ea typeface="+mn-ea"/>
                      </a:endParaRPr>
                    </a:p>
                  </a:txBody>
                  <a:tcPr anchor="ctr"/>
                </a:tc>
                <a:extLst>
                  <a:ext uri="{0D108BD9-81ED-4DB2-BD59-A6C34878D82A}">
                    <a16:rowId xmlns:a16="http://schemas.microsoft.com/office/drawing/2014/main" val="10000"/>
                  </a:ext>
                </a:extLst>
              </a:tr>
              <a:tr h="265003">
                <a:tc>
                  <a:txBody>
                    <a:bodyPr/>
                    <a:lstStyle/>
                    <a:p>
                      <a:pPr algn="ctr"/>
                      <a:r>
                        <a:rPr lang="zh-TW" altLang="en-US" sz="1200" b="1" dirty="0">
                          <a:solidFill>
                            <a:schemeClr val="tx1"/>
                          </a:solidFill>
                        </a:rPr>
                        <a:t>長期評等</a:t>
                      </a:r>
                      <a:endParaRPr lang="zh-TW" altLang="en-US" sz="1200" b="1" dirty="0">
                        <a:solidFill>
                          <a:schemeClr val="tx1"/>
                        </a:solidFill>
                        <a:latin typeface="+mn-ea"/>
                        <a:ea typeface="+mn-ea"/>
                      </a:endParaRPr>
                    </a:p>
                  </a:txBody>
                  <a:tcPr anchor="ctr"/>
                </a:tc>
                <a:tc>
                  <a:txBody>
                    <a:bodyPr/>
                    <a:lstStyle/>
                    <a:p>
                      <a:pPr algn="ctr" fontAlgn="ctr"/>
                      <a:r>
                        <a:rPr lang="en-US" altLang="zh-TW" sz="1200" b="1" kern="1200" dirty="0" err="1">
                          <a:solidFill>
                            <a:schemeClr val="tx1"/>
                          </a:solidFill>
                          <a:latin typeface="微軟正黑體" panose="020B0604030504040204" pitchFamily="34" charset="-120"/>
                          <a:ea typeface="微軟正黑體" panose="020B0604030504040204" pitchFamily="34" charset="-120"/>
                          <a:cs typeface="+mn-cs"/>
                        </a:rPr>
                        <a:t>Aaa</a:t>
                      </a:r>
                      <a:endParaRPr lang="en-US" sz="1200" b="1" kern="1200" dirty="0">
                        <a:solidFill>
                          <a:schemeClr val="tx1"/>
                        </a:solidFill>
                        <a:latin typeface="微軟正黑體" panose="020B0604030504040204" pitchFamily="34" charset="-120"/>
                        <a:ea typeface="微軟正黑體" panose="020B0604030504040204" pitchFamily="34" charset="-120"/>
                        <a:cs typeface="+mn-cs"/>
                      </a:endParaRPr>
                    </a:p>
                  </a:txBody>
                  <a:tcPr marL="9527" marR="9527" marT="9524" marB="0" anchor="ctr"/>
                </a:tc>
                <a:tc>
                  <a:txBody>
                    <a:bodyPr/>
                    <a:lstStyle/>
                    <a:p>
                      <a:pPr marL="0" algn="ctr" defTabSz="914400" rtl="0" eaLnBrk="1" fontAlgn="ctr" latinLnBrk="0" hangingPunct="1"/>
                      <a:r>
                        <a:rPr lang="en-US" altLang="zh-TW" sz="1200" b="1" kern="1200" dirty="0">
                          <a:solidFill>
                            <a:schemeClr val="tx1"/>
                          </a:solidFill>
                          <a:latin typeface="微軟正黑體" panose="020B0604030504040204" pitchFamily="34" charset="-120"/>
                          <a:ea typeface="微軟正黑體" panose="020B0604030504040204" pitchFamily="34" charset="-120"/>
                          <a:cs typeface="+mn-cs"/>
                        </a:rPr>
                        <a:t>AA+</a:t>
                      </a:r>
                    </a:p>
                  </a:txBody>
                  <a:tcPr anchor="ctr"/>
                </a:tc>
                <a:tc>
                  <a:txBody>
                    <a:bodyPr/>
                    <a:lstStyle/>
                    <a:p>
                      <a:pPr algn="ctr" fontAlgn="ctr"/>
                      <a:r>
                        <a:rPr lang="en-US" altLang="zh-TW" sz="1200" b="1" kern="1200" dirty="0">
                          <a:solidFill>
                            <a:schemeClr val="tx1"/>
                          </a:solidFill>
                          <a:latin typeface="+mn-ea"/>
                          <a:ea typeface="+mn-ea"/>
                          <a:cs typeface="+mn-cs"/>
                        </a:rPr>
                        <a:t>--</a:t>
                      </a:r>
                    </a:p>
                  </a:txBody>
                  <a:tcPr marL="9527" marR="9527" marT="9524" marB="0" anchor="ctr"/>
                </a:tc>
                <a:extLst>
                  <a:ext uri="{0D108BD9-81ED-4DB2-BD59-A6C34878D82A}">
                    <a16:rowId xmlns:a16="http://schemas.microsoft.com/office/drawing/2014/main" val="10002"/>
                  </a:ext>
                </a:extLst>
              </a:tr>
              <a:tr h="274112">
                <a:tc>
                  <a:txBody>
                    <a:bodyPr/>
                    <a:lstStyle/>
                    <a:p>
                      <a:pPr algn="ctr"/>
                      <a:r>
                        <a:rPr lang="zh-TW" altLang="en-US" sz="1200" b="1" dirty="0">
                          <a:solidFill>
                            <a:schemeClr val="tx1"/>
                          </a:solidFill>
                        </a:rPr>
                        <a:t>評等展望</a:t>
                      </a:r>
                      <a:endParaRPr lang="zh-TW" altLang="en-US" sz="1200" b="1" dirty="0">
                        <a:solidFill>
                          <a:schemeClr val="tx1"/>
                        </a:solidFill>
                        <a:latin typeface="+mn-ea"/>
                        <a:ea typeface="+mn-ea"/>
                      </a:endParaRPr>
                    </a:p>
                  </a:txBody>
                  <a:tcPr anchor="ctr"/>
                </a:tc>
                <a:tc>
                  <a:txBody>
                    <a:bodyPr/>
                    <a:lstStyle/>
                    <a:p>
                      <a:pPr algn="ctr">
                        <a:lnSpc>
                          <a:spcPts val="1200"/>
                        </a:lnSpc>
                      </a:pPr>
                      <a:r>
                        <a:rPr lang="zh-TW" altLang="en-US" sz="1200" b="1" kern="1200" dirty="0">
                          <a:solidFill>
                            <a:schemeClr val="tx1"/>
                          </a:solidFill>
                          <a:latin typeface="微軟正黑體" panose="020B0604030504040204" pitchFamily="34" charset="-120"/>
                          <a:ea typeface="微軟正黑體" panose="020B0604030504040204" pitchFamily="34" charset="-120"/>
                          <a:cs typeface="+mn-cs"/>
                        </a:rPr>
                        <a:t>穩定</a:t>
                      </a:r>
                      <a:endParaRPr lang="en-US" altLang="zh-TW" sz="1200" b="1" kern="1200" dirty="0">
                        <a:solidFill>
                          <a:schemeClr val="tx1"/>
                        </a:solidFill>
                        <a:latin typeface="微軟正黑體" panose="020B0604030504040204" pitchFamily="34" charset="-120"/>
                        <a:ea typeface="微軟正黑體" panose="020B0604030504040204" pitchFamily="34" charset="-120"/>
                        <a:cs typeface="+mn-cs"/>
                      </a:endParaRPr>
                    </a:p>
                  </a:txBody>
                  <a:tcPr anchor="ctr"/>
                </a:tc>
                <a:tc>
                  <a:txBody>
                    <a:bodyPr/>
                    <a:lstStyle/>
                    <a:p>
                      <a:pPr algn="ctr">
                        <a:lnSpc>
                          <a:spcPts val="1200"/>
                        </a:lnSpc>
                      </a:pPr>
                      <a:r>
                        <a:rPr lang="zh-TW" altLang="en-US" sz="1200" b="1" kern="1200" dirty="0">
                          <a:solidFill>
                            <a:schemeClr val="tx1"/>
                          </a:solidFill>
                          <a:latin typeface="微軟正黑體" panose="020B0604030504040204" pitchFamily="34" charset="-120"/>
                          <a:ea typeface="微軟正黑體" panose="020B0604030504040204" pitchFamily="34" charset="-120"/>
                          <a:cs typeface="+mn-cs"/>
                        </a:rPr>
                        <a:t>穩定</a:t>
                      </a:r>
                      <a:endParaRPr lang="en-US" altLang="zh-TW" sz="1200" b="1" kern="1200" dirty="0">
                        <a:solidFill>
                          <a:schemeClr val="tx1"/>
                        </a:solidFill>
                        <a:latin typeface="微軟正黑體" panose="020B0604030504040204" pitchFamily="34" charset="-120"/>
                        <a:ea typeface="微軟正黑體" panose="020B0604030504040204" pitchFamily="34" charset="-120"/>
                        <a:cs typeface="+mn-cs"/>
                      </a:endParaRPr>
                    </a:p>
                  </a:txBody>
                  <a:tcPr anchor="ctr"/>
                </a:tc>
                <a:tc>
                  <a:txBody>
                    <a:bodyPr/>
                    <a:lstStyle/>
                    <a:p>
                      <a:pPr algn="ctr">
                        <a:lnSpc>
                          <a:spcPts val="1200"/>
                        </a:lnSpc>
                      </a:pPr>
                      <a:r>
                        <a:rPr lang="en-US" altLang="zh-TW" sz="1200" b="1" kern="1200" dirty="0">
                          <a:solidFill>
                            <a:schemeClr val="tx1"/>
                          </a:solidFill>
                          <a:latin typeface="+mn-ea"/>
                          <a:ea typeface="+mn-ea"/>
                          <a:cs typeface="+mn-cs"/>
                        </a:rPr>
                        <a:t>--</a:t>
                      </a:r>
                    </a:p>
                  </a:txBody>
                  <a:tcPr anchor="ctr"/>
                </a:tc>
                <a:extLst>
                  <a:ext uri="{0D108BD9-81ED-4DB2-BD59-A6C34878D82A}">
                    <a16:rowId xmlns:a16="http://schemas.microsoft.com/office/drawing/2014/main" val="1763409089"/>
                  </a:ext>
                </a:extLst>
              </a:tr>
              <a:tr h="246622">
                <a:tc>
                  <a:txBody>
                    <a:bodyPr/>
                    <a:lstStyle/>
                    <a:p>
                      <a:pPr algn="ctr"/>
                      <a:r>
                        <a:rPr lang="zh-TW" altLang="en-US" sz="1200" b="1" dirty="0">
                          <a:solidFill>
                            <a:schemeClr val="tx1"/>
                          </a:solidFill>
                        </a:rPr>
                        <a:t>展望生效日</a:t>
                      </a:r>
                      <a:endParaRPr lang="zh-TW" altLang="en-US" sz="1200" b="1" dirty="0">
                        <a:solidFill>
                          <a:schemeClr val="tx1"/>
                        </a:solidFill>
                        <a:latin typeface="+mn-ea"/>
                        <a:ea typeface="+mn-ea"/>
                      </a:endParaRPr>
                    </a:p>
                  </a:txBody>
                  <a:tcPr anchor="ctr"/>
                </a:tc>
                <a:tc>
                  <a:txBody>
                    <a:bodyPr/>
                    <a:lstStyle/>
                    <a:p>
                      <a:pPr algn="ctr">
                        <a:lnSpc>
                          <a:spcPts val="1200"/>
                        </a:lnSpc>
                      </a:pPr>
                      <a:r>
                        <a:rPr lang="en-US" altLang="zh-TW" sz="1200" b="1" kern="1200" dirty="0">
                          <a:solidFill>
                            <a:schemeClr val="tx1"/>
                          </a:solidFill>
                          <a:latin typeface="微軟正黑體" panose="020B0604030504040204" pitchFamily="34" charset="-120"/>
                          <a:ea typeface="微軟正黑體" panose="020B0604030504040204" pitchFamily="34" charset="-120"/>
                          <a:cs typeface="+mn-cs"/>
                        </a:rPr>
                        <a:t>2021/12/21</a:t>
                      </a:r>
                    </a:p>
                  </a:txBody>
                  <a:tcPr marL="9527" marR="9527" marT="9524" marB="0" anchor="ctr"/>
                </a:tc>
                <a:tc>
                  <a:txBody>
                    <a:bodyPr/>
                    <a:lstStyle/>
                    <a:p>
                      <a:pPr algn="ctr">
                        <a:lnSpc>
                          <a:spcPts val="1200"/>
                        </a:lnSpc>
                      </a:pPr>
                      <a:r>
                        <a:rPr lang="en-US" altLang="zh-TW" sz="1200" b="1" kern="1200" dirty="0">
                          <a:solidFill>
                            <a:schemeClr val="tx1"/>
                          </a:solidFill>
                          <a:latin typeface="微軟正黑體" panose="020B0604030504040204" pitchFamily="34" charset="-120"/>
                          <a:ea typeface="微軟正黑體" panose="020B0604030504040204" pitchFamily="34" charset="-120"/>
                          <a:cs typeface="+mn-cs"/>
                        </a:rPr>
                        <a:t>2013/4/23</a:t>
                      </a:r>
                    </a:p>
                  </a:txBody>
                  <a:tcPr anchor="ctr"/>
                </a:tc>
                <a:tc>
                  <a:txBody>
                    <a:bodyPr/>
                    <a:lstStyle/>
                    <a:p>
                      <a:pPr algn="ctr">
                        <a:lnSpc>
                          <a:spcPts val="1200"/>
                        </a:lnSpc>
                      </a:pPr>
                      <a:r>
                        <a:rPr lang="en-US" altLang="zh-TW" sz="1200" b="1" kern="1200" dirty="0">
                          <a:solidFill>
                            <a:schemeClr val="tx1"/>
                          </a:solidFill>
                          <a:latin typeface="+mn-ea"/>
                          <a:ea typeface="+mn-ea"/>
                          <a:cs typeface="+mn-cs"/>
                        </a:rPr>
                        <a:t>--</a:t>
                      </a:r>
                    </a:p>
                  </a:txBody>
                  <a:tcPr marL="9527" marR="9527" marT="9524" marB="0" anchor="ctr"/>
                </a:tc>
                <a:extLst>
                  <a:ext uri="{0D108BD9-81ED-4DB2-BD59-A6C34878D82A}">
                    <a16:rowId xmlns:a16="http://schemas.microsoft.com/office/drawing/2014/main" val="10003"/>
                  </a:ext>
                </a:extLst>
              </a:tr>
              <a:tr h="3782355">
                <a:tc gridSpan="4">
                  <a:txBody>
                    <a:bodyPr/>
                    <a:lstStyle/>
                    <a:p>
                      <a:pPr marL="171450" indent="-171450" algn="just" hangingPunct="0">
                        <a:lnSpc>
                          <a:spcPts val="1400"/>
                        </a:lnSpc>
                        <a:spcBef>
                          <a:spcPts val="300"/>
                        </a:spcBef>
                        <a:buFont typeface="Wingdings" panose="05000000000000000000" pitchFamily="2" charset="2"/>
                        <a:buChar char="n"/>
                      </a:pPr>
                      <a:r>
                        <a:rPr lang="zh-TW" altLang="en-US" sz="1100" b="1" dirty="0">
                          <a:latin typeface="微軟正黑體" panose="020B0604030504040204" pitchFamily="34" charset="-120"/>
                          <a:ea typeface="微軟正黑體" panose="020B0604030504040204" pitchFamily="34" charset="-120"/>
                        </a:rPr>
                        <a:t>標普於</a:t>
                      </a:r>
                      <a:r>
                        <a:rPr lang="en-US" altLang="zh-TW" sz="1100" b="1" dirty="0">
                          <a:latin typeface="微軟正黑體" panose="020B0604030504040204" pitchFamily="34" charset="-120"/>
                          <a:ea typeface="微軟正黑體" panose="020B0604030504040204" pitchFamily="34" charset="-120"/>
                        </a:rPr>
                        <a:t>2025/5/21</a:t>
                      </a:r>
                      <a:r>
                        <a:rPr lang="zh-TW" altLang="en-US" sz="1100" b="1" dirty="0">
                          <a:latin typeface="微軟正黑體" panose="020B0604030504040204" pitchFamily="34" charset="-120"/>
                          <a:ea typeface="微軟正黑體" panose="020B0604030504040204" pitchFamily="34" charset="-120"/>
                        </a:rPr>
                        <a:t>發布對蘋果的全面分析，評等維持</a:t>
                      </a:r>
                      <a:r>
                        <a:rPr lang="en-US" altLang="zh-TW" sz="1100" b="1" dirty="0">
                          <a:latin typeface="微軟正黑體" panose="020B0604030504040204" pitchFamily="34" charset="-120"/>
                          <a:ea typeface="微軟正黑體" panose="020B0604030504040204" pitchFamily="34" charset="-120"/>
                        </a:rPr>
                        <a:t>AA+</a:t>
                      </a:r>
                      <a:r>
                        <a:rPr lang="zh-TW" altLang="en-US" sz="1100" b="1" dirty="0">
                          <a:latin typeface="微軟正黑體" panose="020B0604030504040204" pitchFamily="34" charset="-120"/>
                          <a:ea typeface="微軟正黑體" panose="020B0604030504040204" pitchFamily="34" charset="-120"/>
                        </a:rPr>
                        <a:t>，展望為穩定。</a:t>
                      </a:r>
                      <a:endParaRPr lang="en-US" altLang="zh-TW" sz="1100" b="1" dirty="0">
                        <a:latin typeface="微軟正黑體" panose="020B0604030504040204" pitchFamily="34" charset="-120"/>
                        <a:ea typeface="微軟正黑體" panose="020B0604030504040204" pitchFamily="34" charset="-120"/>
                      </a:endParaRPr>
                    </a:p>
                    <a:p>
                      <a:pPr marL="0" indent="0" algn="just" hangingPunct="0">
                        <a:lnSpc>
                          <a:spcPts val="1400"/>
                        </a:lnSpc>
                        <a:spcBef>
                          <a:spcPts val="300"/>
                        </a:spcBef>
                        <a:buFont typeface="Wingdings" panose="05000000000000000000" pitchFamily="2" charset="2"/>
                        <a:buNone/>
                      </a:pP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受惠強勁的消費者需求、高利潤服務部門的強勁增長、</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iPhone</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升級用戶雙位數成長，以及美國關稅措施下審慎的庫存管理，帶動</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1HFY25(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截至</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3/29)</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營收年增</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4.4%</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，另外，受惠服務收入的低雙位數百分比成長，標普預期蘋果於</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財年營收將溫和成長</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3%</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左右，反映活躍安裝基數持續擴大，以及</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iPad</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和</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Mac</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的低至中個位數增長，即將推出的新品包括</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M5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系列產品將支持此點，惟鑒於不斷變化的關稅政策，標普對</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iPhone</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銷量持謹慎態度，儘管蘋果一直透過擴大在印度和越南的生產來實現製造基地的多元化，但考量供應鏈的規模與複雜度，該轉變需要時間，且若蘋果將更高的成本轉嫁給客戶，將延長</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iPhone</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更換週期，在中國的銷售也將在長期內面臨風險。</a:t>
                      </a:r>
                      <a:endParaRPr lang="en-US" altLang="zh-TW" sz="1100" b="0" kern="1200" dirty="0">
                        <a:solidFill>
                          <a:schemeClr val="tx1"/>
                        </a:solidFill>
                        <a:latin typeface="微軟正黑體" panose="020B0604030504040204" pitchFamily="34" charset="-120"/>
                        <a:ea typeface="微軟正黑體" panose="020B0604030504040204" pitchFamily="34" charset="-120"/>
                        <a:cs typeface="+mn-cs"/>
                      </a:endParaRPr>
                    </a:p>
                    <a:p>
                      <a:pPr marL="0" indent="0" algn="just" hangingPunct="0">
                        <a:lnSpc>
                          <a:spcPts val="1400"/>
                        </a:lnSpc>
                        <a:spcBef>
                          <a:spcPts val="300"/>
                        </a:spcBef>
                        <a:buFont typeface="Wingdings" panose="05000000000000000000" pitchFamily="2" charset="2"/>
                        <a:buNone/>
                      </a:pP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儘管如此，標普預期利潤率較高的服務部門</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約佔營收的</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27%)</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，將抵銷關稅對蘋果利潤率產生的溫和影響，從而使</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年與</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2026</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財年的</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EBITDA</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利潤率接近</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38%</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，標普相信蘋果可以透過將成本轉嫁給客戶、增加服務收入的比重，以及嚴格的成本管理來維持長期利潤率，另外，也預期蘋果將持續擁有大量可用流動資金投資供應鏈、返還股東，同時將調整後槓桿率保持在</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1</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倍以下水準。</a:t>
                      </a:r>
                      <a:endParaRPr lang="en-US" altLang="zh-TW" sz="1100" b="0" kern="1200" dirty="0">
                        <a:solidFill>
                          <a:schemeClr val="tx1"/>
                        </a:solidFill>
                        <a:latin typeface="微軟正黑體" panose="020B0604030504040204" pitchFamily="34" charset="-120"/>
                        <a:ea typeface="微軟正黑體" panose="020B0604030504040204" pitchFamily="34" charset="-120"/>
                        <a:cs typeface="+mn-cs"/>
                      </a:endParaRPr>
                    </a:p>
                    <a:p>
                      <a:pPr marL="171450" indent="-171450" algn="just" hangingPunct="0">
                        <a:lnSpc>
                          <a:spcPts val="1400"/>
                        </a:lnSpc>
                        <a:spcBef>
                          <a:spcPts val="300"/>
                        </a:spcBef>
                        <a:buFont typeface="Wingdings" panose="05000000000000000000" pitchFamily="2" charset="2"/>
                        <a:buChar char="n"/>
                      </a:pPr>
                      <a:r>
                        <a:rPr lang="zh-TW" altLang="en-US" sz="1100" b="1" kern="1200" dirty="0">
                          <a:solidFill>
                            <a:schemeClr val="tx1"/>
                          </a:solidFill>
                          <a:latin typeface="微軟正黑體" panose="020B0604030504040204" pitchFamily="34" charset="-120"/>
                          <a:ea typeface="微軟正黑體" panose="020B0604030504040204" pitchFamily="34" charset="-120"/>
                          <a:cs typeface="+mn-cs"/>
                        </a:rPr>
                        <a:t>穆迪於</a:t>
                      </a:r>
                      <a:r>
                        <a:rPr lang="en-US" altLang="zh-TW" sz="1100" b="1" kern="1200" dirty="0">
                          <a:solidFill>
                            <a:schemeClr val="tx1"/>
                          </a:solidFill>
                          <a:latin typeface="微軟正黑體" panose="020B0604030504040204" pitchFamily="34" charset="-120"/>
                          <a:ea typeface="微軟正黑體" panose="020B0604030504040204" pitchFamily="34" charset="-120"/>
                          <a:cs typeface="+mn-cs"/>
                        </a:rPr>
                        <a:t>2025/11/3</a:t>
                      </a:r>
                      <a:r>
                        <a:rPr lang="zh-TW" altLang="en-US" sz="1100" b="1" kern="1200" dirty="0">
                          <a:solidFill>
                            <a:schemeClr val="tx1"/>
                          </a:solidFill>
                          <a:latin typeface="微軟正黑體" panose="020B0604030504040204" pitchFamily="34" charset="-120"/>
                          <a:ea typeface="微軟正黑體" panose="020B0604030504040204" pitchFamily="34" charset="-120"/>
                          <a:cs typeface="+mn-cs"/>
                        </a:rPr>
                        <a:t>重申蘋果優先無擔保債務評等為</a:t>
                      </a:r>
                      <a:r>
                        <a:rPr lang="en-US" altLang="zh-TW" sz="1100" b="1" kern="1200" dirty="0" err="1">
                          <a:solidFill>
                            <a:schemeClr val="tx1"/>
                          </a:solidFill>
                          <a:latin typeface="微軟正黑體" panose="020B0604030504040204" pitchFamily="34" charset="-120"/>
                          <a:ea typeface="微軟正黑體" panose="020B0604030504040204" pitchFamily="34" charset="-120"/>
                          <a:cs typeface="+mn-cs"/>
                        </a:rPr>
                        <a:t>Aaa</a:t>
                      </a:r>
                      <a:r>
                        <a:rPr lang="zh-TW" altLang="en-US" sz="1100" b="1" kern="1200" dirty="0">
                          <a:solidFill>
                            <a:schemeClr val="tx1"/>
                          </a:solidFill>
                          <a:latin typeface="微軟正黑體" panose="020B0604030504040204" pitchFamily="34" charset="-120"/>
                          <a:ea typeface="微軟正黑體" panose="020B0604030504040204" pitchFamily="34" charset="-120"/>
                          <a:cs typeface="+mn-cs"/>
                        </a:rPr>
                        <a:t>，展望穩定。</a:t>
                      </a:r>
                    </a:p>
                    <a:p>
                      <a:pPr marL="0" indent="0" algn="just" hangingPunct="0">
                        <a:lnSpc>
                          <a:spcPts val="1400"/>
                        </a:lnSpc>
                        <a:spcBef>
                          <a:spcPts val="300"/>
                        </a:spcBef>
                        <a:buFont typeface="Wingdings" panose="05000000000000000000" pitchFamily="2" charset="2"/>
                        <a:buNone/>
                      </a:pP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評等的重申與穩定的展望反映蘋果強勁的業務狀況、穩健的獲利能力和卓越的流動性。該公司龐大的全球設備與服務用戶，推動其高利潤服務業務實現雙位數的收入成長，其高端品牌定位和忠實的客戶群共同造就了其行業領先的獲利能力。蘋果在創新、設計和技術整合方面擁有強大的實力，能夠有效競爭並提供差異化的產品與服務。公司穩健的財務狀況提供了很大的財務和營運靈活性，其信用風險源自於全球監管力道上升，以及其供應鏈夥伴位於台灣和中國大陸，加劇了</a:t>
                      </a:r>
                      <a:r>
                        <a:rPr lang="zh-TW" altLang="en-US" sz="1100" b="0" kern="1200">
                          <a:solidFill>
                            <a:schemeClr val="tx1"/>
                          </a:solidFill>
                          <a:latin typeface="微軟正黑體" panose="020B0604030504040204" pitchFamily="34" charset="-120"/>
                          <a:ea typeface="微軟正黑體" panose="020B0604030504040204" pitchFamily="34" charset="-120"/>
                          <a:cs typeface="+mn-cs"/>
                        </a:rPr>
                        <a:t>中美貿易緊張</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局勢下的經營風險。蘋果面臨著產品週期短、不斷變化的消費者偏好以及管理龐大而複雜的供應鏈等執行風險。</a:t>
                      </a:r>
                      <a:endParaRPr lang="en-US" altLang="zh-TW" sz="1100" b="0" kern="1200" dirty="0">
                        <a:solidFill>
                          <a:schemeClr val="tx1"/>
                        </a:solidFill>
                        <a:latin typeface="微軟正黑體" panose="020B0604030504040204" pitchFamily="34" charset="-120"/>
                        <a:ea typeface="微軟正黑體" panose="020B0604030504040204" pitchFamily="34" charset="-120"/>
                        <a:cs typeface="+mn-cs"/>
                      </a:endParaRPr>
                    </a:p>
                  </a:txBody>
                  <a:tcP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marL="285750" indent="-285750" algn="l">
                        <a:buFont typeface="Wingdings" panose="05000000000000000000" pitchFamily="2" charset="2"/>
                        <a:buChar char="n"/>
                      </a:pPr>
                      <a:endParaRPr lang="zh-TW" altLang="en-US" sz="14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004"/>
                  </a:ext>
                </a:extLst>
              </a:tr>
            </a:tbl>
          </a:graphicData>
        </a:graphic>
      </p:graphicFrame>
      <p:pic>
        <p:nvPicPr>
          <p:cNvPr id="14" name="圖片 13"/>
          <p:cNvPicPr>
            <a:picLocks noChangeAspect="1"/>
          </p:cNvPicPr>
          <p:nvPr/>
        </p:nvPicPr>
        <p:blipFill>
          <a:blip r:embed="rId3">
            <a:clrChange>
              <a:clrFrom>
                <a:srgbClr val="FFFFFF"/>
              </a:clrFrom>
              <a:clrTo>
                <a:srgbClr val="FFFFFF">
                  <a:alpha val="0"/>
                </a:srgbClr>
              </a:clrTo>
            </a:clrChange>
          </a:blip>
          <a:stretch>
            <a:fillRect/>
          </a:stretch>
        </p:blipFill>
        <p:spPr>
          <a:xfrm>
            <a:off x="8195400" y="246966"/>
            <a:ext cx="688038" cy="589746"/>
          </a:xfrm>
          <a:prstGeom prst="rect">
            <a:avLst/>
          </a:prstGeom>
        </p:spPr>
      </p:pic>
      <p:sp>
        <p:nvSpPr>
          <p:cNvPr id="18" name="圓角矩形 31">
            <a:extLst>
              <a:ext uri="{FF2B5EF4-FFF2-40B4-BE49-F238E27FC236}">
                <a16:creationId xmlns:a16="http://schemas.microsoft.com/office/drawing/2014/main" id="{7A4C8FE5-D61E-4CEF-9E64-3604283C95D8}"/>
              </a:ext>
            </a:extLst>
          </p:cNvPr>
          <p:cNvSpPr/>
          <p:nvPr/>
        </p:nvSpPr>
        <p:spPr>
          <a:xfrm>
            <a:off x="5271949" y="857352"/>
            <a:ext cx="3648711"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標普預期利潤率持續攀升</a:t>
            </a:r>
          </a:p>
        </p:txBody>
      </p:sp>
      <p:pic>
        <p:nvPicPr>
          <p:cNvPr id="19" name="Picture 2" descr="S&amp;P Global Ratings Logo PNG Vector (SVG) Free Downloa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87957" y="1522472"/>
            <a:ext cx="485090" cy="223929"/>
          </a:xfrm>
          <a:prstGeom prst="rect">
            <a:avLst/>
          </a:prstGeom>
          <a:noFill/>
          <a:extLst>
            <a:ext uri="{909E8E84-426E-40DD-AFC4-6F175D3DCCD1}">
              <a14:hiddenFill xmlns:a14="http://schemas.microsoft.com/office/drawing/2010/main">
                <a:solidFill>
                  <a:srgbClr val="FFFFFF"/>
                </a:solidFill>
              </a14:hiddenFill>
            </a:ext>
          </a:extLst>
        </p:spPr>
      </p:pic>
      <p:sp>
        <p:nvSpPr>
          <p:cNvPr id="23" name="文字方塊 22"/>
          <p:cNvSpPr txBox="1"/>
          <p:nvPr/>
        </p:nvSpPr>
        <p:spPr>
          <a:xfrm>
            <a:off x="7673047" y="2458879"/>
            <a:ext cx="1269669" cy="215444"/>
          </a:xfrm>
          <a:prstGeom prst="rect">
            <a:avLst/>
          </a:prstGeom>
          <a:noFill/>
        </p:spPr>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資料日期：</a:t>
            </a:r>
            <a:r>
              <a:rPr lang="en-US" altLang="zh-TW" sz="800" dirty="0">
                <a:latin typeface="微軟正黑體" panose="020B0604030504040204" pitchFamily="34" charset="-120"/>
                <a:ea typeface="微軟正黑體" panose="020B0604030504040204" pitchFamily="34" charset="-120"/>
              </a:rPr>
              <a:t>2026/4/9</a:t>
            </a:r>
            <a:endParaRPr lang="zh-TW" altLang="en-US" sz="800" dirty="0">
              <a:latin typeface="微軟正黑體" panose="020B0604030504040204" pitchFamily="34" charset="-120"/>
              <a:ea typeface="微軟正黑體" panose="020B0604030504040204" pitchFamily="34" charset="-120"/>
            </a:endParaRPr>
          </a:p>
        </p:txBody>
      </p:sp>
      <p:graphicFrame>
        <p:nvGraphicFramePr>
          <p:cNvPr id="30" name="圖表 29"/>
          <p:cNvGraphicFramePr/>
          <p:nvPr>
            <p:extLst>
              <p:ext uri="{D42A27DB-BD31-4B8C-83A1-F6EECF244321}">
                <p14:modId xmlns:p14="http://schemas.microsoft.com/office/powerpoint/2010/main" val="3124286519"/>
              </p:ext>
            </p:extLst>
          </p:nvPr>
        </p:nvGraphicFramePr>
        <p:xfrm>
          <a:off x="5289143" y="3396200"/>
          <a:ext cx="3600857" cy="1370001"/>
        </p:xfrm>
        <a:graphic>
          <a:graphicData uri="http://schemas.openxmlformats.org/drawingml/2006/chart">
            <c:chart xmlns:c="http://schemas.openxmlformats.org/drawingml/2006/chart" xmlns:r="http://schemas.openxmlformats.org/officeDocument/2006/relationships" r:id="rId5"/>
          </a:graphicData>
        </a:graphic>
      </p:graphicFrame>
      <p:sp>
        <p:nvSpPr>
          <p:cNvPr id="31" name="圓角矩形 35">
            <a:extLst>
              <a:ext uri="{FF2B5EF4-FFF2-40B4-BE49-F238E27FC236}">
                <a16:creationId xmlns:a16="http://schemas.microsoft.com/office/drawing/2014/main" id="{E2B5FB6A-3899-44D9-B52A-0EB588C03DFB}"/>
              </a:ext>
            </a:extLst>
          </p:cNvPr>
          <p:cNvSpPr/>
          <p:nvPr/>
        </p:nvSpPr>
        <p:spPr>
          <a:xfrm>
            <a:off x="5276360" y="3040318"/>
            <a:ext cx="3644973" cy="32757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強勁的盈利能力驅動蘋果現金生成</a:t>
            </a:r>
          </a:p>
        </p:txBody>
      </p:sp>
      <p:sp>
        <p:nvSpPr>
          <p:cNvPr id="32" name="文字方塊 31"/>
          <p:cNvSpPr txBox="1"/>
          <p:nvPr/>
        </p:nvSpPr>
        <p:spPr>
          <a:xfrm>
            <a:off x="5172908" y="3352859"/>
            <a:ext cx="911260" cy="253916"/>
          </a:xfrm>
          <a:prstGeom prst="rect">
            <a:avLst/>
          </a:prstGeom>
          <a:noFill/>
        </p:spPr>
        <p:txBody>
          <a:bodyPr wrap="square" rtlCol="0">
            <a:spAutoFit/>
          </a:bodyPr>
          <a:lstStyle/>
          <a:p>
            <a:pPr algn="ctr"/>
            <a:r>
              <a:rPr lang="en-US" altLang="zh-TW" sz="105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050" b="1" dirty="0">
                <a:solidFill>
                  <a:schemeClr val="tx1">
                    <a:lumMod val="75000"/>
                    <a:lumOff val="25000"/>
                  </a:schemeClr>
                </a:solidFill>
                <a:latin typeface="微軟正黑體" panose="020B0604030504040204" pitchFamily="34" charset="-120"/>
                <a:ea typeface="微軟正黑體" panose="020B0604030504040204" pitchFamily="34" charset="-120"/>
              </a:rPr>
              <a:t>百萬</a:t>
            </a:r>
            <a:r>
              <a:rPr lang="en-US" altLang="zh-TW" sz="1050" b="1" dirty="0">
                <a:solidFill>
                  <a:schemeClr val="tx1">
                    <a:lumMod val="75000"/>
                    <a:lumOff val="25000"/>
                  </a:schemeClr>
                </a:solidFill>
                <a:latin typeface="微軟正黑體" panose="020B0604030504040204" pitchFamily="34" charset="-120"/>
                <a:ea typeface="微軟正黑體" panose="020B0604030504040204" pitchFamily="34" charset="-120"/>
              </a:rPr>
              <a:t>USD)</a:t>
            </a:r>
            <a:endParaRPr lang="zh-TW" altLang="en-US" sz="105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33" name="圖表 32"/>
          <p:cNvGraphicFramePr/>
          <p:nvPr>
            <p:extLst>
              <p:ext uri="{D42A27DB-BD31-4B8C-83A1-F6EECF244321}">
                <p14:modId xmlns:p14="http://schemas.microsoft.com/office/powerpoint/2010/main" val="2844444021"/>
              </p:ext>
            </p:extLst>
          </p:nvPr>
        </p:nvGraphicFramePr>
        <p:xfrm>
          <a:off x="5286611" y="5180321"/>
          <a:ext cx="3600857" cy="1245997"/>
        </p:xfrm>
        <a:graphic>
          <a:graphicData uri="http://schemas.openxmlformats.org/drawingml/2006/chart">
            <c:chart xmlns:c="http://schemas.openxmlformats.org/drawingml/2006/chart" xmlns:r="http://schemas.openxmlformats.org/officeDocument/2006/relationships" r:id="rId6"/>
          </a:graphicData>
        </a:graphic>
      </p:graphicFrame>
      <p:sp>
        <p:nvSpPr>
          <p:cNvPr id="34" name="圓角矩形 35">
            <a:extLst>
              <a:ext uri="{FF2B5EF4-FFF2-40B4-BE49-F238E27FC236}">
                <a16:creationId xmlns:a16="http://schemas.microsoft.com/office/drawing/2014/main" id="{E2B5FB6A-3899-44D9-B52A-0EB588C03DFB}"/>
              </a:ext>
            </a:extLst>
          </p:cNvPr>
          <p:cNvSpPr/>
          <p:nvPr/>
        </p:nvSpPr>
        <p:spPr>
          <a:xfrm>
            <a:off x="5271950" y="4852760"/>
            <a:ext cx="3648710" cy="32757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淨債務槓桿為負值彰顯優異的財務穩健性</a:t>
            </a:r>
          </a:p>
        </p:txBody>
      </p:sp>
      <p:sp>
        <p:nvSpPr>
          <p:cNvPr id="35" name="文字方塊 34"/>
          <p:cNvSpPr txBox="1"/>
          <p:nvPr/>
        </p:nvSpPr>
        <p:spPr>
          <a:xfrm>
            <a:off x="5170376" y="5174908"/>
            <a:ext cx="911260" cy="253916"/>
          </a:xfrm>
          <a:prstGeom prst="rect">
            <a:avLst/>
          </a:prstGeom>
          <a:noFill/>
        </p:spPr>
        <p:txBody>
          <a:bodyPr wrap="square" rtlCol="0">
            <a:spAutoFit/>
          </a:bodyPr>
          <a:lstStyle/>
          <a:p>
            <a:pPr algn="ctr"/>
            <a:r>
              <a:rPr lang="en-US" altLang="zh-TW" sz="105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050" b="1" dirty="0">
                <a:solidFill>
                  <a:schemeClr val="tx1">
                    <a:lumMod val="75000"/>
                    <a:lumOff val="25000"/>
                  </a:schemeClr>
                </a:solidFill>
                <a:latin typeface="微軟正黑體" panose="020B0604030504040204" pitchFamily="34" charset="-120"/>
                <a:ea typeface="微軟正黑體" panose="020B0604030504040204" pitchFamily="34" charset="-120"/>
              </a:rPr>
              <a:t>倍</a:t>
            </a:r>
            <a:r>
              <a:rPr lang="en-US" altLang="zh-TW" sz="105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zh-TW" altLang="en-US" sz="105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386892315"/>
      </p:ext>
    </p:extLst>
  </p:cSld>
  <p:clrMapOvr>
    <a:masterClrMapping/>
  </p:clrMapOvr>
  <mc:AlternateContent xmlns:mc="http://schemas.openxmlformats.org/markup-compatibility/2006">
    <mc:Choice xmlns:p14="http://schemas.microsoft.com/office/powerpoint/2010/main" Requires="p14">
      <p:transition spd="slow" p14:dur="2000" advTm="31903"/>
    </mc:Choice>
    <mc:Fallback>
      <p:transition spd="slow" advTm="3190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18013" y="1484785"/>
            <a:ext cx="7992888" cy="1338828"/>
          </a:xfrm>
          <a:prstGeom prst="rect">
            <a:avLst/>
          </a:prstGeom>
        </p:spPr>
        <p:txBody>
          <a:bodyPr wrap="square">
            <a:spAutoFit/>
          </a:bodyPr>
          <a:lstStyle/>
          <a:p>
            <a:pPr algn="just"/>
            <a:r>
              <a:rPr lang="zh-TW" altLang="zh-TW" sz="1350" b="1" dirty="0">
                <a:solidFill>
                  <a:srgbClr val="C92223"/>
                </a:solidFill>
                <a:latin typeface="微軟正黑體" pitchFamily="34" charset="-120"/>
                <a:ea typeface="微軟正黑體" pitchFamily="34" charset="-120"/>
              </a:rPr>
              <a:t>免責宣言說明</a:t>
            </a:r>
            <a:endParaRPr lang="en-US" altLang="zh-TW" sz="1350" b="1" dirty="0">
              <a:solidFill>
                <a:srgbClr val="C92223"/>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本報告所載內容僅供參考，台新綜合證券</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股</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公司不保證其正確性及完整性。內容如涉及任何有價證券或金融市場商品相關記載或說明，並不構成要約、招攬、宣傳、建議或推薦買賣等任何形式之表示，任何人如參考本報告後，所進行相關投資行為或交易，應自行承擔所有損益，本公司並不負任何法律責任。此外，非經本公司同意，不得將本報告內容之一部或全部加以複製、轉載或散布。</a:t>
            </a:r>
          </a:p>
        </p:txBody>
      </p:sp>
    </p:spTree>
    <p:extLst>
      <p:ext uri="{BB962C8B-B14F-4D97-AF65-F5344CB8AC3E}">
        <p14:creationId xmlns:p14="http://schemas.microsoft.com/office/powerpoint/2010/main" val="3532227976"/>
      </p:ext>
    </p:extLst>
  </p:cSld>
  <p:clrMapOvr>
    <a:masterClrMapping/>
  </p:clrMapOvr>
  <mc:AlternateContent xmlns:mc="http://schemas.openxmlformats.org/markup-compatibility/2006">
    <mc:Choice xmlns:p14="http://schemas.microsoft.com/office/powerpoint/2010/main" Requires="p14">
      <p:transition spd="slow" p14:dur="2000" advTm="15649"/>
    </mc:Choice>
    <mc:Fallback>
      <p:transition spd="slow" advTm="15649"/>
    </mc:Fallback>
  </mc:AlternateContent>
</p:sld>
</file>

<file path=ppt/theme/theme1.xml><?xml version="1.0" encoding="utf-8"?>
<a:theme xmlns:a="http://schemas.openxmlformats.org/drawingml/2006/main" name="報告佈景主題PPT">
  <a:themeElements>
    <a:clrScheme name="複委託4">
      <a:dk1>
        <a:srgbClr val="000000"/>
      </a:dk1>
      <a:lt1>
        <a:srgbClr val="FFFFFF"/>
      </a:lt1>
      <a:dk2>
        <a:srgbClr val="7F7F7F"/>
      </a:dk2>
      <a:lt2>
        <a:srgbClr val="C00000"/>
      </a:lt2>
      <a:accent1>
        <a:srgbClr val="C95E0D"/>
      </a:accent1>
      <a:accent2>
        <a:srgbClr val="704C61"/>
      </a:accent2>
      <a:accent3>
        <a:srgbClr val="C0CBD1"/>
      </a:accent3>
      <a:accent4>
        <a:srgbClr val="8994A6"/>
      </a:accent4>
      <a:accent5>
        <a:srgbClr val="C39E64"/>
      </a:accent5>
      <a:accent6>
        <a:srgbClr val="B8B1A7"/>
      </a:accent6>
      <a:hlink>
        <a:srgbClr val="0070C0"/>
      </a:hlink>
      <a:folHlink>
        <a:srgbClr val="000000"/>
      </a:folHlink>
    </a:clrScheme>
    <a:fontScheme name="台新投顧">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6614</TotalTime>
  <Words>2558</Words>
  <Application>Microsoft Office PowerPoint</Application>
  <PresentationFormat>如螢幕大小 (4:3)</PresentationFormat>
  <Paragraphs>266</Paragraphs>
  <Slides>6</Slides>
  <Notes>3</Notes>
  <HiddenSlides>0</HiddenSlides>
  <MMClips>1</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6</vt:i4>
      </vt:variant>
    </vt:vector>
  </HeadingPairs>
  <TitlesOfParts>
    <vt:vector size="15" baseType="lpstr">
      <vt:lpstr>Bricolage Grotesque</vt:lpstr>
      <vt:lpstr>jf金萱那提2.0 六分糖</vt:lpstr>
      <vt:lpstr>微軟正黑體</vt:lpstr>
      <vt:lpstr>Arial</vt:lpstr>
      <vt:lpstr>Calibri</vt:lpstr>
      <vt:lpstr>Open Sans</vt:lpstr>
      <vt:lpstr>Verdana</vt:lpstr>
      <vt:lpstr>Wingdings</vt:lpstr>
      <vt:lpstr>報告佈景主題PPT</vt:lpstr>
      <vt:lpstr>蘋果公司</vt:lpstr>
      <vt:lpstr>PowerPoint 簡報</vt:lpstr>
      <vt:lpstr>全球智慧手機營收及利潤雙冠王</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台新B2B Team</dc:creator>
  <cp:lastModifiedBy>Chang Kevin</cp:lastModifiedBy>
  <cp:revision>11373</cp:revision>
  <cp:lastPrinted>2021-03-31T07:17:07Z</cp:lastPrinted>
  <dcterms:created xsi:type="dcterms:W3CDTF">2013-05-02T15:04:30Z</dcterms:created>
  <dcterms:modified xsi:type="dcterms:W3CDTF">2026-04-13T03:41:26Z</dcterms:modified>
</cp:coreProperties>
</file>