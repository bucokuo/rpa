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charts/chart4.xml" ContentType="application/vnd.openxmlformats-officedocument.drawingml.chart+xml"/>
  <Override PartName="/ppt/charts/chart5.xml" ContentType="application/vnd.openxmlformats-officedocument.drawingml.chart+xml"/>
  <Override PartName="/ppt/notesSlides/notesSlide3.xml" ContentType="application/vnd.openxmlformats-officedocument.presentationml.notesSlide+xml"/>
  <Override PartName="/ppt/charts/chart6.xml" ContentType="application/vnd.openxmlformats-officedocument.drawingml.chart+xml"/>
  <Override PartName="/ppt/drawings/drawing1.xml" ContentType="application/vnd.openxmlformats-officedocument.drawingml.chartshapes+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notesMasterIdLst>
    <p:notesMasterId r:id="rId7"/>
  </p:notesMasterIdLst>
  <p:handoutMasterIdLst>
    <p:handoutMasterId r:id="rId8"/>
  </p:handoutMasterIdLst>
  <p:sldIdLst>
    <p:sldId id="1358" r:id="rId2"/>
    <p:sldId id="1359" r:id="rId3"/>
    <p:sldId id="1364" r:id="rId4"/>
    <p:sldId id="1365" r:id="rId5"/>
    <p:sldId id="1338" r:id="rId6"/>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A71824B8-F3CE-4E38-AD2B-803D36CA02E5}">
          <p14:sldIdLst>
            <p14:sldId id="1358"/>
            <p14:sldId id="1359"/>
            <p14:sldId id="1364"/>
            <p14:sldId id="1365"/>
            <p14:sldId id="1338"/>
          </p14:sldIdLst>
        </p14:section>
      </p14:sectionLst>
    </p:ext>
    <p:ext uri="{EFAFB233-063F-42B5-8137-9DF3F51BA10A}">
      <p15:sldGuideLst xmlns:p15="http://schemas.microsoft.com/office/powerpoint/2012/main">
        <p15:guide id="1" orient="horz" pos="2160" userDrawn="1">
          <p15:clr>
            <a:srgbClr val="A4A3A4"/>
          </p15:clr>
        </p15:guide>
        <p15:guide id="2" orient="horz" pos="482" userDrawn="1">
          <p15:clr>
            <a:srgbClr val="A4A3A4"/>
          </p15:clr>
        </p15:guide>
        <p15:guide id="3" orient="horz" pos="590" userDrawn="1">
          <p15:clr>
            <a:srgbClr val="A4A3A4"/>
          </p15:clr>
        </p15:guide>
        <p15:guide id="4" pos="2880" userDrawn="1">
          <p15:clr>
            <a:srgbClr val="A4A3A4"/>
          </p15:clr>
        </p15:guide>
        <p15:guide id="5" pos="295" userDrawn="1">
          <p15:clr>
            <a:srgbClr val="A4A3A4"/>
          </p15:clr>
        </p15:guide>
        <p15:guide id="6" pos="5468" userDrawn="1">
          <p15:clr>
            <a:srgbClr val="A4A3A4"/>
          </p15:clr>
        </p15:guide>
        <p15:guide id="7" orient="horz" pos="1071" userDrawn="1">
          <p15:clr>
            <a:srgbClr val="A4A3A4"/>
          </p15:clr>
        </p15:guide>
        <p15:guide id="8" pos="5465"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guide id="3" orient="horz" pos="3130" userDrawn="1">
          <p15:clr>
            <a:srgbClr val="A4A3A4"/>
          </p15:clr>
        </p15:guide>
        <p15:guide id="4"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建宇 陳" initials="建宇"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BFBFBF"/>
    <a:srgbClr val="D9D9D9"/>
    <a:srgbClr val="A6A6A6"/>
    <a:srgbClr val="C80000"/>
    <a:srgbClr val="F9F9F9"/>
    <a:srgbClr val="FFF7F7"/>
    <a:srgbClr val="FFEFEF"/>
    <a:srgbClr val="383838"/>
    <a:srgbClr val="5858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淺色樣式 2 - 輔色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2DE63D5-997A-4646-A377-4702673A728D}" styleName="淺色樣式 2 - 輔色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淺色樣式 2 - 輔色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83636" autoAdjust="0"/>
  </p:normalViewPr>
  <p:slideViewPr>
    <p:cSldViewPr showGuides="1">
      <p:cViewPr>
        <p:scale>
          <a:sx n="100" d="100"/>
          <a:sy n="100" d="100"/>
        </p:scale>
        <p:origin x="792" y="18"/>
      </p:cViewPr>
      <p:guideLst>
        <p:guide orient="horz" pos="2160"/>
        <p:guide orient="horz" pos="482"/>
        <p:guide orient="horz" pos="590"/>
        <p:guide pos="2880"/>
        <p:guide pos="295"/>
        <p:guide pos="5468"/>
        <p:guide orient="horz" pos="1071"/>
        <p:guide pos="546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p:cViewPr varScale="1">
        <p:scale>
          <a:sx n="80" d="100"/>
          <a:sy n="80" d="100"/>
        </p:scale>
        <p:origin x="-3996" y="-96"/>
      </p:cViewPr>
      <p:guideLst>
        <p:guide orient="horz" pos="3126"/>
        <p:guide pos="2141"/>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4.528289864455614E-2"/>
          <c:y val="3.068370296725904E-2"/>
          <c:w val="0.58767466710805683"/>
          <c:h val="0.96931629703274091"/>
        </c:manualLayout>
      </c:layout>
      <c:doughnutChart>
        <c:varyColors val="1"/>
        <c:ser>
          <c:idx val="0"/>
          <c:order val="0"/>
          <c:dPt>
            <c:idx val="0"/>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001-BA3C-45B5-B414-35A99D9E65D5}"/>
              </c:ext>
            </c:extLst>
          </c:dPt>
          <c:dPt>
            <c:idx val="1"/>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3-BA3C-45B5-B414-35A99D9E65D5}"/>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5-BA3C-45B5-B414-35A99D9E65D5}"/>
              </c:ext>
            </c:extLst>
          </c:dPt>
          <c:dPt>
            <c:idx val="3"/>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7-BA3C-45B5-B414-35A99D9E65D5}"/>
              </c:ext>
            </c:extLst>
          </c:dPt>
          <c:dPt>
            <c:idx val="4"/>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9-BA3C-45B5-B414-35A99D9E65D5}"/>
              </c:ext>
            </c:extLst>
          </c:dPt>
          <c:dLbls>
            <c:dLbl>
              <c:idx val="3"/>
              <c:layout>
                <c:manualLayout>
                  <c:x val="-4.6507097276002841E-3"/>
                  <c:y val="-5.3696480192703316E-2"/>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400" b="1" i="0" u="none" strike="noStrike" kern="1200" baseline="0">
                      <a:solidFill>
                        <a:schemeClr val="bg1"/>
                      </a:solidFill>
                      <a:latin typeface="微軟正黑體" panose="020B0604030504040204" pitchFamily="34" charset="-120"/>
                      <a:ea typeface="微軟正黑體" panose="020B0604030504040204" pitchFamily="34" charset="-120"/>
                      <a:cs typeface="+mn-cs"/>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BA3C-45B5-B414-35A99D9E65D5}"/>
                </c:ext>
              </c:extLst>
            </c:dLbl>
            <c:dLbl>
              <c:idx val="4"/>
              <c:delete val="1"/>
              <c:extLst>
                <c:ext xmlns:c15="http://schemas.microsoft.com/office/drawing/2012/chart" uri="{CE6537A1-D6FC-4f65-9D91-7224C49458BB}"/>
                <c:ext xmlns:c16="http://schemas.microsoft.com/office/drawing/2014/chart" uri="{C3380CC4-5D6E-409C-BE32-E72D297353CC}">
                  <c16:uniqueId val="{00000009-BA3C-45B5-B414-35A99D9E65D5}"/>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微軟正黑體" panose="020B0604030504040204" pitchFamily="34" charset="-120"/>
                    <a:ea typeface="微軟正黑體" panose="020B0604030504040204" pitchFamily="34" charset="-120"/>
                    <a:cs typeface="+mn-cs"/>
                  </a:defRPr>
                </a:pPr>
                <a:endParaRPr lang="zh-TW"/>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工作表4!$D$4:$D$8</c:f>
              <c:strCache>
                <c:ptCount val="5"/>
                <c:pt idx="0">
                  <c:v>心血管代謝</c:v>
                </c:pt>
                <c:pt idx="1">
                  <c:v>腫瘤學</c:v>
                </c:pt>
                <c:pt idx="2">
                  <c:v>免疫學</c:v>
                </c:pt>
                <c:pt idx="3">
                  <c:v>神經科學</c:v>
                </c:pt>
                <c:pt idx="4">
                  <c:v>其他</c:v>
                </c:pt>
              </c:strCache>
            </c:strRef>
          </c:cat>
          <c:val>
            <c:numRef>
              <c:f>工作表4!$E$4:$E$8</c:f>
              <c:numCache>
                <c:formatCode>General</c:formatCode>
                <c:ptCount val="5"/>
                <c:pt idx="0">
                  <c:v>48221</c:v>
                </c:pt>
                <c:pt idx="1">
                  <c:v>9376</c:v>
                </c:pt>
                <c:pt idx="2">
                  <c:v>5247</c:v>
                </c:pt>
                <c:pt idx="3">
                  <c:v>1391</c:v>
                </c:pt>
                <c:pt idx="4">
                  <c:v>944</c:v>
                </c:pt>
              </c:numCache>
            </c:numRef>
          </c:val>
          <c:extLst>
            <c:ext xmlns:c16="http://schemas.microsoft.com/office/drawing/2014/chart" uri="{C3380CC4-5D6E-409C-BE32-E72D297353CC}">
              <c16:uniqueId val="{0000000A-BA3C-45B5-B414-35A99D9E65D5}"/>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r"/>
      <c:layout>
        <c:manualLayout>
          <c:xMode val="edge"/>
          <c:yMode val="edge"/>
          <c:x val="0.63638407684876708"/>
          <c:y val="7.6113099645929383E-2"/>
          <c:w val="0.33571166478563164"/>
          <c:h val="0.89320319738681153"/>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4.8686842258729027E-3"/>
          <c:y val="3.0299470068444062E-5"/>
          <c:w val="0.6267154270619405"/>
          <c:h val="0.98350286608252568"/>
        </c:manualLayout>
      </c:layout>
      <c:doughnutChart>
        <c:varyColors val="1"/>
        <c:ser>
          <c:idx val="0"/>
          <c:order val="0"/>
          <c:dPt>
            <c:idx val="0"/>
            <c:bubble3D val="0"/>
            <c:spPr>
              <a:solidFill>
                <a:schemeClr val="accent1">
                  <a:lumMod val="50000"/>
                </a:schemeClr>
              </a:solidFill>
              <a:ln w="19050">
                <a:solidFill>
                  <a:schemeClr val="lt1"/>
                </a:solidFill>
              </a:ln>
              <a:effectLst/>
            </c:spPr>
            <c:extLst>
              <c:ext xmlns:c16="http://schemas.microsoft.com/office/drawing/2014/chart" uri="{C3380CC4-5D6E-409C-BE32-E72D297353CC}">
                <c16:uniqueId val="{00000001-C4A3-4923-AAB9-12D2EE9B5D19}"/>
              </c:ext>
            </c:extLst>
          </c:dPt>
          <c:dPt>
            <c:idx val="1"/>
            <c:bubble3D val="0"/>
            <c:spPr>
              <a:solidFill>
                <a:schemeClr val="bg2">
                  <a:lumMod val="75000"/>
                </a:schemeClr>
              </a:solidFill>
              <a:ln w="19050">
                <a:solidFill>
                  <a:schemeClr val="lt1"/>
                </a:solidFill>
              </a:ln>
              <a:effectLst/>
            </c:spPr>
            <c:extLst>
              <c:ext xmlns:c16="http://schemas.microsoft.com/office/drawing/2014/chart" uri="{C3380CC4-5D6E-409C-BE32-E72D297353CC}">
                <c16:uniqueId val="{00000003-C4A3-4923-AAB9-12D2EE9B5D19}"/>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4-457B-43E0-9EEF-FE758A6C71B7}"/>
              </c:ext>
            </c:extLst>
          </c:dPt>
          <c:dPt>
            <c:idx val="3"/>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5-457B-43E0-9EEF-FE758A6C71B7}"/>
              </c:ext>
            </c:extLst>
          </c:dPt>
          <c:dPt>
            <c:idx val="4"/>
            <c:bubble3D val="0"/>
            <c:spPr>
              <a:solidFill>
                <a:schemeClr val="accent6">
                  <a:lumMod val="60000"/>
                  <a:lumOff val="40000"/>
                </a:schemeClr>
              </a:solidFill>
              <a:ln w="19050">
                <a:solidFill>
                  <a:schemeClr val="lt1"/>
                </a:solidFill>
              </a:ln>
              <a:effectLst/>
            </c:spPr>
            <c:extLst>
              <c:ext xmlns:c16="http://schemas.microsoft.com/office/drawing/2014/chart" uri="{C3380CC4-5D6E-409C-BE32-E72D297353CC}">
                <c16:uniqueId val="{00000006-457B-43E0-9EEF-FE758A6C71B7}"/>
              </c:ext>
            </c:extLst>
          </c:dPt>
          <c:dLbls>
            <c:dLbl>
              <c:idx val="2"/>
              <c:layout>
                <c:manualLayout>
                  <c:x val="-2.502115962632968E-2"/>
                  <c:y val="-3.141251182606869E-2"/>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600" b="1" i="0" u="none" strike="noStrike" kern="1200" baseline="0">
                      <a:solidFill>
                        <a:schemeClr val="bg1"/>
                      </a:solidFill>
                      <a:latin typeface="+mn-lt"/>
                      <a:ea typeface="+mn-ea"/>
                      <a:cs typeface="+mn-cs"/>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4-457B-43E0-9EEF-FE758A6C71B7}"/>
                </c:ext>
              </c:extLst>
            </c:dLbl>
            <c:dLbl>
              <c:idx val="3"/>
              <c:layout>
                <c:manualLayout>
                  <c:x val="-1.5012695775797801E-2"/>
                  <c:y val="-3.1412511826068676E-2"/>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600" b="1" i="0" u="none" strike="noStrike" kern="1200" baseline="0">
                      <a:solidFill>
                        <a:schemeClr val="bg1"/>
                      </a:solidFill>
                      <a:latin typeface="+mn-lt"/>
                      <a:ea typeface="+mn-ea"/>
                      <a:cs typeface="+mn-cs"/>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57B-43E0-9EEF-FE758A6C71B7}"/>
                </c:ext>
              </c:extLst>
            </c:dLbl>
            <c:dLbl>
              <c:idx val="4"/>
              <c:tx>
                <c:rich>
                  <a:bodyPr/>
                  <a:lstStyle/>
                  <a:p>
                    <a:fld id="{23DCE2FC-995B-46AF-9B37-6854B77CC7B8}" type="PERCENTAGE">
                      <a:rPr lang="en-US" altLang="zh-TW">
                        <a:solidFill>
                          <a:schemeClr val="tx1"/>
                        </a:solidFill>
                      </a:rPr>
                      <a:pPr/>
                      <a:t>[百分比]</a:t>
                    </a:fld>
                    <a:endParaRPr lang="zh-TW" alt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457B-43E0-9EEF-FE758A6C71B7}"/>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zh-TW"/>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工作表1!$C$13:$C$17</c:f>
              <c:strCache>
                <c:ptCount val="5"/>
                <c:pt idx="0">
                  <c:v>美國</c:v>
                </c:pt>
                <c:pt idx="1">
                  <c:v>歐洲</c:v>
                </c:pt>
                <c:pt idx="2">
                  <c:v>日本</c:v>
                </c:pt>
                <c:pt idx="3">
                  <c:v>中國</c:v>
                </c:pt>
                <c:pt idx="4">
                  <c:v>其他</c:v>
                </c:pt>
              </c:strCache>
            </c:strRef>
          </c:cat>
          <c:val>
            <c:numRef>
              <c:f>工作表1!$D$13:$D$17</c:f>
              <c:numCache>
                <c:formatCode>_-* #,##0_-;\-* #,##0_-;_-* "-"??_-;_-@_-</c:formatCode>
                <c:ptCount val="5"/>
                <c:pt idx="0">
                  <c:v>43481</c:v>
                </c:pt>
                <c:pt idx="1">
                  <c:v>11558</c:v>
                </c:pt>
                <c:pt idx="2">
                  <c:v>2132</c:v>
                </c:pt>
                <c:pt idx="3">
                  <c:v>1951</c:v>
                </c:pt>
                <c:pt idx="4">
                  <c:v>6057</c:v>
                </c:pt>
              </c:numCache>
            </c:numRef>
          </c:val>
          <c:extLst>
            <c:ext xmlns:c16="http://schemas.microsoft.com/office/drawing/2014/chart" uri="{C3380CC4-5D6E-409C-BE32-E72D297353CC}">
              <c16:uniqueId val="{00000004-C4A3-4923-AAB9-12D2EE9B5D19}"/>
            </c:ext>
          </c:extLst>
        </c:ser>
        <c:dLbls>
          <c:showLegendKey val="0"/>
          <c:showVal val="0"/>
          <c:showCatName val="0"/>
          <c:showSerName val="0"/>
          <c:showPercent val="0"/>
          <c:showBubbleSize val="0"/>
          <c:showLeaderLines val="1"/>
        </c:dLbls>
        <c:firstSliceAng val="0"/>
        <c:holeSize val="60"/>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5086661794216857E-2"/>
          <c:y val="0.24703490845837134"/>
          <c:w val="0.92982667641156624"/>
          <c:h val="0.59982693500570627"/>
        </c:manualLayout>
      </c:layout>
      <c:barChart>
        <c:barDir val="col"/>
        <c:grouping val="clustered"/>
        <c:varyColors val="0"/>
        <c:ser>
          <c:idx val="1"/>
          <c:order val="1"/>
          <c:tx>
            <c:strRef>
              <c:f>工作表2!$C$5</c:f>
              <c:strCache>
                <c:ptCount val="1"/>
                <c:pt idx="0">
                  <c:v>普通股可分配淨利</c:v>
                </c:pt>
              </c:strCache>
            </c:strRef>
          </c:tx>
          <c:spPr>
            <a:solidFill>
              <a:srgbClr val="C00000"/>
            </a:solidFill>
            <a:ln>
              <a:noFill/>
            </a:ln>
            <a:effectLst/>
          </c:spPr>
          <c:invertIfNegative val="0"/>
          <c:dLbls>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193-47F9-90B3-A3D50C01E05F}"/>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193-47F9-90B3-A3D50C01E05F}"/>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DD-4D5C-ADCD-2385F89CCF5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工作表2!$F$3:$L$3</c:f>
              <c:strCache>
                <c:ptCount val="7"/>
                <c:pt idx="0">
                  <c:v>FY19</c:v>
                </c:pt>
                <c:pt idx="1">
                  <c:v>FY20</c:v>
                </c:pt>
                <c:pt idx="2">
                  <c:v>FY21</c:v>
                </c:pt>
                <c:pt idx="3">
                  <c:v>FY22</c:v>
                </c:pt>
                <c:pt idx="4">
                  <c:v>FY23</c:v>
                </c:pt>
                <c:pt idx="5">
                  <c:v>FY24</c:v>
                </c:pt>
                <c:pt idx="6">
                  <c:v>FY25</c:v>
                </c:pt>
              </c:strCache>
            </c:strRef>
          </c:cat>
          <c:val>
            <c:numRef>
              <c:f>工作表2!$F$5:$L$5</c:f>
              <c:numCache>
                <c:formatCode>_-* #,##0_-;\-* #,##0_-;_-* "-"??_-;_-@_-</c:formatCode>
                <c:ptCount val="7"/>
                <c:pt idx="0">
                  <c:v>8318</c:v>
                </c:pt>
                <c:pt idx="1">
                  <c:v>6194</c:v>
                </c:pt>
                <c:pt idx="2">
                  <c:v>5582</c:v>
                </c:pt>
                <c:pt idx="3">
                  <c:v>6245</c:v>
                </c:pt>
                <c:pt idx="4">
                  <c:v>5240</c:v>
                </c:pt>
                <c:pt idx="5">
                  <c:v>10590</c:v>
                </c:pt>
                <c:pt idx="6">
                  <c:v>20640</c:v>
                </c:pt>
              </c:numCache>
            </c:numRef>
          </c:val>
          <c:extLst>
            <c:ext xmlns:c16="http://schemas.microsoft.com/office/drawing/2014/chart" uri="{C3380CC4-5D6E-409C-BE32-E72D297353CC}">
              <c16:uniqueId val="{00000001-2193-47F9-90B3-A3D50C01E05F}"/>
            </c:ext>
          </c:extLst>
        </c:ser>
        <c:dLbls>
          <c:showLegendKey val="0"/>
          <c:showVal val="0"/>
          <c:showCatName val="0"/>
          <c:showSerName val="0"/>
          <c:showPercent val="0"/>
          <c:showBubbleSize val="0"/>
        </c:dLbls>
        <c:gapWidth val="86"/>
        <c:axId val="310700288"/>
        <c:axId val="273092608"/>
      </c:barChart>
      <c:lineChart>
        <c:grouping val="standard"/>
        <c:varyColors val="0"/>
        <c:ser>
          <c:idx val="0"/>
          <c:order val="0"/>
          <c:tx>
            <c:strRef>
              <c:f>工作表2!$C$4</c:f>
              <c:strCache>
                <c:ptCount val="1"/>
                <c:pt idx="0">
                  <c:v>營收</c:v>
                </c:pt>
              </c:strCache>
            </c:strRef>
          </c:tx>
          <c:spPr>
            <a:ln w="19050" cap="rnd">
              <a:solidFill>
                <a:srgbClr val="000000">
                  <a:lumMod val="65000"/>
                  <a:lumOff val="35000"/>
                </a:srgbClr>
              </a:solidFill>
              <a:round/>
            </a:ln>
            <a:effectLst/>
          </c:spPr>
          <c:marker>
            <c:symbol val="circle"/>
            <c:size val="5"/>
            <c:spPr>
              <a:solidFill>
                <a:sysClr val="window" lastClr="FFFFFF"/>
              </a:solidFill>
              <a:ln w="19050">
                <a:solidFill>
                  <a:srgbClr val="000000">
                    <a:lumMod val="65000"/>
                    <a:lumOff val="35000"/>
                  </a:srgbClr>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2-2193-47F9-90B3-A3D50C01E05F}"/>
                </c:ext>
              </c:extLst>
            </c:dLbl>
            <c:dLbl>
              <c:idx val="1"/>
              <c:delete val="1"/>
              <c:extLst>
                <c:ext xmlns:c15="http://schemas.microsoft.com/office/drawing/2012/chart" uri="{CE6537A1-D6FC-4f65-9D91-7224C49458BB}"/>
                <c:ext xmlns:c16="http://schemas.microsoft.com/office/drawing/2014/chart" uri="{C3380CC4-5D6E-409C-BE32-E72D297353CC}">
                  <c16:uniqueId val="{00000003-2193-47F9-90B3-A3D50C01E05F}"/>
                </c:ext>
              </c:extLst>
            </c:dLbl>
            <c:dLbl>
              <c:idx val="2"/>
              <c:delete val="1"/>
              <c:extLst>
                <c:ext xmlns:c15="http://schemas.microsoft.com/office/drawing/2012/chart" uri="{CE6537A1-D6FC-4f65-9D91-7224C49458BB}"/>
                <c:ext xmlns:c16="http://schemas.microsoft.com/office/drawing/2014/chart" uri="{C3380CC4-5D6E-409C-BE32-E72D297353CC}">
                  <c16:uniqueId val="{00000004-2193-47F9-90B3-A3D50C01E05F}"/>
                </c:ext>
              </c:extLst>
            </c:dLbl>
            <c:dLbl>
              <c:idx val="3"/>
              <c:delete val="1"/>
              <c:extLst>
                <c:ext xmlns:c15="http://schemas.microsoft.com/office/drawing/2012/chart" uri="{CE6537A1-D6FC-4f65-9D91-7224C49458BB}"/>
                <c:ext xmlns:c16="http://schemas.microsoft.com/office/drawing/2014/chart" uri="{C3380CC4-5D6E-409C-BE32-E72D297353CC}">
                  <c16:uniqueId val="{00000005-2193-47F9-90B3-A3D50C01E05F}"/>
                </c:ext>
              </c:extLst>
            </c:dLbl>
            <c:dLbl>
              <c:idx val="4"/>
              <c:delete val="1"/>
              <c:extLst>
                <c:ext xmlns:c15="http://schemas.microsoft.com/office/drawing/2012/chart" uri="{CE6537A1-D6FC-4f65-9D91-7224C49458BB}"/>
                <c:ext xmlns:c16="http://schemas.microsoft.com/office/drawing/2014/chart" uri="{C3380CC4-5D6E-409C-BE32-E72D297353CC}">
                  <c16:uniqueId val="{00000006-2193-47F9-90B3-A3D50C01E05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工作表2!$F$3:$L$3</c:f>
              <c:strCache>
                <c:ptCount val="7"/>
                <c:pt idx="0">
                  <c:v>FY19</c:v>
                </c:pt>
                <c:pt idx="1">
                  <c:v>FY20</c:v>
                </c:pt>
                <c:pt idx="2">
                  <c:v>FY21</c:v>
                </c:pt>
                <c:pt idx="3">
                  <c:v>FY22</c:v>
                </c:pt>
                <c:pt idx="4">
                  <c:v>FY23</c:v>
                </c:pt>
                <c:pt idx="5">
                  <c:v>FY24</c:v>
                </c:pt>
                <c:pt idx="6">
                  <c:v>FY25</c:v>
                </c:pt>
              </c:strCache>
            </c:strRef>
          </c:cat>
          <c:val>
            <c:numRef>
              <c:f>工作表2!$F$4:$L$4</c:f>
              <c:numCache>
                <c:formatCode>_-* #,##0_-;\-* #,##0_-;_-* "-"??_-;_-@_-</c:formatCode>
                <c:ptCount val="7"/>
                <c:pt idx="0">
                  <c:v>22320</c:v>
                </c:pt>
                <c:pt idx="1">
                  <c:v>24540</c:v>
                </c:pt>
                <c:pt idx="2">
                  <c:v>28318</c:v>
                </c:pt>
                <c:pt idx="3">
                  <c:v>28541</c:v>
                </c:pt>
                <c:pt idx="4">
                  <c:v>34124</c:v>
                </c:pt>
                <c:pt idx="5">
                  <c:v>45043</c:v>
                </c:pt>
                <c:pt idx="6">
                  <c:v>65179</c:v>
                </c:pt>
              </c:numCache>
            </c:numRef>
          </c:val>
          <c:smooth val="0"/>
          <c:extLst>
            <c:ext xmlns:c16="http://schemas.microsoft.com/office/drawing/2014/chart" uri="{C3380CC4-5D6E-409C-BE32-E72D297353CC}">
              <c16:uniqueId val="{00000008-2193-47F9-90B3-A3D50C01E05F}"/>
            </c:ext>
          </c:extLst>
        </c:ser>
        <c:dLbls>
          <c:showLegendKey val="0"/>
          <c:showVal val="0"/>
          <c:showCatName val="0"/>
          <c:showSerName val="0"/>
          <c:showPercent val="0"/>
          <c:showBubbleSize val="0"/>
        </c:dLbls>
        <c:marker val="1"/>
        <c:smooth val="0"/>
        <c:axId val="273095296"/>
        <c:axId val="273093760"/>
      </c:lineChart>
      <c:catAx>
        <c:axId val="310700288"/>
        <c:scaling>
          <c:orientation val="minMax"/>
        </c:scaling>
        <c:delete val="0"/>
        <c:axPos val="b"/>
        <c:numFmt formatCode="General" sourceLinked="1"/>
        <c:majorTickMark val="in"/>
        <c:minorTickMark val="none"/>
        <c:tickLblPos val="nextTo"/>
        <c:spPr>
          <a:noFill/>
          <a:ln w="9525" cap="flat" cmpd="sng" algn="ctr">
            <a:solidFill>
              <a:schemeClr val="tx1">
                <a:lumMod val="75000"/>
                <a:lumOff val="2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273092608"/>
        <c:crosses val="autoZero"/>
        <c:auto val="1"/>
        <c:lblAlgn val="ctr"/>
        <c:lblOffset val="100"/>
        <c:noMultiLvlLbl val="0"/>
      </c:catAx>
      <c:valAx>
        <c:axId val="273092608"/>
        <c:scaling>
          <c:orientation val="minMax"/>
          <c:max val="30000"/>
        </c:scaling>
        <c:delete val="0"/>
        <c:axPos val="l"/>
        <c:numFmt formatCode="_-* #,##0_-;\-* #,##0_-;_-* &quot;-&quot;??_-;_-@_-"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zh-TW"/>
          </a:p>
        </c:txPr>
        <c:crossAx val="310700288"/>
        <c:crosses val="autoZero"/>
        <c:crossBetween val="between"/>
      </c:valAx>
      <c:valAx>
        <c:axId val="273093760"/>
        <c:scaling>
          <c:orientation val="minMax"/>
        </c:scaling>
        <c:delete val="0"/>
        <c:axPos val="r"/>
        <c:numFmt formatCode="_-* #,##0_-;\-* #,##0_-;_-* &quot;-&quot;??_-;_-@_-"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zh-TW"/>
          </a:p>
        </c:txPr>
        <c:crossAx val="273095296"/>
        <c:crosses val="max"/>
        <c:crossBetween val="between"/>
      </c:valAx>
      <c:catAx>
        <c:axId val="273095296"/>
        <c:scaling>
          <c:orientation val="minMax"/>
        </c:scaling>
        <c:delete val="1"/>
        <c:axPos val="b"/>
        <c:numFmt formatCode="General" sourceLinked="1"/>
        <c:majorTickMark val="out"/>
        <c:minorTickMark val="none"/>
        <c:tickLblPos val="nextTo"/>
        <c:crossAx val="273093760"/>
        <c:crosses val="autoZero"/>
        <c:auto val="1"/>
        <c:lblAlgn val="ctr"/>
        <c:lblOffset val="100"/>
        <c:noMultiLvlLbl val="0"/>
      </c:catAx>
      <c:spPr>
        <a:noFill/>
        <a:ln>
          <a:noFill/>
        </a:ln>
        <a:effectLst/>
      </c:spPr>
    </c:plotArea>
    <c:legend>
      <c:legendPos val="t"/>
      <c:layout>
        <c:manualLayout>
          <c:xMode val="edge"/>
          <c:yMode val="edge"/>
          <c:x val="0.18804767968414468"/>
          <c:y val="4.1132935634424606E-2"/>
          <c:w val="0.6047664614712287"/>
          <c:h val="0.14456604025180375"/>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xPr>
        <a:bodyPr/>
        <a:lstStyle/>
        <a:p>
          <a:pPr>
            <a:defRPr>
              <a:latin typeface="微軟正黑體" panose="020B0604030504040204" pitchFamily="34" charset="-120"/>
              <a:ea typeface="微軟正黑體" panose="020B0604030504040204" pitchFamily="34" charset="-120"/>
            </a:defRPr>
          </a:pPr>
          <a:endParaRPr lang="zh-TW"/>
        </a:p>
      </c:txPr>
    </c:title>
    <c:autoTitleDeleted val="0"/>
    <c:plotArea>
      <c:layout/>
      <c:barChart>
        <c:barDir val="col"/>
        <c:grouping val="clustered"/>
        <c:varyColors val="0"/>
        <c:ser>
          <c:idx val="0"/>
          <c:order val="0"/>
          <c:tx>
            <c:strRef>
              <c:f>工作表1!$A$2</c:f>
              <c:strCache>
                <c:ptCount val="1"/>
                <c:pt idx="0">
                  <c:v>營收(百萬 USD)</c:v>
                </c:pt>
              </c:strCache>
            </c:strRef>
          </c:tx>
          <c:spPr>
            <a:solidFill>
              <a:schemeClr val="bg1">
                <a:lumMod val="85000"/>
              </a:schemeClr>
            </a:solidFill>
          </c:spPr>
          <c:invertIfNegative val="0"/>
          <c:dPt>
            <c:idx val="4"/>
            <c:invertIfNegative val="0"/>
            <c:bubble3D val="0"/>
            <c:spPr>
              <a:solidFill>
                <a:srgbClr val="C00000"/>
              </a:solidFill>
            </c:spPr>
            <c:extLst>
              <c:ext xmlns:c16="http://schemas.microsoft.com/office/drawing/2014/chart" uri="{C3380CC4-5D6E-409C-BE32-E72D297353CC}">
                <c16:uniqueId val="{00000001-48DB-44D3-B056-B8C93BC546CF}"/>
              </c:ext>
            </c:extLst>
          </c:dPt>
          <c:dPt>
            <c:idx val="5"/>
            <c:invertIfNegative val="0"/>
            <c:bubble3D val="0"/>
            <c:spPr>
              <a:solidFill>
                <a:schemeClr val="bg2">
                  <a:lumMod val="50000"/>
                </a:schemeClr>
              </a:solidFill>
            </c:spPr>
            <c:extLst>
              <c:ext xmlns:c16="http://schemas.microsoft.com/office/drawing/2014/chart" uri="{C3380CC4-5D6E-409C-BE32-E72D297353CC}">
                <c16:uniqueId val="{00000003-48DB-44D3-B056-B8C93BC546CF}"/>
              </c:ext>
            </c:extLst>
          </c:dPt>
          <c:dLbls>
            <c:spPr>
              <a:noFill/>
              <a:ln>
                <a:noFill/>
              </a:ln>
              <a:effectLst/>
            </c:spPr>
            <c:txPr>
              <a:bodyPr/>
              <a:lstStyle/>
              <a:p>
                <a:pPr>
                  <a:defRPr sz="900">
                    <a:latin typeface="微軟正黑體" panose="020B0604030504040204" pitchFamily="34" charset="-120"/>
                    <a:ea typeface="微軟正黑體" panose="020B0604030504040204" pitchFamily="34" charset="-12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工作表1!$M$1:$Q$1</c:f>
              <c:strCache>
                <c:ptCount val="5"/>
                <c:pt idx="0">
                  <c:v>1Q25</c:v>
                </c:pt>
                <c:pt idx="1">
                  <c:v>2Q25</c:v>
                </c:pt>
                <c:pt idx="2">
                  <c:v>3Q25</c:v>
                </c:pt>
                <c:pt idx="3">
                  <c:v>4Q25</c:v>
                </c:pt>
                <c:pt idx="4">
                  <c:v>1Q26</c:v>
                </c:pt>
              </c:strCache>
            </c:strRef>
          </c:cat>
          <c:val>
            <c:numRef>
              <c:f>工作表1!$M$2:$Q$2</c:f>
              <c:numCache>
                <c:formatCode>#,##0</c:formatCode>
                <c:ptCount val="5"/>
                <c:pt idx="0">
                  <c:v>12729</c:v>
                </c:pt>
                <c:pt idx="1">
                  <c:v>15558</c:v>
                </c:pt>
                <c:pt idx="2">
                  <c:v>17601</c:v>
                </c:pt>
                <c:pt idx="3">
                  <c:v>19292</c:v>
                </c:pt>
                <c:pt idx="4">
                  <c:v>19799</c:v>
                </c:pt>
              </c:numCache>
            </c:numRef>
          </c:val>
          <c:extLst>
            <c:ext xmlns:c16="http://schemas.microsoft.com/office/drawing/2014/chart" uri="{C3380CC4-5D6E-409C-BE32-E72D297353CC}">
              <c16:uniqueId val="{00000004-48DB-44D3-B056-B8C93BC546CF}"/>
            </c:ext>
          </c:extLst>
        </c:ser>
        <c:dLbls>
          <c:showLegendKey val="0"/>
          <c:showVal val="0"/>
          <c:showCatName val="0"/>
          <c:showSerName val="0"/>
          <c:showPercent val="0"/>
          <c:showBubbleSize val="0"/>
        </c:dLbls>
        <c:gapWidth val="67"/>
        <c:axId val="182353280"/>
        <c:axId val="182408320"/>
      </c:barChart>
      <c:catAx>
        <c:axId val="182353280"/>
        <c:scaling>
          <c:orientation val="minMax"/>
        </c:scaling>
        <c:delete val="0"/>
        <c:axPos val="b"/>
        <c:numFmt formatCode="[$-409]d\-mmm;@" sourceLinked="0"/>
        <c:majorTickMark val="out"/>
        <c:minorTickMark val="none"/>
        <c:tickLblPos val="nextTo"/>
        <c:txPr>
          <a:bodyPr/>
          <a:lstStyle/>
          <a:p>
            <a:pPr>
              <a:defRPr sz="800">
                <a:latin typeface="微軟正黑體" panose="020B0604030504040204" pitchFamily="34" charset="-120"/>
                <a:ea typeface="微軟正黑體" panose="020B0604030504040204" pitchFamily="34" charset="-120"/>
              </a:defRPr>
            </a:pPr>
            <a:endParaRPr lang="zh-TW"/>
          </a:p>
        </c:txPr>
        <c:crossAx val="182408320"/>
        <c:crosses val="autoZero"/>
        <c:auto val="1"/>
        <c:lblAlgn val="ctr"/>
        <c:lblOffset val="100"/>
        <c:noMultiLvlLbl val="0"/>
      </c:catAx>
      <c:valAx>
        <c:axId val="182408320"/>
        <c:scaling>
          <c:orientation val="minMax"/>
        </c:scaling>
        <c:delete val="1"/>
        <c:axPos val="l"/>
        <c:numFmt formatCode="#,##0" sourceLinked="1"/>
        <c:majorTickMark val="out"/>
        <c:minorTickMark val="none"/>
        <c:tickLblPos val="nextTo"/>
        <c:crossAx val="182353280"/>
        <c:crosses val="autoZero"/>
        <c:crossBetween val="between"/>
      </c:valAx>
    </c:plotArea>
    <c:plotVisOnly val="1"/>
    <c:dispBlanksAs val="gap"/>
    <c:showDLblsOverMax val="0"/>
  </c:chart>
  <c:txPr>
    <a:bodyPr/>
    <a:lstStyle/>
    <a:p>
      <a:pPr>
        <a:defRPr sz="1000"/>
      </a:pPr>
      <a:endParaRPr lang="zh-TW"/>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nSpc>
                <a:spcPts val="1500"/>
              </a:lnSpc>
              <a:defRPr sz="1200">
                <a:latin typeface="微軟正黑體" panose="020B0604030504040204" pitchFamily="34" charset="-120"/>
                <a:ea typeface="微軟正黑體" panose="020B0604030504040204" pitchFamily="34" charset="-120"/>
              </a:defRPr>
            </a:pPr>
            <a:r>
              <a:rPr lang="zh-TW" altLang="en-US" dirty="0"/>
              <a:t> 普通股可分配淨利</a:t>
            </a:r>
            <a:r>
              <a:rPr lang="en-US" altLang="zh-TW" dirty="0"/>
              <a:t>(</a:t>
            </a:r>
            <a:r>
              <a:rPr lang="zh-TW" altLang="en-US" dirty="0"/>
              <a:t>百萬 </a:t>
            </a:r>
            <a:r>
              <a:rPr lang="en-US" altLang="zh-TW" dirty="0"/>
              <a:t>USD)</a:t>
            </a:r>
          </a:p>
        </c:rich>
      </c:tx>
      <c:overlay val="0"/>
    </c:title>
    <c:autoTitleDeleted val="0"/>
    <c:plotArea>
      <c:layout>
        <c:manualLayout>
          <c:layoutTarget val="inner"/>
          <c:xMode val="edge"/>
          <c:yMode val="edge"/>
          <c:x val="3.9515608361352643E-2"/>
          <c:y val="0.34881686994985434"/>
          <c:w val="0.9209687832772947"/>
          <c:h val="0.50117590382551958"/>
        </c:manualLayout>
      </c:layout>
      <c:barChart>
        <c:barDir val="col"/>
        <c:grouping val="clustered"/>
        <c:varyColors val="0"/>
        <c:ser>
          <c:idx val="0"/>
          <c:order val="0"/>
          <c:tx>
            <c:strRef>
              <c:f>工作表1!$A$2</c:f>
              <c:strCache>
                <c:ptCount val="1"/>
                <c:pt idx="0">
                  <c:v> 普通股可分配淨利(百萬 USD)</c:v>
                </c:pt>
              </c:strCache>
            </c:strRef>
          </c:tx>
          <c:spPr>
            <a:solidFill>
              <a:schemeClr val="bg1">
                <a:lumMod val="85000"/>
              </a:schemeClr>
            </a:solidFill>
          </c:spPr>
          <c:invertIfNegative val="0"/>
          <c:dPt>
            <c:idx val="4"/>
            <c:invertIfNegative val="0"/>
            <c:bubble3D val="0"/>
            <c:spPr>
              <a:solidFill>
                <a:srgbClr val="C00000"/>
              </a:solidFill>
            </c:spPr>
            <c:extLst>
              <c:ext xmlns:c16="http://schemas.microsoft.com/office/drawing/2014/chart" uri="{C3380CC4-5D6E-409C-BE32-E72D297353CC}">
                <c16:uniqueId val="{00000001-E5E5-4FD8-AFE9-180675F60B33}"/>
              </c:ext>
            </c:extLst>
          </c:dPt>
          <c:dPt>
            <c:idx val="5"/>
            <c:invertIfNegative val="0"/>
            <c:bubble3D val="0"/>
            <c:spPr>
              <a:solidFill>
                <a:schemeClr val="bg2">
                  <a:lumMod val="50000"/>
                </a:schemeClr>
              </a:solidFill>
            </c:spPr>
            <c:extLst>
              <c:ext xmlns:c16="http://schemas.microsoft.com/office/drawing/2014/chart" uri="{C3380CC4-5D6E-409C-BE32-E72D297353CC}">
                <c16:uniqueId val="{00000003-E5E5-4FD8-AFE9-180675F60B33}"/>
              </c:ext>
            </c:extLst>
          </c:dPt>
          <c:dLbls>
            <c:dLbl>
              <c:idx val="0"/>
              <c:layout>
                <c:manualLayout>
                  <c:x val="0"/>
                  <c:y val="2.75235799681772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5E5-4FD8-AFE9-180675F60B33}"/>
                </c:ext>
              </c:extLst>
            </c:dLbl>
            <c:dLbl>
              <c:idx val="2"/>
              <c:layout>
                <c:manualLayout>
                  <c:x val="0"/>
                  <c:y val="5.910758256185448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5E5-4FD8-AFE9-180675F60B33}"/>
                </c:ext>
              </c:extLst>
            </c:dLbl>
            <c:dLbl>
              <c:idx val="3"/>
              <c:layout>
                <c:manualLayout>
                  <c:x val="6.6554589436790962E-3"/>
                  <c:y val="1.29794939325975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5E5-4FD8-AFE9-180675F60B33}"/>
                </c:ext>
              </c:extLst>
            </c:dLbl>
            <c:numFmt formatCode="#,##0_ ;[Red]\-#,##0\ " sourceLinked="0"/>
            <c:spPr>
              <a:noFill/>
              <a:ln>
                <a:noFill/>
              </a:ln>
              <a:effectLst/>
            </c:spPr>
            <c:txPr>
              <a:bodyPr/>
              <a:lstStyle/>
              <a:p>
                <a:pPr>
                  <a:defRPr sz="900">
                    <a:latin typeface="微軟正黑體" panose="020B0604030504040204" pitchFamily="34" charset="-120"/>
                    <a:ea typeface="微軟正黑體" panose="020B0604030504040204" pitchFamily="34" charset="-12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工作表1!$M$1:$Q$1</c:f>
              <c:strCache>
                <c:ptCount val="5"/>
                <c:pt idx="0">
                  <c:v>1Q25</c:v>
                </c:pt>
                <c:pt idx="1">
                  <c:v>2Q25</c:v>
                </c:pt>
                <c:pt idx="2">
                  <c:v>3Q25</c:v>
                </c:pt>
                <c:pt idx="3">
                  <c:v>4Q25</c:v>
                </c:pt>
                <c:pt idx="4">
                  <c:v>1Q26</c:v>
                </c:pt>
              </c:strCache>
            </c:strRef>
          </c:cat>
          <c:val>
            <c:numRef>
              <c:f>工作表1!$M$2:$Q$2</c:f>
              <c:numCache>
                <c:formatCode>0_);[Red]\(0\)</c:formatCode>
                <c:ptCount val="5"/>
                <c:pt idx="0">
                  <c:v>2759</c:v>
                </c:pt>
                <c:pt idx="1">
                  <c:v>5661</c:v>
                </c:pt>
                <c:pt idx="2">
                  <c:v>5583</c:v>
                </c:pt>
                <c:pt idx="3">
                  <c:v>6636</c:v>
                </c:pt>
                <c:pt idx="4">
                  <c:v>7396</c:v>
                </c:pt>
              </c:numCache>
            </c:numRef>
          </c:val>
          <c:extLst>
            <c:ext xmlns:c16="http://schemas.microsoft.com/office/drawing/2014/chart" uri="{C3380CC4-5D6E-409C-BE32-E72D297353CC}">
              <c16:uniqueId val="{00000007-E5E5-4FD8-AFE9-180675F60B33}"/>
            </c:ext>
          </c:extLst>
        </c:ser>
        <c:dLbls>
          <c:showLegendKey val="0"/>
          <c:showVal val="0"/>
          <c:showCatName val="0"/>
          <c:showSerName val="0"/>
          <c:showPercent val="0"/>
          <c:showBubbleSize val="0"/>
        </c:dLbls>
        <c:gapWidth val="67"/>
        <c:axId val="182537600"/>
        <c:axId val="182539392"/>
      </c:barChart>
      <c:catAx>
        <c:axId val="182537600"/>
        <c:scaling>
          <c:orientation val="minMax"/>
        </c:scaling>
        <c:delete val="0"/>
        <c:axPos val="b"/>
        <c:numFmt formatCode="General" sourceLinked="0"/>
        <c:majorTickMark val="out"/>
        <c:minorTickMark val="none"/>
        <c:tickLblPos val="low"/>
        <c:spPr>
          <a:noFill/>
        </c:spPr>
        <c:txPr>
          <a:bodyPr/>
          <a:lstStyle/>
          <a:p>
            <a:pPr>
              <a:defRPr sz="800">
                <a:latin typeface="微軟正黑體" panose="020B0604030504040204" pitchFamily="34" charset="-120"/>
                <a:ea typeface="微軟正黑體" panose="020B0604030504040204" pitchFamily="34" charset="-120"/>
              </a:defRPr>
            </a:pPr>
            <a:endParaRPr lang="zh-TW"/>
          </a:p>
        </c:txPr>
        <c:crossAx val="182539392"/>
        <c:crosses val="autoZero"/>
        <c:auto val="1"/>
        <c:lblAlgn val="ctr"/>
        <c:lblOffset val="100"/>
        <c:noMultiLvlLbl val="0"/>
      </c:catAx>
      <c:valAx>
        <c:axId val="182539392"/>
        <c:scaling>
          <c:orientation val="minMax"/>
        </c:scaling>
        <c:delete val="1"/>
        <c:axPos val="l"/>
        <c:numFmt formatCode="0_);[Red]\(0\)" sourceLinked="1"/>
        <c:majorTickMark val="out"/>
        <c:minorTickMark val="none"/>
        <c:tickLblPos val="nextTo"/>
        <c:crossAx val="182537600"/>
        <c:crosses val="autoZero"/>
        <c:crossBetween val="between"/>
      </c:valAx>
    </c:plotArea>
    <c:plotVisOnly val="1"/>
    <c:dispBlanksAs val="gap"/>
    <c:showDLblsOverMax val="0"/>
  </c:chart>
  <c:txPr>
    <a:bodyPr/>
    <a:lstStyle/>
    <a:p>
      <a:pPr>
        <a:defRPr sz="1000"/>
      </a:pPr>
      <a:endParaRPr lang="zh-TW"/>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3.7241482759267239E-2"/>
          <c:y val="0.31773371479194512"/>
          <c:w val="0.91634072712954451"/>
          <c:h val="0.52654542409097838"/>
        </c:manualLayout>
      </c:layout>
      <c:barChart>
        <c:barDir val="col"/>
        <c:grouping val="clustered"/>
        <c:varyColors val="0"/>
        <c:ser>
          <c:idx val="0"/>
          <c:order val="0"/>
          <c:tx>
            <c:strRef>
              <c:f>工作表1!$A$2</c:f>
              <c:strCache>
                <c:ptCount val="1"/>
                <c:pt idx="0">
                  <c:v>總負債/EBITDA</c:v>
                </c:pt>
              </c:strCache>
            </c:strRef>
          </c:tx>
          <c:spPr>
            <a:solidFill>
              <a:srgbClr val="C00000"/>
            </a:solidFill>
          </c:spPr>
          <c:invertIfNegative val="0"/>
          <c:dLbls>
            <c:numFmt formatCode="#,##0.0_);[Red]\(#,##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工作表1!$E$1:$J$1</c:f>
              <c:strCache>
                <c:ptCount val="6"/>
                <c:pt idx="0">
                  <c:v>FY21</c:v>
                </c:pt>
                <c:pt idx="1">
                  <c:v>FY22</c:v>
                </c:pt>
                <c:pt idx="2">
                  <c:v>FY23</c:v>
                </c:pt>
                <c:pt idx="3">
                  <c:v>FY24</c:v>
                </c:pt>
                <c:pt idx="4">
                  <c:v>FY25</c:v>
                </c:pt>
                <c:pt idx="5">
                  <c:v>FY26</c:v>
                </c:pt>
              </c:strCache>
            </c:strRef>
          </c:cat>
          <c:val>
            <c:numRef>
              <c:f>工作表1!$E$2:$J$2</c:f>
              <c:numCache>
                <c:formatCode>General</c:formatCode>
                <c:ptCount val="6"/>
                <c:pt idx="0">
                  <c:v>2.14</c:v>
                </c:pt>
                <c:pt idx="1">
                  <c:v>1.88</c:v>
                </c:pt>
                <c:pt idx="2">
                  <c:v>3.16</c:v>
                </c:pt>
                <c:pt idx="3">
                  <c:v>2.34</c:v>
                </c:pt>
                <c:pt idx="4">
                  <c:v>1.34</c:v>
                </c:pt>
                <c:pt idx="5">
                  <c:v>1.02</c:v>
                </c:pt>
              </c:numCache>
            </c:numRef>
          </c:val>
          <c:extLst>
            <c:ext xmlns:c16="http://schemas.microsoft.com/office/drawing/2014/chart" uri="{C3380CC4-5D6E-409C-BE32-E72D297353CC}">
              <c16:uniqueId val="{00000004-75D3-4090-A5B9-78B770C74A86}"/>
            </c:ext>
          </c:extLst>
        </c:ser>
        <c:dLbls>
          <c:showLegendKey val="0"/>
          <c:showVal val="0"/>
          <c:showCatName val="0"/>
          <c:showSerName val="0"/>
          <c:showPercent val="0"/>
          <c:showBubbleSize val="0"/>
        </c:dLbls>
        <c:gapWidth val="135"/>
        <c:axId val="273398784"/>
        <c:axId val="310145792"/>
      </c:barChart>
      <c:catAx>
        <c:axId val="273398784"/>
        <c:scaling>
          <c:orientation val="minMax"/>
        </c:scaling>
        <c:delete val="0"/>
        <c:axPos val="b"/>
        <c:numFmt formatCode="General" sourceLinked="0"/>
        <c:majorTickMark val="out"/>
        <c:minorTickMark val="none"/>
        <c:tickLblPos val="nextTo"/>
        <c:txPr>
          <a:bodyPr/>
          <a:lstStyle/>
          <a:p>
            <a:pPr>
              <a:defRPr sz="900"/>
            </a:pPr>
            <a:endParaRPr lang="zh-TW"/>
          </a:p>
        </c:txPr>
        <c:crossAx val="310145792"/>
        <c:crosses val="autoZero"/>
        <c:auto val="1"/>
        <c:lblAlgn val="ctr"/>
        <c:lblOffset val="100"/>
        <c:noMultiLvlLbl val="0"/>
      </c:catAx>
      <c:valAx>
        <c:axId val="310145792"/>
        <c:scaling>
          <c:orientation val="minMax"/>
        </c:scaling>
        <c:delete val="1"/>
        <c:axPos val="l"/>
        <c:numFmt formatCode="General" sourceLinked="1"/>
        <c:majorTickMark val="out"/>
        <c:minorTickMark val="none"/>
        <c:tickLblPos val="nextTo"/>
        <c:crossAx val="273398784"/>
        <c:crosses val="autoZero"/>
        <c:crossBetween val="between"/>
      </c:valAx>
    </c:plotArea>
    <c:legend>
      <c:legendPos val="r"/>
      <c:layout>
        <c:manualLayout>
          <c:xMode val="edge"/>
          <c:yMode val="edge"/>
          <c:x val="0.3519317777300407"/>
          <c:y val="5.3163943810823899E-2"/>
          <c:w val="0.30022660855916061"/>
          <c:h val="9.3515498132725014E-2"/>
        </c:manualLayout>
      </c:layout>
      <c:overlay val="0"/>
      <c:txPr>
        <a:bodyPr/>
        <a:lstStyle/>
        <a:p>
          <a:pPr>
            <a:defRPr b="1"/>
          </a:pPr>
          <a:endParaRPr lang="zh-TW"/>
        </a:p>
      </c:txPr>
    </c:legend>
    <c:plotVisOnly val="1"/>
    <c:dispBlanksAs val="gap"/>
    <c:showDLblsOverMax val="0"/>
  </c:chart>
  <c:txPr>
    <a:bodyPr/>
    <a:lstStyle/>
    <a:p>
      <a:pPr>
        <a:defRPr sz="1000">
          <a:latin typeface="微軟正黑體" panose="020B0604030504040204" pitchFamily="34" charset="-120"/>
          <a:ea typeface="微軟正黑體" panose="020B0604030504040204" pitchFamily="34" charset="-120"/>
        </a:defRPr>
      </a:pPr>
      <a:endParaRPr lang="zh-TW"/>
    </a:p>
  </c:tx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4827306139615635E-2"/>
          <c:y val="0.24438576308448076"/>
          <c:w val="0.98517269386038431"/>
          <c:h val="0.54392047568149493"/>
        </c:manualLayout>
      </c:layout>
      <c:barChart>
        <c:barDir val="col"/>
        <c:grouping val="clustered"/>
        <c:varyColors val="0"/>
        <c:ser>
          <c:idx val="0"/>
          <c:order val="0"/>
          <c:tx>
            <c:strRef>
              <c:f>工作表1!$A$2</c:f>
              <c:strCache>
                <c:ptCount val="1"/>
                <c:pt idx="0">
                  <c:v>自由現金流</c:v>
                </c:pt>
              </c:strCache>
            </c:strRef>
          </c:tx>
          <c:spPr>
            <a:solidFill>
              <a:srgbClr val="C00000"/>
            </a:solidFill>
          </c:spPr>
          <c:invertIfNegative val="0"/>
          <c:dLbls>
            <c:dLbl>
              <c:idx val="2"/>
              <c:layout>
                <c:manualLayout>
                  <c:x val="0"/>
                  <c:y val="1.7263073379842335E-2"/>
                </c:manualLayout>
              </c:layout>
              <c:tx>
                <c:rich>
                  <a:bodyPr anchorCtr="0"/>
                  <a:lstStyle/>
                  <a:p>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prstClr val="black"/>
                        </a:solidFill>
                        <a:latin typeface="微軟正黑體" panose="020B0604030504040204" pitchFamily="34" charset="-120"/>
                        <a:ea typeface="微軟正黑體" panose="020B0604030504040204" pitchFamily="34" charset="-120"/>
                        <a:cs typeface="+mn-cs"/>
                      </a:defRPr>
                    </a:pPr>
                    <a:fld id="{62D9F2AF-CFED-46BD-B7FA-98185AD20D33}" type="VALUE">
                      <a:rPr lang="en-US" altLang="zh-TW" smtClean="0"/>
                      <a:pPr marL="0" marR="0" lvl="0" indent="0" algn="ctr" defTabSz="914400" rtl="0" eaLnBrk="1" fontAlgn="auto" latinLnBrk="0" hangingPunct="1">
                        <a:lnSpc>
                          <a:spcPct val="100000"/>
                        </a:lnSpc>
                        <a:spcBef>
                          <a:spcPts val="0"/>
                        </a:spcBef>
                        <a:spcAft>
                          <a:spcPts val="0"/>
                        </a:spcAft>
                        <a:buClrTx/>
                        <a:buSzTx/>
                        <a:buFontTx/>
                        <a:buNone/>
                        <a:tabLst/>
                        <a:defRPr sz="1000" b="0" i="0" u="none" strike="noStrike" kern="1200" baseline="0">
                          <a:solidFill>
                            <a:prstClr val="black"/>
                          </a:solidFill>
                          <a:latin typeface="微軟正黑體" panose="020B0604030504040204" pitchFamily="34" charset="-120"/>
                          <a:ea typeface="微軟正黑體" panose="020B0604030504040204" pitchFamily="34" charset="-120"/>
                          <a:cs typeface="+mn-cs"/>
                        </a:defRPr>
                      </a:pPr>
                      <a:t>[值]</a:t>
                    </a:fld>
                    <a:r>
                      <a:rPr lang="zh-TW" altLang="en-US" sz="1000" b="0" i="0" u="none" strike="noStrike" kern="1200" baseline="30000" dirty="0">
                        <a:solidFill>
                          <a:prstClr val="black"/>
                        </a:solidFill>
                        <a:latin typeface="微軟正黑體" panose="020B0604030504040204" pitchFamily="34" charset="-120"/>
                        <a:ea typeface="微軟正黑體" panose="020B0604030504040204" pitchFamily="34" charset="-120"/>
                      </a:rPr>
                      <a:t>註</a:t>
                    </a:r>
                  </a:p>
                </c:rich>
              </c:tx>
              <c:spPr>
                <a:noFill/>
                <a:ln>
                  <a:noFill/>
                </a:ln>
                <a:effectLst/>
              </c:sp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5B49-4AF3-AE8D-23261941FF1F}"/>
                </c:ext>
              </c:extLst>
            </c:dLbl>
            <c:dLbl>
              <c:idx val="3"/>
              <c:tx>
                <c:rich>
                  <a:bodyPr/>
                  <a:lstStyle/>
                  <a:p>
                    <a:fld id="{18951E71-4F9C-44CC-A770-C0704B9DD482}" type="VALUE">
                      <a:rPr lang="en-US" altLang="zh-TW" smtClean="0"/>
                      <a:pPr/>
                      <a:t>[值]</a:t>
                    </a:fld>
                    <a:endParaRPr lang="zh-TW" alt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1B5-4FBA-8905-98DE8962A36E}"/>
                </c:ext>
              </c:extLst>
            </c:dLbl>
            <c:spPr>
              <a:noFill/>
              <a:ln>
                <a:noFill/>
              </a:ln>
              <a:effectLst/>
            </c:spPr>
            <c:txPr>
              <a:bodyPr/>
              <a:lstStyle/>
              <a:p>
                <a:pPr>
                  <a:defRPr sz="1000">
                    <a:latin typeface="微軟正黑體" panose="020B0604030504040204" pitchFamily="34" charset="-120"/>
                    <a:ea typeface="微軟正黑體" panose="020B0604030504040204" pitchFamily="34" charset="-12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工作表1!$D$1:$I$1</c:f>
              <c:strCache>
                <c:ptCount val="6"/>
                <c:pt idx="0">
                  <c:v>FY21</c:v>
                </c:pt>
                <c:pt idx="1">
                  <c:v>FY22</c:v>
                </c:pt>
                <c:pt idx="2">
                  <c:v>FY23</c:v>
                </c:pt>
                <c:pt idx="3">
                  <c:v>FY24</c:v>
                </c:pt>
                <c:pt idx="4">
                  <c:v>FY25</c:v>
                </c:pt>
                <c:pt idx="5">
                  <c:v>FY26</c:v>
                </c:pt>
              </c:strCache>
            </c:strRef>
          </c:cat>
          <c:val>
            <c:numRef>
              <c:f>工作表1!$D$2:$I$2</c:f>
              <c:numCache>
                <c:formatCode>#,##0</c:formatCode>
                <c:ptCount val="6"/>
                <c:pt idx="0">
                  <c:v>5951</c:v>
                </c:pt>
                <c:pt idx="1">
                  <c:v>5731</c:v>
                </c:pt>
                <c:pt idx="2">
                  <c:v>793</c:v>
                </c:pt>
                <c:pt idx="3">
                  <c:v>3760</c:v>
                </c:pt>
                <c:pt idx="4">
                  <c:v>12384.4</c:v>
                </c:pt>
                <c:pt idx="5">
                  <c:v>18013</c:v>
                </c:pt>
              </c:numCache>
            </c:numRef>
          </c:val>
          <c:extLst>
            <c:ext xmlns:c16="http://schemas.microsoft.com/office/drawing/2014/chart" uri="{C3380CC4-5D6E-409C-BE32-E72D297353CC}">
              <c16:uniqueId val="{00000000-AEF9-4F95-B546-BD8E67DC4FA4}"/>
            </c:ext>
          </c:extLst>
        </c:ser>
        <c:dLbls>
          <c:showLegendKey val="0"/>
          <c:showVal val="0"/>
          <c:showCatName val="0"/>
          <c:showSerName val="0"/>
          <c:showPercent val="0"/>
          <c:showBubbleSize val="0"/>
        </c:dLbls>
        <c:gapWidth val="100"/>
        <c:axId val="45171456"/>
        <c:axId val="45172992"/>
      </c:barChart>
      <c:lineChart>
        <c:grouping val="stacked"/>
        <c:varyColors val="0"/>
        <c:ser>
          <c:idx val="1"/>
          <c:order val="1"/>
          <c:tx>
            <c:strRef>
              <c:f>工作表1!$A$3</c:f>
              <c:strCache>
                <c:ptCount val="1"/>
                <c:pt idx="0">
                  <c:v>營收</c:v>
                </c:pt>
              </c:strCache>
            </c:strRef>
          </c:tx>
          <c:spPr>
            <a:ln w="19050">
              <a:solidFill>
                <a:schemeClr val="tx1">
                  <a:lumMod val="65000"/>
                  <a:lumOff val="35000"/>
                </a:schemeClr>
              </a:solidFill>
            </a:ln>
          </c:spPr>
          <c:marker>
            <c:symbol val="circle"/>
            <c:size val="7"/>
            <c:spPr>
              <a:solidFill>
                <a:schemeClr val="bg1"/>
              </a:solidFill>
              <a:ln w="19050">
                <a:solidFill>
                  <a:schemeClr val="tx1">
                    <a:lumMod val="65000"/>
                    <a:lumOff val="35000"/>
                  </a:schemeClr>
                </a:solidFill>
              </a:ln>
            </c:spPr>
          </c:marker>
          <c:dLbls>
            <c:dLbl>
              <c:idx val="0"/>
              <c:layout>
                <c:manualLayout>
                  <c:x val="-7.0359487118119735E-2"/>
                  <c:y val="-7.51674307854108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43A-4AB1-9092-36864B4B8671}"/>
                </c:ext>
              </c:extLst>
            </c:dLbl>
            <c:dLbl>
              <c:idx val="1"/>
              <c:layout>
                <c:manualLayout>
                  <c:x val="-7.7395527459305141E-2"/>
                  <c:y val="-7.51674307854108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43A-4AB1-9092-36864B4B8671}"/>
                </c:ext>
              </c:extLst>
            </c:dLbl>
            <c:dLbl>
              <c:idx val="2"/>
              <c:layout>
                <c:manualLayout>
                  <c:x val="-7.7044407453818867E-2"/>
                  <c:y val="-7.51674307854109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43A-4AB1-9092-36864B4B8671}"/>
                </c:ext>
              </c:extLst>
            </c:dLbl>
            <c:dLbl>
              <c:idx val="3"/>
              <c:layout>
                <c:manualLayout>
                  <c:x val="-8.0211470003304225E-2"/>
                  <c:y val="-8.09495408458270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43A-4AB1-9092-36864B4B8671}"/>
                </c:ext>
              </c:extLst>
            </c:dLbl>
            <c:dLbl>
              <c:idx val="4"/>
              <c:layout>
                <c:manualLayout>
                  <c:x val="-8.0562590008790583E-2"/>
                  <c:y val="-6.93853207249947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43A-4AB1-9092-36864B4B8671}"/>
                </c:ext>
              </c:extLst>
            </c:dLbl>
            <c:dLbl>
              <c:idx val="5"/>
              <c:layout>
                <c:manualLayout>
                  <c:x val="-2.6722526667539478E-2"/>
                  <c:y val="-6.93853207249946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43A-4AB1-9092-36864B4B8671}"/>
                </c:ext>
              </c:extLst>
            </c:dLbl>
            <c:dLbl>
              <c:idx val="6"/>
              <c:layout>
                <c:manualLayout>
                  <c:x val="-8.0913410185837684E-2"/>
                  <c:y val="-5.78211006041622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43A-4AB1-9092-36864B4B8671}"/>
                </c:ext>
              </c:extLst>
            </c:dLbl>
            <c:dLbl>
              <c:idx val="7"/>
              <c:layout>
                <c:manualLayout>
                  <c:x val="-1.0553923067717959E-2"/>
                  <c:y val="-4.62568804833297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43A-4AB1-9092-36864B4B8671}"/>
                </c:ext>
              </c:extLst>
            </c:dLbl>
            <c:numFmt formatCode="#,##0_ ;[Red]\-#,##0\ " sourceLinked="0"/>
            <c:spPr>
              <a:noFill/>
              <a:ln>
                <a:noFill/>
              </a:ln>
              <a:effectLst/>
            </c:spPr>
            <c:txPr>
              <a:bodyPr/>
              <a:lstStyle/>
              <a:p>
                <a:pPr>
                  <a:defRPr sz="900">
                    <a:latin typeface="微軟正黑體" panose="020B0604030504040204" pitchFamily="34" charset="-120"/>
                    <a:ea typeface="微軟正黑體" panose="020B0604030504040204" pitchFamily="34" charset="-120"/>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工作表1!$D$1:$I$1</c:f>
              <c:strCache>
                <c:ptCount val="6"/>
                <c:pt idx="0">
                  <c:v>FY21</c:v>
                </c:pt>
                <c:pt idx="1">
                  <c:v>FY22</c:v>
                </c:pt>
                <c:pt idx="2">
                  <c:v>FY23</c:v>
                </c:pt>
                <c:pt idx="3">
                  <c:v>FY24</c:v>
                </c:pt>
                <c:pt idx="4">
                  <c:v>FY25</c:v>
                </c:pt>
                <c:pt idx="5">
                  <c:v>FY26</c:v>
                </c:pt>
              </c:strCache>
            </c:strRef>
          </c:cat>
          <c:val>
            <c:numRef>
              <c:f>工作表1!$D$3:$I$3</c:f>
              <c:numCache>
                <c:formatCode>#,##0</c:formatCode>
                <c:ptCount val="6"/>
                <c:pt idx="0">
                  <c:v>28318</c:v>
                </c:pt>
                <c:pt idx="1">
                  <c:v>28541</c:v>
                </c:pt>
                <c:pt idx="2">
                  <c:v>34124</c:v>
                </c:pt>
                <c:pt idx="3">
                  <c:v>45043</c:v>
                </c:pt>
                <c:pt idx="4">
                  <c:v>61302.400000000001</c:v>
                </c:pt>
                <c:pt idx="5">
                  <c:v>72846.5</c:v>
                </c:pt>
              </c:numCache>
            </c:numRef>
          </c:val>
          <c:smooth val="0"/>
          <c:extLst>
            <c:ext xmlns:c16="http://schemas.microsoft.com/office/drawing/2014/chart" uri="{C3380CC4-5D6E-409C-BE32-E72D297353CC}">
              <c16:uniqueId val="{00000001-AEF9-4F95-B546-BD8E67DC4FA4}"/>
            </c:ext>
          </c:extLst>
        </c:ser>
        <c:dLbls>
          <c:showLegendKey val="0"/>
          <c:showVal val="0"/>
          <c:showCatName val="0"/>
          <c:showSerName val="0"/>
          <c:showPercent val="0"/>
          <c:showBubbleSize val="0"/>
        </c:dLbls>
        <c:marker val="1"/>
        <c:smooth val="0"/>
        <c:axId val="45171456"/>
        <c:axId val="45172992"/>
      </c:lineChart>
      <c:catAx>
        <c:axId val="45171456"/>
        <c:scaling>
          <c:orientation val="minMax"/>
        </c:scaling>
        <c:delete val="0"/>
        <c:axPos val="b"/>
        <c:numFmt formatCode="General" sourceLinked="0"/>
        <c:majorTickMark val="out"/>
        <c:minorTickMark val="none"/>
        <c:tickLblPos val="low"/>
        <c:txPr>
          <a:bodyPr/>
          <a:lstStyle/>
          <a:p>
            <a:pPr>
              <a:defRPr sz="900">
                <a:latin typeface="微軟正黑體" panose="020B0604030504040204" pitchFamily="34" charset="-120"/>
                <a:ea typeface="微軟正黑體" panose="020B0604030504040204" pitchFamily="34" charset="-120"/>
              </a:defRPr>
            </a:pPr>
            <a:endParaRPr lang="zh-TW"/>
          </a:p>
        </c:txPr>
        <c:crossAx val="45172992"/>
        <c:crosses val="autoZero"/>
        <c:auto val="1"/>
        <c:lblAlgn val="ctr"/>
        <c:lblOffset val="100"/>
        <c:noMultiLvlLbl val="0"/>
      </c:catAx>
      <c:valAx>
        <c:axId val="45172992"/>
        <c:scaling>
          <c:orientation val="minMax"/>
        </c:scaling>
        <c:delete val="1"/>
        <c:axPos val="l"/>
        <c:numFmt formatCode="#,##0" sourceLinked="1"/>
        <c:majorTickMark val="out"/>
        <c:minorTickMark val="none"/>
        <c:tickLblPos val="nextTo"/>
        <c:crossAx val="45171456"/>
        <c:crosses val="autoZero"/>
        <c:crossBetween val="between"/>
      </c:valAx>
    </c:plotArea>
    <c:legend>
      <c:legendPos val="t"/>
      <c:layout>
        <c:manualLayout>
          <c:xMode val="edge"/>
          <c:yMode val="edge"/>
          <c:x val="0.23153180320545036"/>
          <c:y val="4.349330504500485E-3"/>
          <c:w val="0.5446808510638298"/>
          <c:h val="0.11082529377216666"/>
        </c:manualLayout>
      </c:layout>
      <c:overlay val="0"/>
      <c:txPr>
        <a:bodyPr/>
        <a:lstStyle/>
        <a:p>
          <a:pPr>
            <a:defRPr b="1">
              <a:latin typeface="微軟正黑體" panose="020B0604030504040204" pitchFamily="34" charset="-120"/>
              <a:ea typeface="微軟正黑體" panose="020B0604030504040204" pitchFamily="34" charset="-120"/>
            </a:defRPr>
          </a:pPr>
          <a:endParaRPr lang="zh-TW"/>
        </a:p>
      </c:txPr>
    </c:legend>
    <c:plotVisOnly val="1"/>
    <c:dispBlanksAs val="gap"/>
    <c:showDLblsOverMax val="0"/>
  </c:chart>
  <c:txPr>
    <a:bodyPr/>
    <a:lstStyle/>
    <a:p>
      <a:pPr>
        <a:defRPr sz="1000"/>
      </a:pPr>
      <a:endParaRPr lang="zh-TW"/>
    </a:p>
  </c:txPr>
  <c:externalData r:id="rId1">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0.0017</cdr:x>
      <cdr:y>0</cdr:y>
    </cdr:from>
    <cdr:to>
      <cdr:x>0.16427</cdr:x>
      <cdr:y>0.10601</cdr:y>
    </cdr:to>
    <cdr:sp macro="" textlink="">
      <cdr:nvSpPr>
        <cdr:cNvPr id="8" name="文字方塊 23"/>
        <cdr:cNvSpPr txBox="1"/>
      </cdr:nvSpPr>
      <cdr:spPr>
        <a:xfrm xmlns:a="http://schemas.openxmlformats.org/drawingml/2006/main">
          <a:off x="7231" y="-1124744"/>
          <a:ext cx="691469" cy="264813"/>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倍</a:t>
          </a:r>
          <a:r>
            <a:rPr lang="en-US" altLang="zh-TW" sz="1000" dirty="0">
              <a:latin typeface="微軟正黑體" panose="020B0604030504040204" pitchFamily="34" charset="-120"/>
              <a:ea typeface="微軟正黑體" panose="020B0604030504040204" pitchFamily="34" charset="-120"/>
            </a:rPr>
            <a:t>)</a:t>
          </a:r>
          <a:endParaRPr lang="zh-TW" altLang="en-US" sz="1000" dirty="0">
            <a:latin typeface="微軟正黑體" panose="020B0604030504040204" pitchFamily="34" charset="-120"/>
            <a:ea typeface="微軟正黑體" panose="020B0604030504040204" pitchFamily="34" charset="-120"/>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2"/>
            <a:ext cx="2950052" cy="497126"/>
          </a:xfrm>
          <a:prstGeom prst="rect">
            <a:avLst/>
          </a:prstGeom>
        </p:spPr>
        <p:txBody>
          <a:bodyPr vert="horz" lIns="91468" tIns="45733" rIns="91468" bIns="45733" rtlCol="0"/>
          <a:lstStyle>
            <a:lvl1pPr algn="l">
              <a:defRPr sz="1200"/>
            </a:lvl1pPr>
          </a:lstStyle>
          <a:p>
            <a:endParaRPr lang="zh-TW" altLang="en-US"/>
          </a:p>
        </p:txBody>
      </p:sp>
      <p:sp>
        <p:nvSpPr>
          <p:cNvPr id="3" name="日期版面配置區 2"/>
          <p:cNvSpPr>
            <a:spLocks noGrp="1"/>
          </p:cNvSpPr>
          <p:nvPr>
            <p:ph type="dt" sz="quarter" idx="1"/>
          </p:nvPr>
        </p:nvSpPr>
        <p:spPr>
          <a:xfrm>
            <a:off x="3855563" y="2"/>
            <a:ext cx="2950051" cy="497126"/>
          </a:xfrm>
          <a:prstGeom prst="rect">
            <a:avLst/>
          </a:prstGeom>
        </p:spPr>
        <p:txBody>
          <a:bodyPr vert="horz" lIns="91468" tIns="45733" rIns="91468" bIns="45733" rtlCol="0"/>
          <a:lstStyle>
            <a:lvl1pPr algn="r">
              <a:defRPr sz="1200"/>
            </a:lvl1pPr>
          </a:lstStyle>
          <a:p>
            <a:fld id="{DB0088FA-AB4C-4EE3-831C-E6A5D9B6A47F}" type="datetimeFigureOut">
              <a:rPr lang="zh-TW" altLang="en-US" smtClean="0"/>
              <a:t>2026/5/5</a:t>
            </a:fld>
            <a:endParaRPr lang="zh-TW" altLang="en-US"/>
          </a:p>
        </p:txBody>
      </p:sp>
      <p:sp>
        <p:nvSpPr>
          <p:cNvPr id="4" name="頁尾版面配置區 3"/>
          <p:cNvSpPr>
            <a:spLocks noGrp="1"/>
          </p:cNvSpPr>
          <p:nvPr>
            <p:ph type="ftr" sz="quarter" idx="2"/>
          </p:nvPr>
        </p:nvSpPr>
        <p:spPr>
          <a:xfrm>
            <a:off x="0" y="9440624"/>
            <a:ext cx="2950052" cy="497126"/>
          </a:xfrm>
          <a:prstGeom prst="rect">
            <a:avLst/>
          </a:prstGeom>
        </p:spPr>
        <p:txBody>
          <a:bodyPr vert="horz" lIns="91468" tIns="45733" rIns="91468" bIns="45733"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5563" y="9440624"/>
            <a:ext cx="2950051" cy="497126"/>
          </a:xfrm>
          <a:prstGeom prst="rect">
            <a:avLst/>
          </a:prstGeom>
        </p:spPr>
        <p:txBody>
          <a:bodyPr vert="horz" lIns="91468" tIns="45733" rIns="91468" bIns="45733" rtlCol="0" anchor="b"/>
          <a:lstStyle>
            <a:lvl1pPr algn="r">
              <a:defRPr sz="1200"/>
            </a:lvl1pPr>
          </a:lstStyle>
          <a:p>
            <a:fld id="{E6DE1C6A-2ED3-47EA-84F1-8271108DD2DB}" type="slidenum">
              <a:rPr lang="zh-TW" altLang="en-US" smtClean="0"/>
              <a:t>‹#›</a:t>
            </a:fld>
            <a:endParaRPr lang="zh-TW" altLang="en-US"/>
          </a:p>
        </p:txBody>
      </p:sp>
    </p:spTree>
    <p:extLst>
      <p:ext uri="{BB962C8B-B14F-4D97-AF65-F5344CB8AC3E}">
        <p14:creationId xmlns:p14="http://schemas.microsoft.com/office/powerpoint/2010/main" val="2103890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9" y="2"/>
            <a:ext cx="2949786" cy="496967"/>
          </a:xfrm>
          <a:prstGeom prst="rect">
            <a:avLst/>
          </a:prstGeom>
        </p:spPr>
        <p:txBody>
          <a:bodyPr vert="horz" lIns="91160" tIns="45572" rIns="91160" bIns="45572" rtlCol="0"/>
          <a:lstStyle>
            <a:lvl1pPr algn="l">
              <a:defRPr sz="1200"/>
            </a:lvl1pPr>
          </a:lstStyle>
          <a:p>
            <a:endParaRPr lang="zh-TW" altLang="en-US"/>
          </a:p>
        </p:txBody>
      </p:sp>
      <p:sp>
        <p:nvSpPr>
          <p:cNvPr id="3" name="日期版面配置區 2"/>
          <p:cNvSpPr>
            <a:spLocks noGrp="1"/>
          </p:cNvSpPr>
          <p:nvPr>
            <p:ph type="dt" idx="1"/>
          </p:nvPr>
        </p:nvSpPr>
        <p:spPr>
          <a:xfrm>
            <a:off x="3855839" y="2"/>
            <a:ext cx="2949786" cy="496967"/>
          </a:xfrm>
          <a:prstGeom prst="rect">
            <a:avLst/>
          </a:prstGeom>
        </p:spPr>
        <p:txBody>
          <a:bodyPr vert="horz" lIns="91160" tIns="45572" rIns="91160" bIns="45572" rtlCol="0"/>
          <a:lstStyle>
            <a:lvl1pPr algn="r">
              <a:defRPr sz="1200"/>
            </a:lvl1pPr>
          </a:lstStyle>
          <a:p>
            <a:fld id="{35708A9D-C909-4D66-A4DC-8E952B844F82}" type="datetimeFigureOut">
              <a:rPr lang="zh-TW" altLang="en-US" smtClean="0"/>
              <a:t>2026/5/5</a:t>
            </a:fld>
            <a:endParaRPr lang="zh-TW" altLang="en-US"/>
          </a:p>
        </p:txBody>
      </p:sp>
      <p:sp>
        <p:nvSpPr>
          <p:cNvPr id="4" name="投影片圖像版面配置區 3"/>
          <p:cNvSpPr>
            <a:spLocks noGrp="1" noRot="1" noChangeAspect="1"/>
          </p:cNvSpPr>
          <p:nvPr>
            <p:ph type="sldImg" idx="2"/>
          </p:nvPr>
        </p:nvSpPr>
        <p:spPr>
          <a:xfrm>
            <a:off x="919163" y="746125"/>
            <a:ext cx="4968875" cy="3725863"/>
          </a:xfrm>
          <a:prstGeom prst="rect">
            <a:avLst/>
          </a:prstGeom>
          <a:noFill/>
          <a:ln w="12700">
            <a:solidFill>
              <a:prstClr val="black"/>
            </a:solidFill>
          </a:ln>
        </p:spPr>
        <p:txBody>
          <a:bodyPr vert="horz" lIns="91160" tIns="45572" rIns="91160" bIns="45572" rtlCol="0" anchor="ctr"/>
          <a:lstStyle/>
          <a:p>
            <a:endParaRPr lang="zh-TW" altLang="en-US"/>
          </a:p>
        </p:txBody>
      </p:sp>
      <p:sp>
        <p:nvSpPr>
          <p:cNvPr id="5" name="備忘稿版面配置區 4"/>
          <p:cNvSpPr>
            <a:spLocks noGrp="1"/>
          </p:cNvSpPr>
          <p:nvPr>
            <p:ph type="body" sz="quarter" idx="3"/>
          </p:nvPr>
        </p:nvSpPr>
        <p:spPr>
          <a:xfrm>
            <a:off x="680721" y="4721186"/>
            <a:ext cx="5445760" cy="4472702"/>
          </a:xfrm>
          <a:prstGeom prst="rect">
            <a:avLst/>
          </a:prstGeom>
        </p:spPr>
        <p:txBody>
          <a:bodyPr vert="horz" lIns="91160" tIns="45572" rIns="91160" bIns="45572"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29" y="9440676"/>
            <a:ext cx="2949786" cy="496967"/>
          </a:xfrm>
          <a:prstGeom prst="rect">
            <a:avLst/>
          </a:prstGeom>
        </p:spPr>
        <p:txBody>
          <a:bodyPr vert="horz" lIns="91160" tIns="45572" rIns="91160" bIns="45572"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9" y="9440676"/>
            <a:ext cx="2949786" cy="496967"/>
          </a:xfrm>
          <a:prstGeom prst="rect">
            <a:avLst/>
          </a:prstGeom>
        </p:spPr>
        <p:txBody>
          <a:bodyPr vert="horz" lIns="91160" tIns="45572" rIns="91160" bIns="45572" rtlCol="0" anchor="b"/>
          <a:lstStyle>
            <a:lvl1pPr algn="r">
              <a:defRPr sz="1200"/>
            </a:lvl1pPr>
          </a:lstStyle>
          <a:p>
            <a:fld id="{677EE9C5-7ACF-43E8-ABC9-16737D2E075F}" type="slidenum">
              <a:rPr lang="zh-TW" altLang="en-US" smtClean="0"/>
              <a:t>‹#›</a:t>
            </a:fld>
            <a:endParaRPr lang="zh-TW" altLang="en-US"/>
          </a:p>
        </p:txBody>
      </p:sp>
    </p:spTree>
    <p:extLst>
      <p:ext uri="{BB962C8B-B14F-4D97-AF65-F5344CB8AC3E}">
        <p14:creationId xmlns:p14="http://schemas.microsoft.com/office/powerpoint/2010/main" val="225193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pPr defTabSz="915496">
              <a:defRPr/>
            </a:pPr>
            <a:r>
              <a:rPr lang="zh-TW" altLang="en-US" dirty="0">
                <a:latin typeface="微軟正黑體" panose="020B0604030504040204" pitchFamily="34" charset="-120"/>
                <a:ea typeface="微軟正黑體" panose="020B0604030504040204" pitchFamily="34" charset="-120"/>
              </a:rPr>
              <a:t>效果比</a:t>
            </a:r>
            <a:r>
              <a:rPr lang="en-US" altLang="zh-TW" dirty="0">
                <a:latin typeface="微軟正黑體" panose="020B0604030504040204" pitchFamily="34" charset="-120"/>
                <a:ea typeface="微軟正黑體" panose="020B0604030504040204" pitchFamily="34" charset="-120"/>
              </a:rPr>
              <a:t>Wegovy</a:t>
            </a:r>
            <a:r>
              <a:rPr lang="zh-TW" altLang="en-US" dirty="0">
                <a:latin typeface="微軟正黑體" panose="020B0604030504040204" pitchFamily="34" charset="-120"/>
                <a:ea typeface="微軟正黑體" panose="020B0604030504040204" pitchFamily="34" charset="-120"/>
              </a:rPr>
              <a:t>更好</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https://news.cnyes.com/news/id/5798226</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50%</a:t>
            </a:r>
          </a:p>
          <a:p>
            <a:pPr defTabSz="915496">
              <a:defRPr/>
            </a:pPr>
            <a:r>
              <a:rPr lang="en-US" altLang="zh-TW" dirty="0">
                <a:latin typeface="微軟正黑體" panose="020B0604030504040204" pitchFamily="34" charset="-120"/>
                <a:ea typeface="微軟正黑體" panose="020B0604030504040204" pitchFamily="34" charset="-120"/>
              </a:rPr>
              <a:t>https://www.reuters.com/business/healthcare-pharmaceuticals/eli-lilly-beats-q1-profit-estimates-strength-diabetes-drug-2025-05-01/</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zh-TW" altLang="en-US" dirty="0">
                <a:latin typeface="微軟正黑體" panose="020B0604030504040204" pitchFamily="34" charset="-120"/>
                <a:ea typeface="微軟正黑體" panose="020B0604030504040204" pitchFamily="34" charset="-120"/>
              </a:rPr>
              <a:t>阿茲海默</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https://news.gbimonthly.com/tw/article/show.php?num=58277</a:t>
            </a:r>
          </a:p>
          <a:p>
            <a:pPr defTabSz="915496">
              <a:defRPr/>
            </a:pPr>
            <a:r>
              <a:rPr lang="en-US" altLang="zh-TW" dirty="0">
                <a:latin typeface="微軟正黑體" panose="020B0604030504040204" pitchFamily="34" charset="-120"/>
                <a:ea typeface="微軟正黑體" panose="020B0604030504040204" pitchFamily="34" charset="-120"/>
              </a:rPr>
              <a:t>https://udn.com/news/story/6811/8022541</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48</a:t>
            </a:r>
            <a:r>
              <a:rPr lang="zh-TW" altLang="en-US" dirty="0">
                <a:latin typeface="微軟正黑體" panose="020B0604030504040204" pitchFamily="34" charset="-120"/>
                <a:ea typeface="微軟正黑體" panose="020B0604030504040204" pitchFamily="34" charset="-120"/>
              </a:rPr>
              <a:t>週內減重</a:t>
            </a:r>
            <a:r>
              <a:rPr lang="en-US" altLang="zh-TW" dirty="0">
                <a:latin typeface="微軟正黑體" panose="020B0604030504040204" pitchFamily="34" charset="-120"/>
                <a:ea typeface="微軟正黑體" panose="020B0604030504040204" pitchFamily="34" charset="-120"/>
              </a:rPr>
              <a:t>24.2%</a:t>
            </a:r>
          </a:p>
          <a:p>
            <a:pPr defTabSz="915496">
              <a:defRPr/>
            </a:pPr>
            <a:r>
              <a:rPr lang="en-US" altLang="zh-TW" dirty="0">
                <a:latin typeface="微軟正黑體" panose="020B0604030504040204" pitchFamily="34" charset="-120"/>
                <a:ea typeface="微軟正黑體" panose="020B0604030504040204" pitchFamily="34" charset="-120"/>
              </a:rPr>
              <a:t>https://www.barrons.com/articles/wegovy-zepbound-weight-loss-drugs-d5dadc4c</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zh-TW" altLang="en-US" dirty="0">
                <a:latin typeface="微軟正黑體" panose="020B0604030504040204" pitchFamily="34" charset="-120"/>
                <a:ea typeface="微軟正黑體" panose="020B0604030504040204" pitchFamily="34" charset="-120"/>
              </a:rPr>
              <a:t>睡眠呼吸中止症</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https://news.cnyes.com/news/id/5610673</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a:t>
            </a: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FY25</a:t>
            </a:r>
            <a:r>
              <a:rPr lang="zh-TW" altLang="en-US" dirty="0">
                <a:latin typeface="微軟正黑體" panose="020B0604030504040204" pitchFamily="34" charset="-120"/>
                <a:ea typeface="微軟正黑體" panose="020B0604030504040204" pitchFamily="34" charset="-120"/>
              </a:rPr>
              <a:t>財報</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https://delivery-p137454-e1438138.adobeaemcloud.com/adobe/assets/urn:aaid:aem:abeeb05f-ef8f-4daf-88cf-3e0c9df144e0/renditions/original/as/2026-YIR_Mar13-FINAL.pdf?assetname=2026-YIR_Mar13-FINAL.pdf</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Companies</a:t>
            </a:r>
            <a:r>
              <a:rPr lang="zh-TW" altLang="en-US" dirty="0">
                <a:latin typeface="微軟正黑體" panose="020B0604030504040204" pitchFamily="34" charset="-120"/>
                <a:ea typeface="微軟正黑體" panose="020B0604030504040204" pitchFamily="34" charset="-120"/>
              </a:rPr>
              <a:t> </a:t>
            </a:r>
            <a:r>
              <a:rPr lang="en-US" altLang="zh-TW" dirty="0" err="1">
                <a:latin typeface="微軟正黑體" panose="020B0604030504040204" pitchFamily="34" charset="-120"/>
                <a:ea typeface="微軟正黑體" panose="020B0604030504040204" pitchFamily="34" charset="-120"/>
              </a:rPr>
              <a:t>Marketcap</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https://companiesmarketcap.com/pharmaceuticals/largest-pharmaceutical-companies-by-market-cap/</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1Q26</a:t>
            </a:r>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earning call</a:t>
            </a: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https://investor.lilly.com/static-files/587c9bd3-6551-45c3-989d-ab60c49036bb</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sz="1200" dirty="0">
                <a:latin typeface="微軟正黑體" panose="020B0604030504040204" pitchFamily="34" charset="-120"/>
                <a:ea typeface="微軟正黑體" panose="020B0604030504040204" pitchFamily="34" charset="-120"/>
              </a:rPr>
              <a:t>Drug discovery and development</a:t>
            </a:r>
          </a:p>
          <a:p>
            <a:pPr defTabSz="915496">
              <a:defRPr/>
            </a:pPr>
            <a:r>
              <a:rPr lang="en-US" altLang="zh-TW" dirty="0">
                <a:latin typeface="微軟正黑體" panose="020B0604030504040204" pitchFamily="34" charset="-120"/>
                <a:ea typeface="微軟正黑體" panose="020B0604030504040204" pitchFamily="34" charset="-120"/>
              </a:rPr>
              <a:t>https://www.drugdiscoverytrends.com/pharma-50-2026-the-top-spot-in-pharma-rarely-lasts-lilly-is-betting-it-can-change-that/</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(FY25</a:t>
            </a:r>
            <a:r>
              <a:rPr lang="zh-TW" altLang="en-US" dirty="0">
                <a:latin typeface="微軟正黑體" panose="020B0604030504040204" pitchFamily="34" charset="-120"/>
                <a:ea typeface="微軟正黑體" panose="020B0604030504040204" pitchFamily="34" charset="-120"/>
              </a:rPr>
              <a:t>財報</a:t>
            </a:r>
            <a:r>
              <a:rPr lang="en-US" altLang="zh-TW" dirty="0">
                <a:latin typeface="微軟正黑體" panose="020B0604030504040204" pitchFamily="34" charset="-120"/>
                <a:ea typeface="微軟正黑體" panose="020B0604030504040204" pitchFamily="34" charset="-120"/>
              </a:rPr>
              <a:t>, P65)</a:t>
            </a:r>
            <a:r>
              <a:rPr lang="zh-TW" altLang="en-US" dirty="0">
                <a:latin typeface="微軟正黑體" panose="020B0604030504040204" pitchFamily="34" charset="-120"/>
                <a:ea typeface="微軟正黑體" panose="020B0604030504040204" pitchFamily="34" charset="-120"/>
              </a:rPr>
              <a:t>看藥品銷售排名</a:t>
            </a: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(FY25</a:t>
            </a:r>
            <a:r>
              <a:rPr lang="zh-TW" altLang="en-US" dirty="0">
                <a:latin typeface="微軟正黑體" panose="020B0604030504040204" pitchFamily="34" charset="-120"/>
                <a:ea typeface="微軟正黑體" panose="020B0604030504040204" pitchFamily="34" charset="-120"/>
              </a:rPr>
              <a:t>財報</a:t>
            </a:r>
            <a:r>
              <a:rPr lang="en-US" altLang="zh-TW" dirty="0">
                <a:latin typeface="微軟正黑體" panose="020B0604030504040204" pitchFamily="34" charset="-120"/>
                <a:ea typeface="微軟正黑體" panose="020B0604030504040204" pitchFamily="34" charset="-120"/>
              </a:rPr>
              <a:t>, P65)</a:t>
            </a:r>
            <a:r>
              <a:rPr lang="zh-TW" altLang="en-US" dirty="0">
                <a:latin typeface="微軟正黑體" panose="020B0604030504040204" pitchFamily="34" charset="-120"/>
                <a:ea typeface="微軟正黑體" panose="020B0604030504040204" pitchFamily="34" charset="-120"/>
              </a:rPr>
              <a:t>兩張</a:t>
            </a:r>
            <a:r>
              <a:rPr lang="en-US" altLang="zh-TW" dirty="0">
                <a:latin typeface="微軟正黑體" panose="020B0604030504040204" pitchFamily="34" charset="-120"/>
                <a:ea typeface="微軟正黑體" panose="020B0604030504040204" pitchFamily="34" charset="-120"/>
              </a:rPr>
              <a:t>Segment</a:t>
            </a:r>
            <a:r>
              <a:rPr lang="zh-TW" altLang="en-US" dirty="0">
                <a:latin typeface="微軟正黑體" panose="020B0604030504040204" pitchFamily="34" charset="-120"/>
                <a:ea typeface="微軟正黑體" panose="020B0604030504040204" pitchFamily="34" charset="-120"/>
              </a:rPr>
              <a:t>的圖</a:t>
            </a: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(Companies</a:t>
            </a:r>
            <a:r>
              <a:rPr lang="zh-TW" altLang="en-US" dirty="0">
                <a:latin typeface="微軟正黑體" panose="020B0604030504040204" pitchFamily="34" charset="-120"/>
                <a:ea typeface="微軟正黑體" panose="020B0604030504040204" pitchFamily="34" charset="-120"/>
              </a:rPr>
              <a:t> </a:t>
            </a:r>
            <a:r>
              <a:rPr lang="en-US" altLang="zh-TW" dirty="0" err="1">
                <a:latin typeface="微軟正黑體" panose="020B0604030504040204" pitchFamily="34" charset="-120"/>
                <a:ea typeface="微軟正黑體" panose="020B0604030504040204" pitchFamily="34" charset="-120"/>
              </a:rPr>
              <a:t>Marketcap</a:t>
            </a:r>
            <a:r>
              <a:rPr lang="en-US" altLang="zh-TW" dirty="0">
                <a:latin typeface="微軟正黑體" panose="020B0604030504040204" pitchFamily="34" charset="-120"/>
                <a:ea typeface="微軟正黑體" panose="020B0604030504040204" pitchFamily="34" charset="-120"/>
              </a:rPr>
              <a:t>) </a:t>
            </a:r>
            <a:r>
              <a:rPr lang="zh-TW" altLang="en-US" sz="1400" b="0" dirty="0">
                <a:solidFill>
                  <a:schemeClr val="tx1">
                    <a:lumMod val="95000"/>
                    <a:lumOff val="5000"/>
                  </a:schemeClr>
                </a:solidFill>
                <a:latin typeface="微軟正黑體" panose="020B0604030504040204" pitchFamily="34" charset="-120"/>
                <a:ea typeface="微軟正黑體" panose="020B0604030504040204" pitchFamily="34" charset="-120"/>
              </a:rPr>
              <a:t>全球製藥企業市值排名</a:t>
            </a:r>
            <a:endParaRPr lang="en-US" altLang="zh-TW" sz="1400" b="0" dirty="0">
              <a:solidFill>
                <a:schemeClr val="tx1">
                  <a:lumMod val="95000"/>
                  <a:lumOff val="5000"/>
                </a:schemeClr>
              </a:solidFill>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(1Q26</a:t>
            </a:r>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earning call, </a:t>
            </a:r>
            <a:r>
              <a:rPr lang="en-US" altLang="zh-TW" b="0" dirty="0">
                <a:latin typeface="微軟正黑體" panose="020B0604030504040204" pitchFamily="34" charset="-120"/>
                <a:ea typeface="微軟正黑體" panose="020B0604030504040204" pitchFamily="34" charset="-120"/>
              </a:rPr>
              <a:t>P9</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美國腸促胰素類藥物市佔率約</a:t>
            </a:r>
            <a:r>
              <a:rPr lang="en-US" altLang="zh-TW" dirty="0">
                <a:latin typeface="微軟正黑體" panose="020B0604030504040204" pitchFamily="34" charset="-120"/>
                <a:ea typeface="微軟正黑體" panose="020B0604030504040204" pitchFamily="34" charset="-120"/>
              </a:rPr>
              <a:t>60.1%</a:t>
            </a:r>
            <a:endParaRPr lang="en-US" altLang="zh-TW" sz="1200"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sz="1200" dirty="0">
                <a:latin typeface="微軟正黑體" panose="020B0604030504040204" pitchFamily="34" charset="-120"/>
                <a:ea typeface="微軟正黑體" panose="020B0604030504040204" pitchFamily="34" charset="-120"/>
              </a:rPr>
              <a:t>(Drug discovery and development)</a:t>
            </a:r>
            <a:r>
              <a:rPr lang="zh-TW" altLang="en-US" sz="1200" dirty="0">
                <a:latin typeface="微軟正黑體" panose="020B0604030504040204" pitchFamily="34" charset="-120"/>
                <a:ea typeface="微軟正黑體" panose="020B0604030504040204" pitchFamily="34" charset="-120"/>
              </a:rPr>
              <a:t> </a:t>
            </a:r>
            <a:r>
              <a:rPr lang="zh-TW" altLang="en-US" sz="1200" b="0" dirty="0">
                <a:solidFill>
                  <a:schemeClr val="tx1">
                    <a:lumMod val="95000"/>
                    <a:lumOff val="5000"/>
                  </a:schemeClr>
                </a:solidFill>
                <a:latin typeface="微軟正黑體" panose="020B0604030504040204" pitchFamily="34" charset="-120"/>
                <a:ea typeface="微軟正黑體" panose="020B0604030504040204" pitchFamily="34" charset="-120"/>
              </a:rPr>
              <a:t>全球製藥企業營收排名</a:t>
            </a:r>
            <a:endParaRPr lang="en-US" altLang="zh-TW" sz="1200"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defTabSz="915496">
              <a:defRPr/>
            </a:pPr>
            <a:endParaRPr lang="en-US" altLang="zh-TW"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5"/>
          </p:nvPr>
        </p:nvSpPr>
        <p:spPr/>
        <p:txBody>
          <a:bodyPr/>
          <a:lstStyle/>
          <a:p>
            <a:fld id="{677EE9C5-7ACF-43E8-ABC9-16737D2E075F}" type="slidenum">
              <a:rPr lang="zh-TW" altLang="en-US" smtClean="0"/>
              <a:t>2</a:t>
            </a:fld>
            <a:endParaRPr lang="zh-TW" altLang="en-US" dirty="0"/>
          </a:p>
        </p:txBody>
      </p:sp>
    </p:spTree>
    <p:extLst>
      <p:ext uri="{BB962C8B-B14F-4D97-AF65-F5344CB8AC3E}">
        <p14:creationId xmlns:p14="http://schemas.microsoft.com/office/powerpoint/2010/main" val="1180522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3</a:t>
            </a:fld>
            <a:endParaRPr lang="zh-TW" altLang="en-US"/>
          </a:p>
        </p:txBody>
      </p:sp>
    </p:spTree>
    <p:extLst>
      <p:ext uri="{BB962C8B-B14F-4D97-AF65-F5344CB8AC3E}">
        <p14:creationId xmlns:p14="http://schemas.microsoft.com/office/powerpoint/2010/main" val="1921534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Moody’s</a:t>
            </a:r>
          </a:p>
          <a:p>
            <a:r>
              <a:rPr lang="en-US" altLang="zh-TW" dirty="0"/>
              <a:t>https://www.moodys.com/research/Moodys-Ratings-affirms-Oracles-Baa2-rating-outlook-stable-Rating-Action--PR_494431</a:t>
            </a:r>
          </a:p>
          <a:p>
            <a:endParaRPr lang="en-US" altLang="zh-TW" dirty="0"/>
          </a:p>
          <a:p>
            <a:r>
              <a:rPr lang="en-US" altLang="zh-TW" dirty="0"/>
              <a:t>S&amp;P</a:t>
            </a:r>
          </a:p>
          <a:p>
            <a:r>
              <a:rPr lang="en-US" altLang="zh-TW" dirty="0"/>
              <a:t>https://www.capitaliq.spglobal.com/web/client#ratingsdirect/creditResearch?rid=3218980</a:t>
            </a:r>
            <a:endParaRPr lang="zh-TW" altLang="en-US"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4</a:t>
            </a:fld>
            <a:endParaRPr lang="zh-TW" altLang="en-US"/>
          </a:p>
        </p:txBody>
      </p:sp>
    </p:spTree>
    <p:extLst>
      <p:ext uri="{BB962C8B-B14F-4D97-AF65-F5344CB8AC3E}">
        <p14:creationId xmlns:p14="http://schemas.microsoft.com/office/powerpoint/2010/main" val="16825056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標題投影片">
    <p:spTree>
      <p:nvGrpSpPr>
        <p:cNvPr id="1" name=""/>
        <p:cNvGrpSpPr/>
        <p:nvPr/>
      </p:nvGrpSpPr>
      <p:grpSpPr>
        <a:xfrm>
          <a:off x="0" y="0"/>
          <a:ext cx="0" cy="0"/>
          <a:chOff x="0" y="0"/>
          <a:chExt cx="0" cy="0"/>
        </a:xfrm>
      </p:grpSpPr>
      <p:sp>
        <p:nvSpPr>
          <p:cNvPr id="11" name="副標題 2"/>
          <p:cNvSpPr>
            <a:spLocks noGrp="1"/>
          </p:cNvSpPr>
          <p:nvPr>
            <p:ph type="subTitle" idx="1"/>
          </p:nvPr>
        </p:nvSpPr>
        <p:spPr>
          <a:xfrm>
            <a:off x="1926186" y="3501008"/>
            <a:ext cx="4320000" cy="432048"/>
          </a:xfrm>
          <a:prstGeom prst="rect">
            <a:avLst/>
          </a:prstGeom>
        </p:spPr>
        <p:txBody>
          <a:bodyPr>
            <a:noAutofit/>
          </a:bodyPr>
          <a:lstStyle>
            <a:lvl1pPr marL="0" marR="0" indent="0" algn="l" defTabSz="685800" rtl="0" eaLnBrk="1" fontAlgn="auto" latinLnBrk="0" hangingPunct="1">
              <a:lnSpc>
                <a:spcPct val="100000"/>
              </a:lnSpc>
              <a:spcBef>
                <a:spcPct val="20000"/>
              </a:spcBef>
              <a:spcAft>
                <a:spcPts val="0"/>
              </a:spcAft>
              <a:buClrTx/>
              <a:buSzTx/>
              <a:buFontTx/>
              <a:buNone/>
              <a:tabLst/>
              <a:defRPr sz="1800" b="1">
                <a:solidFill>
                  <a:schemeClr val="bg1">
                    <a:lumMod val="50000"/>
                  </a:schemeClr>
                </a:solidFill>
                <a:latin typeface="微軟正黑體" pitchFamily="34" charset="-120"/>
                <a:ea typeface="微軟正黑體" pitchFamily="34" charset="-12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TW" altLang="en-US" dirty="0"/>
              <a:t>按一下以編輯母片副標題樣式</a:t>
            </a:r>
          </a:p>
        </p:txBody>
      </p:sp>
      <p:sp>
        <p:nvSpPr>
          <p:cNvPr id="17" name="標題 1"/>
          <p:cNvSpPr>
            <a:spLocks noGrp="1"/>
          </p:cNvSpPr>
          <p:nvPr>
            <p:ph type="ctrTitle"/>
          </p:nvPr>
        </p:nvSpPr>
        <p:spPr>
          <a:xfrm>
            <a:off x="1871700" y="2771403"/>
            <a:ext cx="4860000" cy="576064"/>
          </a:xfrm>
          <a:prstGeom prst="rect">
            <a:avLst/>
          </a:prstGeom>
        </p:spPr>
        <p:txBody>
          <a:bodyPr>
            <a:noAutofit/>
          </a:bodyPr>
          <a:lstStyle>
            <a:lvl1pPr algn="l">
              <a:defRPr sz="3000" b="1">
                <a:solidFill>
                  <a:schemeClr val="bg1">
                    <a:lumMod val="50000"/>
                  </a:schemeClr>
                </a:solidFill>
                <a:latin typeface="微軟正黑體" pitchFamily="34" charset="-120"/>
                <a:ea typeface="微軟正黑體" pitchFamily="34" charset="-120"/>
              </a:defRPr>
            </a:lvl1pPr>
          </a:lstStyle>
          <a:p>
            <a:r>
              <a:rPr lang="zh-TW" altLang="en-US" dirty="0"/>
              <a:t>按一下以編輯母片標題樣式</a:t>
            </a:r>
          </a:p>
        </p:txBody>
      </p:sp>
      <p:pic>
        <p:nvPicPr>
          <p:cNvPr id="3" name="图片 2">
            <a:extLst>
              <a:ext uri="{FF2B5EF4-FFF2-40B4-BE49-F238E27FC236}">
                <a16:creationId xmlns:a16="http://schemas.microsoft.com/office/drawing/2014/main" id="{7A7DB523-7990-4024-ADA2-E061F0DAD6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32240" y="2845174"/>
            <a:ext cx="1584176" cy="583155"/>
          </a:xfrm>
          <a:prstGeom prst="rect">
            <a:avLst/>
          </a:prstGeom>
        </p:spPr>
      </p:pic>
      <p:cxnSp>
        <p:nvCxnSpPr>
          <p:cNvPr id="9" name="直接连接符 14">
            <a:extLst>
              <a:ext uri="{FF2B5EF4-FFF2-40B4-BE49-F238E27FC236}">
                <a16:creationId xmlns:a16="http://schemas.microsoft.com/office/drawing/2014/main" id="{EC0A9803-A926-48F3-9681-2B42C0C06D43}"/>
              </a:ext>
            </a:extLst>
          </p:cNvPr>
          <p:cNvCxnSpPr>
            <a:cxnSpLocks/>
          </p:cNvCxnSpPr>
          <p:nvPr userDrawn="1"/>
        </p:nvCxnSpPr>
        <p:spPr>
          <a:xfrm flipH="1">
            <a:off x="0" y="3429000"/>
            <a:ext cx="8082390"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cxnSp>
        <p:nvCxnSpPr>
          <p:cNvPr id="12"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5964485"/>
            <a:ext cx="3550109" cy="0"/>
          </a:xfrm>
          <a:prstGeom prst="line">
            <a:avLst/>
          </a:prstGeom>
          <a:ln w="28575">
            <a:gradFill flip="none" rotWithShape="1">
              <a:gsLst>
                <a:gs pos="100000">
                  <a:schemeClr val="bg1">
                    <a:lumMod val="75000"/>
                    <a:alpha val="0"/>
                  </a:schemeClr>
                </a:gs>
                <a:gs pos="0">
                  <a:schemeClr val="bg1">
                    <a:lumMod val="85000"/>
                  </a:schemeClr>
                </a:gs>
              </a:gsLst>
              <a:lin ang="0" scaled="1"/>
              <a:tileRect/>
            </a:gra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sp>
        <p:nvSpPr>
          <p:cNvPr id="10" name="文字方塊 9"/>
          <p:cNvSpPr txBox="1"/>
          <p:nvPr userDrawn="1"/>
        </p:nvSpPr>
        <p:spPr>
          <a:xfrm>
            <a:off x="6246186" y="3429000"/>
            <a:ext cx="1890210" cy="300082"/>
          </a:xfrm>
          <a:prstGeom prst="rect">
            <a:avLst/>
          </a:prstGeom>
          <a:noFill/>
        </p:spPr>
        <p:txBody>
          <a:bodyPr wrap="square" rtlCol="0">
            <a:spAutoFit/>
          </a:bodyPr>
          <a:lstStyle/>
          <a:p>
            <a:pPr algn="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B2B</a:t>
            </a:r>
            <a:r>
              <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 </a:t>
            </a: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TEAM</a:t>
            </a:r>
            <a:endPar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endParaRPr>
          </a:p>
        </p:txBody>
      </p:sp>
      <p:sp>
        <p:nvSpPr>
          <p:cNvPr id="4" name="文字方塊 3"/>
          <p:cNvSpPr txBox="1"/>
          <p:nvPr userDrawn="1"/>
        </p:nvSpPr>
        <p:spPr>
          <a:xfrm>
            <a:off x="497592" y="5579948"/>
            <a:ext cx="2608406" cy="300082"/>
          </a:xfrm>
          <a:prstGeom prst="rect">
            <a:avLst/>
          </a:prstGeom>
          <a:noFill/>
        </p:spPr>
        <p:txBody>
          <a:bodyPr wrap="none" rtlCol="0">
            <a:spAutoFit/>
          </a:bodyPr>
          <a:lstStyle/>
          <a:p>
            <a:r>
              <a:rPr lang="zh-TW" altLang="en-US" sz="1350" b="1" dirty="0">
                <a:solidFill>
                  <a:schemeClr val="bg1">
                    <a:lumMod val="50000"/>
                  </a:schemeClr>
                </a:solidFill>
              </a:rPr>
              <a:t>國外固定利率債券發行機構簡介</a:t>
            </a:r>
          </a:p>
        </p:txBody>
      </p:sp>
    </p:spTree>
    <p:extLst>
      <p:ext uri="{BB962C8B-B14F-4D97-AF65-F5344CB8AC3E}">
        <p14:creationId xmlns:p14="http://schemas.microsoft.com/office/powerpoint/2010/main" val="549964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5" y="980728"/>
            <a:ext cx="8213303" cy="5220000"/>
          </a:xfrm>
          <a:prstGeom prst="rect">
            <a:avLst/>
          </a:prstGeom>
        </p:spPr>
        <p:txBody>
          <a:bodyPr/>
          <a:lstStyle>
            <a:lvl1pPr marL="257175" indent="-257175">
              <a:buFont typeface="Wingdings" panose="05000000000000000000" pitchFamily="2" charset="2"/>
              <a:buChar char="n"/>
              <a:defRPr sz="1800">
                <a:latin typeface="微軟正黑體" pitchFamily="34" charset="-120"/>
                <a:ea typeface="微軟正黑體" pitchFamily="34" charset="-120"/>
              </a:defRPr>
            </a:lvl1pPr>
            <a:lvl2pPr>
              <a:defRPr sz="1500" b="0">
                <a:latin typeface="微軟正黑體" pitchFamily="34" charset="-120"/>
                <a:ea typeface="微軟正黑體" pitchFamily="34" charset="-120"/>
              </a:defRPr>
            </a:lvl2pPr>
            <a:lvl3pPr>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zh-TW" altLang="en-US" dirty="0"/>
          </a:p>
        </p:txBody>
      </p:sp>
      <p:sp>
        <p:nvSpPr>
          <p:cNvPr id="11" name="投影片編號版面配置區 10"/>
          <p:cNvSpPr>
            <a:spLocks noGrp="1"/>
          </p:cNvSpPr>
          <p:nvPr>
            <p:ph type="sldNum" sz="quarter" idx="10"/>
          </p:nvPr>
        </p:nvSpPr>
        <p:spPr>
          <a:xfrm>
            <a:off x="197514" y="6525344"/>
            <a:ext cx="395064" cy="288032"/>
          </a:xfrm>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358115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073CA6E-B980-4BED-B859-79E8C0786146}"/>
              </a:ext>
            </a:extLst>
          </p:cNvPr>
          <p:cNvSpPr/>
          <p:nvPr userDrawn="1"/>
        </p:nvSpPr>
        <p:spPr>
          <a:xfrm>
            <a:off x="6732240" y="0"/>
            <a:ext cx="241176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投影片編號版面配置區 2"/>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cxnSp>
        <p:nvCxnSpPr>
          <p:cNvPr id="4" name="直接连接符 14">
            <a:extLst>
              <a:ext uri="{FF2B5EF4-FFF2-40B4-BE49-F238E27FC236}">
                <a16:creationId xmlns:a16="http://schemas.microsoft.com/office/drawing/2014/main" id="{7D116BA9-9B78-42D3-9A3A-32518048A7C5}"/>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pic>
        <p:nvPicPr>
          <p:cNvPr id="9" name="圖片 8" descr="一張含有 文字 的圖片&#10;&#10;自動產生的描述">
            <a:extLst>
              <a:ext uri="{FF2B5EF4-FFF2-40B4-BE49-F238E27FC236}">
                <a16:creationId xmlns:a16="http://schemas.microsoft.com/office/drawing/2014/main" id="{EDD6439E-0668-40EB-8EE8-43DD01AC00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8248" y="6497912"/>
            <a:ext cx="753090" cy="171448"/>
          </a:xfrm>
          <a:prstGeom prst="rect">
            <a:avLst/>
          </a:prstGeom>
        </p:spPr>
      </p:pic>
      <p:pic>
        <p:nvPicPr>
          <p:cNvPr id="14" name="圖片 13">
            <a:extLst>
              <a:ext uri="{FF2B5EF4-FFF2-40B4-BE49-F238E27FC236}">
                <a16:creationId xmlns:a16="http://schemas.microsoft.com/office/drawing/2014/main" id="{077F17E0-39B1-4EAF-8142-AA65E5998D1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72177" b="35515"/>
          <a:stretch/>
        </p:blipFill>
        <p:spPr>
          <a:xfrm>
            <a:off x="8483570" y="6432163"/>
            <a:ext cx="605138" cy="225344"/>
          </a:xfrm>
          <a:prstGeom prst="rect">
            <a:avLst/>
          </a:prstGeom>
        </p:spPr>
      </p:pic>
      <p:sp>
        <p:nvSpPr>
          <p:cNvPr id="7" name="矩形 6">
            <a:extLst>
              <a:ext uri="{FF2B5EF4-FFF2-40B4-BE49-F238E27FC236}">
                <a16:creationId xmlns:a16="http://schemas.microsoft.com/office/drawing/2014/main" id="{A3B58A0A-0CAB-FE6A-53DF-18ED3B3EFA00}"/>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8" name="圖片 7"/>
          <p:cNvPicPr>
            <a:picLocks noChangeAspect="1"/>
          </p:cNvPicPr>
          <p:nvPr userDrawn="1"/>
        </p:nvPicPr>
        <p:blipFill>
          <a:blip r:embed="rId4"/>
          <a:stretch>
            <a:fillRect/>
          </a:stretch>
        </p:blipFill>
        <p:spPr>
          <a:xfrm>
            <a:off x="7308304" y="-16771"/>
            <a:ext cx="1999661" cy="256054"/>
          </a:xfrm>
          <a:prstGeom prst="rect">
            <a:avLst/>
          </a:prstGeom>
        </p:spPr>
      </p:pic>
    </p:spTree>
    <p:extLst>
      <p:ext uri="{BB962C8B-B14F-4D97-AF65-F5344CB8AC3E}">
        <p14:creationId xmlns:p14="http://schemas.microsoft.com/office/powerpoint/2010/main" val="326120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90618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txBody>
          <a:bodyPr>
            <a:noAutofit/>
          </a:bodyPr>
          <a:lstStyle>
            <a:lvl1pPr marL="214313" indent="-214313"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txBody>
          <a:bodyPr>
            <a:noAutofit/>
          </a:bodyPr>
          <a:lstStyle>
            <a:lvl1pPr marL="257175" indent="-257175"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548317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兩項物件">
    <p:spTree>
      <p:nvGrpSpPr>
        <p:cNvPr id="1" name=""/>
        <p:cNvGrpSpPr/>
        <p:nvPr/>
      </p:nvGrpSpPr>
      <p:grpSpPr>
        <a:xfrm>
          <a:off x="0" y="0"/>
          <a:ext cx="0" cy="0"/>
          <a:chOff x="0" y="0"/>
          <a:chExt cx="0" cy="0"/>
        </a:xfrm>
      </p:grpSpPr>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9" name="內容版面配置區 8"/>
          <p:cNvSpPr>
            <a:spLocks noGrp="1"/>
          </p:cNvSpPr>
          <p:nvPr>
            <p:ph sz="quarter" idx="20"/>
          </p:nvPr>
        </p:nvSpPr>
        <p:spPr>
          <a:xfrm>
            <a:off x="475060" y="1017312"/>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6" name="內容版面配置區 8"/>
          <p:cNvSpPr>
            <a:spLocks noGrp="1"/>
          </p:cNvSpPr>
          <p:nvPr>
            <p:ph sz="quarter" idx="21"/>
          </p:nvPr>
        </p:nvSpPr>
        <p:spPr>
          <a:xfrm>
            <a:off x="4626456" y="1053296"/>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01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b="1">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4" y="1268761"/>
            <a:ext cx="8219256" cy="5040560"/>
          </a:xfrm>
          <a:prstGeom prst="rect">
            <a:avLst/>
          </a:prstGeom>
        </p:spPr>
        <p:txBody>
          <a:bodyPr/>
          <a:lstStyle>
            <a:lvl1pPr>
              <a:defRPr sz="1800">
                <a:latin typeface="微軟正黑體" pitchFamily="34" charset="-120"/>
                <a:ea typeface="微軟正黑體" pitchFamily="34" charset="-120"/>
              </a:defRPr>
            </a:lvl1pPr>
            <a:lvl2pPr marL="557213" indent="-214313">
              <a:buFont typeface="Wingdings" panose="05000000000000000000" pitchFamily="2" charset="2"/>
              <a:buChar char="Ø"/>
              <a:defRPr sz="1500" b="0">
                <a:latin typeface="微軟正黑體" pitchFamily="34" charset="-120"/>
                <a:ea typeface="微軟正黑體" pitchFamily="34" charset="-120"/>
              </a:defRPr>
            </a:lvl2pPr>
            <a:lvl3pPr marL="857250" indent="-171450">
              <a:buFont typeface="Wingdings" panose="05000000000000000000" pitchFamily="2" charset="2"/>
              <a:buChar char="ü"/>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11" name="投影片編號版面配置區 10"/>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633048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6" name="內容版面配置區 3"/>
          <p:cNvSpPr>
            <a:spLocks noGrp="1"/>
          </p:cNvSpPr>
          <p:nvPr>
            <p:ph sz="half" idx="2"/>
          </p:nvPr>
        </p:nvSpPr>
        <p:spPr>
          <a:xfrm>
            <a:off x="467544"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9"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73600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73600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68315" y="1268760"/>
            <a:ext cx="8208143" cy="1224136"/>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7"/>
          <p:cNvSpPr>
            <a:spLocks noGrp="1"/>
          </p:cNvSpPr>
          <p:nvPr>
            <p:ph type="body" sz="quarter" idx="12"/>
          </p:nvPr>
        </p:nvSpPr>
        <p:spPr>
          <a:xfrm>
            <a:off x="467544" y="6192000"/>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977986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0" name="文字版面配置區 2"/>
          <p:cNvSpPr>
            <a:spLocks noGrp="1"/>
          </p:cNvSpPr>
          <p:nvPr>
            <p:ph type="body" sz="quarter" idx="17"/>
          </p:nvPr>
        </p:nvSpPr>
        <p:spPr>
          <a:xfrm>
            <a:off x="468314"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1" name="內容版面配置區 3"/>
          <p:cNvSpPr>
            <a:spLocks noGrp="1"/>
          </p:cNvSpPr>
          <p:nvPr>
            <p:ph sz="half" idx="16"/>
          </p:nvPr>
        </p:nvSpPr>
        <p:spPr>
          <a:xfrm>
            <a:off x="4644009"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2" name="文字版面配置區 2"/>
          <p:cNvSpPr>
            <a:spLocks noGrp="1"/>
          </p:cNvSpPr>
          <p:nvPr>
            <p:ph type="body" sz="quarter" idx="18"/>
          </p:nvPr>
        </p:nvSpPr>
        <p:spPr>
          <a:xfrm>
            <a:off x="467546" y="126876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3" name="文字版面配置區 2"/>
          <p:cNvSpPr>
            <a:spLocks noGrp="1"/>
          </p:cNvSpPr>
          <p:nvPr>
            <p:ph type="body" sz="quarter" idx="19"/>
          </p:nvPr>
        </p:nvSpPr>
        <p:spPr>
          <a:xfrm>
            <a:off x="4644779" y="126876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6" name="文字版面配置區 2"/>
          <p:cNvSpPr>
            <a:spLocks noGrp="1"/>
          </p:cNvSpPr>
          <p:nvPr>
            <p:ph type="body" sz="quarter" idx="20"/>
          </p:nvPr>
        </p:nvSpPr>
        <p:spPr>
          <a:xfrm>
            <a:off x="4644779"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7" name="文字版面配置區 7"/>
          <p:cNvSpPr>
            <a:spLocks noGrp="1"/>
          </p:cNvSpPr>
          <p:nvPr>
            <p:ph type="body" sz="quarter" idx="1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18" name="內容版面配置區 3"/>
          <p:cNvSpPr>
            <a:spLocks noGrp="1"/>
          </p:cNvSpPr>
          <p:nvPr>
            <p:ph sz="half" idx="21"/>
          </p:nvPr>
        </p:nvSpPr>
        <p:spPr>
          <a:xfrm>
            <a:off x="467544"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Tree>
    <p:extLst>
      <p:ext uri="{BB962C8B-B14F-4D97-AF65-F5344CB8AC3E}">
        <p14:creationId xmlns:p14="http://schemas.microsoft.com/office/powerpoint/2010/main" val="363557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7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4" name="文字版面配置區 2"/>
          <p:cNvSpPr>
            <a:spLocks noGrp="1"/>
          </p:cNvSpPr>
          <p:nvPr>
            <p:ph type="body" sz="quarter" idx="18"/>
          </p:nvPr>
        </p:nvSpPr>
        <p:spPr>
          <a:xfrm>
            <a:off x="467546" y="1268760"/>
            <a:ext cx="4031679" cy="792088"/>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2"/>
          <p:cNvSpPr>
            <a:spLocks noGrp="1"/>
          </p:cNvSpPr>
          <p:nvPr>
            <p:ph type="body" sz="quarter" idx="19"/>
          </p:nvPr>
        </p:nvSpPr>
        <p:spPr>
          <a:xfrm>
            <a:off x="4644779" y="1268760"/>
            <a:ext cx="4031679" cy="792088"/>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9" name="文字版面配置區 7"/>
          <p:cNvSpPr>
            <a:spLocks noGrp="1"/>
          </p:cNvSpPr>
          <p:nvPr>
            <p:ph type="body" sz="quarter" idx="12"/>
          </p:nvPr>
        </p:nvSpPr>
        <p:spPr>
          <a:xfrm>
            <a:off x="467544" y="5229201"/>
            <a:ext cx="8208912" cy="720080"/>
          </a:xfrm>
          <a:prstGeom prst="rect">
            <a:avLst/>
          </a:prstGeom>
        </p:spPr>
        <p:txBody>
          <a:bodyPr>
            <a:normAutofit/>
          </a:bodyPr>
          <a:lstStyle>
            <a:lvl1pPr marL="128588" indent="-128588">
              <a:buFont typeface="Arial" pitchFamily="34" charset="0"/>
              <a:buChar char="•"/>
              <a:defRPr sz="900">
                <a:latin typeface="微軟正黑體" pitchFamily="34" charset="-120"/>
                <a:ea typeface="微軟正黑體" pitchFamily="34" charset="-120"/>
              </a:defRPr>
            </a:lvl1pPr>
          </a:lstStyle>
          <a:p>
            <a:pPr lvl="0"/>
            <a:r>
              <a:rPr lang="zh-TW" altLang="en-US"/>
              <a:t>按一下以編輯母片文字樣式</a:t>
            </a:r>
          </a:p>
        </p:txBody>
      </p:sp>
      <p:sp>
        <p:nvSpPr>
          <p:cNvPr id="20" name="內容版面配置區 3"/>
          <p:cNvSpPr>
            <a:spLocks noGrp="1"/>
          </p:cNvSpPr>
          <p:nvPr>
            <p:ph sz="half" idx="20"/>
          </p:nvPr>
        </p:nvSpPr>
        <p:spPr>
          <a:xfrm>
            <a:off x="4644009"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1" name="內容版面配置區 3"/>
          <p:cNvSpPr>
            <a:spLocks noGrp="1"/>
          </p:cNvSpPr>
          <p:nvPr>
            <p:ph sz="half" idx="2"/>
          </p:nvPr>
        </p:nvSpPr>
        <p:spPr>
          <a:xfrm>
            <a:off x="467544"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 name="投影片編號版面配置區 1"/>
          <p:cNvSpPr>
            <a:spLocks noGrp="1"/>
          </p:cNvSpPr>
          <p:nvPr>
            <p:ph type="sldNum" sz="quarter" idx="21"/>
          </p:nvPr>
        </p:nvSpPr>
        <p:spPr/>
        <p:txBody>
          <a:bodyPr/>
          <a:lstStyle/>
          <a:p>
            <a:fld id="{415482FC-CF5F-466A-B8B6-BC3733E92023}" type="slidenum">
              <a:rPr lang="zh-TW" altLang="en-US" smtClean="0"/>
              <a:pPr/>
              <a:t>‹#›</a:t>
            </a:fld>
            <a:endParaRPr lang="zh-TW" altLang="en-US" dirty="0"/>
          </a:p>
        </p:txBody>
      </p:sp>
      <p:sp>
        <p:nvSpPr>
          <p:cNvPr id="10" name="文字版面配置區 7"/>
          <p:cNvSpPr>
            <a:spLocks noGrp="1"/>
          </p:cNvSpPr>
          <p:nvPr>
            <p:ph type="body" sz="quarter" idx="2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Tree>
    <p:extLst>
      <p:ext uri="{BB962C8B-B14F-4D97-AF65-F5344CB8AC3E}">
        <p14:creationId xmlns:p14="http://schemas.microsoft.com/office/powerpoint/2010/main" val="445683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8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8" name="文字版面配置區 3"/>
          <p:cNvSpPr>
            <a:spLocks noGrp="1"/>
          </p:cNvSpPr>
          <p:nvPr>
            <p:ph type="body" sz="half" idx="2"/>
          </p:nvPr>
        </p:nvSpPr>
        <p:spPr>
          <a:xfrm>
            <a:off x="5597355" y="1268761"/>
            <a:ext cx="3079103" cy="4608512"/>
          </a:xfrm>
          <a:prstGeom prst="rect">
            <a:avLst/>
          </a:prstGeom>
        </p:spPr>
        <p:txBody>
          <a:bodyPr>
            <a:normAutofit/>
          </a:bodyPr>
          <a:lstStyle>
            <a:lvl1pPr marL="214313" indent="-214313">
              <a:buFont typeface="Arial" pitchFamily="34" charset="0"/>
              <a:buChar char="•"/>
              <a:defRPr sz="1200">
                <a:latin typeface="微軟正黑體" pitchFamily="34" charset="-120"/>
                <a:ea typeface="微軟正黑體" pitchFamily="34" charset="-12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按一下以編輯母片文字樣式</a:t>
            </a:r>
          </a:p>
        </p:txBody>
      </p:sp>
      <p:sp>
        <p:nvSpPr>
          <p:cNvPr id="10" name="內容版面配置區 3"/>
          <p:cNvSpPr>
            <a:spLocks noGrp="1"/>
          </p:cNvSpPr>
          <p:nvPr>
            <p:ph sz="half" idx="10"/>
          </p:nvPr>
        </p:nvSpPr>
        <p:spPr>
          <a:xfrm>
            <a:off x="467545" y="1268760"/>
            <a:ext cx="5040560" cy="4248472"/>
          </a:xfrm>
          <a:prstGeom prst="rect">
            <a:avLst/>
          </a:prstGeom>
        </p:spPr>
        <p:txBody>
          <a:bodyPr/>
          <a:lstStyle>
            <a:lvl1pPr>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20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1" name="文字版面配置區 7"/>
          <p:cNvSpPr>
            <a:spLocks noGrp="1"/>
          </p:cNvSpPr>
          <p:nvPr>
            <p:ph type="body" sz="quarter" idx="12"/>
          </p:nvPr>
        </p:nvSpPr>
        <p:spPr>
          <a:xfrm>
            <a:off x="467545" y="5589241"/>
            <a:ext cx="5040560"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2" name="投影片編號版面配置區 1"/>
          <p:cNvSpPr>
            <a:spLocks noGrp="1"/>
          </p:cNvSpPr>
          <p:nvPr>
            <p:ph type="sldNum" sz="quarter" idx="13"/>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784869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9_免責聲明">
    <p:spTree>
      <p:nvGrpSpPr>
        <p:cNvPr id="1" name=""/>
        <p:cNvGrpSpPr/>
        <p:nvPr/>
      </p:nvGrpSpPr>
      <p:grpSpPr>
        <a:xfrm>
          <a:off x="0" y="0"/>
          <a:ext cx="0" cy="0"/>
          <a:chOff x="0" y="0"/>
          <a:chExt cx="0" cy="0"/>
        </a:xfrm>
      </p:grpSpPr>
      <p:sp>
        <p:nvSpPr>
          <p:cNvPr id="2" name="投影片編號版面配置區 1"/>
          <p:cNvSpPr>
            <a:spLocks noGrp="1"/>
          </p:cNvSpPr>
          <p:nvPr>
            <p:ph type="sldNum" sz="quarter" idx="18"/>
          </p:nvPr>
        </p:nvSpPr>
        <p:spPr/>
        <p:txBody>
          <a:bodyPr/>
          <a:lstStyle/>
          <a:p>
            <a:fld id="{415482FC-CF5F-466A-B8B6-BC3733E92023}" type="slidenum">
              <a:rPr lang="zh-TW" altLang="en-US" smtClean="0"/>
              <a:pPr/>
              <a:t>‹#›</a:t>
            </a:fld>
            <a:endParaRPr lang="zh-TW" altLang="en-US" dirty="0"/>
          </a:p>
        </p:txBody>
      </p:sp>
      <p:sp>
        <p:nvSpPr>
          <p:cNvPr id="3" name="矩形 2"/>
          <p:cNvSpPr/>
          <p:nvPr/>
        </p:nvSpPr>
        <p:spPr>
          <a:xfrm>
            <a:off x="518013" y="836715"/>
            <a:ext cx="7992888" cy="507831"/>
          </a:xfrm>
          <a:prstGeom prst="rect">
            <a:avLst/>
          </a:prstGeom>
        </p:spPr>
        <p:txBody>
          <a:bodyPr wrap="square">
            <a:spAutoFit/>
          </a:bodyPr>
          <a:lstStyle/>
          <a:p>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endParaRPr lang="en-US" altLang="zh-TW" sz="1350" dirty="0">
              <a:latin typeface="微軟正黑體" pitchFamily="34" charset="-120"/>
              <a:ea typeface="微軟正黑體" pitchFamily="34" charset="-120"/>
            </a:endParaRPr>
          </a:p>
        </p:txBody>
      </p:sp>
      <p:sp>
        <p:nvSpPr>
          <p:cNvPr id="5" name="矩形 4"/>
          <p:cNvSpPr/>
          <p:nvPr userDrawn="1"/>
        </p:nvSpPr>
        <p:spPr>
          <a:xfrm>
            <a:off x="518013" y="836712"/>
            <a:ext cx="7992888" cy="2169825"/>
          </a:xfrm>
          <a:prstGeom prst="rect">
            <a:avLst/>
          </a:prstGeom>
        </p:spPr>
        <p:txBody>
          <a:bodyPr wrap="square">
            <a:spAutoFit/>
          </a:bodyPr>
          <a:lstStyle/>
          <a:p>
            <a:pPr algn="just"/>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免責聲明</a:t>
            </a:r>
            <a:r>
              <a:rPr lang="en-US" altLang="zh-TW" sz="1350" dirty="0">
                <a:latin typeface="微軟正黑體" pitchFamily="34" charset="-120"/>
                <a:ea typeface="微軟正黑體" pitchFamily="34" charset="-120"/>
              </a:rPr>
              <a:t>:</a:t>
            </a:r>
          </a:p>
          <a:p>
            <a:pPr algn="just"/>
            <a:r>
              <a:rPr lang="zh-TW" altLang="en-US" sz="1350" dirty="0">
                <a:latin typeface="微軟正黑體" pitchFamily="34" charset="-120"/>
                <a:ea typeface="微軟正黑體" pitchFamily="34" charset="-120"/>
              </a:rPr>
              <a:t>台新證券投資顧問股份有限公司 </a:t>
            </a:r>
            <a:r>
              <a:rPr lang="en-US" altLang="zh-TW" sz="1350" dirty="0">
                <a:latin typeface="微軟正黑體" pitchFamily="34" charset="-120"/>
                <a:ea typeface="微軟正黑體" pitchFamily="34" charset="-120"/>
              </a:rPr>
              <a:t>(02)5589-9558  Fax:(02)3707-6769  </a:t>
            </a:r>
            <a:r>
              <a:rPr lang="zh-TW" altLang="en-US" sz="1350" dirty="0">
                <a:latin typeface="微軟正黑體" pitchFamily="34" charset="-120"/>
                <a:ea typeface="微軟正黑體" pitchFamily="34" charset="-120"/>
              </a:rPr>
              <a:t>地址</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台北市仁愛路四段</a:t>
            </a:r>
            <a:r>
              <a:rPr lang="en-US" altLang="zh-TW" sz="1350" dirty="0">
                <a:latin typeface="微軟正黑體" pitchFamily="34" charset="-120"/>
                <a:ea typeface="微軟正黑體" pitchFamily="34" charset="-120"/>
              </a:rPr>
              <a:t>118</a:t>
            </a:r>
            <a:r>
              <a:rPr lang="zh-TW" altLang="en-US" sz="1350" dirty="0">
                <a:latin typeface="微軟正黑體" pitchFamily="34" charset="-120"/>
                <a:ea typeface="微軟正黑體" pitchFamily="34" charset="-120"/>
              </a:rPr>
              <a:t>號</a:t>
            </a:r>
            <a:r>
              <a:rPr lang="en-US" altLang="zh-TW" sz="1350" dirty="0">
                <a:latin typeface="微軟正黑體" pitchFamily="34" charset="-120"/>
                <a:ea typeface="微軟正黑體" pitchFamily="34" charset="-120"/>
              </a:rPr>
              <a:t>16</a:t>
            </a:r>
            <a:r>
              <a:rPr lang="zh-TW" altLang="en-US" sz="1350" dirty="0">
                <a:latin typeface="微軟正黑體" pitchFamily="34" charset="-120"/>
                <a:ea typeface="微軟正黑體" pitchFamily="34" charset="-120"/>
              </a:rPr>
              <a:t>樓  一百零八金管投顧新字第零壹柒號。本報告所載係根據各項市場資訊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加以整理、彙集及研究分析。僅供參考，本公司不保證其正確性及完整性。內容如涉及有價證券或金融商品相關記載或說明，並不構成要約、招攬、宣傳、建議或推薦買賣等任何形式之表示，投資人如參考本報告進行相關投資或交易，應自行承擔所有損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本公司不負任何法律責任。另本公司同時擔任木星基金總代理人，惟本公司投資研究部門與招攬木星基金之業務部門，不相隸屬且予適當區隔，不致侵害客戶利益。此外，非經本公司同意，不得將本報告內容之部份或全部加以複製、轉載或散布。</a:t>
            </a:r>
            <a:endParaRPr lang="en-US" altLang="zh-TW" sz="1350" dirty="0">
              <a:latin typeface="微軟正黑體" pitchFamily="34" charset="-120"/>
              <a:ea typeface="微軟正黑體" pitchFamily="34" charset="-120"/>
            </a:endParaRPr>
          </a:p>
        </p:txBody>
      </p:sp>
    </p:spTree>
    <p:extLst>
      <p:ext uri="{BB962C8B-B14F-4D97-AF65-F5344CB8AC3E}">
        <p14:creationId xmlns:p14="http://schemas.microsoft.com/office/powerpoint/2010/main" val="1203142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pPr>
              <a:defRPr/>
            </a:pPr>
            <a:fld id="{E5235B85-5498-4692-A86C-ACF9771605B4}" type="datetime1">
              <a:rPr lang="zh-TW" altLang="en-US" smtClean="0">
                <a:solidFill>
                  <a:prstClr val="black">
                    <a:tint val="75000"/>
                  </a:prstClr>
                </a:solidFill>
              </a:rPr>
              <a:t>2026/5/5</a:t>
            </a:fld>
            <a:endParaRPr lang="zh-TW" altLang="en-US">
              <a:solidFill>
                <a:prstClr val="black">
                  <a:tint val="75000"/>
                </a:prstClr>
              </a:solidFill>
            </a:endParaRPr>
          </a:p>
        </p:txBody>
      </p:sp>
      <p:sp>
        <p:nvSpPr>
          <p:cNvPr id="3" name="頁尾版面配置區 4"/>
          <p:cNvSpPr>
            <a:spLocks noGrp="1"/>
          </p:cNvSpPr>
          <p:nvPr>
            <p:ph type="ftr" sz="quarter" idx="11"/>
          </p:nvPr>
        </p:nvSpPr>
        <p:spPr/>
        <p:txBody>
          <a:bodyPr/>
          <a:lstStyle>
            <a:lvl1pPr>
              <a:defRPr/>
            </a:lvl1pPr>
          </a:lstStyle>
          <a:p>
            <a:pPr>
              <a:defRPr/>
            </a:pPr>
            <a:endParaRPr lang="zh-TW" altLang="en-US">
              <a:solidFill>
                <a:prstClr val="black">
                  <a:tint val="75000"/>
                </a:prstClr>
              </a:solidFill>
            </a:endParaRPr>
          </a:p>
        </p:txBody>
      </p:sp>
      <p:sp>
        <p:nvSpPr>
          <p:cNvPr id="4" name="投影片編號版面配置區 5"/>
          <p:cNvSpPr>
            <a:spLocks noGrp="1"/>
          </p:cNvSpPr>
          <p:nvPr>
            <p:ph type="sldNum" sz="quarter" idx="12"/>
          </p:nvPr>
        </p:nvSpPr>
        <p:spPr/>
        <p:txBody>
          <a:bodyPr/>
          <a:lstStyle>
            <a:lvl1pPr>
              <a:defRPr/>
            </a:lvl1pPr>
          </a:lstStyle>
          <a:p>
            <a:pPr>
              <a:defRPr/>
            </a:pPr>
            <a:fld id="{186220AF-483D-4EE9-B065-23EEF407C225}" type="slidenum">
              <a:rPr lang="zh-TW" altLang="en-US"/>
              <a:pPr>
                <a:defRPr/>
              </a:pPr>
              <a:t>‹#›</a:t>
            </a:fld>
            <a:endParaRPr lang="zh-TW" altLang="en-US"/>
          </a:p>
        </p:txBody>
      </p:sp>
    </p:spTree>
    <p:extLst>
      <p:ext uri="{BB962C8B-B14F-4D97-AF65-F5344CB8AC3E}">
        <p14:creationId xmlns:p14="http://schemas.microsoft.com/office/powerpoint/2010/main" val="1120641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投影片編號版面配置區 5"/>
          <p:cNvSpPr>
            <a:spLocks noGrp="1"/>
          </p:cNvSpPr>
          <p:nvPr>
            <p:ph type="sldNum" sz="quarter" idx="4"/>
          </p:nvPr>
        </p:nvSpPr>
        <p:spPr>
          <a:xfrm>
            <a:off x="197514" y="6381328"/>
            <a:ext cx="395064" cy="288032"/>
          </a:xfrm>
          <a:prstGeom prst="rect">
            <a:avLst/>
          </a:prstGeom>
        </p:spPr>
        <p:txBody>
          <a:bodyPr/>
          <a:lstStyle>
            <a:lvl1pPr>
              <a:defRPr sz="900">
                <a:latin typeface="Arial" pitchFamily="34" charset="0"/>
                <a:cs typeface="Arial" pitchFamily="34" charset="0"/>
              </a:defRPr>
            </a:lvl1pPr>
          </a:lstStyle>
          <a:p>
            <a:fld id="{415482FC-CF5F-466A-B8B6-BC3733E92023}" type="slidenum">
              <a:rPr lang="zh-TW" altLang="en-US" smtClean="0"/>
              <a:pPr/>
              <a:t>‹#›</a:t>
            </a:fld>
            <a:endParaRPr lang="zh-TW" altLang="en-US" dirty="0"/>
          </a:p>
        </p:txBody>
      </p:sp>
      <p:cxnSp>
        <p:nvCxnSpPr>
          <p:cNvPr id="7"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grpSp>
        <p:nvGrpSpPr>
          <p:cNvPr id="9" name="群組 8"/>
          <p:cNvGrpSpPr/>
          <p:nvPr userDrawn="1"/>
        </p:nvGrpSpPr>
        <p:grpSpPr>
          <a:xfrm>
            <a:off x="7758354" y="6435561"/>
            <a:ext cx="1253784" cy="233799"/>
            <a:chOff x="2747814" y="218978"/>
            <a:chExt cx="3060153" cy="491493"/>
          </a:xfrm>
        </p:grpSpPr>
        <p:pic>
          <p:nvPicPr>
            <p:cNvPr id="14" name="Picture 2" descr="台新綜合證券股份有限公司等包銷聯上實業股份有限公司國內第三次無擔保轉">
              <a:extLst>
                <a:ext uri="{FF2B5EF4-FFF2-40B4-BE49-F238E27FC236}">
                  <a16:creationId xmlns:a16="http://schemas.microsoft.com/office/drawing/2014/main" id="{2FD9BB75-12CC-AE4F-BABA-8091371005B8}"/>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2747814" y="350046"/>
              <a:ext cx="1583173" cy="360425"/>
            </a:xfrm>
            <a:prstGeom prst="rect">
              <a:avLst/>
            </a:prstGeom>
            <a:noFill/>
            <a:extLst>
              <a:ext uri="{909E8E84-426E-40DD-AFC4-6F175D3DCCD1}">
                <a14:hiddenFill xmlns:a14="http://schemas.microsoft.com/office/drawing/2010/main">
                  <a:solidFill>
                    <a:srgbClr val="FFFFFF"/>
                  </a:solidFill>
                </a14:hiddenFill>
              </a:ext>
            </a:extLst>
          </p:spPr>
        </p:pic>
        <p:pic>
          <p:nvPicPr>
            <p:cNvPr id="15" name="圖片 14"/>
            <p:cNvPicPr>
              <a:picLocks noChangeAspect="1"/>
            </p:cNvPicPr>
            <p:nvPr/>
          </p:nvPicPr>
          <p:blipFill rotWithShape="1">
            <a:blip r:embed="rId16" cstate="screen">
              <a:extLst>
                <a:ext uri="{28A0092B-C50C-407E-A947-70E740481C1C}">
                  <a14:useLocalDpi xmlns:a14="http://schemas.microsoft.com/office/drawing/2010/main"/>
                </a:ext>
              </a:extLst>
            </a:blip>
            <a:srcRect r="72177" b="35515"/>
            <a:stretch/>
          </p:blipFill>
          <p:spPr>
            <a:xfrm>
              <a:off x="4330987" y="218978"/>
              <a:ext cx="1476980" cy="473718"/>
            </a:xfrm>
            <a:prstGeom prst="rect">
              <a:avLst/>
            </a:prstGeom>
          </p:spPr>
        </p:pic>
      </p:grpSp>
      <p:sp>
        <p:nvSpPr>
          <p:cNvPr id="11" name="矩形 10">
            <a:extLst>
              <a:ext uri="{FF2B5EF4-FFF2-40B4-BE49-F238E27FC236}">
                <a16:creationId xmlns:a16="http://schemas.microsoft.com/office/drawing/2014/main" id="{A3B58A0A-0CAB-FE6A-53DF-18ED3B3EFA00}"/>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16" name="圖片 15"/>
          <p:cNvPicPr>
            <a:picLocks noChangeAspect="1"/>
          </p:cNvPicPr>
          <p:nvPr userDrawn="1"/>
        </p:nvPicPr>
        <p:blipFill>
          <a:blip r:embed="rId17"/>
          <a:stretch>
            <a:fillRect/>
          </a:stretch>
        </p:blipFill>
        <p:spPr>
          <a:xfrm>
            <a:off x="7308304" y="-16771"/>
            <a:ext cx="1999661" cy="256054"/>
          </a:xfrm>
          <a:prstGeom prst="rect">
            <a:avLst/>
          </a:prstGeom>
        </p:spPr>
      </p:pic>
    </p:spTree>
    <p:extLst>
      <p:ext uri="{BB962C8B-B14F-4D97-AF65-F5344CB8AC3E}">
        <p14:creationId xmlns:p14="http://schemas.microsoft.com/office/powerpoint/2010/main" val="2055990614"/>
      </p:ext>
    </p:extLst>
  </p:cSld>
  <p:clrMap bg1="lt1" tx1="dk1" bg2="lt2" tx2="dk2" accent1="accent1" accent2="accent2" accent3="accent3" accent4="accent4" accent5="accent5" accent6="accent6" hlink="hlink" folHlink="folHlink"/>
  <p:sldLayoutIdLst>
    <p:sldLayoutId id="2147483669" r:id="rId1"/>
    <p:sldLayoutId id="2147483678" r:id="rId2"/>
    <p:sldLayoutId id="2147483682" r:id="rId3"/>
    <p:sldLayoutId id="2147483681" r:id="rId4"/>
    <p:sldLayoutId id="2147483679" r:id="rId5"/>
    <p:sldLayoutId id="2147483680" r:id="rId6"/>
    <p:sldLayoutId id="2147483671" r:id="rId7"/>
    <p:sldLayoutId id="2147483673" r:id="rId8"/>
    <p:sldLayoutId id="2147483674" r:id="rId9"/>
    <p:sldLayoutId id="2147483675" r:id="rId10"/>
    <p:sldLayoutId id="2147483676" r:id="rId11"/>
    <p:sldLayoutId id="2147483677" r:id="rId12"/>
    <p:sldLayoutId id="2147483683" r:id="rId13"/>
  </p:sldLayoutIdLst>
  <p:hf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chart" Target="../charts/chart1.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chart" Target="../charts/chart6.xml"/><Relationship Id="rId7" Type="http://schemas.microsoft.com/office/2007/relationships/hdphoto" Target="../media/hdphoto2.wdp"/><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microsoft.com/office/2007/relationships/hdphoto" Target="../media/hdphoto1.wdp"/><Relationship Id="rId10" Type="http://schemas.openxmlformats.org/officeDocument/2006/relationships/image" Target="../media/image11.png"/><Relationship Id="rId4" Type="http://schemas.openxmlformats.org/officeDocument/2006/relationships/image" Target="../media/image9.png"/><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A2DD3E55-BAC7-0634-2298-0F5A747D2B32}"/>
              </a:ext>
            </a:extLst>
          </p:cNvPr>
          <p:cNvPicPr>
            <a:picLocks noChangeAspect="1"/>
          </p:cNvPicPr>
          <p:nvPr/>
        </p:nvPicPr>
        <p:blipFill>
          <a:blip r:embed="rId2"/>
          <a:stretch>
            <a:fillRect/>
          </a:stretch>
        </p:blipFill>
        <p:spPr>
          <a:xfrm>
            <a:off x="539552" y="2420888"/>
            <a:ext cx="1733188" cy="946320"/>
          </a:xfrm>
          <a:prstGeom prst="rect">
            <a:avLst/>
          </a:prstGeom>
        </p:spPr>
      </p:pic>
      <p:sp>
        <p:nvSpPr>
          <p:cNvPr id="3" name="副標題 2"/>
          <p:cNvSpPr>
            <a:spLocks noGrp="1"/>
          </p:cNvSpPr>
          <p:nvPr>
            <p:ph type="subTitle" idx="1"/>
          </p:nvPr>
        </p:nvSpPr>
        <p:spPr>
          <a:xfrm>
            <a:off x="2664328" y="3483648"/>
            <a:ext cx="2555744" cy="349749"/>
          </a:xfrm>
        </p:spPr>
        <p:txBody>
          <a:bodyPr/>
          <a:lstStyle/>
          <a:p>
            <a:r>
              <a:rPr lang="en-US" altLang="zh-TW" dirty="0"/>
              <a:t>Eli Lilly and Company</a:t>
            </a:r>
          </a:p>
        </p:txBody>
      </p:sp>
      <p:sp>
        <p:nvSpPr>
          <p:cNvPr id="4" name="標題 3"/>
          <p:cNvSpPr>
            <a:spLocks noGrp="1"/>
          </p:cNvSpPr>
          <p:nvPr>
            <p:ph type="ctrTitle"/>
          </p:nvPr>
        </p:nvSpPr>
        <p:spPr>
          <a:xfrm>
            <a:off x="2664328" y="2935160"/>
            <a:ext cx="1691680" cy="439193"/>
          </a:xfrm>
        </p:spPr>
        <p:txBody>
          <a:bodyPr/>
          <a:lstStyle/>
          <a:p>
            <a:r>
              <a:rPr lang="zh-TW" altLang="en-US" sz="2800" dirty="0"/>
              <a:t>禮來公司</a:t>
            </a:r>
          </a:p>
        </p:txBody>
      </p:sp>
    </p:spTree>
    <p:extLst>
      <p:ext uri="{BB962C8B-B14F-4D97-AF65-F5344CB8AC3E}">
        <p14:creationId xmlns:p14="http://schemas.microsoft.com/office/powerpoint/2010/main" val="2447386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1B0C7A66-F8C5-36C2-9F37-0674936DACEB}"/>
              </a:ext>
            </a:extLst>
          </p:cNvPr>
          <p:cNvPicPr>
            <a:picLocks noChangeAspect="1"/>
          </p:cNvPicPr>
          <p:nvPr/>
        </p:nvPicPr>
        <p:blipFill>
          <a:blip r:embed="rId3"/>
          <a:stretch>
            <a:fillRect/>
          </a:stretch>
        </p:blipFill>
        <p:spPr>
          <a:xfrm>
            <a:off x="7254428" y="468631"/>
            <a:ext cx="1411889" cy="770891"/>
          </a:xfrm>
          <a:prstGeom prst="rect">
            <a:avLst/>
          </a:prstGeom>
        </p:spPr>
      </p:pic>
      <p:sp>
        <p:nvSpPr>
          <p:cNvPr id="47" name="矩形 46">
            <a:extLst>
              <a:ext uri="{FF2B5EF4-FFF2-40B4-BE49-F238E27FC236}">
                <a16:creationId xmlns:a16="http://schemas.microsoft.com/office/drawing/2014/main" id="{2699700B-649E-4B41-BD33-38C3C73BF142}"/>
              </a:ext>
            </a:extLst>
          </p:cNvPr>
          <p:cNvSpPr/>
          <p:nvPr/>
        </p:nvSpPr>
        <p:spPr>
          <a:xfrm>
            <a:off x="473084" y="4581128"/>
            <a:ext cx="5935044" cy="1874800"/>
          </a:xfrm>
          <a:prstGeom prst="rect">
            <a:avLst/>
          </a:prstGeom>
          <a:noFill/>
          <a:ln>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cxnSp>
        <p:nvCxnSpPr>
          <p:cNvPr id="18" name="直線接點 17">
            <a:extLst>
              <a:ext uri="{FF2B5EF4-FFF2-40B4-BE49-F238E27FC236}">
                <a16:creationId xmlns:a16="http://schemas.microsoft.com/office/drawing/2014/main" id="{A04FBD28-E6A3-4645-9422-603BD8C266EB}"/>
              </a:ext>
            </a:extLst>
          </p:cNvPr>
          <p:cNvCxnSpPr/>
          <p:nvPr/>
        </p:nvCxnSpPr>
        <p:spPr>
          <a:xfrm>
            <a:off x="7076640" y="1268760"/>
            <a:ext cx="1715711" cy="0"/>
          </a:xfrm>
          <a:prstGeom prst="line">
            <a:avLst/>
          </a:prstGeom>
          <a:ln w="19050">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pic>
        <p:nvPicPr>
          <p:cNvPr id="27" name="圖片 26">
            <a:extLst>
              <a:ext uri="{FF2B5EF4-FFF2-40B4-BE49-F238E27FC236}">
                <a16:creationId xmlns:a16="http://schemas.microsoft.com/office/drawing/2014/main" id="{812C6449-9CF8-4E1F-B004-6A52F2380BE4}"/>
              </a:ext>
            </a:extLst>
          </p:cNvPr>
          <p:cNvPicPr>
            <a:picLocks noChangeAspect="1"/>
          </p:cNvPicPr>
          <p:nvPr/>
        </p:nvPicPr>
        <p:blipFill>
          <a:blip r:embed="rId4"/>
          <a:stretch>
            <a:fillRect/>
          </a:stretch>
        </p:blipFill>
        <p:spPr>
          <a:xfrm>
            <a:off x="473083" y="964791"/>
            <a:ext cx="5935045" cy="3439569"/>
          </a:xfrm>
          <a:prstGeom prst="rect">
            <a:avLst/>
          </a:prstGeom>
        </p:spPr>
      </p:pic>
      <p:sp>
        <p:nvSpPr>
          <p:cNvPr id="30" name="標題 38">
            <a:extLst>
              <a:ext uri="{FF2B5EF4-FFF2-40B4-BE49-F238E27FC236}">
                <a16:creationId xmlns:a16="http://schemas.microsoft.com/office/drawing/2014/main" id="{D0FCD71C-3094-47DE-B012-FBB187335D3D}"/>
              </a:ext>
            </a:extLst>
          </p:cNvPr>
          <p:cNvSpPr txBox="1">
            <a:spLocks/>
          </p:cNvSpPr>
          <p:nvPr/>
        </p:nvSpPr>
        <p:spPr>
          <a:xfrm>
            <a:off x="448055" y="189928"/>
            <a:ext cx="1603666" cy="540000"/>
          </a:xfrm>
          <a:prstGeom prst="rect">
            <a:avLst/>
          </a:prstGeom>
        </p:spPr>
        <p:txBody>
          <a:bodyPr anchor="b">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r>
              <a:rPr lang="zh-TW" altLang="en-US" sz="2400" dirty="0"/>
              <a:t>禮來公司</a:t>
            </a:r>
            <a:endParaRPr lang="zh-TW" altLang="en-US" sz="2000" dirty="0"/>
          </a:p>
        </p:txBody>
      </p:sp>
      <p:pic>
        <p:nvPicPr>
          <p:cNvPr id="31" name="圖片 30">
            <a:extLst>
              <a:ext uri="{FF2B5EF4-FFF2-40B4-BE49-F238E27FC236}">
                <a16:creationId xmlns:a16="http://schemas.microsoft.com/office/drawing/2014/main" id="{DA6EE68A-0572-4D43-A46B-756CDAED3F81}"/>
              </a:ext>
            </a:extLst>
          </p:cNvPr>
          <p:cNvPicPr>
            <a:picLocks noChangeAspect="1"/>
          </p:cNvPicPr>
          <p:nvPr/>
        </p:nvPicPr>
        <p:blipFill>
          <a:blip r:embed="rId5"/>
          <a:stretch>
            <a:fillRect/>
          </a:stretch>
        </p:blipFill>
        <p:spPr>
          <a:xfrm>
            <a:off x="638492" y="789727"/>
            <a:ext cx="1225403" cy="370364"/>
          </a:xfrm>
          <a:prstGeom prst="rect">
            <a:avLst/>
          </a:prstGeom>
        </p:spPr>
      </p:pic>
      <p:sp>
        <p:nvSpPr>
          <p:cNvPr id="44" name="圓角矩形 36">
            <a:extLst>
              <a:ext uri="{FF2B5EF4-FFF2-40B4-BE49-F238E27FC236}">
                <a16:creationId xmlns:a16="http://schemas.microsoft.com/office/drawing/2014/main" id="{5260B2CD-FEE4-47F6-BD3F-4145A777A1CE}"/>
              </a:ext>
            </a:extLst>
          </p:cNvPr>
          <p:cNvSpPr/>
          <p:nvPr/>
        </p:nvSpPr>
        <p:spPr>
          <a:xfrm>
            <a:off x="638492" y="4487347"/>
            <a:ext cx="5589692" cy="27670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latin typeface="微軟正黑體" panose="020B0604030504040204" pitchFamily="34" charset="-120"/>
                <a:ea typeface="微軟正黑體" panose="020B0604030504040204" pitchFamily="34" charset="-120"/>
              </a:rPr>
              <a:t>心血管代謝領域的專家，營收以美國為主要市場</a:t>
            </a:r>
          </a:p>
        </p:txBody>
      </p:sp>
      <p:sp>
        <p:nvSpPr>
          <p:cNvPr id="25" name="文字版面配置區 15">
            <a:extLst>
              <a:ext uri="{FF2B5EF4-FFF2-40B4-BE49-F238E27FC236}">
                <a16:creationId xmlns:a16="http://schemas.microsoft.com/office/drawing/2014/main" id="{11A04B46-DE0C-4282-BFCA-6BA92CADD11B}"/>
              </a:ext>
            </a:extLst>
          </p:cNvPr>
          <p:cNvSpPr txBox="1">
            <a:spLocks/>
          </p:cNvSpPr>
          <p:nvPr/>
        </p:nvSpPr>
        <p:spPr>
          <a:xfrm>
            <a:off x="473083" y="1057453"/>
            <a:ext cx="5899117" cy="3489286"/>
          </a:xfrm>
          <a:prstGeom prst="rect">
            <a:avLst/>
          </a:prstGeom>
        </p:spPr>
        <p:txBody>
          <a:bodyPr>
            <a:noAutofit/>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just">
              <a:lnSpc>
                <a:spcPts val="1400"/>
              </a:lnSpc>
              <a:spcBef>
                <a:spcPts val="300"/>
              </a:spcBef>
              <a:buNone/>
            </a:pPr>
            <a:r>
              <a:rPr lang="zh-TW" altLang="en-US" sz="1200" dirty="0">
                <a:latin typeface="微軟正黑體" panose="020B0604030504040204" pitchFamily="34" charset="-120"/>
                <a:ea typeface="微軟正黑體" panose="020B0604030504040204" pitchFamily="34" charset="-120"/>
              </a:rPr>
              <a:t>禮來公司</a:t>
            </a:r>
            <a:r>
              <a:rPr lang="en-US" altLang="zh-TW" sz="1200" dirty="0">
                <a:latin typeface="微軟正黑體" panose="020B0604030504040204" pitchFamily="34" charset="-120"/>
                <a:ea typeface="微軟正黑體" panose="020B0604030504040204" pitchFamily="34" charset="-120"/>
              </a:rPr>
              <a:t>(Eli Lilly &amp; Co)</a:t>
            </a:r>
            <a:r>
              <a:rPr lang="zh-TW" altLang="en-US" sz="1200" dirty="0">
                <a:latin typeface="微軟正黑體" panose="020B0604030504040204" pitchFamily="34" charset="-120"/>
                <a:ea typeface="微軟正黑體" panose="020B0604030504040204" pitchFamily="34" charset="-120"/>
              </a:rPr>
              <a:t>成立於</a:t>
            </a:r>
            <a:r>
              <a:rPr lang="en-US" altLang="zh-TW" sz="1200" dirty="0">
                <a:latin typeface="微軟正黑體" panose="020B0604030504040204" pitchFamily="34" charset="-120"/>
                <a:ea typeface="微軟正黑體" panose="020B0604030504040204" pitchFamily="34" charset="-120"/>
              </a:rPr>
              <a:t>1876</a:t>
            </a:r>
            <a:r>
              <a:rPr lang="zh-TW" altLang="en-US" sz="1200" dirty="0">
                <a:latin typeface="微軟正黑體" panose="020B0604030504040204" pitchFamily="34" charset="-120"/>
                <a:ea typeface="微軟正黑體" panose="020B0604030504040204" pitchFamily="34" charset="-120"/>
              </a:rPr>
              <a:t>年，總部位於美國印第安那州，為全球性的製藥公司，專門研發、生產，並銷售各式藥物，在糖尿病、腫瘤學</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癌症</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和免疫學等領域擁有強大的市場地位。旗下知名藥物有治療憂鬱症的百憂解、糖尿病藥物易週糖、乳癌藥物</a:t>
            </a:r>
            <a:r>
              <a:rPr lang="zh-TW" altLang="en-US" sz="1200" b="0" i="0" dirty="0">
                <a:effectLst/>
                <a:latin typeface="微軟正黑體" panose="020B0604030504040204" pitchFamily="34" charset="-120"/>
                <a:ea typeface="微軟正黑體" panose="020B0604030504040204" pitchFamily="34" charset="-120"/>
              </a:rPr>
              <a:t>捷癌寧</a:t>
            </a:r>
            <a:r>
              <a:rPr lang="zh-TW" altLang="en-US" sz="1200" dirty="0">
                <a:latin typeface="微軟正黑體" panose="020B0604030504040204" pitchFamily="34" charset="-120"/>
                <a:ea typeface="微軟正黑體" panose="020B0604030504040204" pitchFamily="34" charset="-120"/>
              </a:rPr>
              <a:t>，以及可用於減重的糖尿病藥物</a:t>
            </a:r>
            <a:r>
              <a:rPr lang="en-US" altLang="zh-TW" sz="1200" dirty="0">
                <a:latin typeface="微軟正黑體" panose="020B0604030504040204" pitchFamily="34" charset="-120"/>
                <a:ea typeface="微軟正黑體" panose="020B0604030504040204" pitchFamily="34" charset="-120"/>
              </a:rPr>
              <a:t>Mounjaro(</a:t>
            </a:r>
            <a:r>
              <a:rPr lang="zh-TW" altLang="en-US" sz="1200" dirty="0">
                <a:latin typeface="微軟正黑體" panose="020B0604030504040204" pitchFamily="34" charset="-120"/>
                <a:ea typeface="微軟正黑體" panose="020B0604030504040204" pitchFamily="34" charset="-120"/>
              </a:rPr>
              <a:t>主要用於治療糖尿病，</a:t>
            </a:r>
            <a:r>
              <a:rPr lang="zh-TW" altLang="en-US" sz="1200" b="0" i="0" kern="1200" dirty="0">
                <a:solidFill>
                  <a:schemeClr val="tx1"/>
                </a:solidFill>
                <a:effectLst/>
                <a:latin typeface="微軟正黑體" panose="020B0604030504040204" pitchFamily="34" charset="-120"/>
                <a:ea typeface="微軟正黑體" panose="020B0604030504040204" pitchFamily="34" charset="-120"/>
              </a:rPr>
              <a:t>仿</a:t>
            </a:r>
            <a:r>
              <a:rPr lang="en-US" altLang="zh-TW" sz="1200" b="0" i="0" kern="1200" dirty="0">
                <a:solidFill>
                  <a:schemeClr val="tx1"/>
                </a:solidFill>
                <a:effectLst/>
                <a:latin typeface="微軟正黑體" panose="020B0604030504040204" pitchFamily="34" charset="-120"/>
                <a:ea typeface="微軟正黑體" panose="020B0604030504040204" pitchFamily="34" charset="-120"/>
              </a:rPr>
              <a:t>GLP-1</a:t>
            </a:r>
            <a:r>
              <a:rPr lang="zh-TW" altLang="en-US" sz="1200" b="0" i="0" kern="1200" dirty="0">
                <a:solidFill>
                  <a:schemeClr val="tx1"/>
                </a:solidFill>
                <a:effectLst/>
                <a:latin typeface="微軟正黑體" panose="020B0604030504040204" pitchFamily="34" charset="-120"/>
                <a:ea typeface="微軟正黑體" panose="020B0604030504040204" pitchFamily="34" charset="-120"/>
              </a:rPr>
              <a:t>及</a:t>
            </a:r>
            <a:r>
              <a:rPr lang="en-US" altLang="zh-TW" sz="1200" b="0" i="0" kern="1200" dirty="0">
                <a:solidFill>
                  <a:schemeClr val="tx1"/>
                </a:solidFill>
                <a:effectLst/>
                <a:latin typeface="微軟正黑體" panose="020B0604030504040204" pitchFamily="34" charset="-120"/>
                <a:ea typeface="微軟正黑體" panose="020B0604030504040204" pitchFamily="34" charset="-120"/>
              </a:rPr>
              <a:t>GIP</a:t>
            </a:r>
            <a:r>
              <a:rPr lang="zh-TW" altLang="en-US" sz="1200" b="0" i="0" kern="1200" dirty="0">
                <a:solidFill>
                  <a:schemeClr val="tx1"/>
                </a:solidFill>
                <a:effectLst/>
                <a:latin typeface="微軟正黑體" panose="020B0604030504040204" pitchFamily="34" charset="-120"/>
                <a:ea typeface="微軟正黑體" panose="020B0604030504040204" pitchFamily="34" charset="-120"/>
              </a:rPr>
              <a:t>兩種胃腸賀爾蒙的藥物，可增加飽足感並減緩腸胃清空速度</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等。</a:t>
            </a:r>
            <a:endParaRPr lang="en-US" altLang="zh-TW" sz="1200" dirty="0">
              <a:latin typeface="微軟正黑體" panose="020B0604030504040204" pitchFamily="34" charset="-120"/>
              <a:ea typeface="微軟正黑體" panose="020B0604030504040204" pitchFamily="34" charset="-120"/>
            </a:endParaRPr>
          </a:p>
          <a:p>
            <a:pPr marL="0" indent="0" algn="just">
              <a:lnSpc>
                <a:spcPts val="1400"/>
              </a:lnSpc>
              <a:spcBef>
                <a:spcPts val="300"/>
              </a:spcBef>
              <a:buNone/>
            </a:pPr>
            <a:r>
              <a:rPr lang="zh-TW" altLang="en-US" sz="1200" dirty="0">
                <a:latin typeface="微軟正黑體" panose="020B0604030504040204" pitchFamily="34" charset="-120"/>
              </a:rPr>
              <a:t>自</a:t>
            </a:r>
            <a:r>
              <a:rPr lang="en-US" altLang="zh-TW" sz="1200" dirty="0">
                <a:latin typeface="微軟正黑體" panose="020B0604030504040204" pitchFamily="34" charset="-120"/>
              </a:rPr>
              <a:t>2022</a:t>
            </a:r>
            <a:r>
              <a:rPr lang="zh-TW" altLang="en-US" sz="1200" dirty="0">
                <a:latin typeface="微軟正黑體" panose="020B0604030504040204" pitchFamily="34" charset="-120"/>
              </a:rPr>
              <a:t>年推出「</a:t>
            </a:r>
            <a:r>
              <a:rPr lang="en-US" altLang="zh-TW" sz="1200" dirty="0">
                <a:latin typeface="微軟正黑體" panose="020B0604030504040204" pitchFamily="34" charset="-120"/>
              </a:rPr>
              <a:t>Mounjaro</a:t>
            </a:r>
            <a:r>
              <a:rPr lang="zh-TW" altLang="en-US" sz="1200" dirty="0">
                <a:latin typeface="微軟正黑體" panose="020B0604030504040204" pitchFamily="34" charset="-120"/>
              </a:rPr>
              <a:t>」以來，該藥品已成為禮來銷售金額最高的藥品；而與</a:t>
            </a:r>
            <a:r>
              <a:rPr lang="en-US" altLang="zh-TW" sz="1200" dirty="0">
                <a:latin typeface="微軟正黑體" panose="020B0604030504040204" pitchFamily="34" charset="-120"/>
              </a:rPr>
              <a:t>Mounjaro</a:t>
            </a:r>
            <a:r>
              <a:rPr lang="zh-TW" altLang="en-US" sz="1200" dirty="0">
                <a:latin typeface="微軟正黑體" panose="020B0604030504040204" pitchFamily="34" charset="-120"/>
              </a:rPr>
              <a:t>成份相同但專門用於減重的「</a:t>
            </a:r>
            <a:r>
              <a:rPr lang="en-US" altLang="zh-TW" sz="1200" dirty="0">
                <a:latin typeface="微軟正黑體" panose="020B0604030504040204" pitchFamily="34" charset="-120"/>
              </a:rPr>
              <a:t>Zepbound</a:t>
            </a:r>
            <a:r>
              <a:rPr lang="zh-TW" altLang="en-US" sz="1200" dirty="0">
                <a:latin typeface="微軟正黑體" panose="020B0604030504040204" pitchFamily="34" charset="-120"/>
              </a:rPr>
              <a:t>」則於</a:t>
            </a:r>
            <a:r>
              <a:rPr lang="en-US" altLang="zh-TW" sz="1200" dirty="0">
                <a:latin typeface="微軟正黑體" panose="020B0604030504040204" pitchFamily="34" charset="-120"/>
              </a:rPr>
              <a:t>2023</a:t>
            </a:r>
            <a:r>
              <a:rPr lang="zh-TW" altLang="en-US" sz="1200" dirty="0">
                <a:latin typeface="微軟正黑體" panose="020B0604030504040204" pitchFamily="34" charset="-120"/>
              </a:rPr>
              <a:t>年</a:t>
            </a:r>
            <a:r>
              <a:rPr lang="en-US" altLang="zh-TW" sz="1200" dirty="0">
                <a:latin typeface="微軟正黑體" panose="020B0604030504040204" pitchFamily="34" charset="-120"/>
              </a:rPr>
              <a:t>11</a:t>
            </a:r>
            <a:r>
              <a:rPr lang="zh-TW" altLang="en-US" sz="1200" dirty="0">
                <a:latin typeface="微軟正黑體" panose="020B0604030504040204" pitchFamily="34" charset="-120"/>
              </a:rPr>
              <a:t>月獲得美國</a:t>
            </a:r>
            <a:r>
              <a:rPr lang="en-US" altLang="zh-TW" sz="1200" dirty="0">
                <a:latin typeface="微軟正黑體" panose="020B0604030504040204" pitchFamily="34" charset="-120"/>
              </a:rPr>
              <a:t>FDA</a:t>
            </a:r>
            <a:r>
              <a:rPr lang="zh-TW" altLang="en-US" sz="1200" dirty="0">
                <a:latin typeface="微軟正黑體" panose="020B0604030504040204" pitchFamily="34" charset="-120"/>
              </a:rPr>
              <a:t>批准上市，且公司於</a:t>
            </a:r>
            <a:r>
              <a:rPr lang="en-US" altLang="zh-TW" sz="1200" dirty="0">
                <a:latin typeface="微軟正黑體" panose="020B0604030504040204" pitchFamily="34" charset="-120"/>
              </a:rPr>
              <a:t>2024</a:t>
            </a:r>
            <a:r>
              <a:rPr lang="zh-TW" altLang="en-US" sz="1200" dirty="0">
                <a:latin typeface="微軟正黑體" panose="020B0604030504040204" pitchFamily="34" charset="-120"/>
              </a:rPr>
              <a:t>年</a:t>
            </a:r>
            <a:r>
              <a:rPr lang="en-US" altLang="zh-TW" sz="1200" dirty="0">
                <a:latin typeface="微軟正黑體" panose="020B0604030504040204" pitchFamily="34" charset="-120"/>
              </a:rPr>
              <a:t>6</a:t>
            </a:r>
            <a:r>
              <a:rPr lang="zh-TW" altLang="en-US" sz="1200" dirty="0">
                <a:latin typeface="微軟正黑體" panose="020B0604030504040204" pitchFamily="34" charset="-120"/>
              </a:rPr>
              <a:t>月宣布</a:t>
            </a:r>
            <a:r>
              <a:rPr lang="en-US" altLang="zh-TW" sz="1200" dirty="0">
                <a:latin typeface="微軟正黑體" panose="020B0604030504040204" pitchFamily="34" charset="-120"/>
              </a:rPr>
              <a:t>Zepbound</a:t>
            </a:r>
            <a:r>
              <a:rPr lang="zh-TW" altLang="en-US" sz="1200" dirty="0">
                <a:latin typeface="微軟正黑體" panose="020B0604030504040204" pitchFamily="34" charset="-120"/>
              </a:rPr>
              <a:t>在兩項後期試驗中，有助於解決</a:t>
            </a:r>
            <a:r>
              <a:rPr lang="en-US" altLang="zh-TW" sz="1200" dirty="0">
                <a:latin typeface="微軟正黑體" panose="020B0604030504040204" pitchFamily="34" charset="-120"/>
              </a:rPr>
              <a:t>50%</a:t>
            </a:r>
            <a:r>
              <a:rPr lang="zh-TW" altLang="en-US" sz="1200" dirty="0">
                <a:latin typeface="微軟正黑體" panose="020B0604030504040204" pitchFamily="34" charset="-120"/>
              </a:rPr>
              <a:t>以上中度到重度阻塞性睡眠呼吸中止症問題；同年</a:t>
            </a:r>
            <a:r>
              <a:rPr lang="en-US" altLang="zh-TW" sz="1200" dirty="0">
                <a:latin typeface="微軟正黑體" panose="020B0604030504040204" pitchFamily="34" charset="-120"/>
              </a:rPr>
              <a:t>12</a:t>
            </a:r>
            <a:r>
              <a:rPr lang="zh-TW" altLang="en-US" sz="1200" dirty="0">
                <a:latin typeface="微軟正黑體" panose="020B0604030504040204" pitchFamily="34" charset="-120"/>
              </a:rPr>
              <a:t>月禮來表示，在首次每周注射的一對一臨床試驗中，其肥胖藥物</a:t>
            </a:r>
            <a:r>
              <a:rPr lang="en-US" altLang="zh-TW" sz="1200" dirty="0">
                <a:latin typeface="微軟正黑體" panose="020B0604030504040204" pitchFamily="34" charset="-120"/>
              </a:rPr>
              <a:t>Zepbound</a:t>
            </a:r>
            <a:r>
              <a:rPr lang="zh-TW" altLang="en-US" sz="1200" dirty="0">
                <a:latin typeface="微軟正黑體" panose="020B0604030504040204" pitchFamily="34" charset="-120"/>
              </a:rPr>
              <a:t>比其主要競爭對手諾和諾德的</a:t>
            </a:r>
            <a:r>
              <a:rPr lang="en-US" altLang="zh-TW" sz="1200" dirty="0">
                <a:latin typeface="微軟正黑體" panose="020B0604030504040204" pitchFamily="34" charset="-120"/>
              </a:rPr>
              <a:t>Wegovy</a:t>
            </a:r>
            <a:r>
              <a:rPr lang="zh-TW" altLang="en-US" sz="1200" dirty="0">
                <a:latin typeface="微軟正黑體" panose="020B0604030504040204" pitchFamily="34" charset="-120"/>
              </a:rPr>
              <a:t>帶來更多的減肥效果</a:t>
            </a:r>
            <a:r>
              <a:rPr lang="zh-TW" altLang="en-US" sz="1200" dirty="0">
                <a:latin typeface="微軟正黑體" panose="020B0604030504040204" pitchFamily="34" charset="-120"/>
                <a:ea typeface="微軟正黑體" panose="020B0604030504040204" pitchFamily="34" charset="-120"/>
              </a:rPr>
              <a:t>，</a:t>
            </a:r>
            <a:r>
              <a:rPr lang="en-US" altLang="zh-TW" sz="1200" dirty="0">
                <a:latin typeface="微軟正黑體" panose="020B0604030504040204" pitchFamily="34" charset="-120"/>
                <a:ea typeface="微軟正黑體" panose="020B0604030504040204" pitchFamily="34" charset="-120"/>
              </a:rPr>
              <a:t>Zepbound</a:t>
            </a:r>
            <a:r>
              <a:rPr lang="zh-TW" altLang="en-US" sz="1200" dirty="0">
                <a:latin typeface="微軟正黑體" panose="020B0604030504040204" pitchFamily="34" charset="-120"/>
                <a:ea typeface="微軟正黑體" panose="020B0604030504040204" pitchFamily="34" charset="-120"/>
              </a:rPr>
              <a:t>的相對減重效果高出</a:t>
            </a:r>
            <a:r>
              <a:rPr lang="en-US" altLang="zh-TW" sz="1200" dirty="0">
                <a:latin typeface="微軟正黑體" panose="020B0604030504040204" pitchFamily="34" charset="-120"/>
                <a:ea typeface="微軟正黑體" panose="020B0604030504040204" pitchFamily="34" charset="-120"/>
              </a:rPr>
              <a:t>47%</a:t>
            </a:r>
            <a:r>
              <a:rPr lang="zh-TW" altLang="en-US" sz="1200" dirty="0">
                <a:latin typeface="微軟正黑體" panose="020B0604030504040204" pitchFamily="34" charset="-120"/>
                <a:ea typeface="微軟正黑體" panose="020B0604030504040204" pitchFamily="34" charset="-120"/>
              </a:rPr>
              <a:t>，超過</a:t>
            </a:r>
            <a:r>
              <a:rPr lang="en-US" altLang="zh-TW" sz="1200" dirty="0">
                <a:latin typeface="微軟正黑體" panose="020B0604030504040204" pitchFamily="34" charset="-120"/>
                <a:ea typeface="微軟正黑體" panose="020B0604030504040204" pitchFamily="34" charset="-120"/>
              </a:rPr>
              <a:t>31%</a:t>
            </a:r>
            <a:r>
              <a:rPr lang="zh-TW" altLang="en-US" sz="1200" dirty="0">
                <a:latin typeface="微軟正黑體" panose="020B0604030504040204" pitchFamily="34" charset="-120"/>
                <a:ea typeface="微軟正黑體" panose="020B0604030504040204" pitchFamily="34" charset="-120"/>
              </a:rPr>
              <a:t>服用</a:t>
            </a:r>
            <a:r>
              <a:rPr lang="en-US" altLang="zh-TW" sz="1200" dirty="0">
                <a:latin typeface="微軟正黑體" panose="020B0604030504040204" pitchFamily="34" charset="-120"/>
                <a:ea typeface="微軟正黑體" panose="020B0604030504040204" pitchFamily="34" charset="-120"/>
              </a:rPr>
              <a:t>Zepbound</a:t>
            </a:r>
            <a:r>
              <a:rPr lang="zh-TW" altLang="en-US" sz="1200" dirty="0">
                <a:latin typeface="微軟正黑體" panose="020B0604030504040204" pitchFamily="34" charset="-120"/>
                <a:ea typeface="微軟正黑體" panose="020B0604030504040204" pitchFamily="34" charset="-120"/>
              </a:rPr>
              <a:t>的人至少減輕了</a:t>
            </a:r>
            <a:r>
              <a:rPr lang="en-US" altLang="zh-TW" sz="1200" dirty="0">
                <a:latin typeface="微軟正黑體" panose="020B0604030504040204" pitchFamily="34" charset="-120"/>
                <a:ea typeface="微軟正黑體" panose="020B0604030504040204" pitchFamily="34" charset="-120"/>
              </a:rPr>
              <a:t>1/4</a:t>
            </a:r>
            <a:r>
              <a:rPr lang="zh-TW" altLang="en-US" sz="1200" dirty="0">
                <a:latin typeface="微軟正黑體" panose="020B0604030504040204" pitchFamily="34" charset="-120"/>
                <a:ea typeface="微軟正黑體" panose="020B0604030504040204" pitchFamily="34" charset="-120"/>
              </a:rPr>
              <a:t>的體重，而服用</a:t>
            </a:r>
            <a:r>
              <a:rPr lang="en-US" altLang="zh-TW" sz="1200" dirty="0">
                <a:latin typeface="微軟正黑體" panose="020B0604030504040204" pitchFamily="34" charset="-120"/>
                <a:ea typeface="微軟正黑體" panose="020B0604030504040204" pitchFamily="34" charset="-120"/>
              </a:rPr>
              <a:t>Wegovy</a:t>
            </a:r>
            <a:r>
              <a:rPr lang="zh-TW" altLang="en-US" sz="1200" dirty="0">
                <a:latin typeface="微軟正黑體" panose="020B0604030504040204" pitchFamily="34" charset="-120"/>
                <a:ea typeface="微軟正黑體" panose="020B0604030504040204" pitchFamily="34" charset="-120"/>
              </a:rPr>
              <a:t>的人僅約</a:t>
            </a:r>
            <a:r>
              <a:rPr lang="en-US" altLang="zh-TW" sz="1200" dirty="0">
                <a:latin typeface="微軟正黑體" panose="020B0604030504040204" pitchFamily="34" charset="-120"/>
                <a:ea typeface="微軟正黑體" panose="020B0604030504040204" pitchFamily="34" charset="-120"/>
              </a:rPr>
              <a:t>16%</a:t>
            </a:r>
            <a:r>
              <a:rPr lang="zh-TW" altLang="en-US" sz="1200" dirty="0">
                <a:latin typeface="微軟正黑體" panose="020B0604030504040204" pitchFamily="34" charset="-120"/>
                <a:ea typeface="微軟正黑體" panose="020B0604030504040204" pitchFamily="34" charset="-120"/>
              </a:rPr>
              <a:t>減輕該比例體重。</a:t>
            </a:r>
          </a:p>
          <a:p>
            <a:pPr algn="just">
              <a:lnSpc>
                <a:spcPts val="1300"/>
              </a:lnSpc>
              <a:spcBef>
                <a:spcPts val="300"/>
              </a:spcBef>
              <a:buFont typeface="Wingdings" panose="05000000000000000000" pitchFamily="2" charset="2"/>
              <a:buChar char="ü"/>
              <a:defRPr/>
            </a:pPr>
            <a:r>
              <a:rPr kumimoji="0" lang="zh-TW" altLang="en-US" sz="1100" b="1"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阿茲海默症新藥獲批上市：</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阿茲海默症突破性新療法「</a:t>
            </a:r>
            <a:r>
              <a:rPr lang="en-US" altLang="zh-TW" sz="1100" dirty="0">
                <a:solidFill>
                  <a:srgbClr val="000000"/>
                </a:solidFill>
                <a:latin typeface="微軟正黑體" panose="020B0604030504040204" pitchFamily="34" charset="-120"/>
                <a:ea typeface="微軟正黑體" panose="020B0604030504040204" pitchFamily="34" charset="-120"/>
              </a:rPr>
              <a:t>Kisunla(</a:t>
            </a:r>
            <a:r>
              <a:rPr lang="en-US" altLang="zh-TW" sz="1100" dirty="0" err="1">
                <a:solidFill>
                  <a:srgbClr val="000000"/>
                </a:solidFill>
                <a:latin typeface="微軟正黑體" panose="020B0604030504040204" pitchFamily="34" charset="-120"/>
                <a:ea typeface="微軟正黑體" panose="020B0604030504040204" pitchFamily="34" charset="-120"/>
              </a:rPr>
              <a:t>donanemab-azbt</a:t>
            </a:r>
            <a:r>
              <a:rPr lang="en-US" altLang="zh-TW" sz="1100" dirty="0">
                <a:solidFill>
                  <a:srgbClr val="000000"/>
                </a:solidFill>
                <a:latin typeface="微軟正黑體" panose="020B0604030504040204" pitchFamily="34" charset="-120"/>
                <a:ea typeface="微軟正黑體" panose="020B0604030504040204" pitchFamily="34" charset="-120"/>
              </a:rPr>
              <a:t>)</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」在</a:t>
            </a:r>
            <a:r>
              <a:rPr lang="en-US" altLang="zh-TW" sz="1100" dirty="0">
                <a:solidFill>
                  <a:srgbClr val="000000"/>
                </a:solidFill>
                <a:latin typeface="微軟正黑體" panose="020B0604030504040204" pitchFamily="34" charset="-120"/>
                <a:ea typeface="微軟正黑體" panose="020B0604030504040204" pitchFamily="34" charset="-120"/>
              </a:rPr>
              <a:t>2024</a:t>
            </a:r>
            <a:r>
              <a:rPr lang="zh-TW" altLang="en-US" sz="1100" dirty="0">
                <a:solidFill>
                  <a:srgbClr val="000000"/>
                </a:solidFill>
                <a:latin typeface="微軟正黑體" panose="020B0604030504040204" pitchFamily="34" charset="-120"/>
                <a:ea typeface="微軟正黑體" panose="020B0604030504040204" pitchFamily="34" charset="-120"/>
              </a:rPr>
              <a:t>年</a:t>
            </a:r>
            <a:r>
              <a:rPr lang="en-US" altLang="zh-TW" sz="1100" dirty="0">
                <a:solidFill>
                  <a:srgbClr val="000000"/>
                </a:solidFill>
                <a:latin typeface="微軟正黑體" panose="020B0604030504040204" pitchFamily="34" charset="-120"/>
                <a:ea typeface="微軟正黑體" panose="020B0604030504040204" pitchFamily="34" charset="-120"/>
              </a:rPr>
              <a:t>7</a:t>
            </a:r>
            <a:r>
              <a:rPr lang="zh-TW" altLang="en-US" sz="1100" dirty="0">
                <a:solidFill>
                  <a:srgbClr val="000000"/>
                </a:solidFill>
                <a:latin typeface="微軟正黑體" panose="020B0604030504040204" pitchFamily="34" charset="-120"/>
                <a:ea typeface="微軟正黑體" panose="020B0604030504040204" pitchFamily="34" charset="-120"/>
              </a:rPr>
              <a:t>月獲</a:t>
            </a:r>
            <a:r>
              <a:rPr lang="en-US" altLang="zh-TW" sz="1100" dirty="0">
                <a:solidFill>
                  <a:srgbClr val="000000"/>
                </a:solidFill>
                <a:latin typeface="微軟正黑體" panose="020B0604030504040204" pitchFamily="34" charset="-120"/>
                <a:ea typeface="微軟正黑體" panose="020B0604030504040204" pitchFamily="34" charset="-120"/>
              </a:rPr>
              <a:t>FDA</a:t>
            </a:r>
            <a:r>
              <a:rPr lang="zh-TW" altLang="en-US" sz="1100" dirty="0">
                <a:solidFill>
                  <a:srgbClr val="000000"/>
                </a:solidFill>
                <a:latin typeface="微軟正黑體" panose="020B0604030504040204" pitchFamily="34" charset="-120"/>
                <a:ea typeface="微軟正黑體" panose="020B0604030504040204" pitchFamily="34" charset="-120"/>
              </a:rPr>
              <a:t>核准上市，</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該療法的三期結果顯示受試者</a:t>
            </a:r>
            <a:r>
              <a:rPr lang="zh-TW" altLang="en-US" sz="1100" b="0" i="0" dirty="0">
                <a:solidFill>
                  <a:schemeClr val="tx1">
                    <a:lumMod val="95000"/>
                    <a:lumOff val="5000"/>
                  </a:schemeClr>
                </a:solidFill>
                <a:effectLst/>
                <a:latin typeface="微軟正黑體" panose="020B0604030504040204" pitchFamily="34" charset="-120"/>
                <a:ea typeface="微軟正黑體" panose="020B0604030504040204" pitchFamily="34" charset="-120"/>
              </a:rPr>
              <a:t>平均在</a:t>
            </a:r>
            <a:r>
              <a:rPr lang="en-US" altLang="zh-TW" sz="1100" b="0" i="0" dirty="0">
                <a:solidFill>
                  <a:schemeClr val="tx1">
                    <a:lumMod val="95000"/>
                    <a:lumOff val="5000"/>
                  </a:schemeClr>
                </a:solidFill>
                <a:effectLst/>
                <a:latin typeface="微軟正黑體" panose="020B0604030504040204" pitchFamily="34" charset="-120"/>
                <a:ea typeface="微軟正黑體" panose="020B0604030504040204" pitchFamily="34" charset="-120"/>
              </a:rPr>
              <a:t>1</a:t>
            </a:r>
            <a:r>
              <a:rPr lang="zh-TW" altLang="en-US" sz="1100" b="0" i="0" dirty="0">
                <a:solidFill>
                  <a:schemeClr val="tx1">
                    <a:lumMod val="95000"/>
                    <a:lumOff val="5000"/>
                  </a:schemeClr>
                </a:solidFill>
                <a:effectLst/>
                <a:latin typeface="微軟正黑體" panose="020B0604030504040204" pitchFamily="34" charset="-120"/>
                <a:ea typeface="微軟正黑體" panose="020B0604030504040204" pitchFamily="34" charset="-120"/>
              </a:rPr>
              <a:t>年以後有約</a:t>
            </a:r>
            <a:r>
              <a:rPr lang="en-US" altLang="zh-TW" sz="1100" b="0" i="0" dirty="0">
                <a:solidFill>
                  <a:schemeClr val="tx1">
                    <a:lumMod val="95000"/>
                    <a:lumOff val="5000"/>
                  </a:schemeClr>
                </a:solidFill>
                <a:effectLst/>
                <a:latin typeface="微軟正黑體" panose="020B0604030504040204" pitchFamily="34" charset="-120"/>
                <a:ea typeface="微軟正黑體" panose="020B0604030504040204" pitchFamily="34" charset="-120"/>
              </a:rPr>
              <a:t>47%</a:t>
            </a:r>
            <a:r>
              <a:rPr lang="zh-TW" altLang="en-US" sz="1100" b="0" i="0" dirty="0">
                <a:solidFill>
                  <a:schemeClr val="tx1">
                    <a:lumMod val="95000"/>
                    <a:lumOff val="5000"/>
                  </a:schemeClr>
                </a:solidFill>
                <a:effectLst/>
                <a:latin typeface="微軟正黑體" panose="020B0604030504040204" pitchFamily="34" charset="-120"/>
                <a:ea typeface="微軟正黑體" panose="020B0604030504040204" pitchFamily="34" charset="-120"/>
              </a:rPr>
              <a:t>的患者未出現臨床惡化，</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為早期階段療效最為顯著的藥物</a:t>
            </a:r>
            <a:r>
              <a:rPr lang="zh-TW" altLang="en-US" sz="1100" dirty="0">
                <a:solidFill>
                  <a:srgbClr val="000000"/>
                </a:solidFill>
                <a:latin typeface="微軟正黑體" panose="020B0604030504040204" pitchFamily="34" charset="-120"/>
                <a:ea typeface="微軟正黑體" panose="020B0604030504040204" pitchFamily="34" charset="-120"/>
              </a:rPr>
              <a:t>。</a:t>
            </a:r>
            <a:endParaRPr kumimoji="0" lang="en-US" altLang="zh-TW"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endParaRPr>
          </a:p>
          <a:p>
            <a:pPr marL="257175" marR="0" lvl="0" indent="-257175" algn="just" defTabSz="685800" rtl="0" eaLnBrk="1" fontAlgn="auto" latinLnBrk="0" hangingPunct="1">
              <a:lnSpc>
                <a:spcPts val="1300"/>
              </a:lnSpc>
              <a:spcBef>
                <a:spcPts val="300"/>
              </a:spcBef>
              <a:buClrTx/>
              <a:buSzTx/>
              <a:buFont typeface="Wingdings" panose="05000000000000000000" pitchFamily="2" charset="2"/>
              <a:buChar char="ü"/>
              <a:tabLst/>
              <a:defRPr/>
            </a:pPr>
            <a:r>
              <a:rPr kumimoji="0" lang="zh-TW" altLang="en-US" sz="1100" b="1"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抗肥胖市場增長可期</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：據</a:t>
            </a:r>
            <a:r>
              <a:rPr lang="zh-TW" altLang="en-US" sz="1100" dirty="0">
                <a:solidFill>
                  <a:srgbClr val="000000"/>
                </a:solidFill>
                <a:latin typeface="微軟正黑體" panose="020B0604030504040204" pitchFamily="34" charset="-120"/>
                <a:ea typeface="微軟正黑體" panose="020B0604030504040204" pitchFamily="34" charset="-120"/>
              </a:rPr>
              <a:t>大摩</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研究，</a:t>
            </a:r>
            <a:r>
              <a:rPr kumimoji="0" lang="en-US" altLang="zh-TW"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2030</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年全球抗肥胖藥物的市場</a:t>
            </a:r>
            <a:r>
              <a:rPr lang="zh-TW" altLang="en-US" sz="1100" noProof="0" dirty="0">
                <a:solidFill>
                  <a:srgbClr val="000000"/>
                </a:solidFill>
                <a:latin typeface="微軟正黑體" panose="020B0604030504040204" pitchFamily="34" charset="-120"/>
                <a:ea typeface="微軟正黑體" panose="020B0604030504040204" pitchFamily="34" charset="-120"/>
              </a:rPr>
              <a:t>規模</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將達到</a:t>
            </a:r>
            <a:r>
              <a:rPr kumimoji="0" lang="en-US" altLang="zh-TW"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1,050</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億美元</a:t>
            </a:r>
            <a:r>
              <a:rPr kumimoji="0" lang="en-US" altLang="zh-TW"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a:t>
            </a:r>
            <a:r>
              <a:rPr lang="zh-TW" altLang="en-US" sz="1100" noProof="0" dirty="0">
                <a:solidFill>
                  <a:srgbClr val="000000"/>
                </a:solidFill>
                <a:latin typeface="微軟正黑體" panose="020B0604030504040204" pitchFamily="34" charset="-120"/>
                <a:ea typeface="微軟正黑體" panose="020B0604030504040204" pitchFamily="34" charset="-120"/>
              </a:rPr>
              <a:t>小摩</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則估計</a:t>
            </a:r>
            <a:r>
              <a:rPr kumimoji="0" lang="en-US" altLang="zh-TW"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GLP-1</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等減肥藥物在</a:t>
            </a:r>
            <a:r>
              <a:rPr kumimoji="0" lang="en-US" altLang="zh-TW"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2032</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年的銷售額將達到</a:t>
            </a:r>
            <a:r>
              <a:rPr kumimoji="0" lang="en-US" altLang="zh-TW"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1,400</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億美元</a:t>
            </a:r>
            <a:r>
              <a:rPr kumimoji="0" lang="en-US" altLang="zh-TW"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，目前普遍認為</a:t>
            </a:r>
            <a:r>
              <a:rPr kumimoji="0" lang="zh-CN"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禮來和諾和諾德</a:t>
            </a:r>
            <a:r>
              <a:rPr kumimoji="0" lang="en-US" altLang="zh-CN"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(Novo Nordisk)</a:t>
            </a:r>
            <a:r>
              <a:rPr kumimoji="0" lang="zh-CN"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將成爲</a:t>
            </a:r>
            <a:r>
              <a:rPr lang="zh-TW" altLang="en-US" sz="1100" dirty="0">
                <a:solidFill>
                  <a:srgbClr val="000000"/>
                </a:solidFill>
                <a:latin typeface="微軟正黑體" panose="020B0604030504040204" pitchFamily="34" charset="-120"/>
                <a:ea typeface="微軟正黑體" panose="020B0604030504040204" pitchFamily="34" charset="-120"/>
              </a:rPr>
              <a:t>該</a:t>
            </a:r>
            <a:r>
              <a:rPr kumimoji="0" lang="zh-CN"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市場的</a:t>
            </a:r>
            <a:r>
              <a:rPr kumimoji="0" lang="zh-TW" altLang="en-US" sz="11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rPr>
              <a:t>領銜企業。</a:t>
            </a:r>
          </a:p>
        </p:txBody>
      </p:sp>
      <p:sp>
        <p:nvSpPr>
          <p:cNvPr id="26" name="文字方塊 25">
            <a:extLst>
              <a:ext uri="{FF2B5EF4-FFF2-40B4-BE49-F238E27FC236}">
                <a16:creationId xmlns:a16="http://schemas.microsoft.com/office/drawing/2014/main" id="{12CE7869-9130-14C3-36AE-B47C1CD1FB14}"/>
              </a:ext>
            </a:extLst>
          </p:cNvPr>
          <p:cNvSpPr txBox="1"/>
          <p:nvPr/>
        </p:nvSpPr>
        <p:spPr>
          <a:xfrm>
            <a:off x="6742780" y="1445796"/>
            <a:ext cx="2437731" cy="646331"/>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sz="3600" dirty="0">
                <a:latin typeface="微軟正黑體" panose="020B0604030504040204" pitchFamily="34" charset="-120"/>
                <a:ea typeface="微軟正黑體" panose="020B0604030504040204" pitchFamily="34" charset="-120"/>
              </a:rPr>
              <a:t>#1</a:t>
            </a:r>
            <a:endParaRPr lang="zh-TW" altLang="en-US" sz="3600" dirty="0">
              <a:latin typeface="微軟正黑體" panose="020B0604030504040204" pitchFamily="34" charset="-120"/>
              <a:ea typeface="微軟正黑體" panose="020B0604030504040204" pitchFamily="34" charset="-120"/>
            </a:endParaRPr>
          </a:p>
        </p:txBody>
      </p:sp>
      <p:sp>
        <p:nvSpPr>
          <p:cNvPr id="32" name="矩形 31">
            <a:extLst>
              <a:ext uri="{FF2B5EF4-FFF2-40B4-BE49-F238E27FC236}">
                <a16:creationId xmlns:a16="http://schemas.microsoft.com/office/drawing/2014/main" id="{1295D466-78DC-0033-E838-5CF4F47ADBF1}"/>
              </a:ext>
            </a:extLst>
          </p:cNvPr>
          <p:cNvSpPr/>
          <p:nvPr/>
        </p:nvSpPr>
        <p:spPr>
          <a:xfrm>
            <a:off x="6742780" y="2089945"/>
            <a:ext cx="2401220" cy="707886"/>
          </a:xfrm>
          <a:prstGeom prst="rect">
            <a:avLst/>
          </a:prstGeom>
        </p:spPr>
        <p:txBody>
          <a:bodyPr wrap="square">
            <a:spAutoFit/>
          </a:bodyPr>
          <a:lstStyle/>
          <a:p>
            <a:pPr algn="ct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全球製藥企業</a:t>
            </a:r>
            <a:b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b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市值排名</a:t>
            </a:r>
            <a:b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br>
            <a:r>
              <a:rPr lang="en-US" altLang="zh-TW" sz="1100" dirty="0">
                <a:solidFill>
                  <a:schemeClr val="tx1">
                    <a:lumMod val="95000"/>
                    <a:lumOff val="5000"/>
                  </a:schemeClr>
                </a:solidFill>
                <a:latin typeface="微軟正黑體" panose="020B0604030504040204" pitchFamily="34" charset="-120"/>
                <a:ea typeface="微軟正黑體" panose="020B0604030504040204" pitchFamily="34" charset="-120"/>
              </a:rPr>
              <a:t>(2026/5/5)</a:t>
            </a:r>
            <a:endPar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endParaRPr>
          </a:p>
        </p:txBody>
      </p:sp>
      <p:sp>
        <p:nvSpPr>
          <p:cNvPr id="33" name="文字方塊 32">
            <a:extLst>
              <a:ext uri="{FF2B5EF4-FFF2-40B4-BE49-F238E27FC236}">
                <a16:creationId xmlns:a16="http://schemas.microsoft.com/office/drawing/2014/main" id="{52CD2D27-CA51-D3A9-CD77-9F2D88FD5F46}"/>
              </a:ext>
            </a:extLst>
          </p:cNvPr>
          <p:cNvSpPr txBox="1"/>
          <p:nvPr/>
        </p:nvSpPr>
        <p:spPr>
          <a:xfrm>
            <a:off x="6734190" y="3254835"/>
            <a:ext cx="2446321" cy="646331"/>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sz="3600" dirty="0">
                <a:latin typeface="微軟正黑體" panose="020B0604030504040204" pitchFamily="34" charset="-120"/>
                <a:ea typeface="微軟正黑體" panose="020B0604030504040204" pitchFamily="34" charset="-120"/>
              </a:rPr>
              <a:t>#1</a:t>
            </a:r>
          </a:p>
        </p:txBody>
      </p:sp>
      <p:sp>
        <p:nvSpPr>
          <p:cNvPr id="34" name="矩形 33">
            <a:extLst>
              <a:ext uri="{FF2B5EF4-FFF2-40B4-BE49-F238E27FC236}">
                <a16:creationId xmlns:a16="http://schemas.microsoft.com/office/drawing/2014/main" id="{9871A728-8B91-3BC7-37BB-51F93F6FA8D8}"/>
              </a:ext>
            </a:extLst>
          </p:cNvPr>
          <p:cNvSpPr/>
          <p:nvPr/>
        </p:nvSpPr>
        <p:spPr>
          <a:xfrm>
            <a:off x="6742781" y="3905970"/>
            <a:ext cx="2401220" cy="692497"/>
          </a:xfrm>
          <a:prstGeom prst="rect">
            <a:avLst/>
          </a:prstGeom>
        </p:spPr>
        <p:txBody>
          <a:bodyPr wrap="square">
            <a:spAutoFit/>
          </a:bodyPr>
          <a:lstStyle/>
          <a:p>
            <a:pPr algn="ctr"/>
            <a:r>
              <a:rPr lang="zh-TW" altLang="en-US" sz="1400" b="1" dirty="0">
                <a:latin typeface="微軟正黑體" panose="020B0604030504040204" pitchFamily="34" charset="-120"/>
                <a:ea typeface="微軟正黑體" panose="020B0604030504040204" pitchFamily="34" charset="-120"/>
              </a:rPr>
              <a:t>美國腸促胰素類藥物</a:t>
            </a:r>
            <a:endParaRPr lang="en-US" altLang="zh-TW" sz="1400" b="1" dirty="0">
              <a:latin typeface="微軟正黑體" panose="020B0604030504040204" pitchFamily="34" charset="-120"/>
              <a:ea typeface="微軟正黑體" panose="020B0604030504040204" pitchFamily="34" charset="-120"/>
            </a:endParaRPr>
          </a:p>
          <a:p>
            <a:pPr algn="ctr"/>
            <a:r>
              <a:rPr lang="zh-TW" altLang="en-US" sz="1400" b="1" dirty="0">
                <a:latin typeface="微軟正黑體" panose="020B0604030504040204" pitchFamily="34" charset="-120"/>
                <a:ea typeface="微軟正黑體" panose="020B0604030504040204" pitchFamily="34" charset="-120"/>
              </a:rPr>
              <a:t>市佔率約</a:t>
            </a:r>
            <a:r>
              <a:rPr lang="en-US" altLang="zh-TW" sz="1400" b="1" dirty="0">
                <a:latin typeface="微軟正黑體" panose="020B0604030504040204" pitchFamily="34" charset="-120"/>
                <a:ea typeface="微軟正黑體" panose="020B0604030504040204" pitchFamily="34" charset="-120"/>
              </a:rPr>
              <a:t>60.1%</a:t>
            </a:r>
            <a:br>
              <a:rPr lang="en-US" altLang="zh-TW" sz="1400" b="1" dirty="0">
                <a:latin typeface="微軟正黑體" panose="020B0604030504040204" pitchFamily="34" charset="-120"/>
                <a:ea typeface="微軟正黑體" panose="020B0604030504040204" pitchFamily="34" charset="-120"/>
              </a:rPr>
            </a:br>
            <a:r>
              <a:rPr lang="en-US" altLang="zh-TW" sz="1100" dirty="0">
                <a:latin typeface="微軟正黑體" panose="020B0604030504040204" pitchFamily="34" charset="-120"/>
                <a:ea typeface="微軟正黑體" panose="020B0604030504040204" pitchFamily="34" charset="-120"/>
              </a:rPr>
              <a:t>(IQVIA, 2026/3)</a:t>
            </a:r>
            <a:endParaRPr lang="zh-TW" altLang="en-US" sz="1400" dirty="0">
              <a:latin typeface="微軟正黑體" panose="020B0604030504040204" pitchFamily="34" charset="-120"/>
              <a:ea typeface="微軟正黑體" panose="020B0604030504040204" pitchFamily="34" charset="-120"/>
            </a:endParaRPr>
          </a:p>
        </p:txBody>
      </p:sp>
      <p:sp>
        <p:nvSpPr>
          <p:cNvPr id="35" name="矩形 34">
            <a:extLst>
              <a:ext uri="{FF2B5EF4-FFF2-40B4-BE49-F238E27FC236}">
                <a16:creationId xmlns:a16="http://schemas.microsoft.com/office/drawing/2014/main" id="{BCCB7ACA-2C25-3CBC-D9B3-8A7C9AD2E292}"/>
              </a:ext>
            </a:extLst>
          </p:cNvPr>
          <p:cNvSpPr/>
          <p:nvPr/>
        </p:nvSpPr>
        <p:spPr>
          <a:xfrm>
            <a:off x="6742780" y="5744869"/>
            <a:ext cx="2437731" cy="692497"/>
          </a:xfrm>
          <a:prstGeom prst="rect">
            <a:avLst/>
          </a:prstGeom>
        </p:spPr>
        <p:txBody>
          <a:bodyPr wrap="square">
            <a:spAutoFit/>
          </a:bodyPr>
          <a:lstStyle/>
          <a:p>
            <a:pPr algn="ct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全球製藥企業</a:t>
            </a:r>
            <a:b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b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營收</a:t>
            </a:r>
            <a:r>
              <a:rPr lang="en-US" altLang="zh-TW" sz="1400" b="1" baseline="30000" dirty="0">
                <a:solidFill>
                  <a:schemeClr val="tx1">
                    <a:lumMod val="95000"/>
                    <a:lumOff val="5000"/>
                  </a:schemeClr>
                </a:solidFill>
                <a:latin typeface="微軟正黑體" panose="020B0604030504040204" pitchFamily="34" charset="-120"/>
                <a:ea typeface="微軟正黑體" panose="020B0604030504040204" pitchFamily="34" charset="-120"/>
              </a:rPr>
              <a:t>[1]</a:t>
            </a:r>
            <a: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t>排名</a:t>
            </a:r>
            <a:br>
              <a:rPr lang="zh-TW" altLang="en-US" sz="1400" b="1" dirty="0">
                <a:solidFill>
                  <a:schemeClr val="tx1">
                    <a:lumMod val="95000"/>
                    <a:lumOff val="5000"/>
                  </a:schemeClr>
                </a:solidFill>
                <a:latin typeface="微軟正黑體" panose="020B0604030504040204" pitchFamily="34" charset="-120"/>
                <a:ea typeface="微軟正黑體" panose="020B0604030504040204" pitchFamily="34" charset="-120"/>
              </a:rPr>
            </a:br>
            <a:r>
              <a:rPr lang="en-US" altLang="zh-TW" sz="1100" dirty="0">
                <a:solidFill>
                  <a:schemeClr val="tx1">
                    <a:lumMod val="95000"/>
                    <a:lumOff val="5000"/>
                  </a:schemeClr>
                </a:solidFill>
                <a:latin typeface="微軟正黑體" panose="020B0604030504040204" pitchFamily="34" charset="-120"/>
                <a:ea typeface="微軟正黑體" panose="020B0604030504040204" pitchFamily="34" charset="-120"/>
              </a:rPr>
              <a:t>(FY2025)</a:t>
            </a:r>
            <a:endParaRPr lang="en-US" altLang="zh-TW" sz="1200" dirty="0">
              <a:solidFill>
                <a:schemeClr val="tx1">
                  <a:lumMod val="95000"/>
                  <a:lumOff val="5000"/>
                </a:schemeClr>
              </a:solidFill>
              <a:latin typeface="微軟正黑體" panose="020B0604030504040204" pitchFamily="34" charset="-120"/>
              <a:ea typeface="微軟正黑體" panose="020B0604030504040204" pitchFamily="34" charset="-120"/>
            </a:endParaRPr>
          </a:p>
        </p:txBody>
      </p:sp>
      <p:sp>
        <p:nvSpPr>
          <p:cNvPr id="37" name="文字方塊 36">
            <a:extLst>
              <a:ext uri="{FF2B5EF4-FFF2-40B4-BE49-F238E27FC236}">
                <a16:creationId xmlns:a16="http://schemas.microsoft.com/office/drawing/2014/main" id="{43C56B68-C2ED-3C8F-DFD5-EAF8B14A3781}"/>
              </a:ext>
            </a:extLst>
          </p:cNvPr>
          <p:cNvSpPr txBox="1"/>
          <p:nvPr/>
        </p:nvSpPr>
        <p:spPr>
          <a:xfrm>
            <a:off x="6742780" y="5098294"/>
            <a:ext cx="2437731" cy="646331"/>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sz="3600" dirty="0">
                <a:latin typeface="微軟正黑體" panose="020B0604030504040204" pitchFamily="34" charset="-120"/>
                <a:ea typeface="微軟正黑體" panose="020B0604030504040204" pitchFamily="34" charset="-120"/>
              </a:rPr>
              <a:t>#1</a:t>
            </a:r>
          </a:p>
        </p:txBody>
      </p:sp>
      <p:graphicFrame>
        <p:nvGraphicFramePr>
          <p:cNvPr id="3" name="圖表 2">
            <a:extLst>
              <a:ext uri="{FF2B5EF4-FFF2-40B4-BE49-F238E27FC236}">
                <a16:creationId xmlns:a16="http://schemas.microsoft.com/office/drawing/2014/main" id="{991E2E0A-409D-FD66-8936-19C25B247E09}"/>
              </a:ext>
            </a:extLst>
          </p:cNvPr>
          <p:cNvGraphicFramePr>
            <a:graphicFrameLocks/>
          </p:cNvGraphicFramePr>
          <p:nvPr>
            <p:extLst>
              <p:ext uri="{D42A27DB-BD31-4B8C-83A1-F6EECF244321}">
                <p14:modId xmlns:p14="http://schemas.microsoft.com/office/powerpoint/2010/main" val="1485773306"/>
              </p:ext>
            </p:extLst>
          </p:nvPr>
        </p:nvGraphicFramePr>
        <p:xfrm>
          <a:off x="477845" y="4789238"/>
          <a:ext cx="2730766" cy="1655602"/>
        </p:xfrm>
        <a:graphic>
          <a:graphicData uri="http://schemas.openxmlformats.org/drawingml/2006/chart">
            <c:chart xmlns:c="http://schemas.openxmlformats.org/drawingml/2006/chart" xmlns:r="http://schemas.openxmlformats.org/officeDocument/2006/relationships" r:id="rId6"/>
          </a:graphicData>
        </a:graphic>
      </p:graphicFrame>
      <p:sp>
        <p:nvSpPr>
          <p:cNvPr id="5" name="文字方塊 4">
            <a:extLst>
              <a:ext uri="{FF2B5EF4-FFF2-40B4-BE49-F238E27FC236}">
                <a16:creationId xmlns:a16="http://schemas.microsoft.com/office/drawing/2014/main" id="{26219CF5-F720-F3D8-CA66-501C414733EA}"/>
              </a:ext>
            </a:extLst>
          </p:cNvPr>
          <p:cNvSpPr txBox="1"/>
          <p:nvPr/>
        </p:nvSpPr>
        <p:spPr>
          <a:xfrm>
            <a:off x="954621" y="5298054"/>
            <a:ext cx="864096" cy="646331"/>
          </a:xfrm>
          <a:prstGeom prst="rect">
            <a:avLst/>
          </a:prstGeom>
          <a:noFill/>
        </p:spPr>
        <p:txBody>
          <a:bodyPr wrap="square" rtlCol="0">
            <a:spAutoFit/>
          </a:bodyPr>
          <a:lstStyle/>
          <a:p>
            <a:pPr algn="ctr"/>
            <a:r>
              <a:rPr lang="en-US" altLang="zh-TW" sz="1200" dirty="0">
                <a:latin typeface="微軟正黑體" panose="020B0604030504040204" pitchFamily="34" charset="-120"/>
                <a:ea typeface="微軟正黑體" panose="020B0604030504040204" pitchFamily="34" charset="-120"/>
              </a:rPr>
              <a:t>FY25</a:t>
            </a:r>
            <a:r>
              <a:rPr lang="zh-TW" altLang="en-US" sz="1200" dirty="0">
                <a:latin typeface="微軟正黑體" panose="020B0604030504040204" pitchFamily="34" charset="-120"/>
                <a:ea typeface="微軟正黑體" panose="020B0604030504040204" pitchFamily="34" charset="-120"/>
              </a:rPr>
              <a:t>營收</a:t>
            </a:r>
            <a:br>
              <a:rPr lang="en-US" altLang="zh-TW" sz="1200" dirty="0">
                <a:latin typeface="微軟正黑體" panose="020B0604030504040204" pitchFamily="34" charset="-120"/>
                <a:ea typeface="微軟正黑體" panose="020B0604030504040204" pitchFamily="34" charset="-120"/>
              </a:rPr>
            </a:br>
            <a:r>
              <a:rPr lang="zh-TW" altLang="en-US" sz="1200" dirty="0">
                <a:latin typeface="微軟正黑體" panose="020B0604030504040204" pitchFamily="34" charset="-120"/>
                <a:ea typeface="微軟正黑體" panose="020B0604030504040204" pitchFamily="34" charset="-120"/>
              </a:rPr>
              <a:t>按領域</a:t>
            </a:r>
            <a:br>
              <a:rPr lang="en-US" altLang="zh-TW" sz="1200" dirty="0">
                <a:latin typeface="微軟正黑體" panose="020B0604030504040204" pitchFamily="34" charset="-120"/>
                <a:ea typeface="微軟正黑體" panose="020B0604030504040204" pitchFamily="34" charset="-120"/>
              </a:rPr>
            </a:br>
            <a:r>
              <a:rPr lang="en-US" altLang="zh-TW" sz="1200" dirty="0">
                <a:latin typeface="微軟正黑體" panose="020B0604030504040204" pitchFamily="34" charset="-120"/>
                <a:ea typeface="微軟正黑體" panose="020B0604030504040204" pitchFamily="34" charset="-120"/>
              </a:rPr>
              <a:t>$652</a:t>
            </a:r>
            <a:r>
              <a:rPr lang="zh-TW" altLang="en-US" sz="1200" dirty="0">
                <a:latin typeface="微軟正黑體" panose="020B0604030504040204" pitchFamily="34" charset="-120"/>
                <a:ea typeface="微軟正黑體" panose="020B0604030504040204" pitchFamily="34" charset="-120"/>
              </a:rPr>
              <a:t>億</a:t>
            </a:r>
          </a:p>
        </p:txBody>
      </p:sp>
      <p:graphicFrame>
        <p:nvGraphicFramePr>
          <p:cNvPr id="6" name="圖表 5">
            <a:extLst>
              <a:ext uri="{FF2B5EF4-FFF2-40B4-BE49-F238E27FC236}">
                <a16:creationId xmlns:a16="http://schemas.microsoft.com/office/drawing/2014/main" id="{682154F3-D1DA-049E-1B11-9DE46A515AD9}"/>
              </a:ext>
            </a:extLst>
          </p:cNvPr>
          <p:cNvGraphicFramePr>
            <a:graphicFrameLocks/>
          </p:cNvGraphicFramePr>
          <p:nvPr>
            <p:extLst>
              <p:ext uri="{D42A27DB-BD31-4B8C-83A1-F6EECF244321}">
                <p14:modId xmlns:p14="http://schemas.microsoft.com/office/powerpoint/2010/main" val="2800340868"/>
              </p:ext>
            </p:extLst>
          </p:nvPr>
        </p:nvGraphicFramePr>
        <p:xfrm>
          <a:off x="3393377" y="4844378"/>
          <a:ext cx="2537852" cy="1617190"/>
        </p:xfrm>
        <a:graphic>
          <a:graphicData uri="http://schemas.openxmlformats.org/drawingml/2006/chart">
            <c:chart xmlns:c="http://schemas.openxmlformats.org/drawingml/2006/chart" xmlns:r="http://schemas.openxmlformats.org/officeDocument/2006/relationships" r:id="rId7"/>
          </a:graphicData>
        </a:graphic>
      </p:graphicFrame>
      <p:sp>
        <p:nvSpPr>
          <p:cNvPr id="7" name="文字方塊 6">
            <a:extLst>
              <a:ext uri="{FF2B5EF4-FFF2-40B4-BE49-F238E27FC236}">
                <a16:creationId xmlns:a16="http://schemas.microsoft.com/office/drawing/2014/main" id="{457C3742-37C4-213D-42FA-70333065CA0A}"/>
              </a:ext>
            </a:extLst>
          </p:cNvPr>
          <p:cNvSpPr txBox="1"/>
          <p:nvPr/>
        </p:nvSpPr>
        <p:spPr>
          <a:xfrm>
            <a:off x="3764175" y="5301787"/>
            <a:ext cx="864096" cy="646331"/>
          </a:xfrm>
          <a:prstGeom prst="rect">
            <a:avLst/>
          </a:prstGeom>
          <a:noFill/>
        </p:spPr>
        <p:txBody>
          <a:bodyPr wrap="square" rtlCol="0">
            <a:spAutoFit/>
          </a:bodyPr>
          <a:lstStyle/>
          <a:p>
            <a:pPr algn="ctr"/>
            <a:r>
              <a:rPr lang="en-US" altLang="zh-TW" sz="1200" dirty="0">
                <a:latin typeface="微軟正黑體" panose="020B0604030504040204" pitchFamily="34" charset="-120"/>
                <a:ea typeface="微軟正黑體" panose="020B0604030504040204" pitchFamily="34" charset="-120"/>
              </a:rPr>
              <a:t>FY25</a:t>
            </a:r>
            <a:r>
              <a:rPr lang="zh-TW" altLang="en-US" sz="1200" dirty="0">
                <a:latin typeface="微軟正黑體" panose="020B0604030504040204" pitchFamily="34" charset="-120"/>
                <a:ea typeface="微軟正黑體" panose="020B0604030504040204" pitchFamily="34" charset="-120"/>
              </a:rPr>
              <a:t>營收</a:t>
            </a:r>
            <a:br>
              <a:rPr lang="en-US" altLang="zh-TW" sz="1200" dirty="0">
                <a:latin typeface="微軟正黑體" panose="020B0604030504040204" pitchFamily="34" charset="-120"/>
                <a:ea typeface="微軟正黑體" panose="020B0604030504040204" pitchFamily="34" charset="-120"/>
              </a:rPr>
            </a:br>
            <a:r>
              <a:rPr lang="zh-TW" altLang="en-US" sz="1200" dirty="0">
                <a:latin typeface="微軟正黑體" panose="020B0604030504040204" pitchFamily="34" charset="-120"/>
                <a:ea typeface="微軟正黑體" panose="020B0604030504040204" pitchFamily="34" charset="-120"/>
              </a:rPr>
              <a:t>按地區</a:t>
            </a:r>
            <a:br>
              <a:rPr lang="en-US" altLang="zh-TW" sz="1200" dirty="0">
                <a:latin typeface="微軟正黑體" panose="020B0604030504040204" pitchFamily="34" charset="-120"/>
                <a:ea typeface="微軟正黑體" panose="020B0604030504040204" pitchFamily="34" charset="-120"/>
              </a:rPr>
            </a:br>
            <a:r>
              <a:rPr lang="en-US" altLang="zh-TW" sz="1200" dirty="0">
                <a:latin typeface="微軟正黑體" panose="020B0604030504040204" pitchFamily="34" charset="-120"/>
                <a:ea typeface="微軟正黑體" panose="020B0604030504040204" pitchFamily="34" charset="-120"/>
              </a:rPr>
              <a:t>$652</a:t>
            </a:r>
            <a:r>
              <a:rPr lang="zh-TW" altLang="en-US" sz="1200" dirty="0">
                <a:latin typeface="微軟正黑體" panose="020B0604030504040204" pitchFamily="34" charset="-120"/>
                <a:ea typeface="微軟正黑體" panose="020B0604030504040204" pitchFamily="34" charset="-120"/>
              </a:rPr>
              <a:t>億</a:t>
            </a:r>
          </a:p>
        </p:txBody>
      </p:sp>
      <p:sp>
        <p:nvSpPr>
          <p:cNvPr id="21" name="矩形 20">
            <a:extLst>
              <a:ext uri="{FF2B5EF4-FFF2-40B4-BE49-F238E27FC236}">
                <a16:creationId xmlns:a16="http://schemas.microsoft.com/office/drawing/2014/main" id="{705ADE1F-E065-4EC3-B187-F821455018F2}"/>
              </a:ext>
            </a:extLst>
          </p:cNvPr>
          <p:cNvSpPr/>
          <p:nvPr/>
        </p:nvSpPr>
        <p:spPr>
          <a:xfrm>
            <a:off x="395047" y="6535367"/>
            <a:ext cx="7273298" cy="369332"/>
          </a:xfrm>
          <a:prstGeom prst="rect">
            <a:avLst/>
          </a:prstGeom>
        </p:spPr>
        <p:txBody>
          <a:bodyPr wrap="square">
            <a:spAutoFit/>
          </a:bodyPr>
          <a:lstStyle/>
          <a:p>
            <a:r>
              <a:rPr lang="zh-TW" altLang="en-US" sz="900" dirty="0">
                <a:latin typeface="微軟正黑體" panose="020B0604030504040204" pitchFamily="34" charset="-120"/>
                <a:ea typeface="微軟正黑體" panose="020B0604030504040204" pitchFamily="34" charset="-120"/>
              </a:rPr>
              <a:t>注</a:t>
            </a:r>
            <a:r>
              <a:rPr lang="en-US" altLang="zh-TW" sz="900" dirty="0">
                <a:latin typeface="微軟正黑體" panose="020B0604030504040204" pitchFamily="34" charset="-120"/>
                <a:ea typeface="微軟正黑體" panose="020B0604030504040204" pitchFamily="34" charset="-120"/>
              </a:rPr>
              <a:t>[1]</a:t>
            </a:r>
            <a:r>
              <a:rPr lang="zh-TW" altLang="en-US" sz="900" dirty="0">
                <a:latin typeface="微軟正黑體" panose="020B0604030504040204" pitchFamily="34" charset="-120"/>
                <a:ea typeface="微軟正黑體" panose="020B0604030504040204" pitchFamily="34" charset="-120"/>
              </a:rPr>
              <a:t> ：按藥品收入計，不包括非藥品部門</a:t>
            </a:r>
            <a:endParaRPr lang="en-US" altLang="zh-TW" sz="900" dirty="0">
              <a:latin typeface="微軟正黑體" panose="020B0604030504040204" pitchFamily="34" charset="-120"/>
              <a:ea typeface="微軟正黑體" panose="020B0604030504040204" pitchFamily="34" charset="-120"/>
            </a:endParaRPr>
          </a:p>
          <a:p>
            <a:r>
              <a:rPr lang="zh-TW" altLang="en-US" sz="900" dirty="0">
                <a:latin typeface="微軟正黑體" panose="020B0604030504040204" pitchFamily="34" charset="-120"/>
                <a:ea typeface="微軟正黑體" panose="020B0604030504040204" pitchFamily="34" charset="-120"/>
              </a:rPr>
              <a:t>資料來源：彭博、標普</a:t>
            </a:r>
            <a:r>
              <a:rPr lang="en-US" altLang="zh-TW" sz="900" dirty="0">
                <a:latin typeface="微軟正黑體" panose="020B0604030504040204" pitchFamily="34" charset="-120"/>
                <a:ea typeface="微軟正黑體" panose="020B0604030504040204" pitchFamily="34" charset="-120"/>
              </a:rPr>
              <a:t>、Drug discovery and development</a:t>
            </a:r>
            <a:r>
              <a:rPr lang="zh-TW" altLang="en-US" sz="900" dirty="0">
                <a:latin typeface="微軟正黑體" panose="020B0604030504040204" pitchFamily="34" charset="-120"/>
                <a:ea typeface="微軟正黑體" panose="020B0604030504040204" pitchFamily="34" charset="-120"/>
              </a:rPr>
              <a:t>、</a:t>
            </a:r>
            <a:r>
              <a:rPr lang="en-US" altLang="zh-TW" sz="900" dirty="0">
                <a:latin typeface="微軟正黑體" panose="020B0604030504040204" pitchFamily="34" charset="-120"/>
                <a:ea typeface="微軟正黑體" panose="020B0604030504040204" pitchFamily="34" charset="-120"/>
              </a:rPr>
              <a:t>Companies Market Cap</a:t>
            </a:r>
            <a:r>
              <a:rPr lang="zh-TW" altLang="en-US" sz="900" dirty="0">
                <a:latin typeface="微軟正黑體" panose="020B0604030504040204" pitchFamily="34" charset="-120"/>
                <a:ea typeface="微軟正黑體" panose="020B0604030504040204" pitchFamily="34" charset="-120"/>
              </a:rPr>
              <a:t>、新聞整理</a:t>
            </a:r>
            <a:endParaRPr lang="en-US" altLang="zh-TW" sz="900" dirty="0">
              <a:latin typeface="微軟正黑體" panose="020B0604030504040204" pitchFamily="34" charset="-120"/>
              <a:ea typeface="微軟正黑體" panose="020B0604030504040204" pitchFamily="34" charset="-120"/>
            </a:endParaRPr>
          </a:p>
        </p:txBody>
      </p:sp>
      <p:sp>
        <p:nvSpPr>
          <p:cNvPr id="8" name="文字方塊 7"/>
          <p:cNvSpPr txBox="1"/>
          <p:nvPr/>
        </p:nvSpPr>
        <p:spPr>
          <a:xfrm>
            <a:off x="1211171" y="4726532"/>
            <a:ext cx="370045" cy="169277"/>
          </a:xfrm>
          <a:prstGeom prst="rect">
            <a:avLst/>
          </a:prstGeom>
          <a:noFill/>
        </p:spPr>
        <p:txBody>
          <a:bodyPr wrap="square" rtlCol="0">
            <a:spAutoFit/>
          </a:bodyPr>
          <a:lstStyle/>
          <a:p>
            <a:r>
              <a:rPr lang="en-US" altLang="zh-TW" sz="500" b="1" dirty="0">
                <a:solidFill>
                  <a:schemeClr val="tx1">
                    <a:lumMod val="65000"/>
                    <a:lumOff val="35000"/>
                  </a:schemeClr>
                </a:solidFill>
              </a:rPr>
              <a:t>2%</a:t>
            </a:r>
            <a:endParaRPr lang="zh-TW" altLang="en-US" sz="500" b="1" dirty="0">
              <a:solidFill>
                <a:schemeClr val="tx1">
                  <a:lumMod val="65000"/>
                  <a:lumOff val="35000"/>
                </a:schemeClr>
              </a:solidFill>
            </a:endParaRPr>
          </a:p>
        </p:txBody>
      </p:sp>
      <p:sp>
        <p:nvSpPr>
          <p:cNvPr id="22" name="投影片編號版面配置區 3">
            <a:extLst>
              <a:ext uri="{FF2B5EF4-FFF2-40B4-BE49-F238E27FC236}">
                <a16:creationId xmlns:a16="http://schemas.microsoft.com/office/drawing/2014/main" id="{E9BC1E29-929C-479F-B32F-4DA6711F8A91}"/>
              </a:ext>
            </a:extLst>
          </p:cNvPr>
          <p:cNvSpPr>
            <a:spLocks noGrp="1"/>
          </p:cNvSpPr>
          <p:nvPr>
            <p:ph type="sldNum" sz="quarter" idx="10"/>
          </p:nvPr>
        </p:nvSpPr>
        <p:spPr>
          <a:xfrm>
            <a:off x="197514" y="6381328"/>
            <a:ext cx="395064" cy="288032"/>
          </a:xfrm>
        </p:spPr>
        <p:txBody>
          <a:bodyPr/>
          <a:lstStyle/>
          <a:p>
            <a:fld id="{415482FC-CF5F-466A-B8B6-BC3733E92023}" type="slidenum">
              <a:rPr lang="zh-TW" altLang="en-US" smtClean="0"/>
              <a:pPr/>
              <a:t>2</a:t>
            </a:fld>
            <a:endParaRPr lang="zh-TW" altLang="en-US" dirty="0"/>
          </a:p>
        </p:txBody>
      </p:sp>
    </p:spTree>
    <p:extLst>
      <p:ext uri="{BB962C8B-B14F-4D97-AF65-F5344CB8AC3E}">
        <p14:creationId xmlns:p14="http://schemas.microsoft.com/office/powerpoint/2010/main" val="1637459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D04CE8D0-0E96-49AA-948A-82BA292D6EA9}"/>
              </a:ext>
            </a:extLst>
          </p:cNvPr>
          <p:cNvSpPr/>
          <p:nvPr/>
        </p:nvSpPr>
        <p:spPr>
          <a:xfrm>
            <a:off x="7164288" y="0"/>
            <a:ext cx="1584176" cy="6460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投影片編號版面配置區 3">
            <a:extLst>
              <a:ext uri="{FF2B5EF4-FFF2-40B4-BE49-F238E27FC236}">
                <a16:creationId xmlns:a16="http://schemas.microsoft.com/office/drawing/2014/main" id="{7BBAF2F3-4DAD-C14A-B48B-E702BC7A59E7}"/>
              </a:ext>
            </a:extLst>
          </p:cNvPr>
          <p:cNvSpPr>
            <a:spLocks noGrp="1"/>
          </p:cNvSpPr>
          <p:nvPr>
            <p:ph type="sldNum" sz="quarter" idx="12"/>
          </p:nvPr>
        </p:nvSpPr>
        <p:spPr/>
        <p:txBody>
          <a:bodyPr/>
          <a:lstStyle/>
          <a:p>
            <a:fld id="{415482FC-CF5F-466A-B8B6-BC3733E92023}" type="slidenum">
              <a:rPr lang="zh-TW" altLang="en-US" smtClean="0">
                <a:latin typeface="微軟正黑體" panose="020B0604030504040204" pitchFamily="34" charset="-120"/>
                <a:ea typeface="微軟正黑體" panose="020B0604030504040204" pitchFamily="34" charset="-120"/>
              </a:rPr>
              <a:pPr/>
              <a:t>3</a:t>
            </a:fld>
            <a:endParaRPr lang="zh-TW" altLang="en-US" dirty="0">
              <a:latin typeface="微軟正黑體" panose="020B0604030504040204" pitchFamily="34" charset="-120"/>
              <a:ea typeface="微軟正黑體" panose="020B0604030504040204" pitchFamily="34" charset="-120"/>
            </a:endParaRPr>
          </a:p>
        </p:txBody>
      </p:sp>
      <p:sp>
        <p:nvSpPr>
          <p:cNvPr id="17" name="矩形 16">
            <a:extLst>
              <a:ext uri="{FF2B5EF4-FFF2-40B4-BE49-F238E27FC236}">
                <a16:creationId xmlns:a16="http://schemas.microsoft.com/office/drawing/2014/main" id="{C9AE7F28-172F-80F7-6EC1-CA33FA8B67ED}"/>
              </a:ext>
            </a:extLst>
          </p:cNvPr>
          <p:cNvSpPr/>
          <p:nvPr/>
        </p:nvSpPr>
        <p:spPr>
          <a:xfrm>
            <a:off x="229945" y="1079500"/>
            <a:ext cx="4167064" cy="522982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a:extLst>
              <a:ext uri="{FF2B5EF4-FFF2-40B4-BE49-F238E27FC236}">
                <a16:creationId xmlns:a16="http://schemas.microsoft.com/office/drawing/2014/main" id="{D71BE2D6-688C-B7EC-4A5A-09EEC5309FF9}"/>
              </a:ext>
            </a:extLst>
          </p:cNvPr>
          <p:cNvSpPr txBox="1"/>
          <p:nvPr/>
        </p:nvSpPr>
        <p:spPr>
          <a:xfrm>
            <a:off x="363781" y="869228"/>
            <a:ext cx="1224136" cy="340519"/>
          </a:xfrm>
          <a:prstGeom prst="roundRect">
            <a:avLst/>
          </a:prstGeom>
          <a:solidFill>
            <a:srgbClr val="C00000"/>
          </a:solidFill>
        </p:spPr>
        <p:txBody>
          <a:bodyPr wrap="square" rtlCol="0">
            <a:spAutoFit/>
          </a:bodyPr>
          <a:lstStyle/>
          <a:p>
            <a:pPr algn="ctr"/>
            <a:r>
              <a:rPr lang="zh-TW" altLang="en-US" sz="1400" b="1" dirty="0">
                <a:solidFill>
                  <a:schemeClr val="bg1"/>
                </a:solidFill>
                <a:latin typeface="微軟正黑體" panose="020B0604030504040204" pitchFamily="34" charset="-120"/>
                <a:ea typeface="微軟正黑體" panose="020B0604030504040204" pitchFamily="34" charset="-120"/>
              </a:rPr>
              <a:t>年度財報</a:t>
            </a:r>
          </a:p>
        </p:txBody>
      </p:sp>
      <p:sp>
        <p:nvSpPr>
          <p:cNvPr id="20" name="文字方塊 19">
            <a:extLst>
              <a:ext uri="{FF2B5EF4-FFF2-40B4-BE49-F238E27FC236}">
                <a16:creationId xmlns:a16="http://schemas.microsoft.com/office/drawing/2014/main" id="{8440320F-8743-0A0B-8068-3CD842C51C3E}"/>
              </a:ext>
            </a:extLst>
          </p:cNvPr>
          <p:cNvSpPr txBox="1"/>
          <p:nvPr/>
        </p:nvSpPr>
        <p:spPr>
          <a:xfrm>
            <a:off x="229944" y="1188244"/>
            <a:ext cx="4167066" cy="3070777"/>
          </a:xfrm>
          <a:prstGeom prst="rect">
            <a:avLst/>
          </a:prstGeom>
          <a:noFill/>
        </p:spPr>
        <p:txBody>
          <a:bodyPr wrap="square" rtlCol="0">
            <a:spAutoFit/>
          </a:bodyPr>
          <a:lstStyle/>
          <a:p>
            <a:pPr marL="171450" indent="-171450" algn="just" hangingPunct="0">
              <a:lnSpc>
                <a:spcPts val="1800"/>
              </a:lnSpc>
              <a:buFont typeface="Wingdings" panose="05000000000000000000" pitchFamily="2" charset="2"/>
              <a:buChar char="n"/>
            </a:pPr>
            <a:r>
              <a:rPr lang="en-US" altLang="zh-TW" sz="1200" b="1" dirty="0">
                <a:solidFill>
                  <a:srgbClr val="FF0000"/>
                </a:solidFill>
                <a:latin typeface="微軟正黑體" panose="020B0604030504040204" pitchFamily="34" charset="-120"/>
                <a:ea typeface="微軟正黑體" panose="020B0604030504040204" pitchFamily="34" charset="-120"/>
              </a:rPr>
              <a:t>2025</a:t>
            </a:r>
            <a:r>
              <a:rPr lang="zh-TW" altLang="en-US" sz="1200" b="1" dirty="0">
                <a:solidFill>
                  <a:srgbClr val="FF0000"/>
                </a:solidFill>
                <a:latin typeface="微軟正黑體" panose="020B0604030504040204" pitchFamily="34" charset="-120"/>
                <a:ea typeface="微軟正黑體" panose="020B0604030504040204" pitchFamily="34" charset="-120"/>
              </a:rPr>
              <a:t>年營收年增</a:t>
            </a:r>
            <a:r>
              <a:rPr lang="en-US" altLang="zh-TW" sz="1200" b="1" dirty="0">
                <a:solidFill>
                  <a:srgbClr val="FF0000"/>
                </a:solidFill>
                <a:latin typeface="微軟正黑體" panose="020B0604030504040204" pitchFamily="34" charset="-120"/>
                <a:ea typeface="微軟正黑體" panose="020B0604030504040204" pitchFamily="34" charset="-120"/>
              </a:rPr>
              <a:t>45%</a:t>
            </a:r>
            <a:r>
              <a:rPr lang="zh-TW" altLang="en-US" sz="1200" b="1" dirty="0">
                <a:solidFill>
                  <a:srgbClr val="FF0000"/>
                </a:solidFill>
                <a:latin typeface="微軟正黑體" panose="020B0604030504040204" pitchFamily="34" charset="-120"/>
                <a:ea typeface="微軟正黑體" panose="020B0604030504040204" pitchFamily="34" charset="-120"/>
              </a:rPr>
              <a:t>至</a:t>
            </a:r>
            <a:r>
              <a:rPr lang="en-US" altLang="zh-TW" sz="1200" b="1" dirty="0">
                <a:solidFill>
                  <a:srgbClr val="FF0000"/>
                </a:solidFill>
                <a:latin typeface="微軟正黑體" panose="020B0604030504040204" pitchFamily="34" charset="-120"/>
                <a:ea typeface="微軟正黑體" panose="020B0604030504040204" pitchFamily="34" charset="-120"/>
              </a:rPr>
              <a:t>652</a:t>
            </a:r>
            <a:r>
              <a:rPr lang="zh-TW" altLang="en-US" sz="1200" b="1" dirty="0">
                <a:solidFill>
                  <a:srgbClr val="FF0000"/>
                </a:solidFill>
                <a:latin typeface="微軟正黑體" panose="020B0604030504040204" pitchFamily="34" charset="-120"/>
                <a:ea typeface="微軟正黑體" panose="020B0604030504040204" pitchFamily="34" charset="-120"/>
              </a:rPr>
              <a:t>億美元</a:t>
            </a:r>
            <a:r>
              <a:rPr lang="zh-TW" altLang="en-US" sz="1200" dirty="0">
                <a:latin typeface="微軟正黑體" panose="020B0604030504040204" pitchFamily="34" charset="-120"/>
                <a:ea typeface="微軟正黑體" panose="020B0604030504040204" pitchFamily="34" charset="-120"/>
              </a:rPr>
              <a:t>，反映</a:t>
            </a:r>
            <a:r>
              <a:rPr lang="en-US" altLang="zh-TW" sz="1200" dirty="0">
                <a:latin typeface="微軟正黑體" panose="020B0604030504040204" pitchFamily="34" charset="-120"/>
                <a:ea typeface="微軟正黑體" panose="020B0604030504040204" pitchFamily="34" charset="-120"/>
              </a:rPr>
              <a:t>1)</a:t>
            </a:r>
            <a:r>
              <a:rPr lang="zh-TW" altLang="en-US" sz="1200" dirty="0">
                <a:latin typeface="微軟正黑體" panose="020B0604030504040204" pitchFamily="34" charset="-120"/>
                <a:ea typeface="微軟正黑體" panose="020B0604030504040204" pitchFamily="34" charset="-120"/>
              </a:rPr>
              <a:t>糖尿病藥物</a:t>
            </a:r>
            <a:r>
              <a:rPr lang="en-US" altLang="zh-TW" sz="1200" dirty="0" err="1">
                <a:latin typeface="微軟正黑體" panose="020B0604030504040204" pitchFamily="34" charset="-120"/>
                <a:ea typeface="微軟正黑體" panose="020B0604030504040204" pitchFamily="34" charset="-120"/>
              </a:rPr>
              <a:t>Mounjaro</a:t>
            </a:r>
            <a:r>
              <a:rPr lang="zh-TW" altLang="en-US" sz="1200" dirty="0">
                <a:latin typeface="微軟正黑體" panose="020B0604030504040204" pitchFamily="34" charset="-120"/>
                <a:ea typeface="微軟正黑體" panose="020B0604030504040204" pitchFamily="34" charset="-120"/>
              </a:rPr>
              <a:t>及減肥藥</a:t>
            </a:r>
            <a:r>
              <a:rPr lang="en-US" altLang="zh-TW" sz="1200" dirty="0" err="1">
                <a:latin typeface="微軟正黑體" panose="020B0604030504040204" pitchFamily="34" charset="-120"/>
                <a:ea typeface="微軟正黑體" panose="020B0604030504040204" pitchFamily="34" charset="-120"/>
              </a:rPr>
              <a:t>Zepbound</a:t>
            </a:r>
            <a:r>
              <a:rPr lang="zh-TW" altLang="en-US" sz="1200" dirty="0">
                <a:latin typeface="微軟正黑體" panose="020B0604030504040204" pitchFamily="34" charset="-120"/>
                <a:ea typeface="微軟正黑體" panose="020B0604030504040204" pitchFamily="34" charset="-120"/>
              </a:rPr>
              <a:t>銷售額翻倍成長，合計收入年增</a:t>
            </a:r>
            <a:r>
              <a:rPr lang="en-US" altLang="zh-TW" sz="1200" dirty="0">
                <a:latin typeface="微軟正黑體" panose="020B0604030504040204" pitchFamily="34" charset="-120"/>
                <a:ea typeface="微軟正黑體" panose="020B0604030504040204" pitchFamily="34" charset="-120"/>
              </a:rPr>
              <a:t>2</a:t>
            </a:r>
            <a:r>
              <a:rPr lang="zh-TW" altLang="en-US" sz="1200" dirty="0">
                <a:latin typeface="微軟正黑體" panose="020B0604030504040204" pitchFamily="34" charset="-120"/>
                <a:ea typeface="微軟正黑體" panose="020B0604030504040204" pitchFamily="34" charset="-120"/>
              </a:rPr>
              <a:t>倍至</a:t>
            </a:r>
            <a:r>
              <a:rPr lang="en-US" altLang="zh-TW" sz="1200" dirty="0">
                <a:latin typeface="微軟正黑體" panose="020B0604030504040204" pitchFamily="34" charset="-120"/>
                <a:ea typeface="微軟正黑體" panose="020B0604030504040204" pitchFamily="34" charset="-120"/>
              </a:rPr>
              <a:t>165</a:t>
            </a:r>
            <a:r>
              <a:rPr lang="zh-TW" altLang="en-US" sz="1200" dirty="0">
                <a:latin typeface="微軟正黑體" panose="020B0604030504040204" pitchFamily="34" charset="-120"/>
                <a:ea typeface="微軟正黑體" panose="020B0604030504040204" pitchFamily="34" charset="-120"/>
              </a:rPr>
              <a:t>億美元；</a:t>
            </a:r>
            <a:r>
              <a:rPr lang="en-US" altLang="zh-TW" sz="1200" dirty="0">
                <a:latin typeface="微軟正黑體" panose="020B0604030504040204" pitchFamily="34" charset="-120"/>
                <a:ea typeface="微軟正黑體" panose="020B0604030504040204" pitchFamily="34" charset="-120"/>
              </a:rPr>
              <a:t>2)</a:t>
            </a:r>
            <a:r>
              <a:rPr lang="zh-TW" altLang="en-US" sz="1200" dirty="0">
                <a:latin typeface="微軟正黑體" panose="020B0604030504040204" pitchFamily="34" charset="-120"/>
                <a:ea typeface="微軟正黑體" panose="020B0604030504040204" pitchFamily="34" charset="-120"/>
              </a:rPr>
              <a:t>乳癌藥</a:t>
            </a:r>
            <a:r>
              <a:rPr lang="en-US" altLang="zh-TW" sz="1200" dirty="0" err="1">
                <a:latin typeface="微軟正黑體" panose="020B0604030504040204" pitchFamily="34" charset="-120"/>
                <a:ea typeface="微軟正黑體" panose="020B0604030504040204" pitchFamily="34" charset="-120"/>
              </a:rPr>
              <a:t>Verzenio</a:t>
            </a:r>
            <a:r>
              <a:rPr lang="zh-TW" altLang="en-US" sz="1200" dirty="0">
                <a:latin typeface="微軟正黑體" panose="020B0604030504040204" pitchFamily="34" charset="-120"/>
                <a:ea typeface="微軟正黑體" panose="020B0604030504040204" pitchFamily="34" charset="-120"/>
              </a:rPr>
              <a:t>及</a:t>
            </a:r>
            <a:r>
              <a:rPr kumimoji="1" lang="zh-TW" altLang="en-US" sz="1200" dirty="0">
                <a:latin typeface="微軟正黑體" pitchFamily="34" charset="-120"/>
                <a:ea typeface="微軟正黑體" pitchFamily="34" charset="-120"/>
              </a:rPr>
              <a:t>關節炎藥</a:t>
            </a:r>
            <a:r>
              <a:rPr kumimoji="1" lang="en-US" altLang="zh-TW" sz="1200" dirty="0" err="1">
                <a:latin typeface="微軟正黑體" pitchFamily="34" charset="-120"/>
                <a:ea typeface="微軟正黑體" pitchFamily="34" charset="-120"/>
              </a:rPr>
              <a:t>Taltz</a:t>
            </a:r>
            <a:r>
              <a:rPr kumimoji="1" lang="zh-TW" altLang="en-US" sz="1200" dirty="0">
                <a:latin typeface="微軟正黑體" pitchFamily="34" charset="-120"/>
                <a:ea typeface="微軟正黑體" pitchFamily="34" charset="-120"/>
              </a:rPr>
              <a:t>收入皆</a:t>
            </a:r>
            <a:r>
              <a:rPr lang="zh-TW" altLang="en-US" sz="1200" dirty="0">
                <a:latin typeface="微軟正黑體" panose="020B0604030504040204" pitchFamily="34" charset="-120"/>
                <a:ea typeface="微軟正黑體" panose="020B0604030504040204" pitchFamily="34" charset="-120"/>
              </a:rPr>
              <a:t>因需求強勁及定價提高而分別成長</a:t>
            </a:r>
            <a:r>
              <a:rPr lang="en-US" altLang="zh-TW" sz="1200" dirty="0">
                <a:latin typeface="微軟正黑體" panose="020B0604030504040204" pitchFamily="34" charset="-120"/>
                <a:ea typeface="微軟正黑體" panose="020B0604030504040204" pitchFamily="34" charset="-120"/>
              </a:rPr>
              <a:t>37%</a:t>
            </a:r>
            <a:r>
              <a:rPr lang="zh-TW" altLang="en-US" sz="1200" dirty="0">
                <a:latin typeface="微軟正黑體" panose="020B0604030504040204" pitchFamily="34" charset="-120"/>
                <a:ea typeface="微軟正黑體" panose="020B0604030504040204" pitchFamily="34" charset="-120"/>
              </a:rPr>
              <a:t>及</a:t>
            </a:r>
            <a:r>
              <a:rPr lang="en-US" altLang="zh-TW" sz="1200" dirty="0">
                <a:latin typeface="微軟正黑體" panose="020B0604030504040204" pitchFamily="34" charset="-120"/>
                <a:ea typeface="微軟正黑體" panose="020B0604030504040204" pitchFamily="34" charset="-120"/>
              </a:rPr>
              <a:t>18%</a:t>
            </a:r>
            <a:r>
              <a:rPr lang="zh-TW" altLang="en-US" sz="1200" dirty="0">
                <a:latin typeface="微軟正黑體" panose="020B0604030504040204" pitchFamily="34" charset="-120"/>
                <a:ea typeface="微軟正黑體" panose="020B0604030504040204" pitchFamily="34" charset="-120"/>
              </a:rPr>
              <a:t>；抵銷</a:t>
            </a:r>
            <a:r>
              <a:rPr lang="en-US" altLang="zh-TW" sz="1200" dirty="0">
                <a:latin typeface="微軟正黑體" panose="020B0604030504040204" pitchFamily="34" charset="-120"/>
                <a:ea typeface="微軟正黑體" panose="020B0604030504040204" pitchFamily="34" charset="-120"/>
              </a:rPr>
              <a:t>3)</a:t>
            </a:r>
            <a:r>
              <a:rPr lang="zh-TW" altLang="en-US" sz="1200" dirty="0">
                <a:latin typeface="微軟正黑體" panose="020B0604030504040204" pitchFamily="34" charset="-120"/>
                <a:ea typeface="微軟正黑體" panose="020B0604030504040204" pitchFamily="34" charset="-120"/>
              </a:rPr>
              <a:t>舊糖尿病藥物</a:t>
            </a:r>
            <a:r>
              <a:rPr lang="en-US" altLang="zh-TW" sz="1200" dirty="0" err="1">
                <a:latin typeface="微軟正黑體" panose="020B0604030504040204" pitchFamily="34" charset="-120"/>
                <a:ea typeface="微軟正黑體" panose="020B0604030504040204" pitchFamily="34" charset="-120"/>
              </a:rPr>
              <a:t>Trulicity</a:t>
            </a:r>
            <a:r>
              <a:rPr lang="zh-TW" altLang="en-US" sz="1200" dirty="0">
                <a:latin typeface="微軟正黑體" panose="020B0604030504040204" pitchFamily="34" charset="-120"/>
                <a:ea typeface="微軟正黑體" panose="020B0604030504040204" pitchFamily="34" charset="-120"/>
              </a:rPr>
              <a:t>易週糖收入因競爭加劇及公司需求管理措施而呈下滑</a:t>
            </a:r>
            <a:r>
              <a:rPr lang="en-US" altLang="zh-TW" sz="1200" dirty="0">
                <a:latin typeface="微軟正黑體" panose="020B0604030504040204" pitchFamily="34" charset="-120"/>
                <a:ea typeface="微軟正黑體" panose="020B0604030504040204" pitchFamily="34" charset="-120"/>
              </a:rPr>
              <a:t>26%</a:t>
            </a:r>
            <a:r>
              <a:rPr lang="zh-TW" altLang="en-US" sz="1200" dirty="0">
                <a:latin typeface="微軟正黑體" panose="020B0604030504040204" pitchFamily="34" charset="-120"/>
                <a:ea typeface="微軟正黑體" panose="020B0604030504040204" pitchFamily="34" charset="-120"/>
              </a:rPr>
              <a:t>至</a:t>
            </a:r>
            <a:r>
              <a:rPr lang="en-US" altLang="zh-TW" sz="1200" dirty="0">
                <a:latin typeface="微軟正黑體" panose="020B0604030504040204" pitchFamily="34" charset="-120"/>
                <a:ea typeface="微軟正黑體" panose="020B0604030504040204" pitchFamily="34" charset="-120"/>
              </a:rPr>
              <a:t>53</a:t>
            </a:r>
            <a:r>
              <a:rPr lang="zh-TW" altLang="en-US" sz="1200" dirty="0">
                <a:latin typeface="微軟正黑體" panose="020B0604030504040204" pitchFamily="34" charset="-120"/>
                <a:ea typeface="微軟正黑體" panose="020B0604030504040204" pitchFamily="34" charset="-120"/>
              </a:rPr>
              <a:t>億美元。</a:t>
            </a:r>
            <a:endParaRPr lang="en-US" altLang="zh-TW" sz="1200" dirty="0">
              <a:latin typeface="微軟正黑體" panose="020B0604030504040204" pitchFamily="34" charset="-120"/>
              <a:ea typeface="微軟正黑體" panose="020B0604030504040204" pitchFamily="34" charset="-120"/>
            </a:endParaRPr>
          </a:p>
          <a:p>
            <a:pPr marL="171450" indent="-171450" algn="just" hangingPunct="0">
              <a:lnSpc>
                <a:spcPts val="1800"/>
              </a:lnSpc>
              <a:buFont typeface="Wingdings" panose="05000000000000000000" pitchFamily="2" charset="2"/>
              <a:buChar char="n"/>
            </a:pPr>
            <a:r>
              <a:rPr lang="zh-TW" altLang="en-US" sz="1200" b="1" dirty="0">
                <a:solidFill>
                  <a:srgbClr val="FF0000"/>
                </a:solidFill>
                <a:latin typeface="微軟正黑體" panose="020B0604030504040204" pitchFamily="34" charset="-120"/>
                <a:ea typeface="微軟正黑體" panose="020B0604030504040204" pitchFamily="34" charset="-120"/>
              </a:rPr>
              <a:t>普通股可分配淨利成長</a:t>
            </a:r>
            <a:r>
              <a:rPr lang="en-US" altLang="zh-TW" sz="1200" b="1">
                <a:solidFill>
                  <a:srgbClr val="FF0000"/>
                </a:solidFill>
                <a:latin typeface="微軟正黑體" panose="020B0604030504040204" pitchFamily="34" charset="-120"/>
                <a:ea typeface="微軟正黑體" panose="020B0604030504040204" pitchFamily="34" charset="-120"/>
              </a:rPr>
              <a:t>95%</a:t>
            </a:r>
            <a:r>
              <a:rPr lang="zh-TW" altLang="en-US" sz="1200" b="1">
                <a:solidFill>
                  <a:srgbClr val="FF0000"/>
                </a:solidFill>
                <a:latin typeface="微軟正黑體" panose="020B0604030504040204" pitchFamily="34" charset="-120"/>
                <a:ea typeface="微軟正黑體" panose="020B0604030504040204" pitchFamily="34" charset="-120"/>
              </a:rPr>
              <a:t>至</a:t>
            </a:r>
            <a:r>
              <a:rPr lang="en-US" altLang="zh-TW" sz="1200" b="1" dirty="0">
                <a:solidFill>
                  <a:srgbClr val="FF0000"/>
                </a:solidFill>
                <a:latin typeface="微軟正黑體" panose="020B0604030504040204" pitchFamily="34" charset="-120"/>
                <a:ea typeface="微軟正黑體" panose="020B0604030504040204" pitchFamily="34" charset="-120"/>
              </a:rPr>
              <a:t>206</a:t>
            </a:r>
            <a:r>
              <a:rPr lang="zh-TW" altLang="en-US" sz="1200" b="1" dirty="0">
                <a:solidFill>
                  <a:srgbClr val="FF0000"/>
                </a:solidFill>
                <a:latin typeface="微軟正黑體" panose="020B0604030504040204" pitchFamily="34" charset="-120"/>
                <a:ea typeface="微軟正黑體" panose="020B0604030504040204" pitchFamily="34" charset="-120"/>
              </a:rPr>
              <a:t>億美元</a:t>
            </a:r>
            <a:r>
              <a:rPr lang="zh-TW" altLang="en-US" sz="1200" dirty="0">
                <a:latin typeface="微軟正黑體" panose="020B0604030504040204" pitchFamily="34" charset="-120"/>
                <a:ea typeface="微軟正黑體" panose="020B0604030504040204" pitchFamily="34" charset="-120"/>
              </a:rPr>
              <a:t>，主要反映</a:t>
            </a:r>
            <a:r>
              <a:rPr lang="en-US" altLang="zh-TW" sz="1200" dirty="0">
                <a:latin typeface="微軟正黑體" panose="020B0604030504040204" pitchFamily="34" charset="-120"/>
                <a:ea typeface="微軟正黑體" panose="020B0604030504040204" pitchFamily="34" charset="-120"/>
              </a:rPr>
              <a:t>1)</a:t>
            </a:r>
            <a:r>
              <a:rPr lang="zh-TW" altLang="en-US" sz="1200" dirty="0">
                <a:latin typeface="微軟正黑體" panose="020B0604030504040204" pitchFamily="34" charset="-120"/>
                <a:ea typeface="微軟正黑體" panose="020B0604030504040204" pitchFamily="34" charset="-120"/>
              </a:rPr>
              <a:t>藥品定價提升而推動毛利率增加</a:t>
            </a:r>
            <a:r>
              <a:rPr lang="en-US" altLang="zh-TW" sz="1200" dirty="0">
                <a:latin typeface="微軟正黑體" panose="020B0604030504040204" pitchFamily="34" charset="-120"/>
                <a:ea typeface="微軟正黑體" panose="020B0604030504040204" pitchFamily="34" charset="-120"/>
              </a:rPr>
              <a:t>2.1</a:t>
            </a:r>
            <a:r>
              <a:rPr lang="zh-TW" altLang="en-US" sz="1200" dirty="0">
                <a:latin typeface="微軟正黑體" panose="020B0604030504040204" pitchFamily="34" charset="-120"/>
                <a:ea typeface="微軟正黑體" panose="020B0604030504040204" pitchFamily="34" charset="-120"/>
              </a:rPr>
              <a:t>個百分點至</a:t>
            </a:r>
            <a:r>
              <a:rPr lang="en-US" altLang="zh-TW" sz="1200" dirty="0">
                <a:latin typeface="微軟正黑體" panose="020B0604030504040204" pitchFamily="34" charset="-120"/>
                <a:ea typeface="微軟正黑體" panose="020B0604030504040204" pitchFamily="34" charset="-120"/>
              </a:rPr>
              <a:t>81.3%</a:t>
            </a:r>
            <a:r>
              <a:rPr lang="zh-TW" altLang="en-US" sz="1200" dirty="0">
                <a:latin typeface="微軟正黑體" panose="020B0604030504040204" pitchFamily="34" charset="-120"/>
                <a:ea typeface="微軟正黑體" panose="020B0604030504040204" pitchFamily="34" charset="-120"/>
              </a:rPr>
              <a:t>；</a:t>
            </a:r>
            <a:r>
              <a:rPr lang="en-US" altLang="zh-TW" sz="1200" dirty="0">
                <a:latin typeface="微軟正黑體" panose="020B0604030504040204" pitchFamily="34" charset="-120"/>
                <a:ea typeface="微軟正黑體" panose="020B0604030504040204" pitchFamily="34" charset="-120"/>
              </a:rPr>
              <a:t>2)</a:t>
            </a:r>
            <a:r>
              <a:rPr lang="zh-TW" altLang="en-US" sz="1200" dirty="0">
                <a:latin typeface="微軟正黑體" panose="020B0604030504040204" pitchFamily="34" charset="-120"/>
                <a:ea typeface="微軟正黑體" panose="020B0604030504040204" pitchFamily="34" charset="-120"/>
              </a:rPr>
              <a:t>研究及發展費用與行銷、銷售及行政費用上升幅度小於營收成長幅度；抵銷</a:t>
            </a:r>
            <a:r>
              <a:rPr lang="en-US" altLang="zh-TW" sz="1200" dirty="0">
                <a:latin typeface="微軟正黑體" panose="020B0604030504040204" pitchFamily="34" charset="-120"/>
                <a:ea typeface="微軟正黑體" panose="020B0604030504040204" pitchFamily="34" charset="-120"/>
              </a:rPr>
              <a:t>3)</a:t>
            </a:r>
            <a:r>
              <a:rPr lang="zh-TW" altLang="en-US" sz="1200" dirty="0">
                <a:latin typeface="微軟正黑體" panose="020B0604030504040204" pitchFamily="34" charset="-120"/>
                <a:ea typeface="微軟正黑體" panose="020B0604030504040204" pitchFamily="34" charset="-120"/>
              </a:rPr>
              <a:t>認列</a:t>
            </a:r>
            <a:r>
              <a:rPr lang="en-US" altLang="zh-TW" sz="1200" dirty="0">
                <a:latin typeface="微軟正黑體" panose="020B0604030504040204" pitchFamily="34" charset="-120"/>
                <a:ea typeface="微軟正黑體" panose="020B0604030504040204" pitchFamily="34" charset="-120"/>
              </a:rPr>
              <a:t>4.35</a:t>
            </a:r>
            <a:r>
              <a:rPr lang="zh-TW" altLang="en-US" sz="1200" dirty="0">
                <a:latin typeface="微軟正黑體" panose="020B0604030504040204" pitchFamily="34" charset="-120"/>
                <a:ea typeface="微軟正黑體" panose="020B0604030504040204" pitchFamily="34" charset="-120"/>
              </a:rPr>
              <a:t>億美元的訴訟費用和不定腫瘤類型</a:t>
            </a:r>
            <a:r>
              <a:rPr lang="en-US" altLang="zh-TW" sz="1200" dirty="0">
                <a:latin typeface="微軟正黑體" panose="020B0604030504040204" pitchFamily="34" charset="-120"/>
                <a:ea typeface="微軟正黑體" panose="020B0604030504040204" pitchFamily="34" charset="-120"/>
              </a:rPr>
              <a:t>TRK</a:t>
            </a:r>
            <a:r>
              <a:rPr lang="zh-TW" altLang="en-US" sz="1200" dirty="0">
                <a:latin typeface="微軟正黑體" panose="020B0604030504040204" pitchFamily="34" charset="-120"/>
                <a:ea typeface="微軟正黑體" panose="020B0604030504040204" pitchFamily="34" charset="-120"/>
              </a:rPr>
              <a:t>抑製藥物</a:t>
            </a:r>
            <a:r>
              <a:rPr lang="en-US" altLang="zh-TW" sz="1200" dirty="0">
                <a:latin typeface="微軟正黑體" panose="020B0604030504040204" pitchFamily="34" charset="-120"/>
                <a:ea typeface="微軟正黑體" panose="020B0604030504040204" pitchFamily="34" charset="-120"/>
              </a:rPr>
              <a:t>(</a:t>
            </a:r>
            <a:r>
              <a:rPr lang="en-US" altLang="zh-TW" sz="1200" dirty="0" err="1">
                <a:latin typeface="微軟正黑體" panose="020B0604030504040204" pitchFamily="34" charset="-120"/>
                <a:ea typeface="微軟正黑體" panose="020B0604030504040204" pitchFamily="34" charset="-120"/>
              </a:rPr>
              <a:t>Vitrakvi</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的無形資產減損，而推升資產減損、重組及其他特殊費用提升至</a:t>
            </a:r>
            <a:r>
              <a:rPr lang="en-US" altLang="zh-TW" sz="1200" dirty="0">
                <a:latin typeface="微軟正黑體" panose="020B0604030504040204" pitchFamily="34" charset="-120"/>
                <a:ea typeface="微軟正黑體" panose="020B0604030504040204" pitchFamily="34" charset="-120"/>
              </a:rPr>
              <a:t>8.6</a:t>
            </a:r>
            <a:r>
              <a:rPr lang="zh-TW" altLang="en-US" sz="1200" dirty="0">
                <a:latin typeface="微軟正黑體" panose="020B0604030504040204" pitchFamily="34" charset="-120"/>
                <a:ea typeface="微軟正黑體" panose="020B0604030504040204" pitchFamily="34" charset="-120"/>
              </a:rPr>
              <a:t>億美元的負面影響。</a:t>
            </a:r>
            <a:endParaRPr lang="en-US" altLang="zh-TW" sz="1200" dirty="0">
              <a:latin typeface="微軟正黑體" panose="020B0604030504040204" pitchFamily="34" charset="-120"/>
              <a:ea typeface="微軟正黑體" panose="020B0604030504040204" pitchFamily="34" charset="-120"/>
            </a:endParaRPr>
          </a:p>
        </p:txBody>
      </p:sp>
      <p:sp>
        <p:nvSpPr>
          <p:cNvPr id="29" name="矩形 28">
            <a:extLst>
              <a:ext uri="{FF2B5EF4-FFF2-40B4-BE49-F238E27FC236}">
                <a16:creationId xmlns:a16="http://schemas.microsoft.com/office/drawing/2014/main" id="{C9AE7F28-172F-80F7-6EC1-CA33FA8B67ED}"/>
              </a:ext>
            </a:extLst>
          </p:cNvPr>
          <p:cNvSpPr/>
          <p:nvPr/>
        </p:nvSpPr>
        <p:spPr>
          <a:xfrm>
            <a:off x="4520922" y="1079500"/>
            <a:ext cx="4259297" cy="522982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a:extLst>
              <a:ext uri="{FF2B5EF4-FFF2-40B4-BE49-F238E27FC236}">
                <a16:creationId xmlns:a16="http://schemas.microsoft.com/office/drawing/2014/main" id="{D71BE2D6-688C-B7EC-4A5A-09EEC5309FF9}"/>
              </a:ext>
            </a:extLst>
          </p:cNvPr>
          <p:cNvSpPr txBox="1"/>
          <p:nvPr/>
        </p:nvSpPr>
        <p:spPr>
          <a:xfrm>
            <a:off x="4623079" y="860968"/>
            <a:ext cx="1224136" cy="340519"/>
          </a:xfrm>
          <a:prstGeom prst="roundRect">
            <a:avLst/>
          </a:prstGeom>
          <a:solidFill>
            <a:srgbClr val="C00000"/>
          </a:solidFill>
        </p:spPr>
        <p:txBody>
          <a:bodyPr wrap="square" rtlCol="0">
            <a:spAutoFit/>
          </a:bodyPr>
          <a:lstStyle/>
          <a:p>
            <a:pPr algn="ctr"/>
            <a:r>
              <a:rPr lang="zh-TW" altLang="en-US" sz="1400" b="1" dirty="0">
                <a:solidFill>
                  <a:schemeClr val="bg1"/>
                </a:solidFill>
                <a:latin typeface="微軟正黑體" panose="020B0604030504040204" pitchFamily="34" charset="-120"/>
                <a:ea typeface="微軟正黑體" panose="020B0604030504040204" pitchFamily="34" charset="-120"/>
              </a:rPr>
              <a:t>季度財報</a:t>
            </a:r>
          </a:p>
        </p:txBody>
      </p:sp>
      <p:sp>
        <p:nvSpPr>
          <p:cNvPr id="32" name="文字方塊 31">
            <a:extLst>
              <a:ext uri="{FF2B5EF4-FFF2-40B4-BE49-F238E27FC236}">
                <a16:creationId xmlns:a16="http://schemas.microsoft.com/office/drawing/2014/main" id="{8440320F-8743-0A0B-8068-3CD842C51C3E}"/>
              </a:ext>
            </a:extLst>
          </p:cNvPr>
          <p:cNvSpPr txBox="1"/>
          <p:nvPr/>
        </p:nvSpPr>
        <p:spPr>
          <a:xfrm>
            <a:off x="4530066" y="1188244"/>
            <a:ext cx="4250153" cy="3064365"/>
          </a:xfrm>
          <a:prstGeom prst="rect">
            <a:avLst/>
          </a:prstGeom>
          <a:noFill/>
        </p:spPr>
        <p:txBody>
          <a:bodyPr wrap="square" rtlCol="0">
            <a:spAutoFit/>
          </a:bodyPr>
          <a:lstStyle/>
          <a:p>
            <a:pPr algn="just" hangingPunct="0">
              <a:lnSpc>
                <a:spcPts val="1600"/>
              </a:lnSpc>
              <a:spcAft>
                <a:spcPts val="300"/>
              </a:spcAft>
            </a:pPr>
            <a:r>
              <a:rPr lang="en-US" altLang="zh-TW" sz="1200" b="1" spc="-1" dirty="0">
                <a:solidFill>
                  <a:srgbClr val="FF0000"/>
                </a:solidFill>
                <a:latin typeface="微軟正黑體" panose="020B0604030504040204" pitchFamily="34" charset="-120"/>
                <a:ea typeface="微軟正黑體" panose="020B0604030504040204" pitchFamily="34" charset="-120"/>
              </a:rPr>
              <a:t>1Q26</a:t>
            </a:r>
            <a:r>
              <a:rPr lang="zh-TW" altLang="en-US" sz="1200" b="1" spc="-1" dirty="0">
                <a:solidFill>
                  <a:srgbClr val="FF0000"/>
                </a:solidFill>
                <a:latin typeface="微軟正黑體" panose="020B0604030504040204" pitchFamily="34" charset="-120"/>
                <a:ea typeface="微軟正黑體" panose="020B0604030504040204" pitchFamily="34" charset="-120"/>
              </a:rPr>
              <a:t>營收年增</a:t>
            </a:r>
            <a:r>
              <a:rPr lang="en-US" altLang="zh-TW" sz="1200" b="1" spc="-1" dirty="0">
                <a:solidFill>
                  <a:srgbClr val="FF0000"/>
                </a:solidFill>
                <a:latin typeface="微軟正黑體" panose="020B0604030504040204" pitchFamily="34" charset="-120"/>
                <a:ea typeface="微軟正黑體" panose="020B0604030504040204" pitchFamily="34" charset="-120"/>
              </a:rPr>
              <a:t>56%</a:t>
            </a:r>
            <a:r>
              <a:rPr lang="zh-TW" altLang="en-US" sz="1200" b="1" spc="-1" dirty="0">
                <a:solidFill>
                  <a:srgbClr val="FF0000"/>
                </a:solidFill>
                <a:latin typeface="微軟正黑體" panose="020B0604030504040204" pitchFamily="34" charset="-120"/>
                <a:ea typeface="微軟正黑體" panose="020B0604030504040204" pitchFamily="34" charset="-120"/>
              </a:rPr>
              <a:t>至</a:t>
            </a:r>
            <a:r>
              <a:rPr lang="en-US" altLang="zh-TW" sz="1200" b="1" spc="-1" dirty="0">
                <a:solidFill>
                  <a:srgbClr val="FF0000"/>
                </a:solidFill>
                <a:latin typeface="微軟正黑體" panose="020B0604030504040204" pitchFamily="34" charset="-120"/>
                <a:ea typeface="微軟正黑體" panose="020B0604030504040204" pitchFamily="34" charset="-120"/>
              </a:rPr>
              <a:t>198</a:t>
            </a:r>
            <a:r>
              <a:rPr lang="zh-TW" altLang="en-US" sz="1200" b="1" spc="-1" dirty="0">
                <a:solidFill>
                  <a:srgbClr val="FF0000"/>
                </a:solidFill>
                <a:latin typeface="微軟正黑體" panose="020B0604030504040204" pitchFamily="34" charset="-120"/>
                <a:ea typeface="微軟正黑體" panose="020B0604030504040204" pitchFamily="34" charset="-120"/>
              </a:rPr>
              <a:t>億美元</a:t>
            </a:r>
            <a:r>
              <a:rPr lang="zh-TW" altLang="en-US" sz="1200" spc="-1" dirty="0">
                <a:latin typeface="微軟正黑體" panose="020B0604030504040204" pitchFamily="34" charset="-120"/>
                <a:ea typeface="微軟正黑體" panose="020B0604030504040204" pitchFamily="34" charset="-120"/>
              </a:rPr>
              <a:t>，受惠糖尿病藥</a:t>
            </a:r>
            <a:r>
              <a:rPr lang="en-US" altLang="zh-TW" sz="1200" spc="-1" dirty="0" err="1">
                <a:latin typeface="微軟正黑體" panose="020B0604030504040204" pitchFamily="34" charset="-120"/>
                <a:ea typeface="微軟正黑體" panose="020B0604030504040204" pitchFamily="34" charset="-120"/>
              </a:rPr>
              <a:t>Mounjaro</a:t>
            </a:r>
            <a:r>
              <a:rPr lang="zh-TW" altLang="en-US" sz="1200" spc="-1" dirty="0">
                <a:latin typeface="微軟正黑體" panose="020B0604030504040204" pitchFamily="34" charset="-120"/>
                <a:ea typeface="微軟正黑體" panose="020B0604030504040204" pitchFamily="34" charset="-120"/>
              </a:rPr>
              <a:t>和減肥注射劑</a:t>
            </a:r>
            <a:r>
              <a:rPr lang="en-US" altLang="zh-TW" sz="1200" spc="-1" dirty="0" err="1">
                <a:latin typeface="微軟正黑體" panose="020B0604030504040204" pitchFamily="34" charset="-120"/>
                <a:ea typeface="微軟正黑體" panose="020B0604030504040204" pitchFamily="34" charset="-120"/>
              </a:rPr>
              <a:t>Zepbound</a:t>
            </a:r>
            <a:r>
              <a:rPr lang="zh-TW" altLang="en-US" sz="1200" spc="-1" dirty="0">
                <a:latin typeface="微軟正黑體" panose="020B0604030504040204" pitchFamily="34" charset="-120"/>
                <a:ea typeface="微軟正黑體" panose="020B0604030504040204" pitchFamily="34" charset="-120"/>
              </a:rPr>
              <a:t>帶動整體銷量增長</a:t>
            </a:r>
            <a:r>
              <a:rPr lang="en-US" altLang="zh-TW" sz="1200" spc="-1" dirty="0">
                <a:latin typeface="微軟正黑體" panose="020B0604030504040204" pitchFamily="34" charset="-120"/>
                <a:ea typeface="微軟正黑體" panose="020B0604030504040204" pitchFamily="34" charset="-120"/>
              </a:rPr>
              <a:t>65%</a:t>
            </a:r>
            <a:r>
              <a:rPr lang="zh-TW" altLang="en-US" sz="1200" spc="-1" dirty="0">
                <a:latin typeface="微軟正黑體" panose="020B0604030504040204" pitchFamily="34" charset="-120"/>
                <a:ea typeface="微軟正黑體" panose="020B0604030504040204" pitchFamily="34" charset="-120"/>
              </a:rPr>
              <a:t>，惟部分被售價減少</a:t>
            </a:r>
            <a:r>
              <a:rPr lang="en-US" altLang="zh-TW" sz="1200" spc="-1" dirty="0">
                <a:latin typeface="微軟正黑體" panose="020B0604030504040204" pitchFamily="34" charset="-120"/>
                <a:ea typeface="微軟正黑體" panose="020B0604030504040204" pitchFamily="34" charset="-120"/>
              </a:rPr>
              <a:t>13%</a:t>
            </a:r>
            <a:r>
              <a:rPr lang="zh-TW" altLang="en-US" sz="1200" spc="-1" dirty="0">
                <a:latin typeface="微軟正黑體" panose="020B0604030504040204" pitchFamily="34" charset="-120"/>
                <a:ea typeface="微軟正黑體" panose="020B0604030504040204" pitchFamily="34" charset="-120"/>
              </a:rPr>
              <a:t>所抵銷，主因為腸泌素產品的售價下降所致</a:t>
            </a:r>
            <a:r>
              <a:rPr lang="en-US" altLang="zh-TW" sz="1200" spc="-1" dirty="0">
                <a:latin typeface="微軟正黑體" panose="020B0604030504040204" pitchFamily="34" charset="-120"/>
                <a:ea typeface="微軟正黑體" panose="020B0604030504040204" pitchFamily="34" charset="-120"/>
              </a:rPr>
              <a:t>(</a:t>
            </a:r>
            <a:r>
              <a:rPr lang="zh-TW" altLang="en-US" sz="1200" spc="-1" dirty="0">
                <a:latin typeface="微軟正黑體" panose="020B0604030504040204" pitchFamily="34" charset="-120"/>
                <a:ea typeface="微軟正黑體" panose="020B0604030504040204" pitchFamily="34" charset="-120"/>
              </a:rPr>
              <a:t>整體毛利率也因此下降</a:t>
            </a:r>
            <a:r>
              <a:rPr lang="en-US" altLang="zh-TW" sz="1200" spc="-1" dirty="0">
                <a:latin typeface="微軟正黑體" panose="020B0604030504040204" pitchFamily="34" charset="-120"/>
                <a:ea typeface="微軟正黑體" panose="020B0604030504040204" pitchFamily="34" charset="-120"/>
              </a:rPr>
              <a:t>0.6%)</a:t>
            </a:r>
            <a:r>
              <a:rPr lang="zh-TW" altLang="en-US" sz="1200" spc="-1" dirty="0">
                <a:latin typeface="微軟正黑體" panose="020B0604030504040204" pitchFamily="34" charset="-120"/>
                <a:ea typeface="微軟正黑體" panose="020B0604030504040204" pitchFamily="34" charset="-120"/>
              </a:rPr>
              <a:t>。</a:t>
            </a:r>
          </a:p>
          <a:p>
            <a:pPr algn="just" hangingPunct="0">
              <a:lnSpc>
                <a:spcPts val="1600"/>
              </a:lnSpc>
              <a:spcAft>
                <a:spcPts val="300"/>
              </a:spcAft>
            </a:pPr>
            <a:r>
              <a:rPr lang="zh-TW" altLang="en-US" sz="1200" b="1" spc="-1" dirty="0">
                <a:solidFill>
                  <a:srgbClr val="FF0000"/>
                </a:solidFill>
                <a:latin typeface="微軟正黑體" panose="020B0604030504040204" pitchFamily="34" charset="-120"/>
                <a:ea typeface="微軟正黑體" panose="020B0604030504040204" pitchFamily="34" charset="-120"/>
              </a:rPr>
              <a:t>普通股可分配淨利年增</a:t>
            </a:r>
            <a:r>
              <a:rPr lang="en-US" altLang="zh-TW" sz="1200" b="1" spc="-1" dirty="0">
                <a:solidFill>
                  <a:srgbClr val="FF0000"/>
                </a:solidFill>
                <a:latin typeface="微軟正黑體" panose="020B0604030504040204" pitchFamily="34" charset="-120"/>
                <a:ea typeface="微軟正黑體" panose="020B0604030504040204" pitchFamily="34" charset="-120"/>
              </a:rPr>
              <a:t>168%</a:t>
            </a:r>
            <a:r>
              <a:rPr lang="zh-TW" altLang="en-US" sz="1200" b="1" spc="-1" dirty="0">
                <a:solidFill>
                  <a:srgbClr val="FF0000"/>
                </a:solidFill>
                <a:latin typeface="微軟正黑體" panose="020B0604030504040204" pitchFamily="34" charset="-120"/>
                <a:ea typeface="微軟正黑體" panose="020B0604030504040204" pitchFamily="34" charset="-120"/>
              </a:rPr>
              <a:t>至</a:t>
            </a:r>
            <a:r>
              <a:rPr lang="en-US" altLang="zh-TW" sz="1200" b="1" spc="-1" dirty="0">
                <a:solidFill>
                  <a:srgbClr val="FF0000"/>
                </a:solidFill>
                <a:latin typeface="微軟正黑體" panose="020B0604030504040204" pitchFamily="34" charset="-120"/>
                <a:ea typeface="微軟正黑體" panose="020B0604030504040204" pitchFamily="34" charset="-120"/>
              </a:rPr>
              <a:t>74</a:t>
            </a:r>
            <a:r>
              <a:rPr lang="zh-TW" altLang="en-US" sz="1200" b="1" spc="-1" dirty="0">
                <a:solidFill>
                  <a:srgbClr val="FF0000"/>
                </a:solidFill>
                <a:latin typeface="微軟正黑體" panose="020B0604030504040204" pitchFamily="34" charset="-120"/>
                <a:ea typeface="微軟正黑體" panose="020B0604030504040204" pitchFamily="34" charset="-120"/>
              </a:rPr>
              <a:t>億美元</a:t>
            </a:r>
            <a:r>
              <a:rPr lang="zh-TW" altLang="en-US" sz="1200" spc="-1" dirty="0">
                <a:latin typeface="微軟正黑體" panose="020B0604030504040204" pitchFamily="34" charset="-120"/>
                <a:ea typeface="微軟正黑體" panose="020B0604030504040204" pitchFamily="34" charset="-120"/>
              </a:rPr>
              <a:t>，得益於研發及管銷費用僅年增</a:t>
            </a:r>
            <a:r>
              <a:rPr lang="en-US" altLang="zh-TW" sz="1200" spc="-1" dirty="0">
                <a:latin typeface="微軟正黑體" panose="020B0604030504040204" pitchFamily="34" charset="-120"/>
                <a:ea typeface="微軟正黑體" panose="020B0604030504040204" pitchFamily="34" charset="-120"/>
              </a:rPr>
              <a:t>28%</a:t>
            </a:r>
            <a:r>
              <a:rPr lang="zh-TW" altLang="en-US" sz="1200" spc="-1" dirty="0">
                <a:latin typeface="微軟正黑體" panose="020B0604030504040204" pitchFamily="34" charset="-120"/>
                <a:ea typeface="微軟正黑體" panose="020B0604030504040204" pitchFamily="34" charset="-120"/>
              </a:rPr>
              <a:t>及</a:t>
            </a:r>
            <a:r>
              <a:rPr lang="en-US" altLang="zh-TW" sz="1200" spc="-1" dirty="0">
                <a:latin typeface="微軟正黑體" panose="020B0604030504040204" pitchFamily="34" charset="-120"/>
                <a:ea typeface="微軟正黑體" panose="020B0604030504040204" pitchFamily="34" charset="-120"/>
              </a:rPr>
              <a:t>19%</a:t>
            </a:r>
            <a:r>
              <a:rPr lang="zh-TW" altLang="en-US" sz="1200" spc="-1" dirty="0">
                <a:latin typeface="微軟正黑體" panose="020B0604030504040204" pitchFamily="34" charset="-120"/>
                <a:ea typeface="微軟正黑體" panose="020B0604030504040204" pitchFamily="34" charset="-120"/>
              </a:rPr>
              <a:t>，促營業利潤年增</a:t>
            </a:r>
            <a:r>
              <a:rPr lang="en-US" altLang="zh-TW" sz="1200" spc="-1" dirty="0">
                <a:latin typeface="微軟正黑體" panose="020B0604030504040204" pitchFamily="34" charset="-120"/>
                <a:ea typeface="微軟正黑體" panose="020B0604030504040204" pitchFamily="34" charset="-120"/>
              </a:rPr>
              <a:t>141%</a:t>
            </a:r>
            <a:r>
              <a:rPr lang="zh-TW" altLang="en-US" sz="1200" spc="-1" dirty="0">
                <a:latin typeface="微軟正黑體" panose="020B0604030504040204" pitchFamily="34" charset="-120"/>
                <a:ea typeface="微軟正黑體" panose="020B0604030504040204" pitchFamily="34" charset="-120"/>
              </a:rPr>
              <a:t>。</a:t>
            </a:r>
          </a:p>
          <a:p>
            <a:pPr algn="just" hangingPunct="0">
              <a:lnSpc>
                <a:spcPts val="1600"/>
              </a:lnSpc>
              <a:spcAft>
                <a:spcPts val="300"/>
              </a:spcAft>
            </a:pPr>
            <a:r>
              <a:rPr kumimoji="1" lang="zh-TW" altLang="en-US" sz="1200" b="1" dirty="0">
                <a:latin typeface="Microsoft JhengHei" panose="020B0604030504040204" pitchFamily="34" charset="-120"/>
                <a:ea typeface="Microsoft JhengHei" panose="020B0604030504040204" pitchFamily="34" charset="-120"/>
              </a:rPr>
              <a:t>亮點：</a:t>
            </a:r>
            <a:r>
              <a:rPr lang="en-US" altLang="zh-TW" sz="1200" spc="-1" dirty="0">
                <a:solidFill>
                  <a:srgbClr val="000000"/>
                </a:solidFill>
                <a:latin typeface="微軟正黑體" panose="020B0604030504040204" pitchFamily="34" charset="-120"/>
                <a:ea typeface="微軟正黑體" panose="020B0604030504040204" pitchFamily="34" charset="-120"/>
              </a:rPr>
              <a:t>1)</a:t>
            </a:r>
            <a:r>
              <a:rPr lang="zh-TW" altLang="en-US" sz="1200" spc="-1" dirty="0">
                <a:solidFill>
                  <a:srgbClr val="000000"/>
                </a:solidFill>
                <a:latin typeface="微軟正黑體" panose="020B0604030504040204" pitchFamily="34" charset="-120"/>
                <a:ea typeface="微軟正黑體" panose="020B0604030504040204" pitchFamily="34" charset="-120"/>
              </a:rPr>
              <a:t>得益於</a:t>
            </a:r>
            <a:r>
              <a:rPr lang="en-US" altLang="zh-TW" sz="1200" spc="-1" dirty="0">
                <a:solidFill>
                  <a:srgbClr val="000000"/>
                </a:solidFill>
                <a:latin typeface="微軟正黑體" panose="020B0604030504040204" pitchFamily="34" charset="-120"/>
                <a:ea typeface="微軟正黑體" panose="020B0604030504040204" pitchFamily="34" charset="-120"/>
              </a:rPr>
              <a:t>Q1</a:t>
            </a:r>
            <a:r>
              <a:rPr lang="zh-TW" altLang="en-US" sz="1200" spc="-1" dirty="0">
                <a:solidFill>
                  <a:srgbClr val="000000"/>
                </a:solidFill>
                <a:latin typeface="微軟正黑體" panose="020B0604030504040204" pitchFamily="34" charset="-120"/>
                <a:ea typeface="微軟正黑體" panose="020B0604030504040204" pitchFamily="34" charset="-120"/>
              </a:rPr>
              <a:t>腸泌素藥物強勁的表現，上調</a:t>
            </a:r>
            <a:r>
              <a:rPr lang="en-US" altLang="zh-TW" sz="1200" spc="-1" dirty="0">
                <a:solidFill>
                  <a:srgbClr val="000000"/>
                </a:solidFill>
                <a:latin typeface="微軟正黑體" panose="020B0604030504040204" pitchFamily="34" charset="-120"/>
                <a:ea typeface="微軟正黑體" panose="020B0604030504040204" pitchFamily="34" charset="-120"/>
              </a:rPr>
              <a:t>2026</a:t>
            </a:r>
            <a:r>
              <a:rPr lang="zh-TW" altLang="en-US" sz="1200" spc="-1" dirty="0">
                <a:solidFill>
                  <a:srgbClr val="000000"/>
                </a:solidFill>
                <a:latin typeface="微軟正黑體" panose="020B0604030504040204" pitchFamily="34" charset="-120"/>
                <a:ea typeface="微軟正黑體" panose="020B0604030504040204" pitchFamily="34" charset="-120"/>
              </a:rPr>
              <a:t>年營收指引</a:t>
            </a:r>
            <a:r>
              <a:rPr lang="en-US" altLang="zh-TW" sz="1200" spc="-1" dirty="0">
                <a:solidFill>
                  <a:srgbClr val="000000"/>
                </a:solidFill>
                <a:latin typeface="微軟正黑體" panose="020B0604030504040204" pitchFamily="34" charset="-120"/>
                <a:ea typeface="微軟正黑體" panose="020B0604030504040204" pitchFamily="34" charset="-120"/>
              </a:rPr>
              <a:t>20</a:t>
            </a:r>
            <a:r>
              <a:rPr lang="zh-TW" altLang="en-US" sz="1200" spc="-1" dirty="0">
                <a:solidFill>
                  <a:srgbClr val="000000"/>
                </a:solidFill>
                <a:latin typeface="微軟正黑體" panose="020B0604030504040204" pitchFamily="34" charset="-120"/>
                <a:ea typeface="微軟正黑體" panose="020B0604030504040204" pitchFamily="34" charset="-120"/>
              </a:rPr>
              <a:t>億美元至</a:t>
            </a:r>
            <a:r>
              <a:rPr lang="en-US" altLang="zh-TW" sz="1200" spc="-1" dirty="0">
                <a:solidFill>
                  <a:srgbClr val="000000"/>
                </a:solidFill>
                <a:latin typeface="微軟正黑體" panose="020B0604030504040204" pitchFamily="34" charset="-120"/>
                <a:ea typeface="微軟正黑體" panose="020B0604030504040204" pitchFamily="34" charset="-120"/>
              </a:rPr>
              <a:t>820</a:t>
            </a:r>
            <a:r>
              <a:rPr lang="zh-TW" altLang="en-US" sz="1200" spc="-1" dirty="0">
                <a:solidFill>
                  <a:srgbClr val="000000"/>
                </a:solidFill>
                <a:latin typeface="微軟正黑體" panose="020B0604030504040204" pitchFamily="34" charset="-120"/>
                <a:ea typeface="微軟正黑體" panose="020B0604030504040204" pitchFamily="34" charset="-120"/>
              </a:rPr>
              <a:t>億</a:t>
            </a:r>
            <a:r>
              <a:rPr lang="en-US" altLang="zh-TW" sz="1200" spc="-1" dirty="0">
                <a:solidFill>
                  <a:srgbClr val="000000"/>
                </a:solidFill>
                <a:latin typeface="微軟正黑體" panose="020B0604030504040204" pitchFamily="34" charset="-120"/>
                <a:ea typeface="微軟正黑體" panose="020B0604030504040204" pitchFamily="34" charset="-120"/>
              </a:rPr>
              <a:t>~850</a:t>
            </a:r>
            <a:r>
              <a:rPr lang="zh-TW" altLang="en-US" sz="1200" spc="-1" dirty="0">
                <a:solidFill>
                  <a:srgbClr val="000000"/>
                </a:solidFill>
                <a:latin typeface="微軟正黑體" panose="020B0604030504040204" pitchFamily="34" charset="-120"/>
                <a:ea typeface="微軟正黑體" panose="020B0604030504040204" pitchFamily="34" charset="-120"/>
              </a:rPr>
              <a:t>億美元；</a:t>
            </a:r>
            <a:r>
              <a:rPr lang="en-US" altLang="zh-TW" sz="1200" spc="-1" dirty="0">
                <a:solidFill>
                  <a:srgbClr val="000000"/>
                </a:solidFill>
                <a:latin typeface="微軟正黑體" panose="020B0604030504040204" pitchFamily="34" charset="-120"/>
                <a:ea typeface="微軟正黑體" panose="020B0604030504040204" pitchFamily="34" charset="-120"/>
              </a:rPr>
              <a:t>2)</a:t>
            </a:r>
            <a:r>
              <a:rPr lang="zh-TW" altLang="en-US" sz="1200" spc="-1" dirty="0">
                <a:solidFill>
                  <a:srgbClr val="000000"/>
                </a:solidFill>
                <a:latin typeface="微軟正黑體" panose="020B0604030504040204" pitchFamily="34" charset="-120"/>
                <a:ea typeface="微軟正黑體" panose="020B0604030504040204" pitchFamily="34" charset="-120"/>
              </a:rPr>
              <a:t>美國</a:t>
            </a:r>
            <a:r>
              <a:rPr lang="en-US" altLang="zh-TW" sz="1200" spc="-1" dirty="0">
                <a:solidFill>
                  <a:srgbClr val="000000"/>
                </a:solidFill>
                <a:latin typeface="微軟正黑體" panose="020B0604030504040204" pitchFamily="34" charset="-120"/>
                <a:ea typeface="微軟正黑體" panose="020B0604030504040204" pitchFamily="34" charset="-120"/>
              </a:rPr>
              <a:t>FDA</a:t>
            </a:r>
            <a:r>
              <a:rPr lang="zh-TW" altLang="en-US" sz="1200" spc="-1" dirty="0">
                <a:solidFill>
                  <a:srgbClr val="000000"/>
                </a:solidFill>
                <a:latin typeface="微軟正黑體" panose="020B0604030504040204" pitchFamily="34" charset="-120"/>
                <a:ea typeface="微軟正黑體" panose="020B0604030504040204" pitchFamily="34" charset="-120"/>
              </a:rPr>
              <a:t>於</a:t>
            </a:r>
            <a:r>
              <a:rPr lang="en-US" altLang="zh-TW" sz="1200" spc="-1" dirty="0">
                <a:solidFill>
                  <a:srgbClr val="000000"/>
                </a:solidFill>
                <a:latin typeface="微軟正黑體" panose="020B0604030504040204" pitchFamily="34" charset="-120"/>
                <a:ea typeface="微軟正黑體" panose="020B0604030504040204" pitchFamily="34" charset="-120"/>
              </a:rPr>
              <a:t>4/1</a:t>
            </a:r>
            <a:r>
              <a:rPr lang="zh-TW" altLang="en-US" sz="1200" spc="-1" dirty="0">
                <a:solidFill>
                  <a:srgbClr val="000000"/>
                </a:solidFill>
                <a:latin typeface="微軟正黑體" panose="020B0604030504040204" pitchFamily="34" charset="-120"/>
                <a:ea typeface="微軟正黑體" panose="020B0604030504040204" pitchFamily="34" charset="-120"/>
              </a:rPr>
              <a:t>宣布口服減肥藥</a:t>
            </a:r>
            <a:r>
              <a:rPr lang="en-US" altLang="zh-TW" sz="1200" spc="-1" dirty="0" err="1">
                <a:solidFill>
                  <a:srgbClr val="000000"/>
                </a:solidFill>
                <a:latin typeface="微軟正黑體" panose="020B0604030504040204" pitchFamily="34" charset="-120"/>
                <a:ea typeface="微軟正黑體" panose="020B0604030504040204" pitchFamily="34" charset="-120"/>
              </a:rPr>
              <a:t>Foundayo</a:t>
            </a:r>
            <a:r>
              <a:rPr lang="zh-TW" altLang="en-US" sz="1200" spc="-1" dirty="0">
                <a:solidFill>
                  <a:srgbClr val="000000"/>
                </a:solidFill>
                <a:latin typeface="微軟正黑體" panose="020B0604030504040204" pitchFamily="34" charset="-120"/>
                <a:ea typeface="微軟正黑體" panose="020B0604030504040204" pitchFamily="34" charset="-120"/>
              </a:rPr>
              <a:t>獲准上市，將可透過</a:t>
            </a:r>
            <a:r>
              <a:rPr lang="en-US" altLang="zh-TW" sz="1200" spc="-1" dirty="0" err="1">
                <a:solidFill>
                  <a:srgbClr val="000000"/>
                </a:solidFill>
                <a:latin typeface="微軟正黑體" panose="020B0604030504040204" pitchFamily="34" charset="-120"/>
                <a:ea typeface="微軟正黑體" panose="020B0604030504040204" pitchFamily="34" charset="-120"/>
              </a:rPr>
              <a:t>LillyDirect</a:t>
            </a:r>
            <a:r>
              <a:rPr lang="zh-TW" altLang="en-US" sz="1200" spc="-1" dirty="0">
                <a:solidFill>
                  <a:srgbClr val="000000"/>
                </a:solidFill>
                <a:latin typeface="微軟正黑體" panose="020B0604030504040204" pitchFamily="34" charset="-120"/>
                <a:ea typeface="微軟正黑體" panose="020B0604030504040204" pitchFamily="34" charset="-120"/>
              </a:rPr>
              <a:t>以每月訂閱的方式送貨到府；</a:t>
            </a:r>
            <a:r>
              <a:rPr lang="en-US" altLang="zh-TW" sz="1200" spc="-1" dirty="0">
                <a:solidFill>
                  <a:srgbClr val="000000"/>
                </a:solidFill>
                <a:latin typeface="微軟正黑體" panose="020B0604030504040204" pitchFamily="34" charset="-120"/>
                <a:ea typeface="微軟正黑體" panose="020B0604030504040204" pitchFamily="34" charset="-120"/>
              </a:rPr>
              <a:t>3)</a:t>
            </a:r>
            <a:r>
              <a:rPr lang="zh-TW" altLang="en-US" sz="1200" spc="-1" dirty="0">
                <a:solidFill>
                  <a:srgbClr val="000000"/>
                </a:solidFill>
                <a:latin typeface="微軟正黑體" panose="020B0604030504040204" pitchFamily="34" charset="-120"/>
                <a:ea typeface="微軟正黑體" panose="020B0604030504040204" pitchFamily="34" charset="-120"/>
              </a:rPr>
              <a:t>與美國三大藥品福利管理公司當中的兩家達成</a:t>
            </a:r>
            <a:r>
              <a:rPr lang="en-US" altLang="zh-TW" sz="1200" spc="-1" dirty="0" err="1">
                <a:solidFill>
                  <a:srgbClr val="000000"/>
                </a:solidFill>
                <a:latin typeface="微軟正黑體" panose="020B0604030504040204" pitchFamily="34" charset="-120"/>
                <a:ea typeface="微軟正黑體" panose="020B0604030504040204" pitchFamily="34" charset="-120"/>
              </a:rPr>
              <a:t>Foundayo</a:t>
            </a:r>
            <a:r>
              <a:rPr lang="zh-TW" altLang="en-US" sz="1200" spc="-1" dirty="0">
                <a:solidFill>
                  <a:srgbClr val="000000"/>
                </a:solidFill>
                <a:latin typeface="微軟正黑體" panose="020B0604030504040204" pitchFamily="34" charset="-120"/>
                <a:ea typeface="微軟正黑體" panose="020B0604030504040204" pitchFamily="34" charset="-120"/>
              </a:rPr>
              <a:t>的商業保險覆蓋，預計於</a:t>
            </a:r>
            <a:r>
              <a:rPr lang="en-US" altLang="zh-TW" sz="1200" spc="-1" dirty="0">
                <a:solidFill>
                  <a:srgbClr val="000000"/>
                </a:solidFill>
                <a:latin typeface="微軟正黑體" panose="020B0604030504040204" pitchFamily="34" charset="-120"/>
                <a:ea typeface="微軟正黑體" panose="020B0604030504040204" pitchFamily="34" charset="-120"/>
              </a:rPr>
              <a:t>5</a:t>
            </a:r>
            <a:r>
              <a:rPr lang="zh-TW" altLang="en-US" sz="1200" spc="-1" dirty="0">
                <a:solidFill>
                  <a:srgbClr val="000000"/>
                </a:solidFill>
                <a:latin typeface="微軟正黑體" panose="020B0604030504040204" pitchFamily="34" charset="-120"/>
                <a:ea typeface="微軟正黑體" panose="020B0604030504040204" pitchFamily="34" charset="-120"/>
              </a:rPr>
              <a:t>月中生效；</a:t>
            </a:r>
            <a:r>
              <a:rPr lang="en-US" altLang="zh-TW" sz="1200" spc="-1" dirty="0">
                <a:solidFill>
                  <a:srgbClr val="000000"/>
                </a:solidFill>
                <a:latin typeface="微軟正黑體" panose="020B0604030504040204" pitchFamily="34" charset="-120"/>
                <a:ea typeface="微軟正黑體" panose="020B0604030504040204" pitchFamily="34" charset="-120"/>
              </a:rPr>
              <a:t>4)</a:t>
            </a:r>
            <a:r>
              <a:rPr lang="zh-TW" altLang="en-US" sz="1200" spc="-1" dirty="0">
                <a:solidFill>
                  <a:srgbClr val="000000"/>
                </a:solidFill>
                <a:latin typeface="微軟正黑體" panose="020B0604030504040204" pitchFamily="34" charset="-120"/>
                <a:ea typeface="微軟正黑體" panose="020B0604030504040204" pitchFamily="34" charset="-120"/>
              </a:rPr>
              <a:t>在腸泌素市場持續從對手諾和諾德手中搶走大餅，最新美國市占率高達</a:t>
            </a:r>
            <a:r>
              <a:rPr lang="en-US" altLang="zh-TW" sz="1200" spc="-1" dirty="0">
                <a:solidFill>
                  <a:srgbClr val="000000"/>
                </a:solidFill>
                <a:latin typeface="微軟正黑體" panose="020B0604030504040204" pitchFamily="34" charset="-120"/>
                <a:ea typeface="微軟正黑體" panose="020B0604030504040204" pitchFamily="34" charset="-120"/>
              </a:rPr>
              <a:t>60.1% </a:t>
            </a:r>
            <a:r>
              <a:rPr lang="zh-TW" altLang="en-US" sz="1200" spc="-1" dirty="0">
                <a:solidFill>
                  <a:srgbClr val="000000"/>
                </a:solidFill>
                <a:latin typeface="微軟正黑體" panose="020B0604030504040204" pitchFamily="34" charset="-120"/>
                <a:ea typeface="微軟正黑體" panose="020B0604030504040204" pitchFamily="34" charset="-120"/>
              </a:rPr>
              <a:t>。</a:t>
            </a:r>
          </a:p>
          <a:p>
            <a:pPr algn="just" hangingPunct="0">
              <a:lnSpc>
                <a:spcPts val="1600"/>
              </a:lnSpc>
              <a:spcAft>
                <a:spcPts val="300"/>
              </a:spcAft>
            </a:pPr>
            <a:r>
              <a:rPr kumimoji="1" lang="zh-TW" altLang="en-US" sz="1200" b="1" dirty="0">
                <a:latin typeface="Microsoft JhengHei" panose="020B0604030504040204" pitchFamily="34" charset="-120"/>
                <a:ea typeface="Microsoft JhengHei" panose="020B0604030504040204" pitchFamily="34" charset="-120"/>
              </a:rPr>
              <a:t>風險：</a:t>
            </a:r>
            <a:r>
              <a:rPr lang="zh-TW" altLang="en-US" sz="1200" dirty="0">
                <a:latin typeface="微軟正黑體" pitchFamily="34" charset="-120"/>
                <a:ea typeface="微軟正黑體" pitchFamily="34" charset="-120"/>
              </a:rPr>
              <a:t>預計</a:t>
            </a:r>
            <a:r>
              <a:rPr lang="en-US" altLang="zh-TW" sz="1200" dirty="0">
                <a:latin typeface="微軟正黑體" pitchFamily="34" charset="-120"/>
                <a:ea typeface="微軟正黑體" pitchFamily="34" charset="-120"/>
              </a:rPr>
              <a:t>2026</a:t>
            </a:r>
            <a:r>
              <a:rPr lang="zh-TW" altLang="en-US" sz="1200" dirty="0">
                <a:latin typeface="微軟正黑體" pitchFamily="34" charset="-120"/>
                <a:ea typeface="微軟正黑體" pitchFamily="34" charset="-120"/>
              </a:rPr>
              <a:t>全年將會遭遇低至中十位數價格逆風。</a:t>
            </a:r>
            <a:endParaRPr kumimoji="1" lang="en-US" altLang="zh-TW" sz="1200" dirty="0">
              <a:latin typeface="微軟正黑體" pitchFamily="34" charset="-120"/>
              <a:ea typeface="微軟正黑體" pitchFamily="34" charset="-120"/>
            </a:endParaRPr>
          </a:p>
        </p:txBody>
      </p:sp>
      <p:grpSp>
        <p:nvGrpSpPr>
          <p:cNvPr id="10" name="群組 9">
            <a:extLst>
              <a:ext uri="{FF2B5EF4-FFF2-40B4-BE49-F238E27FC236}">
                <a16:creationId xmlns:a16="http://schemas.microsoft.com/office/drawing/2014/main" id="{F33FB89F-F250-80DD-978E-65F41DFCCF79}"/>
              </a:ext>
            </a:extLst>
          </p:cNvPr>
          <p:cNvGrpSpPr/>
          <p:nvPr/>
        </p:nvGrpSpPr>
        <p:grpSpPr>
          <a:xfrm>
            <a:off x="220801" y="4089400"/>
            <a:ext cx="4185352" cy="2168525"/>
            <a:chOff x="363782" y="3063736"/>
            <a:chExt cx="3981570" cy="1486999"/>
          </a:xfrm>
        </p:grpSpPr>
        <p:graphicFrame>
          <p:nvGraphicFramePr>
            <p:cNvPr id="3" name="圖表 2">
              <a:extLst>
                <a:ext uri="{FF2B5EF4-FFF2-40B4-BE49-F238E27FC236}">
                  <a16:creationId xmlns:a16="http://schemas.microsoft.com/office/drawing/2014/main" id="{453A468E-7132-6FFE-7EB8-9C050B76CCBE}"/>
                </a:ext>
              </a:extLst>
            </p:cNvPr>
            <p:cNvGraphicFramePr>
              <a:graphicFrameLocks/>
            </p:cNvGraphicFramePr>
            <p:nvPr>
              <p:extLst>
                <p:ext uri="{D42A27DB-BD31-4B8C-83A1-F6EECF244321}">
                  <p14:modId xmlns:p14="http://schemas.microsoft.com/office/powerpoint/2010/main" val="370178153"/>
                </p:ext>
              </p:extLst>
            </p:nvPr>
          </p:nvGraphicFramePr>
          <p:xfrm>
            <a:off x="363782" y="3063736"/>
            <a:ext cx="3981570" cy="1486999"/>
          </p:xfrm>
          <a:graphic>
            <a:graphicData uri="http://schemas.openxmlformats.org/drawingml/2006/chart">
              <c:chart xmlns:c="http://schemas.openxmlformats.org/drawingml/2006/chart" xmlns:r="http://schemas.openxmlformats.org/officeDocument/2006/relationships" r:id="rId3"/>
            </a:graphicData>
          </a:graphic>
        </p:graphicFrame>
        <p:sp>
          <p:nvSpPr>
            <p:cNvPr id="9" name="文字方塊 8">
              <a:extLst>
                <a:ext uri="{FF2B5EF4-FFF2-40B4-BE49-F238E27FC236}">
                  <a16:creationId xmlns:a16="http://schemas.microsoft.com/office/drawing/2014/main" id="{4A145111-7154-E49F-A10C-66D6E7B24FE1}"/>
                </a:ext>
              </a:extLst>
            </p:cNvPr>
            <p:cNvSpPr txBox="1"/>
            <p:nvPr/>
          </p:nvSpPr>
          <p:spPr>
            <a:xfrm>
              <a:off x="366090" y="3161573"/>
              <a:ext cx="677850" cy="219963"/>
            </a:xfrm>
            <a:prstGeom prst="rect">
              <a:avLst/>
            </a:prstGeom>
            <a:noFill/>
          </p:spPr>
          <p:txBody>
            <a:bodyPr wrap="square" rtlCol="0">
              <a:spAutoFit/>
            </a:bodyPr>
            <a:lstStyle/>
            <a:p>
              <a:r>
                <a:rPr lang="zh-TW" altLang="en-US" sz="900" dirty="0">
                  <a:latin typeface="微軟正黑體" panose="020B0604030504040204" pitchFamily="34" charset="-120"/>
                  <a:ea typeface="微軟正黑體" panose="020B0604030504040204" pitchFamily="34" charset="-120"/>
                </a:rPr>
                <a:t>百萬</a:t>
              </a:r>
              <a:r>
                <a:rPr lang="en-US" altLang="zh-TW" sz="900" dirty="0">
                  <a:latin typeface="微軟正黑體" panose="020B0604030504040204" pitchFamily="34" charset="-120"/>
                  <a:ea typeface="微軟正黑體" panose="020B0604030504040204" pitchFamily="34" charset="-120"/>
                </a:rPr>
                <a:t>USD</a:t>
              </a:r>
              <a:endParaRPr lang="zh-TW" altLang="en-US" sz="900" dirty="0">
                <a:latin typeface="微軟正黑體" panose="020B0604030504040204" pitchFamily="34" charset="-120"/>
                <a:ea typeface="微軟正黑體" panose="020B0604030504040204" pitchFamily="34" charset="-120"/>
              </a:endParaRPr>
            </a:p>
          </p:txBody>
        </p:sp>
      </p:grpSp>
      <p:pic>
        <p:nvPicPr>
          <p:cNvPr id="22" name="圖片 21">
            <a:extLst>
              <a:ext uri="{FF2B5EF4-FFF2-40B4-BE49-F238E27FC236}">
                <a16:creationId xmlns:a16="http://schemas.microsoft.com/office/drawing/2014/main" id="{A2DD3E55-BAC7-0634-2298-0F5A747D2B32}"/>
              </a:ext>
            </a:extLst>
          </p:cNvPr>
          <p:cNvPicPr>
            <a:picLocks noChangeAspect="1"/>
          </p:cNvPicPr>
          <p:nvPr/>
        </p:nvPicPr>
        <p:blipFill>
          <a:blip r:embed="rId4"/>
          <a:stretch>
            <a:fillRect/>
          </a:stretch>
        </p:blipFill>
        <p:spPr>
          <a:xfrm>
            <a:off x="7890306" y="116632"/>
            <a:ext cx="864096" cy="471796"/>
          </a:xfrm>
          <a:prstGeom prst="rect">
            <a:avLst/>
          </a:prstGeom>
        </p:spPr>
      </p:pic>
      <p:graphicFrame>
        <p:nvGraphicFramePr>
          <p:cNvPr id="19" name="圖表 18"/>
          <p:cNvGraphicFramePr/>
          <p:nvPr>
            <p:extLst>
              <p:ext uri="{D42A27DB-BD31-4B8C-83A1-F6EECF244321}">
                <p14:modId xmlns:p14="http://schemas.microsoft.com/office/powerpoint/2010/main" val="82039286"/>
              </p:ext>
            </p:extLst>
          </p:nvPr>
        </p:nvGraphicFramePr>
        <p:xfrm>
          <a:off x="4601738" y="4657724"/>
          <a:ext cx="2192070" cy="164675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4" name="圖表 23"/>
          <p:cNvGraphicFramePr/>
          <p:nvPr>
            <p:extLst>
              <p:ext uri="{D42A27DB-BD31-4B8C-83A1-F6EECF244321}">
                <p14:modId xmlns:p14="http://schemas.microsoft.com/office/powerpoint/2010/main" val="3832154374"/>
              </p:ext>
            </p:extLst>
          </p:nvPr>
        </p:nvGraphicFramePr>
        <p:xfrm>
          <a:off x="6802952" y="4621790"/>
          <a:ext cx="1908208" cy="1648824"/>
        </p:xfrm>
        <a:graphic>
          <a:graphicData uri="http://schemas.openxmlformats.org/drawingml/2006/chart">
            <c:chart xmlns:c="http://schemas.openxmlformats.org/drawingml/2006/chart" xmlns:r="http://schemas.openxmlformats.org/officeDocument/2006/relationships" r:id="rId6"/>
          </a:graphicData>
        </a:graphic>
      </p:graphicFrame>
      <p:sp>
        <p:nvSpPr>
          <p:cNvPr id="25" name="矩形 24">
            <a:extLst>
              <a:ext uri="{FF2B5EF4-FFF2-40B4-BE49-F238E27FC236}">
                <a16:creationId xmlns:a16="http://schemas.microsoft.com/office/drawing/2014/main" id="{705ADE1F-E065-4EC3-B187-F821455018F2}"/>
              </a:ext>
            </a:extLst>
          </p:cNvPr>
          <p:cNvSpPr/>
          <p:nvPr/>
        </p:nvSpPr>
        <p:spPr>
          <a:xfrm>
            <a:off x="395047" y="6535367"/>
            <a:ext cx="7273298" cy="230832"/>
          </a:xfrm>
          <a:prstGeom prst="rect">
            <a:avLst/>
          </a:prstGeom>
        </p:spPr>
        <p:txBody>
          <a:bodyPr wrap="square">
            <a:spAutoFit/>
          </a:bodyPr>
          <a:lstStyle/>
          <a:p>
            <a:pPr>
              <a:buNone/>
            </a:pPr>
            <a:r>
              <a:rPr lang="zh-TW" altLang="en-US" sz="900" dirty="0"/>
              <a:t>資料來源：官網、彭博</a:t>
            </a:r>
          </a:p>
        </p:txBody>
      </p:sp>
      <p:sp>
        <p:nvSpPr>
          <p:cNvPr id="26" name="標題 1">
            <a:extLst>
              <a:ext uri="{FF2B5EF4-FFF2-40B4-BE49-F238E27FC236}">
                <a16:creationId xmlns:a16="http://schemas.microsoft.com/office/drawing/2014/main" id="{60C28753-0A00-4E34-83C6-C4D758C2A7D2}"/>
              </a:ext>
            </a:extLst>
          </p:cNvPr>
          <p:cNvSpPr txBox="1">
            <a:spLocks/>
          </p:cNvSpPr>
          <p:nvPr/>
        </p:nvSpPr>
        <p:spPr bwMode="auto">
          <a:xfrm>
            <a:off x="229944" y="161162"/>
            <a:ext cx="776452" cy="633413"/>
          </a:xfrm>
          <a:prstGeom prst="rect">
            <a:avLst/>
          </a:prstGeom>
          <a:solidFill>
            <a:srgbClr val="C00000"/>
          </a:solidFill>
          <a:ln>
            <a:noFill/>
          </a:ln>
        </p:spPr>
        <p:txBody>
          <a:bodyPr anchor="ctr">
            <a:noAutofit/>
          </a:bodyPr>
          <a:lstStyle>
            <a:lvl1pPr algn="l" rtl="0" eaLnBrk="0" fontAlgn="base" hangingPunct="0">
              <a:spcBef>
                <a:spcPct val="0"/>
              </a:spcBef>
              <a:spcAft>
                <a:spcPct val="0"/>
              </a:spcAft>
              <a:defRPr kumimoji="1" sz="3000" b="1">
                <a:solidFill>
                  <a:schemeClr val="tx2"/>
                </a:solidFill>
                <a:latin typeface="+mj-lt"/>
                <a:ea typeface="+mj-ea"/>
                <a:cs typeface="+mj-cs"/>
              </a:defRPr>
            </a:lvl1pPr>
            <a:lvl2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algn="l" rtl="0" fontAlgn="base">
              <a:spcBef>
                <a:spcPct val="0"/>
              </a:spcBef>
              <a:spcAft>
                <a:spcPct val="0"/>
              </a:spcAft>
              <a:defRPr kumimoji="1" sz="3000" b="1">
                <a:solidFill>
                  <a:schemeClr val="tx2"/>
                </a:solidFill>
                <a:latin typeface="標楷體" pitchFamily="65" charset="-120"/>
                <a:ea typeface="標楷體" pitchFamily="65" charset="-120"/>
              </a:defRPr>
            </a:lvl6pPr>
            <a:lvl7pPr marL="914400" algn="l" rtl="0" fontAlgn="base">
              <a:spcBef>
                <a:spcPct val="0"/>
              </a:spcBef>
              <a:spcAft>
                <a:spcPct val="0"/>
              </a:spcAft>
              <a:defRPr kumimoji="1" sz="3000" b="1">
                <a:solidFill>
                  <a:schemeClr val="tx2"/>
                </a:solidFill>
                <a:latin typeface="標楷體" pitchFamily="65" charset="-120"/>
                <a:ea typeface="標楷體" pitchFamily="65" charset="-120"/>
              </a:defRPr>
            </a:lvl7pPr>
            <a:lvl8pPr marL="1371600" algn="l" rtl="0" fontAlgn="base">
              <a:spcBef>
                <a:spcPct val="0"/>
              </a:spcBef>
              <a:spcAft>
                <a:spcPct val="0"/>
              </a:spcAft>
              <a:defRPr kumimoji="1" sz="3000" b="1">
                <a:solidFill>
                  <a:schemeClr val="tx2"/>
                </a:solidFill>
                <a:latin typeface="標楷體" pitchFamily="65" charset="-120"/>
                <a:ea typeface="標楷體" pitchFamily="65" charset="-120"/>
              </a:defRPr>
            </a:lvl8pPr>
            <a:lvl9pPr marL="1828800" algn="l" rtl="0" fontAlgn="base">
              <a:spcBef>
                <a:spcPct val="0"/>
              </a:spcBef>
              <a:spcAft>
                <a:spcPct val="0"/>
              </a:spcAft>
              <a:defRPr kumimoji="1" sz="3000" b="1">
                <a:solidFill>
                  <a:schemeClr val="tx2"/>
                </a:solidFill>
                <a:latin typeface="標楷體" pitchFamily="65" charset="-120"/>
                <a:ea typeface="標楷體" pitchFamily="65" charset="-120"/>
              </a:defRPr>
            </a:lvl9pPr>
          </a:lstStyle>
          <a:p>
            <a:pPr algn="ctr">
              <a:defRPr/>
            </a:pPr>
            <a:r>
              <a:rPr lang="zh-TW" altLang="en-US" sz="2000" kern="0" dirty="0">
                <a:solidFill>
                  <a:schemeClr val="bg1"/>
                </a:solidFill>
              </a:rPr>
              <a:t>財務表現</a:t>
            </a:r>
          </a:p>
        </p:txBody>
      </p:sp>
      <p:sp>
        <p:nvSpPr>
          <p:cNvPr id="27" name="標題 1">
            <a:extLst>
              <a:ext uri="{FF2B5EF4-FFF2-40B4-BE49-F238E27FC236}">
                <a16:creationId xmlns:a16="http://schemas.microsoft.com/office/drawing/2014/main" id="{8A190DF9-3093-4C79-BE60-4ED0D15A2C3B}"/>
              </a:ext>
            </a:extLst>
          </p:cNvPr>
          <p:cNvSpPr txBox="1">
            <a:spLocks noChangeArrowheads="1"/>
          </p:cNvSpPr>
          <p:nvPr/>
        </p:nvSpPr>
        <p:spPr>
          <a:xfrm>
            <a:off x="1053599" y="142648"/>
            <a:ext cx="6254705" cy="633413"/>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lnSpc>
                <a:spcPts val="2500"/>
              </a:lnSpc>
              <a:tabLst>
                <a:tab pos="5473700" algn="l"/>
              </a:tabLst>
              <a:defRPr/>
            </a:pPr>
            <a:r>
              <a:rPr lang="zh-TW" altLang="en-US" sz="2400" dirty="0"/>
              <a:t>減肥藥、糖尿病藥物挹注營收獲利強勁增長</a:t>
            </a:r>
          </a:p>
        </p:txBody>
      </p:sp>
    </p:spTree>
    <p:extLst>
      <p:ext uri="{BB962C8B-B14F-4D97-AF65-F5344CB8AC3E}">
        <p14:creationId xmlns:p14="http://schemas.microsoft.com/office/powerpoint/2010/main" val="3139647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圓角矩形 33"/>
          <p:cNvSpPr/>
          <p:nvPr/>
        </p:nvSpPr>
        <p:spPr>
          <a:xfrm>
            <a:off x="7572730" y="1593850"/>
            <a:ext cx="1319750" cy="2043839"/>
          </a:xfrm>
          <a:prstGeom prst="roundRect">
            <a:avLst>
              <a:gd name="adj" fmla="val 6279"/>
            </a:avLst>
          </a:prstGeom>
          <a:solidFill>
            <a:schemeClr val="bg1">
              <a:lumMod val="95000"/>
            </a:schemeClr>
          </a:solidFill>
          <a:ln>
            <a:noFill/>
          </a:ln>
          <a:effectLst>
            <a:outerShdw blurRad="50800"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57" name="圖表 56"/>
          <p:cNvGraphicFramePr/>
          <p:nvPr>
            <p:extLst>
              <p:ext uri="{D42A27DB-BD31-4B8C-83A1-F6EECF244321}">
                <p14:modId xmlns:p14="http://schemas.microsoft.com/office/powerpoint/2010/main" val="3065049679"/>
              </p:ext>
            </p:extLst>
          </p:nvPr>
        </p:nvGraphicFramePr>
        <p:xfrm>
          <a:off x="4772025" y="1244600"/>
          <a:ext cx="4222199" cy="2378134"/>
        </p:xfrm>
        <a:graphic>
          <a:graphicData uri="http://schemas.openxmlformats.org/drawingml/2006/chart">
            <c:chart xmlns:c="http://schemas.openxmlformats.org/drawingml/2006/chart" xmlns:r="http://schemas.openxmlformats.org/officeDocument/2006/relationships" r:id="rId3"/>
          </a:graphicData>
        </a:graphic>
      </p:graphicFrame>
      <p:sp>
        <p:nvSpPr>
          <p:cNvPr id="17" name="矩形 16"/>
          <p:cNvSpPr/>
          <p:nvPr/>
        </p:nvSpPr>
        <p:spPr>
          <a:xfrm>
            <a:off x="7740352" y="188640"/>
            <a:ext cx="1253872"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圓角矩形 29">
            <a:extLst>
              <a:ext uri="{FF2B5EF4-FFF2-40B4-BE49-F238E27FC236}">
                <a16:creationId xmlns:a16="http://schemas.microsoft.com/office/drawing/2014/main" id="{6373E1F3-4EED-4FCA-BB27-DF4DDB91702B}"/>
              </a:ext>
            </a:extLst>
          </p:cNvPr>
          <p:cNvSpPr/>
          <p:nvPr/>
        </p:nvSpPr>
        <p:spPr>
          <a:xfrm>
            <a:off x="4788025" y="901697"/>
            <a:ext cx="4206200"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微軟正黑體" panose="020B0604030504040204" pitchFamily="34" charset="-120"/>
                <a:ea typeface="微軟正黑體" panose="020B0604030504040204" pitchFamily="34" charset="-120"/>
              </a:rPr>
              <a:t>彭博顯示市場預期禮來槓桿倍數逐漸下降</a:t>
            </a:r>
          </a:p>
        </p:txBody>
      </p:sp>
      <p:sp>
        <p:nvSpPr>
          <p:cNvPr id="59" name="圓角矩形 29">
            <a:extLst>
              <a:ext uri="{FF2B5EF4-FFF2-40B4-BE49-F238E27FC236}">
                <a16:creationId xmlns:a16="http://schemas.microsoft.com/office/drawing/2014/main" id="{6373E1F3-4EED-4FCA-BB27-DF4DDB91702B}"/>
              </a:ext>
            </a:extLst>
          </p:cNvPr>
          <p:cNvSpPr/>
          <p:nvPr/>
        </p:nvSpPr>
        <p:spPr>
          <a:xfrm>
            <a:off x="4788024" y="3717032"/>
            <a:ext cx="4237367"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微軟正黑體" panose="020B0604030504040204" pitchFamily="34" charset="-120"/>
                <a:ea typeface="微軟正黑體" panose="020B0604030504040204" pitchFamily="34" charset="-120"/>
              </a:rPr>
              <a:t>預期自由現金流及營收強勁成長</a:t>
            </a:r>
          </a:p>
        </p:txBody>
      </p:sp>
      <p:sp>
        <p:nvSpPr>
          <p:cNvPr id="61" name="文字方塊 60"/>
          <p:cNvSpPr txBox="1"/>
          <p:nvPr/>
        </p:nvSpPr>
        <p:spPr>
          <a:xfrm>
            <a:off x="4788024" y="4070180"/>
            <a:ext cx="786897" cy="246221"/>
          </a:xfrm>
          <a:prstGeom prst="rect">
            <a:avLst/>
          </a:prstGeom>
          <a:noFill/>
        </p:spPr>
        <p:txBody>
          <a:bodyPr wrap="square" rtlCol="0">
            <a:spAutoFit/>
          </a:bodyPr>
          <a:lstStyle/>
          <a:p>
            <a:r>
              <a:rPr lang="en-US" altLang="zh-TW" sz="1000" dirty="0">
                <a:latin typeface="微軟正黑體" panose="020B0604030504040204" pitchFamily="34" charset="-120"/>
                <a:ea typeface="微軟正黑體" panose="020B0604030504040204" pitchFamily="34" charset="-120"/>
              </a:rPr>
              <a:t>(</a:t>
            </a:r>
            <a:r>
              <a:rPr lang="zh-TW" altLang="en-US" sz="1000" dirty="0">
                <a:latin typeface="微軟正黑體" panose="020B0604030504040204" pitchFamily="34" charset="-120"/>
                <a:ea typeface="微軟正黑體" panose="020B0604030504040204" pitchFamily="34" charset="-120"/>
              </a:rPr>
              <a:t>百萬</a:t>
            </a:r>
            <a:r>
              <a:rPr lang="en-US" altLang="zh-TW" sz="1000" dirty="0">
                <a:latin typeface="微軟正黑體" panose="020B0604030504040204" pitchFamily="34" charset="-120"/>
                <a:ea typeface="微軟正黑體" panose="020B0604030504040204" pitchFamily="34" charset="-120"/>
              </a:rPr>
              <a:t>USD)</a:t>
            </a:r>
            <a:endParaRPr lang="zh-TW" altLang="en-US" sz="1000" dirty="0">
              <a:latin typeface="微軟正黑體" panose="020B0604030504040204" pitchFamily="34" charset="-120"/>
              <a:ea typeface="微軟正黑體" panose="020B0604030504040204" pitchFamily="34" charset="-120"/>
            </a:endParaRPr>
          </a:p>
        </p:txBody>
      </p:sp>
      <p:grpSp>
        <p:nvGrpSpPr>
          <p:cNvPr id="2" name="群組 1"/>
          <p:cNvGrpSpPr/>
          <p:nvPr/>
        </p:nvGrpSpPr>
        <p:grpSpPr>
          <a:xfrm>
            <a:off x="1003530" y="-2746311"/>
            <a:ext cx="4829497" cy="1571352"/>
            <a:chOff x="323527" y="4750471"/>
            <a:chExt cx="4829497" cy="1571352"/>
          </a:xfrm>
        </p:grpSpPr>
        <p:sp>
          <p:nvSpPr>
            <p:cNvPr id="62" name="圓角矩形 61"/>
            <p:cNvSpPr/>
            <p:nvPr/>
          </p:nvSpPr>
          <p:spPr>
            <a:xfrm>
              <a:off x="565264" y="4824463"/>
              <a:ext cx="1293416" cy="293732"/>
            </a:xfrm>
            <a:prstGeom prst="roundRect">
              <a:avLst>
                <a:gd name="adj" fmla="val 50000"/>
              </a:avLst>
            </a:prstGeom>
            <a:noFill/>
            <a:ln w="38100" cmpd="sng">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ts val="1700"/>
                </a:lnSpc>
              </a:pPr>
              <a:r>
                <a:rPr lang="zh-TW" altLang="en-US" sz="1600" b="1" dirty="0">
                  <a:solidFill>
                    <a:schemeClr val="accent6">
                      <a:lumMod val="75000"/>
                    </a:schemeClr>
                  </a:solidFill>
                  <a:latin typeface="微軟正黑體" panose="020B0604030504040204" pitchFamily="34" charset="-120"/>
                  <a:ea typeface="微軟正黑體" panose="020B0604030504040204" pitchFamily="34" charset="-120"/>
                </a:rPr>
                <a:t>信用優勢</a:t>
              </a:r>
            </a:p>
          </p:txBody>
        </p:sp>
        <p:pic>
          <p:nvPicPr>
            <p:cNvPr id="63" name="Picture 3">
              <a:extLst>
                <a:ext uri="{FF2B5EF4-FFF2-40B4-BE49-F238E27FC236}">
                  <a16:creationId xmlns:a16="http://schemas.microsoft.com/office/drawing/2014/main" id="{44A6FC6A-7F25-4C49-99D8-E9B21641B86F}"/>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0" b="100000" l="0" r="100000"/>
                      </a14:imgEffect>
                    </a14:imgLayer>
                  </a14:imgProps>
                </a:ext>
                <a:ext uri="{28A0092B-C50C-407E-A947-70E740481C1C}">
                  <a14:useLocalDpi xmlns:a14="http://schemas.microsoft.com/office/drawing/2010/main" val="0"/>
                </a:ext>
              </a:extLst>
            </a:blip>
            <a:srcRect/>
            <a:stretch>
              <a:fillRect/>
            </a:stretch>
          </p:blipFill>
          <p:spPr bwMode="auto">
            <a:xfrm>
              <a:off x="375660" y="4750471"/>
              <a:ext cx="394701" cy="407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4" name="圓角矩形 63"/>
            <p:cNvSpPr/>
            <p:nvPr/>
          </p:nvSpPr>
          <p:spPr>
            <a:xfrm>
              <a:off x="3001509" y="4824463"/>
              <a:ext cx="1293416" cy="293732"/>
            </a:xfrm>
            <a:prstGeom prst="roundRect">
              <a:avLst>
                <a:gd name="adj" fmla="val 50000"/>
              </a:avLst>
            </a:prstGeom>
            <a:noFill/>
            <a:ln w="38100" cmpd="sng">
              <a:solidFill>
                <a:srgbClr val="0085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ts val="1700"/>
                </a:lnSpc>
              </a:pPr>
              <a:r>
                <a:rPr lang="zh-TW" altLang="en-US" sz="1600" b="1" dirty="0">
                  <a:solidFill>
                    <a:srgbClr val="008560"/>
                  </a:solidFill>
                  <a:latin typeface="微軟正黑體" panose="020B0604030504040204" pitchFamily="34" charset="-120"/>
                  <a:ea typeface="微軟正黑體" panose="020B0604030504040204" pitchFamily="34" charset="-120"/>
                </a:rPr>
                <a:t>信用劣勢</a:t>
              </a:r>
            </a:p>
          </p:txBody>
        </p:sp>
        <p:pic>
          <p:nvPicPr>
            <p:cNvPr id="65" name="Picture 7">
              <a:extLst>
                <a:ext uri="{FF2B5EF4-FFF2-40B4-BE49-F238E27FC236}">
                  <a16:creationId xmlns:a16="http://schemas.microsoft.com/office/drawing/2014/main" id="{C881E414-3B29-4B26-8F04-1F1AF0413A47}"/>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0" b="100000" l="0" r="100000">
                          <a14:foregroundMark x1="7048" y1="58150" x2="17621" y2="56094"/>
                          <a14:foregroundMark x1="13656" y1="68135" x2="25257" y2="65198"/>
                          <a14:foregroundMark x1="18502" y1="79148" x2="39648" y2="75918"/>
                        </a14:backgroundRemoval>
                      </a14:imgEffect>
                    </a14:imgLayer>
                  </a14:imgProps>
                </a:ext>
                <a:ext uri="{28A0092B-C50C-407E-A947-70E740481C1C}">
                  <a14:useLocalDpi xmlns:a14="http://schemas.microsoft.com/office/drawing/2010/main" val="0"/>
                </a:ext>
              </a:extLst>
            </a:blip>
            <a:srcRect/>
            <a:stretch>
              <a:fillRect/>
            </a:stretch>
          </p:blipFill>
          <p:spPr bwMode="auto">
            <a:xfrm>
              <a:off x="2771800" y="4750471"/>
              <a:ext cx="404313" cy="4172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6" name="矩形 65"/>
            <p:cNvSpPr/>
            <p:nvPr/>
          </p:nvSpPr>
          <p:spPr>
            <a:xfrm>
              <a:off x="2703213" y="5152272"/>
              <a:ext cx="2449811" cy="1157048"/>
            </a:xfrm>
            <a:prstGeom prst="rect">
              <a:avLst/>
            </a:prstGeom>
          </p:spPr>
          <p:txBody>
            <a:bodyPr wrap="square">
              <a:spAutoFit/>
            </a:bodyPr>
            <a:lstStyle/>
            <a:p>
              <a:pPr marL="180975" indent="-180975" algn="just">
                <a:lnSpc>
                  <a:spcPts val="1400"/>
                </a:lnSpc>
                <a:buFont typeface="Wingdings" panose="05000000000000000000" pitchFamily="2" charset="2"/>
                <a:buChar char="p"/>
              </a:pPr>
              <a:r>
                <a:rPr lang="zh-TW" altLang="en-US" sz="1100" b="1" dirty="0">
                  <a:solidFill>
                    <a:srgbClr val="008560"/>
                  </a:solidFill>
                  <a:latin typeface="微軟正黑體" panose="020B0604030504040204" pitchFamily="34" charset="-120"/>
                  <a:ea typeface="微軟正黑體" panose="020B0604030504040204" pitchFamily="34" charset="-120"/>
                </a:rPr>
                <a:t>總槓桿率有所上升，然預期於</a:t>
              </a:r>
              <a:r>
                <a:rPr lang="en-US" altLang="zh-TW" sz="1100" b="1" dirty="0">
                  <a:solidFill>
                    <a:srgbClr val="008560"/>
                  </a:solidFill>
                  <a:latin typeface="微軟正黑體" panose="020B0604030504040204" pitchFamily="34" charset="-120"/>
                  <a:ea typeface="微軟正黑體" panose="020B0604030504040204" pitchFamily="34" charset="-120"/>
                </a:rPr>
                <a:t>FY25</a:t>
              </a:r>
              <a:r>
                <a:rPr lang="zh-TW" altLang="en-US" sz="1100" b="1" dirty="0">
                  <a:solidFill>
                    <a:srgbClr val="008560"/>
                  </a:solidFill>
                  <a:latin typeface="微軟正黑體" panose="020B0604030504040204" pitchFamily="34" charset="-120"/>
                  <a:ea typeface="微軟正黑體" panose="020B0604030504040204" pitchFamily="34" charset="-120"/>
                </a:rPr>
                <a:t>降至</a:t>
              </a:r>
              <a:r>
                <a:rPr lang="en-US" altLang="zh-TW" sz="1100" b="1" dirty="0">
                  <a:solidFill>
                    <a:srgbClr val="008560"/>
                  </a:solidFill>
                  <a:latin typeface="微軟正黑體" panose="020B0604030504040204" pitchFamily="34" charset="-120"/>
                  <a:ea typeface="微軟正黑體" panose="020B0604030504040204" pitchFamily="34" charset="-120"/>
                </a:rPr>
                <a:t>3.5</a:t>
              </a:r>
              <a:r>
                <a:rPr lang="zh-TW" altLang="en-US" sz="1100" b="1" dirty="0">
                  <a:solidFill>
                    <a:srgbClr val="008560"/>
                  </a:solidFill>
                  <a:latin typeface="微軟正黑體" panose="020B0604030504040204" pitchFamily="34" charset="-120"/>
                  <a:ea typeface="微軟正黑體" panose="020B0604030504040204" pitchFamily="34" charset="-120"/>
                </a:rPr>
                <a:t>倍以下。</a:t>
              </a:r>
              <a:endParaRPr lang="en-US" altLang="zh-TW" sz="1100" b="1" dirty="0">
                <a:solidFill>
                  <a:srgbClr val="008560"/>
                </a:solidFill>
                <a:latin typeface="微軟正黑體" panose="020B0604030504040204" pitchFamily="34" charset="-120"/>
                <a:ea typeface="微軟正黑體" panose="020B0604030504040204" pitchFamily="34" charset="-120"/>
              </a:endParaRPr>
            </a:p>
            <a:p>
              <a:pPr marL="180975" indent="-180975" algn="just">
                <a:lnSpc>
                  <a:spcPts val="1400"/>
                </a:lnSpc>
                <a:buFont typeface="Wingdings" panose="05000000000000000000" pitchFamily="2" charset="2"/>
                <a:buChar char="p"/>
              </a:pPr>
              <a:r>
                <a:rPr lang="zh-TW" altLang="en-US" sz="1100" b="1" dirty="0">
                  <a:solidFill>
                    <a:srgbClr val="008560"/>
                  </a:solidFill>
                  <a:latin typeface="微軟正黑體" panose="020B0604030504040204" pitchFamily="34" charset="-120"/>
                  <a:ea typeface="微軟正黑體" panose="020B0604030504040204" pitchFamily="34" charset="-120"/>
                </a:rPr>
                <a:t>細分市場競爭激烈。</a:t>
              </a:r>
              <a:endParaRPr lang="en-US" altLang="zh-TW" sz="1100" b="1" dirty="0">
                <a:solidFill>
                  <a:srgbClr val="008560"/>
                </a:solidFill>
                <a:latin typeface="微軟正黑體" panose="020B0604030504040204" pitchFamily="34" charset="-120"/>
                <a:ea typeface="微軟正黑體" panose="020B0604030504040204" pitchFamily="34" charset="-120"/>
              </a:endParaRPr>
            </a:p>
            <a:p>
              <a:pPr marL="180975" indent="-180975" algn="just">
                <a:lnSpc>
                  <a:spcPts val="1400"/>
                </a:lnSpc>
                <a:buFont typeface="Wingdings" panose="05000000000000000000" pitchFamily="2" charset="2"/>
                <a:buChar char="p"/>
              </a:pPr>
              <a:r>
                <a:rPr lang="zh-TW" altLang="en-US" sz="1100" b="1" dirty="0">
                  <a:solidFill>
                    <a:srgbClr val="008560"/>
                  </a:solidFill>
                  <a:latin typeface="微軟正黑體" panose="020B0604030504040204" pitchFamily="34" charset="-120"/>
                  <a:ea typeface="微軟正黑體" panose="020B0604030504040204" pitchFamily="34" charset="-120"/>
                </a:rPr>
                <a:t>收入大部分來自成熟領域。</a:t>
              </a:r>
              <a:endParaRPr lang="en-US" altLang="zh-TW" sz="1100" b="1" dirty="0">
                <a:solidFill>
                  <a:srgbClr val="008560"/>
                </a:solidFill>
                <a:latin typeface="微軟正黑體" panose="020B0604030504040204" pitchFamily="34" charset="-120"/>
                <a:ea typeface="微軟正黑體" panose="020B0604030504040204" pitchFamily="34" charset="-120"/>
              </a:endParaRPr>
            </a:p>
            <a:p>
              <a:pPr marL="180975" indent="-180975" algn="just">
                <a:lnSpc>
                  <a:spcPts val="1400"/>
                </a:lnSpc>
                <a:buFont typeface="Wingdings" panose="05000000000000000000" pitchFamily="2" charset="2"/>
                <a:buChar char="p"/>
              </a:pPr>
              <a:r>
                <a:rPr lang="zh-TW" altLang="en-US" sz="1100" b="1" dirty="0">
                  <a:solidFill>
                    <a:srgbClr val="008560"/>
                  </a:solidFill>
                  <a:latin typeface="微軟正黑體" panose="020B0604030504040204" pitchFamily="34" charset="-120"/>
                  <a:ea typeface="微軟正黑體" panose="020B0604030504040204" pitchFamily="34" charset="-120"/>
                </a:rPr>
                <a:t>股東回報資金的債務資金增加，與收購</a:t>
              </a:r>
              <a:r>
                <a:rPr lang="en-US" altLang="zh-TW" sz="1100" b="1" dirty="0">
                  <a:solidFill>
                    <a:srgbClr val="008560"/>
                  </a:solidFill>
                  <a:latin typeface="微軟正黑體" panose="020B0604030504040204" pitchFamily="34" charset="-120"/>
                  <a:ea typeface="微軟正黑體" panose="020B0604030504040204" pitchFamily="34" charset="-120"/>
                </a:rPr>
                <a:t>Cerner</a:t>
              </a:r>
              <a:r>
                <a:rPr lang="zh-TW" altLang="en-US" sz="1100" b="1" dirty="0">
                  <a:solidFill>
                    <a:srgbClr val="008560"/>
                  </a:solidFill>
                  <a:latin typeface="微軟正黑體" panose="020B0604030504040204" pitchFamily="34" charset="-120"/>
                  <a:ea typeface="微軟正黑體" panose="020B0604030504040204" pitchFamily="34" charset="-120"/>
                </a:rPr>
                <a:t>削弱信用指標。</a:t>
              </a:r>
              <a:endParaRPr lang="en-US" altLang="zh-TW" sz="1100" b="1" dirty="0">
                <a:solidFill>
                  <a:srgbClr val="008560"/>
                </a:solidFill>
                <a:latin typeface="微軟正黑體" panose="020B0604030504040204" pitchFamily="34" charset="-120"/>
                <a:ea typeface="微軟正黑體" panose="020B0604030504040204" pitchFamily="34" charset="-120"/>
              </a:endParaRPr>
            </a:p>
          </p:txBody>
        </p:sp>
        <p:sp>
          <p:nvSpPr>
            <p:cNvPr id="67" name="矩形 66"/>
            <p:cNvSpPr/>
            <p:nvPr/>
          </p:nvSpPr>
          <p:spPr>
            <a:xfrm>
              <a:off x="323527" y="5152272"/>
              <a:ext cx="2372377" cy="1169551"/>
            </a:xfrm>
            <a:prstGeom prst="rect">
              <a:avLst/>
            </a:prstGeom>
          </p:spPr>
          <p:txBody>
            <a:bodyPr wrap="square">
              <a:spAutoFit/>
            </a:bodyPr>
            <a:lstStyle/>
            <a:p>
              <a:pPr marL="180975" indent="-180975" algn="just">
                <a:lnSpc>
                  <a:spcPts val="1400"/>
                </a:lnSpc>
                <a:buFont typeface="Wingdings" panose="05000000000000000000" pitchFamily="2" charset="2"/>
                <a:buChar char="p"/>
              </a:pPr>
              <a:r>
                <a:rPr lang="zh-TW" altLang="en-US" sz="1100" b="1" dirty="0">
                  <a:solidFill>
                    <a:schemeClr val="accent6">
                      <a:lumMod val="75000"/>
                    </a:schemeClr>
                  </a:solidFill>
                  <a:latin typeface="微軟正黑體" panose="020B0604030504040204" pitchFamily="34" charset="-120"/>
                  <a:ea typeface="微軟正黑體" panose="020B0604030504040204" pitchFamily="34" charset="-120"/>
                </a:rPr>
                <a:t>規模與安裝基數龐大，涵蓋應用軟體、基礎架構與硬體的廣泛技術組合。</a:t>
              </a:r>
              <a:endParaRPr lang="en-US" altLang="zh-TW" sz="1100" b="1" dirty="0">
                <a:solidFill>
                  <a:schemeClr val="accent6">
                    <a:lumMod val="75000"/>
                  </a:schemeClr>
                </a:solidFill>
                <a:latin typeface="微軟正黑體" panose="020B0604030504040204" pitchFamily="34" charset="-120"/>
                <a:ea typeface="微軟正黑體" panose="020B0604030504040204" pitchFamily="34" charset="-120"/>
              </a:endParaRPr>
            </a:p>
            <a:p>
              <a:pPr marL="180975" indent="-180975" algn="just">
                <a:lnSpc>
                  <a:spcPts val="1400"/>
                </a:lnSpc>
                <a:buFont typeface="Wingdings" panose="05000000000000000000" pitchFamily="2" charset="2"/>
                <a:buChar char="p"/>
              </a:pPr>
              <a:r>
                <a:rPr lang="zh-TW" altLang="en-US" sz="1100" b="1" dirty="0">
                  <a:solidFill>
                    <a:schemeClr val="accent6">
                      <a:lumMod val="75000"/>
                    </a:schemeClr>
                  </a:solidFill>
                  <a:latin typeface="微軟正黑體" panose="020B0604030504040204" pitchFamily="34" charset="-120"/>
                  <a:ea typeface="微軟正黑體" panose="020B0604030504040204" pitchFamily="34" charset="-120"/>
                </a:rPr>
                <a:t>雲端業務強增與管理層優先考慮去槓桿的承諾。</a:t>
              </a:r>
              <a:endParaRPr lang="en-US" altLang="zh-TW" sz="1100" b="1" dirty="0">
                <a:solidFill>
                  <a:schemeClr val="accent6">
                    <a:lumMod val="75000"/>
                  </a:schemeClr>
                </a:solidFill>
                <a:latin typeface="微軟正黑體" panose="020B0604030504040204" pitchFamily="34" charset="-120"/>
                <a:ea typeface="微軟正黑體" panose="020B0604030504040204" pitchFamily="34" charset="-120"/>
              </a:endParaRPr>
            </a:p>
            <a:p>
              <a:pPr marL="180975" indent="-180975" algn="just">
                <a:lnSpc>
                  <a:spcPts val="1400"/>
                </a:lnSpc>
                <a:buFont typeface="Wingdings" panose="05000000000000000000" pitchFamily="2" charset="2"/>
                <a:buChar char="p"/>
              </a:pPr>
              <a:r>
                <a:rPr lang="zh-TW" altLang="en-US" sz="1100" b="1" dirty="0">
                  <a:solidFill>
                    <a:schemeClr val="accent6">
                      <a:lumMod val="75000"/>
                    </a:schemeClr>
                  </a:solidFill>
                  <a:latin typeface="微軟正黑體" panose="020B0604030504040204" pitchFamily="34" charset="-120"/>
                  <a:ea typeface="微軟正黑體" panose="020B0604030504040204" pitchFamily="34" charset="-120"/>
                </a:rPr>
                <a:t>大量的積壓合約收入與獲利能力。</a:t>
              </a:r>
            </a:p>
          </p:txBody>
        </p:sp>
      </p:grpSp>
      <p:sp>
        <p:nvSpPr>
          <p:cNvPr id="37" name="圓角矩形 36"/>
          <p:cNvSpPr/>
          <p:nvPr/>
        </p:nvSpPr>
        <p:spPr>
          <a:xfrm>
            <a:off x="7572730" y="4352948"/>
            <a:ext cx="1319750" cy="1889724"/>
          </a:xfrm>
          <a:prstGeom prst="roundRect">
            <a:avLst>
              <a:gd name="adj" fmla="val 6279"/>
            </a:avLst>
          </a:prstGeom>
          <a:solidFill>
            <a:schemeClr val="bg1">
              <a:lumMod val="95000"/>
            </a:schemeClr>
          </a:solidFill>
          <a:ln>
            <a:noFill/>
          </a:ln>
          <a:effectLst>
            <a:outerShdw blurRad="50800"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60" name="圖表 59"/>
          <p:cNvGraphicFramePr/>
          <p:nvPr>
            <p:extLst>
              <p:ext uri="{D42A27DB-BD31-4B8C-83A1-F6EECF244321}">
                <p14:modId xmlns:p14="http://schemas.microsoft.com/office/powerpoint/2010/main" val="4168550734"/>
              </p:ext>
            </p:extLst>
          </p:nvPr>
        </p:nvGraphicFramePr>
        <p:xfrm>
          <a:off x="4788025" y="4066479"/>
          <a:ext cx="4206200" cy="2207023"/>
        </p:xfrm>
        <a:graphic>
          <a:graphicData uri="http://schemas.openxmlformats.org/drawingml/2006/chart">
            <c:chart xmlns:c="http://schemas.openxmlformats.org/drawingml/2006/chart" xmlns:r="http://schemas.openxmlformats.org/officeDocument/2006/relationships" r:id="rId8"/>
          </a:graphicData>
        </a:graphic>
      </p:graphicFrame>
      <p:pic>
        <p:nvPicPr>
          <p:cNvPr id="28" name="圖片 27">
            <a:extLst>
              <a:ext uri="{FF2B5EF4-FFF2-40B4-BE49-F238E27FC236}">
                <a16:creationId xmlns:a16="http://schemas.microsoft.com/office/drawing/2014/main" id="{A2DD3E55-BAC7-0634-2298-0F5A747D2B32}"/>
              </a:ext>
            </a:extLst>
          </p:cNvPr>
          <p:cNvPicPr>
            <a:picLocks noChangeAspect="1"/>
          </p:cNvPicPr>
          <p:nvPr/>
        </p:nvPicPr>
        <p:blipFill>
          <a:blip r:embed="rId9"/>
          <a:stretch>
            <a:fillRect/>
          </a:stretch>
        </p:blipFill>
        <p:spPr>
          <a:xfrm>
            <a:off x="7890306" y="116632"/>
            <a:ext cx="864096" cy="471796"/>
          </a:xfrm>
          <a:prstGeom prst="rect">
            <a:avLst/>
          </a:prstGeom>
        </p:spPr>
      </p:pic>
      <p:graphicFrame>
        <p:nvGraphicFramePr>
          <p:cNvPr id="40" name="表格 39">
            <a:extLst>
              <a:ext uri="{FF2B5EF4-FFF2-40B4-BE49-F238E27FC236}">
                <a16:creationId xmlns:a16="http://schemas.microsoft.com/office/drawing/2014/main" id="{BF6AE2F1-F8A6-DE99-0363-6203097DDA42}"/>
              </a:ext>
            </a:extLst>
          </p:cNvPr>
          <p:cNvGraphicFramePr>
            <a:graphicFrameLocks noGrp="1"/>
          </p:cNvGraphicFramePr>
          <p:nvPr>
            <p:extLst>
              <p:ext uri="{D42A27DB-BD31-4B8C-83A1-F6EECF244321}">
                <p14:modId xmlns:p14="http://schemas.microsoft.com/office/powerpoint/2010/main" val="4000689928"/>
              </p:ext>
            </p:extLst>
          </p:nvPr>
        </p:nvGraphicFramePr>
        <p:xfrm>
          <a:off x="241299" y="901697"/>
          <a:ext cx="4474716" cy="5424758"/>
        </p:xfrm>
        <a:graphic>
          <a:graphicData uri="http://schemas.openxmlformats.org/drawingml/2006/table">
            <a:tbl>
              <a:tblPr firstRow="1" bandRow="1"/>
              <a:tblGrid>
                <a:gridCol w="1235186">
                  <a:extLst>
                    <a:ext uri="{9D8B030D-6E8A-4147-A177-3AD203B41FA5}">
                      <a16:colId xmlns:a16="http://schemas.microsoft.com/office/drawing/2014/main" val="20000"/>
                    </a:ext>
                  </a:extLst>
                </a:gridCol>
                <a:gridCol w="1103200">
                  <a:extLst>
                    <a:ext uri="{9D8B030D-6E8A-4147-A177-3AD203B41FA5}">
                      <a16:colId xmlns:a16="http://schemas.microsoft.com/office/drawing/2014/main" val="20001"/>
                    </a:ext>
                  </a:extLst>
                </a:gridCol>
                <a:gridCol w="1103200">
                  <a:extLst>
                    <a:ext uri="{9D8B030D-6E8A-4147-A177-3AD203B41FA5}">
                      <a16:colId xmlns:a16="http://schemas.microsoft.com/office/drawing/2014/main" val="20002"/>
                    </a:ext>
                  </a:extLst>
                </a:gridCol>
                <a:gridCol w="1033130">
                  <a:extLst>
                    <a:ext uri="{9D8B030D-6E8A-4147-A177-3AD203B41FA5}">
                      <a16:colId xmlns:a16="http://schemas.microsoft.com/office/drawing/2014/main" val="2525214254"/>
                    </a:ext>
                  </a:extLst>
                </a:gridCol>
              </a:tblGrid>
              <a:tr h="283004">
                <a:tc>
                  <a:txBody>
                    <a:bodyPr/>
                    <a:lstStyle>
                      <a:lvl1pPr marL="0" algn="l" defTabSz="914400" rtl="0" eaLnBrk="1" latinLnBrk="0" hangingPunct="1">
                        <a:defRPr sz="1800" b="1" kern="1200">
                          <a:solidFill>
                            <a:schemeClr val="bg1"/>
                          </a:solidFill>
                          <a:latin typeface="微軟正黑體"/>
                          <a:ea typeface="微軟正黑體"/>
                        </a:defRPr>
                      </a:lvl1pPr>
                      <a:lvl2pPr marL="457200" algn="l" defTabSz="914400" rtl="0" eaLnBrk="1" latinLnBrk="0" hangingPunct="1">
                        <a:defRPr sz="1800" b="1" kern="1200">
                          <a:solidFill>
                            <a:schemeClr val="bg1"/>
                          </a:solidFill>
                          <a:latin typeface="微軟正黑體"/>
                          <a:ea typeface="微軟正黑體"/>
                        </a:defRPr>
                      </a:lvl2pPr>
                      <a:lvl3pPr marL="914400" algn="l" defTabSz="914400" rtl="0" eaLnBrk="1" latinLnBrk="0" hangingPunct="1">
                        <a:defRPr sz="1800" b="1" kern="1200">
                          <a:solidFill>
                            <a:schemeClr val="bg1"/>
                          </a:solidFill>
                          <a:latin typeface="微軟正黑體"/>
                          <a:ea typeface="微軟正黑體"/>
                        </a:defRPr>
                      </a:lvl3pPr>
                      <a:lvl4pPr marL="1371600" algn="l" defTabSz="914400" rtl="0" eaLnBrk="1" latinLnBrk="0" hangingPunct="1">
                        <a:defRPr sz="1800" b="1" kern="1200">
                          <a:solidFill>
                            <a:schemeClr val="bg1"/>
                          </a:solidFill>
                          <a:latin typeface="微軟正黑體"/>
                          <a:ea typeface="微軟正黑體"/>
                        </a:defRPr>
                      </a:lvl4pPr>
                      <a:lvl5pPr marL="1828800" algn="l" defTabSz="914400" rtl="0" eaLnBrk="1" latinLnBrk="0" hangingPunct="1">
                        <a:defRPr sz="1800" b="1" kern="1200">
                          <a:solidFill>
                            <a:schemeClr val="bg1"/>
                          </a:solidFill>
                          <a:latin typeface="微軟正黑體"/>
                          <a:ea typeface="微軟正黑體"/>
                        </a:defRPr>
                      </a:lvl5pPr>
                      <a:lvl6pPr marL="2286000" algn="l" defTabSz="914400" rtl="0" eaLnBrk="1" latinLnBrk="0" hangingPunct="1">
                        <a:defRPr sz="1800" b="1" kern="1200">
                          <a:solidFill>
                            <a:schemeClr val="bg1"/>
                          </a:solidFill>
                          <a:latin typeface="微軟正黑體"/>
                          <a:ea typeface="微軟正黑體"/>
                        </a:defRPr>
                      </a:lvl6pPr>
                      <a:lvl7pPr marL="2743200" algn="l" defTabSz="914400" rtl="0" eaLnBrk="1" latinLnBrk="0" hangingPunct="1">
                        <a:defRPr sz="1800" b="1" kern="1200">
                          <a:solidFill>
                            <a:schemeClr val="bg1"/>
                          </a:solidFill>
                          <a:latin typeface="微軟正黑體"/>
                          <a:ea typeface="微軟正黑體"/>
                        </a:defRPr>
                      </a:lvl7pPr>
                      <a:lvl8pPr marL="3200400" algn="l" defTabSz="914400" rtl="0" eaLnBrk="1" latinLnBrk="0" hangingPunct="1">
                        <a:defRPr sz="1800" b="1" kern="1200">
                          <a:solidFill>
                            <a:schemeClr val="bg1"/>
                          </a:solidFill>
                          <a:latin typeface="微軟正黑體"/>
                          <a:ea typeface="微軟正黑體"/>
                        </a:defRPr>
                      </a:lvl8pPr>
                      <a:lvl9pPr marL="3657600" algn="l" defTabSz="914400" rtl="0" eaLnBrk="1" latinLnBrk="0" hangingPunct="1">
                        <a:defRPr sz="1800" b="1" kern="1200">
                          <a:solidFill>
                            <a:schemeClr val="bg1"/>
                          </a:solidFill>
                          <a:latin typeface="微軟正黑體"/>
                          <a:ea typeface="微軟正黑體"/>
                        </a:defRPr>
                      </a:lvl9pPr>
                    </a:lstStyle>
                    <a:p>
                      <a:pPr algn="ctr"/>
                      <a:endParaRPr lang="zh-TW" altLang="en-US" sz="1200" dirty="0">
                        <a:solidFill>
                          <a:schemeClr val="bg1"/>
                        </a:solidFill>
                        <a:latin typeface="+mn-ea"/>
                        <a:ea typeface="+mn-ea"/>
                      </a:endParaRPr>
                    </a:p>
                  </a:txBody>
                  <a:tcPr anchor="ctr">
                    <a:lnL w="9525" cap="flat" cmpd="sng" algn="ctr">
                      <a:solidFill>
                        <a:srgbClr val="B8B1A7">
                          <a:shade val="95000"/>
                          <a:satMod val="105000"/>
                        </a:srgbClr>
                      </a:solidFill>
                      <a:prstDash val="solid"/>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solidFill>
                      <a:schemeClr val="tx1">
                        <a:lumMod val="50000"/>
                        <a:lumOff val="50000"/>
                      </a:schemeClr>
                    </a:solidFill>
                  </a:tcPr>
                </a:tc>
                <a:tc>
                  <a:txBody>
                    <a:bodyPr/>
                    <a:lstStyle>
                      <a:lvl1pPr marL="0" algn="l" defTabSz="914400" rtl="0" eaLnBrk="1" latinLnBrk="0" hangingPunct="1">
                        <a:defRPr sz="1800" b="1" kern="1200">
                          <a:solidFill>
                            <a:schemeClr val="bg1"/>
                          </a:solidFill>
                          <a:latin typeface="微軟正黑體"/>
                          <a:ea typeface="微軟正黑體"/>
                        </a:defRPr>
                      </a:lvl1pPr>
                      <a:lvl2pPr marL="457200" algn="l" defTabSz="914400" rtl="0" eaLnBrk="1" latinLnBrk="0" hangingPunct="1">
                        <a:defRPr sz="1800" b="1" kern="1200">
                          <a:solidFill>
                            <a:schemeClr val="bg1"/>
                          </a:solidFill>
                          <a:latin typeface="微軟正黑體"/>
                          <a:ea typeface="微軟正黑體"/>
                        </a:defRPr>
                      </a:lvl2pPr>
                      <a:lvl3pPr marL="914400" algn="l" defTabSz="914400" rtl="0" eaLnBrk="1" latinLnBrk="0" hangingPunct="1">
                        <a:defRPr sz="1800" b="1" kern="1200">
                          <a:solidFill>
                            <a:schemeClr val="bg1"/>
                          </a:solidFill>
                          <a:latin typeface="微軟正黑體"/>
                          <a:ea typeface="微軟正黑體"/>
                        </a:defRPr>
                      </a:lvl3pPr>
                      <a:lvl4pPr marL="1371600" algn="l" defTabSz="914400" rtl="0" eaLnBrk="1" latinLnBrk="0" hangingPunct="1">
                        <a:defRPr sz="1800" b="1" kern="1200">
                          <a:solidFill>
                            <a:schemeClr val="bg1"/>
                          </a:solidFill>
                          <a:latin typeface="微軟正黑體"/>
                          <a:ea typeface="微軟正黑體"/>
                        </a:defRPr>
                      </a:lvl4pPr>
                      <a:lvl5pPr marL="1828800" algn="l" defTabSz="914400" rtl="0" eaLnBrk="1" latinLnBrk="0" hangingPunct="1">
                        <a:defRPr sz="1800" b="1" kern="1200">
                          <a:solidFill>
                            <a:schemeClr val="bg1"/>
                          </a:solidFill>
                          <a:latin typeface="微軟正黑體"/>
                          <a:ea typeface="微軟正黑體"/>
                        </a:defRPr>
                      </a:lvl5pPr>
                      <a:lvl6pPr marL="2286000" algn="l" defTabSz="914400" rtl="0" eaLnBrk="1" latinLnBrk="0" hangingPunct="1">
                        <a:defRPr sz="1800" b="1" kern="1200">
                          <a:solidFill>
                            <a:schemeClr val="bg1"/>
                          </a:solidFill>
                          <a:latin typeface="微軟正黑體"/>
                          <a:ea typeface="微軟正黑體"/>
                        </a:defRPr>
                      </a:lvl6pPr>
                      <a:lvl7pPr marL="2743200" algn="l" defTabSz="914400" rtl="0" eaLnBrk="1" latinLnBrk="0" hangingPunct="1">
                        <a:defRPr sz="1800" b="1" kern="1200">
                          <a:solidFill>
                            <a:schemeClr val="bg1"/>
                          </a:solidFill>
                          <a:latin typeface="微軟正黑體"/>
                          <a:ea typeface="微軟正黑體"/>
                        </a:defRPr>
                      </a:lvl7pPr>
                      <a:lvl8pPr marL="3200400" algn="l" defTabSz="914400" rtl="0" eaLnBrk="1" latinLnBrk="0" hangingPunct="1">
                        <a:defRPr sz="1800" b="1" kern="1200">
                          <a:solidFill>
                            <a:schemeClr val="bg1"/>
                          </a:solidFill>
                          <a:latin typeface="微軟正黑體"/>
                          <a:ea typeface="微軟正黑體"/>
                        </a:defRPr>
                      </a:lvl8pPr>
                      <a:lvl9pPr marL="3657600" algn="l" defTabSz="914400" rtl="0" eaLnBrk="1" latinLnBrk="0" hangingPunct="1">
                        <a:defRPr sz="1800" b="1" kern="1200">
                          <a:solidFill>
                            <a:schemeClr val="bg1"/>
                          </a:solidFill>
                          <a:latin typeface="微軟正黑體"/>
                          <a:ea typeface="微軟正黑體"/>
                        </a:defRPr>
                      </a:lvl9pPr>
                    </a:lstStyle>
                    <a:p>
                      <a:pPr algn="ctr"/>
                      <a:r>
                        <a:rPr lang="zh-TW" altLang="en-US" sz="1200" dirty="0">
                          <a:solidFill>
                            <a:schemeClr val="bg1"/>
                          </a:solidFill>
                        </a:rPr>
                        <a:t>穆迪</a:t>
                      </a:r>
                      <a:endParaRPr lang="zh-TW" altLang="en-US" sz="1200" b="1" dirty="0">
                        <a:solidFill>
                          <a:schemeClr val="bg1"/>
                        </a:solidFill>
                        <a:latin typeface="+mn-ea"/>
                        <a:ea typeface="+mn-ea"/>
                      </a:endParaRPr>
                    </a:p>
                  </a:txBody>
                  <a:tcPr anchor="ctr">
                    <a:lnL>
                      <a:noFill/>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lvl1pPr marL="0" algn="l" defTabSz="914400" rtl="0" eaLnBrk="1" latinLnBrk="0" hangingPunct="1">
                        <a:defRPr sz="1800" b="1" kern="1200">
                          <a:solidFill>
                            <a:schemeClr val="bg1"/>
                          </a:solidFill>
                          <a:latin typeface="微軟正黑體"/>
                          <a:ea typeface="微軟正黑體"/>
                        </a:defRPr>
                      </a:lvl1pPr>
                      <a:lvl2pPr marL="457200" algn="l" defTabSz="914400" rtl="0" eaLnBrk="1" latinLnBrk="0" hangingPunct="1">
                        <a:defRPr sz="1800" b="1" kern="1200">
                          <a:solidFill>
                            <a:schemeClr val="bg1"/>
                          </a:solidFill>
                          <a:latin typeface="微軟正黑體"/>
                          <a:ea typeface="微軟正黑體"/>
                        </a:defRPr>
                      </a:lvl2pPr>
                      <a:lvl3pPr marL="914400" algn="l" defTabSz="914400" rtl="0" eaLnBrk="1" latinLnBrk="0" hangingPunct="1">
                        <a:defRPr sz="1800" b="1" kern="1200">
                          <a:solidFill>
                            <a:schemeClr val="bg1"/>
                          </a:solidFill>
                          <a:latin typeface="微軟正黑體"/>
                          <a:ea typeface="微軟正黑體"/>
                        </a:defRPr>
                      </a:lvl3pPr>
                      <a:lvl4pPr marL="1371600" algn="l" defTabSz="914400" rtl="0" eaLnBrk="1" latinLnBrk="0" hangingPunct="1">
                        <a:defRPr sz="1800" b="1" kern="1200">
                          <a:solidFill>
                            <a:schemeClr val="bg1"/>
                          </a:solidFill>
                          <a:latin typeface="微軟正黑體"/>
                          <a:ea typeface="微軟正黑體"/>
                        </a:defRPr>
                      </a:lvl4pPr>
                      <a:lvl5pPr marL="1828800" algn="l" defTabSz="914400" rtl="0" eaLnBrk="1" latinLnBrk="0" hangingPunct="1">
                        <a:defRPr sz="1800" b="1" kern="1200">
                          <a:solidFill>
                            <a:schemeClr val="bg1"/>
                          </a:solidFill>
                          <a:latin typeface="微軟正黑體"/>
                          <a:ea typeface="微軟正黑體"/>
                        </a:defRPr>
                      </a:lvl5pPr>
                      <a:lvl6pPr marL="2286000" algn="l" defTabSz="914400" rtl="0" eaLnBrk="1" latinLnBrk="0" hangingPunct="1">
                        <a:defRPr sz="1800" b="1" kern="1200">
                          <a:solidFill>
                            <a:schemeClr val="bg1"/>
                          </a:solidFill>
                          <a:latin typeface="微軟正黑體"/>
                          <a:ea typeface="微軟正黑體"/>
                        </a:defRPr>
                      </a:lvl6pPr>
                      <a:lvl7pPr marL="2743200" algn="l" defTabSz="914400" rtl="0" eaLnBrk="1" latinLnBrk="0" hangingPunct="1">
                        <a:defRPr sz="1800" b="1" kern="1200">
                          <a:solidFill>
                            <a:schemeClr val="bg1"/>
                          </a:solidFill>
                          <a:latin typeface="微軟正黑體"/>
                          <a:ea typeface="微軟正黑體"/>
                        </a:defRPr>
                      </a:lvl7pPr>
                      <a:lvl8pPr marL="3200400" algn="l" defTabSz="914400" rtl="0" eaLnBrk="1" latinLnBrk="0" hangingPunct="1">
                        <a:defRPr sz="1800" b="1" kern="1200">
                          <a:solidFill>
                            <a:schemeClr val="bg1"/>
                          </a:solidFill>
                          <a:latin typeface="微軟正黑體"/>
                          <a:ea typeface="微軟正黑體"/>
                        </a:defRPr>
                      </a:lvl8pPr>
                      <a:lvl9pPr marL="3657600" algn="l" defTabSz="914400" rtl="0" eaLnBrk="1" latinLnBrk="0" hangingPunct="1">
                        <a:defRPr sz="1800" b="1" kern="1200">
                          <a:solidFill>
                            <a:schemeClr val="bg1"/>
                          </a:solidFill>
                          <a:latin typeface="微軟正黑體"/>
                          <a:ea typeface="微軟正黑體"/>
                        </a:defRPr>
                      </a:lvl9pPr>
                    </a:lstStyle>
                    <a:p>
                      <a:pPr algn="ctr"/>
                      <a:r>
                        <a:rPr lang="zh-TW" altLang="en-US" sz="1200" dirty="0">
                          <a:solidFill>
                            <a:schemeClr val="bg1"/>
                          </a:solidFill>
                        </a:rPr>
                        <a:t>標普</a:t>
                      </a:r>
                      <a:endParaRPr lang="zh-TW" altLang="en-US" sz="1200" b="1" dirty="0">
                        <a:solidFill>
                          <a:schemeClr val="bg1"/>
                        </a:solidFill>
                        <a:latin typeface="+mn-ea"/>
                        <a:ea typeface="+mn-ea"/>
                      </a:endParaRPr>
                    </a:p>
                  </a:txBody>
                  <a:tcPr anchor="ctr">
                    <a:lnL>
                      <a:noFill/>
                    </a:lnL>
                    <a:lnR w="9525" cap="flat" cmpd="sng" algn="ctr">
                      <a:noFill/>
                      <a:prstDash val="solid"/>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algn="ctr"/>
                      <a:r>
                        <a:rPr lang="zh-TW" altLang="en-US" sz="1200" b="1" kern="1200" dirty="0">
                          <a:solidFill>
                            <a:schemeClr val="bg1"/>
                          </a:solidFill>
                          <a:latin typeface="微軟正黑體"/>
                          <a:ea typeface="微軟正黑體"/>
                          <a:cs typeface="+mn-cs"/>
                        </a:rPr>
                        <a:t>惠譽</a:t>
                      </a:r>
                    </a:p>
                  </a:txBody>
                  <a:tcPr anchor="ctr">
                    <a:lnL>
                      <a:noFill/>
                    </a:lnL>
                    <a:lnR w="9525" cap="flat" cmpd="sng" algn="ctr">
                      <a:solidFill>
                        <a:srgbClr val="B8B1A7">
                          <a:shade val="95000"/>
                          <a:satMod val="105000"/>
                        </a:srgbClr>
                      </a:solidFill>
                      <a:prstDash val="solid"/>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extLst>
                  <a:ext uri="{0D108BD9-81ED-4DB2-BD59-A6C34878D82A}">
                    <a16:rowId xmlns:a16="http://schemas.microsoft.com/office/drawing/2014/main" val="10000"/>
                  </a:ext>
                </a:extLst>
              </a:tr>
              <a:tr h="267282">
                <a:tc>
                  <a:txBody>
                    <a:bodyPr/>
                    <a:lstStyle>
                      <a:lvl1pPr marL="0" algn="l" defTabSz="914400" rtl="0" eaLnBrk="1" latinLnBrk="0" hangingPunct="1">
                        <a:defRPr sz="1800" kern="1200">
                          <a:solidFill>
                            <a:schemeClr val="tx1"/>
                          </a:solidFill>
                          <a:latin typeface="微軟正黑體"/>
                          <a:ea typeface="微軟正黑體"/>
                        </a:defRPr>
                      </a:lvl1pPr>
                      <a:lvl2pPr marL="457200" algn="l" defTabSz="914400" rtl="0" eaLnBrk="1" latinLnBrk="0" hangingPunct="1">
                        <a:defRPr sz="1800" kern="1200">
                          <a:solidFill>
                            <a:schemeClr val="tx1"/>
                          </a:solidFill>
                          <a:latin typeface="微軟正黑體"/>
                          <a:ea typeface="微軟正黑體"/>
                        </a:defRPr>
                      </a:lvl2pPr>
                      <a:lvl3pPr marL="914400" algn="l" defTabSz="914400" rtl="0" eaLnBrk="1" latinLnBrk="0" hangingPunct="1">
                        <a:defRPr sz="1800" kern="1200">
                          <a:solidFill>
                            <a:schemeClr val="tx1"/>
                          </a:solidFill>
                          <a:latin typeface="微軟正黑體"/>
                          <a:ea typeface="微軟正黑體"/>
                        </a:defRPr>
                      </a:lvl3pPr>
                      <a:lvl4pPr marL="1371600" algn="l" defTabSz="914400" rtl="0" eaLnBrk="1" latinLnBrk="0" hangingPunct="1">
                        <a:defRPr sz="1800" kern="1200">
                          <a:solidFill>
                            <a:schemeClr val="tx1"/>
                          </a:solidFill>
                          <a:latin typeface="微軟正黑體"/>
                          <a:ea typeface="微軟正黑體"/>
                        </a:defRPr>
                      </a:lvl4pPr>
                      <a:lvl5pPr marL="1828800" algn="l" defTabSz="914400" rtl="0" eaLnBrk="1" latinLnBrk="0" hangingPunct="1">
                        <a:defRPr sz="1800" kern="1200">
                          <a:solidFill>
                            <a:schemeClr val="tx1"/>
                          </a:solidFill>
                          <a:latin typeface="微軟正黑體"/>
                          <a:ea typeface="微軟正黑體"/>
                        </a:defRPr>
                      </a:lvl5pPr>
                      <a:lvl6pPr marL="2286000" algn="l" defTabSz="914400" rtl="0" eaLnBrk="1" latinLnBrk="0" hangingPunct="1">
                        <a:defRPr sz="1800" kern="1200">
                          <a:solidFill>
                            <a:schemeClr val="tx1"/>
                          </a:solidFill>
                          <a:latin typeface="微軟正黑體"/>
                          <a:ea typeface="微軟正黑體"/>
                        </a:defRPr>
                      </a:lvl6pPr>
                      <a:lvl7pPr marL="2743200" algn="l" defTabSz="914400" rtl="0" eaLnBrk="1" latinLnBrk="0" hangingPunct="1">
                        <a:defRPr sz="1800" kern="1200">
                          <a:solidFill>
                            <a:schemeClr val="tx1"/>
                          </a:solidFill>
                          <a:latin typeface="微軟正黑體"/>
                          <a:ea typeface="微軟正黑體"/>
                        </a:defRPr>
                      </a:lvl7pPr>
                      <a:lvl8pPr marL="3200400" algn="l" defTabSz="914400" rtl="0" eaLnBrk="1" latinLnBrk="0" hangingPunct="1">
                        <a:defRPr sz="1800" kern="1200">
                          <a:solidFill>
                            <a:schemeClr val="tx1"/>
                          </a:solidFill>
                          <a:latin typeface="微軟正黑體"/>
                          <a:ea typeface="微軟正黑體"/>
                        </a:defRPr>
                      </a:lvl8pPr>
                      <a:lvl9pPr marL="3657600" algn="l" defTabSz="914400" rtl="0" eaLnBrk="1" latinLnBrk="0" hangingPunct="1">
                        <a:defRPr sz="1800" kern="1200">
                          <a:solidFill>
                            <a:schemeClr val="tx1"/>
                          </a:solidFill>
                          <a:latin typeface="微軟正黑體"/>
                          <a:ea typeface="微軟正黑體"/>
                        </a:defRPr>
                      </a:lvl9pPr>
                    </a:lstStyle>
                    <a:p>
                      <a:pPr algn="ctr"/>
                      <a:r>
                        <a:rPr lang="zh-TW" altLang="en-US" sz="1100" dirty="0">
                          <a:solidFill>
                            <a:schemeClr val="tx1"/>
                          </a:solidFill>
                        </a:rPr>
                        <a:t>長期評等</a:t>
                      </a:r>
                      <a:endParaRPr lang="en-US" altLang="zh-TW" sz="1100" dirty="0">
                        <a:solidFill>
                          <a:schemeClr val="tx1"/>
                        </a:solidFill>
                        <a:latin typeface="+mn-ea"/>
                        <a:ea typeface="+mn-ea"/>
                      </a:endParaRPr>
                    </a:p>
                  </a:txBody>
                  <a:tcPr anchor="ctr">
                    <a:lnL w="9525" cap="flat" cmpd="sng" algn="ctr">
                      <a:solidFill>
                        <a:srgbClr val="B8B1A7">
                          <a:shade val="95000"/>
                          <a:satMod val="105000"/>
                        </a:srgbClr>
                      </a:solidFill>
                      <a:prstDash val="solid"/>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defTabSz="685800" rtl="0" eaLnBrk="1" fontAlgn="ctr" latinLnBrk="0" hangingPunct="1">
                        <a:spcBef>
                          <a:spcPts val="0"/>
                        </a:spcBef>
                        <a:spcAft>
                          <a:spcPts val="0"/>
                        </a:spcAft>
                      </a:pPr>
                      <a:r>
                        <a:rPr lang="en-US" altLang="zh-TW" sz="1200" b="1" i="0" u="none" strike="noStrike" kern="1200" dirty="0">
                          <a:solidFill>
                            <a:schemeClr val="tx1"/>
                          </a:solidFill>
                          <a:effectLst/>
                          <a:latin typeface="微軟正黑體" panose="020B0604030504040204" pitchFamily="34" charset="-120"/>
                          <a:ea typeface="微軟正黑體" panose="020B0604030504040204" pitchFamily="34" charset="-120"/>
                          <a:cs typeface="+mn-cs"/>
                        </a:rPr>
                        <a:t>Aa3</a:t>
                      </a:r>
                    </a:p>
                  </a:txBody>
                  <a:tcPr marL="9525" marR="9525" marT="9525" marB="0" anchor="ctr">
                    <a:lnL>
                      <a:noFill/>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en-US" sz="1200" b="1" i="0" u="none" strike="noStrike" kern="1200" dirty="0">
                          <a:solidFill>
                            <a:schemeClr val="tx1"/>
                          </a:solidFill>
                          <a:effectLst/>
                          <a:latin typeface="微軟正黑體" panose="020B0604030504040204" pitchFamily="34" charset="-120"/>
                          <a:ea typeface="微軟正黑體" panose="020B0604030504040204" pitchFamily="34" charset="-120"/>
                        </a:rPr>
                        <a:t>A+</a:t>
                      </a:r>
                      <a:endParaRPr lang="en-US" altLang="zh-TW" sz="1200" b="0" i="0" u="none" strike="noStrike" dirty="0">
                        <a:solidFill>
                          <a:schemeClr val="tx1"/>
                        </a:solidFill>
                        <a:effectLst/>
                        <a:latin typeface="Arial" panose="020B0604020202020204" pitchFamily="34" charset="0"/>
                      </a:endParaRPr>
                    </a:p>
                  </a:txBody>
                  <a:tcPr marL="9525" marR="9525" marT="9525" marB="0" anchor="ctr">
                    <a:lnL>
                      <a:noFill/>
                    </a:lnL>
                    <a:lnR w="9525" cap="flat" cmpd="sng" algn="ctr">
                      <a:noFill/>
                      <a:prstDash val="solid"/>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en-US" sz="1100" b="1" i="0" u="none" strike="noStrike" kern="1200" dirty="0">
                          <a:solidFill>
                            <a:schemeClr val="tx1"/>
                          </a:solidFill>
                          <a:effectLst/>
                          <a:latin typeface="微軟正黑體" panose="020B0604030504040204" pitchFamily="34" charset="-120"/>
                          <a:ea typeface="微軟正黑體" panose="020B0604030504040204" pitchFamily="34" charset="-120"/>
                        </a:rPr>
                        <a:t>--</a:t>
                      </a:r>
                      <a:endParaRPr lang="en-US" altLang="zh-TW" sz="1100" b="0" i="0" u="none" strike="noStrike" dirty="0">
                        <a:solidFill>
                          <a:schemeClr val="tx1"/>
                        </a:solidFill>
                        <a:effectLst/>
                        <a:latin typeface="Arial" panose="020B0604020202020204" pitchFamily="34" charset="0"/>
                      </a:endParaRPr>
                    </a:p>
                  </a:txBody>
                  <a:tcPr marL="9525" marR="9525" marT="9525" marB="0" anchor="ctr">
                    <a:lnL>
                      <a:noFill/>
                    </a:lnL>
                    <a:lnR w="9525" cap="flat" cmpd="sng" algn="ctr">
                      <a:solidFill>
                        <a:srgbClr val="B8B1A7">
                          <a:shade val="95000"/>
                          <a:satMod val="105000"/>
                        </a:srgbClr>
                      </a:solidFill>
                      <a:prstDash val="solid"/>
                    </a:lnR>
                    <a:lnT w="9525" cap="flat" cmpd="sng" algn="ctr">
                      <a:solidFill>
                        <a:srgbClr val="B8B1A7">
                          <a:shade val="95000"/>
                          <a:satMod val="105000"/>
                        </a:srgbClr>
                      </a:solidFill>
                      <a:prstDash val="solid"/>
                      <a:round/>
                      <a:headEnd type="none" w="med" len="med"/>
                      <a:tailEnd type="none" w="med" len="med"/>
                    </a:lnT>
                    <a:lnB w="9525" cap="flat" cmpd="sng" algn="ctr">
                      <a:solidFill>
                        <a:srgbClr val="B8B1A7">
                          <a:shade val="95000"/>
                          <a:satMod val="10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67282">
                <a:tc>
                  <a:txBody>
                    <a:bodyPr/>
                    <a:lstStyle>
                      <a:lvl1pPr marL="0" algn="l" defTabSz="914400" rtl="0" eaLnBrk="1" latinLnBrk="0" hangingPunct="1">
                        <a:defRPr sz="1800" kern="1200">
                          <a:solidFill>
                            <a:schemeClr val="tx1"/>
                          </a:solidFill>
                          <a:latin typeface="微軟正黑體"/>
                          <a:ea typeface="微軟正黑體"/>
                        </a:defRPr>
                      </a:lvl1pPr>
                      <a:lvl2pPr marL="457200" algn="l" defTabSz="914400" rtl="0" eaLnBrk="1" latinLnBrk="0" hangingPunct="1">
                        <a:defRPr sz="1800" kern="1200">
                          <a:solidFill>
                            <a:schemeClr val="tx1"/>
                          </a:solidFill>
                          <a:latin typeface="微軟正黑體"/>
                          <a:ea typeface="微軟正黑體"/>
                        </a:defRPr>
                      </a:lvl2pPr>
                      <a:lvl3pPr marL="914400" algn="l" defTabSz="914400" rtl="0" eaLnBrk="1" latinLnBrk="0" hangingPunct="1">
                        <a:defRPr sz="1800" kern="1200">
                          <a:solidFill>
                            <a:schemeClr val="tx1"/>
                          </a:solidFill>
                          <a:latin typeface="微軟正黑體"/>
                          <a:ea typeface="微軟正黑體"/>
                        </a:defRPr>
                      </a:lvl3pPr>
                      <a:lvl4pPr marL="1371600" algn="l" defTabSz="914400" rtl="0" eaLnBrk="1" latinLnBrk="0" hangingPunct="1">
                        <a:defRPr sz="1800" kern="1200">
                          <a:solidFill>
                            <a:schemeClr val="tx1"/>
                          </a:solidFill>
                          <a:latin typeface="微軟正黑體"/>
                          <a:ea typeface="微軟正黑體"/>
                        </a:defRPr>
                      </a:lvl4pPr>
                      <a:lvl5pPr marL="1828800" algn="l" defTabSz="914400" rtl="0" eaLnBrk="1" latinLnBrk="0" hangingPunct="1">
                        <a:defRPr sz="1800" kern="1200">
                          <a:solidFill>
                            <a:schemeClr val="tx1"/>
                          </a:solidFill>
                          <a:latin typeface="微軟正黑體"/>
                          <a:ea typeface="微軟正黑體"/>
                        </a:defRPr>
                      </a:lvl5pPr>
                      <a:lvl6pPr marL="2286000" algn="l" defTabSz="914400" rtl="0" eaLnBrk="1" latinLnBrk="0" hangingPunct="1">
                        <a:defRPr sz="1800" kern="1200">
                          <a:solidFill>
                            <a:schemeClr val="tx1"/>
                          </a:solidFill>
                          <a:latin typeface="微軟正黑體"/>
                          <a:ea typeface="微軟正黑體"/>
                        </a:defRPr>
                      </a:lvl6pPr>
                      <a:lvl7pPr marL="2743200" algn="l" defTabSz="914400" rtl="0" eaLnBrk="1" latinLnBrk="0" hangingPunct="1">
                        <a:defRPr sz="1800" kern="1200">
                          <a:solidFill>
                            <a:schemeClr val="tx1"/>
                          </a:solidFill>
                          <a:latin typeface="微軟正黑體"/>
                          <a:ea typeface="微軟正黑體"/>
                        </a:defRPr>
                      </a:lvl7pPr>
                      <a:lvl8pPr marL="3200400" algn="l" defTabSz="914400" rtl="0" eaLnBrk="1" latinLnBrk="0" hangingPunct="1">
                        <a:defRPr sz="1800" kern="1200">
                          <a:solidFill>
                            <a:schemeClr val="tx1"/>
                          </a:solidFill>
                          <a:latin typeface="微軟正黑體"/>
                          <a:ea typeface="微軟正黑體"/>
                        </a:defRPr>
                      </a:lvl8pPr>
                      <a:lvl9pPr marL="3657600" algn="l" defTabSz="914400" rtl="0" eaLnBrk="1" latinLnBrk="0" hangingPunct="1">
                        <a:defRPr sz="1800" kern="1200">
                          <a:solidFill>
                            <a:schemeClr val="tx1"/>
                          </a:solidFill>
                          <a:latin typeface="微軟正黑體"/>
                          <a:ea typeface="微軟正黑體"/>
                        </a:defRPr>
                      </a:lvl9pPr>
                    </a:lstStyle>
                    <a:p>
                      <a:pPr algn="ctr"/>
                      <a:r>
                        <a:rPr lang="zh-TW" altLang="en-US" sz="1100" dirty="0">
                          <a:solidFill>
                            <a:schemeClr val="tx1"/>
                          </a:solidFill>
                        </a:rPr>
                        <a:t>評等展望</a:t>
                      </a:r>
                      <a:endParaRPr lang="zh-TW" altLang="en-US" sz="1100" dirty="0">
                        <a:solidFill>
                          <a:schemeClr val="tx1"/>
                        </a:solidFill>
                        <a:latin typeface="+mn-ea"/>
                        <a:ea typeface="+mn-ea"/>
                      </a:endParaRPr>
                    </a:p>
                  </a:txBody>
                  <a:tcPr anchor="ctr">
                    <a:lnL w="9525" cap="flat" cmpd="sng" algn="ctr">
                      <a:solidFill>
                        <a:srgbClr val="B8B1A7">
                          <a:shade val="95000"/>
                          <a:satMod val="105000"/>
                        </a:srgbClr>
                      </a:solidFill>
                      <a:prstDash val="solid"/>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zh-TW" altLang="en-US" sz="1200" b="0" i="0" u="none" strike="noStrike" kern="1200" dirty="0">
                          <a:solidFill>
                            <a:schemeClr val="tx1"/>
                          </a:solidFill>
                          <a:effectLst/>
                          <a:latin typeface="微軟正黑體" panose="020B0604030504040204" pitchFamily="34" charset="-120"/>
                          <a:ea typeface="微軟正黑體" panose="020B0604030504040204" pitchFamily="34" charset="-120"/>
                          <a:cs typeface="+mn-cs"/>
                        </a:rPr>
                        <a:t>穩定</a:t>
                      </a:r>
                      <a:endParaRPr lang="zh-TW" altLang="en-US" sz="1200" b="1" i="0" u="none" strike="noStrike" dirty="0">
                        <a:solidFill>
                          <a:srgbClr val="FF0000"/>
                        </a:solidFill>
                        <a:effectLst/>
                        <a:latin typeface="Arial" panose="020B0604020202020204" pitchFamily="34" charset="0"/>
                      </a:endParaRPr>
                    </a:p>
                  </a:txBody>
                  <a:tcPr marL="9525" marR="9525" marT="9525" marB="0" anchor="ctr">
                    <a:lnL>
                      <a:noFill/>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zh-TW" altLang="en-US" sz="1200" b="0" i="0" u="none" strike="noStrike" kern="1200" dirty="0">
                          <a:solidFill>
                            <a:schemeClr val="tx1"/>
                          </a:solidFill>
                          <a:effectLst/>
                          <a:latin typeface="微軟正黑體" panose="020B0604030504040204" pitchFamily="34" charset="-120"/>
                          <a:ea typeface="微軟正黑體" panose="020B0604030504040204" pitchFamily="34" charset="-120"/>
                        </a:rPr>
                        <a:t>穩定</a:t>
                      </a:r>
                      <a:endParaRPr lang="zh-TW" altLang="en-US" sz="1200" b="0" i="0" u="none" strike="noStrike" dirty="0">
                        <a:solidFill>
                          <a:schemeClr val="tx1"/>
                        </a:solidFill>
                        <a:effectLst/>
                        <a:latin typeface="Arial" panose="020B0604020202020204" pitchFamily="34" charset="0"/>
                      </a:endParaRPr>
                    </a:p>
                  </a:txBody>
                  <a:tcPr marL="9525" marR="9525" marT="9525" marB="0" anchor="ctr">
                    <a:lnL>
                      <a:noFill/>
                    </a:lnL>
                    <a:lnR w="9525" cap="flat" cmpd="sng" algn="ctr">
                      <a:noFill/>
                      <a:prstDash val="solid"/>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en-US" sz="1100" b="0" i="0" u="none" strike="noStrike" kern="1200" dirty="0">
                          <a:solidFill>
                            <a:schemeClr val="tx1"/>
                          </a:solidFill>
                          <a:effectLst/>
                          <a:latin typeface="微軟正黑體" panose="020B0604030504040204" pitchFamily="34" charset="-120"/>
                          <a:ea typeface="微軟正黑體" panose="020B0604030504040204" pitchFamily="34" charset="-120"/>
                        </a:rPr>
                        <a:t>--</a:t>
                      </a:r>
                      <a:endParaRPr lang="en-US" altLang="zh-TW" sz="1100" b="0" i="0" u="none" strike="noStrike" dirty="0">
                        <a:solidFill>
                          <a:schemeClr val="tx1"/>
                        </a:solidFill>
                        <a:effectLst/>
                        <a:latin typeface="Arial" panose="020B0604020202020204" pitchFamily="34" charset="0"/>
                      </a:endParaRPr>
                    </a:p>
                  </a:txBody>
                  <a:tcPr marL="9525" marR="9525" marT="9525" marB="0" anchor="ctr">
                    <a:lnL>
                      <a:noFill/>
                    </a:lnL>
                    <a:lnR w="9525" cap="flat" cmpd="sng" algn="ctr">
                      <a:solidFill>
                        <a:srgbClr val="B8B1A7">
                          <a:shade val="95000"/>
                          <a:satMod val="105000"/>
                        </a:srgbClr>
                      </a:solidFill>
                      <a:prstDash val="solid"/>
                    </a:lnR>
                    <a:lnT w="9525" cap="flat" cmpd="sng" algn="ctr">
                      <a:solidFill>
                        <a:srgbClr val="B8B1A7">
                          <a:shade val="95000"/>
                          <a:satMod val="105000"/>
                        </a:srgbClr>
                      </a:solidFill>
                      <a:prstDash val="solid"/>
                      <a:round/>
                      <a:headEnd type="none" w="med" len="med"/>
                      <a:tailEnd type="none" w="med" len="med"/>
                    </a:lnT>
                    <a:lnB w="9525" cap="flat" cmpd="sng" algn="ctr">
                      <a:solidFill>
                        <a:srgbClr val="B8B1A7">
                          <a:shade val="95000"/>
                          <a:satMod val="10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67282">
                <a:tc>
                  <a:txBody>
                    <a:bodyPr/>
                    <a:lstStyle>
                      <a:lvl1pPr marL="0" algn="l" defTabSz="914400" rtl="0" eaLnBrk="1" latinLnBrk="0" hangingPunct="1">
                        <a:defRPr sz="1800" kern="1200">
                          <a:solidFill>
                            <a:schemeClr val="tx1"/>
                          </a:solidFill>
                          <a:latin typeface="微軟正黑體"/>
                          <a:ea typeface="微軟正黑體"/>
                        </a:defRPr>
                      </a:lvl1pPr>
                      <a:lvl2pPr marL="457200" algn="l" defTabSz="914400" rtl="0" eaLnBrk="1" latinLnBrk="0" hangingPunct="1">
                        <a:defRPr sz="1800" kern="1200">
                          <a:solidFill>
                            <a:schemeClr val="tx1"/>
                          </a:solidFill>
                          <a:latin typeface="微軟正黑體"/>
                          <a:ea typeface="微軟正黑體"/>
                        </a:defRPr>
                      </a:lvl2pPr>
                      <a:lvl3pPr marL="914400" algn="l" defTabSz="914400" rtl="0" eaLnBrk="1" latinLnBrk="0" hangingPunct="1">
                        <a:defRPr sz="1800" kern="1200">
                          <a:solidFill>
                            <a:schemeClr val="tx1"/>
                          </a:solidFill>
                          <a:latin typeface="微軟正黑體"/>
                          <a:ea typeface="微軟正黑體"/>
                        </a:defRPr>
                      </a:lvl3pPr>
                      <a:lvl4pPr marL="1371600" algn="l" defTabSz="914400" rtl="0" eaLnBrk="1" latinLnBrk="0" hangingPunct="1">
                        <a:defRPr sz="1800" kern="1200">
                          <a:solidFill>
                            <a:schemeClr val="tx1"/>
                          </a:solidFill>
                          <a:latin typeface="微軟正黑體"/>
                          <a:ea typeface="微軟正黑體"/>
                        </a:defRPr>
                      </a:lvl4pPr>
                      <a:lvl5pPr marL="1828800" algn="l" defTabSz="914400" rtl="0" eaLnBrk="1" latinLnBrk="0" hangingPunct="1">
                        <a:defRPr sz="1800" kern="1200">
                          <a:solidFill>
                            <a:schemeClr val="tx1"/>
                          </a:solidFill>
                          <a:latin typeface="微軟正黑體"/>
                          <a:ea typeface="微軟正黑體"/>
                        </a:defRPr>
                      </a:lvl5pPr>
                      <a:lvl6pPr marL="2286000" algn="l" defTabSz="914400" rtl="0" eaLnBrk="1" latinLnBrk="0" hangingPunct="1">
                        <a:defRPr sz="1800" kern="1200">
                          <a:solidFill>
                            <a:schemeClr val="tx1"/>
                          </a:solidFill>
                          <a:latin typeface="微軟正黑體"/>
                          <a:ea typeface="微軟正黑體"/>
                        </a:defRPr>
                      </a:lvl6pPr>
                      <a:lvl7pPr marL="2743200" algn="l" defTabSz="914400" rtl="0" eaLnBrk="1" latinLnBrk="0" hangingPunct="1">
                        <a:defRPr sz="1800" kern="1200">
                          <a:solidFill>
                            <a:schemeClr val="tx1"/>
                          </a:solidFill>
                          <a:latin typeface="微軟正黑體"/>
                          <a:ea typeface="微軟正黑體"/>
                        </a:defRPr>
                      </a:lvl7pPr>
                      <a:lvl8pPr marL="3200400" algn="l" defTabSz="914400" rtl="0" eaLnBrk="1" latinLnBrk="0" hangingPunct="1">
                        <a:defRPr sz="1800" kern="1200">
                          <a:solidFill>
                            <a:schemeClr val="tx1"/>
                          </a:solidFill>
                          <a:latin typeface="微軟正黑體"/>
                          <a:ea typeface="微軟正黑體"/>
                        </a:defRPr>
                      </a:lvl8pPr>
                      <a:lvl9pPr marL="3657600" algn="l" defTabSz="914400" rtl="0" eaLnBrk="1" latinLnBrk="0" hangingPunct="1">
                        <a:defRPr sz="1800" kern="1200">
                          <a:solidFill>
                            <a:schemeClr val="tx1"/>
                          </a:solidFill>
                          <a:latin typeface="微軟正黑體"/>
                          <a:ea typeface="微軟正黑體"/>
                        </a:defRPr>
                      </a:lvl9pPr>
                    </a:lstStyle>
                    <a:p>
                      <a:pPr algn="ctr"/>
                      <a:r>
                        <a:rPr lang="zh-TW" altLang="en-US" sz="1100" dirty="0">
                          <a:solidFill>
                            <a:schemeClr val="tx1"/>
                          </a:solidFill>
                        </a:rPr>
                        <a:t>展望發佈日</a:t>
                      </a:r>
                      <a:endParaRPr lang="zh-TW" altLang="en-US" sz="1100" dirty="0">
                        <a:solidFill>
                          <a:schemeClr val="tx1"/>
                        </a:solidFill>
                        <a:latin typeface="+mn-ea"/>
                        <a:ea typeface="+mn-ea"/>
                      </a:endParaRPr>
                    </a:p>
                  </a:txBody>
                  <a:tcPr anchor="ctr">
                    <a:lnL w="9525" cap="flat" cmpd="sng" algn="ctr">
                      <a:solidFill>
                        <a:srgbClr val="B8B1A7">
                          <a:shade val="95000"/>
                          <a:satMod val="105000"/>
                        </a:srgbClr>
                      </a:solidFill>
                      <a:prstDash val="solid"/>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lnSpc>
                          <a:spcPts val="1300"/>
                        </a:lnSpc>
                        <a:spcBef>
                          <a:spcPts val="300"/>
                        </a:spcBef>
                        <a:spcAft>
                          <a:spcPts val="0"/>
                        </a:spcAft>
                      </a:pPr>
                      <a:r>
                        <a:rPr lang="en-US" sz="1200" b="0" i="0" u="none" strike="noStrike" kern="1200" dirty="0">
                          <a:solidFill>
                            <a:schemeClr val="tx1"/>
                          </a:solidFill>
                          <a:effectLst/>
                          <a:latin typeface="微軟正黑體" panose="020B0604030504040204" pitchFamily="34" charset="-120"/>
                          <a:ea typeface="微軟正黑體" panose="020B0604030504040204" pitchFamily="34" charset="-120"/>
                        </a:rPr>
                        <a:t>202</a:t>
                      </a: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rPr>
                        <a:t>5</a:t>
                      </a:r>
                      <a:r>
                        <a:rPr lang="en-US" sz="1200" b="0" i="0" u="none" strike="noStrike" kern="1200" dirty="0">
                          <a:solidFill>
                            <a:schemeClr val="tx1"/>
                          </a:solidFill>
                          <a:effectLst/>
                          <a:latin typeface="微軟正黑體" panose="020B0604030504040204" pitchFamily="34" charset="-120"/>
                          <a:ea typeface="微軟正黑體" panose="020B0604030504040204" pitchFamily="34" charset="-120"/>
                        </a:rPr>
                        <a:t>/</a:t>
                      </a: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rPr>
                        <a:t>2</a:t>
                      </a:r>
                      <a:r>
                        <a:rPr lang="en-US" sz="1200" b="0" i="0" u="none" strike="noStrike" kern="1200" dirty="0">
                          <a:solidFill>
                            <a:schemeClr val="tx1"/>
                          </a:solidFill>
                          <a:effectLst/>
                          <a:latin typeface="微軟正黑體" panose="020B0604030504040204" pitchFamily="34" charset="-120"/>
                          <a:ea typeface="微軟正黑體" panose="020B0604030504040204" pitchFamily="34" charset="-120"/>
                        </a:rPr>
                        <a:t>/</a:t>
                      </a:r>
                      <a:r>
                        <a:rPr lang="en-US" altLang="zh-TW" sz="1200" b="0" i="0" u="none" strike="noStrike" kern="1200" dirty="0">
                          <a:solidFill>
                            <a:schemeClr val="tx1"/>
                          </a:solidFill>
                          <a:effectLst/>
                          <a:latin typeface="微軟正黑體" panose="020B0604030504040204" pitchFamily="34" charset="-120"/>
                          <a:ea typeface="微軟正黑體" panose="020B0604030504040204" pitchFamily="34" charset="-120"/>
                        </a:rPr>
                        <a:t>7</a:t>
                      </a:r>
                      <a:endParaRPr lang="en-US" altLang="zh-TW" sz="1200" b="0" i="0" u="none" strike="noStrike" dirty="0">
                        <a:solidFill>
                          <a:schemeClr val="tx1"/>
                        </a:solidFill>
                        <a:effectLst/>
                        <a:latin typeface="Arial" panose="020B0604020202020204" pitchFamily="34" charset="0"/>
                      </a:endParaRPr>
                    </a:p>
                  </a:txBody>
                  <a:tcPr marL="9525" marR="9525" marT="9525" marB="0" anchor="ctr">
                    <a:lnL>
                      <a:noFill/>
                    </a:lnL>
                    <a:lnR>
                      <a:noFill/>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en-US" sz="1200" b="0" i="0" u="none" strike="noStrike" kern="1200" dirty="0">
                          <a:solidFill>
                            <a:schemeClr val="tx1"/>
                          </a:solidFill>
                          <a:effectLst/>
                          <a:latin typeface="微軟正黑體" panose="020B0604030504040204" pitchFamily="34" charset="-120"/>
                          <a:ea typeface="微軟正黑體" panose="020B0604030504040204" pitchFamily="34" charset="-120"/>
                        </a:rPr>
                        <a:t>2023/3/17</a:t>
                      </a:r>
                      <a:endParaRPr lang="en-US" altLang="zh-TW" sz="1200" b="0" i="0" u="none" strike="noStrike" dirty="0">
                        <a:solidFill>
                          <a:schemeClr val="tx1"/>
                        </a:solidFill>
                        <a:effectLst/>
                        <a:latin typeface="Arial" panose="020B0604020202020204" pitchFamily="34" charset="0"/>
                      </a:endParaRPr>
                    </a:p>
                  </a:txBody>
                  <a:tcPr marL="9525" marR="9525" marT="9525" marB="0" anchor="ctr">
                    <a:lnL>
                      <a:noFill/>
                    </a:lnL>
                    <a:lnR w="9525" cap="flat" cmpd="sng" algn="ctr">
                      <a:noFill/>
                      <a:prstDash val="solid"/>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a:txBody>
                    <a:bodyPr/>
                    <a:lstStyle/>
                    <a:p>
                      <a:pPr marL="0" algn="ctr" rtl="0" eaLnBrk="1" fontAlgn="ctr" latinLnBrk="0" hangingPunct="1">
                        <a:spcBef>
                          <a:spcPts val="0"/>
                        </a:spcBef>
                        <a:spcAft>
                          <a:spcPts val="0"/>
                        </a:spcAft>
                      </a:pPr>
                      <a:r>
                        <a:rPr lang="en-US" sz="1100" b="0" i="0" u="none" strike="noStrike" kern="1200" dirty="0">
                          <a:solidFill>
                            <a:schemeClr val="tx1"/>
                          </a:solidFill>
                          <a:effectLst/>
                          <a:latin typeface="微軟正黑體" panose="020B0604030504040204" pitchFamily="34" charset="-120"/>
                          <a:ea typeface="微軟正黑體" panose="020B0604030504040204" pitchFamily="34" charset="-120"/>
                        </a:rPr>
                        <a:t>--</a:t>
                      </a:r>
                      <a:endParaRPr lang="en-US" altLang="zh-TW" sz="1100" b="0" i="0" u="none" strike="noStrike" dirty="0">
                        <a:solidFill>
                          <a:schemeClr val="tx1"/>
                        </a:solidFill>
                        <a:effectLst/>
                        <a:latin typeface="Arial" panose="020B0604020202020204" pitchFamily="34" charset="0"/>
                      </a:endParaRPr>
                    </a:p>
                  </a:txBody>
                  <a:tcPr marL="9525" marR="9525" marT="9525" marB="0" anchor="ctr">
                    <a:lnL>
                      <a:noFill/>
                    </a:lnL>
                    <a:lnR w="9525" cap="flat" cmpd="sng" algn="ctr">
                      <a:solidFill>
                        <a:srgbClr val="B8B1A7">
                          <a:shade val="95000"/>
                          <a:satMod val="105000"/>
                        </a:srgbClr>
                      </a:solidFill>
                      <a:prstDash val="solid"/>
                    </a:lnR>
                    <a:lnT w="9525" cap="flat" cmpd="sng" algn="ctr">
                      <a:solidFill>
                        <a:srgbClr val="B8B1A7">
                          <a:shade val="95000"/>
                          <a:satMod val="105000"/>
                        </a:srgbClr>
                      </a:solidFill>
                      <a:prstDash val="solid"/>
                      <a:round/>
                      <a:headEnd type="none" w="med" len="med"/>
                      <a:tailEnd type="none" w="med" len="med"/>
                    </a:lnT>
                    <a:lnB w="9525" cap="flat" cmpd="sng" algn="ctr">
                      <a:solidFill>
                        <a:srgbClr val="B8B1A7">
                          <a:shade val="95000"/>
                          <a:satMod val="10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299952">
                <a:tc gridSpan="4">
                  <a:txBody>
                    <a:bodyPr/>
                    <a:lstStyle>
                      <a:lvl1pPr marL="0" algn="l" defTabSz="914400" rtl="0" eaLnBrk="1" latinLnBrk="0" hangingPunct="1">
                        <a:defRPr sz="1800" kern="1200">
                          <a:solidFill>
                            <a:schemeClr val="tx1"/>
                          </a:solidFill>
                          <a:latin typeface="微軟正黑體"/>
                          <a:ea typeface="微軟正黑體"/>
                        </a:defRPr>
                      </a:lvl1pPr>
                      <a:lvl2pPr marL="457200" algn="l" defTabSz="914400" rtl="0" eaLnBrk="1" latinLnBrk="0" hangingPunct="1">
                        <a:defRPr sz="1800" kern="1200">
                          <a:solidFill>
                            <a:schemeClr val="tx1"/>
                          </a:solidFill>
                          <a:latin typeface="微軟正黑體"/>
                          <a:ea typeface="微軟正黑體"/>
                        </a:defRPr>
                      </a:lvl2pPr>
                      <a:lvl3pPr marL="914400" algn="l" defTabSz="914400" rtl="0" eaLnBrk="1" latinLnBrk="0" hangingPunct="1">
                        <a:defRPr sz="1800" kern="1200">
                          <a:solidFill>
                            <a:schemeClr val="tx1"/>
                          </a:solidFill>
                          <a:latin typeface="微軟正黑體"/>
                          <a:ea typeface="微軟正黑體"/>
                        </a:defRPr>
                      </a:lvl3pPr>
                      <a:lvl4pPr marL="1371600" algn="l" defTabSz="914400" rtl="0" eaLnBrk="1" latinLnBrk="0" hangingPunct="1">
                        <a:defRPr sz="1800" kern="1200">
                          <a:solidFill>
                            <a:schemeClr val="tx1"/>
                          </a:solidFill>
                          <a:latin typeface="微軟正黑體"/>
                          <a:ea typeface="微軟正黑體"/>
                        </a:defRPr>
                      </a:lvl4pPr>
                      <a:lvl5pPr marL="1828800" algn="l" defTabSz="914400" rtl="0" eaLnBrk="1" latinLnBrk="0" hangingPunct="1">
                        <a:defRPr sz="1800" kern="1200">
                          <a:solidFill>
                            <a:schemeClr val="tx1"/>
                          </a:solidFill>
                          <a:latin typeface="微軟正黑體"/>
                          <a:ea typeface="微軟正黑體"/>
                        </a:defRPr>
                      </a:lvl5pPr>
                      <a:lvl6pPr marL="2286000" algn="l" defTabSz="914400" rtl="0" eaLnBrk="1" latinLnBrk="0" hangingPunct="1">
                        <a:defRPr sz="1800" kern="1200">
                          <a:solidFill>
                            <a:schemeClr val="tx1"/>
                          </a:solidFill>
                          <a:latin typeface="微軟正黑體"/>
                          <a:ea typeface="微軟正黑體"/>
                        </a:defRPr>
                      </a:lvl6pPr>
                      <a:lvl7pPr marL="2743200" algn="l" defTabSz="914400" rtl="0" eaLnBrk="1" latinLnBrk="0" hangingPunct="1">
                        <a:defRPr sz="1800" kern="1200">
                          <a:solidFill>
                            <a:schemeClr val="tx1"/>
                          </a:solidFill>
                          <a:latin typeface="微軟正黑體"/>
                          <a:ea typeface="微軟正黑體"/>
                        </a:defRPr>
                      </a:lvl7pPr>
                      <a:lvl8pPr marL="3200400" algn="l" defTabSz="914400" rtl="0" eaLnBrk="1" latinLnBrk="0" hangingPunct="1">
                        <a:defRPr sz="1800" kern="1200">
                          <a:solidFill>
                            <a:schemeClr val="tx1"/>
                          </a:solidFill>
                          <a:latin typeface="微軟正黑體"/>
                          <a:ea typeface="微軟正黑體"/>
                        </a:defRPr>
                      </a:lvl8pPr>
                      <a:lvl9pPr marL="3657600" algn="l" defTabSz="914400" rtl="0" eaLnBrk="1" latinLnBrk="0" hangingPunct="1">
                        <a:defRPr sz="1800" kern="1200">
                          <a:solidFill>
                            <a:schemeClr val="tx1"/>
                          </a:solidFill>
                          <a:latin typeface="微軟正黑體"/>
                          <a:ea typeface="微軟正黑體"/>
                        </a:defRPr>
                      </a:lvl9pPr>
                    </a:lstStyle>
                    <a:p>
                      <a:pPr marL="0" indent="0" algn="just" defTabSz="914400" rtl="0" eaLnBrk="1" latinLnBrk="0" hangingPunct="0">
                        <a:lnSpc>
                          <a:spcPts val="1700"/>
                        </a:lnSpc>
                        <a:spcBef>
                          <a:spcPts val="300"/>
                        </a:spcBef>
                        <a:spcAft>
                          <a:spcPts val="0"/>
                        </a:spcAft>
                        <a:buFont typeface="Wingdings" panose="05000000000000000000" pitchFamily="2" charset="2"/>
                        <a:buNone/>
                      </a:pPr>
                      <a:r>
                        <a:rPr lang="zh-TW" altLang="en-US" sz="1100" b="1" dirty="0">
                          <a:latin typeface="微軟正黑體" panose="020B0604030504040204" pitchFamily="34" charset="-120"/>
                          <a:ea typeface="微軟正黑體" panose="020B0604030504040204" pitchFamily="34" charset="-120"/>
                        </a:rPr>
                        <a:t>穆迪觀點</a:t>
                      </a:r>
                      <a:endParaRPr lang="en-US" altLang="zh-TW" sz="1100" b="1" dirty="0">
                        <a:latin typeface="微軟正黑體" panose="020B0604030504040204" pitchFamily="34" charset="-120"/>
                        <a:ea typeface="微軟正黑體" panose="020B0604030504040204" pitchFamily="34" charset="-120"/>
                      </a:endParaRPr>
                    </a:p>
                    <a:p>
                      <a:pPr marL="171450" indent="-171450" algn="just" defTabSz="914400" rtl="0" eaLnBrk="1" latinLnBrk="0" hangingPunct="0">
                        <a:lnSpc>
                          <a:spcPts val="1600"/>
                        </a:lnSpc>
                        <a:spcBef>
                          <a:spcPts val="300"/>
                        </a:spcBef>
                        <a:spcAft>
                          <a:spcPts val="0"/>
                        </a:spcAft>
                        <a:buFont typeface="Wingdings" panose="05000000000000000000" pitchFamily="2" charset="2"/>
                        <a:buChar char="p"/>
                      </a:pP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穆迪於</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2025/2/7</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將禮來公司</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(Eli Lilly and Company)</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的發行人信用評等與優先無擔保評等由</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A1</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上調至</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Aa3</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，展望調整為穩定。此次評級上調反映了穆迪對禮來未來幾年將保持強勁盈利增長的預期，其主要由包括</a:t>
                      </a:r>
                      <a:r>
                        <a:rPr lang="en-US" altLang="zh-TW" sz="1100" b="0" kern="1200" dirty="0" err="1">
                          <a:solidFill>
                            <a:schemeClr val="tx1"/>
                          </a:solidFill>
                          <a:latin typeface="微軟正黑體" panose="020B0604030504040204" pitchFamily="34" charset="-120"/>
                          <a:ea typeface="微軟正黑體" panose="020B0604030504040204" pitchFamily="34" charset="-120"/>
                          <a:cs typeface="+mn-cs"/>
                        </a:rPr>
                        <a:t>Mounjaro</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和</a:t>
                      </a:r>
                      <a:r>
                        <a:rPr lang="en-US" altLang="zh-TW" sz="1100" b="0" kern="1200" dirty="0" err="1">
                          <a:solidFill>
                            <a:schemeClr val="tx1"/>
                          </a:solidFill>
                          <a:latin typeface="微軟正黑體" panose="020B0604030504040204" pitchFamily="34" charset="-120"/>
                          <a:ea typeface="微軟正黑體" panose="020B0604030504040204" pitchFamily="34" charset="-120"/>
                          <a:cs typeface="+mn-cs"/>
                        </a:rPr>
                        <a:t>Zepbound</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在內的腸泌素產品組合所帶動。</a:t>
                      </a:r>
                      <a:r>
                        <a:rPr lang="en-US" altLang="zh-TW" sz="1100" b="0" kern="1200" dirty="0" err="1">
                          <a:solidFill>
                            <a:schemeClr val="tx1"/>
                          </a:solidFill>
                          <a:latin typeface="微軟正黑體" panose="020B0604030504040204" pitchFamily="34" charset="-120"/>
                          <a:ea typeface="微軟正黑體" panose="020B0604030504040204" pitchFamily="34" charset="-120"/>
                          <a:cs typeface="+mn-cs"/>
                        </a:rPr>
                        <a:t>Zepbound</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於</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2024</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年</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12</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月獲准用於治療成人中重度阻塞性睡眠呼吸中止症，進一步拓展了成長前景。</a:t>
                      </a:r>
                    </a:p>
                    <a:p>
                      <a:pPr marL="171450" indent="-171450" algn="just" defTabSz="914400" rtl="0" eaLnBrk="1" latinLnBrk="0" hangingPunct="0">
                        <a:lnSpc>
                          <a:spcPts val="1600"/>
                        </a:lnSpc>
                        <a:spcBef>
                          <a:spcPts val="300"/>
                        </a:spcBef>
                        <a:spcAft>
                          <a:spcPts val="0"/>
                        </a:spcAft>
                        <a:buFont typeface="Wingdings" panose="05000000000000000000" pitchFamily="2" charset="2"/>
                        <a:buChar char="p"/>
                      </a:pP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禮來</a:t>
                      </a:r>
                      <a:r>
                        <a:rPr lang="en-US" altLang="zh-TW" sz="1100" b="0" kern="1200" dirty="0">
                          <a:solidFill>
                            <a:schemeClr val="tx1"/>
                          </a:solidFill>
                          <a:latin typeface="微軟正黑體" panose="020B0604030504040204" pitchFamily="34" charset="-120"/>
                          <a:ea typeface="微軟正黑體" panose="020B0604030504040204" pitchFamily="34" charset="-120"/>
                          <a:cs typeface="+mn-cs"/>
                        </a:rPr>
                        <a:t>Aa3</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的信評反映了其良好的規模、穩固的競爭地位、高利潤率和穩定的現金流。在研發晚期階段的糖尿病、肥胖症藥物</a:t>
                      </a:r>
                      <a:r>
                        <a:rPr lang="en-US" altLang="zh-TW" sz="1100" b="0" kern="1200" dirty="0" err="1">
                          <a:solidFill>
                            <a:schemeClr val="tx1"/>
                          </a:solidFill>
                          <a:latin typeface="微軟正黑體" panose="020B0604030504040204" pitchFamily="34" charset="-120"/>
                          <a:ea typeface="微軟正黑體" panose="020B0604030504040204" pitchFamily="34" charset="-120"/>
                          <a:cs typeface="+mn-cs"/>
                        </a:rPr>
                        <a:t>orforglipron</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和</a:t>
                      </a:r>
                      <a:r>
                        <a:rPr lang="en-US" altLang="zh-TW" sz="1100" b="0" kern="1200" dirty="0" err="1">
                          <a:solidFill>
                            <a:schemeClr val="tx1"/>
                          </a:solidFill>
                          <a:latin typeface="微軟正黑體" panose="020B0604030504040204" pitchFamily="34" charset="-120"/>
                          <a:ea typeface="微軟正黑體" panose="020B0604030504040204" pitchFamily="34" charset="-120"/>
                          <a:cs typeface="+mn-cs"/>
                        </a:rPr>
                        <a:t>retatrutide</a:t>
                      </a:r>
                      <a:r>
                        <a:rPr lang="zh-TW" altLang="en-US" sz="1100" b="0" kern="1200" dirty="0">
                          <a:solidFill>
                            <a:schemeClr val="tx1"/>
                          </a:solidFill>
                          <a:latin typeface="微軟正黑體" panose="020B0604030504040204" pitchFamily="34" charset="-120"/>
                          <a:ea typeface="微軟正黑體" panose="020B0604030504040204" pitchFamily="34" charset="-120"/>
                          <a:cs typeface="+mn-cs"/>
                        </a:rPr>
                        <a:t>，具有進一步促使公司增長的潛力。穆迪預期禮來將在長期持保守的財務政策</a:t>
                      </a:r>
                      <a:r>
                        <a:rPr lang="zh-TW" altLang="en-US" sz="1100" b="0" dirty="0">
                          <a:latin typeface="微軟正黑體" panose="020B0604030504040204" pitchFamily="34" charset="-120"/>
                          <a:ea typeface="微軟正黑體" panose="020B0604030504040204" pitchFamily="34" charset="-120"/>
                        </a:rPr>
                        <a:t>。</a:t>
                      </a:r>
                      <a:endParaRPr lang="en-US" altLang="zh-TW" sz="1100" b="0" dirty="0">
                        <a:latin typeface="微軟正黑體" panose="020B0604030504040204" pitchFamily="34" charset="-120"/>
                        <a:ea typeface="微軟正黑體" panose="020B0604030504040204" pitchFamily="34" charset="-120"/>
                      </a:endParaRPr>
                    </a:p>
                    <a:p>
                      <a:pPr marL="0" indent="0" algn="just" defTabSz="914400" rtl="0" eaLnBrk="1" latinLnBrk="0" hangingPunct="0">
                        <a:lnSpc>
                          <a:spcPts val="1600"/>
                        </a:lnSpc>
                        <a:spcBef>
                          <a:spcPts val="300"/>
                        </a:spcBef>
                        <a:spcAft>
                          <a:spcPts val="0"/>
                        </a:spcAft>
                        <a:buFont typeface="Wingdings" panose="05000000000000000000" pitchFamily="2" charset="2"/>
                        <a:buNone/>
                      </a:pPr>
                      <a:r>
                        <a:rPr lang="zh-TW" altLang="en-US" sz="1100" b="1" dirty="0">
                          <a:latin typeface="微軟正黑體" panose="020B0604030504040204" pitchFamily="34" charset="-120"/>
                          <a:ea typeface="微軟正黑體" panose="020B0604030504040204" pitchFamily="34" charset="-120"/>
                        </a:rPr>
                        <a:t>標普觀點</a:t>
                      </a:r>
                      <a:endParaRPr lang="en-US" altLang="zh-TW" sz="1100" b="0" dirty="0">
                        <a:latin typeface="微軟正黑體" panose="020B0604030504040204" pitchFamily="34" charset="-120"/>
                        <a:ea typeface="微軟正黑體" panose="020B0604030504040204" pitchFamily="34" charset="-120"/>
                      </a:endParaRPr>
                    </a:p>
                    <a:p>
                      <a:pPr marL="171450" indent="-171450" algn="just" defTabSz="914400" rtl="0" eaLnBrk="1" latinLnBrk="0" hangingPunct="0">
                        <a:lnSpc>
                          <a:spcPts val="1600"/>
                        </a:lnSpc>
                        <a:spcBef>
                          <a:spcPts val="300"/>
                        </a:spcBef>
                        <a:spcAft>
                          <a:spcPts val="0"/>
                        </a:spcAft>
                        <a:buFont typeface="Wingdings" panose="05000000000000000000" pitchFamily="2" charset="2"/>
                        <a:buChar char="p"/>
                      </a:pPr>
                      <a:r>
                        <a:rPr lang="zh-TW" altLang="en-US" sz="1100" b="0" dirty="0">
                          <a:latin typeface="微軟正黑體" panose="020B0604030504040204" pitchFamily="34" charset="-120"/>
                          <a:ea typeface="微軟正黑體" panose="020B0604030504040204" pitchFamily="34" charset="-120"/>
                        </a:rPr>
                        <a:t>標普於</a:t>
                      </a:r>
                      <a:r>
                        <a:rPr lang="en-US" altLang="zh-TW" sz="1100" b="0" dirty="0">
                          <a:latin typeface="微軟正黑體" panose="020B0604030504040204" pitchFamily="34" charset="-120"/>
                          <a:ea typeface="微軟正黑體" panose="020B0604030504040204" pitchFamily="34" charset="-120"/>
                        </a:rPr>
                        <a:t>2025/2/10</a:t>
                      </a:r>
                      <a:r>
                        <a:rPr lang="zh-TW" altLang="en-US" sz="1100" b="0" dirty="0">
                          <a:latin typeface="微軟正黑體" panose="020B0604030504040204" pitchFamily="34" charset="-120"/>
                          <a:ea typeface="微軟正黑體" panose="020B0604030504040204" pitchFamily="34" charset="-120"/>
                        </a:rPr>
                        <a:t>賦予禮來新發行的優先無擔保債券</a:t>
                      </a:r>
                      <a:r>
                        <a:rPr lang="en-US" altLang="zh-TW" sz="1100" b="0" dirty="0">
                          <a:latin typeface="微軟正黑體" panose="020B0604030504040204" pitchFamily="34" charset="-120"/>
                          <a:ea typeface="微軟正黑體" panose="020B0604030504040204" pitchFamily="34" charset="-120"/>
                        </a:rPr>
                        <a:t>A+</a:t>
                      </a:r>
                      <a:r>
                        <a:rPr lang="zh-TW" altLang="en-US" sz="1100" b="0" dirty="0">
                          <a:latin typeface="微軟正黑體" panose="020B0604030504040204" pitchFamily="34" charset="-120"/>
                          <a:ea typeface="微軟正黑體" panose="020B0604030504040204" pitchFamily="34" charset="-120"/>
                        </a:rPr>
                        <a:t>評等。標普預計禮來將在未來數年以領先產業的速度增加收入，得益於其年輕且受歡迎的產品組合</a:t>
                      </a:r>
                      <a:r>
                        <a:rPr lang="en-US" altLang="zh-TW" sz="1100" b="0" dirty="0">
                          <a:latin typeface="微軟正黑體" panose="020B0604030504040204" pitchFamily="34" charset="-120"/>
                          <a:ea typeface="微軟正黑體" panose="020B0604030504040204" pitchFamily="34" charset="-120"/>
                        </a:rPr>
                        <a:t>(</a:t>
                      </a:r>
                      <a:r>
                        <a:rPr lang="zh-TW" altLang="en-US" sz="1100" b="0" dirty="0">
                          <a:latin typeface="微軟正黑體" panose="020B0604030504040204" pitchFamily="34" charset="-120"/>
                          <a:ea typeface="微軟正黑體" panose="020B0604030504040204" pitchFamily="34" charset="-120"/>
                        </a:rPr>
                        <a:t>特別是其肥胖治療藥物</a:t>
                      </a:r>
                      <a:r>
                        <a:rPr lang="en-US" altLang="zh-TW" sz="1100" b="0" dirty="0" err="1">
                          <a:latin typeface="微軟正黑體" panose="020B0604030504040204" pitchFamily="34" charset="-120"/>
                          <a:ea typeface="微軟正黑體" panose="020B0604030504040204" pitchFamily="34" charset="-120"/>
                        </a:rPr>
                        <a:t>Zepbound</a:t>
                      </a:r>
                      <a:r>
                        <a:rPr lang="en-US" altLang="zh-TW" sz="1100" b="0" dirty="0">
                          <a:latin typeface="微軟正黑體" panose="020B0604030504040204" pitchFamily="34" charset="-120"/>
                          <a:ea typeface="微軟正黑體" panose="020B0604030504040204" pitchFamily="34" charset="-120"/>
                        </a:rPr>
                        <a:t>)</a:t>
                      </a:r>
                      <a:r>
                        <a:rPr lang="zh-TW" altLang="en-US" sz="1100" b="0" dirty="0">
                          <a:latin typeface="微軟正黑體" panose="020B0604030504040204" pitchFamily="34" charset="-120"/>
                          <a:ea typeface="微軟正黑體" panose="020B0604030504040204" pitchFamily="34" charset="-120"/>
                        </a:rPr>
                        <a:t>，以及其後期產品線的廣闊前景，及其高於平均的研發投資。標普也預計，該公司將在未來數年大幅增加資本支出以擴大製造能力，特別是為了滿足肥胖症治療日益增長的需求。</a:t>
                      </a:r>
                    </a:p>
                    <a:p>
                      <a:pPr marL="171450" indent="-171450" algn="just" defTabSz="914400" rtl="0" eaLnBrk="1" latinLnBrk="0" hangingPunct="0">
                        <a:lnSpc>
                          <a:spcPts val="1600"/>
                        </a:lnSpc>
                        <a:spcBef>
                          <a:spcPts val="300"/>
                        </a:spcBef>
                        <a:spcAft>
                          <a:spcPts val="0"/>
                        </a:spcAft>
                        <a:buFont typeface="Wingdings" panose="05000000000000000000" pitchFamily="2" charset="2"/>
                        <a:buChar char="p"/>
                      </a:pPr>
                      <a:r>
                        <a:rPr lang="zh-TW" altLang="en-US" sz="1100" b="0" dirty="0">
                          <a:latin typeface="微軟正黑體" panose="020B0604030504040204" pitchFamily="34" charset="-120"/>
                          <a:ea typeface="微軟正黑體" panose="020B0604030504040204" pitchFamily="34" charset="-120"/>
                        </a:rPr>
                        <a:t>信評反映禮來在高利潤和專利保護的處方藥市場中的穩固地位、在糖尿病市場的強大競爭地位，以及相當好的產品多樣性。</a:t>
                      </a:r>
                      <a:endParaRPr lang="en-US" altLang="zh-TW" sz="1100" b="0" dirty="0">
                        <a:latin typeface="微軟正黑體" panose="020B0604030504040204" pitchFamily="34" charset="-120"/>
                        <a:ea typeface="微軟正黑體" panose="020B0604030504040204" pitchFamily="34" charset="-120"/>
                      </a:endParaRPr>
                    </a:p>
                  </a:txBody>
                  <a:tcPr>
                    <a:lnL w="9525" cap="flat" cmpd="sng" algn="ctr">
                      <a:solidFill>
                        <a:srgbClr val="B8B1A7">
                          <a:shade val="95000"/>
                          <a:satMod val="105000"/>
                        </a:srgbClr>
                      </a:solidFill>
                      <a:prstDash val="solid"/>
                    </a:lnL>
                    <a:lnR w="9525" cap="flat" cmpd="sng" algn="ctr">
                      <a:solidFill>
                        <a:srgbClr val="B8B1A7">
                          <a:shade val="95000"/>
                          <a:satMod val="105000"/>
                        </a:srgbClr>
                      </a:solidFill>
                      <a:prstDash val="solid"/>
                    </a:lnR>
                    <a:lnT w="9525" cap="flat" cmpd="sng" algn="ctr">
                      <a:solidFill>
                        <a:srgbClr val="B8B1A7">
                          <a:shade val="95000"/>
                          <a:satMod val="105000"/>
                        </a:srgbClr>
                      </a:solidFill>
                      <a:prstDash val="soli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tc hMerge="1">
                  <a:txBody>
                    <a:bodyPr/>
                    <a:lstStyle/>
                    <a:p>
                      <a:pPr algn="ctr"/>
                      <a:endParaRPr lang="zh-TW" altLang="en-US" sz="1400" dirty="0">
                        <a:latin typeface="微軟正黑體" panose="020B0604030504040204" pitchFamily="34" charset="-120"/>
                        <a:ea typeface="微軟正黑體" panose="020B0604030504040204" pitchFamily="34" charset="-120"/>
                      </a:endParaRPr>
                    </a:p>
                  </a:txBody>
                  <a:tcPr anchor="ctr"/>
                </a:tc>
                <a:tc hMerge="1">
                  <a:txBody>
                    <a:bodyPr/>
                    <a:lstStyle/>
                    <a:p>
                      <a:pPr algn="ctr"/>
                      <a:endParaRPr lang="zh-TW" altLang="en-US" sz="1400" dirty="0">
                        <a:latin typeface="微軟正黑體" panose="020B0604030504040204" pitchFamily="34" charset="-120"/>
                        <a:ea typeface="微軟正黑體" panose="020B0604030504040204" pitchFamily="34" charset="-120"/>
                      </a:endParaRPr>
                    </a:p>
                  </a:txBody>
                  <a:tcPr anchor="ctr"/>
                </a:tc>
                <a:tc hMerge="1">
                  <a:txBody>
                    <a:bodyPr/>
                    <a:lstStyle/>
                    <a:p>
                      <a:pPr marL="0" indent="0" algn="just">
                        <a:lnSpc>
                          <a:spcPts val="1300"/>
                        </a:lnSpc>
                        <a:spcBef>
                          <a:spcPts val="300"/>
                        </a:spcBef>
                        <a:spcAft>
                          <a:spcPts val="0"/>
                        </a:spcAft>
                        <a:buFont typeface="Wingdings" panose="05000000000000000000" pitchFamily="2" charset="2"/>
                        <a:buNone/>
                      </a:pPr>
                      <a:endParaRPr lang="en-US" altLang="zh-TW" sz="1050" b="0" i="0" kern="1200" dirty="0">
                        <a:solidFill>
                          <a:schemeClr val="tx1"/>
                        </a:solidFill>
                        <a:effectLst/>
                        <a:latin typeface="微軟正黑體"/>
                        <a:ea typeface="微軟正黑體"/>
                        <a:cs typeface="+mn-cs"/>
                      </a:endParaRPr>
                    </a:p>
                  </a:txBody>
                  <a:tcPr>
                    <a:lnL w="9525" cap="flat" cmpd="sng" algn="ctr">
                      <a:solidFill>
                        <a:srgbClr val="B8B1A7">
                          <a:shade val="95000"/>
                          <a:satMod val="105000"/>
                        </a:srgbClr>
                      </a:solidFill>
                      <a:prstDash val="solid"/>
                    </a:lnL>
                    <a:lnR w="9525" cap="flat" cmpd="sng" algn="ctr">
                      <a:solidFill>
                        <a:srgbClr val="B8B1A7">
                          <a:shade val="95000"/>
                          <a:satMod val="105000"/>
                        </a:srgbClr>
                      </a:solidFill>
                      <a:prstDash val="solid"/>
                    </a:lnR>
                    <a:lnT w="9525" cap="flat" cmpd="sng" algn="ctr">
                      <a:solidFill>
                        <a:srgbClr val="B8B1A7">
                          <a:shade val="95000"/>
                          <a:satMod val="105000"/>
                        </a:srgbClr>
                      </a:solidFill>
                      <a:prstDash val="solid"/>
                      <a:round/>
                      <a:headEnd type="none" w="med" len="med"/>
                      <a:tailEnd type="none" w="med" len="med"/>
                    </a:lnT>
                    <a:lnB w="9525" cap="flat" cmpd="sng" algn="ctr">
                      <a:solidFill>
                        <a:srgbClr val="B8B1A7">
                          <a:shade val="95000"/>
                          <a:satMod val="105000"/>
                        </a:srgb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36" name="文字方塊 35"/>
          <p:cNvSpPr txBox="1"/>
          <p:nvPr/>
        </p:nvSpPr>
        <p:spPr>
          <a:xfrm>
            <a:off x="7613021" y="3441756"/>
            <a:ext cx="1272207" cy="215444"/>
          </a:xfrm>
          <a:prstGeom prst="rect">
            <a:avLst/>
          </a:prstGeom>
          <a:noFill/>
        </p:spPr>
        <p:txBody>
          <a:bodyPr wrap="square" rtlCol="0">
            <a:spAutoFit/>
          </a:bodyPr>
          <a:lstStyle/>
          <a:p>
            <a:pPr algn="r"/>
            <a:r>
              <a:rPr lang="zh-TW" altLang="en-US" sz="800" dirty="0">
                <a:latin typeface="微軟正黑體" panose="020B0604030504040204" pitchFamily="34" charset="-120"/>
                <a:ea typeface="微軟正黑體" panose="020B0604030504040204" pitchFamily="34" charset="-120"/>
              </a:rPr>
              <a:t>參考日期：</a:t>
            </a:r>
            <a:r>
              <a:rPr lang="en-US" altLang="zh-TW" sz="800" dirty="0">
                <a:latin typeface="微軟正黑體" panose="020B0604030504040204" pitchFamily="34" charset="-120"/>
                <a:ea typeface="微軟正黑體" panose="020B0604030504040204" pitchFamily="34" charset="-120"/>
              </a:rPr>
              <a:t>2025/9/5</a:t>
            </a:r>
            <a:endParaRPr lang="zh-TW" altLang="en-US" sz="800" dirty="0">
              <a:latin typeface="微軟正黑體" panose="020B0604030504040204" pitchFamily="34" charset="-120"/>
              <a:ea typeface="微軟正黑體" panose="020B0604030504040204" pitchFamily="34" charset="-120"/>
            </a:endParaRPr>
          </a:p>
        </p:txBody>
      </p:sp>
      <p:pic>
        <p:nvPicPr>
          <p:cNvPr id="41" name="Picture 2" descr="File:New Bloomberg Logo.svg - Wikipedia">
            <a:extLst>
              <a:ext uri="{FF2B5EF4-FFF2-40B4-BE49-F238E27FC236}">
                <a16:creationId xmlns:a16="http://schemas.microsoft.com/office/drawing/2014/main" id="{074BB5DC-DFB1-8D4D-D74F-872013971B5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963855" y="1627484"/>
            <a:ext cx="582012" cy="108218"/>
          </a:xfrm>
          <a:prstGeom prst="rect">
            <a:avLst/>
          </a:prstGeom>
          <a:noFill/>
          <a:extLst>
            <a:ext uri="{909E8E84-426E-40DD-AFC4-6F175D3DCCD1}">
              <a14:hiddenFill xmlns:a14="http://schemas.microsoft.com/office/drawing/2010/main">
                <a:solidFill>
                  <a:srgbClr val="FFFFFF"/>
                </a:solidFill>
              </a14:hiddenFill>
            </a:ext>
          </a:extLst>
        </p:spPr>
      </p:pic>
      <p:sp>
        <p:nvSpPr>
          <p:cNvPr id="39" name="文字方塊 38"/>
          <p:cNvSpPr txBox="1"/>
          <p:nvPr/>
        </p:nvSpPr>
        <p:spPr>
          <a:xfrm>
            <a:off x="7572730" y="6040720"/>
            <a:ext cx="1272207" cy="215444"/>
          </a:xfrm>
          <a:prstGeom prst="rect">
            <a:avLst/>
          </a:prstGeom>
          <a:noFill/>
        </p:spPr>
        <p:txBody>
          <a:bodyPr wrap="square" rtlCol="0">
            <a:spAutoFit/>
          </a:bodyPr>
          <a:lstStyle/>
          <a:p>
            <a:pPr algn="r"/>
            <a:r>
              <a:rPr lang="zh-TW" altLang="en-US" sz="800" dirty="0">
                <a:latin typeface="微軟正黑體" panose="020B0604030504040204" pitchFamily="34" charset="-120"/>
                <a:ea typeface="微軟正黑體" panose="020B0604030504040204" pitchFamily="34" charset="-120"/>
              </a:rPr>
              <a:t>參考日期：</a:t>
            </a:r>
            <a:r>
              <a:rPr lang="en-US" altLang="zh-TW" sz="800" dirty="0">
                <a:latin typeface="微軟正黑體" panose="020B0604030504040204" pitchFamily="34" charset="-120"/>
                <a:ea typeface="微軟正黑體" panose="020B0604030504040204" pitchFamily="34" charset="-120"/>
              </a:rPr>
              <a:t>2025/9/5</a:t>
            </a:r>
            <a:endParaRPr lang="zh-TW" altLang="en-US" sz="800" dirty="0">
              <a:latin typeface="微軟正黑體" panose="020B0604030504040204" pitchFamily="34" charset="-120"/>
              <a:ea typeface="微軟正黑體" panose="020B0604030504040204" pitchFamily="34" charset="-120"/>
            </a:endParaRPr>
          </a:p>
        </p:txBody>
      </p:sp>
      <p:pic>
        <p:nvPicPr>
          <p:cNvPr id="42" name="Picture 2" descr="File:New Bloomberg Logo.svg - Wikipedia">
            <a:extLst>
              <a:ext uri="{FF2B5EF4-FFF2-40B4-BE49-F238E27FC236}">
                <a16:creationId xmlns:a16="http://schemas.microsoft.com/office/drawing/2014/main" id="{074BB5DC-DFB1-8D4D-D74F-872013971B5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916230" y="4399259"/>
            <a:ext cx="582012" cy="108218"/>
          </a:xfrm>
          <a:prstGeom prst="rect">
            <a:avLst/>
          </a:prstGeom>
          <a:noFill/>
          <a:extLst>
            <a:ext uri="{909E8E84-426E-40DD-AFC4-6F175D3DCCD1}">
              <a14:hiddenFill xmlns:a14="http://schemas.microsoft.com/office/drawing/2010/main">
                <a:solidFill>
                  <a:srgbClr val="FFFFFF"/>
                </a:solidFill>
              </a14:hiddenFill>
            </a:ext>
          </a:extLst>
        </p:spPr>
      </p:pic>
      <p:sp>
        <p:nvSpPr>
          <p:cNvPr id="27" name="標題 1">
            <a:extLst>
              <a:ext uri="{FF2B5EF4-FFF2-40B4-BE49-F238E27FC236}">
                <a16:creationId xmlns:a16="http://schemas.microsoft.com/office/drawing/2014/main" id="{60C28753-0A00-4E34-83C6-C4D758C2A7D2}"/>
              </a:ext>
            </a:extLst>
          </p:cNvPr>
          <p:cNvSpPr txBox="1">
            <a:spLocks/>
          </p:cNvSpPr>
          <p:nvPr/>
        </p:nvSpPr>
        <p:spPr bwMode="auto">
          <a:xfrm>
            <a:off x="229944" y="161162"/>
            <a:ext cx="776452" cy="633413"/>
          </a:xfrm>
          <a:prstGeom prst="rect">
            <a:avLst/>
          </a:prstGeom>
          <a:solidFill>
            <a:srgbClr val="C00000"/>
          </a:solidFill>
          <a:ln>
            <a:noFill/>
          </a:ln>
        </p:spPr>
        <p:txBody>
          <a:bodyPr anchor="ctr">
            <a:noAutofit/>
          </a:bodyPr>
          <a:lstStyle>
            <a:lvl1pPr algn="l" rtl="0" eaLnBrk="0" fontAlgn="base" hangingPunct="0">
              <a:spcBef>
                <a:spcPct val="0"/>
              </a:spcBef>
              <a:spcAft>
                <a:spcPct val="0"/>
              </a:spcAft>
              <a:defRPr kumimoji="1" sz="3000" b="1">
                <a:solidFill>
                  <a:schemeClr val="tx2"/>
                </a:solidFill>
                <a:latin typeface="+mj-lt"/>
                <a:ea typeface="+mj-ea"/>
                <a:cs typeface="+mj-cs"/>
              </a:defRPr>
            </a:lvl1pPr>
            <a:lvl2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algn="l" rtl="0" fontAlgn="base">
              <a:spcBef>
                <a:spcPct val="0"/>
              </a:spcBef>
              <a:spcAft>
                <a:spcPct val="0"/>
              </a:spcAft>
              <a:defRPr kumimoji="1" sz="3000" b="1">
                <a:solidFill>
                  <a:schemeClr val="tx2"/>
                </a:solidFill>
                <a:latin typeface="標楷體" pitchFamily="65" charset="-120"/>
                <a:ea typeface="標楷體" pitchFamily="65" charset="-120"/>
              </a:defRPr>
            </a:lvl6pPr>
            <a:lvl7pPr marL="914400" algn="l" rtl="0" fontAlgn="base">
              <a:spcBef>
                <a:spcPct val="0"/>
              </a:spcBef>
              <a:spcAft>
                <a:spcPct val="0"/>
              </a:spcAft>
              <a:defRPr kumimoji="1" sz="3000" b="1">
                <a:solidFill>
                  <a:schemeClr val="tx2"/>
                </a:solidFill>
                <a:latin typeface="標楷體" pitchFamily="65" charset="-120"/>
                <a:ea typeface="標楷體" pitchFamily="65" charset="-120"/>
              </a:defRPr>
            </a:lvl7pPr>
            <a:lvl8pPr marL="1371600" algn="l" rtl="0" fontAlgn="base">
              <a:spcBef>
                <a:spcPct val="0"/>
              </a:spcBef>
              <a:spcAft>
                <a:spcPct val="0"/>
              </a:spcAft>
              <a:defRPr kumimoji="1" sz="3000" b="1">
                <a:solidFill>
                  <a:schemeClr val="tx2"/>
                </a:solidFill>
                <a:latin typeface="標楷體" pitchFamily="65" charset="-120"/>
                <a:ea typeface="標楷體" pitchFamily="65" charset="-120"/>
              </a:defRPr>
            </a:lvl8pPr>
            <a:lvl9pPr marL="1828800" algn="l" rtl="0" fontAlgn="base">
              <a:spcBef>
                <a:spcPct val="0"/>
              </a:spcBef>
              <a:spcAft>
                <a:spcPct val="0"/>
              </a:spcAft>
              <a:defRPr kumimoji="1" sz="3000" b="1">
                <a:solidFill>
                  <a:schemeClr val="tx2"/>
                </a:solidFill>
                <a:latin typeface="標楷體" pitchFamily="65" charset="-120"/>
                <a:ea typeface="標楷體" pitchFamily="65" charset="-120"/>
              </a:defRPr>
            </a:lvl9pPr>
          </a:lstStyle>
          <a:p>
            <a:pPr algn="ctr">
              <a:defRPr/>
            </a:pPr>
            <a:r>
              <a:rPr lang="zh-TW" altLang="en-US" sz="2000" kern="0" dirty="0">
                <a:solidFill>
                  <a:schemeClr val="bg1"/>
                </a:solidFill>
              </a:rPr>
              <a:t>信用表現</a:t>
            </a:r>
          </a:p>
        </p:txBody>
      </p:sp>
      <p:sp>
        <p:nvSpPr>
          <p:cNvPr id="30" name="矩形 29">
            <a:extLst>
              <a:ext uri="{FF2B5EF4-FFF2-40B4-BE49-F238E27FC236}">
                <a16:creationId xmlns:a16="http://schemas.microsoft.com/office/drawing/2014/main" id="{705ADE1F-E065-4EC3-B187-F821455018F2}"/>
              </a:ext>
            </a:extLst>
          </p:cNvPr>
          <p:cNvSpPr/>
          <p:nvPr/>
        </p:nvSpPr>
        <p:spPr>
          <a:xfrm>
            <a:off x="395047" y="6535367"/>
            <a:ext cx="7273298" cy="230832"/>
          </a:xfrm>
          <a:prstGeom prst="rect">
            <a:avLst/>
          </a:prstGeom>
        </p:spPr>
        <p:txBody>
          <a:bodyPr wrap="square">
            <a:spAutoFit/>
          </a:bodyPr>
          <a:lstStyle/>
          <a:p>
            <a:pPr>
              <a:buNone/>
            </a:pPr>
            <a:r>
              <a:rPr lang="zh-TW" altLang="en-US" sz="900" dirty="0"/>
              <a:t>資料來源：信評機構、彭博</a:t>
            </a:r>
            <a:r>
              <a:rPr lang="en-US" altLang="zh-TW" sz="900" dirty="0"/>
              <a:t>|</a:t>
            </a:r>
            <a:r>
              <a:rPr lang="zh-TW" altLang="en-US" sz="900" dirty="0"/>
              <a:t>註：</a:t>
            </a:r>
            <a:r>
              <a:rPr lang="en-US" altLang="zh-TW" sz="900" dirty="0"/>
              <a:t>FY23</a:t>
            </a:r>
            <a:r>
              <a:rPr lang="zh-TW" altLang="en-US" sz="900" dirty="0"/>
              <a:t>因認列進展中工程成本至資本支出，導致該年自由現金流下滑</a:t>
            </a:r>
          </a:p>
        </p:txBody>
      </p:sp>
      <p:sp>
        <p:nvSpPr>
          <p:cNvPr id="32" name="投影片編號版面配置區 3">
            <a:extLst>
              <a:ext uri="{FF2B5EF4-FFF2-40B4-BE49-F238E27FC236}">
                <a16:creationId xmlns:a16="http://schemas.microsoft.com/office/drawing/2014/main" id="{7BBAF2F3-4DAD-C14A-B48B-E702BC7A59E7}"/>
              </a:ext>
            </a:extLst>
          </p:cNvPr>
          <p:cNvSpPr>
            <a:spLocks noGrp="1"/>
          </p:cNvSpPr>
          <p:nvPr>
            <p:ph type="sldNum" sz="quarter" idx="4294967295"/>
          </p:nvPr>
        </p:nvSpPr>
        <p:spPr>
          <a:xfrm>
            <a:off x="197514" y="6381328"/>
            <a:ext cx="395064" cy="288032"/>
          </a:xfrm>
          <a:prstGeom prst="rect">
            <a:avLst/>
          </a:prstGeom>
        </p:spPr>
        <p:txBody>
          <a:bodyPr/>
          <a:lstStyle/>
          <a:p>
            <a:fld id="{415482FC-CF5F-466A-B8B6-BC3733E92023}" type="slidenum">
              <a:rPr lang="zh-TW" altLang="en-US" sz="900" smtClean="0">
                <a:latin typeface="微軟正黑體" panose="020B0604030504040204" pitchFamily="34" charset="-120"/>
                <a:ea typeface="微軟正黑體" panose="020B0604030504040204" pitchFamily="34" charset="-120"/>
              </a:rPr>
              <a:pPr/>
              <a:t>4</a:t>
            </a:fld>
            <a:endParaRPr lang="zh-TW" altLang="en-US" sz="900" dirty="0">
              <a:latin typeface="微軟正黑體" panose="020B0604030504040204" pitchFamily="34" charset="-120"/>
              <a:ea typeface="微軟正黑體" panose="020B0604030504040204" pitchFamily="34" charset="-120"/>
            </a:endParaRPr>
          </a:p>
        </p:txBody>
      </p:sp>
      <p:sp>
        <p:nvSpPr>
          <p:cNvPr id="33" name="標題 1">
            <a:extLst>
              <a:ext uri="{FF2B5EF4-FFF2-40B4-BE49-F238E27FC236}">
                <a16:creationId xmlns:a16="http://schemas.microsoft.com/office/drawing/2014/main" id="{8A190DF9-3093-4C79-BE60-4ED0D15A2C3B}"/>
              </a:ext>
            </a:extLst>
          </p:cNvPr>
          <p:cNvSpPr txBox="1">
            <a:spLocks noChangeArrowheads="1"/>
          </p:cNvSpPr>
          <p:nvPr/>
        </p:nvSpPr>
        <p:spPr>
          <a:xfrm>
            <a:off x="1053599" y="142648"/>
            <a:ext cx="6254705" cy="633413"/>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lnSpc>
                <a:spcPts val="2500"/>
              </a:lnSpc>
              <a:defRPr/>
            </a:pPr>
            <a:r>
              <a:rPr lang="zh-TW" altLang="en-US" sz="2400" dirty="0"/>
              <a:t>強勁盈利增長預期，推動信評上調</a:t>
            </a:r>
          </a:p>
        </p:txBody>
      </p:sp>
    </p:spTree>
    <p:extLst>
      <p:ext uri="{BB962C8B-B14F-4D97-AF65-F5344CB8AC3E}">
        <p14:creationId xmlns:p14="http://schemas.microsoft.com/office/powerpoint/2010/main" val="1526345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18013" y="1484785"/>
            <a:ext cx="7992888" cy="1338828"/>
          </a:xfrm>
          <a:prstGeom prst="rect">
            <a:avLst/>
          </a:prstGeom>
        </p:spPr>
        <p:txBody>
          <a:bodyPr wrap="square">
            <a:spAutoFit/>
          </a:bodyPr>
          <a:lstStyle/>
          <a:p>
            <a:pPr algn="just"/>
            <a:r>
              <a:rPr lang="zh-TW" altLang="zh-TW" sz="1350" b="1" dirty="0">
                <a:solidFill>
                  <a:srgbClr val="C92223"/>
                </a:solidFill>
                <a:latin typeface="微軟正黑體" pitchFamily="34" charset="-120"/>
                <a:ea typeface="微軟正黑體" pitchFamily="34" charset="-120"/>
              </a:rPr>
              <a:t>免責宣言說明</a:t>
            </a:r>
            <a:endParaRPr lang="en-US" altLang="zh-TW" sz="1350" b="1" dirty="0">
              <a:solidFill>
                <a:srgbClr val="C92223"/>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本報告所載內容僅供參考，台新綜合證券</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股</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公司不保證其正確性及完整性。內容如涉及任何有價證券或金融市場商品相關記載或說明，並不構成要約、招攬、宣傳、建議或推薦買賣等任何形式之表示，任何人如參考本報告後，所進行相關投資行為或交易，應自行承擔所有損益，本公司並不負任何法律責任。此外，非經本公司同意，不得將本報告內容之一部或全部加以複製、轉載或散佈。</a:t>
            </a:r>
          </a:p>
        </p:txBody>
      </p:sp>
    </p:spTree>
    <p:extLst>
      <p:ext uri="{BB962C8B-B14F-4D97-AF65-F5344CB8AC3E}">
        <p14:creationId xmlns:p14="http://schemas.microsoft.com/office/powerpoint/2010/main" val="3532227976"/>
      </p:ext>
    </p:extLst>
  </p:cSld>
  <p:clrMapOvr>
    <a:masterClrMapping/>
  </p:clrMapOvr>
</p:sld>
</file>

<file path=ppt/theme/theme1.xml><?xml version="1.0" encoding="utf-8"?>
<a:theme xmlns:a="http://schemas.openxmlformats.org/drawingml/2006/main" name="報告佈景主題PPT">
  <a:themeElements>
    <a:clrScheme name="複委託4">
      <a:dk1>
        <a:srgbClr val="000000"/>
      </a:dk1>
      <a:lt1>
        <a:srgbClr val="FFFFFF"/>
      </a:lt1>
      <a:dk2>
        <a:srgbClr val="7F7F7F"/>
      </a:dk2>
      <a:lt2>
        <a:srgbClr val="C00000"/>
      </a:lt2>
      <a:accent1>
        <a:srgbClr val="C95E0D"/>
      </a:accent1>
      <a:accent2>
        <a:srgbClr val="704C61"/>
      </a:accent2>
      <a:accent3>
        <a:srgbClr val="C0CBD1"/>
      </a:accent3>
      <a:accent4>
        <a:srgbClr val="8994A6"/>
      </a:accent4>
      <a:accent5>
        <a:srgbClr val="C39E64"/>
      </a:accent5>
      <a:accent6>
        <a:srgbClr val="B8B1A7"/>
      </a:accent6>
      <a:hlink>
        <a:srgbClr val="0070C0"/>
      </a:hlink>
      <a:folHlink>
        <a:srgbClr val="000000"/>
      </a:folHlink>
    </a:clrScheme>
    <a:fontScheme name="台新投顧">
      <a:majorFont>
        <a:latin typeface="微軟正黑體"/>
        <a:ea typeface="微軟正黑體"/>
        <a:cs typeface=""/>
      </a:majorFont>
      <a:minorFont>
        <a:latin typeface="微軟正黑體"/>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9558</TotalTime>
  <Words>1931</Words>
  <Application>Microsoft Office PowerPoint</Application>
  <PresentationFormat>如螢幕大小 (4:3)</PresentationFormat>
  <Paragraphs>140</Paragraphs>
  <Slides>5</Slides>
  <Notes>3</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5</vt:i4>
      </vt:variant>
    </vt:vector>
  </HeadingPairs>
  <TitlesOfParts>
    <vt:vector size="11" baseType="lpstr">
      <vt:lpstr>微軟正黑體</vt:lpstr>
      <vt:lpstr>微軟正黑體</vt:lpstr>
      <vt:lpstr>Arial</vt:lpstr>
      <vt:lpstr>Calibri</vt:lpstr>
      <vt:lpstr>Wingdings</vt:lpstr>
      <vt:lpstr>報告佈景主題PPT</vt:lpstr>
      <vt:lpstr>禮來公司</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台新B2B Team</dc:creator>
  <cp:lastModifiedBy>張軒愷</cp:lastModifiedBy>
  <cp:revision>11419</cp:revision>
  <cp:lastPrinted>2021-03-31T07:17:07Z</cp:lastPrinted>
  <dcterms:created xsi:type="dcterms:W3CDTF">2013-05-02T15:04:30Z</dcterms:created>
  <dcterms:modified xsi:type="dcterms:W3CDTF">2026-05-05T02:39:42Z</dcterms:modified>
</cp:coreProperties>
</file>