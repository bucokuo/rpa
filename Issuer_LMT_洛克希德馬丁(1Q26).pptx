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4.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notesMasterIdLst>
    <p:notesMasterId r:id="rId8"/>
  </p:notesMasterIdLst>
  <p:handoutMasterIdLst>
    <p:handoutMasterId r:id="rId9"/>
  </p:handoutMasterIdLst>
  <p:sldIdLst>
    <p:sldId id="1345" r:id="rId2"/>
    <p:sldId id="1348" r:id="rId3"/>
    <p:sldId id="1342" r:id="rId4"/>
    <p:sldId id="1349" r:id="rId5"/>
    <p:sldId id="1351" r:id="rId6"/>
    <p:sldId id="1350" r:id="rId7"/>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A71824B8-F3CE-4E38-AD2B-803D36CA02E5}">
          <p14:sldIdLst>
            <p14:sldId id="1345"/>
            <p14:sldId id="1348"/>
            <p14:sldId id="1342"/>
            <p14:sldId id="1349"/>
            <p14:sldId id="1351"/>
            <p14:sldId id="1350"/>
          </p14:sldIdLst>
        </p14:section>
      </p14:sectionLst>
    </p:ext>
    <p:ext uri="{EFAFB233-063F-42B5-8137-9DF3F51BA10A}">
      <p15:sldGuideLst xmlns:p15="http://schemas.microsoft.com/office/powerpoint/2012/main">
        <p15:guide id="1" orient="horz" pos="2160" userDrawn="1">
          <p15:clr>
            <a:srgbClr val="A4A3A4"/>
          </p15:clr>
        </p15:guide>
        <p15:guide id="2" orient="horz" pos="482" userDrawn="1">
          <p15:clr>
            <a:srgbClr val="A4A3A4"/>
          </p15:clr>
        </p15:guide>
        <p15:guide id="3" orient="horz" pos="590" userDrawn="1">
          <p15:clr>
            <a:srgbClr val="A4A3A4"/>
          </p15:clr>
        </p15:guide>
        <p15:guide id="4" pos="2880" userDrawn="1">
          <p15:clr>
            <a:srgbClr val="A4A3A4"/>
          </p15:clr>
        </p15:guide>
        <p15:guide id="5" pos="295" userDrawn="1">
          <p15:clr>
            <a:srgbClr val="A4A3A4"/>
          </p15:clr>
        </p15:guide>
        <p15:guide id="6" pos="5468" userDrawn="1">
          <p15:clr>
            <a:srgbClr val="A4A3A4"/>
          </p15:clr>
        </p15:guide>
        <p15:guide id="7" orient="horz" pos="1071" userDrawn="1">
          <p15:clr>
            <a:srgbClr val="A4A3A4"/>
          </p15:clr>
        </p15:guide>
        <p15:guide id="8" pos="5465" userDrawn="1">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guide id="3" orient="horz" pos="3130" userDrawn="1">
          <p15:clr>
            <a:srgbClr val="A4A3A4"/>
          </p15:clr>
        </p15:guide>
        <p15:guide id="4"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建宇 陳" initials="建宇"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377B"/>
    <a:srgbClr val="C00000"/>
    <a:srgbClr val="446A9B"/>
    <a:srgbClr val="00357A"/>
    <a:srgbClr val="ED7D31"/>
    <a:srgbClr val="900000"/>
    <a:srgbClr val="A6A6A6"/>
    <a:srgbClr val="D9D9D9"/>
    <a:srgbClr val="B2B2B2"/>
    <a:srgbClr val="0034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淺色樣式 2 - 輔色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2DE63D5-997A-4646-A377-4702673A728D}" styleName="淺色樣式 2 - 輔色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56" autoAdjust="0"/>
    <p:restoredTop sz="96318" autoAdjust="0"/>
  </p:normalViewPr>
  <p:slideViewPr>
    <p:cSldViewPr showGuides="1">
      <p:cViewPr varScale="1">
        <p:scale>
          <a:sx n="107" d="100"/>
          <a:sy n="107" d="100"/>
        </p:scale>
        <p:origin x="126" y="228"/>
      </p:cViewPr>
      <p:guideLst>
        <p:guide orient="horz" pos="2160"/>
        <p:guide orient="horz" pos="482"/>
        <p:guide orient="horz" pos="590"/>
        <p:guide pos="2880"/>
        <p:guide pos="295"/>
        <p:guide pos="5468"/>
        <p:guide orient="horz" pos="1071"/>
        <p:guide pos="546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notesViewPr>
    <p:cSldViewPr>
      <p:cViewPr varScale="1">
        <p:scale>
          <a:sx n="80" d="100"/>
          <a:sy n="80" d="100"/>
        </p:scale>
        <p:origin x="-3996" y="-96"/>
      </p:cViewPr>
      <p:guideLst>
        <p:guide orient="horz" pos="3126"/>
        <p:guide pos="2141"/>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08997576675077"/>
          <c:y val="9.7343015580194064E-2"/>
          <c:w val="0.46939510047436872"/>
          <c:h val="0.86084495418784246"/>
        </c:manualLayout>
      </c:layout>
      <c:doughnutChart>
        <c:varyColors val="1"/>
        <c:ser>
          <c:idx val="0"/>
          <c:order val="0"/>
          <c:tx>
            <c:strRef>
              <c:f>工作表1!$B$1</c:f>
              <c:strCache>
                <c:ptCount val="1"/>
                <c:pt idx="0">
                  <c:v>FY25營收</c:v>
                </c:pt>
              </c:strCache>
            </c:strRef>
          </c:tx>
          <c:spPr>
            <a:ln w="19050">
              <a:solidFill>
                <a:schemeClr val="bg1"/>
              </a:solidFill>
            </a:ln>
          </c:spPr>
          <c:dPt>
            <c:idx val="0"/>
            <c:bubble3D val="0"/>
            <c:spPr>
              <a:solidFill>
                <a:schemeClr val="bg2">
                  <a:lumMod val="50000"/>
                </a:schemeClr>
              </a:solidFill>
              <a:ln w="19050">
                <a:solidFill>
                  <a:schemeClr val="bg1"/>
                </a:solidFill>
              </a:ln>
            </c:spPr>
            <c:extLst>
              <c:ext xmlns:c16="http://schemas.microsoft.com/office/drawing/2014/chart" uri="{C3380CC4-5D6E-409C-BE32-E72D297353CC}">
                <c16:uniqueId val="{00000001-F76C-4F33-B887-6AD049E125DC}"/>
              </c:ext>
            </c:extLst>
          </c:dPt>
          <c:dPt>
            <c:idx val="1"/>
            <c:bubble3D val="0"/>
            <c:spPr>
              <a:solidFill>
                <a:schemeClr val="bg2">
                  <a:lumMod val="75000"/>
                </a:schemeClr>
              </a:solidFill>
              <a:ln w="19050">
                <a:solidFill>
                  <a:schemeClr val="bg1"/>
                </a:solidFill>
              </a:ln>
            </c:spPr>
            <c:extLst>
              <c:ext xmlns:c16="http://schemas.microsoft.com/office/drawing/2014/chart" uri="{C3380CC4-5D6E-409C-BE32-E72D297353CC}">
                <c16:uniqueId val="{00000003-F76C-4F33-B887-6AD049E125DC}"/>
              </c:ext>
            </c:extLst>
          </c:dPt>
          <c:dPt>
            <c:idx val="2"/>
            <c:bubble3D val="0"/>
            <c:spPr>
              <a:solidFill>
                <a:schemeClr val="bg2">
                  <a:lumMod val="40000"/>
                  <a:lumOff val="60000"/>
                </a:schemeClr>
              </a:solidFill>
              <a:ln w="19050">
                <a:solidFill>
                  <a:schemeClr val="bg1"/>
                </a:solidFill>
              </a:ln>
            </c:spPr>
            <c:extLst>
              <c:ext xmlns:c16="http://schemas.microsoft.com/office/drawing/2014/chart" uri="{C3380CC4-5D6E-409C-BE32-E72D297353CC}">
                <c16:uniqueId val="{00000004-F76C-4F33-B887-6AD049E125DC}"/>
              </c:ext>
            </c:extLst>
          </c:dPt>
          <c:dPt>
            <c:idx val="3"/>
            <c:bubble3D val="0"/>
            <c:spPr>
              <a:solidFill>
                <a:schemeClr val="tx2">
                  <a:lumMod val="60000"/>
                  <a:lumOff val="40000"/>
                </a:schemeClr>
              </a:solidFill>
              <a:ln w="19050">
                <a:solidFill>
                  <a:schemeClr val="bg1"/>
                </a:solidFill>
              </a:ln>
            </c:spPr>
            <c:extLst>
              <c:ext xmlns:c16="http://schemas.microsoft.com/office/drawing/2014/chart" uri="{C3380CC4-5D6E-409C-BE32-E72D297353CC}">
                <c16:uniqueId val="{00000005-F76C-4F33-B887-6AD049E125DC}"/>
              </c:ext>
            </c:extLst>
          </c:dPt>
          <c:dLbls>
            <c:dLbl>
              <c:idx val="0"/>
              <c:layout>
                <c:manualLayout>
                  <c:x val="2.3886085035056167E-4"/>
                  <c:y val="4.6415743271939515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76C-4F33-B887-6AD049E125DC}"/>
                </c:ext>
              </c:extLst>
            </c:dLbl>
            <c:dLbl>
              <c:idx val="1"/>
              <c:layout>
                <c:manualLayout>
                  <c:x val="-8.1737886268409329E-3"/>
                  <c:y val="-7.4339814380924053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76C-4F33-B887-6AD049E125DC}"/>
                </c:ext>
              </c:extLst>
            </c:dLbl>
            <c:dLbl>
              <c:idx val="2"/>
              <c:layout>
                <c:manualLayout>
                  <c:x val="-1.7271467556158976E-17"/>
                  <c:y val="-9.761078816225701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4-F76C-4F33-B887-6AD049E125DC}"/>
                </c:ext>
              </c:extLst>
            </c:dLbl>
            <c:dLbl>
              <c:idx val="3"/>
              <c:layout>
                <c:manualLayout>
                  <c:x val="3.9277032001122794E-3"/>
                  <c:y val="-1.396477912603012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76C-4F33-B887-6AD049E125DC}"/>
                </c:ext>
              </c:extLst>
            </c:dLbl>
            <c:numFmt formatCode="0%" sourceLinked="0"/>
            <c:spPr>
              <a:noFill/>
              <a:ln>
                <a:noFill/>
              </a:ln>
              <a:effectLst/>
            </c:spPr>
            <c:txPr>
              <a:bodyPr/>
              <a:lstStyle/>
              <a:p>
                <a:pPr>
                  <a:defRPr sz="1000" b="1">
                    <a:solidFill>
                      <a:schemeClr val="bg1"/>
                    </a:solidFill>
                    <a:latin typeface="微軟正黑體" panose="020B0604030504040204" pitchFamily="34" charset="-120"/>
                    <a:ea typeface="微軟正黑體" panose="020B0604030504040204" pitchFamily="34" charset="-120"/>
                  </a:defRPr>
                </a:pPr>
                <a:endParaRPr lang="zh-TW"/>
              </a:p>
            </c:txPr>
            <c:showLegendKey val="0"/>
            <c:showVal val="0"/>
            <c:showCatName val="0"/>
            <c:showSerName val="0"/>
            <c:showPercent val="1"/>
            <c:showBubbleSize val="0"/>
            <c:showLeaderLines val="1"/>
            <c:extLst>
              <c:ext xmlns:c15="http://schemas.microsoft.com/office/drawing/2012/chart" uri="{CE6537A1-D6FC-4f65-9D91-7224C49458BB}"/>
            </c:extLst>
          </c:dLbls>
          <c:cat>
            <c:strRef>
              <c:f>工作表1!$A$2:$A$5</c:f>
              <c:strCache>
                <c:ptCount val="4"/>
                <c:pt idx="0">
                  <c:v>航空</c:v>
                </c:pt>
                <c:pt idx="1">
                  <c:v>飛彈與火控</c:v>
                </c:pt>
                <c:pt idx="2">
                  <c:v>旋翼與任務系統</c:v>
                </c:pt>
                <c:pt idx="3">
                  <c:v>太空</c:v>
                </c:pt>
              </c:strCache>
            </c:strRef>
          </c:cat>
          <c:val>
            <c:numRef>
              <c:f>工作表1!$B$2:$B$5</c:f>
              <c:numCache>
                <c:formatCode>_-* #,##0_-;\-* #,##0_-;_-* "-"??_-;_-@_-</c:formatCode>
                <c:ptCount val="4"/>
                <c:pt idx="0">
                  <c:v>30257</c:v>
                </c:pt>
                <c:pt idx="1">
                  <c:v>14450</c:v>
                </c:pt>
                <c:pt idx="2">
                  <c:v>17312</c:v>
                </c:pt>
                <c:pt idx="3">
                  <c:v>13029</c:v>
                </c:pt>
              </c:numCache>
            </c:numRef>
          </c:val>
          <c:extLst>
            <c:ext xmlns:c16="http://schemas.microsoft.com/office/drawing/2014/chart" uri="{C3380CC4-5D6E-409C-BE32-E72D297353CC}">
              <c16:uniqueId val="{00000006-F76C-4F33-B887-6AD049E125DC}"/>
            </c:ext>
          </c:extLst>
        </c:ser>
        <c:dLbls>
          <c:showLegendKey val="0"/>
          <c:showVal val="0"/>
          <c:showCatName val="0"/>
          <c:showSerName val="0"/>
          <c:showPercent val="0"/>
          <c:showBubbleSize val="0"/>
          <c:showLeaderLines val="1"/>
        </c:dLbls>
        <c:firstSliceAng val="0"/>
        <c:holeSize val="61"/>
      </c:doughnutChart>
    </c:plotArea>
    <c:legend>
      <c:legendPos val="r"/>
      <c:layout>
        <c:manualLayout>
          <c:xMode val="edge"/>
          <c:yMode val="edge"/>
          <c:x val="0.58522658993051668"/>
          <c:y val="0.19363085354705389"/>
          <c:w val="0.34160098487817947"/>
          <c:h val="0.62667508760223922"/>
        </c:manualLayout>
      </c:layout>
      <c:overlay val="0"/>
      <c:txPr>
        <a:bodyPr/>
        <a:lstStyle/>
        <a:p>
          <a:pPr>
            <a:defRPr sz="900" b="1">
              <a:latin typeface="微軟正黑體" panose="020B0604030504040204" pitchFamily="34" charset="-120"/>
              <a:ea typeface="微軟正黑體" panose="020B0604030504040204" pitchFamily="34" charset="-120"/>
            </a:defRPr>
          </a:pPr>
          <a:endParaRPr lang="zh-TW"/>
        </a:p>
      </c:txPr>
    </c:legend>
    <c:plotVisOnly val="1"/>
    <c:dispBlanksAs val="gap"/>
    <c:showDLblsOverMax val="0"/>
  </c:chart>
  <c:txPr>
    <a:bodyPr/>
    <a:lstStyle/>
    <a:p>
      <a:pPr>
        <a:defRPr sz="1800"/>
      </a:pPr>
      <a:endParaRPr lang="zh-TW"/>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075698189091403E-2"/>
          <c:y val="0.16340453109771139"/>
          <c:w val="0.52883028224422557"/>
          <c:h val="0.8015304182893932"/>
        </c:manualLayout>
      </c:layout>
      <c:doughnutChart>
        <c:varyColors val="1"/>
        <c:ser>
          <c:idx val="0"/>
          <c:order val="0"/>
          <c:spPr>
            <a:solidFill>
              <a:srgbClr val="954D4D"/>
            </a:solidFill>
            <a:ln w="19050">
              <a:solidFill>
                <a:schemeClr val="bg1"/>
              </a:solidFill>
            </a:ln>
          </c:spPr>
          <c:dPt>
            <c:idx val="0"/>
            <c:bubble3D val="0"/>
            <c:spPr>
              <a:solidFill>
                <a:srgbClr val="003479"/>
              </a:solidFill>
              <a:ln w="19050">
                <a:solidFill>
                  <a:schemeClr val="bg1"/>
                </a:solidFill>
              </a:ln>
            </c:spPr>
            <c:extLst>
              <c:ext xmlns:c16="http://schemas.microsoft.com/office/drawing/2014/chart" uri="{C3380CC4-5D6E-409C-BE32-E72D297353CC}">
                <c16:uniqueId val="{00000004-86FE-49FC-A396-9FB8B31291F3}"/>
              </c:ext>
            </c:extLst>
          </c:dPt>
          <c:dPt>
            <c:idx val="1"/>
            <c:bubble3D val="0"/>
            <c:spPr>
              <a:solidFill>
                <a:schemeClr val="tx1">
                  <a:lumMod val="75000"/>
                  <a:lumOff val="25000"/>
                </a:schemeClr>
              </a:solidFill>
              <a:ln w="19050">
                <a:solidFill>
                  <a:schemeClr val="bg1"/>
                </a:solidFill>
              </a:ln>
            </c:spPr>
            <c:extLst>
              <c:ext xmlns:c16="http://schemas.microsoft.com/office/drawing/2014/chart" uri="{C3380CC4-5D6E-409C-BE32-E72D297353CC}">
                <c16:uniqueId val="{00000001-F3B9-4FE9-872A-C5B25EF17DEB}"/>
              </c:ext>
            </c:extLst>
          </c:dPt>
          <c:dPt>
            <c:idx val="2"/>
            <c:bubble3D val="0"/>
            <c:spPr>
              <a:solidFill>
                <a:schemeClr val="tx1">
                  <a:lumMod val="50000"/>
                  <a:lumOff val="50000"/>
                </a:schemeClr>
              </a:solidFill>
              <a:ln w="19050">
                <a:solidFill>
                  <a:schemeClr val="bg1"/>
                </a:solidFill>
              </a:ln>
            </c:spPr>
            <c:extLst>
              <c:ext xmlns:c16="http://schemas.microsoft.com/office/drawing/2014/chart" uri="{C3380CC4-5D6E-409C-BE32-E72D297353CC}">
                <c16:uniqueId val="{00000003-F3B9-4FE9-872A-C5B25EF17DEB}"/>
              </c:ext>
            </c:extLst>
          </c:dPt>
          <c:dPt>
            <c:idx val="3"/>
            <c:bubble3D val="0"/>
            <c:spPr>
              <a:solidFill>
                <a:schemeClr val="bg1">
                  <a:lumMod val="75000"/>
                </a:schemeClr>
              </a:solidFill>
              <a:ln w="19050">
                <a:solidFill>
                  <a:schemeClr val="bg1"/>
                </a:solidFill>
              </a:ln>
            </c:spPr>
            <c:extLst>
              <c:ext xmlns:c16="http://schemas.microsoft.com/office/drawing/2014/chart" uri="{C3380CC4-5D6E-409C-BE32-E72D297353CC}">
                <c16:uniqueId val="{00000006-34CC-44D3-AC04-FA25B849C9D2}"/>
              </c:ext>
            </c:extLst>
          </c:dPt>
          <c:dPt>
            <c:idx val="4"/>
            <c:bubble3D val="0"/>
            <c:spPr>
              <a:solidFill>
                <a:schemeClr val="bg1">
                  <a:lumMod val="95000"/>
                </a:schemeClr>
              </a:solidFill>
              <a:ln w="19050">
                <a:solidFill>
                  <a:schemeClr val="bg1"/>
                </a:solidFill>
              </a:ln>
            </c:spPr>
            <c:extLst>
              <c:ext xmlns:c16="http://schemas.microsoft.com/office/drawing/2014/chart" uri="{C3380CC4-5D6E-409C-BE32-E72D297353CC}">
                <c16:uniqueId val="{00000007-34CC-44D3-AC04-FA25B849C9D2}"/>
              </c:ext>
            </c:extLst>
          </c:dPt>
          <c:dLbls>
            <c:dLbl>
              <c:idx val="0"/>
              <c:numFmt formatCode="0%" sourceLinked="0"/>
              <c:spPr>
                <a:noFill/>
                <a:ln>
                  <a:noFill/>
                </a:ln>
                <a:effectLst/>
              </c:spPr>
              <c:txPr>
                <a:bodyPr/>
                <a:lstStyle/>
                <a:p>
                  <a:pPr>
                    <a:defRPr sz="1000" b="1">
                      <a:solidFill>
                        <a:schemeClr val="bg1"/>
                      </a:solidFill>
                      <a:latin typeface="微軟正黑體" panose="020B0604030504040204" pitchFamily="34" charset="-120"/>
                      <a:ea typeface="微軟正黑體" panose="020B0604030504040204" pitchFamily="34" charset="-120"/>
                    </a:defRPr>
                  </a:pPr>
                  <a:endParaRPr lang="zh-TW"/>
                </a:p>
              </c:txPr>
              <c:showLegendKey val="0"/>
              <c:showVal val="0"/>
              <c:showCatName val="0"/>
              <c:showSerName val="0"/>
              <c:showPercent val="1"/>
              <c:showBubbleSize val="0"/>
              <c:extLst>
                <c:ext xmlns:c16="http://schemas.microsoft.com/office/drawing/2014/chart" uri="{C3380CC4-5D6E-409C-BE32-E72D297353CC}">
                  <c16:uniqueId val="{00000004-86FE-49FC-A396-9FB8B31291F3}"/>
                </c:ext>
              </c:extLst>
            </c:dLbl>
            <c:dLbl>
              <c:idx val="1"/>
              <c:layout>
                <c:manualLayout>
                  <c:x val="1.381816634098745E-4"/>
                  <c:y val="5.8549595784348216E-3"/>
                </c:manualLayout>
              </c:layout>
              <c:numFmt formatCode="0%" sourceLinked="0"/>
              <c:spPr>
                <a:noFill/>
                <a:ln>
                  <a:noFill/>
                </a:ln>
                <a:effectLst/>
              </c:spPr>
              <c:txPr>
                <a:bodyPr/>
                <a:lstStyle/>
                <a:p>
                  <a:pPr>
                    <a:defRPr sz="1000" b="1">
                      <a:solidFill>
                        <a:schemeClr val="bg1"/>
                      </a:solidFill>
                      <a:latin typeface="微軟正黑體" panose="020B0604030504040204" pitchFamily="34" charset="-120"/>
                      <a:ea typeface="微軟正黑體" panose="020B0604030504040204" pitchFamily="34" charset="-120"/>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3B9-4FE9-872A-C5B25EF17DEB}"/>
                </c:ext>
              </c:extLst>
            </c:dLbl>
            <c:dLbl>
              <c:idx val="2"/>
              <c:layout>
                <c:manualLayout>
                  <c:x val="-1.5491505471731501E-3"/>
                  <c:y val="2.0003518435388183E-3"/>
                </c:manualLayout>
              </c:layout>
              <c:numFmt formatCode="0%" sourceLinked="0"/>
              <c:spPr>
                <a:noFill/>
                <a:ln>
                  <a:noFill/>
                </a:ln>
                <a:effectLst/>
              </c:spPr>
              <c:txPr>
                <a:bodyPr/>
                <a:lstStyle/>
                <a:p>
                  <a:pPr>
                    <a:defRPr sz="1000" b="1">
                      <a:solidFill>
                        <a:schemeClr val="bg1"/>
                      </a:solidFill>
                      <a:latin typeface="微軟正黑體" panose="020B0604030504040204" pitchFamily="34" charset="-120"/>
                      <a:ea typeface="微軟正黑體" panose="020B0604030504040204" pitchFamily="34" charset="-120"/>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3B9-4FE9-872A-C5B25EF17DEB}"/>
                </c:ext>
              </c:extLst>
            </c:dLbl>
            <c:dLbl>
              <c:idx val="3"/>
              <c:numFmt formatCode="0%" sourceLinked="0"/>
              <c:spPr>
                <a:noFill/>
                <a:ln>
                  <a:noFill/>
                </a:ln>
                <a:effectLst/>
              </c:spPr>
              <c:txPr>
                <a:bodyPr/>
                <a:lstStyle/>
                <a:p>
                  <a:pPr>
                    <a:defRPr sz="700" b="1">
                      <a:latin typeface="微軟正黑體" panose="020B0604030504040204" pitchFamily="34" charset="-120"/>
                      <a:ea typeface="微軟正黑體" panose="020B0604030504040204" pitchFamily="34" charset="-120"/>
                    </a:defRPr>
                  </a:pPr>
                  <a:endParaRPr lang="zh-TW"/>
                </a:p>
              </c:txPr>
              <c:showLegendKey val="0"/>
              <c:showVal val="0"/>
              <c:showCatName val="0"/>
              <c:showSerName val="0"/>
              <c:showPercent val="1"/>
              <c:showBubbleSize val="0"/>
              <c:extLst>
                <c:ext xmlns:c16="http://schemas.microsoft.com/office/drawing/2014/chart" uri="{C3380CC4-5D6E-409C-BE32-E72D297353CC}">
                  <c16:uniqueId val="{00000006-34CC-44D3-AC04-FA25B849C9D2}"/>
                </c:ext>
              </c:extLst>
            </c:dLbl>
            <c:dLbl>
              <c:idx val="4"/>
              <c:layout>
                <c:manualLayout>
                  <c:x val="0"/>
                  <c:y val="-0.11556240369799692"/>
                </c:manualLayout>
              </c:layout>
              <c:numFmt formatCode="0%" sourceLinked="0"/>
              <c:spPr>
                <a:noFill/>
                <a:ln>
                  <a:noFill/>
                </a:ln>
                <a:effectLst/>
              </c:spPr>
              <c:txPr>
                <a:bodyPr/>
                <a:lstStyle/>
                <a:p>
                  <a:pPr>
                    <a:defRPr sz="700" b="1">
                      <a:latin typeface="微軟正黑體" panose="020B0604030504040204" pitchFamily="34" charset="-120"/>
                      <a:ea typeface="微軟正黑體" panose="020B0604030504040204" pitchFamily="34" charset="-120"/>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34CC-44D3-AC04-FA25B849C9D2}"/>
                </c:ext>
              </c:extLst>
            </c:dLbl>
            <c:numFmt formatCode="0%" sourceLinked="0"/>
            <c:spPr>
              <a:noFill/>
              <a:ln>
                <a:noFill/>
              </a:ln>
              <a:effectLst/>
            </c:spPr>
            <c:txPr>
              <a:bodyPr/>
              <a:lstStyle/>
              <a:p>
                <a:pPr>
                  <a:defRPr sz="1000" b="1">
                    <a:latin typeface="微軟正黑體" panose="020B0604030504040204" pitchFamily="34" charset="-120"/>
                    <a:ea typeface="微軟正黑體" panose="020B0604030504040204" pitchFamily="34" charset="-120"/>
                  </a:defRPr>
                </a:pPr>
                <a:endParaRPr lang="zh-TW"/>
              </a:p>
            </c:txPr>
            <c:showLegendKey val="0"/>
            <c:showVal val="0"/>
            <c:showCatName val="0"/>
            <c:showSerName val="0"/>
            <c:showPercent val="1"/>
            <c:showBubbleSize val="0"/>
            <c:showLeaderLines val="0"/>
            <c:extLst>
              <c:ext xmlns:c15="http://schemas.microsoft.com/office/drawing/2012/chart" uri="{CE6537A1-D6FC-4f65-9D91-7224C49458BB}"/>
            </c:extLst>
          </c:dLbls>
          <c:cat>
            <c:strRef>
              <c:f>工作表1!$A$2:$A$6</c:f>
              <c:strCache>
                <c:ptCount val="5"/>
                <c:pt idx="0">
                  <c:v>美國</c:v>
                </c:pt>
                <c:pt idx="1">
                  <c:v>歐洲</c:v>
                </c:pt>
                <c:pt idx="2">
                  <c:v>亞太</c:v>
                </c:pt>
                <c:pt idx="3">
                  <c:v>中東</c:v>
                </c:pt>
                <c:pt idx="4">
                  <c:v>其他</c:v>
                </c:pt>
              </c:strCache>
            </c:strRef>
          </c:cat>
          <c:val>
            <c:numRef>
              <c:f>工作表1!$B$2:$B$6</c:f>
              <c:numCache>
                <c:formatCode>0</c:formatCode>
                <c:ptCount val="5"/>
                <c:pt idx="0">
                  <c:v>53705</c:v>
                </c:pt>
                <c:pt idx="1">
                  <c:v>8805</c:v>
                </c:pt>
                <c:pt idx="2">
                  <c:v>7815</c:v>
                </c:pt>
                <c:pt idx="3">
                  <c:v>2864</c:v>
                </c:pt>
                <c:pt idx="4">
                  <c:v>1859</c:v>
                </c:pt>
              </c:numCache>
            </c:numRef>
          </c:val>
          <c:extLst>
            <c:ext xmlns:c16="http://schemas.microsoft.com/office/drawing/2014/chart" uri="{C3380CC4-5D6E-409C-BE32-E72D297353CC}">
              <c16:uniqueId val="{00000004-F3B9-4FE9-872A-C5B25EF17DEB}"/>
            </c:ext>
          </c:extLst>
        </c:ser>
        <c:dLbls>
          <c:showLegendKey val="0"/>
          <c:showVal val="0"/>
          <c:showCatName val="0"/>
          <c:showSerName val="0"/>
          <c:showPercent val="0"/>
          <c:showBubbleSize val="0"/>
          <c:showLeaderLines val="0"/>
        </c:dLbls>
        <c:firstSliceAng val="0"/>
        <c:holeSize val="61"/>
      </c:doughnutChart>
    </c:plotArea>
    <c:legend>
      <c:legendPos val="r"/>
      <c:layout>
        <c:manualLayout>
          <c:xMode val="edge"/>
          <c:yMode val="edge"/>
          <c:x val="0.66016960195809826"/>
          <c:y val="0.25671232544314082"/>
          <c:w val="0.20120153912217331"/>
          <c:h val="0.61603860572898339"/>
        </c:manualLayout>
      </c:layout>
      <c:overlay val="0"/>
      <c:txPr>
        <a:bodyPr/>
        <a:lstStyle/>
        <a:p>
          <a:pPr>
            <a:defRPr sz="900" b="1">
              <a:latin typeface="微軟正黑體" panose="020B0604030504040204" pitchFamily="34" charset="-120"/>
              <a:ea typeface="微軟正黑體" panose="020B0604030504040204" pitchFamily="34" charset="-120"/>
            </a:defRPr>
          </a:pPr>
          <a:endParaRPr lang="zh-TW"/>
        </a:p>
      </c:txPr>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9596337017465716E-2"/>
          <c:y val="5.9468963874582143E-2"/>
          <c:w val="0.75991975038359472"/>
          <c:h val="0.27809978617636055"/>
        </c:manualLayout>
      </c:layout>
      <c:barChart>
        <c:barDir val="col"/>
        <c:grouping val="clustered"/>
        <c:varyColors val="0"/>
        <c:ser>
          <c:idx val="1"/>
          <c:order val="0"/>
          <c:tx>
            <c:strRef>
              <c:f>工作表1!$C$1</c:f>
              <c:strCache>
                <c:ptCount val="1"/>
                <c:pt idx="0">
                  <c:v>營收($M)</c:v>
                </c:pt>
              </c:strCache>
            </c:strRef>
          </c:tx>
          <c:spPr>
            <a:solidFill>
              <a:schemeClr val="bg1">
                <a:lumMod val="75000"/>
              </a:schemeClr>
            </a:solidFill>
            <a:ln>
              <a:noFill/>
            </a:ln>
            <a:effectLst/>
          </c:spPr>
          <c:invertIfNegative val="0"/>
          <c:dPt>
            <c:idx val="1"/>
            <c:invertIfNegative val="0"/>
            <c:bubble3D val="0"/>
            <c:spPr>
              <a:solidFill>
                <a:srgbClr val="C00000"/>
              </a:solidFill>
              <a:ln>
                <a:noFill/>
              </a:ln>
              <a:effectLst/>
            </c:spPr>
            <c:extLst>
              <c:ext xmlns:c16="http://schemas.microsoft.com/office/drawing/2014/chart" uri="{C3380CC4-5D6E-409C-BE32-E72D297353CC}">
                <c16:uniqueId val="{00000003-CFAB-4CB0-80AF-D2E238C0FF58}"/>
              </c:ext>
            </c:extLst>
          </c:dPt>
          <c:dLbls>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FAB-4CB0-80AF-D2E238C0FF5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工作表1!$A$2:$B$8</c:f>
              <c:multiLvlStrCache>
                <c:ptCount val="7"/>
                <c:lvl>
                  <c:pt idx="0">
                    <c:v>雷神科技</c:v>
                  </c:pt>
                  <c:pt idx="1">
                    <c:v>洛克希德馬丁</c:v>
                  </c:pt>
                  <c:pt idx="2">
                    <c:v>波音</c:v>
                  </c:pt>
                  <c:pt idx="3">
                    <c:v>通用動力</c:v>
                  </c:pt>
                  <c:pt idx="4">
                    <c:v>諾斯洛普格拉曼</c:v>
                  </c:pt>
                  <c:pt idx="5">
                    <c:v>奇異</c:v>
                  </c:pt>
                  <c:pt idx="6">
                    <c:v>L3哈里斯技術公司</c:v>
                  </c:pt>
                </c:lvl>
                <c:lvl>
                  <c:pt idx="0">
                    <c:v>#54</c:v>
                  </c:pt>
                  <c:pt idx="1">
                    <c:v>#59</c:v>
                  </c:pt>
                  <c:pt idx="2">
                    <c:v>#63</c:v>
                  </c:pt>
                  <c:pt idx="3">
                    <c:v>#96</c:v>
                  </c:pt>
                  <c:pt idx="4">
                    <c:v>#110</c:v>
                  </c:pt>
                  <c:pt idx="5">
                    <c:v>#118</c:v>
                  </c:pt>
                  <c:pt idx="6">
                    <c:v>#203</c:v>
                  </c:pt>
                </c:lvl>
              </c:multiLvlStrCache>
            </c:multiLvlStrRef>
          </c:cat>
          <c:val>
            <c:numRef>
              <c:f>工作表1!$C$2:$C$8</c:f>
              <c:numCache>
                <c:formatCode>#,##0_ </c:formatCode>
                <c:ptCount val="7"/>
                <c:pt idx="0">
                  <c:v>80738</c:v>
                </c:pt>
                <c:pt idx="1">
                  <c:v>71043</c:v>
                </c:pt>
                <c:pt idx="2">
                  <c:v>66517</c:v>
                </c:pt>
                <c:pt idx="3">
                  <c:v>47716</c:v>
                </c:pt>
                <c:pt idx="4">
                  <c:v>41033</c:v>
                </c:pt>
                <c:pt idx="5">
                  <c:v>38702</c:v>
                </c:pt>
                <c:pt idx="6">
                  <c:v>21325</c:v>
                </c:pt>
              </c:numCache>
            </c:numRef>
          </c:val>
          <c:extLst>
            <c:ext xmlns:c16="http://schemas.microsoft.com/office/drawing/2014/chart" uri="{C3380CC4-5D6E-409C-BE32-E72D297353CC}">
              <c16:uniqueId val="{00000001-CFAB-4CB0-80AF-D2E238C0FF58}"/>
            </c:ext>
          </c:extLst>
        </c:ser>
        <c:dLbls>
          <c:showLegendKey val="0"/>
          <c:showVal val="0"/>
          <c:showCatName val="0"/>
          <c:showSerName val="0"/>
          <c:showPercent val="0"/>
          <c:showBubbleSize val="0"/>
        </c:dLbls>
        <c:gapWidth val="70"/>
        <c:overlap val="-27"/>
        <c:axId val="802801040"/>
        <c:axId val="802791856"/>
      </c:barChart>
      <c:catAx>
        <c:axId val="802801040"/>
        <c:scaling>
          <c:orientation val="minMax"/>
        </c:scaling>
        <c:delete val="0"/>
        <c:axPos val="b"/>
        <c:numFmt formatCode="@" sourceLinked="0"/>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802791856"/>
        <c:crosses val="autoZero"/>
        <c:auto val="1"/>
        <c:lblAlgn val="ctr"/>
        <c:lblOffset val="100"/>
        <c:noMultiLvlLbl val="0"/>
      </c:catAx>
      <c:valAx>
        <c:axId val="802791856"/>
        <c:scaling>
          <c:orientation val="minMax"/>
        </c:scaling>
        <c:delete val="0"/>
        <c:axPos val="l"/>
        <c:numFmt formatCode="#,##0_ " sourceLinked="1"/>
        <c:majorTickMark val="out"/>
        <c:minorTickMark val="none"/>
        <c:tickLblPos val="nextTo"/>
        <c:spPr>
          <a:noFill/>
          <a:ln>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zh-TW"/>
          </a:p>
        </c:txPr>
        <c:crossAx val="802801040"/>
        <c:crosses val="autoZero"/>
        <c:crossBetween val="between"/>
        <c:majorUnit val="30000"/>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manualLayout>
          <c:layoutTarget val="inner"/>
          <c:xMode val="edge"/>
          <c:yMode val="edge"/>
          <c:x val="2.3723307776294812E-2"/>
          <c:y val="0.32618476087363413"/>
          <c:w val="0.95255338444741033"/>
          <c:h val="0.49071998497602404"/>
        </c:manualLayout>
      </c:layout>
      <c:barChart>
        <c:barDir val="col"/>
        <c:grouping val="clustered"/>
        <c:varyColors val="0"/>
        <c:ser>
          <c:idx val="0"/>
          <c:order val="0"/>
          <c:tx>
            <c:strRef>
              <c:f>工作表1!$A$2</c:f>
              <c:strCache>
                <c:ptCount val="1"/>
                <c:pt idx="0">
                  <c:v>營收(百萬 USD)</c:v>
                </c:pt>
              </c:strCache>
            </c:strRef>
          </c:tx>
          <c:spPr>
            <a:solidFill>
              <a:schemeClr val="bg1">
                <a:lumMod val="85000"/>
              </a:schemeClr>
            </a:solidFill>
          </c:spPr>
          <c:invertIfNegative val="0"/>
          <c:dPt>
            <c:idx val="4"/>
            <c:invertIfNegative val="0"/>
            <c:bubble3D val="0"/>
            <c:spPr>
              <a:solidFill>
                <a:srgbClr val="C00000"/>
              </a:solidFill>
            </c:spPr>
            <c:extLst>
              <c:ext xmlns:c16="http://schemas.microsoft.com/office/drawing/2014/chart" uri="{C3380CC4-5D6E-409C-BE32-E72D297353CC}">
                <c16:uniqueId val="{00000001-12E7-4237-AE63-266DB2237A14}"/>
              </c:ext>
            </c:extLst>
          </c:dPt>
          <c:dPt>
            <c:idx val="5"/>
            <c:invertIfNegative val="0"/>
            <c:bubble3D val="0"/>
            <c:spPr>
              <a:solidFill>
                <a:srgbClr val="C00000"/>
              </a:solidFill>
            </c:spPr>
            <c:extLst>
              <c:ext xmlns:c16="http://schemas.microsoft.com/office/drawing/2014/chart" uri="{C3380CC4-5D6E-409C-BE32-E72D297353CC}">
                <c16:uniqueId val="{00000002-1457-4BB9-BBE6-786C477E3B97}"/>
              </c:ext>
            </c:extLst>
          </c:dPt>
          <c:dLbls>
            <c:dLbl>
              <c:idx val="1"/>
              <c:layout>
                <c:manualLayout>
                  <c:x val="0"/>
                  <c:y val="3.201417698672227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457-4BB9-BBE6-786C477E3B97}"/>
                </c:ext>
              </c:extLst>
            </c:dLbl>
            <c:dLbl>
              <c:idx val="2"/>
              <c:layout>
                <c:manualLayout>
                  <c:x val="0"/>
                  <c:y val="-2.40106327400417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457-4BB9-BBE6-786C477E3B97}"/>
                </c:ext>
              </c:extLst>
            </c:dLbl>
            <c:dLbl>
              <c:idx val="3"/>
              <c:layout>
                <c:manualLayout>
                  <c:x val="-5.4365285621590273E-17"/>
                  <c:y val="4.00177212334028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457-4BB9-BBE6-786C477E3B97}"/>
                </c:ext>
              </c:extLst>
            </c:dLbl>
            <c:numFmt formatCode="#,##0_);[Red]\(#,##0\)" sourceLinked="0"/>
            <c:spPr>
              <a:noFill/>
              <a:ln>
                <a:noFill/>
              </a:ln>
              <a:effectLst/>
            </c:spPr>
            <c:txPr>
              <a:bodyPr/>
              <a:lstStyle/>
              <a:p>
                <a:pPr>
                  <a:defRPr sz="800"/>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工作表1!$I$1:$M$1</c:f>
              <c:strCache>
                <c:ptCount val="5"/>
                <c:pt idx="0">
                  <c:v>1Q25</c:v>
                </c:pt>
                <c:pt idx="1">
                  <c:v>2Q25</c:v>
                </c:pt>
                <c:pt idx="2">
                  <c:v>3Q25</c:v>
                </c:pt>
                <c:pt idx="3">
                  <c:v>4Q25</c:v>
                </c:pt>
                <c:pt idx="4">
                  <c:v>1Q26</c:v>
                </c:pt>
              </c:strCache>
            </c:strRef>
          </c:cat>
          <c:val>
            <c:numRef>
              <c:f>工作表1!$I$2:$M$2</c:f>
              <c:numCache>
                <c:formatCode>#,##0</c:formatCode>
                <c:ptCount val="5"/>
                <c:pt idx="0">
                  <c:v>17963</c:v>
                </c:pt>
                <c:pt idx="1">
                  <c:v>18155</c:v>
                </c:pt>
                <c:pt idx="2">
                  <c:v>18609</c:v>
                </c:pt>
                <c:pt idx="3">
                  <c:v>20321</c:v>
                </c:pt>
                <c:pt idx="4">
                  <c:v>18021</c:v>
                </c:pt>
              </c:numCache>
            </c:numRef>
          </c:val>
          <c:extLst>
            <c:ext xmlns:c16="http://schemas.microsoft.com/office/drawing/2014/chart" uri="{C3380CC4-5D6E-409C-BE32-E72D297353CC}">
              <c16:uniqueId val="{00000002-12E7-4237-AE63-266DB2237A14}"/>
            </c:ext>
          </c:extLst>
        </c:ser>
        <c:dLbls>
          <c:showLegendKey val="0"/>
          <c:showVal val="0"/>
          <c:showCatName val="0"/>
          <c:showSerName val="0"/>
          <c:showPercent val="0"/>
          <c:showBubbleSize val="0"/>
        </c:dLbls>
        <c:gapWidth val="67"/>
        <c:axId val="251488896"/>
        <c:axId val="251490688"/>
      </c:barChart>
      <c:catAx>
        <c:axId val="251488896"/>
        <c:scaling>
          <c:orientation val="minMax"/>
        </c:scaling>
        <c:delete val="0"/>
        <c:axPos val="b"/>
        <c:numFmt formatCode="General" sourceLinked="0"/>
        <c:majorTickMark val="out"/>
        <c:minorTickMark val="none"/>
        <c:tickLblPos val="nextTo"/>
        <c:txPr>
          <a:bodyPr/>
          <a:lstStyle/>
          <a:p>
            <a:pPr>
              <a:defRPr sz="800"/>
            </a:pPr>
            <a:endParaRPr lang="zh-TW"/>
          </a:p>
        </c:txPr>
        <c:crossAx val="251490688"/>
        <c:crosses val="autoZero"/>
        <c:auto val="1"/>
        <c:lblAlgn val="ctr"/>
        <c:lblOffset val="100"/>
        <c:noMultiLvlLbl val="0"/>
      </c:catAx>
      <c:valAx>
        <c:axId val="251490688"/>
        <c:scaling>
          <c:orientation val="minMax"/>
        </c:scaling>
        <c:delete val="1"/>
        <c:axPos val="l"/>
        <c:numFmt formatCode="#,##0" sourceLinked="1"/>
        <c:majorTickMark val="out"/>
        <c:minorTickMark val="none"/>
        <c:tickLblPos val="nextTo"/>
        <c:crossAx val="251488896"/>
        <c:crosses val="autoZero"/>
        <c:crossBetween val="between"/>
      </c:valAx>
    </c:plotArea>
    <c:plotVisOnly val="1"/>
    <c:dispBlanksAs val="gap"/>
    <c:showDLblsOverMax val="0"/>
  </c:chart>
  <c:txPr>
    <a:bodyPr/>
    <a:lstStyle/>
    <a:p>
      <a:pPr>
        <a:defRPr sz="1000"/>
      </a:pPr>
      <a:endParaRPr lang="zh-TW"/>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515608361352643E-2"/>
          <c:y val="0.37302351501988612"/>
          <c:w val="0.9209687832772947"/>
          <c:h val="0.4743075670069668"/>
        </c:manualLayout>
      </c:layout>
      <c:barChart>
        <c:barDir val="col"/>
        <c:grouping val="clustered"/>
        <c:varyColors val="0"/>
        <c:ser>
          <c:idx val="0"/>
          <c:order val="0"/>
          <c:tx>
            <c:strRef>
              <c:f>工作表1!$A$2</c:f>
              <c:strCache>
                <c:ptCount val="1"/>
                <c:pt idx="0">
                  <c:v>普通股可分配淨利
(百萬 USD)</c:v>
                </c:pt>
              </c:strCache>
            </c:strRef>
          </c:tx>
          <c:spPr>
            <a:solidFill>
              <a:schemeClr val="bg1">
                <a:lumMod val="85000"/>
              </a:schemeClr>
            </a:solidFill>
          </c:spPr>
          <c:invertIfNegative val="0"/>
          <c:dPt>
            <c:idx val="4"/>
            <c:invertIfNegative val="0"/>
            <c:bubble3D val="0"/>
            <c:spPr>
              <a:solidFill>
                <a:srgbClr val="C00000"/>
              </a:solidFill>
            </c:spPr>
            <c:extLst>
              <c:ext xmlns:c16="http://schemas.microsoft.com/office/drawing/2014/chart" uri="{C3380CC4-5D6E-409C-BE32-E72D297353CC}">
                <c16:uniqueId val="{00000001-823A-445C-AAE8-C9477E1915EF}"/>
              </c:ext>
            </c:extLst>
          </c:dPt>
          <c:dPt>
            <c:idx val="5"/>
            <c:invertIfNegative val="0"/>
            <c:bubble3D val="0"/>
            <c:spPr>
              <a:solidFill>
                <a:srgbClr val="C00000"/>
              </a:solidFill>
            </c:spPr>
            <c:extLst>
              <c:ext xmlns:c16="http://schemas.microsoft.com/office/drawing/2014/chart" uri="{C3380CC4-5D6E-409C-BE32-E72D297353CC}">
                <c16:uniqueId val="{00000002-C4D2-4227-85FE-E0540F1F6959}"/>
              </c:ext>
            </c:extLst>
          </c:dPt>
          <c:dLbls>
            <c:dLbl>
              <c:idx val="2"/>
              <c:numFmt formatCode="#,##0_);[Red]\(#,##0\)" sourceLinked="0"/>
              <c:spPr/>
              <c:txPr>
                <a:bodyPr/>
                <a:lstStyle/>
                <a:p>
                  <a:pPr>
                    <a:defRPr sz="700"/>
                  </a:pPr>
                  <a:endParaRPr lang="zh-TW"/>
                </a:p>
              </c:txPr>
              <c:showLegendKey val="0"/>
              <c:showVal val="1"/>
              <c:showCatName val="0"/>
              <c:showSerName val="0"/>
              <c:showPercent val="0"/>
              <c:showBubbleSize val="0"/>
              <c:extLst>
                <c:ext xmlns:c16="http://schemas.microsoft.com/office/drawing/2014/chart" uri="{C3380CC4-5D6E-409C-BE32-E72D297353CC}">
                  <c16:uniqueId val="{00000002-256B-4D8A-A063-2F75E0E16630}"/>
                </c:ext>
              </c:extLst>
            </c:dLbl>
            <c:numFmt formatCode="#,##0_);[Red]\(#,##0\)" sourceLinked="0"/>
            <c:spPr>
              <a:noFill/>
              <a:ln>
                <a:noFill/>
              </a:ln>
              <a:effectLst/>
            </c:spPr>
            <c:txPr>
              <a:bodyPr/>
              <a:lstStyle/>
              <a:p>
                <a:pPr>
                  <a:defRPr sz="800"/>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工作表1!$I$1:$M$1</c:f>
              <c:strCache>
                <c:ptCount val="5"/>
                <c:pt idx="0">
                  <c:v>1Q25</c:v>
                </c:pt>
                <c:pt idx="1">
                  <c:v>2Q25</c:v>
                </c:pt>
                <c:pt idx="2">
                  <c:v>3Q25</c:v>
                </c:pt>
                <c:pt idx="3">
                  <c:v>4Q25</c:v>
                </c:pt>
                <c:pt idx="4">
                  <c:v>1Q26</c:v>
                </c:pt>
              </c:strCache>
            </c:strRef>
          </c:cat>
          <c:val>
            <c:numRef>
              <c:f>工作表1!$I$2:$M$2</c:f>
              <c:numCache>
                <c:formatCode>General</c:formatCode>
                <c:ptCount val="5"/>
                <c:pt idx="0" formatCode="0_);[Red]\(0\)">
                  <c:v>1712</c:v>
                </c:pt>
                <c:pt idx="1">
                  <c:v>342</c:v>
                </c:pt>
                <c:pt idx="2" formatCode="#,##0">
                  <c:v>1619</c:v>
                </c:pt>
                <c:pt idx="3" formatCode="#,##0">
                  <c:v>1344</c:v>
                </c:pt>
                <c:pt idx="4" formatCode="#,##0.00">
                  <c:v>1488</c:v>
                </c:pt>
              </c:numCache>
            </c:numRef>
          </c:val>
          <c:extLst>
            <c:ext xmlns:c16="http://schemas.microsoft.com/office/drawing/2014/chart" uri="{C3380CC4-5D6E-409C-BE32-E72D297353CC}">
              <c16:uniqueId val="{00000003-823A-445C-AAE8-C9477E1915EF}"/>
            </c:ext>
          </c:extLst>
        </c:ser>
        <c:dLbls>
          <c:showLegendKey val="0"/>
          <c:showVal val="0"/>
          <c:showCatName val="0"/>
          <c:showSerName val="0"/>
          <c:showPercent val="0"/>
          <c:showBubbleSize val="0"/>
        </c:dLbls>
        <c:gapWidth val="67"/>
        <c:axId val="251554432"/>
        <c:axId val="251560320"/>
      </c:barChart>
      <c:catAx>
        <c:axId val="251554432"/>
        <c:scaling>
          <c:orientation val="minMax"/>
        </c:scaling>
        <c:delete val="0"/>
        <c:axPos val="b"/>
        <c:numFmt formatCode="General" sourceLinked="0"/>
        <c:majorTickMark val="out"/>
        <c:minorTickMark val="none"/>
        <c:tickLblPos val="low"/>
        <c:txPr>
          <a:bodyPr/>
          <a:lstStyle/>
          <a:p>
            <a:pPr>
              <a:defRPr sz="800"/>
            </a:pPr>
            <a:endParaRPr lang="zh-TW"/>
          </a:p>
        </c:txPr>
        <c:crossAx val="251560320"/>
        <c:crosses val="autoZero"/>
        <c:auto val="1"/>
        <c:lblAlgn val="ctr"/>
        <c:lblOffset val="100"/>
        <c:noMultiLvlLbl val="0"/>
      </c:catAx>
      <c:valAx>
        <c:axId val="251560320"/>
        <c:scaling>
          <c:orientation val="minMax"/>
        </c:scaling>
        <c:delete val="1"/>
        <c:axPos val="l"/>
        <c:numFmt formatCode="0_);[Red]\(0\)" sourceLinked="1"/>
        <c:majorTickMark val="out"/>
        <c:minorTickMark val="none"/>
        <c:tickLblPos val="nextTo"/>
        <c:crossAx val="251554432"/>
        <c:crosses val="autoZero"/>
        <c:crossBetween val="between"/>
      </c:valAx>
    </c:plotArea>
    <c:plotVisOnly val="1"/>
    <c:dispBlanksAs val="gap"/>
    <c:showDLblsOverMax val="0"/>
  </c:chart>
  <c:txPr>
    <a:bodyPr/>
    <a:lstStyle/>
    <a:p>
      <a:pPr>
        <a:defRPr sz="1000"/>
      </a:pPr>
      <a:endParaRPr lang="zh-TW"/>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4827306139615635E-2"/>
          <c:y val="0.28502706664906236"/>
          <c:w val="0.98517269386038431"/>
          <c:h val="0.50327941250119512"/>
        </c:manualLayout>
      </c:layout>
      <c:barChart>
        <c:barDir val="col"/>
        <c:grouping val="clustered"/>
        <c:varyColors val="0"/>
        <c:ser>
          <c:idx val="0"/>
          <c:order val="0"/>
          <c:tx>
            <c:strRef>
              <c:f>工作表1!$A$2</c:f>
              <c:strCache>
                <c:ptCount val="1"/>
                <c:pt idx="0">
                  <c:v>淨利</c:v>
                </c:pt>
              </c:strCache>
            </c:strRef>
          </c:tx>
          <c:spPr>
            <a:solidFill>
              <a:srgbClr val="03377B"/>
            </a:solidFill>
          </c:spPr>
          <c:invertIfNegative val="0"/>
          <c:dLbls>
            <c:spPr>
              <a:noFill/>
              <a:ln>
                <a:noFill/>
              </a:ln>
              <a:effectLst/>
            </c:spPr>
            <c:txPr>
              <a:bodyPr/>
              <a:lstStyle/>
              <a:p>
                <a:pPr>
                  <a:defRPr sz="800">
                    <a:latin typeface="微軟正黑體" panose="020B0604030504040204" pitchFamily="34" charset="-120"/>
                    <a:ea typeface="微軟正黑體" panose="020B0604030504040204" pitchFamily="34" charset="-12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工作表1!$D$1:$J$1</c:f>
              <c:strCache>
                <c:ptCount val="7"/>
                <c:pt idx="0">
                  <c:v>FY21</c:v>
                </c:pt>
                <c:pt idx="1">
                  <c:v>FY22</c:v>
                </c:pt>
                <c:pt idx="2">
                  <c:v>FY23</c:v>
                </c:pt>
                <c:pt idx="3">
                  <c:v>FY24</c:v>
                </c:pt>
                <c:pt idx="4">
                  <c:v>FY25</c:v>
                </c:pt>
                <c:pt idx="5">
                  <c:v>FY26</c:v>
                </c:pt>
                <c:pt idx="6">
                  <c:v>FY27</c:v>
                </c:pt>
              </c:strCache>
            </c:strRef>
          </c:cat>
          <c:val>
            <c:numRef>
              <c:f>工作表1!$D$2:$J$2</c:f>
              <c:numCache>
                <c:formatCode>#,##0</c:formatCode>
                <c:ptCount val="7"/>
                <c:pt idx="0">
                  <c:v>6315</c:v>
                </c:pt>
                <c:pt idx="1">
                  <c:v>5732</c:v>
                </c:pt>
                <c:pt idx="2">
                  <c:v>6920</c:v>
                </c:pt>
                <c:pt idx="3">
                  <c:v>5336</c:v>
                </c:pt>
                <c:pt idx="4">
                  <c:v>5017</c:v>
                </c:pt>
                <c:pt idx="5">
                  <c:v>6917.6</c:v>
                </c:pt>
                <c:pt idx="6">
                  <c:v>7331</c:v>
                </c:pt>
              </c:numCache>
            </c:numRef>
          </c:val>
          <c:extLst>
            <c:ext xmlns:c16="http://schemas.microsoft.com/office/drawing/2014/chart" uri="{C3380CC4-5D6E-409C-BE32-E72D297353CC}">
              <c16:uniqueId val="{00000000-9C65-40D8-958D-F780EE3D0C98}"/>
            </c:ext>
          </c:extLst>
        </c:ser>
        <c:dLbls>
          <c:showLegendKey val="0"/>
          <c:showVal val="0"/>
          <c:showCatName val="0"/>
          <c:showSerName val="0"/>
          <c:showPercent val="0"/>
          <c:showBubbleSize val="0"/>
        </c:dLbls>
        <c:gapWidth val="100"/>
        <c:axId val="45171456"/>
        <c:axId val="45172992"/>
      </c:barChart>
      <c:lineChart>
        <c:grouping val="stacked"/>
        <c:varyColors val="0"/>
        <c:ser>
          <c:idx val="1"/>
          <c:order val="1"/>
          <c:tx>
            <c:strRef>
              <c:f>工作表1!$A$3</c:f>
              <c:strCache>
                <c:ptCount val="1"/>
                <c:pt idx="0">
                  <c:v>營收</c:v>
                </c:pt>
              </c:strCache>
            </c:strRef>
          </c:tx>
          <c:spPr>
            <a:ln w="19050">
              <a:solidFill>
                <a:srgbClr val="C00000"/>
              </a:solidFill>
            </a:ln>
          </c:spPr>
          <c:marker>
            <c:symbol val="circle"/>
            <c:size val="7"/>
            <c:spPr>
              <a:solidFill>
                <a:schemeClr val="bg1"/>
              </a:solidFill>
              <a:ln w="19050">
                <a:solidFill>
                  <a:srgbClr val="C00000"/>
                </a:solidFill>
              </a:ln>
            </c:spPr>
          </c:marker>
          <c:dLbls>
            <c:dLbl>
              <c:idx val="0"/>
              <c:layout>
                <c:manualLayout>
                  <c:x val="-7.0359487118119735E-2"/>
                  <c:y val="-7.51674307854108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C65-40D8-958D-F780EE3D0C98}"/>
                </c:ext>
              </c:extLst>
            </c:dLbl>
            <c:dLbl>
              <c:idx val="1"/>
              <c:layout>
                <c:manualLayout>
                  <c:x val="-7.7395435829931705E-2"/>
                  <c:y val="-5.782110060416226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C65-40D8-958D-F780EE3D0C98}"/>
                </c:ext>
              </c:extLst>
            </c:dLbl>
            <c:dLbl>
              <c:idx val="2"/>
              <c:layout>
                <c:manualLayout>
                  <c:x val="-7.3877461474025713E-2"/>
                  <c:y val="-5.203899054374598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C65-40D8-958D-F780EE3D0C98}"/>
                </c:ext>
              </c:extLst>
            </c:dLbl>
            <c:dLbl>
              <c:idx val="3"/>
              <c:layout>
                <c:manualLayout>
                  <c:x val="-7.3877461474025782E-2"/>
                  <c:y val="-5.782110060416226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C65-40D8-958D-F780EE3D0C98}"/>
                </c:ext>
              </c:extLst>
            </c:dLbl>
            <c:dLbl>
              <c:idx val="4"/>
              <c:layout>
                <c:manualLayout>
                  <c:x val="-7.7395435829931705E-2"/>
                  <c:y val="-5.203899054374598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C65-40D8-958D-F780EE3D0C98}"/>
                </c:ext>
              </c:extLst>
            </c:dLbl>
            <c:dLbl>
              <c:idx val="5"/>
              <c:layout>
                <c:manualLayout>
                  <c:x val="-7.7395435829931705E-2"/>
                  <c:y val="-5.78211006041622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C65-40D8-958D-F780EE3D0C98}"/>
                </c:ext>
              </c:extLst>
            </c:dLbl>
            <c:dLbl>
              <c:idx val="6"/>
              <c:layout>
                <c:manualLayout>
                  <c:x val="-2.0629642039426053E-2"/>
                  <c:y val="-7.51674307854108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C65-40D8-958D-F780EE3D0C98}"/>
                </c:ext>
              </c:extLst>
            </c:dLbl>
            <c:dLbl>
              <c:idx val="7"/>
              <c:layout>
                <c:manualLayout>
                  <c:x val="-1.0553923067717959E-2"/>
                  <c:y val="-4.62568804833297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C65-40D8-958D-F780EE3D0C98}"/>
                </c:ext>
              </c:extLst>
            </c:dLbl>
            <c:numFmt formatCode="#,##0_ ;[Red]\-#,##0\ " sourceLinked="0"/>
            <c:spPr>
              <a:noFill/>
              <a:ln>
                <a:noFill/>
              </a:ln>
              <a:effectLst/>
            </c:spPr>
            <c:txPr>
              <a:bodyPr/>
              <a:lstStyle/>
              <a:p>
                <a:pPr>
                  <a:defRPr sz="800">
                    <a:latin typeface="微軟正黑體" panose="020B0604030504040204" pitchFamily="34" charset="-120"/>
                    <a:ea typeface="微軟正黑體" panose="020B0604030504040204" pitchFamily="34" charset="-12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工作表1!$D$1:$J$1</c:f>
              <c:strCache>
                <c:ptCount val="7"/>
                <c:pt idx="0">
                  <c:v>FY21</c:v>
                </c:pt>
                <c:pt idx="1">
                  <c:v>FY22</c:v>
                </c:pt>
                <c:pt idx="2">
                  <c:v>FY23</c:v>
                </c:pt>
                <c:pt idx="3">
                  <c:v>FY24</c:v>
                </c:pt>
                <c:pt idx="4">
                  <c:v>FY25</c:v>
                </c:pt>
                <c:pt idx="5">
                  <c:v>FY26</c:v>
                </c:pt>
                <c:pt idx="6">
                  <c:v>FY27</c:v>
                </c:pt>
              </c:strCache>
            </c:strRef>
          </c:cat>
          <c:val>
            <c:numRef>
              <c:f>工作表1!$D$3:$J$3</c:f>
              <c:numCache>
                <c:formatCode>#,##0</c:formatCode>
                <c:ptCount val="7"/>
                <c:pt idx="0">
                  <c:v>67044</c:v>
                </c:pt>
                <c:pt idx="1">
                  <c:v>65984</c:v>
                </c:pt>
                <c:pt idx="2">
                  <c:v>67571</c:v>
                </c:pt>
                <c:pt idx="3">
                  <c:v>71043</c:v>
                </c:pt>
                <c:pt idx="4">
                  <c:v>75048</c:v>
                </c:pt>
                <c:pt idx="5">
                  <c:v>79027</c:v>
                </c:pt>
                <c:pt idx="6">
                  <c:v>82899</c:v>
                </c:pt>
              </c:numCache>
            </c:numRef>
          </c:val>
          <c:smooth val="0"/>
          <c:extLst>
            <c:ext xmlns:c16="http://schemas.microsoft.com/office/drawing/2014/chart" uri="{C3380CC4-5D6E-409C-BE32-E72D297353CC}">
              <c16:uniqueId val="{00000009-9C65-40D8-958D-F780EE3D0C98}"/>
            </c:ext>
          </c:extLst>
        </c:ser>
        <c:dLbls>
          <c:showLegendKey val="0"/>
          <c:showVal val="0"/>
          <c:showCatName val="0"/>
          <c:showSerName val="0"/>
          <c:showPercent val="0"/>
          <c:showBubbleSize val="0"/>
        </c:dLbls>
        <c:marker val="1"/>
        <c:smooth val="0"/>
        <c:axId val="45171456"/>
        <c:axId val="45172992"/>
      </c:lineChart>
      <c:catAx>
        <c:axId val="45171456"/>
        <c:scaling>
          <c:orientation val="minMax"/>
        </c:scaling>
        <c:delete val="0"/>
        <c:axPos val="b"/>
        <c:numFmt formatCode="General" sourceLinked="0"/>
        <c:majorTickMark val="out"/>
        <c:minorTickMark val="none"/>
        <c:tickLblPos val="low"/>
        <c:txPr>
          <a:bodyPr/>
          <a:lstStyle/>
          <a:p>
            <a:pPr>
              <a:defRPr>
                <a:latin typeface="微軟正黑體" panose="020B0604030504040204" pitchFamily="34" charset="-120"/>
                <a:ea typeface="微軟正黑體" panose="020B0604030504040204" pitchFamily="34" charset="-120"/>
              </a:defRPr>
            </a:pPr>
            <a:endParaRPr lang="zh-TW"/>
          </a:p>
        </c:txPr>
        <c:crossAx val="45172992"/>
        <c:crosses val="autoZero"/>
        <c:auto val="1"/>
        <c:lblAlgn val="ctr"/>
        <c:lblOffset val="100"/>
        <c:noMultiLvlLbl val="0"/>
      </c:catAx>
      <c:valAx>
        <c:axId val="45172992"/>
        <c:scaling>
          <c:orientation val="minMax"/>
        </c:scaling>
        <c:delete val="1"/>
        <c:axPos val="l"/>
        <c:numFmt formatCode="#,##0" sourceLinked="1"/>
        <c:majorTickMark val="out"/>
        <c:minorTickMark val="none"/>
        <c:tickLblPos val="nextTo"/>
        <c:crossAx val="45171456"/>
        <c:crosses val="autoZero"/>
        <c:crossBetween val="between"/>
      </c:valAx>
    </c:plotArea>
    <c:legend>
      <c:legendPos val="t"/>
      <c:layout>
        <c:manualLayout>
          <c:xMode val="edge"/>
          <c:yMode val="edge"/>
          <c:x val="0.23153180320545036"/>
          <c:y val="4.349330504500485E-3"/>
          <c:w val="0.5446808510638298"/>
          <c:h val="0.11082529377216666"/>
        </c:manualLayout>
      </c:layout>
      <c:overlay val="0"/>
      <c:txPr>
        <a:bodyPr/>
        <a:lstStyle/>
        <a:p>
          <a:pPr>
            <a:defRPr b="1">
              <a:latin typeface="微軟正黑體" panose="020B0604030504040204" pitchFamily="34" charset="-120"/>
              <a:ea typeface="微軟正黑體" panose="020B0604030504040204" pitchFamily="34" charset="-120"/>
            </a:defRPr>
          </a:pPr>
          <a:endParaRPr lang="zh-TW"/>
        </a:p>
      </c:txPr>
    </c:legend>
    <c:plotVisOnly val="1"/>
    <c:dispBlanksAs val="gap"/>
    <c:showDLblsOverMax val="0"/>
  </c:chart>
  <c:txPr>
    <a:bodyPr/>
    <a:lstStyle/>
    <a:p>
      <a:pPr>
        <a:defRPr sz="1000"/>
      </a:pPr>
      <a:endParaRPr lang="zh-TW"/>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827306139615635E-2"/>
          <c:y val="0.20377342193939796"/>
          <c:w val="0.98517269386038431"/>
          <c:h val="0.63531691969832138"/>
        </c:manualLayout>
      </c:layout>
      <c:barChart>
        <c:barDir val="col"/>
        <c:grouping val="clustered"/>
        <c:varyColors val="0"/>
        <c:ser>
          <c:idx val="0"/>
          <c:order val="0"/>
          <c:tx>
            <c:strRef>
              <c:f>工作表1!$A$2</c:f>
              <c:strCache>
                <c:ptCount val="1"/>
                <c:pt idx="0">
                  <c:v>積壓訂單</c:v>
                </c:pt>
              </c:strCache>
            </c:strRef>
          </c:tx>
          <c:spPr>
            <a:solidFill>
              <a:srgbClr val="03377B"/>
            </a:solidFill>
          </c:spPr>
          <c:invertIfNegative val="0"/>
          <c:dLbls>
            <c:spPr>
              <a:noFill/>
              <a:ln>
                <a:noFill/>
              </a:ln>
              <a:effectLst/>
            </c:spPr>
            <c:txPr>
              <a:bodyPr/>
              <a:lstStyle/>
              <a:p>
                <a:pPr>
                  <a:defRPr sz="800">
                    <a:latin typeface="微軟正黑體" panose="020B0604030504040204" pitchFamily="34" charset="-120"/>
                    <a:ea typeface="微軟正黑體" panose="020B0604030504040204" pitchFamily="34" charset="-12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工作表1!$D$1:$J$1</c:f>
              <c:strCache>
                <c:ptCount val="7"/>
                <c:pt idx="0">
                  <c:v>FY19</c:v>
                </c:pt>
                <c:pt idx="1">
                  <c:v>FY20</c:v>
                </c:pt>
                <c:pt idx="2">
                  <c:v>FY21</c:v>
                </c:pt>
                <c:pt idx="3">
                  <c:v>FY22</c:v>
                </c:pt>
                <c:pt idx="4">
                  <c:v>FY23</c:v>
                </c:pt>
                <c:pt idx="5">
                  <c:v>FY24</c:v>
                </c:pt>
                <c:pt idx="6">
                  <c:v>FY25</c:v>
                </c:pt>
              </c:strCache>
            </c:strRef>
          </c:cat>
          <c:val>
            <c:numRef>
              <c:f>工作表1!$D$2:$J$2</c:f>
              <c:numCache>
                <c:formatCode>#,##0</c:formatCode>
                <c:ptCount val="7"/>
                <c:pt idx="0">
                  <c:v>143981</c:v>
                </c:pt>
                <c:pt idx="1">
                  <c:v>147131</c:v>
                </c:pt>
                <c:pt idx="2">
                  <c:v>135355</c:v>
                </c:pt>
                <c:pt idx="3">
                  <c:v>149998</c:v>
                </c:pt>
                <c:pt idx="4">
                  <c:v>160567</c:v>
                </c:pt>
                <c:pt idx="5">
                  <c:v>176040</c:v>
                </c:pt>
                <c:pt idx="6">
                  <c:v>193622</c:v>
                </c:pt>
              </c:numCache>
            </c:numRef>
          </c:val>
          <c:extLst>
            <c:ext xmlns:c16="http://schemas.microsoft.com/office/drawing/2014/chart" uri="{C3380CC4-5D6E-409C-BE32-E72D297353CC}">
              <c16:uniqueId val="{00000000-2745-44DF-8EE6-F0F558DEFE4F}"/>
            </c:ext>
          </c:extLst>
        </c:ser>
        <c:dLbls>
          <c:showLegendKey val="0"/>
          <c:showVal val="0"/>
          <c:showCatName val="0"/>
          <c:showSerName val="0"/>
          <c:showPercent val="0"/>
          <c:showBubbleSize val="0"/>
        </c:dLbls>
        <c:gapWidth val="100"/>
        <c:axId val="45171456"/>
        <c:axId val="45172992"/>
      </c:barChart>
      <c:catAx>
        <c:axId val="45171456"/>
        <c:scaling>
          <c:orientation val="minMax"/>
        </c:scaling>
        <c:delete val="0"/>
        <c:axPos val="b"/>
        <c:numFmt formatCode="General" sourceLinked="0"/>
        <c:majorTickMark val="out"/>
        <c:minorTickMark val="none"/>
        <c:tickLblPos val="low"/>
        <c:txPr>
          <a:bodyPr/>
          <a:lstStyle/>
          <a:p>
            <a:pPr>
              <a:defRPr>
                <a:latin typeface="微軟正黑體" panose="020B0604030504040204" pitchFamily="34" charset="-120"/>
                <a:ea typeface="微軟正黑體" panose="020B0604030504040204" pitchFamily="34" charset="-120"/>
              </a:defRPr>
            </a:pPr>
            <a:endParaRPr lang="zh-TW"/>
          </a:p>
        </c:txPr>
        <c:crossAx val="45172992"/>
        <c:crosses val="autoZero"/>
        <c:auto val="1"/>
        <c:lblAlgn val="ctr"/>
        <c:lblOffset val="100"/>
        <c:noMultiLvlLbl val="0"/>
      </c:catAx>
      <c:valAx>
        <c:axId val="45172992"/>
        <c:scaling>
          <c:orientation val="minMax"/>
        </c:scaling>
        <c:delete val="1"/>
        <c:axPos val="l"/>
        <c:numFmt formatCode="#,##0" sourceLinked="1"/>
        <c:majorTickMark val="out"/>
        <c:minorTickMark val="none"/>
        <c:tickLblPos val="nextTo"/>
        <c:crossAx val="45171456"/>
        <c:crosses val="autoZero"/>
        <c:crossBetween val="between"/>
      </c:valAx>
    </c:plotArea>
    <c:legend>
      <c:legendPos val="t"/>
      <c:layout>
        <c:manualLayout>
          <c:xMode val="edge"/>
          <c:yMode val="edge"/>
          <c:x val="0.23153192357042679"/>
          <c:y val="1.9584478130459489E-2"/>
          <c:w val="0.5446808510638298"/>
          <c:h val="0.11082529377216666"/>
        </c:manualLayout>
      </c:layout>
      <c:overlay val="0"/>
      <c:txPr>
        <a:bodyPr/>
        <a:lstStyle/>
        <a:p>
          <a:pPr>
            <a:defRPr b="1">
              <a:latin typeface="微軟正黑體" panose="020B0604030504040204" pitchFamily="34" charset="-120"/>
              <a:ea typeface="微軟正黑體" panose="020B0604030504040204" pitchFamily="34" charset="-120"/>
            </a:defRPr>
          </a:pPr>
          <a:endParaRPr lang="zh-TW"/>
        </a:p>
      </c:txPr>
    </c:legend>
    <c:plotVisOnly val="1"/>
    <c:dispBlanksAs val="gap"/>
    <c:showDLblsOverMax val="0"/>
  </c:chart>
  <c:txPr>
    <a:bodyPr/>
    <a:lstStyle/>
    <a:p>
      <a:pPr>
        <a:defRPr sz="1000"/>
      </a:pPr>
      <a:endParaRPr lang="zh-TW"/>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2"/>
            <a:ext cx="2950052" cy="497126"/>
          </a:xfrm>
          <a:prstGeom prst="rect">
            <a:avLst/>
          </a:prstGeom>
        </p:spPr>
        <p:txBody>
          <a:bodyPr vert="horz" lIns="91468" tIns="45733" rIns="91468" bIns="45733" rtlCol="0"/>
          <a:lstStyle>
            <a:lvl1pPr algn="l">
              <a:defRPr sz="1200"/>
            </a:lvl1pPr>
          </a:lstStyle>
          <a:p>
            <a:endParaRPr lang="zh-TW" altLang="en-US"/>
          </a:p>
        </p:txBody>
      </p:sp>
      <p:sp>
        <p:nvSpPr>
          <p:cNvPr id="3" name="日期版面配置區 2"/>
          <p:cNvSpPr>
            <a:spLocks noGrp="1"/>
          </p:cNvSpPr>
          <p:nvPr>
            <p:ph type="dt" sz="quarter" idx="1"/>
          </p:nvPr>
        </p:nvSpPr>
        <p:spPr>
          <a:xfrm>
            <a:off x="3855563" y="2"/>
            <a:ext cx="2950051" cy="497126"/>
          </a:xfrm>
          <a:prstGeom prst="rect">
            <a:avLst/>
          </a:prstGeom>
        </p:spPr>
        <p:txBody>
          <a:bodyPr vert="horz" lIns="91468" tIns="45733" rIns="91468" bIns="45733" rtlCol="0"/>
          <a:lstStyle>
            <a:lvl1pPr algn="r">
              <a:defRPr sz="1200"/>
            </a:lvl1pPr>
          </a:lstStyle>
          <a:p>
            <a:fld id="{DB0088FA-AB4C-4EE3-831C-E6A5D9B6A47F}" type="datetimeFigureOut">
              <a:rPr lang="zh-TW" altLang="en-US" smtClean="0"/>
              <a:t>2026/5/7</a:t>
            </a:fld>
            <a:endParaRPr lang="zh-TW" altLang="en-US"/>
          </a:p>
        </p:txBody>
      </p:sp>
      <p:sp>
        <p:nvSpPr>
          <p:cNvPr id="4" name="頁尾版面配置區 3"/>
          <p:cNvSpPr>
            <a:spLocks noGrp="1"/>
          </p:cNvSpPr>
          <p:nvPr>
            <p:ph type="ftr" sz="quarter" idx="2"/>
          </p:nvPr>
        </p:nvSpPr>
        <p:spPr>
          <a:xfrm>
            <a:off x="0" y="9440624"/>
            <a:ext cx="2950052" cy="497126"/>
          </a:xfrm>
          <a:prstGeom prst="rect">
            <a:avLst/>
          </a:prstGeom>
        </p:spPr>
        <p:txBody>
          <a:bodyPr vert="horz" lIns="91468" tIns="45733" rIns="91468" bIns="45733"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5563" y="9440624"/>
            <a:ext cx="2950051" cy="497126"/>
          </a:xfrm>
          <a:prstGeom prst="rect">
            <a:avLst/>
          </a:prstGeom>
        </p:spPr>
        <p:txBody>
          <a:bodyPr vert="horz" lIns="91468" tIns="45733" rIns="91468" bIns="45733" rtlCol="0" anchor="b"/>
          <a:lstStyle>
            <a:lvl1pPr algn="r">
              <a:defRPr sz="1200"/>
            </a:lvl1pPr>
          </a:lstStyle>
          <a:p>
            <a:fld id="{E6DE1C6A-2ED3-47EA-84F1-8271108DD2DB}" type="slidenum">
              <a:rPr lang="zh-TW" altLang="en-US" smtClean="0"/>
              <a:t>‹#›</a:t>
            </a:fld>
            <a:endParaRPr lang="zh-TW" altLang="en-US"/>
          </a:p>
        </p:txBody>
      </p:sp>
    </p:spTree>
    <p:extLst>
      <p:ext uri="{BB962C8B-B14F-4D97-AF65-F5344CB8AC3E}">
        <p14:creationId xmlns:p14="http://schemas.microsoft.com/office/powerpoint/2010/main" val="2103890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9" y="2"/>
            <a:ext cx="2949786" cy="496967"/>
          </a:xfrm>
          <a:prstGeom prst="rect">
            <a:avLst/>
          </a:prstGeom>
        </p:spPr>
        <p:txBody>
          <a:bodyPr vert="horz" lIns="91160" tIns="45572" rIns="91160" bIns="45572" rtlCol="0"/>
          <a:lstStyle>
            <a:lvl1pPr algn="l">
              <a:defRPr sz="1200"/>
            </a:lvl1pPr>
          </a:lstStyle>
          <a:p>
            <a:endParaRPr lang="zh-TW" altLang="en-US"/>
          </a:p>
        </p:txBody>
      </p:sp>
      <p:sp>
        <p:nvSpPr>
          <p:cNvPr id="3" name="日期版面配置區 2"/>
          <p:cNvSpPr>
            <a:spLocks noGrp="1"/>
          </p:cNvSpPr>
          <p:nvPr>
            <p:ph type="dt" idx="1"/>
          </p:nvPr>
        </p:nvSpPr>
        <p:spPr>
          <a:xfrm>
            <a:off x="3855839" y="2"/>
            <a:ext cx="2949786" cy="496967"/>
          </a:xfrm>
          <a:prstGeom prst="rect">
            <a:avLst/>
          </a:prstGeom>
        </p:spPr>
        <p:txBody>
          <a:bodyPr vert="horz" lIns="91160" tIns="45572" rIns="91160" bIns="45572" rtlCol="0"/>
          <a:lstStyle>
            <a:lvl1pPr algn="r">
              <a:defRPr sz="1200"/>
            </a:lvl1pPr>
          </a:lstStyle>
          <a:p>
            <a:fld id="{35708A9D-C909-4D66-A4DC-8E952B844F82}" type="datetimeFigureOut">
              <a:rPr lang="zh-TW" altLang="en-US" smtClean="0"/>
              <a:t>2026/5/7</a:t>
            </a:fld>
            <a:endParaRPr lang="zh-TW" altLang="en-US"/>
          </a:p>
        </p:txBody>
      </p:sp>
      <p:sp>
        <p:nvSpPr>
          <p:cNvPr id="4" name="投影片圖像版面配置區 3"/>
          <p:cNvSpPr>
            <a:spLocks noGrp="1" noRot="1" noChangeAspect="1"/>
          </p:cNvSpPr>
          <p:nvPr>
            <p:ph type="sldImg" idx="2"/>
          </p:nvPr>
        </p:nvSpPr>
        <p:spPr>
          <a:xfrm>
            <a:off x="919163" y="746125"/>
            <a:ext cx="4968875" cy="3725863"/>
          </a:xfrm>
          <a:prstGeom prst="rect">
            <a:avLst/>
          </a:prstGeom>
          <a:noFill/>
          <a:ln w="12700">
            <a:solidFill>
              <a:prstClr val="black"/>
            </a:solidFill>
          </a:ln>
        </p:spPr>
        <p:txBody>
          <a:bodyPr vert="horz" lIns="91160" tIns="45572" rIns="91160" bIns="45572" rtlCol="0" anchor="ctr"/>
          <a:lstStyle/>
          <a:p>
            <a:endParaRPr lang="zh-TW" altLang="en-US"/>
          </a:p>
        </p:txBody>
      </p:sp>
      <p:sp>
        <p:nvSpPr>
          <p:cNvPr id="5" name="備忘稿版面配置區 4"/>
          <p:cNvSpPr>
            <a:spLocks noGrp="1"/>
          </p:cNvSpPr>
          <p:nvPr>
            <p:ph type="body" sz="quarter" idx="3"/>
          </p:nvPr>
        </p:nvSpPr>
        <p:spPr>
          <a:xfrm>
            <a:off x="680721" y="4721186"/>
            <a:ext cx="5445760" cy="4472702"/>
          </a:xfrm>
          <a:prstGeom prst="rect">
            <a:avLst/>
          </a:prstGeom>
        </p:spPr>
        <p:txBody>
          <a:bodyPr vert="horz" lIns="91160" tIns="45572" rIns="91160" bIns="45572"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29" y="9440676"/>
            <a:ext cx="2949786" cy="496967"/>
          </a:xfrm>
          <a:prstGeom prst="rect">
            <a:avLst/>
          </a:prstGeom>
        </p:spPr>
        <p:txBody>
          <a:bodyPr vert="horz" lIns="91160" tIns="45572" rIns="91160" bIns="45572"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9" y="9440676"/>
            <a:ext cx="2949786" cy="496967"/>
          </a:xfrm>
          <a:prstGeom prst="rect">
            <a:avLst/>
          </a:prstGeom>
        </p:spPr>
        <p:txBody>
          <a:bodyPr vert="horz" lIns="91160" tIns="45572" rIns="91160" bIns="45572" rtlCol="0" anchor="b"/>
          <a:lstStyle>
            <a:lvl1pPr algn="r">
              <a:defRPr sz="1200"/>
            </a:lvl1pPr>
          </a:lstStyle>
          <a:p>
            <a:fld id="{677EE9C5-7ACF-43E8-ABC9-16737D2E075F}" type="slidenum">
              <a:rPr lang="zh-TW" altLang="en-US" smtClean="0"/>
              <a:t>‹#›</a:t>
            </a:fld>
            <a:endParaRPr lang="zh-TW" altLang="en-US"/>
          </a:p>
        </p:txBody>
      </p:sp>
    </p:spTree>
    <p:extLst>
      <p:ext uri="{BB962C8B-B14F-4D97-AF65-F5344CB8AC3E}">
        <p14:creationId xmlns:p14="http://schemas.microsoft.com/office/powerpoint/2010/main" val="2251939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pPr defTabSz="915496">
              <a:defRPr/>
            </a:pPr>
            <a:r>
              <a:rPr lang="zh-TW" altLang="en-US" dirty="0">
                <a:latin typeface="微軟正黑體" panose="020B0604030504040204" pitchFamily="34" charset="-120"/>
                <a:ea typeface="微軟正黑體" panose="020B0604030504040204" pitchFamily="34" charset="-120"/>
              </a:rPr>
              <a:t>飛行時數及成本降低</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https://def.ltn.com.tw/article/breakingnews/4969947</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2025</a:t>
            </a:r>
          </a:p>
          <a:p>
            <a:pPr defTabSz="915496">
              <a:defRPr/>
            </a:pPr>
            <a:r>
              <a:rPr lang="en-US" altLang="zh-TW" dirty="0">
                <a:latin typeface="微軟正黑體" panose="020B0604030504040204" pitchFamily="34" charset="-120"/>
                <a:ea typeface="微軟正黑體" panose="020B0604030504040204" pitchFamily="34" charset="-120"/>
              </a:rPr>
              <a:t>F35</a:t>
            </a:r>
            <a:r>
              <a:rPr lang="zh-TW" altLang="en-US" dirty="0">
                <a:latin typeface="微軟正黑體" panose="020B0604030504040204" pitchFamily="34" charset="-120"/>
                <a:ea typeface="微軟正黑體" panose="020B0604030504040204" pitchFamily="34" charset="-120"/>
              </a:rPr>
              <a:t>交付</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Bloomberg-FA-</a:t>
            </a:r>
            <a:r>
              <a:rPr lang="zh-TW" altLang="en-US" dirty="0">
                <a:latin typeface="微軟正黑體" panose="020B0604030504040204" pitchFamily="34" charset="-120"/>
                <a:ea typeface="微軟正黑體" panose="020B0604030504040204" pitchFamily="34" charset="-120"/>
              </a:rPr>
              <a:t>分類</a:t>
            </a:r>
            <a:endParaRPr lang="en-US" altLang="zh-TW" dirty="0">
              <a:latin typeface="微軟正黑體" panose="020B0604030504040204" pitchFamily="34" charset="-120"/>
              <a:ea typeface="微軟正黑體" panose="020B0604030504040204" pitchFamily="34" charset="-120"/>
            </a:endParaRP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zh-TW" altLang="en-US" dirty="0">
                <a:latin typeface="微軟正黑體" panose="020B0604030504040204" pitchFamily="34" charset="-120"/>
                <a:ea typeface="微軟正黑體" panose="020B0604030504040204" pitchFamily="34" charset="-120"/>
              </a:rPr>
              <a:t>年報 </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https://www.lockheedmartin.com/content/dam/lockheed-martin/eo/documents/annual-reports/lockheed-martin-annual-report-2023.pdf</a:t>
            </a:r>
          </a:p>
          <a:p>
            <a:pPr defTabSz="915496">
              <a:defRPr/>
            </a:pPr>
            <a:r>
              <a:rPr lang="en-US" altLang="zh-TW" dirty="0">
                <a:latin typeface="微軟正黑體" panose="020B0604030504040204" pitchFamily="34" charset="-120"/>
                <a:ea typeface="微軟正黑體" panose="020B0604030504040204" pitchFamily="34" charset="-120"/>
              </a:rPr>
              <a:t>P3. </a:t>
            </a:r>
            <a:r>
              <a:rPr lang="zh-TW" altLang="en-US" dirty="0">
                <a:latin typeface="微軟正黑體" panose="020B0604030504040204" pitchFamily="34" charset="-120"/>
                <a:ea typeface="微軟正黑體" panose="020B0604030504040204" pitchFamily="34" charset="-120"/>
              </a:rPr>
              <a:t>佔營收比率</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P.32</a:t>
            </a:r>
            <a:r>
              <a:rPr lang="zh-TW" altLang="en-US" dirty="0">
                <a:latin typeface="微軟正黑體" panose="020B0604030504040204" pitchFamily="34" charset="-120"/>
                <a:ea typeface="微軟正黑體" panose="020B0604030504040204" pitchFamily="34" charset="-120"/>
              </a:rPr>
              <a:t> 累積交付</a:t>
            </a:r>
            <a:r>
              <a:rPr lang="en-US" altLang="zh-TW" dirty="0">
                <a:latin typeface="微軟正黑體" panose="020B0604030504040204" pitchFamily="34" charset="-120"/>
                <a:ea typeface="微軟正黑體" panose="020B0604030504040204" pitchFamily="34" charset="-120"/>
              </a:rPr>
              <a:t>F-35</a:t>
            </a:r>
            <a:r>
              <a:rPr lang="zh-TW" altLang="en-US" dirty="0">
                <a:latin typeface="微軟正黑體" panose="020B0604030504040204" pitchFamily="34" charset="-120"/>
                <a:ea typeface="微軟正黑體" panose="020B0604030504040204" pitchFamily="34" charset="-120"/>
              </a:rPr>
              <a:t>戰績</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p.37 </a:t>
            </a:r>
            <a:r>
              <a:rPr lang="zh-TW" altLang="en-US" dirty="0">
                <a:latin typeface="微軟正黑體" panose="020B0604030504040204" pitchFamily="34" charset="-120"/>
                <a:ea typeface="微軟正黑體" panose="020B0604030504040204" pitchFamily="34" charset="-120"/>
              </a:rPr>
              <a:t>營收占比</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P.29</a:t>
            </a:r>
            <a:r>
              <a:rPr lang="zh-TW" altLang="en-US" dirty="0">
                <a:latin typeface="微軟正黑體" panose="020B0604030504040204" pitchFamily="34" charset="-120"/>
                <a:ea typeface="微軟正黑體" panose="020B0604030504040204" pitchFamily="34" charset="-120"/>
              </a:rPr>
              <a:t>地區</a:t>
            </a:r>
            <a:endParaRPr lang="en-US" altLang="zh-TW" dirty="0">
              <a:latin typeface="微軟正黑體" panose="020B0604030504040204" pitchFamily="34" charset="-120"/>
              <a:ea typeface="微軟正黑體" panose="020B0604030504040204" pitchFamily="34" charset="-120"/>
            </a:endParaRP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zh-TW" altLang="en-US" dirty="0">
                <a:latin typeface="微軟正黑體" panose="020B0604030504040204" pitchFamily="34" charset="-120"/>
                <a:ea typeface="微軟正黑體" panose="020B0604030504040204" pitchFamily="34" charset="-120"/>
              </a:rPr>
              <a:t>全球國防承包商</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https://people.defensenews.com/top-100//</a:t>
            </a:r>
          </a:p>
        </p:txBody>
      </p:sp>
      <p:sp>
        <p:nvSpPr>
          <p:cNvPr id="4" name="投影片編號版面配置區 3"/>
          <p:cNvSpPr>
            <a:spLocks noGrp="1"/>
          </p:cNvSpPr>
          <p:nvPr>
            <p:ph type="sldNum" sz="quarter" idx="5"/>
          </p:nvPr>
        </p:nvSpPr>
        <p:spPr/>
        <p:txBody>
          <a:bodyPr/>
          <a:lstStyle/>
          <a:p>
            <a:fld id="{677EE9C5-7ACF-43E8-ABC9-16737D2E075F}" type="slidenum">
              <a:rPr lang="zh-TW" altLang="en-US" smtClean="0"/>
              <a:t>2</a:t>
            </a:fld>
            <a:endParaRPr lang="zh-TW" altLang="en-US"/>
          </a:p>
        </p:txBody>
      </p:sp>
    </p:spTree>
    <p:extLst>
      <p:ext uri="{BB962C8B-B14F-4D97-AF65-F5344CB8AC3E}">
        <p14:creationId xmlns:p14="http://schemas.microsoft.com/office/powerpoint/2010/main" val="3679305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pPr defTabSz="915496">
              <a:defRPr/>
            </a:pPr>
            <a:r>
              <a:rPr lang="zh-TW" altLang="en-US" dirty="0"/>
              <a:t>國防承包商排名</a:t>
            </a:r>
            <a:endParaRPr lang="en-US" altLang="zh-TW" dirty="0"/>
          </a:p>
          <a:p>
            <a:pPr defTabSz="915496">
              <a:defRPr/>
            </a:pPr>
            <a:r>
              <a:rPr lang="en-US" altLang="zh-TW" dirty="0"/>
              <a:t>https://people.defensenews.com/top-100//</a:t>
            </a:r>
            <a:endParaRPr lang="zh-TW" altLang="en-US" dirty="0"/>
          </a:p>
        </p:txBody>
      </p:sp>
      <p:sp>
        <p:nvSpPr>
          <p:cNvPr id="4" name="投影片編號版面配置區 3"/>
          <p:cNvSpPr>
            <a:spLocks noGrp="1"/>
          </p:cNvSpPr>
          <p:nvPr>
            <p:ph type="sldNum" sz="quarter" idx="5"/>
          </p:nvPr>
        </p:nvSpPr>
        <p:spPr/>
        <p:txBody>
          <a:bodyPr/>
          <a:lstStyle/>
          <a:p>
            <a:fld id="{677EE9C5-7ACF-43E8-ABC9-16737D2E075F}" type="slidenum">
              <a:rPr lang="zh-TW" altLang="en-US" smtClean="0"/>
              <a:t>3</a:t>
            </a:fld>
            <a:endParaRPr lang="zh-TW" altLang="en-US"/>
          </a:p>
        </p:txBody>
      </p:sp>
    </p:spTree>
    <p:extLst>
      <p:ext uri="{BB962C8B-B14F-4D97-AF65-F5344CB8AC3E}">
        <p14:creationId xmlns:p14="http://schemas.microsoft.com/office/powerpoint/2010/main" val="2392941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4</a:t>
            </a:fld>
            <a:endParaRPr lang="zh-TW" altLang="en-US"/>
          </a:p>
        </p:txBody>
      </p:sp>
    </p:spTree>
    <p:extLst>
      <p:ext uri="{BB962C8B-B14F-4D97-AF65-F5344CB8AC3E}">
        <p14:creationId xmlns:p14="http://schemas.microsoft.com/office/powerpoint/2010/main" val="3056668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S&amp;P</a:t>
            </a:r>
          </a:p>
          <a:p>
            <a:r>
              <a:rPr lang="en-US" altLang="zh-TW" dirty="0"/>
              <a:t>https://www.capitaliq.spglobal.com/web/client#ratingsdirect/creditResearch?rid=3061937</a:t>
            </a:r>
            <a:endParaRPr lang="zh-TW" altLang="en-US"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5</a:t>
            </a:fld>
            <a:endParaRPr lang="zh-TW" altLang="en-US"/>
          </a:p>
        </p:txBody>
      </p:sp>
    </p:spTree>
    <p:extLst>
      <p:ext uri="{BB962C8B-B14F-4D97-AF65-F5344CB8AC3E}">
        <p14:creationId xmlns:p14="http://schemas.microsoft.com/office/powerpoint/2010/main" val="247777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標題投影片">
    <p:spTree>
      <p:nvGrpSpPr>
        <p:cNvPr id="1" name=""/>
        <p:cNvGrpSpPr/>
        <p:nvPr/>
      </p:nvGrpSpPr>
      <p:grpSpPr>
        <a:xfrm>
          <a:off x="0" y="0"/>
          <a:ext cx="0" cy="0"/>
          <a:chOff x="0" y="0"/>
          <a:chExt cx="0" cy="0"/>
        </a:xfrm>
      </p:grpSpPr>
      <p:sp>
        <p:nvSpPr>
          <p:cNvPr id="11" name="副標題 2"/>
          <p:cNvSpPr>
            <a:spLocks noGrp="1"/>
          </p:cNvSpPr>
          <p:nvPr>
            <p:ph type="subTitle" idx="1"/>
          </p:nvPr>
        </p:nvSpPr>
        <p:spPr>
          <a:xfrm>
            <a:off x="1926186" y="3501008"/>
            <a:ext cx="4320000" cy="432048"/>
          </a:xfrm>
          <a:prstGeom prst="rect">
            <a:avLst/>
          </a:prstGeom>
        </p:spPr>
        <p:txBody>
          <a:bodyPr>
            <a:noAutofit/>
          </a:bodyPr>
          <a:lstStyle>
            <a:lvl1pPr marL="0" marR="0" indent="0" algn="l" defTabSz="685800" rtl="0" eaLnBrk="1" fontAlgn="auto" latinLnBrk="0" hangingPunct="1">
              <a:lnSpc>
                <a:spcPct val="100000"/>
              </a:lnSpc>
              <a:spcBef>
                <a:spcPct val="20000"/>
              </a:spcBef>
              <a:spcAft>
                <a:spcPts val="0"/>
              </a:spcAft>
              <a:buClrTx/>
              <a:buSzTx/>
              <a:buFontTx/>
              <a:buNone/>
              <a:tabLst/>
              <a:defRPr sz="1800" b="1">
                <a:solidFill>
                  <a:schemeClr val="bg1">
                    <a:lumMod val="50000"/>
                  </a:schemeClr>
                </a:solidFill>
                <a:latin typeface="微軟正黑體" pitchFamily="34" charset="-120"/>
                <a:ea typeface="微軟正黑體" pitchFamily="34" charset="-12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TW" altLang="en-US" dirty="0"/>
              <a:t>按一下以編輯母片副標題樣式</a:t>
            </a:r>
          </a:p>
        </p:txBody>
      </p:sp>
      <p:sp>
        <p:nvSpPr>
          <p:cNvPr id="17" name="標題 1"/>
          <p:cNvSpPr>
            <a:spLocks noGrp="1"/>
          </p:cNvSpPr>
          <p:nvPr>
            <p:ph type="ctrTitle"/>
          </p:nvPr>
        </p:nvSpPr>
        <p:spPr>
          <a:xfrm>
            <a:off x="1871700" y="2771403"/>
            <a:ext cx="4860000" cy="576064"/>
          </a:xfrm>
          <a:prstGeom prst="rect">
            <a:avLst/>
          </a:prstGeom>
        </p:spPr>
        <p:txBody>
          <a:bodyPr>
            <a:noAutofit/>
          </a:bodyPr>
          <a:lstStyle>
            <a:lvl1pPr algn="l">
              <a:defRPr sz="3000" b="1">
                <a:solidFill>
                  <a:schemeClr val="bg1">
                    <a:lumMod val="50000"/>
                  </a:schemeClr>
                </a:solidFill>
                <a:latin typeface="微軟正黑體" pitchFamily="34" charset="-120"/>
                <a:ea typeface="微軟正黑體" pitchFamily="34" charset="-120"/>
              </a:defRPr>
            </a:lvl1pPr>
          </a:lstStyle>
          <a:p>
            <a:r>
              <a:rPr lang="zh-TW" altLang="en-US" dirty="0"/>
              <a:t>按一下以編輯母片標題樣式</a:t>
            </a:r>
          </a:p>
        </p:txBody>
      </p:sp>
      <p:pic>
        <p:nvPicPr>
          <p:cNvPr id="3" name="图片 2">
            <a:extLst>
              <a:ext uri="{FF2B5EF4-FFF2-40B4-BE49-F238E27FC236}">
                <a16:creationId xmlns:a16="http://schemas.microsoft.com/office/drawing/2014/main" id="{7A7DB523-7990-4024-ADA2-E061F0DAD6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32240" y="2845174"/>
            <a:ext cx="1512168" cy="583155"/>
          </a:xfrm>
          <a:prstGeom prst="rect">
            <a:avLst/>
          </a:prstGeom>
        </p:spPr>
      </p:pic>
      <p:cxnSp>
        <p:nvCxnSpPr>
          <p:cNvPr id="9" name="直接连接符 14">
            <a:extLst>
              <a:ext uri="{FF2B5EF4-FFF2-40B4-BE49-F238E27FC236}">
                <a16:creationId xmlns:a16="http://schemas.microsoft.com/office/drawing/2014/main" id="{EC0A9803-A926-48F3-9681-2B42C0C06D43}"/>
              </a:ext>
            </a:extLst>
          </p:cNvPr>
          <p:cNvCxnSpPr>
            <a:cxnSpLocks/>
          </p:cNvCxnSpPr>
          <p:nvPr userDrawn="1"/>
        </p:nvCxnSpPr>
        <p:spPr>
          <a:xfrm flipH="1">
            <a:off x="0" y="3429000"/>
            <a:ext cx="8082390"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cxnSp>
        <p:nvCxnSpPr>
          <p:cNvPr id="12" name="直接连接符 14">
            <a:extLst>
              <a:ext uri="{FF2B5EF4-FFF2-40B4-BE49-F238E27FC236}">
                <a16:creationId xmlns:a16="http://schemas.microsoft.com/office/drawing/2014/main" id="{EC0A9803-A926-48F3-9681-2B42C0C06D43}"/>
              </a:ext>
            </a:extLst>
          </p:cNvPr>
          <p:cNvCxnSpPr>
            <a:cxnSpLocks/>
          </p:cNvCxnSpPr>
          <p:nvPr userDrawn="1"/>
        </p:nvCxnSpPr>
        <p:spPr>
          <a:xfrm>
            <a:off x="467544" y="5964485"/>
            <a:ext cx="3550109" cy="0"/>
          </a:xfrm>
          <a:prstGeom prst="line">
            <a:avLst/>
          </a:prstGeom>
          <a:ln w="28575">
            <a:gradFill flip="none" rotWithShape="1">
              <a:gsLst>
                <a:gs pos="100000">
                  <a:schemeClr val="bg1">
                    <a:lumMod val="75000"/>
                    <a:alpha val="0"/>
                  </a:schemeClr>
                </a:gs>
                <a:gs pos="0">
                  <a:schemeClr val="bg1">
                    <a:lumMod val="85000"/>
                  </a:schemeClr>
                </a:gs>
              </a:gsLst>
              <a:lin ang="0" scaled="1"/>
              <a:tileRect/>
            </a:gra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sp>
        <p:nvSpPr>
          <p:cNvPr id="10" name="文字方塊 9"/>
          <p:cNvSpPr txBox="1"/>
          <p:nvPr userDrawn="1"/>
        </p:nvSpPr>
        <p:spPr>
          <a:xfrm>
            <a:off x="6246186" y="3429000"/>
            <a:ext cx="1890210" cy="300082"/>
          </a:xfrm>
          <a:prstGeom prst="rect">
            <a:avLst/>
          </a:prstGeom>
          <a:noFill/>
        </p:spPr>
        <p:txBody>
          <a:bodyPr wrap="square" rtlCol="0">
            <a:spAutoFit/>
          </a:bodyPr>
          <a:lstStyle/>
          <a:p>
            <a:pPr algn="r"/>
            <a:r>
              <a:rPr lang="en-US" altLang="zh-TW"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B2B</a:t>
            </a:r>
            <a:r>
              <a:rPr lang="zh-TW" altLang="en-US"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 </a:t>
            </a:r>
            <a:r>
              <a:rPr lang="en-US" altLang="zh-TW"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TEAM</a:t>
            </a:r>
            <a:endParaRPr lang="zh-TW" altLang="en-US"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endParaRPr>
          </a:p>
        </p:txBody>
      </p:sp>
      <p:sp>
        <p:nvSpPr>
          <p:cNvPr id="4" name="文字方塊 3"/>
          <p:cNvSpPr txBox="1"/>
          <p:nvPr userDrawn="1"/>
        </p:nvSpPr>
        <p:spPr>
          <a:xfrm>
            <a:off x="497592" y="5579948"/>
            <a:ext cx="2608406" cy="300082"/>
          </a:xfrm>
          <a:prstGeom prst="rect">
            <a:avLst/>
          </a:prstGeom>
          <a:noFill/>
        </p:spPr>
        <p:txBody>
          <a:bodyPr wrap="none" rtlCol="0">
            <a:spAutoFit/>
          </a:bodyPr>
          <a:lstStyle/>
          <a:p>
            <a:r>
              <a:rPr lang="zh-TW" altLang="en-US" sz="1350" b="1" dirty="0">
                <a:solidFill>
                  <a:schemeClr val="bg1">
                    <a:lumMod val="50000"/>
                  </a:schemeClr>
                </a:solidFill>
              </a:rPr>
              <a:t>國外固定利率債券發行機構簡介</a:t>
            </a:r>
          </a:p>
        </p:txBody>
      </p:sp>
    </p:spTree>
    <p:extLst>
      <p:ext uri="{BB962C8B-B14F-4D97-AF65-F5344CB8AC3E}">
        <p14:creationId xmlns:p14="http://schemas.microsoft.com/office/powerpoint/2010/main" val="549964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5" y="980728"/>
            <a:ext cx="8213303" cy="5220000"/>
          </a:xfrm>
          <a:prstGeom prst="rect">
            <a:avLst/>
          </a:prstGeom>
        </p:spPr>
        <p:txBody>
          <a:bodyPr/>
          <a:lstStyle>
            <a:lvl1pPr marL="257175" indent="-257175">
              <a:buFont typeface="Wingdings" panose="05000000000000000000" pitchFamily="2" charset="2"/>
              <a:buChar char="n"/>
              <a:defRPr sz="1800">
                <a:latin typeface="微軟正黑體" pitchFamily="34" charset="-120"/>
                <a:ea typeface="微軟正黑體" pitchFamily="34" charset="-120"/>
              </a:defRPr>
            </a:lvl1pPr>
            <a:lvl2pPr>
              <a:defRPr sz="1500" b="0">
                <a:latin typeface="微軟正黑體" pitchFamily="34" charset="-120"/>
                <a:ea typeface="微軟正黑體" pitchFamily="34" charset="-120"/>
              </a:defRPr>
            </a:lvl2pPr>
            <a:lvl3pPr>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zh-TW" altLang="en-US" dirty="0"/>
          </a:p>
        </p:txBody>
      </p:sp>
      <p:sp>
        <p:nvSpPr>
          <p:cNvPr id="11" name="投影片編號版面配置區 10"/>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358115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073CA6E-B980-4BED-B859-79E8C0786146}"/>
              </a:ext>
            </a:extLst>
          </p:cNvPr>
          <p:cNvSpPr/>
          <p:nvPr userDrawn="1"/>
        </p:nvSpPr>
        <p:spPr>
          <a:xfrm>
            <a:off x="6732240" y="0"/>
            <a:ext cx="241176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投影片編號版面配置區 2"/>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cxnSp>
        <p:nvCxnSpPr>
          <p:cNvPr id="4" name="直接连接符 14">
            <a:extLst>
              <a:ext uri="{FF2B5EF4-FFF2-40B4-BE49-F238E27FC236}">
                <a16:creationId xmlns:a16="http://schemas.microsoft.com/office/drawing/2014/main" id="{7D116BA9-9B78-42D3-9A3A-32518048A7C5}"/>
              </a:ext>
            </a:extLst>
          </p:cNvPr>
          <p:cNvCxnSpPr>
            <a:cxnSpLocks/>
          </p:cNvCxnSpPr>
          <p:nvPr userDrawn="1"/>
        </p:nvCxnSpPr>
        <p:spPr>
          <a:xfrm>
            <a:off x="467544" y="6519747"/>
            <a:ext cx="7173346"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pic>
        <p:nvPicPr>
          <p:cNvPr id="9" name="圖片 8" descr="一張含有 文字 的圖片&#10;&#10;自動產生的描述">
            <a:extLst>
              <a:ext uri="{FF2B5EF4-FFF2-40B4-BE49-F238E27FC236}">
                <a16:creationId xmlns:a16="http://schemas.microsoft.com/office/drawing/2014/main" id="{EDD6439E-0668-40EB-8EE8-43DD01AC00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8248" y="6497912"/>
            <a:ext cx="753090" cy="171448"/>
          </a:xfrm>
          <a:prstGeom prst="rect">
            <a:avLst/>
          </a:prstGeom>
        </p:spPr>
      </p:pic>
      <p:pic>
        <p:nvPicPr>
          <p:cNvPr id="14" name="圖片 13">
            <a:extLst>
              <a:ext uri="{FF2B5EF4-FFF2-40B4-BE49-F238E27FC236}">
                <a16:creationId xmlns:a16="http://schemas.microsoft.com/office/drawing/2014/main" id="{077F17E0-39B1-4EAF-8142-AA65E5998D1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72177" b="35515"/>
          <a:stretch/>
        </p:blipFill>
        <p:spPr>
          <a:xfrm>
            <a:off x="8483570" y="6432163"/>
            <a:ext cx="605138" cy="225344"/>
          </a:xfrm>
          <a:prstGeom prst="rect">
            <a:avLst/>
          </a:prstGeom>
        </p:spPr>
      </p:pic>
      <p:sp>
        <p:nvSpPr>
          <p:cNvPr id="7" name="矩形 6">
            <a:extLst>
              <a:ext uri="{FF2B5EF4-FFF2-40B4-BE49-F238E27FC236}">
                <a16:creationId xmlns:a16="http://schemas.microsoft.com/office/drawing/2014/main" id="{A3B58A0A-0CAB-FE6A-53DF-18ED3B3EFA00}"/>
              </a:ext>
            </a:extLst>
          </p:cNvPr>
          <p:cNvSpPr/>
          <p:nvPr userDrawn="1"/>
        </p:nvSpPr>
        <p:spPr>
          <a:xfrm>
            <a:off x="6732240" y="0"/>
            <a:ext cx="2412000" cy="187558"/>
          </a:xfrm>
          <a:prstGeom prst="rect">
            <a:avLst/>
          </a:prstGeom>
          <a:gradFill flip="none" rotWithShape="1">
            <a:gsLst>
              <a:gs pos="26000">
                <a:srgbClr val="ECE8E5"/>
              </a:gs>
              <a:gs pos="7000">
                <a:schemeClr val="bg1"/>
              </a:gs>
              <a:gs pos="99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pic>
        <p:nvPicPr>
          <p:cNvPr id="8" name="圖片 7"/>
          <p:cNvPicPr>
            <a:picLocks noChangeAspect="1"/>
          </p:cNvPicPr>
          <p:nvPr userDrawn="1"/>
        </p:nvPicPr>
        <p:blipFill>
          <a:blip r:embed="rId4"/>
          <a:stretch>
            <a:fillRect/>
          </a:stretch>
        </p:blipFill>
        <p:spPr>
          <a:xfrm>
            <a:off x="7308304" y="-16771"/>
            <a:ext cx="1999661" cy="256054"/>
          </a:xfrm>
          <a:prstGeom prst="rect">
            <a:avLst/>
          </a:prstGeom>
        </p:spPr>
      </p:pic>
    </p:spTree>
    <p:extLst>
      <p:ext uri="{BB962C8B-B14F-4D97-AF65-F5344CB8AC3E}">
        <p14:creationId xmlns:p14="http://schemas.microsoft.com/office/powerpoint/2010/main" val="326120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兩項物件">
    <p:spTree>
      <p:nvGrpSpPr>
        <p:cNvPr id="1" name=""/>
        <p:cNvGrpSpPr/>
        <p:nvPr/>
      </p:nvGrpSpPr>
      <p:grpSpPr>
        <a:xfrm>
          <a:off x="0" y="0"/>
          <a:ext cx="0" cy="0"/>
          <a:chOff x="0" y="0"/>
          <a:chExt cx="0" cy="0"/>
        </a:xfrm>
      </p:grpSpPr>
      <p:sp>
        <p:nvSpPr>
          <p:cNvPr id="6" name="內容版面配置區 3"/>
          <p:cNvSpPr>
            <a:spLocks noGrp="1"/>
          </p:cNvSpPr>
          <p:nvPr>
            <p:ph sz="half" idx="2"/>
          </p:nvPr>
        </p:nvSpPr>
        <p:spPr>
          <a:xfrm>
            <a:off x="467543"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8"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276872"/>
            <a:ext cx="4050000" cy="360040"/>
          </a:xfrm>
          <a:prstGeom prst="rect">
            <a:avLst/>
          </a:prstGeom>
        </p:spPr>
        <p:style>
          <a:lnRef idx="1">
            <a:schemeClr val="accent4"/>
          </a:lnRef>
          <a:fillRef idx="2">
            <a:schemeClr val="accent4"/>
          </a:fillRef>
          <a:effectRef idx="1">
            <a:schemeClr val="accent4"/>
          </a:effectRef>
          <a:fontRef idx="none"/>
        </p:style>
        <p:txBody>
          <a:bodyPr>
            <a:noAutofit/>
          </a:bodyPr>
          <a:lstStyle>
            <a:lvl1pPr marL="0" indent="0" algn="l">
              <a:buFont typeface="Wingdings" panose="05000000000000000000" pitchFamily="2" charset="2"/>
              <a:buNone/>
              <a:defRPr sz="1350" b="1">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276872"/>
            <a:ext cx="4050000" cy="360040"/>
          </a:xfrm>
          <a:prstGeom prst="rect">
            <a:avLst/>
          </a:prstGeom>
        </p:spPr>
        <p:style>
          <a:lnRef idx="1">
            <a:schemeClr val="accent4"/>
          </a:lnRef>
          <a:fillRef idx="2">
            <a:schemeClr val="accent4"/>
          </a:fillRef>
          <a:effectRef idx="1">
            <a:schemeClr val="accent4"/>
          </a:effectRef>
          <a:fontRef idx="none"/>
        </p:style>
        <p:txBody>
          <a:bodyPr>
            <a:noAutofit/>
          </a:bodyPr>
          <a:lstStyle>
            <a:lvl1pPr marL="0" indent="0" algn="l">
              <a:buFont typeface="Wingdings" panose="05000000000000000000" pitchFamily="2" charset="2"/>
              <a:buNone/>
              <a:defRPr sz="1350" b="1">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73493" y="980728"/>
            <a:ext cx="8208000" cy="1224136"/>
          </a:xfrm>
          <a:prstGeom prst="rect">
            <a:avLst/>
          </a:prstGeom>
        </p:spPr>
        <p:txBody>
          <a:bodyPr>
            <a:normAutofit/>
          </a:bodyPr>
          <a:lstStyle>
            <a:lvl1pPr marL="257175" indent="-257175" algn="l">
              <a:buFont typeface="Wingdings" panose="05000000000000000000" pitchFamily="2" charset="2"/>
              <a:buChar char="n"/>
              <a:defRPr sz="1200">
                <a:solidFill>
                  <a:schemeClr val="tx1">
                    <a:lumMod val="95000"/>
                    <a:lumOff val="5000"/>
                  </a:schemeClr>
                </a:solidFill>
                <a:latin typeface="微軟正黑體" pitchFamily="34" charset="-120"/>
                <a:ea typeface="微軟正黑體" pitchFamily="34" charset="-120"/>
              </a:defRPr>
            </a:lvl1pPr>
          </a:lstStyle>
          <a:p>
            <a:pPr lvl="0"/>
            <a:r>
              <a:rPr lang="zh-TW" altLang="en-US" dirty="0"/>
              <a:t>按一下以編輯母片文字樣式</a:t>
            </a:r>
          </a:p>
        </p:txBody>
      </p:sp>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190618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兩項物件">
    <p:spTree>
      <p:nvGrpSpPr>
        <p:cNvPr id="1" name=""/>
        <p:cNvGrpSpPr/>
        <p:nvPr/>
      </p:nvGrpSpPr>
      <p:grpSpPr>
        <a:xfrm>
          <a:off x="0" y="0"/>
          <a:ext cx="0" cy="0"/>
          <a:chOff x="0" y="0"/>
          <a:chExt cx="0" cy="0"/>
        </a:xfrm>
      </p:grpSpPr>
      <p:sp>
        <p:nvSpPr>
          <p:cNvPr id="6" name="內容版面配置區 3"/>
          <p:cNvSpPr>
            <a:spLocks noGrp="1"/>
          </p:cNvSpPr>
          <p:nvPr>
            <p:ph sz="half" idx="2"/>
          </p:nvPr>
        </p:nvSpPr>
        <p:spPr>
          <a:xfrm>
            <a:off x="467543"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8"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276872"/>
            <a:ext cx="4050000" cy="360040"/>
          </a:xfrm>
          <a:prstGeom prst="rect">
            <a:avLst/>
          </a:prstGeom>
        </p:spPr>
        <p:txBody>
          <a:bodyPr>
            <a:noAutofit/>
          </a:bodyPr>
          <a:lstStyle>
            <a:lvl1pPr marL="214313" indent="-214313" algn="l">
              <a:buFont typeface="Wingdings" panose="05000000000000000000" pitchFamily="2" charset="2"/>
              <a:buChar char="n"/>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276872"/>
            <a:ext cx="4050000" cy="360040"/>
          </a:xfrm>
          <a:prstGeom prst="rect">
            <a:avLst/>
          </a:prstGeom>
        </p:spPr>
        <p:txBody>
          <a:bodyPr>
            <a:noAutofit/>
          </a:bodyPr>
          <a:lstStyle>
            <a:lvl1pPr marL="257175" indent="-257175" algn="l">
              <a:buFont typeface="Wingdings" panose="05000000000000000000" pitchFamily="2" charset="2"/>
              <a:buChar char="n"/>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73493" y="980728"/>
            <a:ext cx="8208000" cy="1224136"/>
          </a:xfrm>
          <a:prstGeom prst="rect">
            <a:avLst/>
          </a:prstGeom>
        </p:spPr>
        <p:txBody>
          <a:bodyPr>
            <a:normAutofit/>
          </a:bodyPr>
          <a:lstStyle>
            <a:lvl1pPr marL="257175" indent="-257175" algn="l">
              <a:buFont typeface="Wingdings" panose="05000000000000000000" pitchFamily="2" charset="2"/>
              <a:buChar char="n"/>
              <a:defRPr sz="1200">
                <a:solidFill>
                  <a:schemeClr val="tx1">
                    <a:lumMod val="95000"/>
                    <a:lumOff val="5000"/>
                  </a:schemeClr>
                </a:solidFill>
                <a:latin typeface="微軟正黑體" pitchFamily="34" charset="-120"/>
                <a:ea typeface="微軟正黑體" pitchFamily="34" charset="-120"/>
              </a:defRPr>
            </a:lvl1pPr>
          </a:lstStyle>
          <a:p>
            <a:pPr lvl="0"/>
            <a:r>
              <a:rPr lang="zh-TW" altLang="en-US" dirty="0"/>
              <a:t>按一下以編輯母片文字樣式</a:t>
            </a:r>
          </a:p>
        </p:txBody>
      </p:sp>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1548317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兩項物件">
    <p:spTree>
      <p:nvGrpSpPr>
        <p:cNvPr id="1" name=""/>
        <p:cNvGrpSpPr/>
        <p:nvPr/>
      </p:nvGrpSpPr>
      <p:grpSpPr>
        <a:xfrm>
          <a:off x="0" y="0"/>
          <a:ext cx="0" cy="0"/>
          <a:chOff x="0" y="0"/>
          <a:chExt cx="0" cy="0"/>
        </a:xfrm>
      </p:grpSpPr>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9" name="內容版面配置區 8"/>
          <p:cNvSpPr>
            <a:spLocks noGrp="1"/>
          </p:cNvSpPr>
          <p:nvPr>
            <p:ph sz="quarter" idx="20"/>
          </p:nvPr>
        </p:nvSpPr>
        <p:spPr>
          <a:xfrm>
            <a:off x="475060" y="1017312"/>
            <a:ext cx="4050000" cy="504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6" name="內容版面配置區 8"/>
          <p:cNvSpPr>
            <a:spLocks noGrp="1"/>
          </p:cNvSpPr>
          <p:nvPr>
            <p:ph sz="quarter" idx="21"/>
          </p:nvPr>
        </p:nvSpPr>
        <p:spPr>
          <a:xfrm>
            <a:off x="4626456" y="1053296"/>
            <a:ext cx="4050000" cy="504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01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b="1">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4" y="1268761"/>
            <a:ext cx="8219256" cy="5040560"/>
          </a:xfrm>
          <a:prstGeom prst="rect">
            <a:avLst/>
          </a:prstGeom>
        </p:spPr>
        <p:txBody>
          <a:bodyPr/>
          <a:lstStyle>
            <a:lvl1pPr>
              <a:defRPr sz="1800">
                <a:latin typeface="微軟正黑體" pitchFamily="34" charset="-120"/>
                <a:ea typeface="微軟正黑體" pitchFamily="34" charset="-120"/>
              </a:defRPr>
            </a:lvl1pPr>
            <a:lvl2pPr marL="557213" indent="-214313">
              <a:buFont typeface="Wingdings" panose="05000000000000000000" pitchFamily="2" charset="2"/>
              <a:buChar char="Ø"/>
              <a:defRPr sz="1500" b="0">
                <a:latin typeface="微軟正黑體" pitchFamily="34" charset="-120"/>
                <a:ea typeface="微軟正黑體" pitchFamily="34" charset="-120"/>
              </a:defRPr>
            </a:lvl2pPr>
            <a:lvl3pPr marL="857250" indent="-171450">
              <a:buFont typeface="Wingdings" panose="05000000000000000000" pitchFamily="2" charset="2"/>
              <a:buChar char="ü"/>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11" name="投影片編號版面配置區 10"/>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633048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6" name="內容版面配置區 3"/>
          <p:cNvSpPr>
            <a:spLocks noGrp="1"/>
          </p:cNvSpPr>
          <p:nvPr>
            <p:ph sz="half" idx="2"/>
          </p:nvPr>
        </p:nvSpPr>
        <p:spPr>
          <a:xfrm>
            <a:off x="467544" y="3168000"/>
            <a:ext cx="4032448" cy="2952328"/>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9" y="3168000"/>
            <a:ext cx="4032448" cy="2952328"/>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736000"/>
            <a:ext cx="4031679" cy="360040"/>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736000"/>
            <a:ext cx="4031679" cy="360040"/>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68315" y="1268760"/>
            <a:ext cx="8208143" cy="1224136"/>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5" name="文字版面配置區 7"/>
          <p:cNvSpPr>
            <a:spLocks noGrp="1"/>
          </p:cNvSpPr>
          <p:nvPr>
            <p:ph type="body" sz="quarter" idx="12"/>
          </p:nvPr>
        </p:nvSpPr>
        <p:spPr>
          <a:xfrm>
            <a:off x="467544" y="6192000"/>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977986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0" name="文字版面配置區 2"/>
          <p:cNvSpPr>
            <a:spLocks noGrp="1"/>
          </p:cNvSpPr>
          <p:nvPr>
            <p:ph type="body" sz="quarter" idx="17"/>
          </p:nvPr>
        </p:nvSpPr>
        <p:spPr>
          <a:xfrm>
            <a:off x="468314" y="4797152"/>
            <a:ext cx="4031679" cy="1152128"/>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1" name="內容版面配置區 3"/>
          <p:cNvSpPr>
            <a:spLocks noGrp="1"/>
          </p:cNvSpPr>
          <p:nvPr>
            <p:ph sz="half" idx="16"/>
          </p:nvPr>
        </p:nvSpPr>
        <p:spPr>
          <a:xfrm>
            <a:off x="4644009" y="1700808"/>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
        <p:nvSpPr>
          <p:cNvPr id="12" name="文字版面配置區 2"/>
          <p:cNvSpPr>
            <a:spLocks noGrp="1"/>
          </p:cNvSpPr>
          <p:nvPr>
            <p:ph type="body" sz="quarter" idx="18"/>
          </p:nvPr>
        </p:nvSpPr>
        <p:spPr>
          <a:xfrm>
            <a:off x="467546" y="1268760"/>
            <a:ext cx="4031679" cy="360040"/>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3" name="文字版面配置區 2"/>
          <p:cNvSpPr>
            <a:spLocks noGrp="1"/>
          </p:cNvSpPr>
          <p:nvPr>
            <p:ph type="body" sz="quarter" idx="19"/>
          </p:nvPr>
        </p:nvSpPr>
        <p:spPr>
          <a:xfrm>
            <a:off x="4644779" y="1268760"/>
            <a:ext cx="4031679" cy="360040"/>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6" name="文字版面配置區 2"/>
          <p:cNvSpPr>
            <a:spLocks noGrp="1"/>
          </p:cNvSpPr>
          <p:nvPr>
            <p:ph type="body" sz="quarter" idx="20"/>
          </p:nvPr>
        </p:nvSpPr>
        <p:spPr>
          <a:xfrm>
            <a:off x="4644779" y="4797152"/>
            <a:ext cx="4031679" cy="1152128"/>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7" name="文字版面配置區 7"/>
          <p:cNvSpPr>
            <a:spLocks noGrp="1"/>
          </p:cNvSpPr>
          <p:nvPr>
            <p:ph type="body" sz="quarter" idx="12"/>
          </p:nvPr>
        </p:nvSpPr>
        <p:spPr>
          <a:xfrm>
            <a:off x="467544" y="6021289"/>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
        <p:nvSpPr>
          <p:cNvPr id="18" name="內容版面配置區 3"/>
          <p:cNvSpPr>
            <a:spLocks noGrp="1"/>
          </p:cNvSpPr>
          <p:nvPr>
            <p:ph sz="half" idx="21"/>
          </p:nvPr>
        </p:nvSpPr>
        <p:spPr>
          <a:xfrm>
            <a:off x="467544" y="1700808"/>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Tree>
    <p:extLst>
      <p:ext uri="{BB962C8B-B14F-4D97-AF65-F5344CB8AC3E}">
        <p14:creationId xmlns:p14="http://schemas.microsoft.com/office/powerpoint/2010/main" val="363557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7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4" name="文字版面配置區 2"/>
          <p:cNvSpPr>
            <a:spLocks noGrp="1"/>
          </p:cNvSpPr>
          <p:nvPr>
            <p:ph type="body" sz="quarter" idx="18"/>
          </p:nvPr>
        </p:nvSpPr>
        <p:spPr>
          <a:xfrm>
            <a:off x="467546" y="1268760"/>
            <a:ext cx="4031679" cy="792088"/>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5" name="文字版面配置區 2"/>
          <p:cNvSpPr>
            <a:spLocks noGrp="1"/>
          </p:cNvSpPr>
          <p:nvPr>
            <p:ph type="body" sz="quarter" idx="19"/>
          </p:nvPr>
        </p:nvSpPr>
        <p:spPr>
          <a:xfrm>
            <a:off x="4644779" y="1268760"/>
            <a:ext cx="4031679" cy="792088"/>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9" name="文字版面配置區 7"/>
          <p:cNvSpPr>
            <a:spLocks noGrp="1"/>
          </p:cNvSpPr>
          <p:nvPr>
            <p:ph type="body" sz="quarter" idx="12"/>
          </p:nvPr>
        </p:nvSpPr>
        <p:spPr>
          <a:xfrm>
            <a:off x="467544" y="5229201"/>
            <a:ext cx="8208912" cy="720080"/>
          </a:xfrm>
          <a:prstGeom prst="rect">
            <a:avLst/>
          </a:prstGeom>
        </p:spPr>
        <p:txBody>
          <a:bodyPr>
            <a:normAutofit/>
          </a:bodyPr>
          <a:lstStyle>
            <a:lvl1pPr marL="128588" indent="-128588">
              <a:buFont typeface="Arial" pitchFamily="34" charset="0"/>
              <a:buChar char="•"/>
              <a:defRPr sz="900">
                <a:latin typeface="微軟正黑體" pitchFamily="34" charset="-120"/>
                <a:ea typeface="微軟正黑體" pitchFamily="34" charset="-120"/>
              </a:defRPr>
            </a:lvl1pPr>
          </a:lstStyle>
          <a:p>
            <a:pPr lvl="0"/>
            <a:r>
              <a:rPr lang="zh-TW" altLang="en-US"/>
              <a:t>按一下以編輯母片文字樣式</a:t>
            </a:r>
          </a:p>
        </p:txBody>
      </p:sp>
      <p:sp>
        <p:nvSpPr>
          <p:cNvPr id="20" name="內容版面配置區 3"/>
          <p:cNvSpPr>
            <a:spLocks noGrp="1"/>
          </p:cNvSpPr>
          <p:nvPr>
            <p:ph sz="half" idx="20"/>
          </p:nvPr>
        </p:nvSpPr>
        <p:spPr>
          <a:xfrm>
            <a:off x="4644009" y="2132856"/>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21" name="內容版面配置區 3"/>
          <p:cNvSpPr>
            <a:spLocks noGrp="1"/>
          </p:cNvSpPr>
          <p:nvPr>
            <p:ph sz="half" idx="2"/>
          </p:nvPr>
        </p:nvSpPr>
        <p:spPr>
          <a:xfrm>
            <a:off x="467544" y="2132856"/>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2" name="投影片編號版面配置區 1"/>
          <p:cNvSpPr>
            <a:spLocks noGrp="1"/>
          </p:cNvSpPr>
          <p:nvPr>
            <p:ph type="sldNum" sz="quarter" idx="21"/>
          </p:nvPr>
        </p:nvSpPr>
        <p:spPr/>
        <p:txBody>
          <a:bodyPr/>
          <a:lstStyle/>
          <a:p>
            <a:fld id="{415482FC-CF5F-466A-B8B6-BC3733E92023}" type="slidenum">
              <a:rPr lang="zh-TW" altLang="en-US" smtClean="0"/>
              <a:pPr/>
              <a:t>‹#›</a:t>
            </a:fld>
            <a:endParaRPr lang="zh-TW" altLang="en-US" dirty="0"/>
          </a:p>
        </p:txBody>
      </p:sp>
      <p:sp>
        <p:nvSpPr>
          <p:cNvPr id="10" name="文字版面配置區 7"/>
          <p:cNvSpPr>
            <a:spLocks noGrp="1"/>
          </p:cNvSpPr>
          <p:nvPr>
            <p:ph type="body" sz="quarter" idx="22"/>
          </p:nvPr>
        </p:nvSpPr>
        <p:spPr>
          <a:xfrm>
            <a:off x="467544" y="6021289"/>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Tree>
    <p:extLst>
      <p:ext uri="{BB962C8B-B14F-4D97-AF65-F5344CB8AC3E}">
        <p14:creationId xmlns:p14="http://schemas.microsoft.com/office/powerpoint/2010/main" val="445683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8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8" name="文字版面配置區 3"/>
          <p:cNvSpPr>
            <a:spLocks noGrp="1"/>
          </p:cNvSpPr>
          <p:nvPr>
            <p:ph type="body" sz="half" idx="2"/>
          </p:nvPr>
        </p:nvSpPr>
        <p:spPr>
          <a:xfrm>
            <a:off x="5597355" y="1268761"/>
            <a:ext cx="3079103" cy="4608512"/>
          </a:xfrm>
          <a:prstGeom prst="rect">
            <a:avLst/>
          </a:prstGeom>
        </p:spPr>
        <p:txBody>
          <a:bodyPr>
            <a:normAutofit/>
          </a:bodyPr>
          <a:lstStyle>
            <a:lvl1pPr marL="214313" indent="-214313">
              <a:buFont typeface="Arial" pitchFamily="34" charset="0"/>
              <a:buChar char="•"/>
              <a:defRPr sz="1200">
                <a:latin typeface="微軟正黑體" pitchFamily="34" charset="-120"/>
                <a:ea typeface="微軟正黑體" pitchFamily="34" charset="-12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按一下以編輯母片文字樣式</a:t>
            </a:r>
          </a:p>
        </p:txBody>
      </p:sp>
      <p:sp>
        <p:nvSpPr>
          <p:cNvPr id="10" name="內容版面配置區 3"/>
          <p:cNvSpPr>
            <a:spLocks noGrp="1"/>
          </p:cNvSpPr>
          <p:nvPr>
            <p:ph sz="half" idx="10"/>
          </p:nvPr>
        </p:nvSpPr>
        <p:spPr>
          <a:xfrm>
            <a:off x="467545" y="1268760"/>
            <a:ext cx="5040560" cy="4248472"/>
          </a:xfrm>
          <a:prstGeom prst="rect">
            <a:avLst/>
          </a:prstGeom>
        </p:spPr>
        <p:txBody>
          <a:bodyPr/>
          <a:lstStyle>
            <a:lvl1pPr>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20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
        <p:nvSpPr>
          <p:cNvPr id="11" name="文字版面配置區 7"/>
          <p:cNvSpPr>
            <a:spLocks noGrp="1"/>
          </p:cNvSpPr>
          <p:nvPr>
            <p:ph type="body" sz="quarter" idx="12"/>
          </p:nvPr>
        </p:nvSpPr>
        <p:spPr>
          <a:xfrm>
            <a:off x="467545" y="5589241"/>
            <a:ext cx="5040560"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
        <p:nvSpPr>
          <p:cNvPr id="2" name="投影片編號版面配置區 1"/>
          <p:cNvSpPr>
            <a:spLocks noGrp="1"/>
          </p:cNvSpPr>
          <p:nvPr>
            <p:ph type="sldNum" sz="quarter" idx="13"/>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784869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9_免責聲明">
    <p:spTree>
      <p:nvGrpSpPr>
        <p:cNvPr id="1" name=""/>
        <p:cNvGrpSpPr/>
        <p:nvPr/>
      </p:nvGrpSpPr>
      <p:grpSpPr>
        <a:xfrm>
          <a:off x="0" y="0"/>
          <a:ext cx="0" cy="0"/>
          <a:chOff x="0" y="0"/>
          <a:chExt cx="0" cy="0"/>
        </a:xfrm>
      </p:grpSpPr>
      <p:sp>
        <p:nvSpPr>
          <p:cNvPr id="2" name="投影片編號版面配置區 1"/>
          <p:cNvSpPr>
            <a:spLocks noGrp="1"/>
          </p:cNvSpPr>
          <p:nvPr>
            <p:ph type="sldNum" sz="quarter" idx="18"/>
          </p:nvPr>
        </p:nvSpPr>
        <p:spPr/>
        <p:txBody>
          <a:bodyPr/>
          <a:lstStyle/>
          <a:p>
            <a:fld id="{415482FC-CF5F-466A-B8B6-BC3733E92023}" type="slidenum">
              <a:rPr lang="zh-TW" altLang="en-US" smtClean="0"/>
              <a:pPr/>
              <a:t>‹#›</a:t>
            </a:fld>
            <a:endParaRPr lang="zh-TW" altLang="en-US" dirty="0"/>
          </a:p>
        </p:txBody>
      </p:sp>
      <p:sp>
        <p:nvSpPr>
          <p:cNvPr id="3" name="矩形 2"/>
          <p:cNvSpPr/>
          <p:nvPr/>
        </p:nvSpPr>
        <p:spPr>
          <a:xfrm>
            <a:off x="518013" y="836715"/>
            <a:ext cx="7992888" cy="507831"/>
          </a:xfrm>
          <a:prstGeom prst="rect">
            <a:avLst/>
          </a:prstGeom>
        </p:spPr>
        <p:txBody>
          <a:bodyPr wrap="square">
            <a:spAutoFit/>
          </a:bodyPr>
          <a:lstStyle/>
          <a:p>
            <a:r>
              <a:rPr lang="zh-TW" altLang="zh-TW" sz="1350" dirty="0">
                <a:solidFill>
                  <a:srgbClr val="FF0000"/>
                </a:solidFill>
                <a:latin typeface="微軟正黑體" pitchFamily="34" charset="-120"/>
                <a:ea typeface="微軟正黑體" pitchFamily="34" charset="-120"/>
              </a:rPr>
              <a:t>免責宣言說明</a:t>
            </a:r>
            <a:endParaRPr lang="en-US" altLang="zh-TW" sz="1350" dirty="0">
              <a:solidFill>
                <a:srgbClr val="FF0000"/>
              </a:solidFill>
              <a:latin typeface="微軟正黑體" pitchFamily="34" charset="-120"/>
              <a:ea typeface="微軟正黑體" pitchFamily="34" charset="-120"/>
            </a:endParaRPr>
          </a:p>
          <a:p>
            <a:endParaRPr lang="en-US" altLang="zh-TW" sz="1350" dirty="0">
              <a:latin typeface="微軟正黑體" pitchFamily="34" charset="-120"/>
              <a:ea typeface="微軟正黑體" pitchFamily="34" charset="-120"/>
            </a:endParaRPr>
          </a:p>
        </p:txBody>
      </p:sp>
      <p:sp>
        <p:nvSpPr>
          <p:cNvPr id="5" name="矩形 4"/>
          <p:cNvSpPr/>
          <p:nvPr userDrawn="1"/>
        </p:nvSpPr>
        <p:spPr>
          <a:xfrm>
            <a:off x="518013" y="836712"/>
            <a:ext cx="7992888" cy="2169825"/>
          </a:xfrm>
          <a:prstGeom prst="rect">
            <a:avLst/>
          </a:prstGeom>
        </p:spPr>
        <p:txBody>
          <a:bodyPr wrap="square">
            <a:spAutoFit/>
          </a:bodyPr>
          <a:lstStyle/>
          <a:p>
            <a:pPr algn="just"/>
            <a:r>
              <a:rPr lang="zh-TW" altLang="zh-TW" sz="1350" dirty="0">
                <a:solidFill>
                  <a:srgbClr val="FF0000"/>
                </a:solidFill>
                <a:latin typeface="微軟正黑體" pitchFamily="34" charset="-120"/>
                <a:ea typeface="微軟正黑體" pitchFamily="34" charset="-120"/>
              </a:rPr>
              <a:t>免責宣言說明</a:t>
            </a:r>
            <a:endParaRPr lang="en-US" altLang="zh-TW" sz="1350" dirty="0">
              <a:solidFill>
                <a:srgbClr val="FF0000"/>
              </a:solidFill>
              <a:latin typeface="微軟正黑體" pitchFamily="34" charset="-120"/>
              <a:ea typeface="微軟正黑體" pitchFamily="34" charset="-120"/>
            </a:endParaRPr>
          </a:p>
          <a:p>
            <a:pPr algn="just"/>
            <a:endParaRPr lang="en-US" altLang="zh-TW" sz="1350" dirty="0">
              <a:latin typeface="微軟正黑體" pitchFamily="34" charset="-120"/>
              <a:ea typeface="微軟正黑體" pitchFamily="34" charset="-120"/>
            </a:endParaRPr>
          </a:p>
          <a:p>
            <a:pPr algn="just"/>
            <a:r>
              <a:rPr lang="zh-TW" altLang="en-US" sz="1350" dirty="0">
                <a:latin typeface="微軟正黑體" pitchFamily="34" charset="-120"/>
                <a:ea typeface="微軟正黑體" pitchFamily="34" charset="-120"/>
              </a:rPr>
              <a:t>免責聲明</a:t>
            </a:r>
            <a:r>
              <a:rPr lang="en-US" altLang="zh-TW" sz="1350" dirty="0">
                <a:latin typeface="微軟正黑體" pitchFamily="34" charset="-120"/>
                <a:ea typeface="微軟正黑體" pitchFamily="34" charset="-120"/>
              </a:rPr>
              <a:t>:</a:t>
            </a:r>
          </a:p>
          <a:p>
            <a:pPr algn="just"/>
            <a:r>
              <a:rPr lang="zh-TW" altLang="en-US" sz="1350" dirty="0">
                <a:latin typeface="微軟正黑體" pitchFamily="34" charset="-120"/>
                <a:ea typeface="微軟正黑體" pitchFamily="34" charset="-120"/>
              </a:rPr>
              <a:t>台新證券投資顧問股份有限公司 </a:t>
            </a:r>
            <a:r>
              <a:rPr lang="en-US" altLang="zh-TW" sz="1350" dirty="0">
                <a:latin typeface="微軟正黑體" pitchFamily="34" charset="-120"/>
                <a:ea typeface="微軟正黑體" pitchFamily="34" charset="-120"/>
              </a:rPr>
              <a:t>(02)5589-9558  Fax:(02)3707-6769  </a:t>
            </a:r>
            <a:r>
              <a:rPr lang="zh-TW" altLang="en-US" sz="1350" dirty="0">
                <a:latin typeface="微軟正黑體" pitchFamily="34" charset="-120"/>
                <a:ea typeface="微軟正黑體" pitchFamily="34" charset="-120"/>
              </a:rPr>
              <a:t>地址</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台北市仁愛路四段</a:t>
            </a:r>
            <a:r>
              <a:rPr lang="en-US" altLang="zh-TW" sz="1350" dirty="0">
                <a:latin typeface="微軟正黑體" pitchFamily="34" charset="-120"/>
                <a:ea typeface="微軟正黑體" pitchFamily="34" charset="-120"/>
              </a:rPr>
              <a:t>118</a:t>
            </a:r>
            <a:r>
              <a:rPr lang="zh-TW" altLang="en-US" sz="1350" dirty="0">
                <a:latin typeface="微軟正黑體" pitchFamily="34" charset="-120"/>
                <a:ea typeface="微軟正黑體" pitchFamily="34" charset="-120"/>
              </a:rPr>
              <a:t>號</a:t>
            </a:r>
            <a:r>
              <a:rPr lang="en-US" altLang="zh-TW" sz="1350" dirty="0">
                <a:latin typeface="微軟正黑體" pitchFamily="34" charset="-120"/>
                <a:ea typeface="微軟正黑體" pitchFamily="34" charset="-120"/>
              </a:rPr>
              <a:t>16</a:t>
            </a:r>
            <a:r>
              <a:rPr lang="zh-TW" altLang="en-US" sz="1350" dirty="0">
                <a:latin typeface="微軟正黑體" pitchFamily="34" charset="-120"/>
                <a:ea typeface="微軟正黑體" pitchFamily="34" charset="-120"/>
              </a:rPr>
              <a:t>樓  一百零八金管投顧新字第零壹柒號。本報告所載係根據各項市場資訊</a:t>
            </a:r>
            <a:r>
              <a:rPr lang="en-US" altLang="zh-TW" sz="1350" dirty="0">
                <a:latin typeface="微軟正黑體" pitchFamily="34" charset="-120"/>
                <a:ea typeface="微軟正黑體" pitchFamily="34" charset="-120"/>
              </a:rPr>
              <a:t>, </a:t>
            </a:r>
            <a:r>
              <a:rPr lang="zh-TW" altLang="en-US" sz="1350" dirty="0">
                <a:latin typeface="微軟正黑體" pitchFamily="34" charset="-120"/>
                <a:ea typeface="微軟正黑體" pitchFamily="34" charset="-120"/>
              </a:rPr>
              <a:t>加以整理、彙集及研究分析。僅供參考，本公司不保證其正確性及完整性。內容如涉及有價證券或金融商品相關記載或說明，並不構成要約、招攬、宣傳、建議或推薦買賣等任何形式之表示，投資人如參考本報告進行相關投資或交易，應自行承擔所有損益</a:t>
            </a:r>
            <a:r>
              <a:rPr lang="en-US" altLang="zh-TW" sz="1350" dirty="0">
                <a:latin typeface="微軟正黑體" pitchFamily="34" charset="-120"/>
                <a:ea typeface="微軟正黑體" pitchFamily="34" charset="-120"/>
              </a:rPr>
              <a:t>, </a:t>
            </a:r>
            <a:r>
              <a:rPr lang="zh-TW" altLang="en-US" sz="1350" dirty="0">
                <a:latin typeface="微軟正黑體" pitchFamily="34" charset="-120"/>
                <a:ea typeface="微軟正黑體" pitchFamily="34" charset="-120"/>
              </a:rPr>
              <a:t>本公司不負任何法律責任。另本公司同時擔任木星基金總代理人，惟本公司投資研究部門與招攬木星基金之業務部門，不相隸屬且予適當區隔，不致侵害客戶利益。此外，非經本公司同意，不得將本報告內容之部份或全部加以複製、轉載或散布。</a:t>
            </a:r>
            <a:endParaRPr lang="en-US" altLang="zh-TW" sz="1350" dirty="0">
              <a:latin typeface="微軟正黑體" pitchFamily="34" charset="-120"/>
              <a:ea typeface="微軟正黑體" pitchFamily="34" charset="-120"/>
            </a:endParaRPr>
          </a:p>
        </p:txBody>
      </p:sp>
    </p:spTree>
    <p:extLst>
      <p:ext uri="{BB962C8B-B14F-4D97-AF65-F5344CB8AC3E}">
        <p14:creationId xmlns:p14="http://schemas.microsoft.com/office/powerpoint/2010/main" val="1203142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投影片編號版面配置區 5"/>
          <p:cNvSpPr>
            <a:spLocks noGrp="1"/>
          </p:cNvSpPr>
          <p:nvPr>
            <p:ph type="sldNum" sz="quarter" idx="4"/>
          </p:nvPr>
        </p:nvSpPr>
        <p:spPr>
          <a:xfrm>
            <a:off x="197514" y="6381328"/>
            <a:ext cx="395064" cy="288032"/>
          </a:xfrm>
          <a:prstGeom prst="rect">
            <a:avLst/>
          </a:prstGeom>
        </p:spPr>
        <p:txBody>
          <a:bodyPr/>
          <a:lstStyle>
            <a:lvl1pPr>
              <a:defRPr sz="900">
                <a:latin typeface="Arial" pitchFamily="34" charset="0"/>
                <a:cs typeface="Arial" pitchFamily="34" charset="0"/>
              </a:defRPr>
            </a:lvl1pPr>
          </a:lstStyle>
          <a:p>
            <a:fld id="{415482FC-CF5F-466A-B8B6-BC3733E92023}" type="slidenum">
              <a:rPr lang="zh-TW" altLang="en-US" smtClean="0"/>
              <a:pPr/>
              <a:t>‹#›</a:t>
            </a:fld>
            <a:endParaRPr lang="zh-TW" altLang="en-US" dirty="0"/>
          </a:p>
        </p:txBody>
      </p:sp>
      <p:cxnSp>
        <p:nvCxnSpPr>
          <p:cNvPr id="7" name="直接连接符 14">
            <a:extLst>
              <a:ext uri="{FF2B5EF4-FFF2-40B4-BE49-F238E27FC236}">
                <a16:creationId xmlns:a16="http://schemas.microsoft.com/office/drawing/2014/main" id="{EC0A9803-A926-48F3-9681-2B42C0C06D43}"/>
              </a:ext>
            </a:extLst>
          </p:cNvPr>
          <p:cNvCxnSpPr>
            <a:cxnSpLocks/>
          </p:cNvCxnSpPr>
          <p:nvPr userDrawn="1"/>
        </p:nvCxnSpPr>
        <p:spPr>
          <a:xfrm>
            <a:off x="467544" y="6519747"/>
            <a:ext cx="7173346"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grpSp>
        <p:nvGrpSpPr>
          <p:cNvPr id="9" name="群組 8"/>
          <p:cNvGrpSpPr/>
          <p:nvPr userDrawn="1"/>
        </p:nvGrpSpPr>
        <p:grpSpPr>
          <a:xfrm>
            <a:off x="7758354" y="6450842"/>
            <a:ext cx="1253784" cy="233799"/>
            <a:chOff x="2747814" y="218978"/>
            <a:chExt cx="3060153" cy="491493"/>
          </a:xfrm>
        </p:grpSpPr>
        <p:pic>
          <p:nvPicPr>
            <p:cNvPr id="14" name="Picture 2" descr="台新綜合證券股份有限公司等包銷聯上實業股份有限公司國內第三次無擔保轉">
              <a:extLst>
                <a:ext uri="{FF2B5EF4-FFF2-40B4-BE49-F238E27FC236}">
                  <a16:creationId xmlns:a16="http://schemas.microsoft.com/office/drawing/2014/main" id="{2FD9BB75-12CC-AE4F-BABA-8091371005B8}"/>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2747814" y="350046"/>
              <a:ext cx="1583173" cy="360425"/>
            </a:xfrm>
            <a:prstGeom prst="rect">
              <a:avLst/>
            </a:prstGeom>
            <a:noFill/>
            <a:extLst>
              <a:ext uri="{909E8E84-426E-40DD-AFC4-6F175D3DCCD1}">
                <a14:hiddenFill xmlns:a14="http://schemas.microsoft.com/office/drawing/2010/main">
                  <a:solidFill>
                    <a:srgbClr val="FFFFFF"/>
                  </a:solidFill>
                </a14:hiddenFill>
              </a:ext>
            </a:extLst>
          </p:spPr>
        </p:pic>
        <p:pic>
          <p:nvPicPr>
            <p:cNvPr id="15" name="圖片 14"/>
            <p:cNvPicPr>
              <a:picLocks noChangeAspect="1"/>
            </p:cNvPicPr>
            <p:nvPr/>
          </p:nvPicPr>
          <p:blipFill rotWithShape="1">
            <a:blip r:embed="rId15" cstate="screen">
              <a:extLst>
                <a:ext uri="{28A0092B-C50C-407E-A947-70E740481C1C}">
                  <a14:useLocalDpi xmlns:a14="http://schemas.microsoft.com/office/drawing/2010/main"/>
                </a:ext>
              </a:extLst>
            </a:blip>
            <a:srcRect r="72177" b="35515"/>
            <a:stretch/>
          </p:blipFill>
          <p:spPr>
            <a:xfrm>
              <a:off x="4330987" y="218978"/>
              <a:ext cx="1476980" cy="473718"/>
            </a:xfrm>
            <a:prstGeom prst="rect">
              <a:avLst/>
            </a:prstGeom>
          </p:spPr>
        </p:pic>
      </p:grpSp>
      <p:sp>
        <p:nvSpPr>
          <p:cNvPr id="8" name="矩形 7">
            <a:extLst>
              <a:ext uri="{FF2B5EF4-FFF2-40B4-BE49-F238E27FC236}">
                <a16:creationId xmlns:a16="http://schemas.microsoft.com/office/drawing/2014/main" id="{A3B58A0A-0CAB-FE6A-53DF-18ED3B3EFA00}"/>
              </a:ext>
            </a:extLst>
          </p:cNvPr>
          <p:cNvSpPr/>
          <p:nvPr userDrawn="1"/>
        </p:nvSpPr>
        <p:spPr>
          <a:xfrm>
            <a:off x="6732240" y="0"/>
            <a:ext cx="2412000" cy="187558"/>
          </a:xfrm>
          <a:prstGeom prst="rect">
            <a:avLst/>
          </a:prstGeom>
          <a:gradFill flip="none" rotWithShape="1">
            <a:gsLst>
              <a:gs pos="26000">
                <a:srgbClr val="ECE8E5"/>
              </a:gs>
              <a:gs pos="7000">
                <a:schemeClr val="bg1"/>
              </a:gs>
              <a:gs pos="99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pic>
        <p:nvPicPr>
          <p:cNvPr id="11" name="圖片 10"/>
          <p:cNvPicPr>
            <a:picLocks noChangeAspect="1"/>
          </p:cNvPicPr>
          <p:nvPr userDrawn="1"/>
        </p:nvPicPr>
        <p:blipFill>
          <a:blip r:embed="rId16"/>
          <a:stretch>
            <a:fillRect/>
          </a:stretch>
        </p:blipFill>
        <p:spPr>
          <a:xfrm>
            <a:off x="7308304" y="-16771"/>
            <a:ext cx="1999661" cy="256054"/>
          </a:xfrm>
          <a:prstGeom prst="rect">
            <a:avLst/>
          </a:prstGeom>
        </p:spPr>
      </p:pic>
    </p:spTree>
    <p:extLst>
      <p:ext uri="{BB962C8B-B14F-4D97-AF65-F5344CB8AC3E}">
        <p14:creationId xmlns:p14="http://schemas.microsoft.com/office/powerpoint/2010/main" val="2055990614"/>
      </p:ext>
    </p:extLst>
  </p:cSld>
  <p:clrMap bg1="lt1" tx1="dk1" bg2="lt2" tx2="dk2" accent1="accent1" accent2="accent2" accent3="accent3" accent4="accent4" accent5="accent5" accent6="accent6" hlink="hlink" folHlink="folHlink"/>
  <p:sldLayoutIdLst>
    <p:sldLayoutId id="2147483669" r:id="rId1"/>
    <p:sldLayoutId id="2147483678" r:id="rId2"/>
    <p:sldLayoutId id="2147483682" r:id="rId3"/>
    <p:sldLayoutId id="2147483681" r:id="rId4"/>
    <p:sldLayoutId id="2147483679" r:id="rId5"/>
    <p:sldLayoutId id="2147483680" r:id="rId6"/>
    <p:sldLayoutId id="2147483671" r:id="rId7"/>
    <p:sldLayoutId id="2147483673" r:id="rId8"/>
    <p:sldLayoutId id="2147483674" r:id="rId9"/>
    <p:sldLayoutId id="2147483675" r:id="rId10"/>
    <p:sldLayoutId id="2147483676" r:id="rId11"/>
    <p:sldLayoutId id="2147483677" r:id="rId12"/>
  </p:sldLayoutIdLst>
  <p:hf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hart" Target="../charts/chart1.xml"/><Relationship Id="rId7" Type="http://schemas.openxmlformats.org/officeDocument/2006/relationships/chart" Target="../charts/chart2.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9.png"/><Relationship Id="rId3" Type="http://schemas.openxmlformats.org/officeDocument/2006/relationships/image" Target="../media/image11.png"/><Relationship Id="rId7" Type="http://schemas.openxmlformats.org/officeDocument/2006/relationships/image" Target="../media/image14.png"/><Relationship Id="rId12"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7.png"/><Relationship Id="rId5" Type="http://schemas.openxmlformats.org/officeDocument/2006/relationships/image" Target="../media/image12.png"/><Relationship Id="rId10" Type="http://schemas.openxmlformats.org/officeDocument/2006/relationships/image" Target="../media/image16.png"/><Relationship Id="rId4" Type="http://schemas.openxmlformats.org/officeDocument/2006/relationships/chart" Target="../charts/chart3.xml"/><Relationship Id="rId9" Type="http://schemas.openxmlformats.org/officeDocument/2006/relationships/image" Target="../media/image15.png"/><Relationship Id="rId1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chart" Target="../charts/chart5.xml"/><Relationship Id="rId4" Type="http://schemas.openxmlformats.org/officeDocument/2006/relationships/chart" Target="../charts/char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hart" Target="../charts/chart7.xml"/><Relationship Id="rId5" Type="http://schemas.openxmlformats.org/officeDocument/2006/relationships/image" Target="../media/image22.png"/><Relationship Id="rId4"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標題 2"/>
          <p:cNvSpPr>
            <a:spLocks noGrp="1"/>
          </p:cNvSpPr>
          <p:nvPr>
            <p:ph type="subTitle" idx="1"/>
          </p:nvPr>
        </p:nvSpPr>
        <p:spPr>
          <a:xfrm>
            <a:off x="2664328" y="3483648"/>
            <a:ext cx="4626574" cy="349749"/>
          </a:xfrm>
        </p:spPr>
        <p:txBody>
          <a:bodyPr/>
          <a:lstStyle/>
          <a:p>
            <a:r>
              <a:rPr lang="en-US" altLang="zh-TW" dirty="0"/>
              <a:t>Lockheed Martin Corporation</a:t>
            </a:r>
          </a:p>
        </p:txBody>
      </p:sp>
      <p:sp>
        <p:nvSpPr>
          <p:cNvPr id="8" name="标题 4">
            <a:extLst>
              <a:ext uri="{FF2B5EF4-FFF2-40B4-BE49-F238E27FC236}">
                <a16:creationId xmlns:a16="http://schemas.microsoft.com/office/drawing/2014/main" id="{1AE4FD0B-D14F-4EEF-AFF6-9742FB255240}"/>
              </a:ext>
            </a:extLst>
          </p:cNvPr>
          <p:cNvSpPr txBox="1">
            <a:spLocks/>
          </p:cNvSpPr>
          <p:nvPr/>
        </p:nvSpPr>
        <p:spPr>
          <a:xfrm>
            <a:off x="359533" y="3429000"/>
            <a:ext cx="6048671" cy="432048"/>
          </a:xfrm>
          <a:prstGeom prst="rect">
            <a:avLst/>
          </a:prstGeom>
        </p:spPr>
        <p:txBody>
          <a:bodyPr>
            <a:noAutofit/>
          </a:bodyPr>
          <a:lstStyle>
            <a:lvl1pPr algn="l" defTabSz="914400" rtl="0" eaLnBrk="1" latinLnBrk="0" hangingPunct="1">
              <a:spcBef>
                <a:spcPct val="0"/>
              </a:spcBef>
              <a:buNone/>
              <a:defRPr sz="4000" b="1" kern="1200">
                <a:solidFill>
                  <a:schemeClr val="tx1">
                    <a:lumMod val="95000"/>
                    <a:lumOff val="5000"/>
                  </a:schemeClr>
                </a:solidFill>
                <a:latin typeface="微軟正黑體" pitchFamily="34" charset="-120"/>
                <a:ea typeface="微軟正黑體" pitchFamily="34" charset="-120"/>
                <a:cs typeface="+mj-cs"/>
              </a:defRPr>
            </a:lvl1pPr>
          </a:lstStyle>
          <a:p>
            <a:pPr>
              <a:defRPr/>
            </a:pPr>
            <a:br>
              <a:rPr lang="zh-TW" altLang="en-US" sz="3000" dirty="0">
                <a:solidFill>
                  <a:schemeClr val="tx2"/>
                </a:solidFill>
              </a:rPr>
            </a:br>
            <a:endParaRPr lang="en-US" altLang="zh-TW" sz="3000" dirty="0">
              <a:solidFill>
                <a:schemeClr val="tx1">
                  <a:lumMod val="75000"/>
                  <a:lumOff val="25000"/>
                </a:schemeClr>
              </a:solidFill>
              <a:effectLst>
                <a:outerShdw blurRad="38100" dist="38100" dir="2700000" algn="tl">
                  <a:srgbClr val="000000">
                    <a:alpha val="43137"/>
                  </a:srgbClr>
                </a:outerShdw>
              </a:effectLst>
              <a:latin typeface="+mn-ea"/>
              <a:ea typeface="+mn-ea"/>
            </a:endParaRPr>
          </a:p>
        </p:txBody>
      </p:sp>
      <p:sp>
        <p:nvSpPr>
          <p:cNvPr id="4" name="標題 3"/>
          <p:cNvSpPr>
            <a:spLocks noGrp="1"/>
          </p:cNvSpPr>
          <p:nvPr>
            <p:ph type="ctrTitle"/>
          </p:nvPr>
        </p:nvSpPr>
        <p:spPr>
          <a:xfrm>
            <a:off x="2664328" y="2935160"/>
            <a:ext cx="4860000" cy="439193"/>
          </a:xfrm>
        </p:spPr>
        <p:txBody>
          <a:bodyPr/>
          <a:lstStyle/>
          <a:p>
            <a:r>
              <a:rPr lang="zh-TW" altLang="en-US" sz="2800" dirty="0"/>
              <a:t>洛克希德馬丁</a:t>
            </a: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534" y="2665189"/>
            <a:ext cx="2436090" cy="6918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7" name="表格 6">
            <a:extLst>
              <a:ext uri="{FF2B5EF4-FFF2-40B4-BE49-F238E27FC236}">
                <a16:creationId xmlns:a16="http://schemas.microsoft.com/office/drawing/2014/main" id="{6DF1BF5C-8E18-4E0D-8248-34E3A25C375B}"/>
              </a:ext>
            </a:extLst>
          </p:cNvPr>
          <p:cNvGraphicFramePr>
            <a:graphicFrameLocks noGrp="1"/>
          </p:cNvGraphicFramePr>
          <p:nvPr>
            <p:extLst>
              <p:ext uri="{D42A27DB-BD31-4B8C-83A1-F6EECF244321}">
                <p14:modId xmlns:p14="http://schemas.microsoft.com/office/powerpoint/2010/main" val="1042847508"/>
              </p:ext>
            </p:extLst>
          </p:nvPr>
        </p:nvGraphicFramePr>
        <p:xfrm>
          <a:off x="1115616" y="4149080"/>
          <a:ext cx="6819900" cy="740352"/>
        </p:xfrm>
        <a:graphic>
          <a:graphicData uri="http://schemas.openxmlformats.org/drawingml/2006/table">
            <a:tbl>
              <a:tblPr/>
              <a:tblGrid>
                <a:gridCol w="927100">
                  <a:extLst>
                    <a:ext uri="{9D8B030D-6E8A-4147-A177-3AD203B41FA5}">
                      <a16:colId xmlns:a16="http://schemas.microsoft.com/office/drawing/2014/main" val="2431230819"/>
                    </a:ext>
                  </a:extLst>
                </a:gridCol>
                <a:gridCol w="927100">
                  <a:extLst>
                    <a:ext uri="{9D8B030D-6E8A-4147-A177-3AD203B41FA5}">
                      <a16:colId xmlns:a16="http://schemas.microsoft.com/office/drawing/2014/main" val="4186104954"/>
                    </a:ext>
                  </a:extLst>
                </a:gridCol>
                <a:gridCol w="810096">
                  <a:extLst>
                    <a:ext uri="{9D8B030D-6E8A-4147-A177-3AD203B41FA5}">
                      <a16:colId xmlns:a16="http://schemas.microsoft.com/office/drawing/2014/main" val="1983523619"/>
                    </a:ext>
                  </a:extLst>
                </a:gridCol>
                <a:gridCol w="504056">
                  <a:extLst>
                    <a:ext uri="{9D8B030D-6E8A-4147-A177-3AD203B41FA5}">
                      <a16:colId xmlns:a16="http://schemas.microsoft.com/office/drawing/2014/main" val="949459868"/>
                    </a:ext>
                  </a:extLst>
                </a:gridCol>
                <a:gridCol w="1797348">
                  <a:extLst>
                    <a:ext uri="{9D8B030D-6E8A-4147-A177-3AD203B41FA5}">
                      <a16:colId xmlns:a16="http://schemas.microsoft.com/office/drawing/2014/main" val="1946720866"/>
                    </a:ext>
                  </a:extLst>
                </a:gridCol>
                <a:gridCol w="927100">
                  <a:extLst>
                    <a:ext uri="{9D8B030D-6E8A-4147-A177-3AD203B41FA5}">
                      <a16:colId xmlns:a16="http://schemas.microsoft.com/office/drawing/2014/main" val="1238084409"/>
                    </a:ext>
                  </a:extLst>
                </a:gridCol>
                <a:gridCol w="927100">
                  <a:extLst>
                    <a:ext uri="{9D8B030D-6E8A-4147-A177-3AD203B41FA5}">
                      <a16:colId xmlns:a16="http://schemas.microsoft.com/office/drawing/2014/main" val="3617222459"/>
                    </a:ext>
                  </a:extLst>
                </a:gridCol>
              </a:tblGrid>
              <a:tr h="254069">
                <a:tc>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商品</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發行機構</a:t>
                      </a:r>
                      <a:endParaRPr lang="en-US" altLang="zh-TW" sz="11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票息</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幣別</a:t>
                      </a:r>
                    </a:p>
                  </a:txBody>
                  <a:tcPr marL="9525" marR="9525" marT="9525" marB="0" anchor="ctr">
                    <a:lnL>
                      <a:noFill/>
                    </a:lnL>
                    <a:lnR>
                      <a:noFill/>
                    </a:lnR>
                    <a:lnT>
                      <a:noFill/>
                    </a:lnT>
                    <a:lnB>
                      <a:noFill/>
                    </a:lnB>
                    <a:solidFill>
                      <a:srgbClr val="C00000"/>
                    </a:solidFill>
                  </a:tcPr>
                </a:tc>
                <a:tc>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信用評等</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償債順位</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到期日</a:t>
                      </a:r>
                    </a:p>
                  </a:txBody>
                  <a:tcPr marL="9525" marR="9525" marT="9525" marB="0" anchor="ctr">
                    <a:lnL>
                      <a:noFill/>
                    </a:lnL>
                    <a:lnR>
                      <a:noFill/>
                    </a:lnR>
                    <a:lnT>
                      <a:noFill/>
                    </a:lnT>
                    <a:lnB>
                      <a:noFill/>
                    </a:lnB>
                    <a:solidFill>
                      <a:srgbClr val="C00000"/>
                    </a:solidFill>
                  </a:tcPr>
                </a:tc>
                <a:extLst>
                  <a:ext uri="{0D108BD9-81ED-4DB2-BD59-A6C34878D82A}">
                    <a16:rowId xmlns:a16="http://schemas.microsoft.com/office/drawing/2014/main" val="2608105475"/>
                  </a:ext>
                </a:extLst>
              </a:tr>
              <a:tr h="254069">
                <a:tc>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代號</a:t>
                      </a:r>
                    </a:p>
                  </a:txBody>
                  <a:tcPr marL="9525" marR="9525" marT="9525" marB="0" anchor="ctr">
                    <a:lnL>
                      <a:noFill/>
                    </a:lnL>
                    <a:lnR>
                      <a:noFill/>
                    </a:lnR>
                    <a:lnT>
                      <a:noFill/>
                    </a:lnT>
                    <a:lnB>
                      <a:noFill/>
                    </a:lnB>
                    <a:solidFill>
                      <a:srgbClr val="C00000"/>
                    </a:solidFill>
                  </a:tcPr>
                </a:tc>
                <a:tc vMerge="1">
                  <a:txBody>
                    <a:bodyPr/>
                    <a:lstStyle/>
                    <a:p>
                      <a:endParaRPr lang="zh-TW" altLang="en-US"/>
                    </a:p>
                  </a:txBody>
                  <a:tcPr/>
                </a:tc>
                <a:tc vMerge="1">
                  <a:txBody>
                    <a:bodyPr/>
                    <a:lstStyle/>
                    <a:p>
                      <a:endParaRPr lang="zh-TW" altLang="en-US"/>
                    </a:p>
                  </a:txBody>
                  <a:tcPr/>
                </a:tc>
                <a:tc vMerge="1">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幣別</a:t>
                      </a:r>
                    </a:p>
                  </a:txBody>
                  <a:tcPr marL="9525" marR="9525" marT="9525" marB="0" anchor="ctr">
                    <a:lnL>
                      <a:noFill/>
                    </a:lnL>
                    <a:lnR>
                      <a:noFill/>
                    </a:lnR>
                    <a:lnT>
                      <a:noFill/>
                    </a:lnT>
                    <a:lnB>
                      <a:noFill/>
                    </a:lnB>
                    <a:solidFill>
                      <a:srgbClr val="C00000"/>
                    </a:solidFill>
                  </a:tcPr>
                </a:tc>
                <a:tc>
                  <a:txBody>
                    <a:bodyPr/>
                    <a:lstStyle/>
                    <a:p>
                      <a:pPr algn="ctr" rtl="0" fontAlgn="ctr"/>
                      <a:r>
                        <a:rPr lang="en-US" sz="1100" b="1" i="0" u="none" strike="noStrike" dirty="0">
                          <a:solidFill>
                            <a:srgbClr val="FFFFFF"/>
                          </a:solidFill>
                          <a:effectLst/>
                          <a:latin typeface="微軟正黑體" panose="020B0604030504040204" pitchFamily="34" charset="-120"/>
                          <a:ea typeface="微軟正黑體" panose="020B0604030504040204" pitchFamily="34" charset="-120"/>
                        </a:rPr>
                        <a:t>Moody/ S&amp;P / Fitch</a:t>
                      </a:r>
                    </a:p>
                  </a:txBody>
                  <a:tcPr marL="9525" marR="9525" marT="9525" marB="0" anchor="ctr">
                    <a:lnL>
                      <a:noFill/>
                    </a:lnL>
                    <a:lnR>
                      <a:noFill/>
                    </a:lnR>
                    <a:lnT>
                      <a:noFill/>
                    </a:lnT>
                    <a:lnB>
                      <a:noFill/>
                    </a:lnB>
                    <a:solidFill>
                      <a:srgbClr val="C00000"/>
                    </a:solidFill>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133559202"/>
                  </a:ext>
                </a:extLst>
              </a:tr>
              <a:tr h="232214">
                <a:tc>
                  <a:txBody>
                    <a:bodyPr/>
                    <a:lstStyle/>
                    <a:p>
                      <a:pPr algn="ctr" rtl="0" fontAlgn="ctr"/>
                      <a:r>
                        <a:rPr lang="en-US" sz="1000" b="0" i="0" u="none" strike="noStrike" dirty="0">
                          <a:solidFill>
                            <a:srgbClr val="000000"/>
                          </a:solidFill>
                          <a:effectLst/>
                          <a:latin typeface="Arial" panose="020B0604020202020204" pitchFamily="34" charset="0"/>
                          <a:ea typeface="新細明體" panose="02020500000000000000" pitchFamily="18" charset="-120"/>
                        </a:rPr>
                        <a:t>CBFE</a:t>
                      </a:r>
                    </a:p>
                  </a:txBody>
                  <a:tcPr marL="9525" marR="9525" marT="9525" marB="0" anchor="ctr">
                    <a:lnL>
                      <a:noFill/>
                    </a:lnL>
                    <a:lnR>
                      <a:noFill/>
                    </a:lnR>
                    <a:lnT>
                      <a:noFill/>
                    </a:lnT>
                    <a:lnB>
                      <a:noFill/>
                    </a:lnB>
                    <a:solidFill>
                      <a:srgbClr val="F2F2F2"/>
                    </a:solidFill>
                  </a:tcPr>
                </a:tc>
                <a:tc>
                  <a:txBody>
                    <a:bodyPr/>
                    <a:lstStyle/>
                    <a:p>
                      <a:pPr algn="ctr" rtl="0"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洛克希德馬丁</a:t>
                      </a:r>
                    </a:p>
                  </a:txBody>
                  <a:tcPr marL="9525" marR="9525" marT="9525" marB="0" anchor="ctr">
                    <a:lnL>
                      <a:noFill/>
                    </a:lnL>
                    <a:lnR>
                      <a:noFill/>
                    </a:lnR>
                    <a:lnT>
                      <a:noFill/>
                    </a:lnT>
                    <a:lnB>
                      <a:noFill/>
                    </a:lnB>
                  </a:tcPr>
                </a:tc>
                <a:tc>
                  <a:txBody>
                    <a:bodyPr/>
                    <a:lstStyle/>
                    <a:p>
                      <a:pPr algn="ctr" rtl="0"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4.7</a:t>
                      </a:r>
                    </a:p>
                  </a:txBody>
                  <a:tcPr marL="9525" marR="9525" marT="9525" marB="0" anchor="ctr">
                    <a:lnL>
                      <a:noFill/>
                    </a:lnL>
                    <a:lnR>
                      <a:noFill/>
                    </a:lnR>
                    <a:lnT>
                      <a:noFill/>
                    </a:lnT>
                    <a:lnB>
                      <a:noFill/>
                    </a:lnB>
                  </a:tcPr>
                </a:tc>
                <a:tc>
                  <a:txBody>
                    <a:bodyPr/>
                    <a:lstStyle/>
                    <a:p>
                      <a:pPr algn="ctr" rtl="0" fontAlgn="ctr"/>
                      <a:r>
                        <a:rPr lang="en-US" sz="1000" b="0" i="0" u="none" strike="noStrike">
                          <a:solidFill>
                            <a:srgbClr val="000000"/>
                          </a:solidFill>
                          <a:effectLst/>
                          <a:latin typeface="微軟正黑體" panose="020B0604030504040204" pitchFamily="34" charset="-120"/>
                          <a:ea typeface="微軟正黑體" panose="020B0604030504040204" pitchFamily="34" charset="-120"/>
                        </a:rPr>
                        <a:t>USD</a:t>
                      </a:r>
                    </a:p>
                  </a:txBody>
                  <a:tcPr marL="9525" marR="9525" marT="9525" marB="0" anchor="ctr">
                    <a:lnL>
                      <a:noFill/>
                    </a:lnL>
                    <a:lnR>
                      <a:noFill/>
                    </a:lnR>
                    <a:lnT>
                      <a:noFill/>
                    </a:lnT>
                    <a:lnB>
                      <a:noFill/>
                    </a:lnB>
                  </a:tcPr>
                </a:tc>
                <a:tc>
                  <a:txBody>
                    <a:bodyPr/>
                    <a:lstStyle/>
                    <a:p>
                      <a:pPr algn="ctr"/>
                      <a:r>
                        <a:rPr lang="en-US" altLang="zh-TW" sz="1000" dirty="0"/>
                        <a:t>A2</a:t>
                      </a:r>
                      <a:r>
                        <a:rPr lang="en-US" altLang="zh-TW" sz="1000"/>
                        <a:t>/A-/A</a:t>
                      </a:r>
                      <a:endParaRPr lang="pt-BR" altLang="zh-TW" sz="1000" dirty="0"/>
                    </a:p>
                  </a:txBody>
                  <a:tcPr marL="9525" marR="9525" marT="9525" marB="0" anchor="ctr">
                    <a:lnL>
                      <a:noFill/>
                    </a:lnL>
                    <a:lnR>
                      <a:noFill/>
                    </a:lnR>
                    <a:lnT>
                      <a:noFill/>
                    </a:lnT>
                    <a:lnB>
                      <a:noFill/>
                    </a:lnB>
                  </a:tcPr>
                </a:tc>
                <a:tc>
                  <a:txBody>
                    <a:bodyPr/>
                    <a:lstStyle/>
                    <a:p>
                      <a:pPr algn="ctr" rtl="0" fontAlgn="ctr"/>
                      <a:r>
                        <a:rPr lang="en-US" sz="1000" b="0" i="0" u="none" strike="noStrike" dirty="0">
                          <a:solidFill>
                            <a:srgbClr val="000000"/>
                          </a:solidFill>
                          <a:effectLst/>
                          <a:latin typeface="微軟正黑體" panose="020B0604030504040204" pitchFamily="34" charset="-120"/>
                          <a:ea typeface="微軟正黑體" panose="020B0604030504040204" pitchFamily="34" charset="-120"/>
                        </a:rPr>
                        <a:t>Sr Unsecured</a:t>
                      </a:r>
                    </a:p>
                  </a:txBody>
                  <a:tcPr marL="9525" marR="9525" marT="9525" marB="0" anchor="ctr">
                    <a:lnL>
                      <a:noFill/>
                    </a:lnL>
                    <a:lnR>
                      <a:noFill/>
                    </a:lnR>
                    <a:lnT>
                      <a:noFill/>
                    </a:lnT>
                    <a:lnB>
                      <a:noFill/>
                    </a:lnB>
                  </a:tcPr>
                </a:tc>
                <a:tc>
                  <a:txBody>
                    <a:bodyPr/>
                    <a:lstStyle/>
                    <a:p>
                      <a:pPr algn="ctr" rtl="0" fontAlgn="ctr"/>
                      <a:r>
                        <a:rPr lang="en-US" altLang="zh-TW" sz="1000" b="0" i="0" u="none" strike="noStrike">
                          <a:solidFill>
                            <a:srgbClr val="000000"/>
                          </a:solidFill>
                          <a:effectLst/>
                          <a:latin typeface="微軟正黑體" panose="020B0604030504040204" pitchFamily="34" charset="-120"/>
                          <a:ea typeface="微軟正黑體" panose="020B0604030504040204" pitchFamily="34" charset="-120"/>
                        </a:rPr>
                        <a:t>2046/5/15</a:t>
                      </a: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2605237132"/>
                  </a:ext>
                </a:extLst>
              </a:tr>
            </a:tbl>
          </a:graphicData>
        </a:graphic>
      </p:graphicFrame>
    </p:spTree>
    <p:extLst>
      <p:ext uri="{BB962C8B-B14F-4D97-AF65-F5344CB8AC3E}">
        <p14:creationId xmlns:p14="http://schemas.microsoft.com/office/powerpoint/2010/main" val="3814018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圖表 4"/>
          <p:cNvGraphicFramePr/>
          <p:nvPr>
            <p:extLst>
              <p:ext uri="{D42A27DB-BD31-4B8C-83A1-F6EECF244321}">
                <p14:modId xmlns:p14="http://schemas.microsoft.com/office/powerpoint/2010/main" val="6282034"/>
              </p:ext>
            </p:extLst>
          </p:nvPr>
        </p:nvGraphicFramePr>
        <p:xfrm>
          <a:off x="323527" y="4581128"/>
          <a:ext cx="3370163" cy="1822442"/>
        </p:xfrm>
        <a:graphic>
          <a:graphicData uri="http://schemas.openxmlformats.org/drawingml/2006/chart">
            <c:chart xmlns:c="http://schemas.openxmlformats.org/drawingml/2006/chart" xmlns:r="http://schemas.openxmlformats.org/officeDocument/2006/relationships" r:id="rId3"/>
          </a:graphicData>
        </a:graphic>
      </p:graphicFrame>
      <p:sp>
        <p:nvSpPr>
          <p:cNvPr id="2" name="矩形 1">
            <a:extLst>
              <a:ext uri="{FF2B5EF4-FFF2-40B4-BE49-F238E27FC236}">
                <a16:creationId xmlns:a16="http://schemas.microsoft.com/office/drawing/2014/main" id="{2699700B-649E-4B41-BD33-38C3C73BF142}"/>
              </a:ext>
            </a:extLst>
          </p:cNvPr>
          <p:cNvSpPr/>
          <p:nvPr/>
        </p:nvSpPr>
        <p:spPr>
          <a:xfrm>
            <a:off x="473084" y="4371687"/>
            <a:ext cx="5935044" cy="2047400"/>
          </a:xfrm>
          <a:prstGeom prst="rect">
            <a:avLst/>
          </a:prstGeom>
          <a:noFill/>
          <a:ln>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8" name="圖片 37"/>
          <p:cNvPicPr>
            <a:picLocks noChangeAspect="1"/>
          </p:cNvPicPr>
          <p:nvPr/>
        </p:nvPicPr>
        <p:blipFill>
          <a:blip r:embed="rId4"/>
          <a:stretch>
            <a:fillRect/>
          </a:stretch>
        </p:blipFill>
        <p:spPr>
          <a:xfrm>
            <a:off x="744846" y="4184380"/>
            <a:ext cx="1225403" cy="397799"/>
          </a:xfrm>
          <a:prstGeom prst="rect">
            <a:avLst/>
          </a:prstGeom>
        </p:spPr>
      </p:pic>
      <p:cxnSp>
        <p:nvCxnSpPr>
          <p:cNvPr id="21" name="直線接點 20">
            <a:extLst>
              <a:ext uri="{FF2B5EF4-FFF2-40B4-BE49-F238E27FC236}">
                <a16:creationId xmlns:a16="http://schemas.microsoft.com/office/drawing/2014/main" id="{A26FFA02-BC8E-4348-BE69-507F7E444674}"/>
              </a:ext>
            </a:extLst>
          </p:cNvPr>
          <p:cNvCxnSpPr/>
          <p:nvPr/>
        </p:nvCxnSpPr>
        <p:spPr>
          <a:xfrm>
            <a:off x="7076640" y="988389"/>
            <a:ext cx="1715711" cy="0"/>
          </a:xfrm>
          <a:prstGeom prst="line">
            <a:avLst/>
          </a:prstGeom>
          <a:ln w="19050">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cxnSp>
        <p:nvCxnSpPr>
          <p:cNvPr id="18" name="直線接點 17">
            <a:extLst>
              <a:ext uri="{FF2B5EF4-FFF2-40B4-BE49-F238E27FC236}">
                <a16:creationId xmlns:a16="http://schemas.microsoft.com/office/drawing/2014/main" id="{A04FBD28-E6A3-4645-9422-603BD8C266EB}"/>
              </a:ext>
            </a:extLst>
          </p:cNvPr>
          <p:cNvCxnSpPr/>
          <p:nvPr/>
        </p:nvCxnSpPr>
        <p:spPr>
          <a:xfrm>
            <a:off x="7076640" y="988389"/>
            <a:ext cx="1715711" cy="0"/>
          </a:xfrm>
          <a:prstGeom prst="line">
            <a:avLst/>
          </a:prstGeom>
          <a:ln w="19050">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sp>
        <p:nvSpPr>
          <p:cNvPr id="19" name="矩形 18">
            <a:extLst>
              <a:ext uri="{FF2B5EF4-FFF2-40B4-BE49-F238E27FC236}">
                <a16:creationId xmlns:a16="http://schemas.microsoft.com/office/drawing/2014/main" id="{E95BAFF2-B38E-4250-86A6-FBC7CEA01EB1}"/>
              </a:ext>
            </a:extLst>
          </p:cNvPr>
          <p:cNvSpPr/>
          <p:nvPr/>
        </p:nvSpPr>
        <p:spPr>
          <a:xfrm>
            <a:off x="6757811" y="1825599"/>
            <a:ext cx="2385137" cy="707886"/>
          </a:xfrm>
          <a:prstGeom prst="rect">
            <a:avLst/>
          </a:prstGeom>
        </p:spPr>
        <p:txBody>
          <a:bodyPr wrap="square">
            <a:spAutoFit/>
          </a:bodyPr>
          <a:lstStyle/>
          <a:p>
            <a:pPr algn="ctr"/>
            <a:r>
              <a:rPr lang="zh-TW" altLang="en-US" sz="1400" b="1" dirty="0">
                <a:solidFill>
                  <a:schemeClr val="tx1">
                    <a:lumMod val="85000"/>
                    <a:lumOff val="15000"/>
                  </a:schemeClr>
                </a:solidFill>
                <a:latin typeface="+mn-ea"/>
              </a:rPr>
              <a:t>全球國防承包商</a:t>
            </a:r>
            <a:endParaRPr lang="en-US" altLang="zh-TW" sz="1400" b="1" dirty="0">
              <a:solidFill>
                <a:schemeClr val="tx1">
                  <a:lumMod val="85000"/>
                  <a:lumOff val="15000"/>
                </a:schemeClr>
              </a:solidFill>
              <a:latin typeface="+mn-ea"/>
            </a:endParaRPr>
          </a:p>
          <a:p>
            <a:pPr algn="ctr"/>
            <a:r>
              <a:rPr lang="zh-TW" altLang="en-US" sz="1400" b="1" dirty="0">
                <a:solidFill>
                  <a:schemeClr val="tx1">
                    <a:lumMod val="85000"/>
                    <a:lumOff val="15000"/>
                  </a:schemeClr>
                </a:solidFill>
                <a:latin typeface="+mn-ea"/>
              </a:rPr>
              <a:t>規模排名</a:t>
            </a:r>
            <a:endParaRPr lang="en-US" altLang="zh-TW" sz="1400" b="1" dirty="0">
              <a:solidFill>
                <a:schemeClr val="tx1">
                  <a:lumMod val="85000"/>
                  <a:lumOff val="15000"/>
                </a:schemeClr>
              </a:solidFill>
              <a:latin typeface="+mn-ea"/>
            </a:endParaRPr>
          </a:p>
          <a:p>
            <a:pPr algn="ctr"/>
            <a:r>
              <a:rPr lang="en-US" altLang="zh-TW" sz="1200" dirty="0">
                <a:solidFill>
                  <a:schemeClr val="tx1">
                    <a:lumMod val="85000"/>
                    <a:lumOff val="15000"/>
                  </a:schemeClr>
                </a:solidFill>
                <a:latin typeface="+mn-ea"/>
              </a:rPr>
              <a:t>(Defense</a:t>
            </a:r>
            <a:r>
              <a:rPr lang="zh-TW" altLang="en-US" sz="1200" dirty="0">
                <a:solidFill>
                  <a:schemeClr val="tx1">
                    <a:lumMod val="85000"/>
                    <a:lumOff val="15000"/>
                  </a:schemeClr>
                </a:solidFill>
                <a:latin typeface="+mn-ea"/>
              </a:rPr>
              <a:t> </a:t>
            </a:r>
            <a:r>
              <a:rPr lang="en-US" altLang="zh-TW" sz="1200" dirty="0">
                <a:solidFill>
                  <a:schemeClr val="tx1">
                    <a:lumMod val="85000"/>
                    <a:lumOff val="15000"/>
                  </a:schemeClr>
                </a:solidFill>
                <a:latin typeface="+mn-ea"/>
              </a:rPr>
              <a:t>News,</a:t>
            </a:r>
            <a:r>
              <a:rPr lang="zh-TW" altLang="en-US" sz="1200" dirty="0">
                <a:solidFill>
                  <a:schemeClr val="tx1">
                    <a:lumMod val="85000"/>
                    <a:lumOff val="15000"/>
                  </a:schemeClr>
                </a:solidFill>
                <a:latin typeface="+mn-ea"/>
              </a:rPr>
              <a:t> </a:t>
            </a:r>
            <a:r>
              <a:rPr lang="en-US" altLang="zh-TW" sz="1200" dirty="0">
                <a:solidFill>
                  <a:schemeClr val="tx1">
                    <a:lumMod val="85000"/>
                    <a:lumOff val="15000"/>
                  </a:schemeClr>
                </a:solidFill>
                <a:latin typeface="+mn-ea"/>
              </a:rPr>
              <a:t>2025)</a:t>
            </a:r>
            <a:endParaRPr lang="zh-TW" altLang="en-US" sz="1200" dirty="0">
              <a:solidFill>
                <a:schemeClr val="tx1">
                  <a:lumMod val="85000"/>
                  <a:lumOff val="15000"/>
                </a:schemeClr>
              </a:solidFill>
              <a:latin typeface="+mn-ea"/>
            </a:endParaRPr>
          </a:p>
        </p:txBody>
      </p:sp>
      <p:sp>
        <p:nvSpPr>
          <p:cNvPr id="20" name="文字方塊 19">
            <a:extLst>
              <a:ext uri="{FF2B5EF4-FFF2-40B4-BE49-F238E27FC236}">
                <a16:creationId xmlns:a16="http://schemas.microsoft.com/office/drawing/2014/main" id="{D7456FB7-CD46-411A-A847-9A20E960177F}"/>
              </a:ext>
            </a:extLst>
          </p:cNvPr>
          <p:cNvSpPr txBox="1"/>
          <p:nvPr/>
        </p:nvSpPr>
        <p:spPr>
          <a:xfrm>
            <a:off x="6732240" y="1193043"/>
            <a:ext cx="2436279" cy="646331"/>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sz="3600" dirty="0"/>
              <a:t>#1</a:t>
            </a:r>
            <a:endParaRPr lang="zh-TW" altLang="en-US" sz="3600" dirty="0"/>
          </a:p>
        </p:txBody>
      </p:sp>
      <p:pic>
        <p:nvPicPr>
          <p:cNvPr id="27" name="圖片 26">
            <a:extLst>
              <a:ext uri="{FF2B5EF4-FFF2-40B4-BE49-F238E27FC236}">
                <a16:creationId xmlns:a16="http://schemas.microsoft.com/office/drawing/2014/main" id="{812C6449-9CF8-4E1F-B004-6A52F2380BE4}"/>
              </a:ext>
            </a:extLst>
          </p:cNvPr>
          <p:cNvPicPr>
            <a:picLocks noChangeAspect="1"/>
          </p:cNvPicPr>
          <p:nvPr/>
        </p:nvPicPr>
        <p:blipFill>
          <a:blip r:embed="rId5"/>
          <a:stretch>
            <a:fillRect/>
          </a:stretch>
        </p:blipFill>
        <p:spPr>
          <a:xfrm>
            <a:off x="473084" y="650449"/>
            <a:ext cx="5931459" cy="3509158"/>
          </a:xfrm>
          <a:prstGeom prst="rect">
            <a:avLst/>
          </a:prstGeom>
        </p:spPr>
      </p:pic>
      <p:sp>
        <p:nvSpPr>
          <p:cNvPr id="29" name="文字版面配置區 15">
            <a:extLst>
              <a:ext uri="{FF2B5EF4-FFF2-40B4-BE49-F238E27FC236}">
                <a16:creationId xmlns:a16="http://schemas.microsoft.com/office/drawing/2014/main" id="{11A04B46-DE0C-4282-BFCA-6BA92CADD11B}"/>
              </a:ext>
            </a:extLst>
          </p:cNvPr>
          <p:cNvSpPr txBox="1">
            <a:spLocks/>
          </p:cNvSpPr>
          <p:nvPr/>
        </p:nvSpPr>
        <p:spPr>
          <a:xfrm>
            <a:off x="473084" y="728772"/>
            <a:ext cx="5931459" cy="3401258"/>
          </a:xfrm>
          <a:prstGeom prst="rect">
            <a:avLst/>
          </a:prstGeom>
        </p:spPr>
        <p:txBody>
          <a:bodyPr>
            <a:noAutofit/>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just" hangingPunct="0">
              <a:lnSpc>
                <a:spcPts val="1600"/>
              </a:lnSpc>
              <a:spcBef>
                <a:spcPts val="300"/>
              </a:spcBef>
              <a:buNone/>
            </a:pP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洛克希德馬丁</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(Lockheed Martin</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NYSE:</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LMT)</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，成立於</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1909</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年，總部位於馬里蘭州，為全球最大的國防工業承包商。透過多元化產品協助美國國防部各個領域武器和系統的現代化，包括極音速、導能武器</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(Directed Energy</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Weapon)</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AI</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和聯合全域通訊等，並且在多個重要專案處於領先地位，如</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F-35</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和</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F-16</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戰機、</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UH-60</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黑鷹直升機、神盾作戰系統</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全球首款全數位化艦載戰鬥系統</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THAAD(</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薩德</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飛彈和防禦系統等。</a:t>
            </a:r>
            <a:endPar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0" indent="0" algn="just" hangingPunct="0">
              <a:lnSpc>
                <a:spcPts val="1600"/>
              </a:lnSpc>
              <a:spcBef>
                <a:spcPts val="300"/>
              </a:spcBef>
              <a:buNone/>
            </a:pP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主要營運部門為航空、旋翼和任務系統、飛彈與火控與太空，其中航空業務佔比最大，主要產品為先進軍用飛機；旋翼和任務系統主要產品為軍用和商用直升機，以及雷達與飛彈防禦系統；飛彈和火控部門以製造飛彈和防禦系統為主；太空部門則致力於衛星、太空運輸系統以及戰略、先進打擊和防禦系統。</a:t>
            </a:r>
          </a:p>
          <a:p>
            <a:pPr hangingPunct="0">
              <a:lnSpc>
                <a:spcPts val="1600"/>
              </a:lnSpc>
              <a:spcBef>
                <a:spcPts val="0"/>
              </a:spcBef>
              <a:buFont typeface="Wingdings" panose="05000000000000000000" pitchFamily="2" charset="2"/>
              <a:buChar char="ü"/>
            </a:pPr>
            <a:r>
              <a:rPr lang="zh-TW" altLang="en-US" sz="1200" b="1" dirty="0">
                <a:solidFill>
                  <a:srgbClr val="FF0000"/>
                </a:solidFill>
                <a:latin typeface="微軟正黑體" panose="020B0604030504040204" pitchFamily="34" charset="-120"/>
                <a:ea typeface="微軟正黑體" panose="020B0604030504040204" pitchFamily="34" charset="-120"/>
              </a:rPr>
              <a:t>強大地位帶來龐大的訂單庫存</a:t>
            </a:r>
            <a:br>
              <a:rPr lang="en-US" altLang="zh-TW" sz="1200" b="1" dirty="0">
                <a:solidFill>
                  <a:srgbClr val="FF0000"/>
                </a:solidFill>
                <a:latin typeface="微軟正黑體" panose="020B0604030504040204" pitchFamily="34" charset="-120"/>
                <a:ea typeface="微軟正黑體" panose="020B0604030504040204" pitchFamily="34" charset="-120"/>
              </a:rPr>
            </a:br>
            <a:r>
              <a:rPr lang="zh-TW" altLang="en-US" sz="1200" dirty="0">
                <a:latin typeface="微軟正黑體" panose="020B0604030504040204" pitchFamily="34" charset="-120"/>
                <a:ea typeface="微軟正黑體" panose="020B0604030504040204" pitchFamily="34" charset="-120"/>
              </a:rPr>
              <a:t>由於洛克希德馬丁無論在戰鬥機、飛彈、軍用直升機等領域均具有強大市場地位，美國與各國極為仰賴該公司充實國防，其訂單庫存為營收的兩倍以上。</a:t>
            </a:r>
          </a:p>
          <a:p>
            <a:pPr hangingPunct="0">
              <a:lnSpc>
                <a:spcPts val="1600"/>
              </a:lnSpc>
              <a:spcBef>
                <a:spcPts val="0"/>
              </a:spcBef>
              <a:buFont typeface="Wingdings" panose="05000000000000000000" pitchFamily="2" charset="2"/>
              <a:buChar char="ü"/>
            </a:pPr>
            <a:r>
              <a:rPr lang="en-US" altLang="zh-TW" sz="1200" b="1" dirty="0">
                <a:solidFill>
                  <a:srgbClr val="FF0000"/>
                </a:solidFill>
                <a:latin typeface="微軟正黑體" panose="020B0604030504040204" pitchFamily="34" charset="-120"/>
                <a:ea typeface="微軟正黑體" panose="020B0604030504040204" pitchFamily="34" charset="-120"/>
              </a:rPr>
              <a:t>F-35</a:t>
            </a:r>
            <a:r>
              <a:rPr lang="zh-TW" altLang="en-US" sz="1200" b="1" dirty="0">
                <a:solidFill>
                  <a:srgbClr val="FF0000"/>
                </a:solidFill>
                <a:latin typeface="微軟正黑體" panose="020B0604030504040204" pitchFamily="34" charset="-120"/>
                <a:ea typeface="微軟正黑體" panose="020B0604030504040204" pitchFamily="34" charset="-120"/>
              </a:rPr>
              <a:t>聯合打擊戰鬥機計劃的主要承包商</a:t>
            </a:r>
            <a:endParaRPr lang="en-US" altLang="zh-TW" sz="1200" b="1" dirty="0">
              <a:solidFill>
                <a:srgbClr val="FF0000"/>
              </a:solidFill>
              <a:latin typeface="微軟正黑體" panose="020B0604030504040204" pitchFamily="34" charset="-120"/>
              <a:ea typeface="微軟正黑體" panose="020B0604030504040204" pitchFamily="34" charset="-120"/>
            </a:endParaRPr>
          </a:p>
          <a:p>
            <a:pPr marL="271463" indent="0" hangingPunct="0">
              <a:lnSpc>
                <a:spcPts val="1600"/>
              </a:lnSpc>
              <a:spcBef>
                <a:spcPts val="0"/>
              </a:spcBef>
              <a:buNone/>
            </a:pPr>
            <a:r>
              <a:rPr lang="zh-TW" altLang="en-US" sz="1200" dirty="0">
                <a:latin typeface="微軟正黑體" panose="020B0604030504040204" pitchFamily="34" charset="-120"/>
                <a:ea typeface="微軟正黑體" panose="020B0604030504040204" pitchFamily="34" charset="-120"/>
              </a:rPr>
              <a:t>為美國防工業中最大的計劃，也是公司最大項目，其優勢為具備較高的隱身設計、最先進的感測器及數據分析和共享能力，</a:t>
            </a:r>
            <a:r>
              <a:rPr lang="en-US" altLang="zh-TW" sz="1200" dirty="0">
                <a:latin typeface="微軟正黑體" panose="020B0604030504040204" pitchFamily="34" charset="-120"/>
                <a:ea typeface="微軟正黑體" panose="020B0604030504040204" pitchFamily="34" charset="-120"/>
              </a:rPr>
              <a:t>2025</a:t>
            </a:r>
            <a:r>
              <a:rPr lang="zh-TW" altLang="en-US" sz="1200" dirty="0">
                <a:latin typeface="微軟正黑體" panose="020B0604030504040204" pitchFamily="34" charset="-120"/>
                <a:ea typeface="微軟正黑體" panose="020B0604030504040204" pitchFamily="34" charset="-120"/>
              </a:rPr>
              <a:t>年洛克希德馬丁交付</a:t>
            </a:r>
            <a:r>
              <a:rPr lang="en-US" altLang="zh-TW" sz="1200" dirty="0">
                <a:latin typeface="微軟正黑體" panose="020B0604030504040204" pitchFamily="34" charset="-120"/>
                <a:ea typeface="微軟正黑體" panose="020B0604030504040204" pitchFamily="34" charset="-120"/>
              </a:rPr>
              <a:t>191</a:t>
            </a:r>
            <a:r>
              <a:rPr lang="zh-TW" altLang="en-US" sz="1200" dirty="0">
                <a:latin typeface="微軟正黑體" panose="020B0604030504040204" pitchFamily="34" charset="-120"/>
                <a:ea typeface="微軟正黑體" panose="020B0604030504040204" pitchFamily="34" charset="-120"/>
              </a:rPr>
              <a:t>架</a:t>
            </a:r>
            <a:r>
              <a:rPr lang="en-US" altLang="zh-TW" sz="1200" dirty="0">
                <a:latin typeface="微軟正黑體" panose="020B0604030504040204" pitchFamily="34" charset="-120"/>
                <a:ea typeface="微軟正黑體" panose="020B0604030504040204" pitchFamily="34" charset="-120"/>
              </a:rPr>
              <a:t>F-35</a:t>
            </a:r>
            <a:r>
              <a:rPr lang="zh-TW" altLang="en-US" sz="1200" dirty="0">
                <a:latin typeface="微軟正黑體" panose="020B0604030504040204" pitchFamily="34" charset="-120"/>
                <a:ea typeface="微軟正黑體" panose="020B0604030504040204" pitchFamily="34" charset="-120"/>
              </a:rPr>
              <a:t>戰機，為</a:t>
            </a:r>
            <a:r>
              <a:rPr lang="en-US" altLang="zh-TW" sz="1200" dirty="0">
                <a:latin typeface="微軟正黑體" panose="020B0604030504040204" pitchFamily="34" charset="-120"/>
                <a:ea typeface="微軟正黑體" panose="020B0604030504040204" pitchFamily="34" charset="-120"/>
              </a:rPr>
              <a:t>2024</a:t>
            </a:r>
            <a:r>
              <a:rPr lang="zh-TW" altLang="en-US" sz="1200" dirty="0">
                <a:latin typeface="微軟正黑體" panose="020B0604030504040204" pitchFamily="34" charset="-120"/>
                <a:ea typeface="微軟正黑體" panose="020B0604030504040204" pitchFamily="34" charset="-120"/>
              </a:rPr>
              <a:t>年的近</a:t>
            </a:r>
            <a:r>
              <a:rPr lang="en-US" altLang="zh-TW" sz="1200" dirty="0">
                <a:latin typeface="微軟正黑體" panose="020B0604030504040204" pitchFamily="34" charset="-120"/>
                <a:ea typeface="微軟正黑體" panose="020B0604030504040204" pitchFamily="34" charset="-120"/>
              </a:rPr>
              <a:t>2</a:t>
            </a:r>
            <a:r>
              <a:rPr lang="zh-TW" altLang="en-US" sz="1200" dirty="0">
                <a:latin typeface="微軟正黑體" panose="020B0604030504040204" pitchFamily="34" charset="-120"/>
                <a:ea typeface="微軟正黑體" panose="020B0604030504040204" pitchFamily="34" charset="-120"/>
              </a:rPr>
              <a:t>倍，實現近十年來最高的交付總量。</a:t>
            </a:r>
            <a:endParaRPr lang="zh-TW" altLang="en-US" sz="14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30" name="標題 38">
            <a:extLst>
              <a:ext uri="{FF2B5EF4-FFF2-40B4-BE49-F238E27FC236}">
                <a16:creationId xmlns:a16="http://schemas.microsoft.com/office/drawing/2014/main" id="{D0FCD71C-3094-47DE-B012-FBB187335D3D}"/>
              </a:ext>
            </a:extLst>
          </p:cNvPr>
          <p:cNvSpPr txBox="1">
            <a:spLocks/>
          </p:cNvSpPr>
          <p:nvPr/>
        </p:nvSpPr>
        <p:spPr>
          <a:xfrm>
            <a:off x="448054" y="44624"/>
            <a:ext cx="6068162" cy="540000"/>
          </a:xfrm>
          <a:prstGeom prst="rect">
            <a:avLst/>
          </a:prstGeom>
        </p:spPr>
        <p:txBody>
          <a:bodyPr anchor="b">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r>
              <a:rPr lang="zh-TW" altLang="en-US" sz="2400" dirty="0"/>
              <a:t>洛克希德馬丁</a:t>
            </a:r>
          </a:p>
        </p:txBody>
      </p:sp>
      <p:pic>
        <p:nvPicPr>
          <p:cNvPr id="31" name="圖片 30">
            <a:extLst>
              <a:ext uri="{FF2B5EF4-FFF2-40B4-BE49-F238E27FC236}">
                <a16:creationId xmlns:a16="http://schemas.microsoft.com/office/drawing/2014/main" id="{DA6EE68A-0572-4D43-A46B-756CDAED3F81}"/>
              </a:ext>
            </a:extLst>
          </p:cNvPr>
          <p:cNvPicPr>
            <a:picLocks noChangeAspect="1"/>
          </p:cNvPicPr>
          <p:nvPr/>
        </p:nvPicPr>
        <p:blipFill>
          <a:blip r:embed="rId6"/>
          <a:stretch>
            <a:fillRect/>
          </a:stretch>
        </p:blipFill>
        <p:spPr>
          <a:xfrm>
            <a:off x="638492" y="475384"/>
            <a:ext cx="1225403" cy="370364"/>
          </a:xfrm>
          <a:prstGeom prst="rect">
            <a:avLst/>
          </a:prstGeom>
        </p:spPr>
      </p:pic>
      <p:sp>
        <p:nvSpPr>
          <p:cNvPr id="39" name="矩形 38">
            <a:extLst>
              <a:ext uri="{FF2B5EF4-FFF2-40B4-BE49-F238E27FC236}">
                <a16:creationId xmlns:a16="http://schemas.microsoft.com/office/drawing/2014/main" id="{D98F7FD8-D6C9-4659-857F-E22614A7DDCC}"/>
              </a:ext>
            </a:extLst>
          </p:cNvPr>
          <p:cNvSpPr/>
          <p:nvPr/>
        </p:nvSpPr>
        <p:spPr>
          <a:xfrm>
            <a:off x="6741926" y="5399878"/>
            <a:ext cx="2385138" cy="492443"/>
          </a:xfrm>
          <a:prstGeom prst="rect">
            <a:avLst/>
          </a:prstGeom>
        </p:spPr>
        <p:txBody>
          <a:bodyPr wrap="square">
            <a:spAutoFit/>
          </a:bodyPr>
          <a:lstStyle/>
          <a:p>
            <a:pPr algn="ctr"/>
            <a:r>
              <a:rPr lang="zh-TW" altLang="en-US" sz="1400" b="1" dirty="0">
                <a:solidFill>
                  <a:schemeClr val="tx1">
                    <a:lumMod val="85000"/>
                    <a:lumOff val="15000"/>
                  </a:schemeClr>
                </a:solidFill>
                <a:latin typeface="+mn-ea"/>
              </a:rPr>
              <a:t>全球航天國防品牌價值</a:t>
            </a:r>
          </a:p>
          <a:p>
            <a:pPr algn="ctr"/>
            <a:r>
              <a:rPr lang="en-US" altLang="zh-TW" sz="1200" dirty="0">
                <a:solidFill>
                  <a:schemeClr val="tx1">
                    <a:lumMod val="85000"/>
                    <a:lumOff val="15000"/>
                  </a:schemeClr>
                </a:solidFill>
                <a:latin typeface="+mn-ea"/>
              </a:rPr>
              <a:t>(Brand Finance, 2025)</a:t>
            </a:r>
            <a:endParaRPr lang="zh-TW" altLang="en-US" sz="1200" dirty="0">
              <a:solidFill>
                <a:schemeClr val="tx1">
                  <a:lumMod val="85000"/>
                  <a:lumOff val="15000"/>
                </a:schemeClr>
              </a:solidFill>
              <a:latin typeface="+mn-ea"/>
            </a:endParaRPr>
          </a:p>
        </p:txBody>
      </p:sp>
      <p:sp>
        <p:nvSpPr>
          <p:cNvPr id="43" name="文字方塊 42">
            <a:extLst>
              <a:ext uri="{FF2B5EF4-FFF2-40B4-BE49-F238E27FC236}">
                <a16:creationId xmlns:a16="http://schemas.microsoft.com/office/drawing/2014/main" id="{AD503EBE-72EF-4F4F-BF6D-31919649184C}"/>
              </a:ext>
            </a:extLst>
          </p:cNvPr>
          <p:cNvSpPr txBox="1"/>
          <p:nvPr/>
        </p:nvSpPr>
        <p:spPr>
          <a:xfrm>
            <a:off x="6750078" y="4725144"/>
            <a:ext cx="2402557" cy="677108"/>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sz="3800" dirty="0"/>
              <a:t>#3</a:t>
            </a:r>
            <a:endParaRPr lang="zh-TW" altLang="en-US" sz="3800" dirty="0"/>
          </a:p>
        </p:txBody>
      </p:sp>
      <p:sp>
        <p:nvSpPr>
          <p:cNvPr id="44" name="圓角矩形 36">
            <a:extLst>
              <a:ext uri="{FF2B5EF4-FFF2-40B4-BE49-F238E27FC236}">
                <a16:creationId xmlns:a16="http://schemas.microsoft.com/office/drawing/2014/main" id="{5260B2CD-FEE4-47F6-BD3F-4145A777A1CE}"/>
              </a:ext>
            </a:extLst>
          </p:cNvPr>
          <p:cNvSpPr/>
          <p:nvPr/>
        </p:nvSpPr>
        <p:spPr>
          <a:xfrm>
            <a:off x="1996323" y="4257678"/>
            <a:ext cx="4159853" cy="267188"/>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latin typeface="微軟正黑體" panose="020B0604030504040204" pitchFamily="34" charset="-120"/>
                <a:ea typeface="微軟正黑體" panose="020B0604030504040204" pitchFamily="34" charset="-120"/>
              </a:rPr>
              <a:t>航空業務為最大收入來源，且營收地區來源以美國為主</a:t>
            </a:r>
          </a:p>
        </p:txBody>
      </p:sp>
      <p:sp>
        <p:nvSpPr>
          <p:cNvPr id="37" name="矩形 36">
            <a:extLst>
              <a:ext uri="{FF2B5EF4-FFF2-40B4-BE49-F238E27FC236}">
                <a16:creationId xmlns:a16="http://schemas.microsoft.com/office/drawing/2014/main" id="{06ACC998-EC80-49BF-BD10-6330DA8DCE10}"/>
              </a:ext>
            </a:extLst>
          </p:cNvPr>
          <p:cNvSpPr/>
          <p:nvPr/>
        </p:nvSpPr>
        <p:spPr>
          <a:xfrm>
            <a:off x="6733775" y="3599678"/>
            <a:ext cx="2385138" cy="492443"/>
          </a:xfrm>
          <a:prstGeom prst="rect">
            <a:avLst/>
          </a:prstGeom>
        </p:spPr>
        <p:txBody>
          <a:bodyPr wrap="square">
            <a:spAutoFit/>
          </a:bodyPr>
          <a:lstStyle/>
          <a:p>
            <a:pPr algn="ctr"/>
            <a:r>
              <a:rPr lang="zh-TW" altLang="en-US" sz="1400" b="1" dirty="0">
                <a:solidFill>
                  <a:schemeClr val="tx1">
                    <a:lumMod val="85000"/>
                    <a:lumOff val="15000"/>
                  </a:schemeClr>
                </a:solidFill>
                <a:latin typeface="+mn-ea"/>
              </a:rPr>
              <a:t>全球軍用飛機產業營收</a:t>
            </a:r>
            <a:endParaRPr lang="en-US" altLang="zh-TW" sz="1400" b="1" dirty="0">
              <a:solidFill>
                <a:schemeClr val="tx1">
                  <a:lumMod val="85000"/>
                  <a:lumOff val="15000"/>
                </a:schemeClr>
              </a:solidFill>
              <a:latin typeface="+mn-ea"/>
            </a:endParaRPr>
          </a:p>
          <a:p>
            <a:pPr algn="ctr"/>
            <a:r>
              <a:rPr lang="en-US" altLang="zh-TW" sz="1200" dirty="0">
                <a:solidFill>
                  <a:schemeClr val="tx1">
                    <a:lumMod val="85000"/>
                    <a:lumOff val="15000"/>
                  </a:schemeClr>
                </a:solidFill>
                <a:latin typeface="+mn-ea"/>
              </a:rPr>
              <a:t>(</a:t>
            </a:r>
            <a:r>
              <a:rPr lang="zh-TW" altLang="en-US" sz="1200" dirty="0">
                <a:solidFill>
                  <a:schemeClr val="tx1">
                    <a:lumMod val="85000"/>
                    <a:lumOff val="15000"/>
                  </a:schemeClr>
                </a:solidFill>
                <a:latin typeface="+mn-ea"/>
              </a:rPr>
              <a:t>彭博</a:t>
            </a:r>
            <a:r>
              <a:rPr lang="en-US" altLang="zh-TW" sz="1200" dirty="0">
                <a:solidFill>
                  <a:schemeClr val="tx1">
                    <a:lumMod val="85000"/>
                    <a:lumOff val="15000"/>
                  </a:schemeClr>
                </a:solidFill>
                <a:latin typeface="+mn-ea"/>
              </a:rPr>
              <a:t>BICS</a:t>
            </a:r>
            <a:r>
              <a:rPr lang="zh-TW" altLang="en-US" sz="1200" dirty="0">
                <a:solidFill>
                  <a:schemeClr val="tx1">
                    <a:lumMod val="85000"/>
                    <a:lumOff val="15000"/>
                  </a:schemeClr>
                </a:solidFill>
                <a:latin typeface="+mn-ea"/>
              </a:rPr>
              <a:t>產業分類</a:t>
            </a:r>
            <a:r>
              <a:rPr lang="en-US" altLang="zh-TW" sz="1200" dirty="0">
                <a:solidFill>
                  <a:schemeClr val="tx1">
                    <a:lumMod val="85000"/>
                    <a:lumOff val="15000"/>
                  </a:schemeClr>
                </a:solidFill>
                <a:latin typeface="+mn-ea"/>
              </a:rPr>
              <a:t>)</a:t>
            </a:r>
            <a:endParaRPr lang="zh-TW" altLang="en-US" sz="1200" dirty="0">
              <a:solidFill>
                <a:schemeClr val="tx1">
                  <a:lumMod val="85000"/>
                  <a:lumOff val="15000"/>
                </a:schemeClr>
              </a:solidFill>
              <a:latin typeface="+mn-ea"/>
            </a:endParaRPr>
          </a:p>
        </p:txBody>
      </p:sp>
      <p:sp>
        <p:nvSpPr>
          <p:cNvPr id="45" name="文字方塊 44">
            <a:extLst>
              <a:ext uri="{FF2B5EF4-FFF2-40B4-BE49-F238E27FC236}">
                <a16:creationId xmlns:a16="http://schemas.microsoft.com/office/drawing/2014/main" id="{9F7EB863-B87D-4777-9E6E-2FC584B5B49E}"/>
              </a:ext>
            </a:extLst>
          </p:cNvPr>
          <p:cNvSpPr txBox="1"/>
          <p:nvPr/>
        </p:nvSpPr>
        <p:spPr>
          <a:xfrm>
            <a:off x="6741927" y="2924944"/>
            <a:ext cx="2368835" cy="677108"/>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sz="3800" dirty="0"/>
              <a:t>#1</a:t>
            </a:r>
            <a:endParaRPr lang="zh-TW" altLang="en-US" sz="3800" dirty="0"/>
          </a:p>
        </p:txBody>
      </p:sp>
      <p:graphicFrame>
        <p:nvGraphicFramePr>
          <p:cNvPr id="28" name="圖表 27"/>
          <p:cNvGraphicFramePr>
            <a:graphicFrameLocks/>
          </p:cNvGraphicFramePr>
          <p:nvPr>
            <p:extLst>
              <p:ext uri="{D42A27DB-BD31-4B8C-83A1-F6EECF244321}">
                <p14:modId xmlns:p14="http://schemas.microsoft.com/office/powerpoint/2010/main" val="1236191798"/>
              </p:ext>
            </p:extLst>
          </p:nvPr>
        </p:nvGraphicFramePr>
        <p:xfrm>
          <a:off x="3249623" y="4437281"/>
          <a:ext cx="3430267" cy="1978152"/>
        </p:xfrm>
        <a:graphic>
          <a:graphicData uri="http://schemas.openxmlformats.org/drawingml/2006/chart">
            <c:chart xmlns:c="http://schemas.openxmlformats.org/drawingml/2006/chart" xmlns:r="http://schemas.openxmlformats.org/officeDocument/2006/relationships" r:id="rId7"/>
          </a:graphicData>
        </a:graphic>
      </p:graphicFrame>
      <p:sp>
        <p:nvSpPr>
          <p:cNvPr id="6" name="文字方塊 5"/>
          <p:cNvSpPr txBox="1"/>
          <p:nvPr/>
        </p:nvSpPr>
        <p:spPr>
          <a:xfrm>
            <a:off x="942815" y="5243161"/>
            <a:ext cx="1082348" cy="553998"/>
          </a:xfrm>
          <a:prstGeom prst="rect">
            <a:avLst/>
          </a:prstGeom>
          <a:noFill/>
        </p:spPr>
        <p:txBody>
          <a:bodyPr wrap="none" rtlCol="0">
            <a:spAutoFit/>
          </a:bodyPr>
          <a:lstStyle/>
          <a:p>
            <a:pPr algn="ctr"/>
            <a:r>
              <a:rPr lang="en-US" altLang="zh-TW" sz="1000" b="1" dirty="0">
                <a:latin typeface="+mn-ea"/>
              </a:rPr>
              <a:t>2025</a:t>
            </a:r>
            <a:r>
              <a:rPr lang="zh-TW" altLang="en-US" sz="1000" b="1" dirty="0">
                <a:latin typeface="+mn-ea"/>
              </a:rPr>
              <a:t>年</a:t>
            </a:r>
            <a:endParaRPr lang="en-US" altLang="zh-TW" sz="1000" b="1" dirty="0">
              <a:latin typeface="+mn-ea"/>
            </a:endParaRPr>
          </a:p>
          <a:p>
            <a:pPr algn="ctr"/>
            <a:r>
              <a:rPr lang="zh-TW" altLang="en-US" sz="1000" b="1" dirty="0">
                <a:latin typeface="+mn-ea"/>
              </a:rPr>
              <a:t>淨營收按業務別</a:t>
            </a:r>
            <a:endParaRPr lang="en-US" altLang="zh-TW" sz="1000" b="1" dirty="0">
              <a:latin typeface="+mn-ea"/>
            </a:endParaRPr>
          </a:p>
          <a:p>
            <a:pPr algn="ctr"/>
            <a:r>
              <a:rPr lang="en-US" altLang="zh-TW" sz="1000" b="1" dirty="0">
                <a:latin typeface="+mn-ea"/>
              </a:rPr>
              <a:t>750</a:t>
            </a:r>
            <a:r>
              <a:rPr lang="zh-TW" altLang="en-US" sz="1000" b="1" dirty="0">
                <a:latin typeface="+mn-ea"/>
              </a:rPr>
              <a:t>億美元</a:t>
            </a:r>
          </a:p>
        </p:txBody>
      </p:sp>
      <p:sp>
        <p:nvSpPr>
          <p:cNvPr id="32" name="文字方塊 31"/>
          <p:cNvSpPr txBox="1"/>
          <p:nvPr/>
        </p:nvSpPr>
        <p:spPr>
          <a:xfrm>
            <a:off x="3781582" y="5271226"/>
            <a:ext cx="1082348" cy="553998"/>
          </a:xfrm>
          <a:prstGeom prst="rect">
            <a:avLst/>
          </a:prstGeom>
          <a:noFill/>
        </p:spPr>
        <p:txBody>
          <a:bodyPr wrap="none" rtlCol="0">
            <a:spAutoFit/>
          </a:bodyPr>
          <a:lstStyle/>
          <a:p>
            <a:pPr algn="ctr"/>
            <a:r>
              <a:rPr lang="en-US" altLang="zh-TW" sz="1000" b="1" dirty="0">
                <a:latin typeface="+mn-ea"/>
              </a:rPr>
              <a:t>2025</a:t>
            </a:r>
            <a:r>
              <a:rPr lang="zh-TW" altLang="en-US" sz="1000" b="1" dirty="0">
                <a:latin typeface="+mn-ea"/>
              </a:rPr>
              <a:t>年</a:t>
            </a:r>
            <a:endParaRPr lang="en-US" altLang="zh-TW" sz="1000" b="1" dirty="0">
              <a:latin typeface="+mn-ea"/>
            </a:endParaRPr>
          </a:p>
          <a:p>
            <a:pPr algn="ctr"/>
            <a:r>
              <a:rPr lang="zh-TW" altLang="en-US" sz="1000" b="1" dirty="0">
                <a:latin typeface="+mn-ea"/>
              </a:rPr>
              <a:t>淨營收按地區別</a:t>
            </a:r>
            <a:endParaRPr lang="en-US" altLang="zh-TW" sz="1000" b="1" dirty="0">
              <a:latin typeface="+mn-ea"/>
            </a:endParaRPr>
          </a:p>
          <a:p>
            <a:pPr algn="ctr"/>
            <a:r>
              <a:rPr lang="en-US" altLang="zh-TW" sz="1000" b="1" dirty="0">
                <a:latin typeface="+mn-ea"/>
              </a:rPr>
              <a:t>750</a:t>
            </a:r>
            <a:r>
              <a:rPr lang="zh-TW" altLang="en-US" sz="1000" b="1" dirty="0">
                <a:latin typeface="+mn-ea"/>
              </a:rPr>
              <a:t>億美元</a:t>
            </a:r>
          </a:p>
        </p:txBody>
      </p:sp>
      <p:pic>
        <p:nvPicPr>
          <p:cNvPr id="3" name="Picture 2">
            <a:extLst>
              <a:ext uri="{FF2B5EF4-FFF2-40B4-BE49-F238E27FC236}">
                <a16:creationId xmlns:a16="http://schemas.microsoft.com/office/drawing/2014/main" id="{8A7FC32F-18BD-130A-8055-F99578D63DA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061401" y="404696"/>
            <a:ext cx="1746188" cy="288000"/>
          </a:xfrm>
          <a:prstGeom prst="rect">
            <a:avLst/>
          </a:prstGeom>
          <a:noFill/>
          <a:extLst>
            <a:ext uri="{909E8E84-426E-40DD-AFC4-6F175D3DCCD1}">
              <a14:hiddenFill xmlns:a14="http://schemas.microsoft.com/office/drawing/2010/main">
                <a:solidFill>
                  <a:srgbClr val="FFFFFF"/>
                </a:solidFill>
              </a14:hiddenFill>
            </a:ext>
          </a:extLst>
        </p:spPr>
      </p:pic>
      <p:sp>
        <p:nvSpPr>
          <p:cNvPr id="23" name="文字方塊 30">
            <a:extLst>
              <a:ext uri="{FF2B5EF4-FFF2-40B4-BE49-F238E27FC236}">
                <a16:creationId xmlns:a16="http://schemas.microsoft.com/office/drawing/2014/main" id="{C7466359-694B-4AC6-B07F-1FC69A2EBDCD}"/>
              </a:ext>
            </a:extLst>
          </p:cNvPr>
          <p:cNvSpPr txBox="1">
            <a:spLocks noChangeArrowheads="1"/>
          </p:cNvSpPr>
          <p:nvPr/>
        </p:nvSpPr>
        <p:spPr bwMode="auto">
          <a:xfrm>
            <a:off x="476427" y="6525344"/>
            <a:ext cx="59281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1pPr>
            <a:lvl2pPr marL="742950" indent="-285750">
              <a:spcBef>
                <a:spcPct val="20000"/>
              </a:spcBef>
              <a:buClr>
                <a:srgbClr val="FF3300"/>
              </a:buClr>
              <a:buFont typeface="Wingdings" panose="05000000000000000000" pitchFamily="2" charset="2"/>
              <a:buChar char="n"/>
              <a:defRPr kumimoji="1" sz="2000" b="1">
                <a:solidFill>
                  <a:schemeClr val="tx1"/>
                </a:solidFill>
                <a:latin typeface="Arial" panose="020B0604020202020204" pitchFamily="34" charset="0"/>
                <a:ea typeface="標楷體" panose="03000509000000000000" pitchFamily="65" charset="-120"/>
              </a:defRPr>
            </a:lvl2pPr>
            <a:lvl3pPr marL="1143000" indent="-228600">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None/>
            </a:pPr>
            <a:r>
              <a:rPr lang="zh-TW" altLang="en-US" sz="900" b="0" dirty="0">
                <a:latin typeface="微軟正黑體" panose="020B0604030504040204" pitchFamily="34" charset="-120"/>
                <a:ea typeface="微軟正黑體" panose="020B0604030504040204" pitchFamily="34" charset="-120"/>
              </a:rPr>
              <a:t>資料來源：公司、官網、</a:t>
            </a:r>
            <a:r>
              <a:rPr lang="en-US" altLang="zh-TW" sz="900" b="0" dirty="0">
                <a:latin typeface="微軟正黑體" panose="020B0604030504040204" pitchFamily="34" charset="-120"/>
                <a:ea typeface="微軟正黑體" panose="020B0604030504040204" pitchFamily="34" charset="-120"/>
              </a:rPr>
              <a:t>Defense News</a:t>
            </a:r>
            <a:r>
              <a:rPr lang="zh-TW" altLang="en-US" sz="900" b="0" dirty="0">
                <a:latin typeface="微軟正黑體" panose="020B0604030504040204" pitchFamily="34" charset="-120"/>
                <a:ea typeface="微軟正黑體" panose="020B0604030504040204" pitchFamily="34" charset="-120"/>
              </a:rPr>
              <a:t>、彭博、新聞整理</a:t>
            </a:r>
          </a:p>
        </p:txBody>
      </p:sp>
    </p:spTree>
    <p:extLst>
      <p:ext uri="{BB962C8B-B14F-4D97-AF65-F5344CB8AC3E}">
        <p14:creationId xmlns:p14="http://schemas.microsoft.com/office/powerpoint/2010/main" val="421021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圖片 22">
            <a:extLst>
              <a:ext uri="{FF2B5EF4-FFF2-40B4-BE49-F238E27FC236}">
                <a16:creationId xmlns:a16="http://schemas.microsoft.com/office/drawing/2014/main" id="{8ED56865-B480-4F52-981F-B3813AFBB7C6}"/>
              </a:ext>
            </a:extLst>
          </p:cNvPr>
          <p:cNvPicPr>
            <a:picLocks noChangeAspect="1"/>
          </p:cNvPicPr>
          <p:nvPr/>
        </p:nvPicPr>
        <p:blipFill>
          <a:blip r:embed="rId3"/>
          <a:stretch>
            <a:fillRect/>
          </a:stretch>
        </p:blipFill>
        <p:spPr>
          <a:xfrm>
            <a:off x="339926" y="1556045"/>
            <a:ext cx="4391626" cy="2070338"/>
          </a:xfrm>
          <a:prstGeom prst="rect">
            <a:avLst/>
          </a:prstGeom>
        </p:spPr>
      </p:pic>
      <p:graphicFrame>
        <p:nvGraphicFramePr>
          <p:cNvPr id="27" name="圖表 26"/>
          <p:cNvGraphicFramePr/>
          <p:nvPr>
            <p:extLst>
              <p:ext uri="{D42A27DB-BD31-4B8C-83A1-F6EECF244321}">
                <p14:modId xmlns:p14="http://schemas.microsoft.com/office/powerpoint/2010/main" val="151188603"/>
              </p:ext>
            </p:extLst>
          </p:nvPr>
        </p:nvGraphicFramePr>
        <p:xfrm>
          <a:off x="4856673" y="4330460"/>
          <a:ext cx="4603246" cy="2363637"/>
        </p:xfrm>
        <a:graphic>
          <a:graphicData uri="http://schemas.openxmlformats.org/drawingml/2006/chart">
            <c:chart xmlns:c="http://schemas.openxmlformats.org/drawingml/2006/chart" xmlns:r="http://schemas.openxmlformats.org/officeDocument/2006/relationships" r:id="rId4"/>
          </a:graphicData>
        </a:graphic>
      </p:graphicFrame>
      <p:sp>
        <p:nvSpPr>
          <p:cNvPr id="4" name="投影片編號版面配置區 3"/>
          <p:cNvSpPr>
            <a:spLocks noGrp="1"/>
          </p:cNvSpPr>
          <p:nvPr>
            <p:ph type="sldNum" sz="quarter" idx="10"/>
          </p:nvPr>
        </p:nvSpPr>
        <p:spPr/>
        <p:txBody>
          <a:bodyPr/>
          <a:lstStyle/>
          <a:p>
            <a:fld id="{415482FC-CF5F-466A-B8B6-BC3733E92023}" type="slidenum">
              <a:rPr lang="zh-TW" altLang="en-US" smtClean="0"/>
              <a:pPr/>
              <a:t>3</a:t>
            </a:fld>
            <a:endParaRPr lang="zh-TW" altLang="en-US" dirty="0"/>
          </a:p>
        </p:txBody>
      </p:sp>
      <p:sp>
        <p:nvSpPr>
          <p:cNvPr id="18" name="文字方塊 30">
            <a:extLst>
              <a:ext uri="{FF2B5EF4-FFF2-40B4-BE49-F238E27FC236}">
                <a16:creationId xmlns:a16="http://schemas.microsoft.com/office/drawing/2014/main" id="{C7466359-694B-4AC6-B07F-1FC69A2EBDCD}"/>
              </a:ext>
            </a:extLst>
          </p:cNvPr>
          <p:cNvSpPr txBox="1">
            <a:spLocks noChangeArrowheads="1"/>
          </p:cNvSpPr>
          <p:nvPr/>
        </p:nvSpPr>
        <p:spPr bwMode="auto">
          <a:xfrm>
            <a:off x="476427" y="6525344"/>
            <a:ext cx="439267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1pPr>
            <a:lvl2pPr marL="742950" indent="-285750">
              <a:spcBef>
                <a:spcPct val="20000"/>
              </a:spcBef>
              <a:buClr>
                <a:srgbClr val="FF3300"/>
              </a:buClr>
              <a:buFont typeface="Wingdings" panose="05000000000000000000" pitchFamily="2" charset="2"/>
              <a:buChar char="n"/>
              <a:defRPr kumimoji="1" sz="2000" b="1">
                <a:solidFill>
                  <a:schemeClr val="tx1"/>
                </a:solidFill>
                <a:latin typeface="Arial" panose="020B0604020202020204" pitchFamily="34" charset="0"/>
                <a:ea typeface="標楷體" panose="03000509000000000000" pitchFamily="65" charset="-120"/>
              </a:defRPr>
            </a:lvl2pPr>
            <a:lvl3pPr marL="1143000" indent="-228600">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None/>
            </a:pPr>
            <a:r>
              <a:rPr lang="zh-TW" altLang="en-US" sz="900" b="0" dirty="0">
                <a:latin typeface="微軟正黑體" panose="020B0604030504040204" pitchFamily="34" charset="-120"/>
                <a:ea typeface="微軟正黑體" panose="020B0604030504040204" pitchFamily="34" charset="-120"/>
              </a:rPr>
              <a:t>資料來源：</a:t>
            </a:r>
            <a:r>
              <a:rPr lang="en-US" altLang="zh-TW" sz="900" b="0" dirty="0">
                <a:latin typeface="微軟正黑體" panose="020B0604030504040204" pitchFamily="34" charset="-120"/>
                <a:ea typeface="微軟正黑體" panose="020B0604030504040204" pitchFamily="34" charset="-120"/>
              </a:rPr>
              <a:t>Fortune</a:t>
            </a:r>
            <a:r>
              <a:rPr lang="zh-TW" altLang="en-US" sz="900" b="0" dirty="0">
                <a:latin typeface="微軟正黑體" panose="020B0604030504040204" pitchFamily="34" charset="-120"/>
                <a:ea typeface="微軟正黑體" panose="020B0604030504040204" pitchFamily="34" charset="-120"/>
              </a:rPr>
              <a:t>、</a:t>
            </a:r>
            <a:r>
              <a:rPr lang="en-US" altLang="zh-TW" sz="900" b="0" dirty="0">
                <a:latin typeface="微軟正黑體" panose="020B0604030504040204" pitchFamily="34" charset="-120"/>
                <a:ea typeface="微軟正黑體" panose="020B0604030504040204" pitchFamily="34" charset="-120"/>
              </a:rPr>
              <a:t>DefenseNews</a:t>
            </a:r>
            <a:r>
              <a:rPr lang="zh-TW" altLang="en-US" sz="900" b="0" dirty="0">
                <a:latin typeface="微軟正黑體" panose="020B0604030504040204" pitchFamily="34" charset="-120"/>
                <a:ea typeface="微軟正黑體" panose="020B0604030504040204" pitchFamily="34" charset="-120"/>
              </a:rPr>
              <a:t>、</a:t>
            </a:r>
            <a:r>
              <a:rPr lang="en-US" altLang="zh-TW" sz="900" b="0" dirty="0">
                <a:latin typeface="微軟正黑體" panose="020B0604030504040204" pitchFamily="34" charset="-120"/>
                <a:ea typeface="微軟正黑體" panose="020B0604030504040204" pitchFamily="34" charset="-120"/>
              </a:rPr>
              <a:t>Brand Finance</a:t>
            </a:r>
            <a:r>
              <a:rPr lang="zh-TW" altLang="en-US" sz="900" b="0" dirty="0">
                <a:latin typeface="微軟正黑體" panose="020B0604030504040204" pitchFamily="34" charset="-120"/>
                <a:ea typeface="微軟正黑體" panose="020B0604030504040204" pitchFamily="34" charset="-120"/>
              </a:rPr>
              <a:t>、</a:t>
            </a:r>
            <a:r>
              <a:rPr lang="en-US" altLang="zh-TW" sz="900" b="0" dirty="0">
                <a:latin typeface="微軟正黑體" panose="020B0604030504040204" pitchFamily="34" charset="-120"/>
                <a:ea typeface="微軟正黑體" panose="020B0604030504040204" pitchFamily="34" charset="-120"/>
              </a:rPr>
              <a:t>Bloomberg</a:t>
            </a:r>
            <a:endParaRPr lang="zh-TW" altLang="en-US" sz="900" b="0" dirty="0">
              <a:latin typeface="微軟正黑體" panose="020B0604030504040204" pitchFamily="34" charset="-120"/>
              <a:ea typeface="微軟正黑體" panose="020B0604030504040204" pitchFamily="34" charset="-120"/>
            </a:endParaRPr>
          </a:p>
        </p:txBody>
      </p:sp>
      <p:sp>
        <p:nvSpPr>
          <p:cNvPr id="30" name="標題 1">
            <a:extLst>
              <a:ext uri="{FF2B5EF4-FFF2-40B4-BE49-F238E27FC236}">
                <a16:creationId xmlns:a16="http://schemas.microsoft.com/office/drawing/2014/main" id="{5AA51018-5D74-493D-9F95-C9549A33D53F}"/>
              </a:ext>
            </a:extLst>
          </p:cNvPr>
          <p:cNvSpPr txBox="1">
            <a:spLocks/>
          </p:cNvSpPr>
          <p:nvPr/>
        </p:nvSpPr>
        <p:spPr bwMode="auto">
          <a:xfrm>
            <a:off x="246781" y="116632"/>
            <a:ext cx="636966" cy="609218"/>
          </a:xfrm>
          <a:prstGeom prst="rect">
            <a:avLst/>
          </a:prstGeom>
          <a:solidFill>
            <a:srgbClr val="C00000"/>
          </a:solidFill>
          <a:ln>
            <a:noFill/>
          </a:ln>
        </p:spPr>
        <p:txBody>
          <a:bodyPr anchor="ctr">
            <a:noAutofit/>
          </a:bodyPr>
          <a:lstStyle>
            <a:defPPr>
              <a:defRPr lang="zh-TW"/>
            </a:defPPr>
            <a:lvl1pPr algn="ctr" eaLnBrk="0" fontAlgn="base" hangingPunct="0">
              <a:spcBef>
                <a:spcPct val="0"/>
              </a:spcBef>
              <a:spcAft>
                <a:spcPct val="0"/>
              </a:spcAft>
              <a:defRPr kumimoji="1" sz="2000" b="1" kern="0">
                <a:solidFill>
                  <a:schemeClr val="bg1"/>
                </a:solidFill>
                <a:latin typeface="+mj-lt"/>
                <a:ea typeface="+mj-ea"/>
                <a:cs typeface="+mj-cs"/>
              </a:defRPr>
            </a:lvl1pPr>
            <a:lvl2pPr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fontAlgn="base">
              <a:spcBef>
                <a:spcPct val="0"/>
              </a:spcBef>
              <a:spcAft>
                <a:spcPct val="0"/>
              </a:spcAft>
              <a:defRPr kumimoji="1" sz="3000" b="1">
                <a:solidFill>
                  <a:schemeClr val="tx2"/>
                </a:solidFill>
                <a:latin typeface="標楷體" pitchFamily="65" charset="-120"/>
                <a:ea typeface="標楷體" pitchFamily="65" charset="-120"/>
              </a:defRPr>
            </a:lvl6pPr>
            <a:lvl7pPr marL="914400" fontAlgn="base">
              <a:spcBef>
                <a:spcPct val="0"/>
              </a:spcBef>
              <a:spcAft>
                <a:spcPct val="0"/>
              </a:spcAft>
              <a:defRPr kumimoji="1" sz="3000" b="1">
                <a:solidFill>
                  <a:schemeClr val="tx2"/>
                </a:solidFill>
                <a:latin typeface="標楷體" pitchFamily="65" charset="-120"/>
                <a:ea typeface="標楷體" pitchFamily="65" charset="-120"/>
              </a:defRPr>
            </a:lvl7pPr>
            <a:lvl8pPr marL="1371600" fontAlgn="base">
              <a:spcBef>
                <a:spcPct val="0"/>
              </a:spcBef>
              <a:spcAft>
                <a:spcPct val="0"/>
              </a:spcAft>
              <a:defRPr kumimoji="1" sz="3000" b="1">
                <a:solidFill>
                  <a:schemeClr val="tx2"/>
                </a:solidFill>
                <a:latin typeface="標楷體" pitchFamily="65" charset="-120"/>
                <a:ea typeface="標楷體" pitchFamily="65" charset="-120"/>
              </a:defRPr>
            </a:lvl8pPr>
            <a:lvl9pPr marL="1828800" fontAlgn="base">
              <a:spcBef>
                <a:spcPct val="0"/>
              </a:spcBef>
              <a:spcAft>
                <a:spcPct val="0"/>
              </a:spcAft>
              <a:defRPr kumimoji="1" sz="3000" b="1">
                <a:solidFill>
                  <a:schemeClr val="tx2"/>
                </a:solidFill>
                <a:latin typeface="標楷體" pitchFamily="65" charset="-120"/>
                <a:ea typeface="標楷體" pitchFamily="65" charset="-120"/>
              </a:defRPr>
            </a:lvl9pPr>
          </a:lstStyle>
          <a:p>
            <a:r>
              <a:rPr lang="zh-TW" altLang="en-US" sz="1700" dirty="0"/>
              <a:t>市場地位</a:t>
            </a:r>
          </a:p>
        </p:txBody>
      </p:sp>
      <p:pic>
        <p:nvPicPr>
          <p:cNvPr id="40" name="Picture 6">
            <a:extLst>
              <a:ext uri="{FF2B5EF4-FFF2-40B4-BE49-F238E27FC236}">
                <a16:creationId xmlns:a16="http://schemas.microsoft.com/office/drawing/2014/main" id="{A024EAEA-9BA4-4B5B-AAC7-B7DF4C5E497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09941" y="4081491"/>
            <a:ext cx="832320" cy="2283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圓角矩形 21">
            <a:extLst>
              <a:ext uri="{FF2B5EF4-FFF2-40B4-BE49-F238E27FC236}">
                <a16:creationId xmlns:a16="http://schemas.microsoft.com/office/drawing/2014/main" id="{B6C0AF52-B19D-4B29-A470-12B4160EE2E5}"/>
              </a:ext>
            </a:extLst>
          </p:cNvPr>
          <p:cNvSpPr/>
          <p:nvPr/>
        </p:nvSpPr>
        <p:spPr>
          <a:xfrm>
            <a:off x="323530" y="836712"/>
            <a:ext cx="4371681" cy="451078"/>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微軟正黑體" panose="020B0604030504040204" pitchFamily="34" charset="-120"/>
                <a:ea typeface="微軟正黑體" panose="020B0604030504040204" pitchFamily="34" charset="-120"/>
              </a:rPr>
              <a:t>洛克希德馬丁連續</a:t>
            </a:r>
            <a:r>
              <a:rPr lang="en-US" altLang="zh-TW" sz="1400" b="1" dirty="0">
                <a:latin typeface="微軟正黑體" panose="020B0604030504040204" pitchFamily="34" charset="-120"/>
                <a:ea typeface="微軟正黑體" panose="020B0604030504040204" pitchFamily="34" charset="-120"/>
              </a:rPr>
              <a:t>29</a:t>
            </a:r>
            <a:r>
              <a:rPr lang="zh-TW" altLang="en-US" sz="1400" b="1" dirty="0">
                <a:latin typeface="微軟正黑體" panose="020B0604030504040204" pitchFamily="34" charset="-120"/>
                <a:ea typeface="微軟正黑體" panose="020B0604030504040204" pitchFamily="34" charset="-120"/>
              </a:rPr>
              <a:t>年蟬聯全球第一大國防承包商</a:t>
            </a:r>
          </a:p>
        </p:txBody>
      </p:sp>
      <p:grpSp>
        <p:nvGrpSpPr>
          <p:cNvPr id="24" name="群組 23"/>
          <p:cNvGrpSpPr/>
          <p:nvPr/>
        </p:nvGrpSpPr>
        <p:grpSpPr>
          <a:xfrm>
            <a:off x="7102874" y="4121452"/>
            <a:ext cx="1699220" cy="202817"/>
            <a:chOff x="6958093" y="4113832"/>
            <a:chExt cx="2238375" cy="267170"/>
          </a:xfrm>
        </p:grpSpPr>
        <p:pic>
          <p:nvPicPr>
            <p:cNvPr id="45" name="Picture 7">
              <a:extLst>
                <a:ext uri="{FF2B5EF4-FFF2-40B4-BE49-F238E27FC236}">
                  <a16:creationId xmlns:a16="http://schemas.microsoft.com/office/drawing/2014/main" id="{29E72996-6070-4E96-A074-11DB96FE0F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58093" y="4113832"/>
              <a:ext cx="771525" cy="267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6" name="Picture 8">
              <a:extLst>
                <a:ext uri="{FF2B5EF4-FFF2-40B4-BE49-F238E27FC236}">
                  <a16:creationId xmlns:a16="http://schemas.microsoft.com/office/drawing/2014/main" id="{75271D4D-61EA-41BC-A21A-56A72B59E1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29618" y="4133117"/>
              <a:ext cx="1466850" cy="22860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grpSp>
      <p:sp>
        <p:nvSpPr>
          <p:cNvPr id="47" name="圓角矩形 25">
            <a:extLst>
              <a:ext uri="{FF2B5EF4-FFF2-40B4-BE49-F238E27FC236}">
                <a16:creationId xmlns:a16="http://schemas.microsoft.com/office/drawing/2014/main" id="{9DD43369-72EA-4039-AC80-185E800EF1BB}"/>
              </a:ext>
            </a:extLst>
          </p:cNvPr>
          <p:cNvSpPr/>
          <p:nvPr/>
        </p:nvSpPr>
        <p:spPr>
          <a:xfrm>
            <a:off x="4864268" y="836713"/>
            <a:ext cx="3939112" cy="451078"/>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latin typeface="微軟正黑體" panose="020B0604030504040204" pitchFamily="34" charset="-120"/>
                <a:ea typeface="微軟正黑體" panose="020B0604030504040204" pitchFamily="34" charset="-120"/>
              </a:rPr>
              <a:t>2025</a:t>
            </a:r>
            <a:r>
              <a:rPr lang="zh-TW" altLang="en-US" sz="1400" b="1" dirty="0">
                <a:latin typeface="微軟正黑體" panose="020B0604030504040204" pitchFamily="34" charset="-120"/>
                <a:ea typeface="微軟正黑體" panose="020B0604030504040204" pitchFamily="34" charset="-120"/>
              </a:rPr>
              <a:t>年</a:t>
            </a:r>
            <a:r>
              <a:rPr lang="en-US" altLang="zh-TW" sz="1400" b="1" dirty="0">
                <a:latin typeface="微軟正黑體" panose="020B0604030504040204" pitchFamily="34" charset="-120"/>
                <a:ea typeface="微軟正黑體" panose="020B0604030504040204" pitchFamily="34" charset="-120"/>
              </a:rPr>
              <a:t>《Brand Finance》</a:t>
            </a:r>
            <a:r>
              <a:rPr lang="zh-TW" altLang="en-US" sz="1400" b="1" dirty="0">
                <a:latin typeface="微軟正黑體" panose="020B0604030504040204" pitchFamily="34" charset="-120"/>
                <a:ea typeface="微軟正黑體" panose="020B0604030504040204" pitchFamily="34" charset="-120"/>
              </a:rPr>
              <a:t>航天國防品牌價值全球第</a:t>
            </a:r>
            <a:r>
              <a:rPr lang="en-US" altLang="zh-TW" sz="1400" b="1" dirty="0">
                <a:latin typeface="微軟正黑體" panose="020B0604030504040204" pitchFamily="34" charset="-120"/>
                <a:ea typeface="微軟正黑體" panose="020B0604030504040204" pitchFamily="34" charset="-120"/>
              </a:rPr>
              <a:t>3</a:t>
            </a:r>
            <a:r>
              <a:rPr lang="zh-TW" altLang="en-US" sz="1400" b="1" dirty="0">
                <a:latin typeface="微軟正黑體" panose="020B0604030504040204" pitchFamily="34" charset="-120"/>
                <a:ea typeface="微軟正黑體" panose="020B0604030504040204" pitchFamily="34" charset="-120"/>
              </a:rPr>
              <a:t>位</a:t>
            </a:r>
            <a:endParaRPr lang="en-US" altLang="zh-TW" sz="1400" b="1" dirty="0">
              <a:latin typeface="微軟正黑體" panose="020B0604030504040204" pitchFamily="34" charset="-120"/>
              <a:ea typeface="微軟正黑體" panose="020B0604030504040204" pitchFamily="34" charset="-120"/>
            </a:endParaRPr>
          </a:p>
        </p:txBody>
      </p:sp>
      <p:sp>
        <p:nvSpPr>
          <p:cNvPr id="51" name="圓角矩形 36">
            <a:extLst>
              <a:ext uri="{FF2B5EF4-FFF2-40B4-BE49-F238E27FC236}">
                <a16:creationId xmlns:a16="http://schemas.microsoft.com/office/drawing/2014/main" id="{ED02E836-8F31-4F2B-93F5-B3ACB8586457}"/>
              </a:ext>
            </a:extLst>
          </p:cNvPr>
          <p:cNvSpPr/>
          <p:nvPr/>
        </p:nvSpPr>
        <p:spPr>
          <a:xfrm>
            <a:off x="338213" y="3622562"/>
            <a:ext cx="4392673" cy="420173"/>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微軟正黑體" panose="020B0604030504040204" pitchFamily="34" charset="-120"/>
                <a:ea typeface="微軟正黑體" panose="020B0604030504040204" pitchFamily="34" charset="-120"/>
              </a:rPr>
              <a:t>全球軍用飛機產業收入第一大企業</a:t>
            </a:r>
          </a:p>
        </p:txBody>
      </p:sp>
      <p:sp>
        <p:nvSpPr>
          <p:cNvPr id="56" name="圓角矩形 36">
            <a:extLst>
              <a:ext uri="{FF2B5EF4-FFF2-40B4-BE49-F238E27FC236}">
                <a16:creationId xmlns:a16="http://schemas.microsoft.com/office/drawing/2014/main" id="{28F53963-5028-44C9-8CCB-CE00406763D9}"/>
              </a:ext>
            </a:extLst>
          </p:cNvPr>
          <p:cNvSpPr/>
          <p:nvPr/>
        </p:nvSpPr>
        <p:spPr>
          <a:xfrm>
            <a:off x="4864269" y="3622563"/>
            <a:ext cx="3934174" cy="42017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latin typeface="微軟正黑體" panose="020B0604030504040204" pitchFamily="34" charset="-120"/>
                <a:ea typeface="微軟正黑體" panose="020B0604030504040204" pitchFamily="34" charset="-120"/>
              </a:rPr>
              <a:t>2025</a:t>
            </a:r>
            <a:r>
              <a:rPr lang="zh-TW" altLang="en-US" sz="1400" b="1" dirty="0">
                <a:latin typeface="微軟正黑體" panose="020B0604030504040204" pitchFamily="34" charset="-120"/>
                <a:ea typeface="微軟正黑體" panose="020B0604030504040204" pitchFamily="34" charset="-120"/>
              </a:rPr>
              <a:t>年</a:t>
            </a:r>
            <a:r>
              <a:rPr lang="en-US" altLang="zh-TW" sz="1400" b="1" dirty="0">
                <a:latin typeface="微軟正黑體" panose="020B0604030504040204" pitchFamily="34" charset="-120"/>
                <a:ea typeface="微軟正黑體" panose="020B0604030504040204" pitchFamily="34" charset="-120"/>
              </a:rPr>
              <a:t>《Fortune》</a:t>
            </a:r>
            <a:r>
              <a:rPr lang="zh-TW" altLang="en-US" sz="1400" b="1" dirty="0">
                <a:latin typeface="微軟正黑體" panose="020B0604030504040204" pitchFamily="34" charset="-120"/>
                <a:ea typeface="微軟正黑體" panose="020B0604030504040204" pitchFamily="34" charset="-120"/>
              </a:rPr>
              <a:t>全美</a:t>
            </a:r>
            <a:r>
              <a:rPr lang="en-US" altLang="zh-TW" sz="1400" b="1" dirty="0">
                <a:latin typeface="微軟正黑體" panose="020B0604030504040204" pitchFamily="34" charset="-120"/>
                <a:ea typeface="微軟正黑體" panose="020B0604030504040204" pitchFamily="34" charset="-120"/>
              </a:rPr>
              <a:t>500</a:t>
            </a:r>
            <a:r>
              <a:rPr lang="zh-TW" altLang="en-US" sz="1400" b="1" dirty="0">
                <a:latin typeface="微軟正黑體" panose="020B0604030504040204" pitchFamily="34" charset="-120"/>
                <a:ea typeface="微軟正黑體" panose="020B0604030504040204" pitchFamily="34" charset="-120"/>
              </a:rPr>
              <a:t>強第</a:t>
            </a:r>
            <a:r>
              <a:rPr lang="en-US" altLang="zh-TW" sz="1400" b="1" dirty="0">
                <a:latin typeface="微軟正黑體" panose="020B0604030504040204" pitchFamily="34" charset="-120"/>
                <a:ea typeface="微軟正黑體" panose="020B0604030504040204" pitchFamily="34" charset="-120"/>
              </a:rPr>
              <a:t>59</a:t>
            </a:r>
            <a:r>
              <a:rPr lang="zh-TW" altLang="en-US" sz="1400" b="1" dirty="0">
                <a:latin typeface="微軟正黑體" panose="020B0604030504040204" pitchFamily="34" charset="-120"/>
                <a:ea typeface="微軟正黑體" panose="020B0604030504040204" pitchFamily="34" charset="-120"/>
              </a:rPr>
              <a:t>位</a:t>
            </a:r>
            <a:endParaRPr lang="en-US" altLang="zh-TW" sz="1400" b="1" dirty="0">
              <a:latin typeface="微軟正黑體" panose="020B0604030504040204" pitchFamily="34" charset="-120"/>
              <a:ea typeface="微軟正黑體" panose="020B0604030504040204" pitchFamily="34" charset="-120"/>
            </a:endParaRPr>
          </a:p>
          <a:p>
            <a:pPr algn="ctr"/>
            <a:r>
              <a:rPr lang="zh-TW" altLang="en-US" sz="1400" b="1" dirty="0">
                <a:latin typeface="微軟正黑體" panose="020B0604030504040204" pitchFamily="34" charset="-120"/>
                <a:ea typeface="微軟正黑體" panose="020B0604030504040204" pitchFamily="34" charset="-120"/>
              </a:rPr>
              <a:t>航天與國防行業營收排名美國第</a:t>
            </a:r>
            <a:r>
              <a:rPr lang="en-US" altLang="zh-TW" sz="1400" b="1" dirty="0">
                <a:latin typeface="微軟正黑體" panose="020B0604030504040204" pitchFamily="34" charset="-120"/>
                <a:ea typeface="微軟正黑體" panose="020B0604030504040204" pitchFamily="34" charset="-120"/>
              </a:rPr>
              <a:t>2</a:t>
            </a:r>
            <a:r>
              <a:rPr lang="zh-TW" altLang="en-US" sz="1400" b="1" dirty="0">
                <a:latin typeface="微軟正黑體" panose="020B0604030504040204" pitchFamily="34" charset="-120"/>
                <a:ea typeface="微軟正黑體" panose="020B0604030504040204" pitchFamily="34" charset="-120"/>
              </a:rPr>
              <a:t>大</a:t>
            </a:r>
          </a:p>
        </p:txBody>
      </p:sp>
      <p:sp>
        <p:nvSpPr>
          <p:cNvPr id="5" name="文字方塊 4"/>
          <p:cNvSpPr txBox="1"/>
          <p:nvPr/>
        </p:nvSpPr>
        <p:spPr>
          <a:xfrm>
            <a:off x="5722120" y="4182822"/>
            <a:ext cx="1469233" cy="246221"/>
          </a:xfrm>
          <a:prstGeom prst="rect">
            <a:avLst/>
          </a:prstGeom>
          <a:noFill/>
        </p:spPr>
        <p:txBody>
          <a:bodyPr wrap="square" rtlCol="0">
            <a:spAutoFit/>
          </a:bodyPr>
          <a:lstStyle/>
          <a:p>
            <a:r>
              <a:rPr lang="zh-TW" altLang="en-US" sz="1000" dirty="0">
                <a:latin typeface="+mn-ea"/>
              </a:rPr>
              <a:t>單位：營收</a:t>
            </a:r>
            <a:r>
              <a:rPr lang="en-US" altLang="zh-TW" sz="1000" dirty="0">
                <a:latin typeface="+mn-ea"/>
              </a:rPr>
              <a:t>($M)</a:t>
            </a:r>
            <a:endParaRPr lang="zh-TW" altLang="en-US" sz="1000" dirty="0">
              <a:latin typeface="+mn-ea"/>
            </a:endParaRPr>
          </a:p>
        </p:txBody>
      </p:sp>
      <p:sp>
        <p:nvSpPr>
          <p:cNvPr id="13" name="文字方塊 12"/>
          <p:cNvSpPr txBox="1"/>
          <p:nvPr/>
        </p:nvSpPr>
        <p:spPr>
          <a:xfrm>
            <a:off x="4775491" y="5878775"/>
            <a:ext cx="564448" cy="553998"/>
          </a:xfrm>
          <a:prstGeom prst="rect">
            <a:avLst/>
          </a:prstGeom>
          <a:noFill/>
        </p:spPr>
        <p:txBody>
          <a:bodyPr vert="horz" wrap="square" rtlCol="0">
            <a:spAutoFit/>
          </a:bodyPr>
          <a:lstStyle/>
          <a:p>
            <a:r>
              <a:rPr lang="en-US" altLang="zh-TW" sz="1000" dirty="0"/>
              <a:t>#</a:t>
            </a:r>
            <a:r>
              <a:rPr lang="zh-TW" altLang="en-US" sz="1000" dirty="0"/>
              <a:t>全美</a:t>
            </a:r>
            <a:r>
              <a:rPr lang="en-US" altLang="zh-TW" sz="1000" dirty="0"/>
              <a:t>500</a:t>
            </a:r>
            <a:r>
              <a:rPr lang="zh-TW" altLang="en-US" sz="1000" dirty="0"/>
              <a:t>強排名</a:t>
            </a:r>
          </a:p>
        </p:txBody>
      </p:sp>
      <p:pic>
        <p:nvPicPr>
          <p:cNvPr id="8" name="Picture 2">
            <a:extLst>
              <a:ext uri="{FF2B5EF4-FFF2-40B4-BE49-F238E27FC236}">
                <a16:creationId xmlns:a16="http://schemas.microsoft.com/office/drawing/2014/main" id="{A2979612-A5AB-D1F9-2B25-6F57CF3B132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070736" y="277241"/>
            <a:ext cx="1746188" cy="288000"/>
          </a:xfrm>
          <a:prstGeom prst="rect">
            <a:avLst/>
          </a:prstGeom>
          <a:noFill/>
          <a:extLst>
            <a:ext uri="{909E8E84-426E-40DD-AFC4-6F175D3DCCD1}">
              <a14:hiddenFill xmlns:a14="http://schemas.microsoft.com/office/drawing/2010/main">
                <a:solidFill>
                  <a:srgbClr val="FFFFFF"/>
                </a:solidFill>
              </a14:hiddenFill>
            </a:ext>
          </a:extLst>
        </p:spPr>
      </p:pic>
      <p:sp>
        <p:nvSpPr>
          <p:cNvPr id="9" name="標題 1">
            <a:extLst>
              <a:ext uri="{FF2B5EF4-FFF2-40B4-BE49-F238E27FC236}">
                <a16:creationId xmlns:a16="http://schemas.microsoft.com/office/drawing/2014/main" id="{05F0A002-7430-EEEB-FD80-4A26B1ED102E}"/>
              </a:ext>
            </a:extLst>
          </p:cNvPr>
          <p:cNvSpPr txBox="1">
            <a:spLocks noChangeArrowheads="1"/>
          </p:cNvSpPr>
          <p:nvPr/>
        </p:nvSpPr>
        <p:spPr>
          <a:xfrm>
            <a:off x="889799" y="198715"/>
            <a:ext cx="3394170" cy="475060"/>
          </a:xfrm>
          <a:prstGeom prst="rect">
            <a:avLst/>
          </a:prstGeom>
        </p:spPr>
        <p:txBody>
          <a:bodyPr anchor="ctr" anchorCtr="0">
            <a:noAutofit/>
          </a:bodyPr>
          <a:lstStyle>
            <a:defPPr>
              <a:defRPr lang="zh-TW"/>
            </a:defPPr>
            <a:lvl1pPr>
              <a:spcBef>
                <a:spcPct val="0"/>
              </a:spcBef>
              <a:buNone/>
              <a:defRPr sz="2400" b="1">
                <a:solidFill>
                  <a:schemeClr val="tx2">
                    <a:lumMod val="75000"/>
                  </a:schemeClr>
                </a:solidFill>
                <a:latin typeface="微軟正黑體" pitchFamily="34" charset="-120"/>
                <a:ea typeface="微軟正黑體" pitchFamily="34" charset="-120"/>
                <a:cs typeface="+mj-cs"/>
              </a:defRPr>
            </a:lvl1pPr>
          </a:lstStyle>
          <a:p>
            <a:r>
              <a:rPr lang="zh-TW" altLang="en-US" sz="2200" dirty="0"/>
              <a:t>全球最大國防工業承包商</a:t>
            </a:r>
          </a:p>
        </p:txBody>
      </p:sp>
      <p:sp>
        <p:nvSpPr>
          <p:cNvPr id="7" name="AutoShape 2" descr="Brand Finance on X: &quot;Which #AersopaceandDefence brands are leading the way  for brand value in 2024? Top 3 retain their 2023 positions! -  @BoeingAirplanes retains 1st place, soaring with a brand valu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sp>
        <p:nvSpPr>
          <p:cNvPr id="20" name="AutoShape 4" descr="Brand Finance on X: &quot;Which #AersopaceandDefence brands are leading the way  for brand value in 2024? Top 3 retain their 2023 positions! -  @BoeingAirplanes retains 1st place, soaring with a brand valu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sp>
        <p:nvSpPr>
          <p:cNvPr id="33" name="矩形 32">
            <a:extLst>
              <a:ext uri="{FF2B5EF4-FFF2-40B4-BE49-F238E27FC236}">
                <a16:creationId xmlns:a16="http://schemas.microsoft.com/office/drawing/2014/main" id="{32A882C3-3BC8-43CD-B465-E575B982D7F6}"/>
              </a:ext>
            </a:extLst>
          </p:cNvPr>
          <p:cNvSpPr/>
          <p:nvPr/>
        </p:nvSpPr>
        <p:spPr>
          <a:xfrm>
            <a:off x="323531" y="1840273"/>
            <a:ext cx="4451960" cy="201888"/>
          </a:xfrm>
          <a:prstGeom prst="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1" name="表格 40">
            <a:extLst>
              <a:ext uri="{FF2B5EF4-FFF2-40B4-BE49-F238E27FC236}">
                <a16:creationId xmlns:a16="http://schemas.microsoft.com/office/drawing/2014/main" id="{FEDC7E5B-1B54-F331-9A74-B65DF16B55F2}"/>
              </a:ext>
            </a:extLst>
          </p:cNvPr>
          <p:cNvGraphicFramePr>
            <a:graphicFrameLocks noGrp="1"/>
          </p:cNvGraphicFramePr>
          <p:nvPr>
            <p:extLst>
              <p:ext uri="{D42A27DB-BD31-4B8C-83A1-F6EECF244321}">
                <p14:modId xmlns:p14="http://schemas.microsoft.com/office/powerpoint/2010/main" val="438425439"/>
              </p:ext>
            </p:extLst>
          </p:nvPr>
        </p:nvGraphicFramePr>
        <p:xfrm>
          <a:off x="372976" y="4528259"/>
          <a:ext cx="4357910" cy="1800993"/>
        </p:xfrm>
        <a:graphic>
          <a:graphicData uri="http://schemas.openxmlformats.org/drawingml/2006/table">
            <a:tbl>
              <a:tblPr>
                <a:tableStyleId>{5C22544A-7EE6-4342-B048-85BDC9FD1C3A}</a:tableStyleId>
              </a:tblPr>
              <a:tblGrid>
                <a:gridCol w="2734276">
                  <a:extLst>
                    <a:ext uri="{9D8B030D-6E8A-4147-A177-3AD203B41FA5}">
                      <a16:colId xmlns:a16="http://schemas.microsoft.com/office/drawing/2014/main" val="20000"/>
                    </a:ext>
                  </a:extLst>
                </a:gridCol>
                <a:gridCol w="1623634">
                  <a:extLst>
                    <a:ext uri="{9D8B030D-6E8A-4147-A177-3AD203B41FA5}">
                      <a16:colId xmlns:a16="http://schemas.microsoft.com/office/drawing/2014/main" val="20003"/>
                    </a:ext>
                  </a:extLst>
                </a:gridCol>
              </a:tblGrid>
              <a:tr h="280088">
                <a:tc>
                  <a:txBody>
                    <a:bodyPr/>
                    <a:lstStyle/>
                    <a:p>
                      <a:pPr algn="l" fontAlgn="b"/>
                      <a:r>
                        <a:rPr lang="zh-TW" altLang="en-US" sz="1100" b="1" u="none" strike="noStrike" dirty="0">
                          <a:solidFill>
                            <a:schemeClr val="bg1"/>
                          </a:solidFill>
                          <a:effectLst/>
                          <a:latin typeface="微軟正黑體" panose="020B0604030504040204" pitchFamily="34" charset="-120"/>
                          <a:ea typeface="微軟正黑體" panose="020B0604030504040204" pitchFamily="34" charset="-120"/>
                        </a:rPr>
                        <a:t>成員公司</a:t>
                      </a:r>
                      <a:endParaRPr lang="zh-TW" altLang="en-US" sz="1100" b="1" i="0" u="none" strike="noStrike" dirty="0">
                        <a:solidFill>
                          <a:schemeClr val="bg1"/>
                        </a:solidFill>
                        <a:effectLst/>
                        <a:latin typeface="微軟正黑體" panose="020B0604030504040204" pitchFamily="34" charset="-120"/>
                        <a:ea typeface="微軟正黑體" panose="020B0604030504040204" pitchFamily="34" charset="-120"/>
                      </a:endParaRPr>
                    </a:p>
                  </a:txBody>
                  <a:tcPr marL="1440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fontAlgn="b"/>
                      <a:r>
                        <a:rPr lang="zh-TW" altLang="en-US" sz="1100" b="1" u="none" strike="noStrike" dirty="0">
                          <a:solidFill>
                            <a:schemeClr val="bg1"/>
                          </a:solidFill>
                          <a:effectLst/>
                          <a:latin typeface="微軟正黑體" panose="020B0604030504040204" pitchFamily="34" charset="-120"/>
                          <a:ea typeface="微軟正黑體" panose="020B0604030504040204" pitchFamily="34" charset="-120"/>
                        </a:rPr>
                        <a:t>營收</a:t>
                      </a:r>
                      <a:r>
                        <a:rPr lang="en-US" altLang="zh-TW" sz="1100" b="1" u="none" strike="noStrike" dirty="0">
                          <a:solidFill>
                            <a:schemeClr val="bg1"/>
                          </a:solidFill>
                          <a:effectLst/>
                          <a:latin typeface="微軟正黑體" panose="020B0604030504040204" pitchFamily="34" charset="-120"/>
                          <a:ea typeface="微軟正黑體" panose="020B0604030504040204" pitchFamily="34" charset="-120"/>
                        </a:rPr>
                        <a:t>($</a:t>
                      </a:r>
                      <a:r>
                        <a:rPr lang="en-US" sz="1100" b="1" u="none" strike="noStrike" dirty="0">
                          <a:solidFill>
                            <a:schemeClr val="bg1"/>
                          </a:solidFill>
                          <a:effectLst/>
                          <a:latin typeface="微軟正黑體" panose="020B0604030504040204" pitchFamily="34" charset="-120"/>
                          <a:ea typeface="微軟正黑體" panose="020B0604030504040204" pitchFamily="34" charset="-120"/>
                        </a:rPr>
                        <a:t>B)</a:t>
                      </a:r>
                      <a:endParaRPr lang="en-US" sz="1100" b="1" i="0" u="none" strike="noStrike" dirty="0">
                        <a:solidFill>
                          <a:schemeClr val="bg1"/>
                        </a:solidFill>
                        <a:effectLst/>
                        <a:latin typeface="微軟正黑體" panose="020B0604030504040204" pitchFamily="34" charset="-120"/>
                        <a:ea typeface="微軟正黑體" panose="020B0604030504040204" pitchFamily="34" charset="-12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10000"/>
                  </a:ext>
                </a:extLst>
              </a:tr>
              <a:tr h="304181">
                <a:tc>
                  <a:txBody>
                    <a:bodyPr/>
                    <a:lstStyle/>
                    <a:p>
                      <a:pPr marL="0" algn="l" defTabSz="685800" rtl="0" eaLnBrk="1" fontAlgn="b" latinLnBrk="0" hangingPunct="1"/>
                      <a:r>
                        <a:rPr lang="zh-TW" altLang="en-US" sz="1100" b="1" u="none" strike="noStrike" kern="1200" dirty="0">
                          <a:solidFill>
                            <a:schemeClr val="tx1"/>
                          </a:solidFill>
                          <a:effectLst/>
                          <a:latin typeface="微軟正黑體" panose="020B0604030504040204" pitchFamily="34" charset="-120"/>
                          <a:ea typeface="微軟正黑體" panose="020B0604030504040204" pitchFamily="34" charset="-120"/>
                          <a:cs typeface="+mn-cs"/>
                        </a:rPr>
                        <a:t>洛克希德馬丁</a:t>
                      </a:r>
                    </a:p>
                  </a:txBody>
                  <a:tcPr marL="1440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marL="0" algn="ctr" defTabSz="685800" rtl="0" eaLnBrk="1" fontAlgn="b" latinLnBrk="0" hangingPunct="1"/>
                      <a:r>
                        <a:rPr lang="en-US" altLang="zh-TW" sz="12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30.26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0001"/>
                  </a:ext>
                </a:extLst>
              </a:tr>
              <a:tr h="304181">
                <a:tc>
                  <a:txBody>
                    <a:bodyPr/>
                    <a:lstStyle/>
                    <a:p>
                      <a:pPr marL="0" algn="l" defTabSz="685800" rtl="0" eaLnBrk="1" fontAlgn="b" latinLnBrk="0" hangingPunct="1"/>
                      <a:r>
                        <a:rPr lang="zh-TW" altLang="en-US" sz="1100" b="0" u="none" strike="noStrike" kern="1200" dirty="0">
                          <a:solidFill>
                            <a:schemeClr val="tx1"/>
                          </a:solidFill>
                          <a:effectLst/>
                          <a:latin typeface="微軟正黑體" panose="020B0604030504040204" pitchFamily="34" charset="-120"/>
                          <a:ea typeface="微軟正黑體" panose="020B0604030504040204" pitchFamily="34" charset="-120"/>
                          <a:cs typeface="+mn-cs"/>
                        </a:rPr>
                        <a:t>波音公司</a:t>
                      </a:r>
                    </a:p>
                  </a:txBody>
                  <a:tcPr marL="1440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TW" sz="1200" b="0" i="0" u="none" strike="noStrike" dirty="0">
                          <a:solidFill>
                            <a:schemeClr val="tx1"/>
                          </a:solidFill>
                          <a:effectLst/>
                          <a:latin typeface="微軟正黑體" panose="020B0604030504040204" pitchFamily="34" charset="-120"/>
                          <a:ea typeface="微軟正黑體" panose="020B0604030504040204" pitchFamily="34" charset="-120"/>
                        </a:rPr>
                        <a:t>27.23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04181">
                <a:tc>
                  <a:txBody>
                    <a:bodyPr/>
                    <a:lstStyle/>
                    <a:p>
                      <a:pPr marL="0" algn="l" defTabSz="685800" rtl="0" eaLnBrk="1" fontAlgn="b" latinLnBrk="0" hangingPunct="1"/>
                      <a:r>
                        <a:rPr lang="zh-TW" altLang="en-US" sz="1100" b="0" u="none" strike="noStrike" kern="1200" dirty="0">
                          <a:solidFill>
                            <a:schemeClr val="tx1"/>
                          </a:solidFill>
                          <a:effectLst/>
                          <a:latin typeface="微軟正黑體" panose="020B0604030504040204" pitchFamily="34" charset="-120"/>
                          <a:ea typeface="微軟正黑體" panose="020B0604030504040204" pitchFamily="34" charset="-120"/>
                          <a:cs typeface="+mn-cs"/>
                        </a:rPr>
                        <a:t>雷神科技公司</a:t>
                      </a:r>
                    </a:p>
                  </a:txBody>
                  <a:tcPr marL="1440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fontAlgn="b"/>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16.06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0003"/>
                  </a:ext>
                </a:extLst>
              </a:tr>
              <a:tr h="304181">
                <a:tc>
                  <a:txBody>
                    <a:bodyPr/>
                    <a:lstStyle/>
                    <a:p>
                      <a:pPr marL="0" algn="l" defTabSz="685800" rtl="0" eaLnBrk="1" fontAlgn="b" latinLnBrk="0" hangingPunct="1"/>
                      <a:r>
                        <a:rPr lang="zh-TW" altLang="en-US" sz="1100" b="0" u="none" strike="noStrike" kern="1200" dirty="0">
                          <a:solidFill>
                            <a:schemeClr val="tx1"/>
                          </a:solidFill>
                          <a:effectLst/>
                          <a:latin typeface="微軟正黑體" panose="020B0604030504040204" pitchFamily="34" charset="-120"/>
                          <a:ea typeface="微軟正黑體" panose="020B0604030504040204" pitchFamily="34" charset="-120"/>
                          <a:cs typeface="+mn-cs"/>
                        </a:rPr>
                        <a:t>諾斯洛普格拉曼</a:t>
                      </a:r>
                    </a:p>
                  </a:txBody>
                  <a:tcPr marL="1440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12.83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04181">
                <a:tc>
                  <a:txBody>
                    <a:bodyPr/>
                    <a:lstStyle/>
                    <a:p>
                      <a:pPr marL="0" algn="l" defTabSz="685800" rtl="0" eaLnBrk="1" fontAlgn="b" latinLnBrk="0" hangingPunct="1"/>
                      <a:r>
                        <a:rPr lang="zh-TW" altLang="en-US" sz="1100" b="0" u="none" strike="noStrike" kern="1200" dirty="0">
                          <a:solidFill>
                            <a:schemeClr val="tx1"/>
                          </a:solidFill>
                          <a:effectLst/>
                          <a:latin typeface="微軟正黑體" panose="020B0604030504040204" pitchFamily="34" charset="-120"/>
                          <a:ea typeface="微軟正黑體" panose="020B0604030504040204" pitchFamily="34" charset="-120"/>
                          <a:cs typeface="+mn-cs"/>
                        </a:rPr>
                        <a:t>奇異公司</a:t>
                      </a:r>
                    </a:p>
                  </a:txBody>
                  <a:tcPr marL="14400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fontAlgn="b"/>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10.55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0005"/>
                  </a:ext>
                </a:extLst>
              </a:tr>
            </a:tbl>
          </a:graphicData>
        </a:graphic>
      </p:graphicFrame>
      <p:grpSp>
        <p:nvGrpSpPr>
          <p:cNvPr id="42" name="群組 41">
            <a:extLst>
              <a:ext uri="{FF2B5EF4-FFF2-40B4-BE49-F238E27FC236}">
                <a16:creationId xmlns:a16="http://schemas.microsoft.com/office/drawing/2014/main" id="{B1B98929-3D46-7505-83A2-5338C380143F}"/>
              </a:ext>
            </a:extLst>
          </p:cNvPr>
          <p:cNvGrpSpPr/>
          <p:nvPr/>
        </p:nvGrpSpPr>
        <p:grpSpPr>
          <a:xfrm>
            <a:off x="971613" y="4304807"/>
            <a:ext cx="3312355" cy="167580"/>
            <a:chOff x="6146102" y="1214374"/>
            <a:chExt cx="2040306" cy="167580"/>
          </a:xfrm>
        </p:grpSpPr>
        <p:sp>
          <p:nvSpPr>
            <p:cNvPr id="44" name="矩形 43">
              <a:extLst>
                <a:ext uri="{FF2B5EF4-FFF2-40B4-BE49-F238E27FC236}">
                  <a16:creationId xmlns:a16="http://schemas.microsoft.com/office/drawing/2014/main" id="{8A967B74-2FD6-8655-5D21-1A7670FA183C}"/>
                </a:ext>
              </a:extLst>
            </p:cNvPr>
            <p:cNvSpPr/>
            <p:nvPr/>
          </p:nvSpPr>
          <p:spPr>
            <a:xfrm>
              <a:off x="6277457" y="1214374"/>
              <a:ext cx="1908951" cy="167580"/>
            </a:xfrm>
            <a:prstGeom prst="rect">
              <a:avLst/>
            </a:prstGeom>
            <a:solidFill>
              <a:schemeClr val="bg1"/>
            </a:solidFill>
            <a:ln>
              <a:noFill/>
            </a:ln>
            <a:effectLst>
              <a:outerShdw blurRad="88900"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TW" altLang="en-US" sz="900" b="1" dirty="0">
                  <a:solidFill>
                    <a:schemeClr val="tx1"/>
                  </a:solidFill>
                  <a:latin typeface="微軟正黑體" panose="020B0604030504040204" pitchFamily="34" charset="-120"/>
                  <a:ea typeface="微軟正黑體" panose="020B0604030504040204" pitchFamily="34" charset="-120"/>
                </a:rPr>
                <a:t>工業→工業產品 →航空與國防 →國防→軍用飛機</a:t>
              </a:r>
            </a:p>
          </p:txBody>
        </p:sp>
        <p:sp>
          <p:nvSpPr>
            <p:cNvPr id="48" name="矩形 47">
              <a:extLst>
                <a:ext uri="{FF2B5EF4-FFF2-40B4-BE49-F238E27FC236}">
                  <a16:creationId xmlns:a16="http://schemas.microsoft.com/office/drawing/2014/main" id="{327A05ED-AA28-F0FC-B975-DDFF42BF9E9C}"/>
                </a:ext>
              </a:extLst>
            </p:cNvPr>
            <p:cNvSpPr/>
            <p:nvPr/>
          </p:nvSpPr>
          <p:spPr>
            <a:xfrm>
              <a:off x="6146102" y="1214374"/>
              <a:ext cx="430577" cy="1675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dirty="0">
                  <a:latin typeface="微軟正黑體" panose="020B0604030504040204" pitchFamily="34" charset="-120"/>
                  <a:ea typeface="微軟正黑體" panose="020B0604030504040204" pitchFamily="34" charset="-120"/>
                </a:rPr>
                <a:t>BICS</a:t>
              </a:r>
              <a:r>
                <a:rPr lang="zh-TW" altLang="en-US" sz="900" b="1" dirty="0">
                  <a:latin typeface="微軟正黑體" panose="020B0604030504040204" pitchFamily="34" charset="-120"/>
                  <a:ea typeface="微軟正黑體" panose="020B0604030504040204" pitchFamily="34" charset="-120"/>
                </a:rPr>
                <a:t>產業</a:t>
              </a:r>
            </a:p>
          </p:txBody>
        </p:sp>
      </p:grpSp>
      <p:sp>
        <p:nvSpPr>
          <p:cNvPr id="49" name="矩形 48">
            <a:extLst>
              <a:ext uri="{FF2B5EF4-FFF2-40B4-BE49-F238E27FC236}">
                <a16:creationId xmlns:a16="http://schemas.microsoft.com/office/drawing/2014/main" id="{C83EB846-C087-7050-790B-79EE88533901}"/>
              </a:ext>
            </a:extLst>
          </p:cNvPr>
          <p:cNvSpPr/>
          <p:nvPr/>
        </p:nvSpPr>
        <p:spPr>
          <a:xfrm>
            <a:off x="365906" y="4815840"/>
            <a:ext cx="4360019" cy="289559"/>
          </a:xfrm>
          <a:prstGeom prst="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0" name="Picture 2" descr="File:New Bloomberg Logo.svg - Wikipedia">
            <a:extLst>
              <a:ext uri="{FF2B5EF4-FFF2-40B4-BE49-F238E27FC236}">
                <a16:creationId xmlns:a16="http://schemas.microsoft.com/office/drawing/2014/main" id="{074BB5DC-DFB1-8D4D-D74F-872013971B5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046206" y="4100835"/>
            <a:ext cx="887736" cy="165063"/>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群組 18"/>
          <p:cNvGrpSpPr/>
          <p:nvPr/>
        </p:nvGrpSpPr>
        <p:grpSpPr>
          <a:xfrm>
            <a:off x="4863411" y="1298726"/>
            <a:ext cx="3978664" cy="2263982"/>
            <a:chOff x="4863411" y="1298726"/>
            <a:chExt cx="3978664" cy="2263982"/>
          </a:xfrm>
        </p:grpSpPr>
        <p:grpSp>
          <p:nvGrpSpPr>
            <p:cNvPr id="16" name="群組 15"/>
            <p:cNvGrpSpPr/>
            <p:nvPr/>
          </p:nvGrpSpPr>
          <p:grpSpPr>
            <a:xfrm>
              <a:off x="4891177" y="1492370"/>
              <a:ext cx="3950898" cy="2070338"/>
              <a:chOff x="4865297" y="1340687"/>
              <a:chExt cx="4037163" cy="2178889"/>
            </a:xfrm>
          </p:grpSpPr>
          <p:pic>
            <p:nvPicPr>
              <p:cNvPr id="3" name="圖片 2"/>
              <p:cNvPicPr>
                <a:picLocks noChangeAspect="1"/>
              </p:cNvPicPr>
              <p:nvPr/>
            </p:nvPicPr>
            <p:blipFill>
              <a:blip r:embed="rId10"/>
              <a:stretch>
                <a:fillRect/>
              </a:stretch>
            </p:blipFill>
            <p:spPr>
              <a:xfrm>
                <a:off x="4865297" y="1340687"/>
                <a:ext cx="4037163" cy="2178889"/>
              </a:xfrm>
              <a:prstGeom prst="rect">
                <a:avLst/>
              </a:prstGeom>
            </p:spPr>
          </p:pic>
          <p:pic>
            <p:nvPicPr>
              <p:cNvPr id="6" name="圖片 5"/>
              <p:cNvPicPr>
                <a:picLocks noChangeAspect="1"/>
              </p:cNvPicPr>
              <p:nvPr/>
            </p:nvPicPr>
            <p:blipFill>
              <a:blip r:embed="rId11"/>
              <a:stretch>
                <a:fillRect/>
              </a:stretch>
            </p:blipFill>
            <p:spPr>
              <a:xfrm>
                <a:off x="5154715" y="1935552"/>
                <a:ext cx="875150" cy="153535"/>
              </a:xfrm>
              <a:prstGeom prst="rect">
                <a:avLst/>
              </a:prstGeom>
            </p:spPr>
          </p:pic>
          <p:pic>
            <p:nvPicPr>
              <p:cNvPr id="15" name="圖片 14"/>
              <p:cNvPicPr>
                <a:picLocks noChangeAspect="1"/>
              </p:cNvPicPr>
              <p:nvPr/>
            </p:nvPicPr>
            <p:blipFill>
              <a:blip r:embed="rId12"/>
              <a:stretch>
                <a:fillRect/>
              </a:stretch>
            </p:blipFill>
            <p:spPr>
              <a:xfrm>
                <a:off x="5300662" y="2139261"/>
                <a:ext cx="586531" cy="138113"/>
              </a:xfrm>
              <a:prstGeom prst="rect">
                <a:avLst/>
              </a:prstGeom>
            </p:spPr>
          </p:pic>
        </p:grpSp>
        <p:pic>
          <p:nvPicPr>
            <p:cNvPr id="17" name="圖片 16"/>
            <p:cNvPicPr>
              <a:picLocks noChangeAspect="1"/>
            </p:cNvPicPr>
            <p:nvPr/>
          </p:nvPicPr>
          <p:blipFill>
            <a:blip r:embed="rId13"/>
            <a:stretch>
              <a:fillRect/>
            </a:stretch>
          </p:blipFill>
          <p:spPr>
            <a:xfrm>
              <a:off x="4863411" y="1298726"/>
              <a:ext cx="1994589" cy="224810"/>
            </a:xfrm>
            <a:prstGeom prst="rect">
              <a:avLst/>
            </a:prstGeom>
          </p:spPr>
        </p:pic>
      </p:grpSp>
      <p:sp>
        <p:nvSpPr>
          <p:cNvPr id="52" name="矩形 51">
            <a:extLst>
              <a:ext uri="{FF2B5EF4-FFF2-40B4-BE49-F238E27FC236}">
                <a16:creationId xmlns:a16="http://schemas.microsoft.com/office/drawing/2014/main" id="{32A882C3-3BC8-43CD-B465-E575B982D7F6}"/>
              </a:ext>
            </a:extLst>
          </p:cNvPr>
          <p:cNvSpPr/>
          <p:nvPr/>
        </p:nvSpPr>
        <p:spPr>
          <a:xfrm>
            <a:off x="4831092" y="2044432"/>
            <a:ext cx="4045490" cy="172558"/>
          </a:xfrm>
          <a:prstGeom prst="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8" name="圖片 27">
            <a:extLst>
              <a:ext uri="{FF2B5EF4-FFF2-40B4-BE49-F238E27FC236}">
                <a16:creationId xmlns:a16="http://schemas.microsoft.com/office/drawing/2014/main" id="{34D95E11-8D6D-4111-A2BE-CC91CFBA7E08}"/>
              </a:ext>
            </a:extLst>
          </p:cNvPr>
          <p:cNvPicPr>
            <a:picLocks noChangeAspect="1"/>
          </p:cNvPicPr>
          <p:nvPr/>
        </p:nvPicPr>
        <p:blipFill>
          <a:blip r:embed="rId14"/>
          <a:stretch>
            <a:fillRect/>
          </a:stretch>
        </p:blipFill>
        <p:spPr>
          <a:xfrm>
            <a:off x="1980367" y="1350220"/>
            <a:ext cx="1058005" cy="207001"/>
          </a:xfrm>
          <a:prstGeom prst="rect">
            <a:avLst/>
          </a:prstGeom>
        </p:spPr>
      </p:pic>
    </p:spTree>
    <p:extLst>
      <p:ext uri="{BB962C8B-B14F-4D97-AF65-F5344CB8AC3E}">
        <p14:creationId xmlns:p14="http://schemas.microsoft.com/office/powerpoint/2010/main" val="1815089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圖片 17">
            <a:extLst>
              <a:ext uri="{FF2B5EF4-FFF2-40B4-BE49-F238E27FC236}">
                <a16:creationId xmlns:a16="http://schemas.microsoft.com/office/drawing/2014/main" id="{07710CA0-BC65-44C1-9E88-11EB7A21F9C0}"/>
              </a:ext>
            </a:extLst>
          </p:cNvPr>
          <p:cNvPicPr>
            <a:picLocks noChangeAspect="1"/>
          </p:cNvPicPr>
          <p:nvPr/>
        </p:nvPicPr>
        <p:blipFill>
          <a:blip r:embed="rId3"/>
          <a:stretch>
            <a:fillRect/>
          </a:stretch>
        </p:blipFill>
        <p:spPr>
          <a:xfrm>
            <a:off x="332270" y="4221088"/>
            <a:ext cx="4012283" cy="2053592"/>
          </a:xfrm>
          <a:prstGeom prst="rect">
            <a:avLst/>
          </a:prstGeom>
        </p:spPr>
      </p:pic>
      <p:sp>
        <p:nvSpPr>
          <p:cNvPr id="32" name="矩形 31"/>
          <p:cNvSpPr/>
          <p:nvPr/>
        </p:nvSpPr>
        <p:spPr>
          <a:xfrm>
            <a:off x="4704977" y="1109376"/>
            <a:ext cx="4198541" cy="5199944"/>
          </a:xfrm>
          <a:prstGeom prst="rect">
            <a:avLst/>
          </a:prstGeom>
          <a:no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350"/>
          </a:p>
        </p:txBody>
      </p:sp>
      <p:sp>
        <p:nvSpPr>
          <p:cNvPr id="27" name="標題 1">
            <a:extLst>
              <a:ext uri="{FF2B5EF4-FFF2-40B4-BE49-F238E27FC236}">
                <a16:creationId xmlns:a16="http://schemas.microsoft.com/office/drawing/2014/main" id="{5AA51018-5D74-493D-9F95-C9549A33D53F}"/>
              </a:ext>
            </a:extLst>
          </p:cNvPr>
          <p:cNvSpPr txBox="1">
            <a:spLocks/>
          </p:cNvSpPr>
          <p:nvPr/>
        </p:nvSpPr>
        <p:spPr bwMode="auto">
          <a:xfrm>
            <a:off x="246781" y="116632"/>
            <a:ext cx="636966" cy="609218"/>
          </a:xfrm>
          <a:prstGeom prst="rect">
            <a:avLst/>
          </a:prstGeom>
          <a:solidFill>
            <a:srgbClr val="C00000"/>
          </a:solidFill>
          <a:ln>
            <a:noFill/>
          </a:ln>
        </p:spPr>
        <p:txBody>
          <a:bodyPr anchor="ctr">
            <a:noAutofit/>
          </a:bodyPr>
          <a:lstStyle>
            <a:defPPr>
              <a:defRPr lang="zh-TW"/>
            </a:defPPr>
            <a:lvl1pPr algn="ctr" eaLnBrk="0" fontAlgn="base" hangingPunct="0">
              <a:spcBef>
                <a:spcPct val="0"/>
              </a:spcBef>
              <a:spcAft>
                <a:spcPct val="0"/>
              </a:spcAft>
              <a:defRPr kumimoji="1" sz="2000" b="1" kern="0">
                <a:solidFill>
                  <a:schemeClr val="bg1"/>
                </a:solidFill>
                <a:latin typeface="+mj-lt"/>
                <a:ea typeface="+mj-ea"/>
                <a:cs typeface="+mj-cs"/>
              </a:defRPr>
            </a:lvl1pPr>
            <a:lvl2pPr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fontAlgn="base">
              <a:spcBef>
                <a:spcPct val="0"/>
              </a:spcBef>
              <a:spcAft>
                <a:spcPct val="0"/>
              </a:spcAft>
              <a:defRPr kumimoji="1" sz="3000" b="1">
                <a:solidFill>
                  <a:schemeClr val="tx2"/>
                </a:solidFill>
                <a:latin typeface="標楷體" pitchFamily="65" charset="-120"/>
                <a:ea typeface="標楷體" pitchFamily="65" charset="-120"/>
              </a:defRPr>
            </a:lvl6pPr>
            <a:lvl7pPr marL="914400" fontAlgn="base">
              <a:spcBef>
                <a:spcPct val="0"/>
              </a:spcBef>
              <a:spcAft>
                <a:spcPct val="0"/>
              </a:spcAft>
              <a:defRPr kumimoji="1" sz="3000" b="1">
                <a:solidFill>
                  <a:schemeClr val="tx2"/>
                </a:solidFill>
                <a:latin typeface="標楷體" pitchFamily="65" charset="-120"/>
                <a:ea typeface="標楷體" pitchFamily="65" charset="-120"/>
              </a:defRPr>
            </a:lvl7pPr>
            <a:lvl8pPr marL="1371600" fontAlgn="base">
              <a:spcBef>
                <a:spcPct val="0"/>
              </a:spcBef>
              <a:spcAft>
                <a:spcPct val="0"/>
              </a:spcAft>
              <a:defRPr kumimoji="1" sz="3000" b="1">
                <a:solidFill>
                  <a:schemeClr val="tx2"/>
                </a:solidFill>
                <a:latin typeface="標楷體" pitchFamily="65" charset="-120"/>
                <a:ea typeface="標楷體" pitchFamily="65" charset="-120"/>
              </a:defRPr>
            </a:lvl8pPr>
            <a:lvl9pPr marL="1828800" fontAlgn="base">
              <a:spcBef>
                <a:spcPct val="0"/>
              </a:spcBef>
              <a:spcAft>
                <a:spcPct val="0"/>
              </a:spcAft>
              <a:defRPr kumimoji="1" sz="3000" b="1">
                <a:solidFill>
                  <a:schemeClr val="tx2"/>
                </a:solidFill>
                <a:latin typeface="標楷體" pitchFamily="65" charset="-120"/>
                <a:ea typeface="標楷體" pitchFamily="65" charset="-120"/>
              </a:defRPr>
            </a:lvl9pPr>
          </a:lstStyle>
          <a:p>
            <a:r>
              <a:rPr lang="zh-TW" altLang="en-US" sz="1700" dirty="0"/>
              <a:t>年度財務</a:t>
            </a:r>
          </a:p>
        </p:txBody>
      </p:sp>
      <p:sp>
        <p:nvSpPr>
          <p:cNvPr id="4" name="投影片編號版面配置區 3">
            <a:extLst>
              <a:ext uri="{FF2B5EF4-FFF2-40B4-BE49-F238E27FC236}">
                <a16:creationId xmlns:a16="http://schemas.microsoft.com/office/drawing/2014/main" id="{7BBAF2F3-4DAD-C14A-B48B-E702BC7A59E7}"/>
              </a:ext>
            </a:extLst>
          </p:cNvPr>
          <p:cNvSpPr>
            <a:spLocks noGrp="1"/>
          </p:cNvSpPr>
          <p:nvPr>
            <p:ph type="sldNum" sz="quarter" idx="10"/>
          </p:nvPr>
        </p:nvSpPr>
        <p:spPr/>
        <p:txBody>
          <a:bodyPr/>
          <a:lstStyle/>
          <a:p>
            <a:fld id="{415482FC-CF5F-466A-B8B6-BC3733E92023}" type="slidenum">
              <a:rPr lang="zh-TW" altLang="en-US" smtClean="0"/>
              <a:pPr/>
              <a:t>4</a:t>
            </a:fld>
            <a:endParaRPr lang="zh-TW" altLang="en-US" dirty="0"/>
          </a:p>
        </p:txBody>
      </p:sp>
      <p:sp>
        <p:nvSpPr>
          <p:cNvPr id="8" name="標題 1">
            <a:extLst>
              <a:ext uri="{FF2B5EF4-FFF2-40B4-BE49-F238E27FC236}">
                <a16:creationId xmlns:a16="http://schemas.microsoft.com/office/drawing/2014/main" id="{7FA876EA-016F-C943-9D37-BCF80403BE81}"/>
              </a:ext>
            </a:extLst>
          </p:cNvPr>
          <p:cNvSpPr txBox="1">
            <a:spLocks noChangeArrowheads="1"/>
          </p:cNvSpPr>
          <p:nvPr/>
        </p:nvSpPr>
        <p:spPr>
          <a:xfrm>
            <a:off x="883748" y="224929"/>
            <a:ext cx="6190612" cy="475060"/>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defRPr/>
            </a:pPr>
            <a:r>
              <a:rPr lang="en-US" altLang="zh-TW" sz="2000" dirty="0"/>
              <a:t>F-35</a:t>
            </a:r>
            <a:r>
              <a:rPr lang="zh-TW" altLang="en-US" sz="2000" dirty="0"/>
              <a:t>及</a:t>
            </a:r>
            <a:r>
              <a:rPr lang="en-US" altLang="zh-TW" sz="2000" dirty="0"/>
              <a:t>F-16</a:t>
            </a:r>
            <a:r>
              <a:rPr lang="zh-TW" altLang="en-US" sz="2000" dirty="0"/>
              <a:t>銷量強勁；機密專案損失拖累淨利表現</a:t>
            </a:r>
          </a:p>
        </p:txBody>
      </p:sp>
      <p:sp>
        <p:nvSpPr>
          <p:cNvPr id="3" name="矩形 2"/>
          <p:cNvSpPr/>
          <p:nvPr/>
        </p:nvSpPr>
        <p:spPr>
          <a:xfrm>
            <a:off x="251519" y="1109376"/>
            <a:ext cx="4198541" cy="5199944"/>
          </a:xfrm>
          <a:prstGeom prst="rect">
            <a:avLst/>
          </a:prstGeom>
          <a:no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350"/>
          </a:p>
        </p:txBody>
      </p:sp>
      <p:sp>
        <p:nvSpPr>
          <p:cNvPr id="22" name="圓角矩形 21">
            <a:extLst>
              <a:ext uri="{FF2B5EF4-FFF2-40B4-BE49-F238E27FC236}">
                <a16:creationId xmlns:a16="http://schemas.microsoft.com/office/drawing/2014/main" id="{9E838F41-21C5-FC42-B613-E00CAC48914B}"/>
              </a:ext>
            </a:extLst>
          </p:cNvPr>
          <p:cNvSpPr/>
          <p:nvPr/>
        </p:nvSpPr>
        <p:spPr>
          <a:xfrm>
            <a:off x="402244" y="950793"/>
            <a:ext cx="967427" cy="26769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mn-ea"/>
              </a:rPr>
              <a:t>年度財務</a:t>
            </a:r>
          </a:p>
        </p:txBody>
      </p:sp>
      <p:sp>
        <p:nvSpPr>
          <p:cNvPr id="28" name="圓角矩形 27">
            <a:extLst>
              <a:ext uri="{FF2B5EF4-FFF2-40B4-BE49-F238E27FC236}">
                <a16:creationId xmlns:a16="http://schemas.microsoft.com/office/drawing/2014/main" id="{9E838F41-21C5-FC42-B613-E00CAC48914B}"/>
              </a:ext>
            </a:extLst>
          </p:cNvPr>
          <p:cNvSpPr/>
          <p:nvPr/>
        </p:nvSpPr>
        <p:spPr>
          <a:xfrm>
            <a:off x="4860032" y="948739"/>
            <a:ext cx="967427" cy="26769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mn-ea"/>
              </a:rPr>
              <a:t>季度財務</a:t>
            </a:r>
          </a:p>
        </p:txBody>
      </p:sp>
      <p:sp>
        <p:nvSpPr>
          <p:cNvPr id="31" name="文字方塊 30">
            <a:extLst>
              <a:ext uri="{FF2B5EF4-FFF2-40B4-BE49-F238E27FC236}">
                <a16:creationId xmlns:a16="http://schemas.microsoft.com/office/drawing/2014/main" id="{98DCB888-06AF-428F-8E3E-92DAB527ACB5}"/>
              </a:ext>
            </a:extLst>
          </p:cNvPr>
          <p:cNvSpPr txBox="1"/>
          <p:nvPr/>
        </p:nvSpPr>
        <p:spPr>
          <a:xfrm>
            <a:off x="4704977" y="1241316"/>
            <a:ext cx="4187504" cy="3269549"/>
          </a:xfrm>
          <a:prstGeom prst="rect">
            <a:avLst/>
          </a:prstGeom>
          <a:noFill/>
        </p:spPr>
        <p:txBody>
          <a:bodyPr wrap="square" rtlCol="0">
            <a:spAutoFit/>
          </a:bodyPr>
          <a:lstStyle/>
          <a:p>
            <a:pPr algn="just">
              <a:lnSpc>
                <a:spcPts val="1600"/>
              </a:lnSpc>
              <a:spcBef>
                <a:spcPts val="300"/>
              </a:spcBef>
            </a:pPr>
            <a:r>
              <a:rPr kumimoji="1" lang="en-US" altLang="zh-TW" sz="1200" b="1" dirty="0">
                <a:solidFill>
                  <a:srgbClr val="FF0000"/>
                </a:solidFill>
                <a:latin typeface="微軟正黑體" panose="020B0604030504040204" pitchFamily="34" charset="-120"/>
                <a:ea typeface="微軟正黑體" panose="020B0604030504040204" pitchFamily="34" charset="-120"/>
              </a:rPr>
              <a:t>1Q26</a:t>
            </a:r>
            <a:r>
              <a:rPr kumimoji="1" lang="zh-TW" altLang="en-US" sz="1200" b="1" dirty="0">
                <a:solidFill>
                  <a:srgbClr val="FF0000"/>
                </a:solidFill>
                <a:latin typeface="微軟正黑體" panose="020B0604030504040204" pitchFamily="34" charset="-120"/>
                <a:ea typeface="微軟正黑體" panose="020B0604030504040204" pitchFamily="34" charset="-120"/>
              </a:rPr>
              <a:t>營收持平於</a:t>
            </a:r>
            <a:r>
              <a:rPr kumimoji="1" lang="en-US" altLang="zh-TW" sz="1200" b="1" dirty="0">
                <a:solidFill>
                  <a:srgbClr val="FF0000"/>
                </a:solidFill>
                <a:latin typeface="微軟正黑體" panose="020B0604030504040204" pitchFamily="34" charset="-120"/>
                <a:ea typeface="微軟正黑體" panose="020B0604030504040204" pitchFamily="34" charset="-120"/>
              </a:rPr>
              <a:t>180</a:t>
            </a:r>
            <a:r>
              <a:rPr kumimoji="1" lang="zh-TW" altLang="en-US" sz="1200" b="1" dirty="0">
                <a:solidFill>
                  <a:srgbClr val="FF0000"/>
                </a:solidFill>
                <a:latin typeface="微軟正黑體" panose="020B0604030504040204" pitchFamily="34" charset="-120"/>
                <a:ea typeface="微軟正黑體" panose="020B0604030504040204" pitchFamily="34" charset="-120"/>
              </a:rPr>
              <a:t>億美元</a:t>
            </a:r>
            <a:r>
              <a:rPr kumimoji="1" lang="zh-TW" altLang="en-US" sz="1200" dirty="0">
                <a:latin typeface="微軟正黑體" panose="020B0604030504040204" pitchFamily="34" charset="-120"/>
                <a:ea typeface="微軟正黑體" panose="020B0604030504040204" pitchFamily="34" charset="-120"/>
              </a:rPr>
              <a:t>，遜於預期，係因</a:t>
            </a:r>
            <a:r>
              <a:rPr kumimoji="1" lang="en-US" altLang="zh-TW" sz="1200" dirty="0">
                <a:latin typeface="微軟正黑體" panose="020B0604030504040204" pitchFamily="34" charset="-120"/>
                <a:ea typeface="微軟正黑體" panose="020B0604030504040204" pitchFamily="34" charset="-120"/>
              </a:rPr>
              <a:t>1)</a:t>
            </a:r>
            <a:r>
              <a:rPr kumimoji="1" lang="zh-TW" altLang="en-US" sz="1200" dirty="0">
                <a:latin typeface="微軟正黑體" panose="020B0604030504040204" pitchFamily="34" charset="-120"/>
                <a:ea typeface="微軟正黑體" panose="020B0604030504040204" pitchFamily="34" charset="-120"/>
              </a:rPr>
              <a:t>機密和</a:t>
            </a:r>
            <a:r>
              <a:rPr kumimoji="1" lang="en-US" altLang="zh-TW" sz="1200" dirty="0">
                <a:latin typeface="微軟正黑體" panose="020B0604030504040204" pitchFamily="34" charset="-120"/>
                <a:ea typeface="微軟正黑體" panose="020B0604030504040204" pitchFamily="34" charset="-120"/>
              </a:rPr>
              <a:t>F-16</a:t>
            </a:r>
            <a:r>
              <a:rPr kumimoji="1" lang="zh-TW" altLang="en-US" sz="1200" dirty="0">
                <a:latin typeface="微軟正黑體" panose="020B0604030504040204" pitchFamily="34" charset="-120"/>
                <a:ea typeface="微軟正黑體" panose="020B0604030504040204" pitchFamily="34" charset="-120"/>
              </a:rPr>
              <a:t>戰鬥機專案收入下降，致航空部門銷售額年減</a:t>
            </a:r>
            <a:r>
              <a:rPr kumimoji="1" lang="en-US" altLang="zh-TW" sz="1200" dirty="0">
                <a:latin typeface="微軟正黑體" panose="020B0604030504040204" pitchFamily="34" charset="-120"/>
                <a:ea typeface="微軟正黑體" panose="020B0604030504040204" pitchFamily="34" charset="-120"/>
              </a:rPr>
              <a:t>1%</a:t>
            </a:r>
            <a:r>
              <a:rPr kumimoji="1" lang="zh-TW" altLang="en-US" sz="1200" dirty="0">
                <a:latin typeface="微軟正黑體" panose="020B0604030504040204" pitchFamily="34" charset="-120"/>
                <a:ea typeface="微軟正黑體" panose="020B0604030504040204" pitchFamily="34" charset="-120"/>
              </a:rPr>
              <a:t>、</a:t>
            </a:r>
            <a:r>
              <a:rPr kumimoji="1" lang="en-US" altLang="zh-TW" sz="1200" dirty="0">
                <a:latin typeface="微軟正黑體" panose="020B0604030504040204" pitchFamily="34" charset="-120"/>
                <a:ea typeface="微軟正黑體" panose="020B0604030504040204" pitchFamily="34" charset="-120"/>
              </a:rPr>
              <a:t>2)</a:t>
            </a:r>
            <a:r>
              <a:rPr kumimoji="1" lang="zh-TW" altLang="en-US" sz="1200" dirty="0">
                <a:latin typeface="微軟正黑體" panose="020B0604030504040204" pitchFamily="34" charset="-120"/>
                <a:ea typeface="微軟正黑體" panose="020B0604030504040204" pitchFamily="34" charset="-120"/>
              </a:rPr>
              <a:t>雷達與</a:t>
            </a:r>
            <a:r>
              <a:rPr kumimoji="1" lang="en-US" altLang="zh-TW" sz="1200" dirty="0">
                <a:latin typeface="微軟正黑體" panose="020B0604030504040204" pitchFamily="34" charset="-120"/>
                <a:ea typeface="微軟正黑體" panose="020B0604030504040204" pitchFamily="34" charset="-120"/>
              </a:rPr>
              <a:t>Sikorsky</a:t>
            </a:r>
            <a:r>
              <a:rPr kumimoji="1" lang="zh-TW" altLang="en-US" sz="1200" dirty="0">
                <a:latin typeface="微軟正黑體" panose="020B0604030504040204" pitchFamily="34" charset="-120"/>
                <a:ea typeface="微軟正黑體" panose="020B0604030504040204" pitchFamily="34" charset="-120"/>
              </a:rPr>
              <a:t>直升機專案銷量下滑，拖累旋轉和任務系統部門銷售額年減</a:t>
            </a:r>
            <a:r>
              <a:rPr kumimoji="1" lang="en-US" altLang="zh-TW" sz="1200" dirty="0">
                <a:latin typeface="微軟正黑體" panose="020B0604030504040204" pitchFamily="34" charset="-120"/>
                <a:ea typeface="微軟正黑體" panose="020B0604030504040204" pitchFamily="34" charset="-120"/>
              </a:rPr>
              <a:t>8%</a:t>
            </a:r>
            <a:r>
              <a:rPr kumimoji="1" lang="zh-TW" altLang="en-US" sz="1200" dirty="0">
                <a:latin typeface="微軟正黑體" panose="020B0604030504040204" pitchFamily="34" charset="-120"/>
                <a:ea typeface="微軟正黑體" panose="020B0604030504040204" pitchFamily="34" charset="-120"/>
              </a:rPr>
              <a:t>，抵銷了</a:t>
            </a:r>
            <a:r>
              <a:rPr kumimoji="1" lang="en-US" altLang="zh-TW" sz="1200" dirty="0">
                <a:latin typeface="微軟正黑體" panose="020B0604030504040204" pitchFamily="34" charset="-120"/>
                <a:ea typeface="微軟正黑體" panose="020B0604030504040204" pitchFamily="34" charset="-120"/>
              </a:rPr>
              <a:t>3)</a:t>
            </a:r>
            <a:r>
              <a:rPr kumimoji="1" lang="zh-TW" altLang="en-US" sz="1200" dirty="0">
                <a:latin typeface="微軟正黑體" panose="020B0604030504040204" pitchFamily="34" charset="-120"/>
                <a:ea typeface="微軟正黑體" panose="020B0604030504040204" pitchFamily="34" charset="-120"/>
              </a:rPr>
              <a:t>飛彈與火控</a:t>
            </a:r>
            <a:r>
              <a:rPr kumimoji="1" lang="en-US" altLang="zh-TW" sz="1200" dirty="0">
                <a:latin typeface="微軟正黑體" panose="020B0604030504040204" pitchFamily="34" charset="-120"/>
                <a:ea typeface="微軟正黑體" panose="020B0604030504040204" pitchFamily="34" charset="-120"/>
              </a:rPr>
              <a:t>(MFC)</a:t>
            </a:r>
            <a:r>
              <a:rPr kumimoji="1" lang="zh-TW" altLang="en-US" sz="1200" dirty="0">
                <a:latin typeface="微軟正黑體" pitchFamily="34" charset="-120"/>
                <a:ea typeface="微軟正黑體" pitchFamily="34" charset="-120"/>
              </a:rPr>
              <a:t>及太空部門的成長。</a:t>
            </a:r>
          </a:p>
          <a:p>
            <a:pPr algn="just">
              <a:lnSpc>
                <a:spcPts val="1600"/>
              </a:lnSpc>
              <a:spcBef>
                <a:spcPts val="300"/>
              </a:spcBef>
            </a:pPr>
            <a:r>
              <a:rPr kumimoji="1" lang="zh-TW" altLang="en-US" sz="1200" b="1" dirty="0">
                <a:solidFill>
                  <a:srgbClr val="FF0000"/>
                </a:solidFill>
                <a:latin typeface="微軟正黑體" pitchFamily="34" charset="-120"/>
                <a:ea typeface="微軟正黑體" pitchFamily="34" charset="-120"/>
              </a:rPr>
              <a:t>普通股可分配淨利年減</a:t>
            </a:r>
            <a:r>
              <a:rPr kumimoji="1" lang="en-US" altLang="zh-TW" sz="1200" b="1" dirty="0">
                <a:solidFill>
                  <a:srgbClr val="FF0000"/>
                </a:solidFill>
                <a:latin typeface="微軟正黑體" pitchFamily="34" charset="-120"/>
                <a:ea typeface="微軟正黑體" pitchFamily="34" charset="-120"/>
              </a:rPr>
              <a:t>13%</a:t>
            </a:r>
            <a:r>
              <a:rPr kumimoji="1" lang="zh-TW" altLang="en-US" sz="1200" b="1" dirty="0">
                <a:solidFill>
                  <a:srgbClr val="FF0000"/>
                </a:solidFill>
                <a:latin typeface="微軟正黑體" pitchFamily="34" charset="-120"/>
                <a:ea typeface="微軟正黑體" pitchFamily="34" charset="-120"/>
              </a:rPr>
              <a:t>至</a:t>
            </a:r>
            <a:r>
              <a:rPr kumimoji="1" lang="en-US" altLang="zh-TW" sz="1200" b="1" dirty="0">
                <a:solidFill>
                  <a:srgbClr val="FF0000"/>
                </a:solidFill>
                <a:latin typeface="微軟正黑體" pitchFamily="34" charset="-120"/>
                <a:ea typeface="微軟正黑體" pitchFamily="34" charset="-120"/>
              </a:rPr>
              <a:t>15</a:t>
            </a:r>
            <a:r>
              <a:rPr kumimoji="1" lang="zh-TW" altLang="en-US" sz="1200" b="1" dirty="0">
                <a:solidFill>
                  <a:srgbClr val="FF0000"/>
                </a:solidFill>
                <a:latin typeface="微軟正黑體" pitchFamily="34" charset="-120"/>
                <a:ea typeface="微軟正黑體" pitchFamily="34" charset="-120"/>
              </a:rPr>
              <a:t>億美元</a:t>
            </a:r>
            <a:r>
              <a:rPr kumimoji="1" lang="zh-TW" altLang="en-US" sz="1200" dirty="0">
                <a:latin typeface="微軟正黑體" pitchFamily="34" charset="-120"/>
                <a:ea typeface="微軟正黑體" pitchFamily="34" charset="-120"/>
              </a:rPr>
              <a:t>，反映航空部門下修淨利潤認列率，以及去年同期認列非經常性的里程碑專案完工墊高基期，致營業利潤年減</a:t>
            </a:r>
            <a:r>
              <a:rPr kumimoji="1" lang="en-US" altLang="zh-TW" sz="1200" dirty="0">
                <a:latin typeface="微軟正黑體" pitchFamily="34" charset="-120"/>
                <a:ea typeface="微軟正黑體" pitchFamily="34" charset="-120"/>
              </a:rPr>
              <a:t>13%</a:t>
            </a:r>
            <a:r>
              <a:rPr kumimoji="1" lang="zh-TW" altLang="en-US" sz="1200" dirty="0">
                <a:latin typeface="微軟正黑體" pitchFamily="34" charset="-120"/>
                <a:ea typeface="微軟正黑體" pitchFamily="34" charset="-120"/>
              </a:rPr>
              <a:t>。然而，公司仍重申</a:t>
            </a:r>
            <a:r>
              <a:rPr kumimoji="1" lang="en-US" altLang="zh-TW" sz="1200" dirty="0">
                <a:latin typeface="微軟正黑體" pitchFamily="34" charset="-120"/>
                <a:ea typeface="微軟正黑體" pitchFamily="34" charset="-120"/>
              </a:rPr>
              <a:t>FY26</a:t>
            </a:r>
            <a:r>
              <a:rPr kumimoji="1" lang="zh-TW" altLang="en-US" sz="1200" dirty="0">
                <a:latin typeface="微軟正黑體" pitchFamily="34" charset="-120"/>
                <a:ea typeface="微軟正黑體" pitchFamily="34" charset="-120"/>
              </a:rPr>
              <a:t>業績指引，估營業利潤將年增</a:t>
            </a:r>
            <a:r>
              <a:rPr kumimoji="1" lang="en-US" altLang="zh-TW" sz="1200" dirty="0">
                <a:latin typeface="微軟正黑體" pitchFamily="34" charset="-120"/>
                <a:ea typeface="微軟正黑體" pitchFamily="34" charset="-120"/>
              </a:rPr>
              <a:t>25%</a:t>
            </a:r>
            <a:r>
              <a:rPr kumimoji="1" lang="zh-TW" altLang="en-US" sz="1200" dirty="0">
                <a:latin typeface="微軟正黑體" pitchFamily="34" charset="-120"/>
                <a:ea typeface="微軟正黑體" pitchFamily="34" charset="-120"/>
              </a:rPr>
              <a:t>。</a:t>
            </a:r>
          </a:p>
          <a:p>
            <a:pPr algn="just">
              <a:lnSpc>
                <a:spcPts val="1600"/>
              </a:lnSpc>
              <a:spcBef>
                <a:spcPts val="300"/>
              </a:spcBef>
            </a:pPr>
            <a:r>
              <a:rPr lang="zh-TW" altLang="en-US" sz="1200" b="1" dirty="0">
                <a:latin typeface="微軟正黑體" pitchFamily="34" charset="-120"/>
                <a:ea typeface="微軟正黑體" pitchFamily="34" charset="-120"/>
              </a:rPr>
              <a:t>亮點</a:t>
            </a:r>
            <a:r>
              <a:rPr lang="zh-TW" altLang="en-US" sz="1200" dirty="0">
                <a:latin typeface="微軟正黑體" pitchFamily="34" charset="-120"/>
                <a:ea typeface="微軟正黑體" pitchFamily="34" charset="-120"/>
              </a:rPr>
              <a:t>：</a:t>
            </a:r>
            <a:r>
              <a:rPr kumimoji="1" lang="en-US" altLang="zh-TW" sz="1200" dirty="0">
                <a:latin typeface="微軟正黑體" pitchFamily="34" charset="-120"/>
                <a:ea typeface="微軟正黑體" pitchFamily="34" charset="-120"/>
              </a:rPr>
              <a:t>Q1</a:t>
            </a:r>
            <a:r>
              <a:rPr kumimoji="1" lang="zh-TW" altLang="en-US" sz="1200" dirty="0">
                <a:latin typeface="微軟正黑體" pitchFamily="34" charset="-120"/>
                <a:ea typeface="微軟正黑體" pitchFamily="34" charset="-120"/>
              </a:rPr>
              <a:t>與美國政府簽署多項框架協議，獲得愛國者飛彈、薩德防禦系統與精準打擊飛彈的合約。</a:t>
            </a:r>
          </a:p>
          <a:p>
            <a:pPr algn="just">
              <a:lnSpc>
                <a:spcPts val="1600"/>
              </a:lnSpc>
              <a:spcBef>
                <a:spcPts val="300"/>
              </a:spcBef>
            </a:pPr>
            <a:r>
              <a:rPr kumimoji="1" lang="zh-TW" altLang="en-US" sz="1200" b="1" dirty="0">
                <a:latin typeface="微軟正黑體" pitchFamily="34" charset="-120"/>
                <a:ea typeface="微軟正黑體" pitchFamily="34" charset="-120"/>
              </a:rPr>
              <a:t>風險</a:t>
            </a:r>
            <a:r>
              <a:rPr kumimoji="1" lang="zh-TW" altLang="en-US" sz="1200" dirty="0">
                <a:latin typeface="微軟正黑體" pitchFamily="34" charset="-120"/>
                <a:ea typeface="微軟正黑體" pitchFamily="34" charset="-120"/>
              </a:rPr>
              <a:t>：加大軍火生產力度致現金消耗超出預期，</a:t>
            </a:r>
            <a:r>
              <a:rPr kumimoji="1" lang="en-US" altLang="zh-TW" sz="1200" dirty="0">
                <a:latin typeface="微軟正黑體" pitchFamily="34" charset="-120"/>
                <a:ea typeface="微軟正黑體" pitchFamily="34" charset="-120"/>
              </a:rPr>
              <a:t>Q1</a:t>
            </a:r>
            <a:r>
              <a:rPr kumimoji="1" lang="zh-TW" altLang="en-US" sz="1200" dirty="0">
                <a:latin typeface="微軟正黑體" pitchFamily="34" charset="-120"/>
                <a:ea typeface="微軟正黑體" pitchFamily="34" charset="-120"/>
              </a:rPr>
              <a:t>自由現金流由去年同期的正</a:t>
            </a:r>
            <a:r>
              <a:rPr kumimoji="1" lang="en-US" altLang="zh-TW" sz="1200" dirty="0">
                <a:latin typeface="微軟正黑體" pitchFamily="34" charset="-120"/>
                <a:ea typeface="微軟正黑體" pitchFamily="34" charset="-120"/>
              </a:rPr>
              <a:t>9.6</a:t>
            </a:r>
            <a:r>
              <a:rPr kumimoji="1" lang="zh-TW" altLang="en-US" sz="1200" dirty="0">
                <a:latin typeface="微軟正黑體" pitchFamily="34" charset="-120"/>
                <a:ea typeface="微軟正黑體" pitchFamily="34" charset="-120"/>
              </a:rPr>
              <a:t>億大幅下滑至負</a:t>
            </a:r>
            <a:r>
              <a:rPr kumimoji="1" lang="en-US" altLang="zh-TW" sz="1200" dirty="0">
                <a:latin typeface="微軟正黑體" pitchFamily="34" charset="-120"/>
                <a:ea typeface="微軟正黑體" pitchFamily="34" charset="-120"/>
              </a:rPr>
              <a:t>2.9</a:t>
            </a:r>
            <a:r>
              <a:rPr kumimoji="1" lang="zh-TW" altLang="en-US" sz="1200" dirty="0">
                <a:latin typeface="微軟正黑體" pitchFamily="34" charset="-120"/>
                <a:ea typeface="微軟正黑體" pitchFamily="34" charset="-120"/>
              </a:rPr>
              <a:t>億美元，惟公司鑒於未來飛彈產量擴大和新長約的有利付款條件，仍重申</a:t>
            </a:r>
            <a:r>
              <a:rPr kumimoji="1" lang="en-US" altLang="zh-TW" sz="1200" dirty="0">
                <a:latin typeface="微軟正黑體" pitchFamily="34" charset="-120"/>
                <a:ea typeface="微軟正黑體" pitchFamily="34" charset="-120"/>
              </a:rPr>
              <a:t>FY26</a:t>
            </a:r>
            <a:r>
              <a:rPr kumimoji="1" lang="zh-TW" altLang="en-US" sz="1200" dirty="0">
                <a:latin typeface="微軟正黑體" pitchFamily="34" charset="-120"/>
                <a:ea typeface="微軟正黑體" pitchFamily="34" charset="-120"/>
              </a:rPr>
              <a:t>自由現金流指引於</a:t>
            </a:r>
            <a:r>
              <a:rPr kumimoji="1" lang="en-US" altLang="zh-TW" sz="1200" dirty="0">
                <a:latin typeface="微軟正黑體" pitchFamily="34" charset="-120"/>
                <a:ea typeface="微軟正黑體" pitchFamily="34" charset="-120"/>
              </a:rPr>
              <a:t>65~68</a:t>
            </a:r>
            <a:r>
              <a:rPr kumimoji="1" lang="zh-TW" altLang="en-US" sz="1200" dirty="0">
                <a:latin typeface="微軟正黑體" pitchFamily="34" charset="-120"/>
                <a:ea typeface="微軟正黑體" pitchFamily="34" charset="-120"/>
              </a:rPr>
              <a:t>億美元區間。</a:t>
            </a:r>
            <a:endParaRPr kumimoji="1" lang="en-US" altLang="zh-TW" sz="1200" dirty="0">
              <a:latin typeface="微軟正黑體" pitchFamily="34" charset="-120"/>
              <a:ea typeface="微軟正黑體" pitchFamily="34" charset="-120"/>
            </a:endParaRPr>
          </a:p>
        </p:txBody>
      </p:sp>
      <p:graphicFrame>
        <p:nvGraphicFramePr>
          <p:cNvPr id="23" name="圖表 22"/>
          <p:cNvGraphicFramePr/>
          <p:nvPr>
            <p:extLst>
              <p:ext uri="{D42A27DB-BD31-4B8C-83A1-F6EECF244321}">
                <p14:modId xmlns:p14="http://schemas.microsoft.com/office/powerpoint/2010/main" val="1246240613"/>
              </p:ext>
            </p:extLst>
          </p:nvPr>
        </p:nvGraphicFramePr>
        <p:xfrm>
          <a:off x="4722595" y="4372943"/>
          <a:ext cx="2141354" cy="187889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 name="圖表 23"/>
          <p:cNvGraphicFramePr/>
          <p:nvPr>
            <p:extLst>
              <p:ext uri="{D42A27DB-BD31-4B8C-83A1-F6EECF244321}">
                <p14:modId xmlns:p14="http://schemas.microsoft.com/office/powerpoint/2010/main" val="314218514"/>
              </p:ext>
            </p:extLst>
          </p:nvPr>
        </p:nvGraphicFramePr>
        <p:xfrm>
          <a:off x="6892524" y="4372944"/>
          <a:ext cx="1965726" cy="1816190"/>
        </p:xfrm>
        <a:graphic>
          <a:graphicData uri="http://schemas.openxmlformats.org/drawingml/2006/chart">
            <c:chart xmlns:c="http://schemas.openxmlformats.org/drawingml/2006/chart" xmlns:r="http://schemas.openxmlformats.org/officeDocument/2006/relationships" r:id="rId5"/>
          </a:graphicData>
        </a:graphic>
      </p:graphicFrame>
      <p:pic>
        <p:nvPicPr>
          <p:cNvPr id="19" name="Picture 2">
            <a:extLst>
              <a:ext uri="{FF2B5EF4-FFF2-40B4-BE49-F238E27FC236}">
                <a16:creationId xmlns:a16="http://schemas.microsoft.com/office/drawing/2014/main" id="{38B6A5E7-B8BE-420B-F011-02A179FADDD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70736" y="277241"/>
            <a:ext cx="1746188" cy="28800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259011" y="2132856"/>
            <a:ext cx="4162028" cy="2253246"/>
          </a:xfrm>
          <a:prstGeom prst="rect">
            <a:avLst/>
          </a:prstGeom>
        </p:spPr>
        <p:txBody>
          <a:bodyPr wrap="square">
            <a:spAutoFit/>
          </a:bodyPr>
          <a:lstStyle/>
          <a:p>
            <a:pPr algn="just">
              <a:lnSpc>
                <a:spcPts val="1600"/>
              </a:lnSpc>
              <a:spcBef>
                <a:spcPts val="300"/>
              </a:spcBef>
            </a:pPr>
            <a:r>
              <a:rPr kumimoji="1" lang="en-US" altLang="zh-TW" sz="1200" b="1" dirty="0">
                <a:solidFill>
                  <a:srgbClr val="FF0000"/>
                </a:solidFill>
                <a:latin typeface="微軟正黑體" panose="020B0604030504040204" pitchFamily="34" charset="-120"/>
                <a:ea typeface="微軟正黑體" panose="020B0604030504040204" pitchFamily="34" charset="-120"/>
              </a:rPr>
              <a:t>2025</a:t>
            </a:r>
            <a:r>
              <a:rPr kumimoji="1" lang="zh-TW" altLang="en-US" sz="1200" b="1" dirty="0">
                <a:solidFill>
                  <a:srgbClr val="FF0000"/>
                </a:solidFill>
                <a:latin typeface="微軟正黑體" panose="020B0604030504040204" pitchFamily="34" charset="-120"/>
                <a:ea typeface="微軟正黑體" panose="020B0604030504040204" pitchFamily="34" charset="-120"/>
              </a:rPr>
              <a:t>年營收年增</a:t>
            </a:r>
            <a:r>
              <a:rPr kumimoji="1" lang="en-US" altLang="zh-TW" sz="1200" b="1" dirty="0">
                <a:solidFill>
                  <a:srgbClr val="FF0000"/>
                </a:solidFill>
                <a:latin typeface="微軟正黑體" panose="020B0604030504040204" pitchFamily="34" charset="-120"/>
                <a:ea typeface="微軟正黑體" panose="020B0604030504040204" pitchFamily="34" charset="-120"/>
              </a:rPr>
              <a:t>6%</a:t>
            </a:r>
            <a:r>
              <a:rPr kumimoji="1" lang="zh-TW" altLang="en-US" sz="1200" b="1" dirty="0">
                <a:solidFill>
                  <a:srgbClr val="FF0000"/>
                </a:solidFill>
                <a:latin typeface="微軟正黑體" panose="020B0604030504040204" pitchFamily="34" charset="-120"/>
                <a:ea typeface="微軟正黑體" panose="020B0604030504040204" pitchFamily="34" charset="-120"/>
              </a:rPr>
              <a:t>至</a:t>
            </a:r>
            <a:r>
              <a:rPr kumimoji="1" lang="en-US" altLang="zh-TW" sz="1200" b="1" dirty="0">
                <a:solidFill>
                  <a:srgbClr val="FF0000"/>
                </a:solidFill>
                <a:latin typeface="微軟正黑體" panose="020B0604030504040204" pitchFamily="34" charset="-120"/>
                <a:ea typeface="微軟正黑體" panose="020B0604030504040204" pitchFamily="34" charset="-120"/>
              </a:rPr>
              <a:t>750</a:t>
            </a:r>
            <a:r>
              <a:rPr kumimoji="1" lang="zh-TW" altLang="en-US" sz="1200" b="1" dirty="0">
                <a:solidFill>
                  <a:srgbClr val="FF0000"/>
                </a:solidFill>
                <a:latin typeface="微軟正黑體" panose="020B0604030504040204" pitchFamily="34" charset="-120"/>
                <a:ea typeface="微軟正黑體" panose="020B0604030504040204" pitchFamily="34" charset="-120"/>
              </a:rPr>
              <a:t>億美元</a:t>
            </a:r>
            <a:r>
              <a:rPr kumimoji="1" lang="zh-TW" altLang="en-US" sz="1200" dirty="0">
                <a:latin typeface="微軟正黑體" panose="020B0604030504040204" pitchFamily="34" charset="-120"/>
                <a:ea typeface="微軟正黑體" panose="020B0604030504040204" pitchFamily="34" charset="-120"/>
              </a:rPr>
              <a:t>，四大部門收入均成長，其中表現最為亮眼的為</a:t>
            </a:r>
            <a:r>
              <a:rPr kumimoji="1" lang="en-US" altLang="zh-TW" sz="1200" dirty="0">
                <a:latin typeface="微軟正黑體" panose="020B0604030504040204" pitchFamily="34" charset="-120"/>
                <a:ea typeface="微軟正黑體" panose="020B0604030504040204" pitchFamily="34" charset="-120"/>
              </a:rPr>
              <a:t>1)F-35</a:t>
            </a:r>
            <a:r>
              <a:rPr kumimoji="1" lang="zh-TW" altLang="en-US" sz="1200" dirty="0">
                <a:latin typeface="微軟正黑體" panose="020B0604030504040204" pitchFamily="34" charset="-120"/>
                <a:ea typeface="微軟正黑體" panose="020B0604030504040204" pitchFamily="34" charset="-120"/>
              </a:rPr>
              <a:t>的銷售成長使航空部門收入年增</a:t>
            </a:r>
            <a:r>
              <a:rPr kumimoji="1" lang="en-US" altLang="zh-TW" sz="1200" dirty="0">
                <a:latin typeface="微軟正黑體" panose="020B0604030504040204" pitchFamily="34" charset="-120"/>
                <a:ea typeface="微軟正黑體" panose="020B0604030504040204" pitchFamily="34" charset="-120"/>
              </a:rPr>
              <a:t>6%</a:t>
            </a:r>
            <a:r>
              <a:rPr kumimoji="1" lang="zh-TW" altLang="en-US" sz="1200" dirty="0">
                <a:latin typeface="微軟正黑體" panose="020B0604030504040204" pitchFamily="34" charset="-120"/>
                <a:ea typeface="微軟正黑體" panose="020B0604030504040204" pitchFamily="34" charset="-120"/>
              </a:rPr>
              <a:t>；以及</a:t>
            </a:r>
            <a:r>
              <a:rPr kumimoji="1" lang="en-US" altLang="zh-TW" sz="1200" dirty="0">
                <a:latin typeface="微軟正黑體" panose="020B0604030504040204" pitchFamily="34" charset="-120"/>
                <a:ea typeface="微軟正黑體" panose="020B0604030504040204" pitchFamily="34" charset="-120"/>
              </a:rPr>
              <a:t>2)</a:t>
            </a:r>
            <a:r>
              <a:rPr kumimoji="1" lang="zh-TW" altLang="en-US" sz="1200" dirty="0">
                <a:latin typeface="微軟正黑體" panose="020B0604030504040204" pitchFamily="34" charset="-120"/>
                <a:ea typeface="微軟正黑體" panose="020B0604030504040204" pitchFamily="34" charset="-120"/>
              </a:rPr>
              <a:t>戰術及打擊飛彈</a:t>
            </a:r>
            <a:r>
              <a:rPr kumimoji="1" lang="en-US" altLang="zh-TW" sz="1200" dirty="0">
                <a:latin typeface="微軟正黑體" panose="020B0604030504040204" pitchFamily="34" charset="-120"/>
                <a:ea typeface="微軟正黑體" panose="020B0604030504040204" pitchFamily="34" charset="-120"/>
              </a:rPr>
              <a:t>(</a:t>
            </a:r>
            <a:r>
              <a:rPr kumimoji="1" lang="zh-TW" altLang="en-US" sz="1200" dirty="0">
                <a:latin typeface="微軟正黑體" panose="020B0604030504040204" pitchFamily="34" charset="-120"/>
                <a:ea typeface="微軟正黑體" panose="020B0604030504040204" pitchFamily="34" charset="-120"/>
              </a:rPr>
              <a:t>如聯合空對面遠攻飛彈</a:t>
            </a:r>
            <a:r>
              <a:rPr kumimoji="1" lang="en-US" altLang="zh-TW" sz="1200" dirty="0">
                <a:latin typeface="微軟正黑體" panose="020B0604030504040204" pitchFamily="34" charset="-120"/>
                <a:ea typeface="微軟正黑體" panose="020B0604030504040204" pitchFamily="34" charset="-120"/>
              </a:rPr>
              <a:t>)</a:t>
            </a:r>
            <a:r>
              <a:rPr kumimoji="1" lang="zh-TW" altLang="en-US" sz="1200" dirty="0">
                <a:latin typeface="微軟正黑體" panose="020B0604030504040204" pitchFamily="34" charset="-120"/>
                <a:ea typeface="微軟正黑體" panose="020B0604030504040204" pitchFamily="34" charset="-120"/>
              </a:rPr>
              <a:t>以及綜合防空和飛彈防禦計畫</a:t>
            </a:r>
            <a:r>
              <a:rPr kumimoji="1" lang="en-US" altLang="zh-TW" sz="1200" dirty="0">
                <a:latin typeface="微軟正黑體" panose="020B0604030504040204" pitchFamily="34" charset="-120"/>
                <a:ea typeface="微軟正黑體" panose="020B0604030504040204" pitchFamily="34" charset="-120"/>
              </a:rPr>
              <a:t>(</a:t>
            </a:r>
            <a:r>
              <a:rPr kumimoji="1" lang="zh-TW" altLang="en-US" sz="1200" dirty="0">
                <a:latin typeface="微軟正黑體" panose="020B0604030504040204" pitchFamily="34" charset="-120"/>
                <a:ea typeface="微軟正黑體" panose="020B0604030504040204" pitchFamily="34" charset="-120"/>
              </a:rPr>
              <a:t>如愛國者三型</a:t>
            </a:r>
            <a:r>
              <a:rPr kumimoji="1" lang="en-US" altLang="zh-TW" sz="1200" dirty="0">
                <a:latin typeface="微軟正黑體" panose="020B0604030504040204" pitchFamily="34" charset="-120"/>
                <a:ea typeface="微軟正黑體" panose="020B0604030504040204" pitchFamily="34" charset="-120"/>
              </a:rPr>
              <a:t>)</a:t>
            </a:r>
            <a:r>
              <a:rPr kumimoji="1" lang="zh-TW" altLang="en-US" sz="1200" dirty="0">
                <a:latin typeface="微軟正黑體" panose="020B0604030504040204" pitchFamily="34" charset="-120"/>
                <a:ea typeface="微軟正黑體" panose="020B0604030504040204" pitchFamily="34" charset="-120"/>
              </a:rPr>
              <a:t>等產量增加，使飛彈與火控部門收入年增</a:t>
            </a:r>
            <a:r>
              <a:rPr kumimoji="1" lang="en-US" altLang="zh-TW" sz="1200" dirty="0">
                <a:latin typeface="微軟正黑體" panose="020B0604030504040204" pitchFamily="34" charset="-120"/>
                <a:ea typeface="微軟正黑體" panose="020B0604030504040204" pitchFamily="34" charset="-120"/>
              </a:rPr>
              <a:t>14%</a:t>
            </a:r>
            <a:r>
              <a:rPr kumimoji="1" lang="zh-TW" altLang="en-US" sz="1200" dirty="0">
                <a:latin typeface="微軟正黑體" panose="020B0604030504040204" pitchFamily="34" charset="-120"/>
                <a:ea typeface="微軟正黑體" panose="020B0604030504040204" pitchFamily="34" charset="-120"/>
              </a:rPr>
              <a:t>。</a:t>
            </a:r>
            <a:endParaRPr kumimoji="1" lang="en-US" altLang="zh-TW" sz="1200" dirty="0">
              <a:latin typeface="微軟正黑體" panose="020B0604030504040204" pitchFamily="34" charset="-120"/>
              <a:ea typeface="微軟正黑體" panose="020B0604030504040204" pitchFamily="34" charset="-120"/>
            </a:endParaRPr>
          </a:p>
          <a:p>
            <a:pPr algn="just">
              <a:lnSpc>
                <a:spcPts val="1600"/>
              </a:lnSpc>
              <a:spcBef>
                <a:spcPts val="300"/>
              </a:spcBef>
            </a:pPr>
            <a:r>
              <a:rPr kumimoji="1" lang="zh-TW" altLang="en-US" sz="1200" b="1" dirty="0">
                <a:solidFill>
                  <a:srgbClr val="FF0000"/>
                </a:solidFill>
                <a:latin typeface="微軟正黑體" panose="020B0604030504040204" pitchFamily="34" charset="-120"/>
                <a:ea typeface="微軟正黑體" panose="020B0604030504040204" pitchFamily="34" charset="-120"/>
              </a:rPr>
              <a:t>淨利年減</a:t>
            </a:r>
            <a:r>
              <a:rPr kumimoji="1" lang="en-US" altLang="zh-TW" sz="1200" b="1" dirty="0">
                <a:solidFill>
                  <a:srgbClr val="FF0000"/>
                </a:solidFill>
                <a:latin typeface="微軟正黑體" panose="020B0604030504040204" pitchFamily="34" charset="-120"/>
                <a:ea typeface="微軟正黑體" panose="020B0604030504040204" pitchFamily="34" charset="-120"/>
              </a:rPr>
              <a:t>6%</a:t>
            </a:r>
            <a:r>
              <a:rPr kumimoji="1" lang="zh-TW" altLang="en-US" sz="1200" b="1" dirty="0">
                <a:solidFill>
                  <a:srgbClr val="FF0000"/>
                </a:solidFill>
                <a:latin typeface="微軟正黑體" panose="020B0604030504040204" pitchFamily="34" charset="-120"/>
                <a:ea typeface="微軟正黑體" panose="020B0604030504040204" pitchFamily="34" charset="-120"/>
              </a:rPr>
              <a:t>至</a:t>
            </a:r>
            <a:r>
              <a:rPr kumimoji="1" lang="en-US" altLang="zh-TW" sz="1200" b="1" dirty="0">
                <a:solidFill>
                  <a:srgbClr val="FF0000"/>
                </a:solidFill>
                <a:latin typeface="微軟正黑體" panose="020B0604030504040204" pitchFamily="34" charset="-120"/>
                <a:ea typeface="微軟正黑體" panose="020B0604030504040204" pitchFamily="34" charset="-120"/>
              </a:rPr>
              <a:t>50</a:t>
            </a:r>
            <a:r>
              <a:rPr kumimoji="1" lang="zh-TW" altLang="en-US" sz="1200" b="1" dirty="0">
                <a:solidFill>
                  <a:srgbClr val="FF0000"/>
                </a:solidFill>
                <a:latin typeface="微軟正黑體" panose="020B0604030504040204" pitchFamily="34" charset="-120"/>
                <a:ea typeface="微軟正黑體" panose="020B0604030504040204" pitchFamily="34" charset="-120"/>
              </a:rPr>
              <a:t>億美元</a:t>
            </a:r>
            <a:r>
              <a:rPr kumimoji="1" lang="zh-TW" altLang="en-US" sz="1200" dirty="0">
                <a:latin typeface="微軟正黑體" panose="020B0604030504040204" pitchFamily="34" charset="-120"/>
                <a:ea typeface="微軟正黑體" panose="020B0604030504040204" pitchFamily="34" charset="-120"/>
              </a:rPr>
              <a:t>，主要反映執行「養老金義務轉移」計畫，一次性認列相關費用</a:t>
            </a:r>
            <a:r>
              <a:rPr kumimoji="1" lang="en-US" altLang="zh-TW" sz="1200" dirty="0">
                <a:latin typeface="微軟正黑體" panose="020B0604030504040204" pitchFamily="34" charset="-120"/>
                <a:ea typeface="微軟正黑體" panose="020B0604030504040204" pitchFamily="34" charset="-120"/>
              </a:rPr>
              <a:t>4.79</a:t>
            </a:r>
            <a:r>
              <a:rPr kumimoji="1" lang="zh-TW" altLang="en-US" sz="1200" dirty="0">
                <a:latin typeface="微軟正黑體" panose="020B0604030504040204" pitchFamily="34" charset="-120"/>
                <a:ea typeface="微軟正黑體" panose="020B0604030504040204" pitchFamily="34" charset="-120"/>
              </a:rPr>
              <a:t>億美元。</a:t>
            </a:r>
            <a:endParaRPr kumimoji="1" lang="en-US" altLang="zh-TW" sz="1200" dirty="0">
              <a:latin typeface="微軟正黑體" panose="020B0604030504040204" pitchFamily="34" charset="-120"/>
              <a:ea typeface="微軟正黑體" panose="020B0604030504040204" pitchFamily="34" charset="-120"/>
            </a:endParaRPr>
          </a:p>
          <a:p>
            <a:pPr algn="just">
              <a:lnSpc>
                <a:spcPts val="1600"/>
              </a:lnSpc>
              <a:spcBef>
                <a:spcPts val="300"/>
              </a:spcBef>
            </a:pPr>
            <a:r>
              <a:rPr kumimoji="1" lang="zh-TW" altLang="en-US" sz="1200" dirty="0">
                <a:latin typeface="微軟正黑體" panose="020B0604030504040204" pitchFamily="34" charset="-120"/>
                <a:ea typeface="微軟正黑體" panose="020B0604030504040204" pitchFamily="34" charset="-120"/>
              </a:rPr>
              <a:t>積壓訂單年增</a:t>
            </a:r>
            <a:r>
              <a:rPr kumimoji="1" lang="en-US" altLang="zh-TW" sz="1200" dirty="0">
                <a:latin typeface="微軟正黑體" panose="020B0604030504040204" pitchFamily="34" charset="-120"/>
                <a:ea typeface="微軟正黑體" panose="020B0604030504040204" pitchFamily="34" charset="-120"/>
              </a:rPr>
              <a:t>10%</a:t>
            </a:r>
            <a:r>
              <a:rPr kumimoji="1" lang="zh-TW" altLang="en-US" sz="1200" dirty="0">
                <a:latin typeface="微軟正黑體" panose="020B0604030504040204" pitchFamily="34" charset="-120"/>
                <a:ea typeface="微軟正黑體" panose="020B0604030504040204" pitchFamily="34" charset="-120"/>
              </a:rPr>
              <a:t>至創紀錄的</a:t>
            </a:r>
            <a:r>
              <a:rPr kumimoji="1" lang="en-US" altLang="zh-TW" sz="1200" dirty="0">
                <a:latin typeface="微軟正黑體" panose="020B0604030504040204" pitchFamily="34" charset="-120"/>
                <a:ea typeface="微軟正黑體" panose="020B0604030504040204" pitchFamily="34" charset="-120"/>
              </a:rPr>
              <a:t>1,936</a:t>
            </a:r>
            <a:r>
              <a:rPr kumimoji="1" lang="zh-TW" altLang="en-US" sz="1200" dirty="0">
                <a:latin typeface="微軟正黑體" panose="020B0604030504040204" pitchFamily="34" charset="-120"/>
                <a:ea typeface="微軟正黑體" panose="020B0604030504040204" pitchFamily="34" charset="-120"/>
              </a:rPr>
              <a:t>億美元，展望</a:t>
            </a:r>
            <a:r>
              <a:rPr kumimoji="1" lang="en-US" altLang="zh-TW" sz="1200" dirty="0">
                <a:latin typeface="微軟正黑體" panose="020B0604030504040204" pitchFamily="34" charset="-120"/>
                <a:ea typeface="微軟正黑體" panose="020B0604030504040204" pitchFamily="34" charset="-120"/>
              </a:rPr>
              <a:t>2026</a:t>
            </a:r>
            <a:r>
              <a:rPr kumimoji="1" lang="zh-TW" altLang="en-US" sz="1200" dirty="0">
                <a:latin typeface="微軟正黑體" panose="020B0604030504040204" pitchFamily="34" charset="-120"/>
                <a:ea typeface="微軟正黑體" panose="020B0604030504040204" pitchFamily="34" charset="-120"/>
              </a:rPr>
              <a:t>年，公司預期營收將成長</a:t>
            </a:r>
            <a:r>
              <a:rPr kumimoji="1" lang="en-US" altLang="zh-TW" sz="1200" dirty="0">
                <a:latin typeface="微軟正黑體" panose="020B0604030504040204" pitchFamily="34" charset="-120"/>
                <a:ea typeface="微軟正黑體" panose="020B0604030504040204" pitchFamily="34" charset="-120"/>
              </a:rPr>
              <a:t>5%</a:t>
            </a:r>
            <a:r>
              <a:rPr kumimoji="1" lang="zh-TW" altLang="en-US" sz="1200" dirty="0">
                <a:latin typeface="微軟正黑體" panose="020B0604030504040204" pitchFamily="34" charset="-120"/>
                <a:ea typeface="微軟正黑體" panose="020B0604030504040204" pitchFamily="34" charset="-120"/>
              </a:rPr>
              <a:t>，營業利潤成長</a:t>
            </a:r>
            <a:r>
              <a:rPr kumimoji="1" lang="en-US" altLang="zh-TW" sz="1200" dirty="0">
                <a:latin typeface="微軟正黑體" panose="020B0604030504040204" pitchFamily="34" charset="-120"/>
                <a:ea typeface="微軟正黑體" panose="020B0604030504040204" pitchFamily="34" charset="-120"/>
              </a:rPr>
              <a:t>25%</a:t>
            </a:r>
            <a:r>
              <a:rPr kumimoji="1" lang="zh-TW" altLang="en-US" sz="1200" dirty="0">
                <a:latin typeface="微軟正黑體" panose="020B0604030504040204" pitchFamily="34" charset="-120"/>
                <a:ea typeface="微軟正黑體" panose="020B0604030504040204" pitchFamily="34" charset="-120"/>
              </a:rPr>
              <a:t>。</a:t>
            </a:r>
            <a:endParaRPr kumimoji="1" lang="en-US" altLang="zh-TW" sz="1200" dirty="0">
              <a:latin typeface="微軟正黑體" panose="020B0604030504040204" pitchFamily="34" charset="-120"/>
              <a:ea typeface="微軟正黑體" panose="020B0604030504040204" pitchFamily="34" charset="-120"/>
            </a:endParaRPr>
          </a:p>
          <a:p>
            <a:pPr algn="just">
              <a:lnSpc>
                <a:spcPts val="1700"/>
              </a:lnSpc>
              <a:spcBef>
                <a:spcPts val="300"/>
              </a:spcBef>
            </a:pPr>
            <a:endParaRPr kumimoji="1" lang="en-US" altLang="zh-TW" sz="1200" dirty="0">
              <a:latin typeface="微軟正黑體" panose="020B0604030504040204" pitchFamily="34" charset="-120"/>
              <a:ea typeface="微軟正黑體" panose="020B0604030504040204" pitchFamily="34" charset="-120"/>
            </a:endParaRPr>
          </a:p>
        </p:txBody>
      </p:sp>
      <p:sp>
        <p:nvSpPr>
          <p:cNvPr id="7" name="文字方塊 6"/>
          <p:cNvSpPr txBox="1"/>
          <p:nvPr/>
        </p:nvSpPr>
        <p:spPr>
          <a:xfrm>
            <a:off x="7100178" y="4513774"/>
            <a:ext cx="1504270" cy="477054"/>
          </a:xfrm>
          <a:prstGeom prst="rect">
            <a:avLst/>
          </a:prstGeom>
          <a:noFill/>
        </p:spPr>
        <p:txBody>
          <a:bodyPr wrap="square" rtlCol="0">
            <a:spAutoFit/>
          </a:bodyPr>
          <a:lstStyle/>
          <a:p>
            <a:pPr algn="ctr">
              <a:lnSpc>
                <a:spcPts val="1500"/>
              </a:lnSpc>
              <a:defRPr sz="1200" b="1" i="0" u="none" strike="noStrike" kern="1200" baseline="0">
                <a:solidFill>
                  <a:srgbClr val="000000"/>
                </a:solidFill>
                <a:latin typeface="+mn-lt"/>
                <a:ea typeface="+mn-ea"/>
                <a:cs typeface="+mn-cs"/>
              </a:defRPr>
            </a:pPr>
            <a:r>
              <a:rPr lang="zh-TW" altLang="en-US" dirty="0"/>
              <a:t>普通股可分配淨利</a:t>
            </a:r>
            <a:r>
              <a:rPr lang="en-US" altLang="zh-TW" dirty="0"/>
              <a:t>(</a:t>
            </a:r>
            <a:r>
              <a:rPr lang="zh-TW" altLang="en-US" dirty="0"/>
              <a:t>百萬 </a:t>
            </a:r>
            <a:r>
              <a:rPr lang="en-US" altLang="zh-TW" dirty="0"/>
              <a:t>USD)</a:t>
            </a:r>
          </a:p>
        </p:txBody>
      </p:sp>
      <p:graphicFrame>
        <p:nvGraphicFramePr>
          <p:cNvPr id="17" name="表格 16"/>
          <p:cNvGraphicFramePr>
            <a:graphicFrameLocks noGrp="1"/>
          </p:cNvGraphicFramePr>
          <p:nvPr>
            <p:extLst>
              <p:ext uri="{D42A27DB-BD31-4B8C-83A1-F6EECF244321}">
                <p14:modId xmlns:p14="http://schemas.microsoft.com/office/powerpoint/2010/main" val="1187020616"/>
              </p:ext>
            </p:extLst>
          </p:nvPr>
        </p:nvGraphicFramePr>
        <p:xfrm>
          <a:off x="332270" y="1228949"/>
          <a:ext cx="4088769" cy="868977"/>
        </p:xfrm>
        <a:graphic>
          <a:graphicData uri="http://schemas.openxmlformats.org/drawingml/2006/table">
            <a:tbl>
              <a:tblPr/>
              <a:tblGrid>
                <a:gridCol w="556385">
                  <a:extLst>
                    <a:ext uri="{9D8B030D-6E8A-4147-A177-3AD203B41FA5}">
                      <a16:colId xmlns:a16="http://schemas.microsoft.com/office/drawing/2014/main" val="20000"/>
                    </a:ext>
                  </a:extLst>
                </a:gridCol>
                <a:gridCol w="544835">
                  <a:extLst>
                    <a:ext uri="{9D8B030D-6E8A-4147-A177-3AD203B41FA5}">
                      <a16:colId xmlns:a16="http://schemas.microsoft.com/office/drawing/2014/main" val="20001"/>
                    </a:ext>
                  </a:extLst>
                </a:gridCol>
                <a:gridCol w="461377">
                  <a:extLst>
                    <a:ext uri="{9D8B030D-6E8A-4147-A177-3AD203B41FA5}">
                      <a16:colId xmlns:a16="http://schemas.microsoft.com/office/drawing/2014/main" val="20002"/>
                    </a:ext>
                  </a:extLst>
                </a:gridCol>
                <a:gridCol w="140857">
                  <a:extLst>
                    <a:ext uri="{9D8B030D-6E8A-4147-A177-3AD203B41FA5}">
                      <a16:colId xmlns:a16="http://schemas.microsoft.com/office/drawing/2014/main" val="20003"/>
                    </a:ext>
                  </a:extLst>
                </a:gridCol>
                <a:gridCol w="596882">
                  <a:extLst>
                    <a:ext uri="{9D8B030D-6E8A-4147-A177-3AD203B41FA5}">
                      <a16:colId xmlns:a16="http://schemas.microsoft.com/office/drawing/2014/main" val="20004"/>
                    </a:ext>
                  </a:extLst>
                </a:gridCol>
                <a:gridCol w="463067">
                  <a:extLst>
                    <a:ext uri="{9D8B030D-6E8A-4147-A177-3AD203B41FA5}">
                      <a16:colId xmlns:a16="http://schemas.microsoft.com/office/drawing/2014/main" val="20005"/>
                    </a:ext>
                  </a:extLst>
                </a:gridCol>
                <a:gridCol w="140857">
                  <a:extLst>
                    <a:ext uri="{9D8B030D-6E8A-4147-A177-3AD203B41FA5}">
                      <a16:colId xmlns:a16="http://schemas.microsoft.com/office/drawing/2014/main" val="20006"/>
                    </a:ext>
                  </a:extLst>
                </a:gridCol>
                <a:gridCol w="544835">
                  <a:extLst>
                    <a:ext uri="{9D8B030D-6E8A-4147-A177-3AD203B41FA5}">
                      <a16:colId xmlns:a16="http://schemas.microsoft.com/office/drawing/2014/main" val="20007"/>
                    </a:ext>
                  </a:extLst>
                </a:gridCol>
                <a:gridCol w="44450">
                  <a:extLst>
                    <a:ext uri="{9D8B030D-6E8A-4147-A177-3AD203B41FA5}">
                      <a16:colId xmlns:a16="http://schemas.microsoft.com/office/drawing/2014/main" val="20008"/>
                    </a:ext>
                  </a:extLst>
                </a:gridCol>
                <a:gridCol w="595224">
                  <a:extLst>
                    <a:ext uri="{9D8B030D-6E8A-4147-A177-3AD203B41FA5}">
                      <a16:colId xmlns:a16="http://schemas.microsoft.com/office/drawing/2014/main" val="20009"/>
                    </a:ext>
                  </a:extLst>
                </a:gridCol>
              </a:tblGrid>
              <a:tr h="313617">
                <a:tc>
                  <a:txBody>
                    <a:bodyPr/>
                    <a:lstStyle/>
                    <a:p>
                      <a:pPr algn="ctr" fontAlgn="ctr"/>
                      <a:r>
                        <a:rPr lang="zh-TW" altLang="en-US" sz="900" b="1" i="0" u="none" strike="noStrike" dirty="0">
                          <a:solidFill>
                            <a:srgbClr val="000000"/>
                          </a:solidFill>
                          <a:effectLst/>
                          <a:latin typeface="微軟正黑體"/>
                        </a:rPr>
                        <a:t>年度</a:t>
                      </a:r>
                      <a:endParaRPr lang="en-US" altLang="zh-TW" sz="900" b="1" i="0" u="none" strike="noStrike" dirty="0">
                        <a:solidFill>
                          <a:srgbClr val="000000"/>
                        </a:solidFill>
                        <a:effectLst/>
                        <a:latin typeface="微軟正黑體"/>
                      </a:endParaRPr>
                    </a:p>
                    <a:p>
                      <a:pPr algn="ctr" fontAlgn="ctr"/>
                      <a:r>
                        <a:rPr lang="en-US" altLang="zh-TW" sz="900" b="1" i="0" u="none" strike="noStrike" dirty="0">
                          <a:solidFill>
                            <a:srgbClr val="000000"/>
                          </a:solidFill>
                          <a:effectLst/>
                          <a:latin typeface="微軟正黑體"/>
                        </a:rPr>
                        <a:t>(</a:t>
                      </a:r>
                      <a:r>
                        <a:rPr lang="zh-TW" altLang="en-US" sz="900" b="1" i="0" u="none" strike="noStrike" dirty="0">
                          <a:solidFill>
                            <a:srgbClr val="000000"/>
                          </a:solidFill>
                          <a:effectLst/>
                          <a:latin typeface="微軟正黑體"/>
                        </a:rPr>
                        <a:t>百萬美元</a:t>
                      </a:r>
                      <a:r>
                        <a:rPr lang="en-US" altLang="zh-TW" sz="900" b="1" i="0" u="none" strike="noStrike" dirty="0">
                          <a:solidFill>
                            <a:srgbClr val="000000"/>
                          </a:solidFill>
                          <a:effectLst/>
                          <a:latin typeface="微軟正黑體"/>
                        </a:rPr>
                        <a:t>)</a:t>
                      </a:r>
                    </a:p>
                  </a:txBody>
                  <a:tcPr marL="0" marR="0" marT="0" marB="0" anchor="ctr">
                    <a:lnL>
                      <a:noFill/>
                    </a:lnL>
                    <a:lnR>
                      <a:noFill/>
                    </a:lnR>
                    <a:lnT>
                      <a:noFill/>
                    </a:lnT>
                    <a:lnB>
                      <a:noFill/>
                    </a:lnB>
                    <a:solidFill>
                      <a:srgbClr val="FFFFFF"/>
                    </a:solidFill>
                  </a:tcPr>
                </a:tc>
                <a:tc>
                  <a:txBody>
                    <a:bodyPr/>
                    <a:lstStyle/>
                    <a:p>
                      <a:pPr algn="r" fontAlgn="ctr"/>
                      <a:r>
                        <a:rPr lang="zh-TW" altLang="en-US" sz="900" b="1" i="0" u="none" strike="noStrike">
                          <a:solidFill>
                            <a:srgbClr val="000000"/>
                          </a:solidFill>
                          <a:effectLst/>
                          <a:latin typeface="微軟正黑體"/>
                        </a:rPr>
                        <a:t>營收</a:t>
                      </a:r>
                    </a:p>
                  </a:txBody>
                  <a:tcPr marL="0" marR="0" marT="0" marB="0" anchor="ctr">
                    <a:lnL>
                      <a:noFill/>
                    </a:lnL>
                    <a:lnR>
                      <a:noFill/>
                    </a:lnR>
                    <a:lnT>
                      <a:noFill/>
                    </a:lnT>
                    <a:lnB>
                      <a:noFill/>
                    </a:lnB>
                    <a:solidFill>
                      <a:srgbClr val="FFFFFF"/>
                    </a:solidFill>
                  </a:tcPr>
                </a:tc>
                <a:tc>
                  <a:txBody>
                    <a:bodyPr/>
                    <a:lstStyle/>
                    <a:p>
                      <a:pPr algn="r" fontAlgn="ctr"/>
                      <a:r>
                        <a:rPr lang="zh-TW" altLang="en-US" sz="900" b="1" i="0" u="none" strike="noStrike" dirty="0">
                          <a:solidFill>
                            <a:srgbClr val="000000"/>
                          </a:solidFill>
                          <a:effectLst/>
                          <a:latin typeface="微軟正黑體"/>
                        </a:rPr>
                        <a:t>　</a:t>
                      </a:r>
                    </a:p>
                  </a:txBody>
                  <a:tcPr marL="0" marR="0" marT="0" marB="0" anchor="ctr">
                    <a:lnL>
                      <a:noFill/>
                    </a:lnL>
                    <a:lnR>
                      <a:noFill/>
                    </a:lnR>
                    <a:lnT>
                      <a:noFill/>
                    </a:lnT>
                    <a:lnB>
                      <a:noFill/>
                    </a:lnB>
                    <a:solidFill>
                      <a:srgbClr val="FFFFFF"/>
                    </a:solidFill>
                  </a:tcPr>
                </a:tc>
                <a:tc>
                  <a:txBody>
                    <a:bodyPr/>
                    <a:lstStyle/>
                    <a:p>
                      <a:pPr algn="r" fontAlgn="ctr"/>
                      <a:r>
                        <a:rPr lang="zh-TW" altLang="en-US" sz="900" b="1" i="0" u="none" strike="noStrike">
                          <a:solidFill>
                            <a:srgbClr val="000000"/>
                          </a:solidFill>
                          <a:effectLst/>
                          <a:latin typeface="微軟正黑體"/>
                        </a:rPr>
                        <a:t>　</a:t>
                      </a:r>
                    </a:p>
                  </a:txBody>
                  <a:tcPr marL="0" marR="0" marT="0" marB="0" anchor="ctr">
                    <a:lnL>
                      <a:noFill/>
                    </a:lnL>
                    <a:lnR>
                      <a:noFill/>
                    </a:lnR>
                    <a:lnT>
                      <a:noFill/>
                    </a:lnT>
                    <a:lnB>
                      <a:noFill/>
                    </a:lnB>
                    <a:solidFill>
                      <a:srgbClr val="FFFFFF"/>
                    </a:solidFill>
                  </a:tcPr>
                </a:tc>
                <a:tc>
                  <a:txBody>
                    <a:bodyPr/>
                    <a:lstStyle/>
                    <a:p>
                      <a:pPr algn="r" fontAlgn="ctr"/>
                      <a:r>
                        <a:rPr lang="zh-TW" altLang="en-US" sz="900" b="1" i="0" u="none" strike="noStrike" dirty="0">
                          <a:solidFill>
                            <a:srgbClr val="000000"/>
                          </a:solidFill>
                          <a:effectLst/>
                          <a:latin typeface="微軟正黑體"/>
                        </a:rPr>
                        <a:t>淨利</a:t>
                      </a:r>
                    </a:p>
                  </a:txBody>
                  <a:tcPr marL="0" marR="0" marT="0" marB="0" anchor="ctr">
                    <a:lnL>
                      <a:noFill/>
                    </a:lnL>
                    <a:lnR>
                      <a:noFill/>
                    </a:lnR>
                    <a:lnT>
                      <a:noFill/>
                    </a:lnT>
                    <a:lnB>
                      <a:noFill/>
                    </a:lnB>
                    <a:solidFill>
                      <a:srgbClr val="FFFFFF"/>
                    </a:solidFill>
                  </a:tcPr>
                </a:tc>
                <a:tc>
                  <a:txBody>
                    <a:bodyPr/>
                    <a:lstStyle/>
                    <a:p>
                      <a:pPr algn="r" fontAlgn="ctr"/>
                      <a:r>
                        <a:rPr lang="zh-TW" altLang="en-US" sz="900" b="1" i="0" u="none" strike="noStrike" dirty="0">
                          <a:solidFill>
                            <a:srgbClr val="000000"/>
                          </a:solidFill>
                          <a:effectLst/>
                          <a:latin typeface="微軟正黑體"/>
                        </a:rPr>
                        <a:t>　</a:t>
                      </a:r>
                    </a:p>
                  </a:txBody>
                  <a:tcPr marL="0" marR="0" marT="0" marB="0" anchor="ctr">
                    <a:lnL>
                      <a:noFill/>
                    </a:lnL>
                    <a:lnR>
                      <a:noFill/>
                    </a:lnR>
                    <a:lnT>
                      <a:noFill/>
                    </a:lnT>
                    <a:lnB>
                      <a:noFill/>
                    </a:lnB>
                    <a:solidFill>
                      <a:srgbClr val="FFFFFF"/>
                    </a:solidFill>
                  </a:tcPr>
                </a:tc>
                <a:tc>
                  <a:txBody>
                    <a:bodyPr/>
                    <a:lstStyle/>
                    <a:p>
                      <a:pPr algn="r" fontAlgn="ctr"/>
                      <a:r>
                        <a:rPr lang="zh-TW" altLang="en-US" sz="900" b="1" i="0" u="none" strike="noStrike">
                          <a:solidFill>
                            <a:srgbClr val="000000"/>
                          </a:solidFill>
                          <a:effectLst/>
                          <a:latin typeface="微軟正黑體"/>
                        </a:rPr>
                        <a:t>　</a:t>
                      </a:r>
                    </a:p>
                  </a:txBody>
                  <a:tcPr marL="0" marR="0" marT="0" marB="0" anchor="ctr">
                    <a:lnL>
                      <a:noFill/>
                    </a:lnL>
                    <a:lnR>
                      <a:noFill/>
                    </a:lnR>
                    <a:lnT>
                      <a:noFill/>
                    </a:lnT>
                    <a:lnB>
                      <a:noFill/>
                    </a:lnB>
                    <a:solidFill>
                      <a:srgbClr val="FFFFFF"/>
                    </a:solidFill>
                  </a:tcPr>
                </a:tc>
                <a:tc>
                  <a:txBody>
                    <a:bodyPr/>
                    <a:lstStyle/>
                    <a:p>
                      <a:pPr algn="ctr" fontAlgn="ctr"/>
                      <a:r>
                        <a:rPr lang="zh-TW" altLang="en-US" sz="900" b="1" i="0" u="none" strike="noStrike" dirty="0">
                          <a:solidFill>
                            <a:srgbClr val="000000"/>
                          </a:solidFill>
                          <a:effectLst/>
                          <a:latin typeface="微軟正黑體"/>
                        </a:rPr>
                        <a:t>資產</a:t>
                      </a:r>
                    </a:p>
                  </a:txBody>
                  <a:tcPr marL="0" marR="0" marT="0" marB="0" anchor="ctr">
                    <a:lnL>
                      <a:noFill/>
                    </a:lnL>
                    <a:lnR>
                      <a:noFill/>
                    </a:lnR>
                    <a:lnT>
                      <a:noFill/>
                    </a:lnT>
                    <a:lnB>
                      <a:noFill/>
                    </a:lnB>
                    <a:solidFill>
                      <a:srgbClr val="FFFFFF"/>
                    </a:solidFill>
                  </a:tcPr>
                </a:tc>
                <a:tc>
                  <a:txBody>
                    <a:bodyPr/>
                    <a:lstStyle/>
                    <a:p>
                      <a:pPr algn="r" fontAlgn="ctr"/>
                      <a:r>
                        <a:rPr lang="zh-TW" altLang="en-US" sz="900" b="1" i="0" u="none" strike="noStrike" dirty="0">
                          <a:solidFill>
                            <a:srgbClr val="000000"/>
                          </a:solidFill>
                          <a:effectLst/>
                          <a:latin typeface="微軟正黑體"/>
                        </a:rPr>
                        <a:t>　</a:t>
                      </a:r>
                    </a:p>
                  </a:txBody>
                  <a:tcPr marL="0" marR="0" marT="0" marB="0" anchor="ctr">
                    <a:lnL>
                      <a:noFill/>
                    </a:lnL>
                    <a:lnR>
                      <a:noFill/>
                    </a:lnR>
                    <a:lnT>
                      <a:noFill/>
                    </a:lnT>
                    <a:lnB>
                      <a:noFill/>
                    </a:lnB>
                    <a:solidFill>
                      <a:srgbClr val="FFFFFF"/>
                    </a:solidFill>
                  </a:tcPr>
                </a:tc>
                <a:tc>
                  <a:txBody>
                    <a:bodyPr/>
                    <a:lstStyle/>
                    <a:p>
                      <a:pPr algn="r" fontAlgn="ctr"/>
                      <a:r>
                        <a:rPr lang="zh-TW" altLang="en-US" sz="900" b="1" i="0" u="none" strike="noStrike" dirty="0">
                          <a:solidFill>
                            <a:srgbClr val="000000"/>
                          </a:solidFill>
                          <a:effectLst/>
                          <a:latin typeface="微軟正黑體"/>
                        </a:rPr>
                        <a:t>總股東權益</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0000"/>
                  </a:ext>
                </a:extLst>
              </a:tr>
              <a:tr h="185120">
                <a:tc>
                  <a:txBody>
                    <a:bodyPr/>
                    <a:lstStyle/>
                    <a:p>
                      <a:pPr algn="l" fontAlgn="ctr"/>
                      <a:r>
                        <a:rPr lang="en-US" sz="1000" b="0" i="0" u="none" strike="noStrike" dirty="0">
                          <a:solidFill>
                            <a:srgbClr val="000000"/>
                          </a:solidFill>
                          <a:effectLst/>
                          <a:latin typeface="微軟正黑體"/>
                        </a:rPr>
                        <a:t>FY2</a:t>
                      </a:r>
                      <a:r>
                        <a:rPr lang="en-US" altLang="zh-TW" sz="1000" b="0" i="0" u="none" strike="noStrike" dirty="0">
                          <a:solidFill>
                            <a:srgbClr val="000000"/>
                          </a:solidFill>
                          <a:effectLst/>
                          <a:latin typeface="微軟正黑體"/>
                        </a:rPr>
                        <a:t>5</a:t>
                      </a:r>
                      <a:endParaRPr lang="en-US" sz="1000" b="0" i="0" u="none" strike="noStrike" dirty="0">
                        <a:solidFill>
                          <a:srgbClr val="000000"/>
                        </a:solidFill>
                        <a:effectLst/>
                        <a:latin typeface="微軟正黑體"/>
                      </a:endParaRPr>
                    </a:p>
                  </a:txBody>
                  <a:tcPr marL="9525" marR="9525" marT="9525" marB="0" anchor="ctr">
                    <a:lnL>
                      <a:noFill/>
                    </a:lnL>
                    <a:lnR>
                      <a:noFill/>
                    </a:lnR>
                    <a:lnT>
                      <a:noFill/>
                    </a:lnT>
                    <a:lnB>
                      <a:noFill/>
                    </a:lnB>
                    <a:solidFill>
                      <a:schemeClr val="bg1"/>
                    </a:solidFill>
                  </a:tcPr>
                </a:tc>
                <a:tc>
                  <a:txBody>
                    <a:bodyPr/>
                    <a:lstStyle/>
                    <a:p>
                      <a:pPr algn="r" fontAlgn="ctr"/>
                      <a:r>
                        <a:rPr lang="en-US" altLang="zh-TW" sz="1000" b="0" i="0" u="none" strike="noStrike" dirty="0">
                          <a:solidFill>
                            <a:srgbClr val="000000"/>
                          </a:solidFill>
                          <a:effectLst/>
                          <a:latin typeface="+mn-ea"/>
                          <a:ea typeface="+mn-ea"/>
                        </a:rPr>
                        <a:t>75,048</a:t>
                      </a:r>
                    </a:p>
                  </a:txBody>
                  <a:tcPr marL="9525" marR="9525" marT="9525" marB="0" anchor="ctr">
                    <a:lnL>
                      <a:noFill/>
                    </a:lnL>
                    <a:lnR>
                      <a:noFill/>
                    </a:lnR>
                    <a:lnT>
                      <a:noFill/>
                    </a:lnT>
                    <a:lnB>
                      <a:noFill/>
                    </a:lnB>
                    <a:solidFill>
                      <a:schemeClr val="bg1"/>
                    </a:solidFill>
                  </a:tcPr>
                </a:tc>
                <a:tc>
                  <a:txBody>
                    <a:bodyPr/>
                    <a:lstStyle/>
                    <a:p>
                      <a:pPr marL="0" algn="r" defTabSz="685800" rtl="0" eaLnBrk="1" fontAlgn="ctr" latinLnBrk="0" hangingPunct="1"/>
                      <a:r>
                        <a:rPr lang="en-US" altLang="zh-TW" sz="1000" b="0" i="0" u="none" strike="noStrike" kern="1200" dirty="0">
                          <a:solidFill>
                            <a:srgbClr val="808080"/>
                          </a:solidFill>
                          <a:effectLst/>
                          <a:latin typeface="+mn-ea"/>
                          <a:ea typeface="+mn-ea"/>
                          <a:cs typeface="+mn-cs"/>
                        </a:rPr>
                        <a:t>5.6%</a:t>
                      </a:r>
                    </a:p>
                  </a:txBody>
                  <a:tcPr marL="9525" marR="9525" marT="9525" marB="0" anchor="ctr">
                    <a:lnL>
                      <a:noFill/>
                    </a:lnL>
                    <a:lnR>
                      <a:noFill/>
                    </a:lnR>
                    <a:lnT>
                      <a:noFill/>
                    </a:lnT>
                    <a:lnB>
                      <a:noFill/>
                    </a:lnB>
                    <a:solidFill>
                      <a:schemeClr val="bg1"/>
                    </a:solidFill>
                  </a:tcPr>
                </a:tc>
                <a:tc>
                  <a:txBody>
                    <a:bodyPr/>
                    <a:lstStyle/>
                    <a:p>
                      <a:pPr algn="l" fontAlgn="ctr"/>
                      <a:endParaRPr lang="zh-TW" altLang="en-US" sz="1000" b="0" i="0" u="none" strike="noStrike" dirty="0">
                        <a:solidFill>
                          <a:srgbClr val="000000"/>
                        </a:solidFill>
                        <a:effectLst/>
                        <a:latin typeface="+mn-ea"/>
                        <a:ea typeface="+mn-ea"/>
                      </a:endParaRPr>
                    </a:p>
                  </a:txBody>
                  <a:tcPr marL="9525" marR="9525" marT="9525" marB="0" anchor="ctr">
                    <a:lnL>
                      <a:noFill/>
                    </a:lnL>
                    <a:lnR>
                      <a:noFill/>
                    </a:lnR>
                    <a:lnT>
                      <a:noFill/>
                    </a:lnT>
                    <a:lnB>
                      <a:noFill/>
                    </a:lnB>
                    <a:solidFill>
                      <a:schemeClr val="bg1"/>
                    </a:solidFill>
                  </a:tcPr>
                </a:tc>
                <a:tc>
                  <a:txBody>
                    <a:bodyPr/>
                    <a:lstStyle/>
                    <a:p>
                      <a:pPr algn="r" fontAlgn="ctr"/>
                      <a:r>
                        <a:rPr lang="en-US" altLang="zh-TW" sz="1000" b="0" i="0" u="none" strike="noStrike" dirty="0">
                          <a:solidFill>
                            <a:srgbClr val="000000"/>
                          </a:solidFill>
                          <a:effectLst/>
                          <a:latin typeface="+mn-ea"/>
                          <a:ea typeface="+mn-ea"/>
                        </a:rPr>
                        <a:t>5,017</a:t>
                      </a:r>
                    </a:p>
                  </a:txBody>
                  <a:tcPr marL="9525" marR="9525" marT="9525" marB="0" anchor="ctr">
                    <a:lnL>
                      <a:noFill/>
                    </a:lnL>
                    <a:lnR>
                      <a:noFill/>
                    </a:lnR>
                    <a:lnT>
                      <a:noFill/>
                    </a:lnT>
                    <a:lnB>
                      <a:noFill/>
                    </a:lnB>
                    <a:solidFill>
                      <a:schemeClr val="bg1"/>
                    </a:solidFill>
                  </a:tcPr>
                </a:tc>
                <a:tc>
                  <a:txBody>
                    <a:bodyPr/>
                    <a:lstStyle/>
                    <a:p>
                      <a:pPr marL="0" algn="r" defTabSz="685800" rtl="0" eaLnBrk="1" fontAlgn="ctr" latinLnBrk="0" hangingPunct="1"/>
                      <a:r>
                        <a:rPr lang="en-US" altLang="zh-TW" sz="1000" b="0" i="0" u="none" strike="noStrike" kern="1200" dirty="0">
                          <a:solidFill>
                            <a:srgbClr val="FF0000"/>
                          </a:solidFill>
                          <a:effectLst/>
                          <a:latin typeface="+mn-ea"/>
                          <a:ea typeface="+mn-ea"/>
                          <a:cs typeface="+mn-cs"/>
                        </a:rPr>
                        <a:t>-6.0%</a:t>
                      </a:r>
                    </a:p>
                  </a:txBody>
                  <a:tcPr marL="9525" marR="9525" marT="9525" marB="0" anchor="ctr">
                    <a:lnL>
                      <a:noFill/>
                    </a:lnL>
                    <a:lnR>
                      <a:noFill/>
                    </a:lnR>
                    <a:lnT>
                      <a:noFill/>
                    </a:lnT>
                    <a:lnB>
                      <a:noFill/>
                    </a:lnB>
                    <a:solidFill>
                      <a:schemeClr val="bg1"/>
                    </a:solidFill>
                  </a:tcPr>
                </a:tc>
                <a:tc>
                  <a:txBody>
                    <a:bodyPr/>
                    <a:lstStyle/>
                    <a:p>
                      <a:pPr algn="l" fontAlgn="ctr"/>
                      <a:endParaRPr lang="zh-TW" altLang="en-US" sz="1000" b="0" i="0" u="none" strike="noStrike" dirty="0">
                        <a:solidFill>
                          <a:srgbClr val="000000"/>
                        </a:solidFill>
                        <a:effectLst/>
                        <a:latin typeface="+mn-ea"/>
                        <a:ea typeface="+mn-ea"/>
                      </a:endParaRPr>
                    </a:p>
                  </a:txBody>
                  <a:tcPr marL="9525" marR="9525" marT="9525" marB="0" anchor="ctr">
                    <a:lnL>
                      <a:noFill/>
                    </a:lnL>
                    <a:lnR>
                      <a:noFill/>
                    </a:lnR>
                    <a:lnT>
                      <a:noFill/>
                    </a:lnT>
                    <a:lnB>
                      <a:noFill/>
                    </a:lnB>
                    <a:solidFill>
                      <a:schemeClr val="bg1"/>
                    </a:solidFill>
                  </a:tcPr>
                </a:tc>
                <a:tc>
                  <a:txBody>
                    <a:bodyPr/>
                    <a:lstStyle/>
                    <a:p>
                      <a:pPr algn="r" fontAlgn="ctr"/>
                      <a:r>
                        <a:rPr lang="en-US" altLang="zh-TW" sz="1000" b="0" i="0" u="none" strike="noStrike" dirty="0">
                          <a:solidFill>
                            <a:srgbClr val="000000"/>
                          </a:solidFill>
                          <a:effectLst/>
                          <a:latin typeface="+mn-ea"/>
                          <a:ea typeface="+mn-ea"/>
                        </a:rPr>
                        <a:t>59,840</a:t>
                      </a:r>
                    </a:p>
                  </a:txBody>
                  <a:tcPr marL="9525" marR="9525" marT="9525" marB="0" anchor="ctr">
                    <a:lnL>
                      <a:noFill/>
                    </a:lnL>
                    <a:lnR>
                      <a:noFill/>
                    </a:lnR>
                    <a:lnT>
                      <a:noFill/>
                    </a:lnT>
                    <a:lnB>
                      <a:noFill/>
                    </a:lnB>
                    <a:solidFill>
                      <a:schemeClr val="bg1"/>
                    </a:solidFill>
                  </a:tcPr>
                </a:tc>
                <a:tc>
                  <a:txBody>
                    <a:bodyPr/>
                    <a:lstStyle/>
                    <a:p>
                      <a:pPr algn="r" fontAlgn="ctr"/>
                      <a:endParaRPr lang="zh-TW" altLang="en-US" sz="1000" b="0" i="0" u="none" strike="noStrike" dirty="0">
                        <a:solidFill>
                          <a:srgbClr val="000000"/>
                        </a:solidFill>
                        <a:effectLst/>
                        <a:latin typeface="+mn-ea"/>
                        <a:ea typeface="+mn-ea"/>
                      </a:endParaRPr>
                    </a:p>
                  </a:txBody>
                  <a:tcPr marL="9525" marR="9525" marT="9525" marB="0" anchor="ctr">
                    <a:lnL>
                      <a:noFill/>
                    </a:lnL>
                    <a:lnR>
                      <a:noFill/>
                    </a:lnR>
                    <a:lnT>
                      <a:noFill/>
                    </a:lnT>
                    <a:lnB>
                      <a:noFill/>
                    </a:lnB>
                    <a:solidFill>
                      <a:schemeClr val="bg1"/>
                    </a:solidFill>
                  </a:tcPr>
                </a:tc>
                <a:tc>
                  <a:txBody>
                    <a:bodyPr/>
                    <a:lstStyle/>
                    <a:p>
                      <a:pPr algn="r" fontAlgn="ctr"/>
                      <a:r>
                        <a:rPr lang="en-US" altLang="zh-TW" sz="1000" b="0" i="0" u="none" strike="noStrike" dirty="0">
                          <a:solidFill>
                            <a:srgbClr val="000000"/>
                          </a:solidFill>
                          <a:effectLst/>
                          <a:latin typeface="+mn-ea"/>
                          <a:ea typeface="+mn-ea"/>
                        </a:rPr>
                        <a:t>6,721</a:t>
                      </a: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2053458583"/>
                  </a:ext>
                </a:extLst>
              </a:tr>
              <a:tr h="185120">
                <a:tc>
                  <a:txBody>
                    <a:bodyPr/>
                    <a:lstStyle/>
                    <a:p>
                      <a:pPr algn="l" fontAlgn="ctr"/>
                      <a:r>
                        <a:rPr lang="en-US" sz="1000" b="0" i="0" u="none" strike="noStrike" dirty="0">
                          <a:solidFill>
                            <a:srgbClr val="000000"/>
                          </a:solidFill>
                          <a:effectLst/>
                          <a:latin typeface="微軟正黑體"/>
                        </a:rPr>
                        <a:t>FY24</a:t>
                      </a:r>
                    </a:p>
                  </a:txBody>
                  <a:tcPr marL="9525" marR="9525" marT="9525" marB="0" anchor="ctr">
                    <a:lnL>
                      <a:noFill/>
                    </a:lnL>
                    <a:lnR>
                      <a:noFill/>
                    </a:lnR>
                    <a:lnT>
                      <a:noFill/>
                    </a:lnT>
                    <a:lnB>
                      <a:noFill/>
                    </a:lnB>
                    <a:solidFill>
                      <a:schemeClr val="bg1">
                        <a:lumMod val="95000"/>
                      </a:schemeClr>
                    </a:solidFill>
                  </a:tcPr>
                </a:tc>
                <a:tc>
                  <a:txBody>
                    <a:bodyPr/>
                    <a:lstStyle/>
                    <a:p>
                      <a:pPr algn="r" fontAlgn="ctr"/>
                      <a:r>
                        <a:rPr lang="en-US" altLang="zh-TW" sz="1000" b="0" i="0" u="none" strike="noStrike" dirty="0">
                          <a:solidFill>
                            <a:srgbClr val="000000"/>
                          </a:solidFill>
                          <a:effectLst/>
                          <a:latin typeface="+mn-ea"/>
                          <a:ea typeface="+mn-ea"/>
                        </a:rPr>
                        <a:t>71,043</a:t>
                      </a:r>
                    </a:p>
                  </a:txBody>
                  <a:tcPr marL="9525" marR="9525" marT="9525" marB="0" anchor="ctr">
                    <a:lnL>
                      <a:noFill/>
                    </a:lnL>
                    <a:lnR>
                      <a:noFill/>
                    </a:lnR>
                    <a:lnT>
                      <a:noFill/>
                    </a:lnT>
                    <a:lnB>
                      <a:noFill/>
                    </a:lnB>
                    <a:solidFill>
                      <a:schemeClr val="bg1">
                        <a:lumMod val="95000"/>
                      </a:schemeClr>
                    </a:solidFill>
                  </a:tcPr>
                </a:tc>
                <a:tc>
                  <a:txBody>
                    <a:bodyPr/>
                    <a:lstStyle/>
                    <a:p>
                      <a:pPr marL="0" algn="r" defTabSz="685800" rtl="0" eaLnBrk="1" fontAlgn="ctr" latinLnBrk="0" hangingPunct="1"/>
                      <a:r>
                        <a:rPr lang="en-US" altLang="zh-TW" sz="1000" b="0" i="0" u="none" strike="noStrike" kern="1200" dirty="0">
                          <a:solidFill>
                            <a:srgbClr val="808080"/>
                          </a:solidFill>
                          <a:effectLst/>
                          <a:latin typeface="+mn-ea"/>
                          <a:ea typeface="+mn-ea"/>
                          <a:cs typeface="+mn-cs"/>
                        </a:rPr>
                        <a:t>5.1%</a:t>
                      </a:r>
                    </a:p>
                  </a:txBody>
                  <a:tcPr marL="9525" marR="9525" marT="9525" marB="0" anchor="ctr">
                    <a:lnL>
                      <a:noFill/>
                    </a:lnL>
                    <a:lnR>
                      <a:noFill/>
                    </a:lnR>
                    <a:lnT>
                      <a:noFill/>
                    </a:lnT>
                    <a:lnB>
                      <a:noFill/>
                    </a:lnB>
                    <a:solidFill>
                      <a:schemeClr val="bg1">
                        <a:lumMod val="95000"/>
                      </a:schemeClr>
                    </a:solidFill>
                  </a:tcPr>
                </a:tc>
                <a:tc>
                  <a:txBody>
                    <a:bodyPr/>
                    <a:lstStyle/>
                    <a:p>
                      <a:pPr algn="l" fontAlgn="ctr"/>
                      <a:endParaRPr lang="zh-TW" altLang="en-US" sz="1000" b="0" i="0" u="none" strike="noStrike" dirty="0">
                        <a:solidFill>
                          <a:srgbClr val="000000"/>
                        </a:solidFill>
                        <a:effectLst/>
                        <a:latin typeface="+mn-ea"/>
                        <a:ea typeface="+mn-ea"/>
                      </a:endParaRPr>
                    </a:p>
                  </a:txBody>
                  <a:tcPr marL="9525" marR="9525" marT="9525" marB="0" anchor="ctr">
                    <a:lnL>
                      <a:noFill/>
                    </a:lnL>
                    <a:lnR>
                      <a:noFill/>
                    </a:lnR>
                    <a:lnT>
                      <a:noFill/>
                    </a:lnT>
                    <a:lnB>
                      <a:noFill/>
                    </a:lnB>
                    <a:solidFill>
                      <a:schemeClr val="bg1">
                        <a:lumMod val="95000"/>
                      </a:schemeClr>
                    </a:solidFill>
                  </a:tcPr>
                </a:tc>
                <a:tc>
                  <a:txBody>
                    <a:bodyPr/>
                    <a:lstStyle/>
                    <a:p>
                      <a:pPr algn="r" fontAlgn="ctr"/>
                      <a:r>
                        <a:rPr lang="en-US" altLang="zh-TW" sz="1000" b="0" i="0" u="none" strike="noStrike" dirty="0">
                          <a:solidFill>
                            <a:srgbClr val="000000"/>
                          </a:solidFill>
                          <a:effectLst/>
                          <a:latin typeface="+mn-ea"/>
                          <a:ea typeface="+mn-ea"/>
                        </a:rPr>
                        <a:t>5,336</a:t>
                      </a:r>
                    </a:p>
                  </a:txBody>
                  <a:tcPr marL="9525" marR="9525" marT="9525" marB="0" anchor="ctr">
                    <a:lnL>
                      <a:noFill/>
                    </a:lnL>
                    <a:lnR>
                      <a:noFill/>
                    </a:lnR>
                    <a:lnT>
                      <a:noFill/>
                    </a:lnT>
                    <a:lnB>
                      <a:noFill/>
                    </a:lnB>
                    <a:solidFill>
                      <a:schemeClr val="bg1">
                        <a:lumMod val="95000"/>
                      </a:schemeClr>
                    </a:solidFill>
                  </a:tcPr>
                </a:tc>
                <a:tc>
                  <a:txBody>
                    <a:bodyPr/>
                    <a:lstStyle/>
                    <a:p>
                      <a:pPr marL="0" algn="r" defTabSz="685800" rtl="0" eaLnBrk="1" fontAlgn="ctr" latinLnBrk="0" hangingPunct="1"/>
                      <a:r>
                        <a:rPr lang="en-US" altLang="zh-TW" sz="1000" b="0" i="0" u="none" strike="noStrike" kern="1200" dirty="0">
                          <a:solidFill>
                            <a:srgbClr val="FF0000"/>
                          </a:solidFill>
                          <a:effectLst/>
                          <a:latin typeface="+mn-ea"/>
                          <a:ea typeface="+mn-ea"/>
                          <a:cs typeface="+mn-cs"/>
                        </a:rPr>
                        <a:t>-22.9%</a:t>
                      </a:r>
                    </a:p>
                  </a:txBody>
                  <a:tcPr marL="9525" marR="9525" marT="9525" marB="0" anchor="ctr">
                    <a:lnL>
                      <a:noFill/>
                    </a:lnL>
                    <a:lnR>
                      <a:noFill/>
                    </a:lnR>
                    <a:lnT>
                      <a:noFill/>
                    </a:lnT>
                    <a:lnB>
                      <a:noFill/>
                    </a:lnB>
                    <a:solidFill>
                      <a:schemeClr val="bg1">
                        <a:lumMod val="95000"/>
                      </a:schemeClr>
                    </a:solidFill>
                  </a:tcPr>
                </a:tc>
                <a:tc>
                  <a:txBody>
                    <a:bodyPr/>
                    <a:lstStyle/>
                    <a:p>
                      <a:pPr algn="l" fontAlgn="ctr"/>
                      <a:endParaRPr lang="zh-TW" altLang="en-US" sz="1000" b="0" i="0" u="none" strike="noStrike" dirty="0">
                        <a:solidFill>
                          <a:srgbClr val="000000"/>
                        </a:solidFill>
                        <a:effectLst/>
                        <a:latin typeface="+mn-ea"/>
                        <a:ea typeface="+mn-ea"/>
                      </a:endParaRPr>
                    </a:p>
                  </a:txBody>
                  <a:tcPr marL="9525" marR="9525" marT="9525" marB="0" anchor="ctr">
                    <a:lnL>
                      <a:noFill/>
                    </a:lnL>
                    <a:lnR>
                      <a:noFill/>
                    </a:lnR>
                    <a:lnT>
                      <a:noFill/>
                    </a:lnT>
                    <a:lnB>
                      <a:noFill/>
                    </a:lnB>
                    <a:solidFill>
                      <a:schemeClr val="bg1">
                        <a:lumMod val="95000"/>
                      </a:schemeClr>
                    </a:solidFill>
                  </a:tcPr>
                </a:tc>
                <a:tc>
                  <a:txBody>
                    <a:bodyPr/>
                    <a:lstStyle/>
                    <a:p>
                      <a:pPr algn="r" fontAlgn="ctr"/>
                      <a:r>
                        <a:rPr lang="en-US" altLang="zh-TW" sz="1000" b="0" i="0" u="none" strike="noStrike" dirty="0">
                          <a:solidFill>
                            <a:srgbClr val="000000"/>
                          </a:solidFill>
                          <a:effectLst/>
                          <a:latin typeface="+mn-ea"/>
                          <a:ea typeface="+mn-ea"/>
                        </a:rPr>
                        <a:t>55,617</a:t>
                      </a:r>
                    </a:p>
                  </a:txBody>
                  <a:tcPr marL="9525" marR="9525" marT="9525" marB="0" anchor="ctr">
                    <a:lnL>
                      <a:noFill/>
                    </a:lnL>
                    <a:lnR>
                      <a:noFill/>
                    </a:lnR>
                    <a:lnT>
                      <a:noFill/>
                    </a:lnT>
                    <a:lnB>
                      <a:noFill/>
                    </a:lnB>
                    <a:solidFill>
                      <a:schemeClr val="bg1">
                        <a:lumMod val="95000"/>
                      </a:schemeClr>
                    </a:solidFill>
                  </a:tcPr>
                </a:tc>
                <a:tc>
                  <a:txBody>
                    <a:bodyPr/>
                    <a:lstStyle/>
                    <a:p>
                      <a:pPr algn="r" fontAlgn="ctr"/>
                      <a:endParaRPr lang="zh-TW" altLang="en-US" sz="1000" b="0" i="0" u="none" strike="noStrike" dirty="0">
                        <a:solidFill>
                          <a:srgbClr val="000000"/>
                        </a:solidFill>
                        <a:effectLst/>
                        <a:latin typeface="+mn-ea"/>
                        <a:ea typeface="+mn-ea"/>
                      </a:endParaRPr>
                    </a:p>
                  </a:txBody>
                  <a:tcPr marL="9525" marR="9525" marT="9525" marB="0" anchor="ctr">
                    <a:lnL>
                      <a:noFill/>
                    </a:lnL>
                    <a:lnR>
                      <a:noFill/>
                    </a:lnR>
                    <a:lnT>
                      <a:noFill/>
                    </a:lnT>
                    <a:lnB>
                      <a:noFill/>
                    </a:lnB>
                    <a:solidFill>
                      <a:schemeClr val="bg1">
                        <a:lumMod val="95000"/>
                      </a:schemeClr>
                    </a:solidFill>
                  </a:tcPr>
                </a:tc>
                <a:tc>
                  <a:txBody>
                    <a:bodyPr/>
                    <a:lstStyle/>
                    <a:p>
                      <a:pPr algn="r" fontAlgn="ctr"/>
                      <a:r>
                        <a:rPr lang="en-US" altLang="zh-TW" sz="1000" b="0" i="0" u="none" strike="noStrike" dirty="0">
                          <a:solidFill>
                            <a:srgbClr val="000000"/>
                          </a:solidFill>
                          <a:effectLst/>
                          <a:latin typeface="+mn-ea"/>
                          <a:ea typeface="+mn-ea"/>
                        </a:rPr>
                        <a:t>6,333</a:t>
                      </a:r>
                    </a:p>
                  </a:txBody>
                  <a:tcPr marL="9525" marR="9525" marT="9525"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0001"/>
                  </a:ext>
                </a:extLst>
              </a:tr>
              <a:tr h="185120">
                <a:tc>
                  <a:txBody>
                    <a:bodyPr/>
                    <a:lstStyle/>
                    <a:p>
                      <a:pPr algn="l" fontAlgn="ctr"/>
                      <a:r>
                        <a:rPr lang="en-US" sz="1000" b="0" i="0" u="none" strike="noStrike" dirty="0">
                          <a:solidFill>
                            <a:srgbClr val="000000"/>
                          </a:solidFill>
                          <a:effectLst/>
                          <a:latin typeface="微軟正黑體"/>
                        </a:rPr>
                        <a:t>FY23</a:t>
                      </a:r>
                    </a:p>
                  </a:txBody>
                  <a:tcPr marL="9525" marR="9525" marT="9525" marB="0" anchor="ctr">
                    <a:lnL>
                      <a:noFill/>
                    </a:lnL>
                    <a:lnR>
                      <a:noFill/>
                    </a:lnR>
                    <a:lnT>
                      <a:noFill/>
                    </a:lnT>
                    <a:lnB>
                      <a:noFill/>
                    </a:lnB>
                    <a:solidFill>
                      <a:srgbClr val="FFFFFF"/>
                    </a:solidFill>
                  </a:tcPr>
                </a:tc>
                <a:tc>
                  <a:txBody>
                    <a:bodyPr/>
                    <a:lstStyle/>
                    <a:p>
                      <a:pPr algn="r" fontAlgn="ctr"/>
                      <a:r>
                        <a:rPr lang="en-US" altLang="zh-TW" sz="1000" b="0" i="0" u="none" strike="noStrike" dirty="0">
                          <a:solidFill>
                            <a:srgbClr val="000000"/>
                          </a:solidFill>
                          <a:effectLst/>
                          <a:latin typeface="+mn-ea"/>
                          <a:ea typeface="+mn-ea"/>
                        </a:rPr>
                        <a:t>67,571</a:t>
                      </a:r>
                    </a:p>
                  </a:txBody>
                  <a:tcPr marL="9525" marR="9525" marT="9525" marB="0" anchor="ctr">
                    <a:lnL>
                      <a:noFill/>
                    </a:lnL>
                    <a:lnR>
                      <a:noFill/>
                    </a:lnR>
                    <a:lnT>
                      <a:noFill/>
                    </a:lnT>
                    <a:lnB>
                      <a:noFill/>
                    </a:lnB>
                    <a:solidFill>
                      <a:srgbClr val="FFFFFF"/>
                    </a:solidFill>
                  </a:tcPr>
                </a:tc>
                <a:tc>
                  <a:txBody>
                    <a:bodyPr/>
                    <a:lstStyle/>
                    <a:p>
                      <a:pPr marL="0" algn="r" defTabSz="685800" rtl="0" eaLnBrk="1" fontAlgn="ctr" latinLnBrk="0" hangingPunct="1"/>
                      <a:r>
                        <a:rPr lang="en-US" altLang="zh-TW" sz="1000" b="0" i="0" u="none" strike="noStrike" kern="1200" dirty="0">
                          <a:solidFill>
                            <a:srgbClr val="808080"/>
                          </a:solidFill>
                          <a:effectLst/>
                          <a:latin typeface="+mn-ea"/>
                          <a:ea typeface="+mn-ea"/>
                          <a:cs typeface="+mn-cs"/>
                        </a:rPr>
                        <a:t>2.4%</a:t>
                      </a:r>
                    </a:p>
                  </a:txBody>
                  <a:tcPr marL="9525" marR="9525" marT="9525" marB="0" anchor="ctr">
                    <a:lnL>
                      <a:noFill/>
                    </a:lnL>
                    <a:lnR>
                      <a:noFill/>
                    </a:lnR>
                    <a:lnT>
                      <a:noFill/>
                    </a:lnT>
                    <a:lnB>
                      <a:noFill/>
                    </a:lnB>
                    <a:solidFill>
                      <a:srgbClr val="FFFFFF"/>
                    </a:solidFill>
                  </a:tcPr>
                </a:tc>
                <a:tc>
                  <a:txBody>
                    <a:bodyPr/>
                    <a:lstStyle/>
                    <a:p>
                      <a:pPr algn="l" fontAlgn="ctr"/>
                      <a:endParaRPr lang="zh-TW" altLang="en-US" sz="1000" b="0" i="0" u="none" strike="noStrike" dirty="0">
                        <a:solidFill>
                          <a:srgbClr val="000000"/>
                        </a:solidFill>
                        <a:effectLst/>
                        <a:latin typeface="+mn-ea"/>
                        <a:ea typeface="+mn-ea"/>
                      </a:endParaRPr>
                    </a:p>
                  </a:txBody>
                  <a:tcPr marL="9525" marR="9525" marT="9525" marB="0" anchor="ctr">
                    <a:lnL>
                      <a:noFill/>
                    </a:lnL>
                    <a:lnR>
                      <a:noFill/>
                    </a:lnR>
                    <a:lnT>
                      <a:noFill/>
                    </a:lnT>
                    <a:lnB>
                      <a:noFill/>
                    </a:lnB>
                    <a:solidFill>
                      <a:srgbClr val="FFFFFF"/>
                    </a:solidFill>
                  </a:tcPr>
                </a:tc>
                <a:tc>
                  <a:txBody>
                    <a:bodyPr/>
                    <a:lstStyle/>
                    <a:p>
                      <a:pPr algn="r" fontAlgn="ctr"/>
                      <a:r>
                        <a:rPr lang="en-US" altLang="zh-TW" sz="1000" b="0" i="0" u="none" strike="noStrike" dirty="0">
                          <a:solidFill>
                            <a:srgbClr val="000000"/>
                          </a:solidFill>
                          <a:effectLst/>
                          <a:latin typeface="+mn-ea"/>
                          <a:ea typeface="+mn-ea"/>
                        </a:rPr>
                        <a:t>6,920</a:t>
                      </a:r>
                    </a:p>
                  </a:txBody>
                  <a:tcPr marL="9525" marR="9525" marT="9525" marB="0" anchor="ctr">
                    <a:lnL>
                      <a:noFill/>
                    </a:lnL>
                    <a:lnR>
                      <a:noFill/>
                    </a:lnR>
                    <a:lnT>
                      <a:noFill/>
                    </a:lnT>
                    <a:lnB>
                      <a:noFill/>
                    </a:lnB>
                    <a:solidFill>
                      <a:srgbClr val="FFFFFF"/>
                    </a:solidFill>
                  </a:tcPr>
                </a:tc>
                <a:tc>
                  <a:txBody>
                    <a:bodyPr/>
                    <a:lstStyle/>
                    <a:p>
                      <a:pPr marL="0" algn="r" defTabSz="685800" rtl="0" eaLnBrk="1" fontAlgn="ctr" latinLnBrk="0" hangingPunct="1"/>
                      <a:r>
                        <a:rPr lang="en-US" altLang="zh-TW" sz="1000" b="0" i="0" u="none" strike="noStrike" kern="1200" dirty="0">
                          <a:solidFill>
                            <a:srgbClr val="808080"/>
                          </a:solidFill>
                          <a:effectLst/>
                          <a:latin typeface="+mn-ea"/>
                          <a:ea typeface="+mn-ea"/>
                          <a:cs typeface="+mn-cs"/>
                        </a:rPr>
                        <a:t>20.7%</a:t>
                      </a:r>
                    </a:p>
                  </a:txBody>
                  <a:tcPr marL="9525" marR="9525" marT="9525" marB="0" anchor="ctr">
                    <a:lnL>
                      <a:noFill/>
                    </a:lnL>
                    <a:lnR>
                      <a:noFill/>
                    </a:lnR>
                    <a:lnT>
                      <a:noFill/>
                    </a:lnT>
                    <a:lnB>
                      <a:noFill/>
                    </a:lnB>
                    <a:solidFill>
                      <a:srgbClr val="FFFFFF"/>
                    </a:solidFill>
                  </a:tcPr>
                </a:tc>
                <a:tc>
                  <a:txBody>
                    <a:bodyPr/>
                    <a:lstStyle/>
                    <a:p>
                      <a:pPr algn="l" fontAlgn="ctr"/>
                      <a:endParaRPr lang="zh-TW" altLang="en-US" sz="1000" b="0" i="0" u="none" strike="noStrike" dirty="0">
                        <a:solidFill>
                          <a:srgbClr val="000000"/>
                        </a:solidFill>
                        <a:effectLst/>
                        <a:latin typeface="+mn-ea"/>
                        <a:ea typeface="+mn-ea"/>
                      </a:endParaRPr>
                    </a:p>
                  </a:txBody>
                  <a:tcPr marL="9525" marR="9525" marT="9525" marB="0" anchor="ctr">
                    <a:lnL>
                      <a:noFill/>
                    </a:lnL>
                    <a:lnR>
                      <a:noFill/>
                    </a:lnR>
                    <a:lnT>
                      <a:noFill/>
                    </a:lnT>
                    <a:lnB>
                      <a:noFill/>
                    </a:lnB>
                    <a:solidFill>
                      <a:srgbClr val="FFFFFF"/>
                    </a:solidFill>
                  </a:tcPr>
                </a:tc>
                <a:tc>
                  <a:txBody>
                    <a:bodyPr/>
                    <a:lstStyle/>
                    <a:p>
                      <a:pPr algn="r" fontAlgn="ctr"/>
                      <a:r>
                        <a:rPr lang="en-US" altLang="zh-TW" sz="1000" b="0" i="0" u="none" strike="noStrike" dirty="0">
                          <a:solidFill>
                            <a:srgbClr val="000000"/>
                          </a:solidFill>
                          <a:effectLst/>
                          <a:latin typeface="+mn-ea"/>
                          <a:ea typeface="+mn-ea"/>
                        </a:rPr>
                        <a:t>54,456</a:t>
                      </a:r>
                    </a:p>
                  </a:txBody>
                  <a:tcPr marL="9525" marR="9525" marT="9525" marB="0" anchor="ctr">
                    <a:lnL>
                      <a:noFill/>
                    </a:lnL>
                    <a:lnR>
                      <a:noFill/>
                    </a:lnR>
                    <a:lnT>
                      <a:noFill/>
                    </a:lnT>
                    <a:lnB>
                      <a:noFill/>
                    </a:lnB>
                    <a:solidFill>
                      <a:srgbClr val="FFFFFF"/>
                    </a:solidFill>
                  </a:tcPr>
                </a:tc>
                <a:tc>
                  <a:txBody>
                    <a:bodyPr/>
                    <a:lstStyle/>
                    <a:p>
                      <a:pPr algn="r" fontAlgn="ctr"/>
                      <a:endParaRPr lang="zh-TW" altLang="en-US" sz="1000" b="0" i="0" u="none" strike="noStrike" dirty="0">
                        <a:solidFill>
                          <a:srgbClr val="000000"/>
                        </a:solidFill>
                        <a:effectLst/>
                        <a:latin typeface="+mn-ea"/>
                        <a:ea typeface="+mn-ea"/>
                      </a:endParaRPr>
                    </a:p>
                  </a:txBody>
                  <a:tcPr marL="9525" marR="9525" marT="9525" marB="0" anchor="ctr">
                    <a:lnL>
                      <a:noFill/>
                    </a:lnL>
                    <a:lnR>
                      <a:noFill/>
                    </a:lnR>
                    <a:lnT>
                      <a:noFill/>
                    </a:lnT>
                    <a:lnB>
                      <a:noFill/>
                    </a:lnB>
                    <a:solidFill>
                      <a:srgbClr val="FFFFFF"/>
                    </a:solidFill>
                  </a:tcPr>
                </a:tc>
                <a:tc>
                  <a:txBody>
                    <a:bodyPr/>
                    <a:lstStyle/>
                    <a:p>
                      <a:pPr algn="r" fontAlgn="ctr"/>
                      <a:r>
                        <a:rPr lang="en-US" altLang="zh-TW" sz="1000" b="0" i="0" u="none" strike="noStrike" dirty="0">
                          <a:solidFill>
                            <a:srgbClr val="000000"/>
                          </a:solidFill>
                          <a:effectLst/>
                          <a:latin typeface="+mn-ea"/>
                          <a:ea typeface="+mn-ea"/>
                        </a:rPr>
                        <a:t>6,835</a:t>
                      </a:r>
                    </a:p>
                  </a:txBody>
                  <a:tcPr marL="9525" marR="9525" marT="9525" marB="0" anchor="ctr">
                    <a:lnL>
                      <a:noFill/>
                    </a:lnL>
                    <a:lnR>
                      <a:noFill/>
                    </a:lnR>
                    <a:lnT>
                      <a:noFill/>
                    </a:lnT>
                    <a:lnB>
                      <a:noFill/>
                    </a:lnB>
                    <a:solidFill>
                      <a:srgbClr val="FFFFFF"/>
                    </a:solidFill>
                  </a:tcPr>
                </a:tc>
                <a:extLst>
                  <a:ext uri="{0D108BD9-81ED-4DB2-BD59-A6C34878D82A}">
                    <a16:rowId xmlns:a16="http://schemas.microsoft.com/office/drawing/2014/main" val="10002"/>
                  </a:ext>
                </a:extLst>
              </a:tr>
            </a:tbl>
          </a:graphicData>
        </a:graphic>
      </p:graphicFrame>
      <p:sp>
        <p:nvSpPr>
          <p:cNvPr id="35" name="文字方塊 30">
            <a:extLst>
              <a:ext uri="{FF2B5EF4-FFF2-40B4-BE49-F238E27FC236}">
                <a16:creationId xmlns:a16="http://schemas.microsoft.com/office/drawing/2014/main" id="{E90F2A50-1021-527F-7BBD-1F7C9D3E9695}"/>
              </a:ext>
            </a:extLst>
          </p:cNvPr>
          <p:cNvSpPr txBox="1">
            <a:spLocks noChangeArrowheads="1"/>
          </p:cNvSpPr>
          <p:nvPr/>
        </p:nvSpPr>
        <p:spPr bwMode="auto">
          <a:xfrm>
            <a:off x="480287" y="6525344"/>
            <a:ext cx="200348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1pPr>
            <a:lvl2pPr marL="742950" indent="-285750">
              <a:spcBef>
                <a:spcPct val="20000"/>
              </a:spcBef>
              <a:buClr>
                <a:srgbClr val="FF3300"/>
              </a:buClr>
              <a:buFont typeface="Wingdings" panose="05000000000000000000" pitchFamily="2" charset="2"/>
              <a:buChar char="n"/>
              <a:defRPr kumimoji="1" sz="2000" b="1">
                <a:solidFill>
                  <a:schemeClr val="tx1"/>
                </a:solidFill>
                <a:latin typeface="Arial" panose="020B0604020202020204" pitchFamily="34" charset="0"/>
                <a:ea typeface="標楷體" panose="03000509000000000000" pitchFamily="65" charset="-120"/>
              </a:defRPr>
            </a:lvl2pPr>
            <a:lvl3pPr marL="1143000" indent="-228600">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buNone/>
            </a:pPr>
            <a:r>
              <a:rPr lang="zh-TW" altLang="en-US" sz="900" b="0" dirty="0">
                <a:latin typeface="微軟正黑體" panose="020B0604030504040204" pitchFamily="34" charset="-120"/>
                <a:ea typeface="微軟正黑體" panose="020B0604030504040204" pitchFamily="34" charset="-120"/>
              </a:rPr>
              <a:t>資料來源：彭博、季報、年報</a:t>
            </a:r>
          </a:p>
        </p:txBody>
      </p:sp>
    </p:spTree>
    <p:extLst>
      <p:ext uri="{BB962C8B-B14F-4D97-AF65-F5344CB8AC3E}">
        <p14:creationId xmlns:p14="http://schemas.microsoft.com/office/powerpoint/2010/main" val="3365850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341D33C6-CB6B-5BF7-7517-9F018AFDB335}"/>
              </a:ext>
            </a:extLst>
          </p:cNvPr>
          <p:cNvSpPr>
            <a:spLocks noGrp="1"/>
          </p:cNvSpPr>
          <p:nvPr>
            <p:ph type="sldNum" sz="quarter" idx="10"/>
          </p:nvPr>
        </p:nvSpPr>
        <p:spPr/>
        <p:txBody>
          <a:bodyPr/>
          <a:lstStyle/>
          <a:p>
            <a:fld id="{415482FC-CF5F-466A-B8B6-BC3733E92023}" type="slidenum">
              <a:rPr lang="zh-TW" altLang="en-US" smtClean="0"/>
              <a:pPr/>
              <a:t>5</a:t>
            </a:fld>
            <a:endParaRPr lang="zh-TW" altLang="en-US" dirty="0"/>
          </a:p>
        </p:txBody>
      </p:sp>
      <p:sp>
        <p:nvSpPr>
          <p:cNvPr id="6" name="投影片編號版面配置區 3">
            <a:extLst>
              <a:ext uri="{FF2B5EF4-FFF2-40B4-BE49-F238E27FC236}">
                <a16:creationId xmlns:a16="http://schemas.microsoft.com/office/drawing/2014/main" id="{4F06B6B6-C119-F922-2820-1770F12A0028}"/>
              </a:ext>
            </a:extLst>
          </p:cNvPr>
          <p:cNvSpPr txBox="1">
            <a:spLocks/>
          </p:cNvSpPr>
          <p:nvPr/>
        </p:nvSpPr>
        <p:spPr>
          <a:xfrm>
            <a:off x="197514" y="6381328"/>
            <a:ext cx="395064" cy="288032"/>
          </a:xfrm>
          <a:prstGeom prst="rect">
            <a:avLst/>
          </a:prstGeom>
        </p:spPr>
        <p:txBody>
          <a:bodyPr/>
          <a:lstStyle>
            <a:defPPr>
              <a:defRPr lang="zh-TW"/>
            </a:defPPr>
            <a:lvl1pPr marL="0" algn="l" defTabSz="914400" rtl="0" eaLnBrk="1" latinLnBrk="0" hangingPunct="1">
              <a:defRPr sz="900" kern="1200">
                <a:solidFill>
                  <a:schemeClr val="tx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5482FC-CF5F-466A-B8B6-BC3733E92023}" type="slidenum">
              <a:rPr lang="zh-TW" altLang="en-US" smtClean="0"/>
              <a:pPr/>
              <a:t>5</a:t>
            </a:fld>
            <a:endParaRPr lang="zh-TW" altLang="en-US" dirty="0"/>
          </a:p>
        </p:txBody>
      </p:sp>
      <p:sp>
        <p:nvSpPr>
          <p:cNvPr id="7" name="標題 1">
            <a:extLst>
              <a:ext uri="{FF2B5EF4-FFF2-40B4-BE49-F238E27FC236}">
                <a16:creationId xmlns:a16="http://schemas.microsoft.com/office/drawing/2014/main" id="{9A5F1DC4-26DB-2BF0-8CAD-A00100EFDEC1}"/>
              </a:ext>
            </a:extLst>
          </p:cNvPr>
          <p:cNvSpPr txBox="1">
            <a:spLocks noChangeArrowheads="1"/>
          </p:cNvSpPr>
          <p:nvPr/>
        </p:nvSpPr>
        <p:spPr>
          <a:xfrm>
            <a:off x="889798" y="198715"/>
            <a:ext cx="6346498" cy="475060"/>
          </a:xfrm>
          <a:prstGeom prst="rect">
            <a:avLst/>
          </a:prstGeom>
        </p:spPr>
        <p:txBody>
          <a:bodyPr anchor="ctr" anchorCtr="0">
            <a:noAutofit/>
          </a:bodyPr>
          <a:lstStyle>
            <a:defPPr>
              <a:defRPr lang="zh-TW"/>
            </a:defPPr>
            <a:lvl1pPr>
              <a:spcBef>
                <a:spcPct val="0"/>
              </a:spcBef>
              <a:buNone/>
              <a:defRPr sz="2400" b="1">
                <a:solidFill>
                  <a:schemeClr val="tx2">
                    <a:lumMod val="75000"/>
                  </a:schemeClr>
                </a:solidFill>
                <a:latin typeface="微軟正黑體" pitchFamily="34" charset="-120"/>
                <a:ea typeface="微軟正黑體" pitchFamily="34" charset="-120"/>
                <a:cs typeface="+mj-cs"/>
              </a:defRPr>
            </a:lvl1pPr>
          </a:lstStyle>
          <a:p>
            <a:r>
              <a:rPr lang="zh-TW" altLang="en-US" sz="2200" dirty="0"/>
              <a:t>國防實力及領先產業地位支持</a:t>
            </a:r>
            <a:r>
              <a:rPr lang="en-US" altLang="zh-TW" sz="2200" dirty="0"/>
              <a:t>A</a:t>
            </a:r>
            <a:r>
              <a:rPr lang="zh-TW" altLang="en-US" sz="2200" dirty="0"/>
              <a:t>級評等</a:t>
            </a:r>
          </a:p>
        </p:txBody>
      </p:sp>
      <p:sp>
        <p:nvSpPr>
          <p:cNvPr id="9" name="標題 1">
            <a:extLst>
              <a:ext uri="{FF2B5EF4-FFF2-40B4-BE49-F238E27FC236}">
                <a16:creationId xmlns:a16="http://schemas.microsoft.com/office/drawing/2014/main" id="{0AB26B7F-B70F-4088-5850-F8D9E80C7FD5}"/>
              </a:ext>
            </a:extLst>
          </p:cNvPr>
          <p:cNvSpPr txBox="1">
            <a:spLocks/>
          </p:cNvSpPr>
          <p:nvPr/>
        </p:nvSpPr>
        <p:spPr bwMode="auto">
          <a:xfrm>
            <a:off x="246781" y="116632"/>
            <a:ext cx="636966" cy="609218"/>
          </a:xfrm>
          <a:prstGeom prst="rect">
            <a:avLst/>
          </a:prstGeom>
          <a:solidFill>
            <a:srgbClr val="C00000"/>
          </a:solidFill>
          <a:ln>
            <a:noFill/>
          </a:ln>
        </p:spPr>
        <p:txBody>
          <a:bodyPr anchor="ctr">
            <a:noAutofit/>
          </a:bodyPr>
          <a:lstStyle>
            <a:defPPr>
              <a:defRPr lang="zh-TW"/>
            </a:defPPr>
            <a:lvl1pPr algn="ctr" eaLnBrk="0" fontAlgn="base" hangingPunct="0">
              <a:spcBef>
                <a:spcPct val="0"/>
              </a:spcBef>
              <a:spcAft>
                <a:spcPct val="0"/>
              </a:spcAft>
              <a:defRPr kumimoji="1" sz="2000" b="1" kern="0">
                <a:solidFill>
                  <a:schemeClr val="bg1"/>
                </a:solidFill>
                <a:latin typeface="+mj-lt"/>
                <a:ea typeface="+mj-ea"/>
                <a:cs typeface="+mj-cs"/>
              </a:defRPr>
            </a:lvl1pPr>
            <a:lvl2pPr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fontAlgn="base">
              <a:spcBef>
                <a:spcPct val="0"/>
              </a:spcBef>
              <a:spcAft>
                <a:spcPct val="0"/>
              </a:spcAft>
              <a:defRPr kumimoji="1" sz="3000" b="1">
                <a:solidFill>
                  <a:schemeClr val="tx2"/>
                </a:solidFill>
                <a:latin typeface="標楷體" pitchFamily="65" charset="-120"/>
                <a:ea typeface="標楷體" pitchFamily="65" charset="-120"/>
              </a:defRPr>
            </a:lvl6pPr>
            <a:lvl7pPr marL="914400" fontAlgn="base">
              <a:spcBef>
                <a:spcPct val="0"/>
              </a:spcBef>
              <a:spcAft>
                <a:spcPct val="0"/>
              </a:spcAft>
              <a:defRPr kumimoji="1" sz="3000" b="1">
                <a:solidFill>
                  <a:schemeClr val="tx2"/>
                </a:solidFill>
                <a:latin typeface="標楷體" pitchFamily="65" charset="-120"/>
                <a:ea typeface="標楷體" pitchFamily="65" charset="-120"/>
              </a:defRPr>
            </a:lvl7pPr>
            <a:lvl8pPr marL="1371600" fontAlgn="base">
              <a:spcBef>
                <a:spcPct val="0"/>
              </a:spcBef>
              <a:spcAft>
                <a:spcPct val="0"/>
              </a:spcAft>
              <a:defRPr kumimoji="1" sz="3000" b="1">
                <a:solidFill>
                  <a:schemeClr val="tx2"/>
                </a:solidFill>
                <a:latin typeface="標楷體" pitchFamily="65" charset="-120"/>
                <a:ea typeface="標楷體" pitchFamily="65" charset="-120"/>
              </a:defRPr>
            </a:lvl8pPr>
            <a:lvl9pPr marL="1828800" fontAlgn="base">
              <a:spcBef>
                <a:spcPct val="0"/>
              </a:spcBef>
              <a:spcAft>
                <a:spcPct val="0"/>
              </a:spcAft>
              <a:defRPr kumimoji="1" sz="3000" b="1">
                <a:solidFill>
                  <a:schemeClr val="tx2"/>
                </a:solidFill>
                <a:latin typeface="標楷體" pitchFamily="65" charset="-120"/>
                <a:ea typeface="標楷體" pitchFamily="65" charset="-120"/>
              </a:defRPr>
            </a:lvl9pPr>
          </a:lstStyle>
          <a:p>
            <a:r>
              <a:rPr lang="zh-TW" altLang="en-US" sz="1700" dirty="0"/>
              <a:t>信用表現</a:t>
            </a:r>
          </a:p>
        </p:txBody>
      </p:sp>
      <p:sp>
        <p:nvSpPr>
          <p:cNvPr id="10" name="圓角矩形 31">
            <a:extLst>
              <a:ext uri="{FF2B5EF4-FFF2-40B4-BE49-F238E27FC236}">
                <a16:creationId xmlns:a16="http://schemas.microsoft.com/office/drawing/2014/main" id="{61455235-E347-C90E-7067-DFBC99B3C1BC}"/>
              </a:ext>
            </a:extLst>
          </p:cNvPr>
          <p:cNvSpPr/>
          <p:nvPr/>
        </p:nvSpPr>
        <p:spPr>
          <a:xfrm>
            <a:off x="4763567" y="3599876"/>
            <a:ext cx="4034108"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微軟正黑體" panose="020B0604030504040204" pitchFamily="34" charset="-120"/>
                <a:ea typeface="微軟正黑體" panose="020B0604030504040204" pitchFamily="34" charset="-120"/>
              </a:rPr>
              <a:t>積壓訂單持續成長，並創下歷史新高</a:t>
            </a:r>
          </a:p>
        </p:txBody>
      </p:sp>
      <p:graphicFrame>
        <p:nvGraphicFramePr>
          <p:cNvPr id="11" name="表格 10">
            <a:extLst>
              <a:ext uri="{FF2B5EF4-FFF2-40B4-BE49-F238E27FC236}">
                <a16:creationId xmlns:a16="http://schemas.microsoft.com/office/drawing/2014/main" id="{0B60CB70-D39B-C773-DBFA-ED66F34EC381}"/>
              </a:ext>
            </a:extLst>
          </p:cNvPr>
          <p:cNvGraphicFramePr>
            <a:graphicFrameLocks noGrp="1"/>
          </p:cNvGraphicFramePr>
          <p:nvPr>
            <p:extLst>
              <p:ext uri="{D42A27DB-BD31-4B8C-83A1-F6EECF244321}">
                <p14:modId xmlns:p14="http://schemas.microsoft.com/office/powerpoint/2010/main" val="1723846072"/>
              </p:ext>
            </p:extLst>
          </p:nvPr>
        </p:nvGraphicFramePr>
        <p:xfrm>
          <a:off x="264414" y="807933"/>
          <a:ext cx="4451604" cy="5573395"/>
        </p:xfrm>
        <a:graphic>
          <a:graphicData uri="http://schemas.openxmlformats.org/drawingml/2006/table">
            <a:tbl>
              <a:tblPr firstRow="1" bandRow="1">
                <a:tableStyleId>{912C8C85-51F0-491E-9774-3900AFEF0FD7}</a:tableStyleId>
              </a:tblPr>
              <a:tblGrid>
                <a:gridCol w="1112901">
                  <a:extLst>
                    <a:ext uri="{9D8B030D-6E8A-4147-A177-3AD203B41FA5}">
                      <a16:colId xmlns:a16="http://schemas.microsoft.com/office/drawing/2014/main" val="20000"/>
                    </a:ext>
                  </a:extLst>
                </a:gridCol>
                <a:gridCol w="1112901">
                  <a:extLst>
                    <a:ext uri="{9D8B030D-6E8A-4147-A177-3AD203B41FA5}">
                      <a16:colId xmlns:a16="http://schemas.microsoft.com/office/drawing/2014/main" val="20001"/>
                    </a:ext>
                  </a:extLst>
                </a:gridCol>
                <a:gridCol w="1112901">
                  <a:extLst>
                    <a:ext uri="{9D8B030D-6E8A-4147-A177-3AD203B41FA5}">
                      <a16:colId xmlns:a16="http://schemas.microsoft.com/office/drawing/2014/main" val="20002"/>
                    </a:ext>
                  </a:extLst>
                </a:gridCol>
                <a:gridCol w="1112901">
                  <a:extLst>
                    <a:ext uri="{9D8B030D-6E8A-4147-A177-3AD203B41FA5}">
                      <a16:colId xmlns:a16="http://schemas.microsoft.com/office/drawing/2014/main" val="20003"/>
                    </a:ext>
                  </a:extLst>
                </a:gridCol>
              </a:tblGrid>
              <a:tr h="335389">
                <a:tc>
                  <a:txBody>
                    <a:bodyPr/>
                    <a:lstStyle/>
                    <a:p>
                      <a:pPr algn="ctr"/>
                      <a:r>
                        <a:rPr lang="zh-TW" altLang="en-US" sz="1200" dirty="0">
                          <a:solidFill>
                            <a:schemeClr val="bg1"/>
                          </a:solidFill>
                          <a:latin typeface="微軟正黑體" panose="020B0604030504040204" pitchFamily="34" charset="-120"/>
                          <a:ea typeface="微軟正黑體" panose="020B0604030504040204" pitchFamily="34" charset="-120"/>
                        </a:rPr>
                        <a:t>信用評等</a:t>
                      </a:r>
                    </a:p>
                  </a:txBody>
                  <a:tcPr anchor="ctr">
                    <a:solidFill>
                      <a:schemeClr val="accent6">
                        <a:lumMod val="50000"/>
                      </a:schemeClr>
                    </a:solidFill>
                  </a:tcPr>
                </a:tc>
                <a:tc>
                  <a:txBody>
                    <a:bodyPr/>
                    <a:lstStyle/>
                    <a:p>
                      <a:pPr algn="ctr"/>
                      <a:r>
                        <a:rPr lang="zh-TW" altLang="en-US" sz="1200" dirty="0">
                          <a:latin typeface="微軟正黑體" panose="020B0604030504040204" pitchFamily="34" charset="-120"/>
                          <a:ea typeface="微軟正黑體" panose="020B0604030504040204" pitchFamily="34" charset="-120"/>
                        </a:rPr>
                        <a:t>穆迪</a:t>
                      </a:r>
                      <a:endParaRPr lang="zh-TW" altLang="en-US" sz="1200" b="1" dirty="0">
                        <a:solidFill>
                          <a:schemeClr val="bg1"/>
                        </a:solidFill>
                        <a:latin typeface="微軟正黑體" panose="020B0604030504040204" pitchFamily="34" charset="-120"/>
                        <a:ea typeface="微軟正黑體" panose="020B0604030504040204" pitchFamily="34" charset="-120"/>
                      </a:endParaRPr>
                    </a:p>
                  </a:txBody>
                  <a:tcPr anchor="ctr">
                    <a:solidFill>
                      <a:schemeClr val="accent6">
                        <a:lumMod val="50000"/>
                      </a:schemeClr>
                    </a:solidFill>
                  </a:tcPr>
                </a:tc>
                <a:tc>
                  <a:txBody>
                    <a:bodyPr/>
                    <a:lstStyle/>
                    <a:p>
                      <a:pPr algn="ctr"/>
                      <a:r>
                        <a:rPr lang="zh-TW" altLang="en-US" sz="1200" dirty="0">
                          <a:latin typeface="微軟正黑體" panose="020B0604030504040204" pitchFamily="34" charset="-120"/>
                          <a:ea typeface="微軟正黑體" panose="020B0604030504040204" pitchFamily="34" charset="-120"/>
                        </a:rPr>
                        <a:t>標普</a:t>
                      </a:r>
                      <a:endParaRPr lang="zh-TW" altLang="en-US" sz="1200" b="1" dirty="0">
                        <a:solidFill>
                          <a:schemeClr val="bg1"/>
                        </a:solidFill>
                        <a:latin typeface="微軟正黑體" panose="020B0604030504040204" pitchFamily="34" charset="-120"/>
                        <a:ea typeface="微軟正黑體" panose="020B0604030504040204" pitchFamily="34" charset="-120"/>
                      </a:endParaRPr>
                    </a:p>
                  </a:txBody>
                  <a:tcPr anchor="ctr">
                    <a:solidFill>
                      <a:schemeClr val="accent6">
                        <a:lumMod val="50000"/>
                      </a:schemeClr>
                    </a:solidFill>
                  </a:tcPr>
                </a:tc>
                <a:tc>
                  <a:txBody>
                    <a:bodyPr/>
                    <a:lstStyle/>
                    <a:p>
                      <a:pPr algn="ctr"/>
                      <a:r>
                        <a:rPr lang="zh-TW" altLang="en-US" sz="1200" dirty="0">
                          <a:latin typeface="微軟正黑體" panose="020B0604030504040204" pitchFamily="34" charset="-120"/>
                          <a:ea typeface="微軟正黑體" panose="020B0604030504040204" pitchFamily="34" charset="-120"/>
                        </a:rPr>
                        <a:t>惠譽</a:t>
                      </a:r>
                      <a:endParaRPr lang="zh-TW" altLang="en-US" sz="1200" b="1" dirty="0">
                        <a:solidFill>
                          <a:schemeClr val="bg1"/>
                        </a:solidFill>
                        <a:latin typeface="微軟正黑體" panose="020B0604030504040204" pitchFamily="34" charset="-120"/>
                        <a:ea typeface="微軟正黑體" panose="020B0604030504040204" pitchFamily="34" charset="-120"/>
                      </a:endParaRPr>
                    </a:p>
                  </a:txBody>
                  <a:tcPr anchor="ctr">
                    <a:solidFill>
                      <a:schemeClr val="accent6">
                        <a:lumMod val="50000"/>
                      </a:schemeClr>
                    </a:solidFill>
                  </a:tcPr>
                </a:tc>
                <a:extLst>
                  <a:ext uri="{0D108BD9-81ED-4DB2-BD59-A6C34878D82A}">
                    <a16:rowId xmlns:a16="http://schemas.microsoft.com/office/drawing/2014/main" val="10000"/>
                  </a:ext>
                </a:extLst>
              </a:tr>
              <a:tr h="335389">
                <a:tc>
                  <a:txBody>
                    <a:bodyPr/>
                    <a:lstStyle/>
                    <a:p>
                      <a:pPr algn="ctr"/>
                      <a:r>
                        <a:rPr lang="zh-TW" altLang="en-US" sz="1200" dirty="0">
                          <a:latin typeface="微軟正黑體" panose="020B0604030504040204" pitchFamily="34" charset="-120"/>
                          <a:ea typeface="微軟正黑體" panose="020B0604030504040204" pitchFamily="34" charset="-120"/>
                        </a:rPr>
                        <a:t>長期評等</a:t>
                      </a:r>
                    </a:p>
                  </a:txBody>
                  <a:tcPr anchor="ctr"/>
                </a:tc>
                <a:tc>
                  <a:txBody>
                    <a:bodyPr/>
                    <a:lstStyle/>
                    <a:p>
                      <a:pPr marL="0" algn="ctr" defTabSz="914400" rtl="0" eaLnBrk="1" fontAlgn="ctr" latinLnBrk="0" hangingPunct="1"/>
                      <a:r>
                        <a:rPr lang="en-US"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rPr>
                        <a:t>A</a:t>
                      </a:r>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rPr>
                        <a:t>2</a:t>
                      </a:r>
                      <a:endParaRPr lang="en-US"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endParaRPr>
                    </a:p>
                  </a:txBody>
                  <a:tcPr marL="9527" marR="9527" marT="9524" marB="0" anchor="ctr"/>
                </a:tc>
                <a:tc>
                  <a:txBody>
                    <a:bodyPr/>
                    <a:lstStyle/>
                    <a:p>
                      <a:pPr marL="0" algn="ctr" defTabSz="914400" rtl="0" eaLnBrk="1" fontAlgn="ctr" latinLnBrk="0" hangingPunct="1"/>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rPr>
                        <a:t>A-</a:t>
                      </a:r>
                    </a:p>
                  </a:txBody>
                  <a:tcPr anchor="ctr"/>
                </a:tc>
                <a:tc>
                  <a:txBody>
                    <a:bodyPr/>
                    <a:lstStyle/>
                    <a:p>
                      <a:pPr marL="0" marR="0" indent="0" algn="ctr" defTabSz="914400" rtl="0" eaLnBrk="1" fontAlgn="ctr" latinLnBrk="0" hangingPunct="1">
                        <a:lnSpc>
                          <a:spcPts val="1200"/>
                        </a:lnSpc>
                        <a:spcBef>
                          <a:spcPts val="0"/>
                        </a:spcBef>
                        <a:spcAft>
                          <a:spcPts val="0"/>
                        </a:spcAft>
                        <a:buClrTx/>
                        <a:buSzTx/>
                        <a:buFontTx/>
                        <a:buNone/>
                        <a:tabLst/>
                        <a:defRPr/>
                      </a:pPr>
                      <a:r>
                        <a:rPr lang="zh-TW" altLang="en-US"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rPr>
                        <a:t> </a:t>
                      </a:r>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rPr>
                        <a:t>A</a:t>
                      </a:r>
                    </a:p>
                  </a:txBody>
                  <a:tcPr marL="9527" marR="9527" marT="9524" marB="0" anchor="ctr"/>
                </a:tc>
                <a:extLst>
                  <a:ext uri="{0D108BD9-81ED-4DB2-BD59-A6C34878D82A}">
                    <a16:rowId xmlns:a16="http://schemas.microsoft.com/office/drawing/2014/main" val="10002"/>
                  </a:ext>
                </a:extLst>
              </a:tr>
              <a:tr h="335389">
                <a:tc>
                  <a:txBody>
                    <a:bodyPr/>
                    <a:lstStyle/>
                    <a:p>
                      <a:pPr algn="ctr"/>
                      <a:r>
                        <a:rPr lang="zh-TW" altLang="en-US" sz="1200" dirty="0">
                          <a:latin typeface="微軟正黑體" panose="020B0604030504040204" pitchFamily="34" charset="-120"/>
                          <a:ea typeface="微軟正黑體" panose="020B0604030504040204" pitchFamily="34" charset="-120"/>
                        </a:rPr>
                        <a:t>評等展望</a:t>
                      </a:r>
                    </a:p>
                  </a:txBody>
                  <a:tcPr anchor="ctr"/>
                </a:tc>
                <a:tc>
                  <a:txBody>
                    <a:bodyPr/>
                    <a:lstStyle/>
                    <a:p>
                      <a:pPr marL="0" marR="0" indent="0" algn="ctr" defTabSz="914400" rtl="0" eaLnBrk="1" fontAlgn="ctr" latinLnBrk="0" hangingPunct="1">
                        <a:lnSpc>
                          <a:spcPts val="1200"/>
                        </a:lnSpc>
                        <a:spcBef>
                          <a:spcPts val="0"/>
                        </a:spcBef>
                        <a:spcAft>
                          <a:spcPts val="0"/>
                        </a:spcAft>
                        <a:buClrTx/>
                        <a:buSzTx/>
                        <a:buFontTx/>
                        <a:buNone/>
                        <a:tabLst/>
                        <a:defRPr/>
                      </a:pPr>
                      <a:r>
                        <a:rPr lang="zh-TW" altLang="en-US"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rPr>
                        <a:t>穩定</a:t>
                      </a:r>
                      <a:endPar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endParaRPr>
                    </a:p>
                  </a:txBody>
                  <a:tcPr anchor="ctr"/>
                </a:tc>
                <a:tc>
                  <a:txBody>
                    <a:bodyPr/>
                    <a:lstStyle/>
                    <a:p>
                      <a:pPr marL="0" marR="0" indent="0" algn="ctr" defTabSz="914400" rtl="0" eaLnBrk="1" fontAlgn="ctr" latinLnBrk="0" hangingPunct="1">
                        <a:lnSpc>
                          <a:spcPts val="1200"/>
                        </a:lnSpc>
                        <a:spcBef>
                          <a:spcPts val="0"/>
                        </a:spcBef>
                        <a:spcAft>
                          <a:spcPts val="0"/>
                        </a:spcAft>
                        <a:buClrTx/>
                        <a:buSzTx/>
                        <a:buFontTx/>
                        <a:buNone/>
                        <a:tabLst/>
                        <a:defRPr/>
                      </a:pPr>
                      <a:r>
                        <a:rPr lang="zh-TW" altLang="en-US"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rPr>
                        <a:t>穩定</a:t>
                      </a:r>
                      <a:endPar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endParaRPr>
                    </a:p>
                  </a:txBody>
                  <a:tcPr anchor="ctr"/>
                </a:tc>
                <a:tc>
                  <a:txBody>
                    <a:bodyPr/>
                    <a:lstStyle/>
                    <a:p>
                      <a:pPr marL="0" marR="0" indent="0" algn="ctr" defTabSz="914400" rtl="0" eaLnBrk="1" fontAlgn="ctr" latinLnBrk="0" hangingPunct="1">
                        <a:lnSpc>
                          <a:spcPts val="1200"/>
                        </a:lnSpc>
                        <a:spcBef>
                          <a:spcPts val="0"/>
                        </a:spcBef>
                        <a:spcAft>
                          <a:spcPts val="0"/>
                        </a:spcAft>
                        <a:buClrTx/>
                        <a:buSzTx/>
                        <a:buFontTx/>
                        <a:buNone/>
                        <a:tabLst/>
                        <a:defRPr/>
                      </a:pPr>
                      <a:r>
                        <a:rPr lang="zh-TW" altLang="en-US"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rPr>
                        <a:t>穩定</a:t>
                      </a:r>
                      <a:endPar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endParaRPr>
                    </a:p>
                  </a:txBody>
                  <a:tcPr anchor="ctr"/>
                </a:tc>
                <a:extLst>
                  <a:ext uri="{0D108BD9-81ED-4DB2-BD59-A6C34878D82A}">
                    <a16:rowId xmlns:a16="http://schemas.microsoft.com/office/drawing/2014/main" val="1763409089"/>
                  </a:ext>
                </a:extLst>
              </a:tr>
              <a:tr h="335389">
                <a:tc>
                  <a:txBody>
                    <a:bodyPr/>
                    <a:lstStyle/>
                    <a:p>
                      <a:pPr algn="ctr"/>
                      <a:r>
                        <a:rPr lang="zh-TW" altLang="en-US" sz="1200" dirty="0">
                          <a:latin typeface="微軟正黑體" panose="020B0604030504040204" pitchFamily="34" charset="-120"/>
                          <a:ea typeface="微軟正黑體" panose="020B0604030504040204" pitchFamily="34" charset="-120"/>
                        </a:rPr>
                        <a:t>展望發佈日</a:t>
                      </a:r>
                    </a:p>
                  </a:txBody>
                  <a:tcPr anchor="ctr"/>
                </a:tc>
                <a:tc>
                  <a:txBody>
                    <a:bodyPr/>
                    <a:lstStyle/>
                    <a:p>
                      <a:pPr algn="ctr">
                        <a:lnSpc>
                          <a:spcPts val="1200"/>
                        </a:lnSpc>
                      </a:pPr>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rPr>
                        <a:t>2023/8/14</a:t>
                      </a:r>
                    </a:p>
                  </a:txBody>
                  <a:tcPr marL="9527" marR="9527" marT="9524" marB="0" anchor="ctr"/>
                </a:tc>
                <a:tc>
                  <a:txBody>
                    <a:bodyPr/>
                    <a:lstStyle/>
                    <a:p>
                      <a:pPr marL="0" marR="0" indent="0" algn="ctr" defTabSz="914400" rtl="0" eaLnBrk="1" fontAlgn="ctr" latinLnBrk="0" hangingPunct="1">
                        <a:lnSpc>
                          <a:spcPts val="1200"/>
                        </a:lnSpc>
                        <a:spcBef>
                          <a:spcPts val="0"/>
                        </a:spcBef>
                        <a:spcAft>
                          <a:spcPts val="0"/>
                        </a:spcAft>
                        <a:buClrTx/>
                        <a:buSzTx/>
                        <a:buFontTx/>
                        <a:buNone/>
                        <a:tabLst/>
                        <a:defRPr/>
                      </a:pPr>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rPr>
                        <a:t>2019/5/2</a:t>
                      </a:r>
                    </a:p>
                  </a:txBody>
                  <a:tcPr anchor="ctr"/>
                </a:tc>
                <a:tc>
                  <a:txBody>
                    <a:bodyPr/>
                    <a:lstStyle/>
                    <a:p>
                      <a:pPr marL="0" marR="0" indent="0" algn="ctr" defTabSz="914400" rtl="0" eaLnBrk="1" fontAlgn="ctr" latinLnBrk="0" hangingPunct="1">
                        <a:lnSpc>
                          <a:spcPts val="1200"/>
                        </a:lnSpc>
                        <a:spcBef>
                          <a:spcPts val="0"/>
                        </a:spcBef>
                        <a:spcAft>
                          <a:spcPts val="0"/>
                        </a:spcAft>
                        <a:buClrTx/>
                        <a:buSzTx/>
                        <a:buFontTx/>
                        <a:buNone/>
                        <a:tabLst/>
                        <a:defRPr/>
                      </a:pPr>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rPr>
                        <a:t>2024/6/3</a:t>
                      </a:r>
                    </a:p>
                  </a:txBody>
                  <a:tcPr marL="9527" marR="9527" marT="9524" marB="0" anchor="ctr"/>
                </a:tc>
                <a:extLst>
                  <a:ext uri="{0D108BD9-81ED-4DB2-BD59-A6C34878D82A}">
                    <a16:rowId xmlns:a16="http://schemas.microsoft.com/office/drawing/2014/main" val="10003"/>
                  </a:ext>
                </a:extLst>
              </a:tr>
              <a:tr h="4231839">
                <a:tc gridSpan="4">
                  <a:txBody>
                    <a:bodyPr/>
                    <a:lstStyle/>
                    <a:p>
                      <a:pPr marL="171450" marR="0" lvl="0" indent="-171450" algn="just" defTabSz="914400" rtl="0" eaLnBrk="1" fontAlgn="auto" latinLnBrk="0" hangingPunct="0">
                        <a:lnSpc>
                          <a:spcPts val="1600"/>
                        </a:lnSpc>
                        <a:spcBef>
                          <a:spcPts val="300"/>
                        </a:spcBef>
                        <a:spcAft>
                          <a:spcPts val="0"/>
                        </a:spcAft>
                        <a:buClrTx/>
                        <a:buSzTx/>
                        <a:buFont typeface="Wingdings" panose="05000000000000000000" pitchFamily="2" charset="2"/>
                        <a:buChar char="n"/>
                        <a:tabLst/>
                        <a:defRPr/>
                      </a:pP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穆迪於</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2025/7/29</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重申洛克希德馬丁優先無擔保債務評等為</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A2</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，以及穩定的展望，反映該公司作為全球最大國防承包商的地位</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按營收計</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。穆迪預期在全球國防開支不斷成長的背景下，該公司在</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年和</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2026</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年將實現中個位數成長，並保持強勁的營運現金流。</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F-35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專案</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該公司最大的專案</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的穩步推進、國防部對該專案採購的水準，以及傳統固定價格專案可能產生的額外費用，仍將是需要重點關注的因素。</a:t>
                      </a:r>
                      <a:endParaRPr lang="en-US" altLang="zh-TW" sz="1100" b="0" kern="1200" dirty="0">
                        <a:solidFill>
                          <a:schemeClr val="tx1"/>
                        </a:solidFill>
                        <a:latin typeface="微軟正黑體" panose="020B0604030504040204" pitchFamily="34" charset="-120"/>
                        <a:ea typeface="微軟正黑體" panose="020B0604030504040204" pitchFamily="34" charset="-120"/>
                        <a:cs typeface="+mn-cs"/>
                      </a:endParaRPr>
                    </a:p>
                    <a:p>
                      <a:pPr marL="171450" marR="0" indent="-171450" algn="just" defTabSz="914400" rtl="0" eaLnBrk="1" fontAlgn="auto" latinLnBrk="0" hangingPunct="0">
                        <a:lnSpc>
                          <a:spcPts val="1600"/>
                        </a:lnSpc>
                        <a:spcBef>
                          <a:spcPts val="300"/>
                        </a:spcBef>
                        <a:spcAft>
                          <a:spcPts val="0"/>
                        </a:spcAft>
                        <a:buClrTx/>
                        <a:buSzTx/>
                        <a:buFont typeface="Wingdings" panose="05000000000000000000" pitchFamily="2" charset="2"/>
                        <a:buChar char="n"/>
                        <a:tabLst/>
                        <a:defRPr/>
                      </a:pP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標普於</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2025/6/10</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的全面分析報告中指出，全球地緣政治衝突頻繁發生，將轉化為國防預算的廣泛支持。川普提出</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2026</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年</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1</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兆美元預算，反映美國本土實施分層飛彈防禦系統的雄心，而洛克希德馬丁憑藉其在系統架構、整合、感測器與飛彈方面的優勢，完全有能力於該計劃中受益，加上歐盟宣布增加支出以因應俄羅斯的威脅，標普預期該公司收入將在</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年增長</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3%~5%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，反映對</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F-35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、火箭系統與彈藥等需求，同時預期</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年將產生約</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65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億美元的強勁自由營運現金流量</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(FOCF)</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，主要得益於</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F-35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交付量的增長。</a:t>
                      </a:r>
                      <a:endParaRPr lang="en-US" altLang="zh-TW" sz="1100" b="0" kern="1200" dirty="0">
                        <a:solidFill>
                          <a:schemeClr val="tx1"/>
                        </a:solidFill>
                        <a:latin typeface="微軟正黑體" panose="020B0604030504040204" pitchFamily="34" charset="-120"/>
                        <a:ea typeface="微軟正黑體" panose="020B0604030504040204" pitchFamily="34" charset="-120"/>
                        <a:cs typeface="+mn-cs"/>
                      </a:endParaRPr>
                    </a:p>
                    <a:p>
                      <a:pPr marL="171450" marR="0" indent="-171450" algn="just" defTabSz="914400" rtl="0" eaLnBrk="1" fontAlgn="auto" latinLnBrk="0" hangingPunct="0">
                        <a:lnSpc>
                          <a:spcPts val="1600"/>
                        </a:lnSpc>
                        <a:spcBef>
                          <a:spcPts val="300"/>
                        </a:spcBef>
                        <a:spcAft>
                          <a:spcPts val="0"/>
                        </a:spcAft>
                        <a:buClrTx/>
                        <a:buSzTx/>
                        <a:buFont typeface="Wingdings" panose="05000000000000000000" pitchFamily="2" charset="2"/>
                        <a:buChar char="n"/>
                        <a:tabLst/>
                        <a:defRPr/>
                      </a:pP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惠譽於</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2025/7/23</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賦予洛克希德馬丁</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(LMT)</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優先債務評等為</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A</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，展望穩定。惠譽表示</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F-35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為美國國防工業規模最大的專案，是</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LMT</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評等主要的支持要素。美國國防部已同意為第</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15-17</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批</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F-35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項目提供超過</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300</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億美元的採購金，惠譽預期</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LMT</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將在</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2026</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年達到每年交付</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150</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架以上的</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F-35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戰機，其中</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30%~40%</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將交付給國際客戶。</a:t>
                      </a:r>
                      <a:endParaRPr lang="en-US" altLang="zh-TW" sz="1100" b="0" kern="1200" dirty="0">
                        <a:solidFill>
                          <a:schemeClr val="tx1"/>
                        </a:solidFill>
                        <a:latin typeface="微軟正黑體" panose="020B0604030504040204" pitchFamily="34" charset="-120"/>
                        <a:ea typeface="微軟正黑體" panose="020B0604030504040204" pitchFamily="34" charset="-120"/>
                        <a:cs typeface="+mn-cs"/>
                      </a:endParaRPr>
                    </a:p>
                  </a:txBody>
                  <a:tcPr/>
                </a:tc>
                <a:tc hMerge="1">
                  <a:txBody>
                    <a:bodyPr/>
                    <a:lstStyle/>
                    <a:p>
                      <a:pPr algn="ctr"/>
                      <a:endParaRPr lang="zh-TW" altLang="en-US" sz="1400" dirty="0">
                        <a:latin typeface="微軟正黑體" panose="020B0604030504040204" pitchFamily="34" charset="-120"/>
                        <a:ea typeface="微軟正黑體" panose="020B0604030504040204" pitchFamily="34" charset="-120"/>
                      </a:endParaRPr>
                    </a:p>
                  </a:txBody>
                  <a:tcPr anchor="ctr"/>
                </a:tc>
                <a:tc hMerge="1">
                  <a:txBody>
                    <a:bodyPr/>
                    <a:lstStyle/>
                    <a:p>
                      <a:pPr algn="ctr"/>
                      <a:endParaRPr lang="zh-TW" altLang="en-US" sz="1400" dirty="0">
                        <a:latin typeface="微軟正黑體" panose="020B0604030504040204" pitchFamily="34" charset="-120"/>
                        <a:ea typeface="微軟正黑體" panose="020B0604030504040204" pitchFamily="34" charset="-120"/>
                      </a:endParaRPr>
                    </a:p>
                  </a:txBody>
                  <a:tcPr anchor="ctr"/>
                </a:tc>
                <a:tc hMerge="1">
                  <a:txBody>
                    <a:bodyPr/>
                    <a:lstStyle/>
                    <a:p>
                      <a:pPr marL="285750" indent="-285750" algn="l">
                        <a:buFont typeface="Wingdings" panose="05000000000000000000" pitchFamily="2" charset="2"/>
                        <a:buChar char="n"/>
                      </a:pPr>
                      <a:endParaRPr lang="zh-TW" altLang="en-US" sz="14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0004"/>
                  </a:ext>
                </a:extLst>
              </a:tr>
            </a:tbl>
          </a:graphicData>
        </a:graphic>
      </p:graphicFrame>
      <p:pic>
        <p:nvPicPr>
          <p:cNvPr id="16" name="Picture 2">
            <a:extLst>
              <a:ext uri="{FF2B5EF4-FFF2-40B4-BE49-F238E27FC236}">
                <a16:creationId xmlns:a16="http://schemas.microsoft.com/office/drawing/2014/main" id="{71AC42C9-DE0D-0CFC-DEF8-13ECBFE85E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70736" y="277241"/>
            <a:ext cx="1746188" cy="288000"/>
          </a:xfrm>
          <a:prstGeom prst="rect">
            <a:avLst/>
          </a:prstGeom>
          <a:noFill/>
          <a:extLst>
            <a:ext uri="{909E8E84-426E-40DD-AFC4-6F175D3DCCD1}">
              <a14:hiddenFill xmlns:a14="http://schemas.microsoft.com/office/drawing/2010/main">
                <a:solidFill>
                  <a:srgbClr val="FFFFFF"/>
                </a:solidFill>
              </a14:hiddenFill>
            </a:ext>
          </a:extLst>
        </p:spPr>
      </p:pic>
      <p:sp>
        <p:nvSpPr>
          <p:cNvPr id="14" name="文字方塊 30">
            <a:extLst>
              <a:ext uri="{FF2B5EF4-FFF2-40B4-BE49-F238E27FC236}">
                <a16:creationId xmlns:a16="http://schemas.microsoft.com/office/drawing/2014/main" id="{E90F2A50-1021-527F-7BBD-1F7C9D3E9695}"/>
              </a:ext>
            </a:extLst>
          </p:cNvPr>
          <p:cNvSpPr txBox="1">
            <a:spLocks noChangeArrowheads="1"/>
          </p:cNvSpPr>
          <p:nvPr/>
        </p:nvSpPr>
        <p:spPr bwMode="auto">
          <a:xfrm>
            <a:off x="480287" y="6525344"/>
            <a:ext cx="200348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1pPr>
            <a:lvl2pPr marL="742950" indent="-285750">
              <a:spcBef>
                <a:spcPct val="20000"/>
              </a:spcBef>
              <a:buClr>
                <a:srgbClr val="FF3300"/>
              </a:buClr>
              <a:buFont typeface="Wingdings" panose="05000000000000000000" pitchFamily="2" charset="2"/>
              <a:buChar char="n"/>
              <a:defRPr kumimoji="1" sz="2000" b="1">
                <a:solidFill>
                  <a:schemeClr val="tx1"/>
                </a:solidFill>
                <a:latin typeface="Arial" panose="020B0604020202020204" pitchFamily="34" charset="0"/>
                <a:ea typeface="標楷體" panose="03000509000000000000" pitchFamily="65" charset="-120"/>
              </a:defRPr>
            </a:lvl2pPr>
            <a:lvl3pPr marL="1143000" indent="-228600">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buNone/>
            </a:pPr>
            <a:r>
              <a:rPr lang="zh-TW" altLang="en-US" sz="900" b="0" dirty="0">
                <a:latin typeface="微軟正黑體" panose="020B0604030504040204" pitchFamily="34" charset="-120"/>
                <a:ea typeface="微軟正黑體" panose="020B0604030504040204" pitchFamily="34" charset="-120"/>
              </a:rPr>
              <a:t>資料來源：彭博、信評機構</a:t>
            </a:r>
            <a:endParaRPr lang="en-US" altLang="zh-TW" sz="900" b="0" dirty="0">
              <a:latin typeface="微軟正黑體" panose="020B0604030504040204" pitchFamily="34" charset="-120"/>
              <a:ea typeface="微軟正黑體" panose="020B0604030504040204" pitchFamily="34" charset="-120"/>
            </a:endParaRPr>
          </a:p>
        </p:txBody>
      </p:sp>
      <p:sp>
        <p:nvSpPr>
          <p:cNvPr id="18" name="圓角矩形 31">
            <a:extLst>
              <a:ext uri="{FF2B5EF4-FFF2-40B4-BE49-F238E27FC236}">
                <a16:creationId xmlns:a16="http://schemas.microsoft.com/office/drawing/2014/main" id="{61455235-E347-C90E-7067-DFBC99B3C1BC}"/>
              </a:ext>
            </a:extLst>
          </p:cNvPr>
          <p:cNvSpPr/>
          <p:nvPr/>
        </p:nvSpPr>
        <p:spPr>
          <a:xfrm>
            <a:off x="4748734" y="807933"/>
            <a:ext cx="4034108"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微軟正黑體" panose="020B0604030504040204" pitchFamily="34" charset="-120"/>
                <a:ea typeface="微軟正黑體" panose="020B0604030504040204" pitchFamily="34" charset="-120"/>
              </a:rPr>
              <a:t>標普預期公司營收及淨利在未來持續成長</a:t>
            </a:r>
            <a:endParaRPr lang="en-US" altLang="zh-TW" sz="1400" b="1" dirty="0">
              <a:latin typeface="微軟正黑體" panose="020B0604030504040204" pitchFamily="34" charset="-120"/>
              <a:ea typeface="微軟正黑體" panose="020B0604030504040204" pitchFamily="34" charset="-120"/>
            </a:endParaRPr>
          </a:p>
        </p:txBody>
      </p:sp>
      <p:sp>
        <p:nvSpPr>
          <p:cNvPr id="23" name="文字方塊 22"/>
          <p:cNvSpPr txBox="1"/>
          <p:nvPr/>
        </p:nvSpPr>
        <p:spPr>
          <a:xfrm>
            <a:off x="4762602" y="1235970"/>
            <a:ext cx="1001924" cy="246221"/>
          </a:xfrm>
          <a:prstGeom prst="rect">
            <a:avLst/>
          </a:prstGeom>
          <a:noFill/>
        </p:spPr>
        <p:txBody>
          <a:bodyPr wrap="square" rtlCol="0">
            <a:spAutoFit/>
          </a:bodyPr>
          <a:lstStyle/>
          <a:p>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百萬</a:t>
            </a:r>
            <a:r>
              <a:rPr lang="en-US" altLang="zh-TW" sz="1000" dirty="0">
                <a:latin typeface="微軟正黑體" panose="020B0604030504040204" pitchFamily="34" charset="-120"/>
                <a:ea typeface="微軟正黑體" panose="020B0604030504040204" pitchFamily="34" charset="-120"/>
              </a:rPr>
              <a:t>USD)</a:t>
            </a:r>
            <a:endParaRPr lang="zh-TW" altLang="en-US" sz="1000" dirty="0">
              <a:latin typeface="微軟正黑體" panose="020B0604030504040204" pitchFamily="34" charset="-120"/>
              <a:ea typeface="微軟正黑體" panose="020B0604030504040204" pitchFamily="34" charset="-120"/>
            </a:endParaRPr>
          </a:p>
        </p:txBody>
      </p:sp>
      <p:sp>
        <p:nvSpPr>
          <p:cNvPr id="24" name="圓角矩形 23"/>
          <p:cNvSpPr/>
          <p:nvPr/>
        </p:nvSpPr>
        <p:spPr>
          <a:xfrm>
            <a:off x="7668344" y="1540364"/>
            <a:ext cx="1125135" cy="1934355"/>
          </a:xfrm>
          <a:prstGeom prst="roundRect">
            <a:avLst>
              <a:gd name="adj" fmla="val 6279"/>
            </a:avLst>
          </a:prstGeom>
          <a:solidFill>
            <a:srgbClr val="FFEFEF"/>
          </a:solidFill>
          <a:ln>
            <a:noFill/>
          </a:ln>
          <a:effectLst>
            <a:outerShdw blurRad="50800"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25" name="圖表 24"/>
          <p:cNvGraphicFramePr/>
          <p:nvPr>
            <p:extLst>
              <p:ext uri="{D42A27DB-BD31-4B8C-83A1-F6EECF244321}">
                <p14:modId xmlns:p14="http://schemas.microsoft.com/office/powerpoint/2010/main" val="3470185324"/>
              </p:ext>
            </p:extLst>
          </p:nvPr>
        </p:nvGraphicFramePr>
        <p:xfrm>
          <a:off x="4761362" y="1227912"/>
          <a:ext cx="4021480" cy="2295575"/>
        </p:xfrm>
        <a:graphic>
          <a:graphicData uri="http://schemas.openxmlformats.org/drawingml/2006/chart">
            <c:chart xmlns:c="http://schemas.openxmlformats.org/drawingml/2006/chart" xmlns:r="http://schemas.openxmlformats.org/officeDocument/2006/relationships" r:id="rId4"/>
          </a:graphicData>
        </a:graphic>
      </p:graphicFrame>
      <p:sp>
        <p:nvSpPr>
          <p:cNvPr id="26" name="文字方塊 25"/>
          <p:cNvSpPr txBox="1"/>
          <p:nvPr/>
        </p:nvSpPr>
        <p:spPr>
          <a:xfrm>
            <a:off x="7609008" y="3296190"/>
            <a:ext cx="1236216" cy="215444"/>
          </a:xfrm>
          <a:prstGeom prst="rect">
            <a:avLst/>
          </a:prstGeom>
          <a:noFill/>
        </p:spPr>
        <p:txBody>
          <a:bodyPr wrap="square" rtlCol="0">
            <a:spAutoFit/>
          </a:bodyPr>
          <a:lstStyle/>
          <a:p>
            <a:pPr algn="r"/>
            <a:r>
              <a:rPr lang="zh-TW" altLang="en-US" sz="800" dirty="0">
                <a:latin typeface="微軟正黑體" panose="020B0604030504040204" pitchFamily="34" charset="-120"/>
                <a:ea typeface="微軟正黑體" panose="020B0604030504040204" pitchFamily="34" charset="-120"/>
              </a:rPr>
              <a:t>查詢日期：</a:t>
            </a:r>
            <a:r>
              <a:rPr lang="en-US" altLang="zh-TW" sz="800" dirty="0">
                <a:latin typeface="微軟正黑體" panose="020B0604030504040204" pitchFamily="34" charset="-120"/>
                <a:ea typeface="微軟正黑體" panose="020B0604030504040204" pitchFamily="34" charset="-120"/>
              </a:rPr>
              <a:t>2026/2/23</a:t>
            </a:r>
            <a:endParaRPr lang="zh-TW" altLang="en-US" sz="800" dirty="0">
              <a:latin typeface="微軟正黑體" panose="020B0604030504040204" pitchFamily="34" charset="-120"/>
              <a:ea typeface="微軟正黑體" panose="020B0604030504040204" pitchFamily="34" charset="-120"/>
            </a:endParaRPr>
          </a:p>
        </p:txBody>
      </p:sp>
      <p:pic>
        <p:nvPicPr>
          <p:cNvPr id="27" name="圖片 26">
            <a:extLst>
              <a:ext uri="{FF2B5EF4-FFF2-40B4-BE49-F238E27FC236}">
                <a16:creationId xmlns:a16="http://schemas.microsoft.com/office/drawing/2014/main" id="{318A097E-25C5-2380-0F94-DF4E9E06F837}"/>
              </a:ext>
            </a:extLst>
          </p:cNvPr>
          <p:cNvPicPr>
            <a:picLocks noChangeAspect="1"/>
          </p:cNvPicPr>
          <p:nvPr/>
        </p:nvPicPr>
        <p:blipFill>
          <a:blip r:embed="rId5"/>
          <a:stretch>
            <a:fillRect/>
          </a:stretch>
        </p:blipFill>
        <p:spPr>
          <a:xfrm>
            <a:off x="8183829" y="1195716"/>
            <a:ext cx="592578" cy="325918"/>
          </a:xfrm>
          <a:prstGeom prst="rect">
            <a:avLst/>
          </a:prstGeom>
        </p:spPr>
      </p:pic>
      <p:graphicFrame>
        <p:nvGraphicFramePr>
          <p:cNvPr id="29" name="圖表 28"/>
          <p:cNvGraphicFramePr/>
          <p:nvPr>
            <p:extLst>
              <p:ext uri="{D42A27DB-BD31-4B8C-83A1-F6EECF244321}">
                <p14:modId xmlns:p14="http://schemas.microsoft.com/office/powerpoint/2010/main" val="2371135818"/>
              </p:ext>
            </p:extLst>
          </p:nvPr>
        </p:nvGraphicFramePr>
        <p:xfrm>
          <a:off x="4755048" y="3986784"/>
          <a:ext cx="4021480" cy="2500807"/>
        </p:xfrm>
        <a:graphic>
          <a:graphicData uri="http://schemas.openxmlformats.org/drawingml/2006/chart">
            <c:chart xmlns:c="http://schemas.openxmlformats.org/drawingml/2006/chart" xmlns:r="http://schemas.openxmlformats.org/officeDocument/2006/relationships" r:id="rId6"/>
          </a:graphicData>
        </a:graphic>
      </p:graphicFrame>
      <p:sp>
        <p:nvSpPr>
          <p:cNvPr id="30" name="文字方塊 29"/>
          <p:cNvSpPr txBox="1"/>
          <p:nvPr/>
        </p:nvSpPr>
        <p:spPr>
          <a:xfrm>
            <a:off x="4761362" y="4025712"/>
            <a:ext cx="1001924" cy="246221"/>
          </a:xfrm>
          <a:prstGeom prst="rect">
            <a:avLst/>
          </a:prstGeom>
          <a:noFill/>
        </p:spPr>
        <p:txBody>
          <a:bodyPr wrap="square" rtlCol="0">
            <a:spAutoFit/>
          </a:bodyPr>
          <a:lstStyle/>
          <a:p>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百萬</a:t>
            </a:r>
            <a:r>
              <a:rPr lang="en-US" altLang="zh-TW" sz="1000" dirty="0">
                <a:latin typeface="微軟正黑體" panose="020B0604030504040204" pitchFamily="34" charset="-120"/>
                <a:ea typeface="微軟正黑體" panose="020B0604030504040204" pitchFamily="34" charset="-120"/>
              </a:rPr>
              <a:t>USD)</a:t>
            </a:r>
            <a:endParaRPr lang="zh-TW" altLang="en-US" sz="10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822549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18013" y="1484785"/>
            <a:ext cx="7992888" cy="1338828"/>
          </a:xfrm>
          <a:prstGeom prst="rect">
            <a:avLst/>
          </a:prstGeom>
        </p:spPr>
        <p:txBody>
          <a:bodyPr wrap="square">
            <a:spAutoFit/>
          </a:bodyPr>
          <a:lstStyle/>
          <a:p>
            <a:pPr algn="just"/>
            <a:r>
              <a:rPr lang="zh-TW" altLang="zh-TW" sz="1350" b="1" dirty="0">
                <a:solidFill>
                  <a:srgbClr val="C92223"/>
                </a:solidFill>
                <a:latin typeface="微軟正黑體" pitchFamily="34" charset="-120"/>
                <a:ea typeface="微軟正黑體" pitchFamily="34" charset="-120"/>
              </a:rPr>
              <a:t>免責宣言說明</a:t>
            </a:r>
            <a:endParaRPr lang="en-US" altLang="zh-TW" sz="1350" b="1" dirty="0">
              <a:solidFill>
                <a:srgbClr val="C92223"/>
              </a:solidFill>
              <a:latin typeface="微軟正黑體" pitchFamily="34" charset="-120"/>
              <a:ea typeface="微軟正黑體" pitchFamily="34" charset="-120"/>
            </a:endParaRPr>
          </a:p>
          <a:p>
            <a:pPr algn="just"/>
            <a:endParaRPr lang="en-US" altLang="zh-TW" sz="1350" dirty="0">
              <a:latin typeface="微軟正黑體" pitchFamily="34" charset="-120"/>
              <a:ea typeface="微軟正黑體" pitchFamily="34" charset="-120"/>
            </a:endParaRPr>
          </a:p>
          <a:p>
            <a:pPr algn="just"/>
            <a:r>
              <a:rPr lang="zh-TW" altLang="en-US" sz="1350" dirty="0">
                <a:latin typeface="微軟正黑體" pitchFamily="34" charset="-120"/>
                <a:ea typeface="微軟正黑體" pitchFamily="34" charset="-120"/>
              </a:rPr>
              <a:t>本報告所載內容僅供參考，台新綜合證券</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股</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公司不保證其正確性及完整性。內容如涉及任何有價證券或金融市場商品相關記載或說明，並不構成要約、招攬、宣傳、建議或推薦買賣等任何形式之表示，任何人如參考本報告後，所進行相關投資行為或交易，應自行承擔所有損益，本公司並不負任何法律責任。此外，非經本公司同意，不得將本報告內容之一部或全部加以複製、轉載或散布。</a:t>
            </a:r>
          </a:p>
        </p:txBody>
      </p:sp>
    </p:spTree>
    <p:extLst>
      <p:ext uri="{BB962C8B-B14F-4D97-AF65-F5344CB8AC3E}">
        <p14:creationId xmlns:p14="http://schemas.microsoft.com/office/powerpoint/2010/main" val="2871768823"/>
      </p:ext>
    </p:extLst>
  </p:cSld>
  <p:clrMapOvr>
    <a:masterClrMapping/>
  </p:clrMapOvr>
</p:sld>
</file>

<file path=ppt/theme/theme1.xml><?xml version="1.0" encoding="utf-8"?>
<a:theme xmlns:a="http://schemas.openxmlformats.org/drawingml/2006/main" name="報告佈景主題PPT">
  <a:themeElements>
    <a:clrScheme name="複委託4">
      <a:dk1>
        <a:srgbClr val="000000"/>
      </a:dk1>
      <a:lt1>
        <a:srgbClr val="FFFFFF"/>
      </a:lt1>
      <a:dk2>
        <a:srgbClr val="7F7F7F"/>
      </a:dk2>
      <a:lt2>
        <a:srgbClr val="C00000"/>
      </a:lt2>
      <a:accent1>
        <a:srgbClr val="C95E0D"/>
      </a:accent1>
      <a:accent2>
        <a:srgbClr val="704C61"/>
      </a:accent2>
      <a:accent3>
        <a:srgbClr val="C0CBD1"/>
      </a:accent3>
      <a:accent4>
        <a:srgbClr val="8994A6"/>
      </a:accent4>
      <a:accent5>
        <a:srgbClr val="C39E64"/>
      </a:accent5>
      <a:accent6>
        <a:srgbClr val="B8B1A7"/>
      </a:accent6>
      <a:hlink>
        <a:srgbClr val="0070C0"/>
      </a:hlink>
      <a:folHlink>
        <a:srgbClr val="000000"/>
      </a:folHlink>
    </a:clrScheme>
    <a:fontScheme name="台新投顧">
      <a:majorFont>
        <a:latin typeface="微軟正黑體"/>
        <a:ea typeface="微軟正黑體"/>
        <a:cs typeface=""/>
      </a:majorFont>
      <a:minorFont>
        <a:latin typeface="微軟正黑體"/>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7006</TotalTime>
  <Words>1756</Words>
  <Application>Microsoft Office PowerPoint</Application>
  <PresentationFormat>如螢幕大小 (4:3)</PresentationFormat>
  <Paragraphs>171</Paragraphs>
  <Slides>6</Slides>
  <Notes>4</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6</vt:i4>
      </vt:variant>
    </vt:vector>
  </HeadingPairs>
  <TitlesOfParts>
    <vt:vector size="11" baseType="lpstr">
      <vt:lpstr>微軟正黑體</vt:lpstr>
      <vt:lpstr>Arial</vt:lpstr>
      <vt:lpstr>Calibri</vt:lpstr>
      <vt:lpstr>Wingdings</vt:lpstr>
      <vt:lpstr>報告佈景主題PPT</vt:lpstr>
      <vt:lpstr>洛克希德馬丁</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台新B2B Team</dc:creator>
  <cp:lastModifiedBy>張軒愷</cp:lastModifiedBy>
  <cp:revision>11414</cp:revision>
  <cp:lastPrinted>2021-03-31T07:17:07Z</cp:lastPrinted>
  <dcterms:created xsi:type="dcterms:W3CDTF">2013-05-02T15:04:30Z</dcterms:created>
  <dcterms:modified xsi:type="dcterms:W3CDTF">2026-05-07T09:26:48Z</dcterms:modified>
</cp:coreProperties>
</file>